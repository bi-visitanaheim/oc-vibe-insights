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8.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9.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0.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1.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2.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e65a6bf-8f4f-ba01-41cb-87bae617f35c}">
          <p14:sldIdLst>
            <p14:sldId id="256"/>
            <p14:sldId id="257"/>
            <p14:sldId id="258"/>
            <p14:sldId id="259"/>
          </p14:sldIdLst>
        </p14:section>
        <p14:section name="Anaheim and OC Vibe today" id="{a09d93b1-6768-f2d9-fc8e-fac873fd9f4b}">
          <p14:sldIdLst>
            <p14:sldId id="260"/>
            <p14:sldId id="261"/>
            <p14:sldId id="262"/>
            <p14:sldId id="263"/>
            <p14:sldId id="264"/>
            <p14:sldId id="265"/>
            <p14:sldId id="266"/>
            <p14:sldId id="267"/>
            <p14:sldId id="268"/>
          </p14:sldIdLst>
        </p14:section>
        <p14:section name="Visitor spending" id="{addc36d1-26d6-705d-4aa1-1085aef68249}">
          <p14:sldIdLst>
            <p14:sldId id="269"/>
            <p14:sldId id="270"/>
            <p14:sldId id="271"/>
            <p14:sldId id="272"/>
          </p14:sldIdLst>
        </p14:section>
        <p14:section name="Jobs and economy" id="{06353a9e-5ef7-116c-5fac-4a28d58ede73}">
          <p14:sldIdLst>
            <p14:sldId id="273"/>
            <p14:sldId id="274"/>
          </p14:sldIdLst>
        </p14:section>
        <p14:section name="One more night" id="{f9486022-10d1-c9da-6813-751d79ce57c1}">
          <p14:sldIdLst>
            <p14:sldId id="275"/>
            <p14:sldId id="276"/>
            <p14:sldId id="277"/>
            <p14:sldId id="278"/>
          </p14:sldIdLst>
        </p14:section>
        <p14:section name="Getting here" id="{993435c7-e1a7-fd40-0472-0c495eed3116}">
          <p14:sldIdLst>
            <p14:sldId id="279"/>
            <p14:sldId id="280"/>
            <p14:sldId id="281"/>
            <p14:sldId id="282"/>
            <p14:sldId id="283"/>
            <p14:sldId id="284"/>
            <p14:sldId id="285"/>
            <p14:sldId id="286"/>
            <p14:sldId id="287"/>
          </p14:sldIdLst>
        </p14:section>
        <p14:section name="Who visits" id="{74d5adaa-92be-8c1b-dd78-6667e7872465}">
          <p14:sldIdLst>
            <p14:sldId id="288"/>
            <p14:sldId id="289"/>
            <p14:sldId id="290"/>
            <p14:sldId id="291"/>
          </p14:sldIdLst>
        </p14:section>
        <p14:section name="Marketing reach" id="{de55c4ff-401c-e3f9-f4f8-cc0ef7c2d96e}">
          <p14:sldIdLst>
            <p14:sldId id="292"/>
            <p14:sldId id="293"/>
            <p14:sldId id="294"/>
          </p14:sldIdLst>
        </p14:section>
        <p14:section name="Hotel market" id="{cb613197-aadd-fbd6-a4fb-ce2098867091}">
          <p14:sldIdLst>
            <p14:sldId id="295"/>
            <p14:sldId id="296"/>
            <p14:sldId id="297"/>
            <p14:sldId id="298"/>
            <p14:sldId id="299"/>
            <p14:sldId id="300"/>
          </p14:sldIdLst>
        </p14:section>
        <p14:section name="Market outlook" id="{7a04a368-a1e3-14d0-347d-c70a5c40bcca}">
          <p14:sldIdLst>
            <p14:sldId id="301"/>
            <p14:sldId id="302"/>
            <p14:sldId id="303"/>
            <p14:sldId id="304"/>
            <p14:sldId id="305"/>
          </p14:sldIdLst>
        </p14:section>
        <p14:section name="Compare and contrast" id="{56d53d4f-26b7-0fe5-49be-63c857c765eb}">
          <p14:sldIdLst>
            <p14:sldId id="306"/>
            <p14:sldId id="307"/>
            <p14:sldId id="308"/>
            <p14:sldId id="309"/>
            <p14:sldId id="310"/>
          </p14:sldIdLst>
        </p14:section>
        <p14:section name="Next steps" id="{c2725688-ea70-1f3d-a0fa-c939a5fd7750}">
          <p14:sldIdLst>
            <p14:sldId id="311"/>
            <p14:sldId id="312"/>
            <p14:sldId id="313"/>
            <p14:sldId id="314"/>
            <p14:sldId id="315"/>
            <p14:sldId id="316"/>
            <p14:sldId id="317"/>
          </p14:sldIdLst>
        </p14:section>
        <p14:section name="Appendix" id="{6bc7b858-ce9b-a7c8-5275-7e74ae252cdd}">
          <p14:sldIdLst>
            <p14:sldId id="318"/>
            <p14:sldId id="319"/>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
OC Vibe staff can enter their own plans or results in the calculator below; it uses only the figures they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82296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12,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and OC Vibe today: who, what, when, where, why and 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essentials: who, what, when, where, why and how</a:t>
            </a:r>
            <a:endParaRPr lang="en-US" sz="1200" dirty="0"/>
          </a:p>
        </p:txBody>
      </p:sp>
      <p:sp>
        <p:nvSpPr>
          <p:cNvPr id="4" name="Shape 2"/>
          <p:cNvSpPr/>
          <p:nvPr/>
        </p:nvSpPr>
        <p:spPr>
          <a:xfrm>
            <a:off x="548640" y="1463040"/>
            <a:ext cx="3588410" cy="45720"/>
          </a:xfrm>
          <a:prstGeom prst="rect">
            <a:avLst/>
          </a:prstGeom>
          <a:solidFill>
            <a:srgbClr val="43A3A3"/>
          </a:solidFill>
          <a:ln w="12700">
            <a:solidFill>
              <a:srgbClr val="43A3A3"/>
            </a:solidFill>
            <a:prstDash val="solid"/>
          </a:ln>
        </p:spPr>
      </p:sp>
      <p:sp>
        <p:nvSpPr>
          <p:cNvPr id="5" name="Text 3"/>
          <p:cNvSpPr txBox="1"/>
          <p:nvPr/>
        </p:nvSpPr>
        <p:spPr>
          <a:xfrm>
            <a:off x="548640" y="157276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WHO</a:t>
            </a:r>
            <a:endParaRPr lang="en-US" sz="1100" dirty="0"/>
          </a:p>
        </p:txBody>
      </p:sp>
      <p:sp>
        <p:nvSpPr>
          <p:cNvPr id="6" name="Text 4"/>
          <p:cNvSpPr txBox="1"/>
          <p:nvPr/>
        </p:nvSpPr>
        <p:spPr>
          <a:xfrm>
            <a:off x="548640" y="187452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1200" dirty="0"/>
          </a:p>
        </p:txBody>
      </p:sp>
      <p:sp>
        <p:nvSpPr>
          <p:cNvPr id="7" name="Shape 5"/>
          <p:cNvSpPr/>
          <p:nvPr/>
        </p:nvSpPr>
        <p:spPr>
          <a:xfrm>
            <a:off x="4301642" y="1463040"/>
            <a:ext cx="3588410" cy="45720"/>
          </a:xfrm>
          <a:prstGeom prst="rect">
            <a:avLst/>
          </a:prstGeom>
          <a:solidFill>
            <a:srgbClr val="43A3A3"/>
          </a:solidFill>
          <a:ln w="12700">
            <a:solidFill>
              <a:srgbClr val="43A3A3"/>
            </a:solidFill>
            <a:prstDash val="solid"/>
          </a:ln>
        </p:spPr>
      </p:sp>
      <p:sp>
        <p:nvSpPr>
          <p:cNvPr id="8" name="Text 6"/>
          <p:cNvSpPr txBox="1"/>
          <p:nvPr/>
        </p:nvSpPr>
        <p:spPr>
          <a:xfrm>
            <a:off x="4301642" y="157276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WHAT</a:t>
            </a:r>
            <a:endParaRPr lang="en-US" sz="1100" dirty="0"/>
          </a:p>
        </p:txBody>
      </p:sp>
      <p:sp>
        <p:nvSpPr>
          <p:cNvPr id="9" name="Text 7"/>
          <p:cNvSpPr txBox="1"/>
          <p:nvPr/>
        </p:nvSpPr>
        <p:spPr>
          <a:xfrm>
            <a:off x="4301642" y="187452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$970M</a:t>
            </a:r>
            <a:pPr indent="0" marL="0">
              <a:buNone/>
            </a:pPr>
            <a:r>
              <a:rPr lang="en-US" sz="120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1200" b="1" dirty="0">
                <a:solidFill>
                  <a:srgbClr val="125C60"/>
                </a:solidFill>
                <a:latin typeface="Proxima Nova" pitchFamily="34" charset="0"/>
                <a:ea typeface="Proxima Nova" pitchFamily="34" charset="-122"/>
                <a:cs typeface="Proxima Nova" pitchFamily="34" charset="-120"/>
              </a:rPr>
              <a:t>27.0M</a:t>
            </a:r>
            <a:pPr indent="0" marL="0">
              <a:buNone/>
            </a:pPr>
            <a:r>
              <a:rPr lang="en-US" sz="1200" dirty="0">
                <a:solidFill>
                  <a:srgbClr val="231F20"/>
                </a:solidFill>
                <a:latin typeface="Proxima Nova" pitchFamily="34" charset="0"/>
                <a:ea typeface="Proxima Nova" pitchFamily="34" charset="-122"/>
                <a:cs typeface="Proxima Nova" pitchFamily="34" charset="-120"/>
              </a:rPr>
              <a:t> visitors and </a:t>
            </a:r>
            <a:pPr indent="0" marL="0">
              <a:buNone/>
            </a:pPr>
            <a:r>
              <a:rPr lang="en-US" sz="1200" b="1" dirty="0">
                <a:solidFill>
                  <a:srgbClr val="125C60"/>
                </a:solidFill>
                <a:latin typeface="Proxima Nova" pitchFamily="34" charset="0"/>
                <a:ea typeface="Proxima Nova" pitchFamily="34" charset="-122"/>
                <a:cs typeface="Proxima Nova" pitchFamily="34" charset="-120"/>
              </a:rPr>
              <a:t>$7.2B</a:t>
            </a:r>
            <a:pPr indent="0" marL="0">
              <a:buNone/>
            </a:pPr>
            <a:r>
              <a:rPr lang="en-US" sz="120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(2024).</a:t>
            </a:r>
            <a:endParaRPr lang="en-US" sz="1200" dirty="0"/>
          </a:p>
        </p:txBody>
      </p:sp>
      <p:sp>
        <p:nvSpPr>
          <p:cNvPr id="10" name="Shape 8"/>
          <p:cNvSpPr/>
          <p:nvPr/>
        </p:nvSpPr>
        <p:spPr>
          <a:xfrm>
            <a:off x="8054645" y="1463040"/>
            <a:ext cx="3588410" cy="45720"/>
          </a:xfrm>
          <a:prstGeom prst="rect">
            <a:avLst/>
          </a:prstGeom>
          <a:solidFill>
            <a:srgbClr val="43A3A3"/>
          </a:solidFill>
          <a:ln w="12700">
            <a:solidFill>
              <a:srgbClr val="43A3A3"/>
            </a:solidFill>
            <a:prstDash val="solid"/>
          </a:ln>
        </p:spPr>
      </p:sp>
      <p:sp>
        <p:nvSpPr>
          <p:cNvPr id="11" name="Text 9"/>
          <p:cNvSpPr txBox="1"/>
          <p:nvPr/>
        </p:nvSpPr>
        <p:spPr>
          <a:xfrm>
            <a:off x="8054645" y="157276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WHEN</a:t>
            </a:r>
            <a:endParaRPr lang="en-US" sz="1100" dirty="0"/>
          </a:p>
        </p:txBody>
      </p:sp>
      <p:sp>
        <p:nvSpPr>
          <p:cNvPr id="12" name="Text 10"/>
          <p:cNvSpPr txBox="1"/>
          <p:nvPr/>
        </p:nvSpPr>
        <p:spPr>
          <a:xfrm>
            <a:off x="8054645" y="187452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1200" dirty="0"/>
          </a:p>
        </p:txBody>
      </p:sp>
      <p:sp>
        <p:nvSpPr>
          <p:cNvPr id="13" name="Shape 11"/>
          <p:cNvSpPr/>
          <p:nvPr/>
        </p:nvSpPr>
        <p:spPr>
          <a:xfrm>
            <a:off x="548640" y="3657600"/>
            <a:ext cx="3588410" cy="45720"/>
          </a:xfrm>
          <a:prstGeom prst="rect">
            <a:avLst/>
          </a:prstGeom>
          <a:solidFill>
            <a:srgbClr val="43A3A3"/>
          </a:solidFill>
          <a:ln w="12700">
            <a:solidFill>
              <a:srgbClr val="43A3A3"/>
            </a:solidFill>
            <a:prstDash val="solid"/>
          </a:ln>
        </p:spPr>
      </p:sp>
      <p:sp>
        <p:nvSpPr>
          <p:cNvPr id="14" name="Text 12"/>
          <p:cNvSpPr txBox="1"/>
          <p:nvPr/>
        </p:nvSpPr>
        <p:spPr>
          <a:xfrm>
            <a:off x="548640" y="376732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WHERE</a:t>
            </a:r>
            <a:endParaRPr lang="en-US" sz="1100" dirty="0"/>
          </a:p>
        </p:txBody>
      </p:sp>
      <p:sp>
        <p:nvSpPr>
          <p:cNvPr id="15" name="Text 13"/>
          <p:cNvSpPr txBox="1"/>
          <p:nvPr/>
        </p:nvSpPr>
        <p:spPr>
          <a:xfrm>
            <a:off x="548640" y="406908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1200" dirty="0"/>
          </a:p>
        </p:txBody>
      </p:sp>
      <p:sp>
        <p:nvSpPr>
          <p:cNvPr id="16" name="Shape 14"/>
          <p:cNvSpPr/>
          <p:nvPr/>
        </p:nvSpPr>
        <p:spPr>
          <a:xfrm>
            <a:off x="4301642" y="3657600"/>
            <a:ext cx="3588410" cy="45720"/>
          </a:xfrm>
          <a:prstGeom prst="rect">
            <a:avLst/>
          </a:prstGeom>
          <a:solidFill>
            <a:srgbClr val="43A3A3"/>
          </a:solidFill>
          <a:ln w="12700">
            <a:solidFill>
              <a:srgbClr val="43A3A3"/>
            </a:solidFill>
            <a:prstDash val="solid"/>
          </a:ln>
        </p:spPr>
      </p:sp>
      <p:sp>
        <p:nvSpPr>
          <p:cNvPr id="17" name="Text 15"/>
          <p:cNvSpPr txBox="1"/>
          <p:nvPr/>
        </p:nvSpPr>
        <p:spPr>
          <a:xfrm>
            <a:off x="4301642" y="376732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WHY</a:t>
            </a:r>
            <a:endParaRPr lang="en-US" sz="1100" dirty="0"/>
          </a:p>
        </p:txBody>
      </p:sp>
      <p:sp>
        <p:nvSpPr>
          <p:cNvPr id="18" name="Text 16"/>
          <p:cNvSpPr txBox="1"/>
          <p:nvPr/>
        </p:nvSpPr>
        <p:spPr>
          <a:xfrm>
            <a:off x="4301642" y="406908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1200" dirty="0"/>
          </a:p>
        </p:txBody>
      </p:sp>
      <p:sp>
        <p:nvSpPr>
          <p:cNvPr id="19" name="Shape 17"/>
          <p:cNvSpPr/>
          <p:nvPr/>
        </p:nvSpPr>
        <p:spPr>
          <a:xfrm>
            <a:off x="8054645" y="3657600"/>
            <a:ext cx="3588410" cy="45720"/>
          </a:xfrm>
          <a:prstGeom prst="rect">
            <a:avLst/>
          </a:prstGeom>
          <a:solidFill>
            <a:srgbClr val="43A3A3"/>
          </a:solidFill>
          <a:ln w="12700">
            <a:solidFill>
              <a:srgbClr val="43A3A3"/>
            </a:solidFill>
            <a:prstDash val="solid"/>
          </a:ln>
        </p:spPr>
      </p:sp>
      <p:sp>
        <p:nvSpPr>
          <p:cNvPr id="20" name="Text 18"/>
          <p:cNvSpPr txBox="1"/>
          <p:nvPr/>
        </p:nvSpPr>
        <p:spPr>
          <a:xfrm>
            <a:off x="8054645" y="3767328"/>
            <a:ext cx="3588410" cy="274320"/>
          </a:xfrm>
          <a:prstGeom prst="rect">
            <a:avLst/>
          </a:prstGeom>
          <a:noFill/>
          <a:ln/>
        </p:spPr>
        <p:txBody>
          <a:bodyPr wrap="square" lIns="0" tIns="0" rIns="0" bIns="0" rtlCol="0" anchor="ctr"/>
          <a:lstStyle/>
          <a:p>
            <a:pPr indent="0" marL="0">
              <a:buNone/>
            </a:pPr>
            <a:r>
              <a:rPr lang="en-US" sz="1100" b="1" spc="100" kern="0" dirty="0">
                <a:solidFill>
                  <a:srgbClr val="125C60"/>
                </a:solidFill>
                <a:latin typeface="Proxima Nova" pitchFamily="34" charset="0"/>
                <a:ea typeface="Proxima Nova" pitchFamily="34" charset="-122"/>
                <a:cs typeface="Proxima Nova" pitchFamily="34" charset="-120"/>
              </a:rPr>
              <a:t>HOW</a:t>
            </a:r>
            <a:endParaRPr lang="en-US" sz="1100" dirty="0"/>
          </a:p>
        </p:txBody>
      </p:sp>
      <p:sp>
        <p:nvSpPr>
          <p:cNvPr id="21" name="Text 19"/>
          <p:cNvSpPr txBox="1"/>
          <p:nvPr/>
        </p:nvSpPr>
        <p:spPr>
          <a:xfrm>
            <a:off x="8054645" y="4069080"/>
            <a:ext cx="3588410" cy="16002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1200" dirty="0"/>
          </a:p>
        </p:txBody>
      </p:sp>
      <p:sp>
        <p:nvSpPr>
          <p:cNvPr id="2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Measured or published figures only · each with its period and source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City of Anaheim, calendar 2025 · Tourism Economics (published 2026) · each share with its calculation</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Measured baselines; OC Vibe adds its own results once its venues open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 markets, spending and access</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Shown as published; not produced or checked by Visit Anaheim BI</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Quarterly results · Tourism Economics Q2 2026 measurement</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Regional economic impact · Anaheim, Garden Grove and Orange County, 2025</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Tourism Improvement District incentive bookings by event year · Simpleview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Weekday average daily traffic · OCTA 2026 Traffic Flow Map (published Aug. 2026)</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Amtrak at Anaheim (ANA), 2018–2024 · Metrolink lines serving Anaheim, Oct.–Dec. 2025</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transit passengers and vehicles · all operators · data ends in 2017</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OCTA, OCTA specialized service and Laguna Beach · nominal dollars · data ends in 2017</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visitors are mostly overnight guests,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Visa Destination Insights via Symphony · August 2026 vs. August 2025</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International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$464.6M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$446.6M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Change vs. Aug. 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Cards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143.8K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card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Average transaction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24"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 Anaheim hotel set (Anaheim+), Jan.–Sept. 2026 · weeknights = Sunday–Thursday nights</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OC Vibe and nearby developments as reported in LARC market reports, June–Sept. 2026</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Phasing, venues and events as reported · figures differ by source</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10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0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Draft – Not for Distribution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redistribution needs LARC consent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licensed to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0233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what, when, where, why and how, by section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essentials of each section</a:t>
            </a:r>
            <a:endParaRPr lang="en-US" sz="12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731520"/>
                <a:gridCol w="3454298"/>
                <a:gridCol w="3454298"/>
                <a:gridCol w="3454298"/>
              </a:tblGrid>
              <a:tr h="713232">
                <a:tc>
                  <a:txBody>
                    <a:bodyPr/>
                    <a:lstStyle/>
                    <a:p>
                      <a:pPr algn="l" indent="0" marL="0">
                        <a:buNone/>
                      </a:pP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Anaheim and OC Vibe today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Jobs and economy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Who</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Anaheim: 26.5M visitors, $6.83B spending, 67,817 jobs and $970M state and local taxes in 2025; Tourism Economics forecasts 27.0M visitors and $7.2B in 2026. OC Vibe area: 5.2% of Anaheim visitor days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per visitor ($258 in 2025, forecast $279 by 2028), Q2 2026 spending ($1.76B, +7.8%) and visitor card spending ($464.6M in Aug. 2026, +8.1%).</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67,817 jobs in Anaheim (one in three), $10.4B total impact and $970M in state and local taxes; food and beverage is 16.8% of those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Calendar 2025 vs.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Anaheim, Garden Grove and Orange County.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How</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12, 2026); sources on each section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what, when, where, why and how, by section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essentials of each section</a:t>
            </a:r>
            <a:endParaRPr lang="en-US" sz="12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731520"/>
                <a:gridCol w="3454298"/>
                <a:gridCol w="3454298"/>
                <a:gridCol w="3454298"/>
              </a:tblGrid>
              <a:tr h="713232">
                <a:tc>
                  <a:txBody>
                    <a:bodyPr/>
                    <a:lstStyle/>
                    <a:p>
                      <a:pPr algn="l" indent="0" marL="0">
                        <a:buNone/>
                      </a:pP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One more 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Getting 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Who visits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Who</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All 26.5 million Anaheim visitors (17.9 million day visitors, 8.6 million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One more night is worth about $794M in lodging citywide; each 1% of visitors adding a day is worth $31.5M.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SR-57 carries about 275,000 vehicles a day beside OC Vibe; 277 weekday buses stop at ARTIC (11 leave after 10 p.m.); 191,153 Amtrak passengers used the station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85.8% stay overnight, 43.8% are first-time visitors, 44% of domestic visitors come from outside California, and OC Vibe already appears in 5.2% of Anaheim visitor days.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2025 visitors, spending and length of stay.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 of Anaheim hotels and businesses.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How</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2025 lodging spending ($1.724B) ÷ weighted stay (2.17 days); scenarios hold spending per day constant.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12, 2026); sources on each section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what, when, where, why and how, by section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essentials of each section</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731520"/>
                <a:gridCol w="3454298"/>
                <a:gridCol w="3454298"/>
                <a:gridCol w="3454298"/>
              </a:tblGrid>
              <a:tr h="713232">
                <a:tc>
                  <a:txBody>
                    <a:bodyPr/>
                    <a:lstStyle/>
                    <a:p>
                      <a:pPr algn="l" indent="0" marL="0">
                        <a:buNone/>
                      </a:pP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Marketing reach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Hotel market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Market outlook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Who</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368,416 observed visits from 31.0M measurable impressions (11.9 per 1,000); luxury placements returned 34.4.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hotels fill 78.4% of rooms at $255; only 668 rooms are under construction countywide; Sunday–Monday occupancy is 70.6% vs. 86.2% Friday–Saturday.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+11.4% (U.S. +5.7%); convention room nights pacing +12% (2026) and +17% (2027); inflation about 3.2%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 exposures Jan. 1–Aug. 31,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 audiences; visits observed in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Why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Hotel demand and supply decide whether OC Vibe's 550 rooms will fill and which nights need help.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How</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12, 2026); sources on each section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theme/theme1.xml><?xml version="1.0" encoding="utf-8"?>
<a:theme xmlns:a="http://schemas.openxmlformats.org/drawingml/2006/main" name="Visit Anaheim Escapism">
  <a:themeElements>
    <a:clrScheme name="Visit Anaheim Escapism">
      <a:dk1>
        <a:srgbClr val="231F20"/>
      </a:dk1>
      <a:lt1>
        <a:srgbClr val="FFFFFF"/>
      </a:lt1>
      <a:dk2>
        <a:srgbClr val="125C60"/>
      </a:dk2>
      <a:lt2>
        <a:srgbClr val="F9F9F2"/>
      </a:lt2>
      <a:accent1>
        <a:srgbClr val="43A3A3"/>
      </a:accent1>
      <a:accent2>
        <a:srgbClr val="77C7C9"/>
      </a:accent2>
      <a:accent3>
        <a:srgbClr val="B4D9E3"/>
      </a:accent3>
      <a:accent4>
        <a:srgbClr val="125C60"/>
      </a:accent4>
      <a:accent5>
        <a:srgbClr val="A10009"/>
      </a:accent5>
      <a:accent6>
        <a:srgbClr val="FF000C"/>
      </a:accent6>
      <a:hlink>
        <a:srgbClr val="125C60"/>
      </a:hlink>
      <a:folHlink>
        <a:srgbClr val="125C60"/>
      </a:folHlink>
    </a:clrScheme>
    <a:fontScheme name="Visit Anaheim Escapism">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2026-10-13T22:06:57Z</dcterms:created>
  <dcterms:modified xsi:type="dcterms:W3CDTF">2026-10-13T22:06:57Z</dcterms:modified>
</cp:coreProperties>
</file>