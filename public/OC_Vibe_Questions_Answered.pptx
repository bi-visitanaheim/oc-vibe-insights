
<file path=[Content_Types].xml><?xml version="1.0" encoding="utf-8"?>
<Types xmlns="http://schemas.openxmlformats.org/package/2006/content-types">
  <Default Extension="gif" ContentType="image/gif"/>
  <Default Extension="jpeg" ContentType="image/jpeg"/>
  <Default Extension="jpg" ContentType="image/jpg"/>
  <Default Extension="m4v" ContentType="video/mp4"/>
  <Default Extension="mp4" ContentType="video/mp4"/>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7689e08-ef6e-e38d-adca-d09d79a90192}">
          <p14:sldIdLst>
            <p14:sldId id="256"/>
            <p14:sldId id="257"/>
            <p14:sldId id="258"/>
          </p14:sldIdLst>
        </p14:section>
        <p14:section name="The four core questions" id="{9513a00e-110b-6874-2496-100ad620c874}">
          <p14:sldIdLst>
            <p14:sldId id="259"/>
            <p14:sldId id="260"/>
            <p14:sldId id="261"/>
            <p14:sldId id="262"/>
            <p14:sldId id="263"/>
            <p14:sldId id="264"/>
            <p14:sldId id="265"/>
            <p14:sldId id="266"/>
          </p14:sldIdLst>
        </p14:section>
        <p14:section name="More questions answered" id="{0e7221c1-8102-1420-6d38-a78bfd8ea6b3}">
          <p14:sldIdLst>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Lst>
        </p14:section>
        <p14:section name="Sources and files" id="{c3beb789-0607-1d0c-63af-9c919f29c3fe}">
          <p14:sldIdLst>
            <p14:sldId id="287"/>
            <p14:sldId id="288"/>
            <p14:sldId id="289"/>
            <p14:sldId id="290"/>
            <p14:sldId id="291"/>
            <p14:sldId id="292"/>
            <p14:sldId id="2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47"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ustomXml" Target="../customXml/item2.xml"/><Relationship Id="rId20" Type="http://schemas.openxmlformats.org/officeDocument/2006/relationships/slide" Target="slides/slide19.xml"/><Relationship Id="rId41" Type="http://schemas.openxmlformats.org/officeDocument/2006/relationships/presProps" Target="presProp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Spending per visitor or trip, 2025</c:v>
                </c:pt>
              </c:strCache>
            </c:strRef>
          </c:tx>
          <c:spPr>
            <a:solidFill>
              <a:srgbClr val="B4D9E3"/>
            </a:solidFill>
            <a:effectLst/>
          </c:spPr>
          <c:invertIfNegative val="0"/>
          <c:dLbls>
            <c:numFmt formatCode="&quot;$&quot;#,##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B4D9E3"/>
              </a:solidFill>
              <a:effectLst/>
            </c:spPr>
          </c:dPt>
          <c:dPt>
            <c:idx val="1"/>
            <c:invertIfNegative val="0"/>
            <c:bubble3D val="0"/>
            <c:spPr>
              <a:solidFill>
                <a:srgbClr val="43A3A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cat>
            <c:multiLvlStrRef>
              <c:f>Sheet1!$A$2:$A$5</c:f>
              <c:multiLvlStrCache>
                <c:ptCount val="4"/>
                <c:lvl>
                  <c:pt idx="0">
                    <c:v>Garden Grove</c:v>
                  </c:pt>
                  <c:pt idx="1">
                    <c:v>Anaheim</c:v>
                  </c:pt>
                  <c:pt idx="2">
                    <c:v>Orange County</c:v>
                  </c:pt>
                  <c:pt idx="3">
                    <c:v>U.S. (per trip)</c:v>
                  </c:pt>
                </c:lvl>
              </c:multiLvlStrCache>
            </c:multiLvlStrRef>
          </c:cat>
          <c:val>
            <c:numRef>
              <c:f>Sheet1!$B$2:$B$5</c:f>
              <c:numCache>
                <c:formatCode>General</c:formatCode>
                <c:ptCount val="4"/>
                <c:pt idx="0">
                  <c:v>237</c:v>
                </c:pt>
                <c:pt idx="1">
                  <c:v>258</c:v>
                </c:pt>
                <c:pt idx="2">
                  <c:v>350</c:v>
                </c:pt>
                <c:pt idx="3">
                  <c:v>553</c:v>
                </c:pt>
              </c:numCache>
            </c:numRef>
          </c:val>
        </c:ser>
        <c:dLbls>
          <c:numFmt formatCode="&quot;$&quot;#,##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One more night or day in Anaheim, three ways ($M)</c:v>
                </c:pt>
              </c:strCache>
            </c:strRef>
          </c:tx>
          <c:spPr>
            <a:solidFill>
              <a:srgbClr val="43A3A3"/>
            </a:solidFill>
            <a:effectLst/>
          </c:spPr>
          <c:invertIfNegative val="0"/>
          <c:dLbls>
            <c:numFmt formatCode="&quot;$&quot;#,##0&quot;M&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cat>
            <c:multiLvlStrRef>
              <c:f>Sheet1!$A$2:$A$4</c:f>
              <c:multiLvlStrCache>
                <c:ptCount val="3"/>
                <c:lvl>
                  <c:pt idx="0">
                    <c:v>Lodging only</c:v>
                  </c:pt>
                  <c:pt idx="1">
                    <c:v>Overnight visitors, all spending</c:v>
                  </c:pt>
                  <c:pt idx="2">
                    <c:v>Every visitor, all spending</c:v>
                  </c:pt>
                </c:lvl>
              </c:multiLvlStrCache>
            </c:multiLvlStrRef>
          </c:cat>
          <c:val>
            <c:numRef>
              <c:f>Sheet1!$B$2:$B$4</c:f>
              <c:numCache>
                <c:formatCode>General</c:formatCode>
                <c:ptCount val="3"/>
                <c:pt idx="0">
                  <c:v>794</c:v>
                </c:pt>
                <c:pt idx="1">
                  <c:v>1021</c:v>
                </c:pt>
                <c:pt idx="2">
                  <c:v>3146</c:v>
                </c:pt>
              </c:numCache>
            </c:numRef>
          </c:val>
        </c:ser>
        <c:dLbls>
          <c:numFmt formatCode="&quot;$&quot;#,##0&quot;M&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Visitor transportation spending, share of all visitor spending, 2025 (%)</c:v>
                </c:pt>
              </c:strCache>
            </c:strRef>
          </c:tx>
          <c:spPr>
            <a:solidFill>
              <a:srgbClr val="43A3A3"/>
            </a:solidFill>
            <a:effectLst/>
          </c:spPr>
          <c:invertIfNegative val="0"/>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cat>
            <c:multiLvlStrRef>
              <c:f>Sheet1!$A$2:$A$5</c:f>
              <c:multiLvlStrCache>
                <c:ptCount val="4"/>
                <c:lvl>
                  <c:pt idx="0">
                    <c:v>Anaheim</c:v>
                  </c:pt>
                  <c:pt idx="1">
                    <c:v>Orange County</c:v>
                  </c:pt>
                  <c:pt idx="2">
                    <c:v>Garden Grove</c:v>
                  </c:pt>
                  <c:pt idx="3">
                    <c:v>California</c:v>
                  </c:pt>
                </c:lvl>
              </c:multiLvlStrCache>
            </c:multiLvlStrRef>
          </c:cat>
          <c:val>
            <c:numRef>
              <c:f>Sheet1!$B$2:$B$5</c:f>
              <c:numCache>
                <c:formatCode>General</c:formatCode>
                <c:ptCount val="4"/>
                <c:pt idx="0">
                  <c:v>3.3</c:v>
                </c:pt>
                <c:pt idx="1">
                  <c:v>3.9</c:v>
                </c:pt>
                <c:pt idx="2">
                  <c:v>6.1</c:v>
                </c:pt>
                <c:pt idx="3">
                  <c:v>17.9</c:v>
                </c:pt>
              </c:numCache>
            </c:numRef>
          </c:val>
        </c:ser>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Top origin metros for District 5 visitors (% of unique visitors)</c:v>
                </c:pt>
              </c:strCache>
            </c:strRef>
          </c:tx>
          <c:spPr>
            <a:solidFill>
              <a:srgbClr val="43A3A3"/>
            </a:solidFill>
            <a:effectLst/>
          </c:spPr>
          <c:invertIfNegative val="0"/>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dPt>
            <c:idx val="5"/>
            <c:invertIfNegative val="0"/>
            <c:bubble3D val="0"/>
            <c:spPr>
              <a:solidFill>
                <a:srgbClr val="B4D9E3"/>
              </a:solidFill>
              <a:effectLst/>
            </c:spPr>
          </c:dPt>
          <c:cat>
            <c:multiLvlStrRef>
              <c:f>Sheet1!$A$2:$A$7</c:f>
              <c:multiLvlStrCache>
                <c:ptCount val="6"/>
                <c:lvl>
                  <c:pt idx="0">
                    <c:v>Los Angeles–Long Beach–Anaheim</c:v>
                  </c:pt>
                  <c:pt idx="1">
                    <c:v>Riverside–San Bernardino–Ontario</c:v>
                  </c:pt>
                  <c:pt idx="2">
                    <c:v>Washington–Arlington–Alexandria</c:v>
                  </c:pt>
                  <c:pt idx="3">
                    <c:v>San Diego–Chula Vista–Carlsbad</c:v>
                  </c:pt>
                  <c:pt idx="4">
                    <c:v>New York–Newark–Jersey City</c:v>
                  </c:pt>
                  <c:pt idx="5">
                    <c:v>Phoenix–Mesa–Chandler</c:v>
                  </c:pt>
                </c:lvl>
              </c:multiLvlStrCache>
            </c:multiLvlStrRef>
          </c:cat>
          <c:val>
            <c:numRef>
              <c:f>Sheet1!$B$2:$B$7</c:f>
              <c:numCache>
                <c:formatCode>General</c:formatCode>
                <c:ptCount val="6"/>
                <c:pt idx="0">
                  <c:v>23.6</c:v>
                </c:pt>
                <c:pt idx="1">
                  <c:v>22.6</c:v>
                </c:pt>
                <c:pt idx="2">
                  <c:v>3.6</c:v>
                </c:pt>
                <c:pt idx="3">
                  <c:v>3.2</c:v>
                </c:pt>
                <c:pt idx="4">
                  <c:v>2</c:v>
                </c:pt>
                <c:pt idx="5">
                  <c:v>1.5</c:v>
                </c:pt>
              </c:numCache>
            </c:numRef>
          </c:val>
        </c:ser>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Orange County visitors, millions</c:v>
                </c:pt>
              </c:strCache>
            </c:strRef>
          </c:tx>
          <c:spPr>
            <a:solidFill>
              <a:srgbClr val="B4D9E3"/>
            </a:solidFill>
            <a:effectLst/>
          </c:spPr>
          <c:invertIfNegative val="0"/>
          <c:dLbls>
            <c:numFmt formatCode="#,##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B4D9E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43A3A3"/>
              </a:solidFill>
              <a:effectLst/>
            </c:spPr>
          </c:dPt>
          <c:cat>
            <c:multiLvlStrRef>
              <c:f>Sheet1!$A$2:$A$5</c:f>
              <c:multiLvlStrCache>
                <c:ptCount val="4"/>
                <c:lvl>
                  <c:pt idx="0">
                    <c:v>2019 (CIC)</c:v>
                  </c:pt>
                  <c:pt idx="1">
                    <c:v>2023 (TE)</c:v>
                  </c:pt>
                  <c:pt idx="2">
                    <c:v>2024 (TE)</c:v>
                  </c:pt>
                  <c:pt idx="3">
                    <c:v>2025 (TE)</c:v>
                  </c:pt>
                </c:lvl>
              </c:multiLvlStrCache>
            </c:multiLvlStrRef>
          </c:cat>
          <c:val>
            <c:numRef>
              <c:f>Sheet1!$B$2:$B$5</c:f>
              <c:numCache>
                <c:formatCode>General</c:formatCode>
                <c:ptCount val="4"/>
                <c:pt idx="0">
                  <c:v>50.21</c:v>
                </c:pt>
                <c:pt idx="1">
                  <c:v>49.6</c:v>
                </c:pt>
                <c:pt idx="2">
                  <c:v>50.7</c:v>
                </c:pt>
                <c:pt idx="3">
                  <c:v>51.3</c:v>
                </c:pt>
              </c:numCache>
            </c:numRef>
          </c:val>
        </c:ser>
        <c:dLbls>
          <c:numFmt formatCode="#,##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of domestic trips by home metro area, Anaheim and Garden Grove</c:v>
                </c:pt>
              </c:strCache>
            </c:strRef>
          </c:tx>
          <c:spPr>
            <a:solidFill>
              <a:srgbClr val="43A3A3"/>
            </a:solidFill>
            <a:effectLst/>
          </c:spPr>
          <c:invertIfNegative val="0"/>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cat>
            <c:multiLvlStrRef>
              <c:f>Sheet1!$A$2:$A$6</c:f>
              <c:multiLvlStrCache>
                <c:ptCount val="5"/>
                <c:lvl>
                  <c:pt idx="0">
                    <c:v>Los Angeles-Long Beach-Anaheim</c:v>
                  </c:pt>
                  <c:pt idx="1">
                    <c:v>Riverside-San Bernardino-Ontario</c:v>
                  </c:pt>
                  <c:pt idx="2">
                    <c:v>San Diego-Chula Vista-Carlsbad</c:v>
                  </c:pt>
                  <c:pt idx="3">
                    <c:v>Phoenix</c:v>
                  </c:pt>
                  <c:pt idx="4">
                    <c:v>Las Vegas</c:v>
                  </c:pt>
                </c:lvl>
              </c:multiLvlStrCache>
            </c:multiLvlStrRef>
          </c:cat>
          <c:val>
            <c:numRef>
              <c:f>Sheet1!$B$2:$B$6</c:f>
              <c:numCache>
                <c:formatCode>General</c:formatCode>
                <c:ptCount val="5"/>
                <c:pt idx="0">
                  <c:v>44.7</c:v>
                </c:pt>
                <c:pt idx="1">
                  <c:v>26.1</c:v>
                </c:pt>
                <c:pt idx="2">
                  <c:v>4.1</c:v>
                </c:pt>
                <c:pt idx="3">
                  <c:v>2.3</c:v>
                </c:pt>
                <c:pt idx="4">
                  <c:v>1.9</c:v>
                </c:pt>
              </c:numCache>
            </c:numRef>
          </c:val>
        </c:ser>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Orange County hotel occupancy by month, 2023-2025 average</c:v>
                </c:pt>
              </c:strCache>
            </c:strRef>
          </c:tx>
          <c:spPr>
            <a:solidFill>
              <a:srgbClr val="B4D9E3"/>
            </a:solidFill>
            <a:effectLst/>
          </c:spPr>
          <c:invertIfNegative val="0"/>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B4D9E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dPt>
            <c:idx val="5"/>
            <c:invertIfNegative val="0"/>
            <c:bubble3D val="0"/>
            <c:spPr>
              <a:solidFill>
                <a:srgbClr val="B4D9E3"/>
              </a:solidFill>
              <a:effectLst/>
            </c:spPr>
          </c:dPt>
          <c:dPt>
            <c:idx val="6"/>
            <c:invertIfNegative val="0"/>
            <c:bubble3D val="0"/>
            <c:spPr>
              <a:solidFill>
                <a:srgbClr val="43A3A3"/>
              </a:solidFill>
              <a:effectLst/>
            </c:spPr>
          </c:dPt>
          <c:dPt>
            <c:idx val="7"/>
            <c:invertIfNegative val="0"/>
            <c:bubble3D val="0"/>
            <c:spPr>
              <a:solidFill>
                <a:srgbClr val="B4D9E3"/>
              </a:solidFill>
              <a:effectLst/>
            </c:spPr>
          </c:dPt>
          <c:dPt>
            <c:idx val="8"/>
            <c:invertIfNegative val="0"/>
            <c:bubble3D val="0"/>
            <c:spPr>
              <a:solidFill>
                <a:srgbClr val="B4D9E3"/>
              </a:solidFill>
              <a:effectLst/>
            </c:spPr>
          </c:dPt>
          <c:dPt>
            <c:idx val="9"/>
            <c:invertIfNegative val="0"/>
            <c:bubble3D val="0"/>
            <c:spPr>
              <a:solidFill>
                <a:srgbClr val="B4D9E3"/>
              </a:solidFill>
              <a:effectLst/>
            </c:spPr>
          </c:dPt>
          <c:dPt>
            <c:idx val="10"/>
            <c:invertIfNegative val="0"/>
            <c:bubble3D val="0"/>
            <c:spPr>
              <a:solidFill>
                <a:srgbClr val="B4D9E3"/>
              </a:solidFill>
              <a:effectLst/>
            </c:spPr>
          </c:dPt>
          <c:dPt>
            <c:idx val="11"/>
            <c:invertIfNegative val="0"/>
            <c:bubble3D val="0"/>
            <c:spPr>
              <a:solidFill>
                <a:srgbClr val="B4D9E3"/>
              </a:solidFill>
              <a:effectLst/>
            </c:spPr>
          </c:dPt>
          <c:cat>
            <c:multiLvlStrRef>
              <c:f>Sheet1!$A$2:$A$13</c:f>
              <c:multiLvlStrCache>
                <c:ptCount val="12"/>
                <c:lvl>
                  <c:pt idx="0">
                    <c:v>Jan.</c:v>
                  </c:pt>
                  <c:pt idx="1">
                    <c:v>Feb.</c:v>
                  </c:pt>
                  <c:pt idx="2">
                    <c:v>Mar.</c:v>
                  </c:pt>
                  <c:pt idx="3">
                    <c:v>Apr.</c:v>
                  </c:pt>
                  <c:pt idx="4">
                    <c:v>May</c:v>
                  </c:pt>
                  <c:pt idx="5">
                    <c:v>June</c:v>
                  </c:pt>
                  <c:pt idx="6">
                    <c:v>July</c:v>
                  </c:pt>
                  <c:pt idx="7">
                    <c:v>Aug.</c:v>
                  </c:pt>
                  <c:pt idx="8">
                    <c:v>Sept.</c:v>
                  </c:pt>
                  <c:pt idx="9">
                    <c:v>Oct.</c:v>
                  </c:pt>
                  <c:pt idx="10">
                    <c:v>Nov.</c:v>
                  </c:pt>
                  <c:pt idx="11">
                    <c:v>Dec.</c:v>
                  </c:pt>
                </c:lvl>
              </c:multiLvlStrCache>
            </c:multiLvlStrRef>
          </c:cat>
          <c:val>
            <c:numRef>
              <c:f>Sheet1!$B$2:$B$13</c:f>
              <c:numCache>
                <c:formatCode>General</c:formatCode>
                <c:ptCount val="12"/>
                <c:pt idx="0">
                  <c:v>61.2</c:v>
                </c:pt>
                <c:pt idx="1">
                  <c:v>69</c:v>
                </c:pt>
                <c:pt idx="2">
                  <c:v>73.9</c:v>
                </c:pt>
                <c:pt idx="3">
                  <c:v>71.5</c:v>
                </c:pt>
                <c:pt idx="4">
                  <c:v>70.1</c:v>
                </c:pt>
                <c:pt idx="5">
                  <c:v>76.4</c:v>
                </c:pt>
                <c:pt idx="6">
                  <c:v>80.6</c:v>
                </c:pt>
                <c:pt idx="7">
                  <c:v>73.1</c:v>
                </c:pt>
                <c:pt idx="8">
                  <c:v>73.6</c:v>
                </c:pt>
                <c:pt idx="9">
                  <c:v>75.1</c:v>
                </c:pt>
                <c:pt idx="10">
                  <c:v>69.2</c:v>
                </c:pt>
                <c:pt idx="11">
                  <c:v>68.9</c:v>
                </c:pt>
              </c:numCache>
            </c:numRef>
          </c:val>
        </c:ser>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Main purpose of trip, Orange County visitors, 2019</c:v>
                </c:pt>
              </c:strCache>
            </c:strRef>
          </c:tx>
          <c:spPr>
            <a:solidFill>
              <a:srgbClr val="43A3A3"/>
            </a:solidFill>
            <a:effectLst/>
          </c:spPr>
          <c:invertIfNegative val="0"/>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cat>
            <c:multiLvlStrRef>
              <c:f>Sheet1!$A$2:$A$5</c:f>
              <c:multiLvlStrCache>
                <c:ptCount val="4"/>
                <c:lvl>
                  <c:pt idx="0">
                    <c:v>Pleasure or VFR</c:v>
                  </c:pt>
                  <c:pt idx="1">
                    <c:v>Business or convention</c:v>
                  </c:pt>
                  <c:pt idx="2">
                    <c:v>Special events</c:v>
                  </c:pt>
                  <c:pt idx="3">
                    <c:v>Other</c:v>
                  </c:pt>
                </c:lvl>
              </c:multiLvlStrCache>
            </c:multiLvlStrRef>
          </c:cat>
          <c:val>
            <c:numRef>
              <c:f>Sheet1!$B$2:$B$5</c:f>
              <c:numCache>
                <c:formatCode>General</c:formatCode>
                <c:ptCount val="4"/>
                <c:pt idx="0">
                  <c:v>81.2</c:v>
                </c:pt>
                <c:pt idx="1">
                  <c:v>9.6</c:v>
                </c:pt>
                <c:pt idx="2">
                  <c:v>7.6</c:v>
                </c:pt>
                <c:pt idx="3">
                  <c:v>1.6</c:v>
                </c:pt>
              </c:numCache>
            </c:numRef>
          </c:val>
        </c:ser>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Orange County hotel occupancy</c:v>
                </c:pt>
              </c:strCache>
            </c:strRef>
          </c:tx>
          <c:spPr>
            <a:solidFill>
              <a:srgbClr val="B4D9E3"/>
            </a:solidFill>
            <a:effectLst/>
          </c:spPr>
          <c:invertIfNegative val="0"/>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B4D9E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dPt>
            <c:idx val="5"/>
            <c:invertIfNegative val="0"/>
            <c:bubble3D val="0"/>
            <c:spPr>
              <a:solidFill>
                <a:srgbClr val="B4D9E3"/>
              </a:solidFill>
              <a:effectLst/>
            </c:spPr>
          </c:dPt>
          <c:dPt>
            <c:idx val="6"/>
            <c:invertIfNegative val="0"/>
            <c:bubble3D val="0"/>
            <c:spPr>
              <a:solidFill>
                <a:srgbClr val="B4D9E3"/>
              </a:solidFill>
              <a:effectLst/>
            </c:spPr>
          </c:dPt>
          <c:dPt>
            <c:idx val="7"/>
            <c:invertIfNegative val="0"/>
            <c:bubble3D val="0"/>
            <c:spPr>
              <a:solidFill>
                <a:srgbClr val="43A3A3"/>
              </a:solidFill>
              <a:effectLst/>
            </c:spPr>
          </c:dPt>
          <c:cat>
            <c:multiLvlStrRef>
              <c:f>Sheet1!$A$2:$A$9</c:f>
              <c:multiLvlStrCache>
                <c:ptCount val="8"/>
                <c:lvl>
                  <c:pt idx="0">
                    <c:v>2019</c:v>
                  </c:pt>
                  <c:pt idx="1">
                    <c:v>2020</c:v>
                  </c:pt>
                  <c:pt idx="2">
                    <c:v>2021</c:v>
                  </c:pt>
                  <c:pt idx="3">
                    <c:v>2022</c:v>
                  </c:pt>
                  <c:pt idx="4">
                    <c:v>2023</c:v>
                  </c:pt>
                  <c:pt idx="5">
                    <c:v>2024</c:v>
                  </c:pt>
                  <c:pt idx="6">
                    <c:v>2025</c:v>
                  </c:pt>
                  <c:pt idx="7">
                    <c:v>2026 YTD</c:v>
                  </c:pt>
                </c:lvl>
              </c:multiLvlStrCache>
            </c:multiLvlStrRef>
          </c:cat>
          <c:val>
            <c:numRef>
              <c:f>Sheet1!$B$2:$B$9</c:f>
              <c:numCache>
                <c:formatCode>General</c:formatCode>
                <c:ptCount val="8"/>
                <c:pt idx="0">
                  <c:v>77.4</c:v>
                </c:pt>
                <c:pt idx="1">
                  <c:v>44</c:v>
                </c:pt>
                <c:pt idx="2">
                  <c:v>57.1</c:v>
                </c:pt>
                <c:pt idx="3">
                  <c:v>70.2</c:v>
                </c:pt>
                <c:pt idx="4">
                  <c:v>71.6</c:v>
                </c:pt>
                <c:pt idx="5">
                  <c:v>71.7</c:v>
                </c:pt>
                <c:pt idx="6">
                  <c:v>72.3</c:v>
                </c:pt>
                <c:pt idx="7">
                  <c:v>75.2</c:v>
                </c:pt>
              </c:numCache>
            </c:numRef>
          </c:val>
        </c:ser>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Growth in visitor or travel spending, 2025 vs. 2024</c:v>
                </c:pt>
              </c:strCache>
            </c:strRef>
          </c:tx>
          <c:spPr>
            <a:solidFill>
              <a:srgbClr val="43A3A3"/>
            </a:solidFill>
            <a:effectLst/>
          </c:spPr>
          <c:invertIfNegative val="0"/>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cat>
            <c:multiLvlStrRef>
              <c:f>Sheet1!$A$2:$A$5</c:f>
              <c:multiLvlStrCache>
                <c:ptCount val="4"/>
                <c:lvl>
                  <c:pt idx="0">
                    <c:v>Anaheim</c:v>
                  </c:pt>
                  <c:pt idx="1">
                    <c:v>Orange County</c:v>
                  </c:pt>
                  <c:pt idx="2">
                    <c:v>California</c:v>
                  </c:pt>
                  <c:pt idx="3">
                    <c:v>U.S. (after inflation)</c:v>
                  </c:pt>
                </c:lvl>
              </c:multiLvlStrCache>
            </c:multiLvlStrRef>
          </c:cat>
          <c:val>
            <c:numRef>
              <c:f>Sheet1!$B$2:$B$5</c:f>
              <c:numCache>
                <c:formatCode>General</c:formatCode>
                <c:ptCount val="4"/>
                <c:pt idx="0">
                  <c:v>3.1</c:v>
                </c:pt>
                <c:pt idx="1">
                  <c:v>3.4</c:v>
                </c:pt>
                <c:pt idx="2">
                  <c:v>1.7</c:v>
                </c:pt>
                <c:pt idx="3">
                  <c:v>1.4</c:v>
                </c:pt>
              </c:numCache>
            </c:numRef>
          </c:val>
        </c:ser>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Anaheim visitor spending by quarter ($B)</c:v>
                </c:pt>
              </c:strCache>
            </c:strRef>
          </c:tx>
          <c:spPr>
            <a:solidFill>
              <a:srgbClr val="B4D9E3"/>
            </a:solidFill>
            <a:effectLst/>
          </c:spPr>
          <c:invertIfNegative val="0"/>
          <c:dLbls>
            <c:numFmt formatCode="&quot;$&quot;0.00&quot;B&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B4D9E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dPt>
            <c:idx val="5"/>
            <c:invertIfNegative val="0"/>
            <c:bubble3D val="0"/>
            <c:spPr>
              <a:solidFill>
                <a:srgbClr val="43A3A3"/>
              </a:solidFill>
              <a:effectLst/>
            </c:spPr>
          </c:dPt>
          <c:cat>
            <c:multiLvlStrRef>
              <c:f>Sheet1!$A$2:$A$7</c:f>
              <c:multiLvlStrCache>
                <c:ptCount val="6"/>
                <c:lvl>
                  <c:pt idx="0">
                    <c:v>Q1 2025</c:v>
                  </c:pt>
                  <c:pt idx="1">
                    <c:v>Q2 2025</c:v>
                  </c:pt>
                  <c:pt idx="2">
                    <c:v>Q3 2025</c:v>
                  </c:pt>
                  <c:pt idx="3">
                    <c:v>Q4 2025</c:v>
                  </c:pt>
                  <c:pt idx="4">
                    <c:v>Q1 2026</c:v>
                  </c:pt>
                  <c:pt idx="5">
                    <c:v>Q2 2026</c:v>
                  </c:pt>
                </c:lvl>
              </c:multiLvlStrCache>
            </c:multiLvlStrRef>
          </c:cat>
          <c:val>
            <c:numRef>
              <c:f>Sheet1!$B$2:$B$7</c:f>
              <c:numCache>
                <c:formatCode>General</c:formatCode>
                <c:ptCount val="6"/>
                <c:pt idx="0">
                  <c:v>1.61</c:v>
                </c:pt>
                <c:pt idx="1">
                  <c:v>1.63</c:v>
                </c:pt>
                <c:pt idx="2">
                  <c:v>1.71</c:v>
                </c:pt>
                <c:pt idx="3">
                  <c:v>1.87</c:v>
                </c:pt>
                <c:pt idx="4">
                  <c:v>1.72</c:v>
                </c:pt>
                <c:pt idx="5">
                  <c:v>1.76</c:v>
                </c:pt>
              </c:numCache>
            </c:numRef>
          </c:val>
        </c:ser>
        <c:dLbls>
          <c:numFmt formatCode="&quot;$&quot;0.00&quot;B&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Recreation</c:v>
                </c:pt>
              </c:strCache>
            </c:strRef>
          </c:tx>
          <c:spPr>
            <a:solidFill>
              <a:srgbClr val="125C60"/>
            </a:solidFill>
            <a:effectLst/>
          </c:spPr>
          <c:invertIfNegative val="0"/>
          <c:dLbls>
            <c:numFmt formatCode="0&quot;%&quot;" sourceLinked="0"/>
            <c:txPr>
              <a:bodyPr/>
              <a:lstStyle/>
              <a:p>
                <a:pPr>
                  <a:defRPr b="0" i="0" strike="noStrike" sz="800" u="none">
                    <a:solidFill>
                      <a:srgbClr val="231F20"/>
                    </a:solidFill>
                    <a:latin typeface="Proxima Nova"/>
                  </a:defRPr>
                </a:pPr>
              </a:p>
            </c:txPr>
            <c:showLegendKey val="0"/>
            <c:showVal val="1"/>
            <c:showCatName val="0"/>
            <c:showSerName val="0"/>
            <c:showPercent val="0"/>
            <c:showBubbleSize val="0"/>
            <c:showLeaderLines val="0"/>
          </c:dLbls>
          <c:cat>
            <c:multiLvlStrRef>
              <c:f>Sheet1!$A$2:$A$4</c:f>
              <c:multiLvlStrCache>
                <c:ptCount val="3"/>
                <c:lvl>
                  <c:pt idx="0">
                    <c:v>Anaheim</c:v>
                  </c:pt>
                  <c:pt idx="1">
                    <c:v>Orange County</c:v>
                  </c:pt>
                  <c:pt idx="2">
                    <c:v>California</c:v>
                  </c:pt>
                </c:lvl>
              </c:multiLvlStrCache>
            </c:multiLvlStrRef>
          </c:cat>
          <c:val>
            <c:numRef>
              <c:f>Sheet1!$B$2:$B$4</c:f>
              <c:numCache>
                <c:formatCode>General</c:formatCode>
                <c:ptCount val="3"/>
                <c:pt idx="0">
                  <c:v>34</c:v>
                </c:pt>
                <c:pt idx="1">
                  <c:v>22</c:v>
                </c:pt>
                <c:pt idx="2">
                  <c:v>13.1</c:v>
                </c:pt>
              </c:numCache>
            </c:numRef>
          </c:val>
        </c:ser>
        <c:ser>
          <c:idx val="1"/>
          <c:order val="1"/>
          <c:tx>
            <c:strRef>
              <c:f>Sheet1!$C$1</c:f>
              <c:strCache>
                <c:ptCount val="1"/>
                <c:pt idx="0">
                  <c:v>Lodging</c:v>
                </c:pt>
              </c:strCache>
            </c:strRef>
          </c:tx>
          <c:spPr>
            <a:solidFill>
              <a:srgbClr val="43A3A3"/>
            </a:solidFill>
            <a:effectLst/>
          </c:spPr>
          <c:invertIfNegative val="0"/>
          <c:dLbls>
            <c:numFmt formatCode="0&quot;%&quot;" sourceLinked="0"/>
            <c:txPr>
              <a:bodyPr/>
              <a:lstStyle/>
              <a:p>
                <a:pPr>
                  <a:defRPr b="0" i="0" strike="noStrike" sz="800" u="none">
                    <a:solidFill>
                      <a:srgbClr val="231F20"/>
                    </a:solidFill>
                    <a:latin typeface="Proxima Nova"/>
                  </a:defRPr>
                </a:pPr>
              </a:p>
            </c:txPr>
            <c:showLegendKey val="0"/>
            <c:showVal val="1"/>
            <c:showCatName val="0"/>
            <c:showSerName val="0"/>
            <c:showPercent val="0"/>
            <c:showBubbleSize val="0"/>
            <c:showLeaderLines val="0"/>
          </c:dLbls>
          <c:cat>
            <c:multiLvlStrRef>
              <c:f>Sheet1!$A$2:$A$4</c:f>
              <c:multiLvlStrCache>
                <c:ptCount val="3"/>
                <c:lvl>
                  <c:pt idx="0">
                    <c:v>Anaheim</c:v>
                  </c:pt>
                  <c:pt idx="1">
                    <c:v>Orange County</c:v>
                  </c:pt>
                  <c:pt idx="2">
                    <c:v>California</c:v>
                  </c:pt>
                </c:lvl>
              </c:multiLvlStrCache>
            </c:multiLvlStrRef>
          </c:cat>
          <c:val>
            <c:numRef>
              <c:f>Sheet1!$C$2:$C$4</c:f>
              <c:numCache>
                <c:formatCode>General</c:formatCode>
                <c:ptCount val="3"/>
                <c:pt idx="0">
                  <c:v>25.2</c:v>
                </c:pt>
                <c:pt idx="1">
                  <c:v>25.9</c:v>
                </c:pt>
                <c:pt idx="2">
                  <c:v>25</c:v>
                </c:pt>
              </c:numCache>
            </c:numRef>
          </c:val>
        </c:ser>
        <c:ser>
          <c:idx val="2"/>
          <c:order val="2"/>
          <c:tx>
            <c:strRef>
              <c:f>Sheet1!$D$1</c:f>
              <c:strCache>
                <c:ptCount val="1"/>
                <c:pt idx="0">
                  <c:v>Retail</c:v>
                </c:pt>
              </c:strCache>
            </c:strRef>
          </c:tx>
          <c:spPr>
            <a:solidFill>
              <a:srgbClr val="77C7C9"/>
            </a:solidFill>
            <a:effectLst/>
          </c:spPr>
          <c:invertIfNegative val="0"/>
          <c:dLbls>
            <c:numFmt formatCode="0&quot;%&quot;" sourceLinked="0"/>
            <c:txPr>
              <a:bodyPr/>
              <a:lstStyle/>
              <a:p>
                <a:pPr>
                  <a:defRPr b="0" i="0" strike="noStrike" sz="800" u="none">
                    <a:solidFill>
                      <a:srgbClr val="231F20"/>
                    </a:solidFill>
                    <a:latin typeface="Proxima Nova"/>
                  </a:defRPr>
                </a:pPr>
              </a:p>
            </c:txPr>
            <c:showLegendKey val="0"/>
            <c:showVal val="1"/>
            <c:showCatName val="0"/>
            <c:showSerName val="0"/>
            <c:showPercent val="0"/>
            <c:showBubbleSize val="0"/>
            <c:showLeaderLines val="0"/>
          </c:dLbls>
          <c:cat>
            <c:multiLvlStrRef>
              <c:f>Sheet1!$A$2:$A$4</c:f>
              <c:multiLvlStrCache>
                <c:ptCount val="3"/>
                <c:lvl>
                  <c:pt idx="0">
                    <c:v>Anaheim</c:v>
                  </c:pt>
                  <c:pt idx="1">
                    <c:v>Orange County</c:v>
                  </c:pt>
                  <c:pt idx="2">
                    <c:v>California</c:v>
                  </c:pt>
                </c:lvl>
              </c:multiLvlStrCache>
            </c:multiLvlStrRef>
          </c:cat>
          <c:val>
            <c:numRef>
              <c:f>Sheet1!$D$2:$D$4</c:f>
              <c:numCache>
                <c:formatCode>General</c:formatCode>
                <c:ptCount val="3"/>
                <c:pt idx="0">
                  <c:v>21.9</c:v>
                </c:pt>
                <c:pt idx="1">
                  <c:v>20.5</c:v>
                </c:pt>
                <c:pt idx="2">
                  <c:v>12.4</c:v>
                </c:pt>
              </c:numCache>
            </c:numRef>
          </c:val>
        </c:ser>
        <c:ser>
          <c:idx val="3"/>
          <c:order val="3"/>
          <c:tx>
            <c:strRef>
              <c:f>Sheet1!$E$1</c:f>
              <c:strCache>
                <c:ptCount val="1"/>
                <c:pt idx="0">
                  <c:v>Food and beverage</c:v>
                </c:pt>
              </c:strCache>
            </c:strRef>
          </c:tx>
          <c:spPr>
            <a:solidFill>
              <a:srgbClr val="B4D9E3"/>
            </a:solidFill>
            <a:effectLst/>
          </c:spPr>
          <c:invertIfNegative val="0"/>
          <c:dLbls>
            <c:numFmt formatCode="0&quot;%&quot;" sourceLinked="0"/>
            <c:txPr>
              <a:bodyPr/>
              <a:lstStyle/>
              <a:p>
                <a:pPr>
                  <a:defRPr b="0" i="0" strike="noStrike" sz="800" u="none">
                    <a:solidFill>
                      <a:srgbClr val="231F20"/>
                    </a:solidFill>
                    <a:latin typeface="Proxima Nova"/>
                  </a:defRPr>
                </a:pPr>
              </a:p>
            </c:txPr>
            <c:showLegendKey val="0"/>
            <c:showVal val="1"/>
            <c:showCatName val="0"/>
            <c:showSerName val="0"/>
            <c:showPercent val="0"/>
            <c:showBubbleSize val="0"/>
            <c:showLeaderLines val="0"/>
          </c:dLbls>
          <c:cat>
            <c:multiLvlStrRef>
              <c:f>Sheet1!$A$2:$A$4</c:f>
              <c:multiLvlStrCache>
                <c:ptCount val="3"/>
                <c:lvl>
                  <c:pt idx="0">
                    <c:v>Anaheim</c:v>
                  </c:pt>
                  <c:pt idx="1">
                    <c:v>Orange County</c:v>
                  </c:pt>
                  <c:pt idx="2">
                    <c:v>California</c:v>
                  </c:pt>
                </c:lvl>
              </c:multiLvlStrCache>
            </c:multiLvlStrRef>
          </c:cat>
          <c:val>
            <c:numRef>
              <c:f>Sheet1!$E$2:$E$4</c:f>
              <c:numCache>
                <c:formatCode>General</c:formatCode>
                <c:ptCount val="3"/>
                <c:pt idx="0">
                  <c:v>15.6</c:v>
                </c:pt>
                <c:pt idx="1">
                  <c:v>27.6</c:v>
                </c:pt>
                <c:pt idx="2">
                  <c:v>31.5</c:v>
                </c:pt>
              </c:numCache>
            </c:numRef>
          </c:val>
        </c:ser>
        <c:ser>
          <c:idx val="4"/>
          <c:order val="4"/>
          <c:tx>
            <c:strRef>
              <c:f>Sheet1!$F$1</c:f>
              <c:strCache>
                <c:ptCount val="1"/>
                <c:pt idx="0">
                  <c:v>Transportation</c:v>
                </c:pt>
              </c:strCache>
            </c:strRef>
          </c:tx>
          <c:spPr>
            <a:solidFill>
              <a:srgbClr val="E8E6DC"/>
            </a:solidFill>
            <a:effectLst/>
          </c:spPr>
          <c:invertIfNegative val="0"/>
          <c:dLbls>
            <c:numFmt formatCode="0&quot;%&quot;" sourceLinked="0"/>
            <c:txPr>
              <a:bodyPr/>
              <a:lstStyle/>
              <a:p>
                <a:pPr>
                  <a:defRPr b="0" i="0" strike="noStrike" sz="800" u="none">
                    <a:solidFill>
                      <a:srgbClr val="231F20"/>
                    </a:solidFill>
                    <a:latin typeface="Proxima Nova"/>
                  </a:defRPr>
                </a:pPr>
              </a:p>
            </c:txPr>
            <c:showLegendKey val="0"/>
            <c:showVal val="1"/>
            <c:showCatName val="0"/>
            <c:showSerName val="0"/>
            <c:showPercent val="0"/>
            <c:showBubbleSize val="0"/>
            <c:showLeaderLines val="0"/>
          </c:dLbls>
          <c:cat>
            <c:multiLvlStrRef>
              <c:f>Sheet1!$A$2:$A$4</c:f>
              <c:multiLvlStrCache>
                <c:ptCount val="3"/>
                <c:lvl>
                  <c:pt idx="0">
                    <c:v>Anaheim</c:v>
                  </c:pt>
                  <c:pt idx="1">
                    <c:v>Orange County</c:v>
                  </c:pt>
                  <c:pt idx="2">
                    <c:v>California</c:v>
                  </c:pt>
                </c:lvl>
              </c:multiLvlStrCache>
            </c:multiLvlStrRef>
          </c:cat>
          <c:val>
            <c:numRef>
              <c:f>Sheet1!$F$2:$F$4</c:f>
              <c:numCache>
                <c:formatCode>General</c:formatCode>
                <c:ptCount val="3"/>
                <c:pt idx="0">
                  <c:v>3.3</c:v>
                </c:pt>
                <c:pt idx="1">
                  <c:v>3.9</c:v>
                </c:pt>
                <c:pt idx="2">
                  <c:v>17.9</c:v>
                </c:pt>
              </c:numCache>
            </c:numRef>
          </c:val>
        </c:ser>
        <c:dLbls>
          <c:numFmt formatCode="0&quot;%&quot;" sourceLinked="0"/>
          <c:txPr>
            <a:bodyPr/>
            <a:lstStyle/>
            <a:p>
              <a:pPr>
                <a:defRPr b="0" i="0" strike="noStrike" sz="800" u="none">
                  <a:solidFill>
                    <a:srgbClr val="231F20"/>
                  </a:solidFill>
                  <a:latin typeface="Proxima Nova"/>
                </a:defRPr>
              </a:pPr>
            </a:p>
          </c:txPr>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max val="1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50">
              <a:latin typeface="Proxima Nova"/>
              <a:cs typeface="Proxima Nova"/>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of all jobs supported by visitors, 2025</c:v>
                </c:pt>
              </c:strCache>
            </c:strRef>
          </c:tx>
          <c:spPr>
            <a:solidFill>
              <a:srgbClr val="43A3A3"/>
            </a:solidFill>
            <a:effectLst/>
          </c:spPr>
          <c:invertIfNegative val="0"/>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cat>
            <c:multiLvlStrRef>
              <c:f>Sheet1!$A$2:$A$4</c:f>
              <c:multiLvlStrCache>
                <c:ptCount val="3"/>
                <c:lvl>
                  <c:pt idx="0">
                    <c:v>Anaheim</c:v>
                  </c:pt>
                  <c:pt idx="1">
                    <c:v>Garden Grove</c:v>
                  </c:pt>
                  <c:pt idx="2">
                    <c:v>Orange County</c:v>
                  </c:pt>
                </c:lvl>
              </c:multiLvlStrCache>
            </c:multiLvlStrRef>
          </c:cat>
          <c:val>
            <c:numRef>
              <c:f>Sheet1!$B$2:$B$4</c:f>
              <c:numCache>
                <c:formatCode>General</c:formatCode>
                <c:ptCount val="3"/>
                <c:pt idx="0">
                  <c:v>32.8</c:v>
                </c:pt>
                <c:pt idx="1">
                  <c:v>11.8</c:v>
                </c:pt>
                <c:pt idx="2">
                  <c:v>7.4</c:v>
                </c:pt>
              </c:numCache>
            </c:numRef>
          </c:val>
        </c:ser>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Food and beverage share of visitor-supported jobs, 2025</c:v>
                </c:pt>
              </c:strCache>
            </c:strRef>
          </c:tx>
          <c:spPr>
            <a:solidFill>
              <a:srgbClr val="43A3A3"/>
            </a:solidFill>
            <a:effectLst/>
          </c:spPr>
          <c:invertIfNegative val="0"/>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cat>
            <c:multiLvlStrRef>
              <c:f>Sheet1!$A$2:$A$4</c:f>
              <c:multiLvlStrCache>
                <c:ptCount val="3"/>
                <c:lvl>
                  <c:pt idx="0">
                    <c:v>Anaheim</c:v>
                  </c:pt>
                  <c:pt idx="1">
                    <c:v>Orange County</c:v>
                  </c:pt>
                  <c:pt idx="2">
                    <c:v>Garden Grove</c:v>
                  </c:pt>
                </c:lvl>
              </c:multiLvlStrCache>
            </c:multiLvlStrRef>
          </c:cat>
          <c:val>
            <c:numRef>
              <c:f>Sheet1!$B$2:$B$4</c:f>
              <c:numCache>
                <c:formatCode>General</c:formatCode>
                <c:ptCount val="3"/>
                <c:pt idx="0">
                  <c:v>16.8</c:v>
                </c:pt>
                <c:pt idx="1">
                  <c:v>29.1</c:v>
                </c:pt>
                <c:pt idx="2">
                  <c:v>40.6</c:v>
                </c:pt>
              </c:numCache>
            </c:numRef>
          </c:val>
        </c:ser>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Total economic impact of visitors, 2025 ($B)</c:v>
                </c:pt>
              </c:strCache>
            </c:strRef>
          </c:tx>
          <c:spPr>
            <a:solidFill>
              <a:srgbClr val="B4D9E3"/>
            </a:solidFill>
            <a:effectLst/>
          </c:spPr>
          <c:invertIfNegative val="0"/>
          <c:dLbls>
            <c:numFmt formatCode="&quot;$&quot;0.0&quot;B&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B4D9E3"/>
              </a:solidFill>
              <a:effectLst/>
            </c:spPr>
          </c:dPt>
          <c:dPt>
            <c:idx val="1"/>
            <c:invertIfNegative val="0"/>
            <c:bubble3D val="0"/>
            <c:spPr>
              <a:solidFill>
                <a:srgbClr val="43A3A3"/>
              </a:solidFill>
              <a:effectLst/>
            </c:spPr>
          </c:dPt>
          <c:dPt>
            <c:idx val="2"/>
            <c:invertIfNegative val="0"/>
            <c:bubble3D val="0"/>
            <c:spPr>
              <a:solidFill>
                <a:srgbClr val="B4D9E3"/>
              </a:solidFill>
              <a:effectLst/>
            </c:spPr>
          </c:dPt>
          <c:cat>
            <c:multiLvlStrRef>
              <c:f>Sheet1!$A$2:$A$4</c:f>
              <c:multiLvlStrCache>
                <c:ptCount val="3"/>
                <c:lvl>
                  <c:pt idx="0">
                    <c:v>Garden Grove</c:v>
                  </c:pt>
                  <c:pt idx="1">
                    <c:v>Anaheim</c:v>
                  </c:pt>
                  <c:pt idx="2">
                    <c:v>Orange County</c:v>
                  </c:pt>
                </c:lvl>
              </c:multiLvlStrCache>
            </c:multiLvlStrRef>
          </c:cat>
          <c:val>
            <c:numRef>
              <c:f>Sheet1!$B$2:$B$4</c:f>
              <c:numCache>
                <c:formatCode>General</c:formatCode>
                <c:ptCount val="3"/>
                <c:pt idx="0">
                  <c:v>1.09</c:v>
                </c:pt>
                <c:pt idx="1">
                  <c:v>10.42</c:v>
                </c:pt>
                <c:pt idx="2">
                  <c:v>30.67</c:v>
                </c:pt>
              </c:numCache>
            </c:numRef>
          </c:val>
        </c:ser>
        <c:dLbls>
          <c:numFmt formatCode="&quot;$&quot;0.0&quot;B&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State and local taxes from visitors, 2025 ($M)</c:v>
                </c:pt>
              </c:strCache>
            </c:strRef>
          </c:tx>
          <c:spPr>
            <a:solidFill>
              <a:srgbClr val="B4D9E3"/>
            </a:solidFill>
            <a:effectLst/>
          </c:spPr>
          <c:invertIfNegative val="0"/>
          <c:dLbls>
            <c:numFmt formatCode="&quot;$&quot;#,##0.0&quot;M&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B4D9E3"/>
              </a:solidFill>
              <a:effectLst/>
            </c:spPr>
          </c:dPt>
          <c:dPt>
            <c:idx val="1"/>
            <c:invertIfNegative val="0"/>
            <c:bubble3D val="0"/>
            <c:spPr>
              <a:solidFill>
                <a:srgbClr val="43A3A3"/>
              </a:solidFill>
              <a:effectLst/>
            </c:spPr>
          </c:dPt>
          <c:dPt>
            <c:idx val="2"/>
            <c:invertIfNegative val="0"/>
            <c:bubble3D val="0"/>
            <c:spPr>
              <a:solidFill>
                <a:srgbClr val="B4D9E3"/>
              </a:solidFill>
              <a:effectLst/>
            </c:spPr>
          </c:dPt>
          <c:cat>
            <c:multiLvlStrRef>
              <c:f>Sheet1!$A$2:$A$4</c:f>
              <c:multiLvlStrCache>
                <c:ptCount val="3"/>
                <c:lvl>
                  <c:pt idx="0">
                    <c:v>Garden Grove</c:v>
                  </c:pt>
                  <c:pt idx="1">
                    <c:v>Anaheim</c:v>
                  </c:pt>
                  <c:pt idx="2">
                    <c:v>Orange County</c:v>
                  </c:pt>
                </c:lvl>
              </c:multiLvlStrCache>
            </c:multiLvlStrRef>
          </c:cat>
          <c:val>
            <c:numRef>
              <c:f>Sheet1!$B$2:$B$4</c:f>
              <c:numCache>
                <c:formatCode>General</c:formatCode>
                <c:ptCount val="3"/>
                <c:pt idx="0">
                  <c:v>83.6</c:v>
                </c:pt>
                <c:pt idx="1">
                  <c:v>970</c:v>
                </c:pt>
                <c:pt idx="2">
                  <c:v>3094</c:v>
                </c:pt>
              </c:numCache>
            </c:numRef>
          </c:val>
        </c:ser>
        <c:dLbls>
          <c:numFmt formatCode="&quot;$&quot;#,##0.0&quot;M&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Anaheim+ hotel occupancy by night, 2026 (%)</c:v>
                </c:pt>
              </c:strCache>
            </c:strRef>
          </c:tx>
          <c:spPr>
            <a:solidFill>
              <a:srgbClr val="43A3A3"/>
            </a:solidFill>
            <a:effectLst/>
          </c:spPr>
          <c:invertIfNegative val="0"/>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dPt>
            <c:idx val="5"/>
            <c:invertIfNegative val="0"/>
            <c:bubble3D val="0"/>
            <c:spPr>
              <a:solidFill>
                <a:srgbClr val="B4D9E3"/>
              </a:solidFill>
              <a:effectLst/>
            </c:spPr>
          </c:dPt>
          <c:dPt>
            <c:idx val="6"/>
            <c:invertIfNegative val="0"/>
            <c:bubble3D val="0"/>
            <c:spPr>
              <a:solidFill>
                <a:srgbClr val="B4D9E3"/>
              </a:solidFill>
              <a:effectLst/>
            </c:spPr>
          </c:dPt>
          <c:cat>
            <c:multiLvlStrRef>
              <c:f>Sheet1!$A$2:$A$8</c:f>
              <c:multiLvlStrCache>
                <c:ptCount val="7"/>
                <c:lvl>
                  <c:pt idx="0">
                    <c:v>Sunday</c:v>
                  </c:pt>
                  <c:pt idx="1">
                    <c:v>Monday</c:v>
                  </c:pt>
                  <c:pt idx="2">
                    <c:v>Tuesday</c:v>
                  </c:pt>
                  <c:pt idx="3">
                    <c:v>Wednesday</c:v>
                  </c:pt>
                  <c:pt idx="4">
                    <c:v>Thursday</c:v>
                  </c:pt>
                  <c:pt idx="5">
                    <c:v>Friday</c:v>
                  </c:pt>
                  <c:pt idx="6">
                    <c:v>Saturday</c:v>
                  </c:pt>
                </c:lvl>
              </c:multiLvlStrCache>
            </c:multiLvlStrRef>
          </c:cat>
          <c:val>
            <c:numRef>
              <c:f>Sheet1!$B$2:$B$8</c:f>
              <c:numCache>
                <c:formatCode>General</c:formatCode>
                <c:ptCount val="7"/>
                <c:pt idx="0">
                  <c:v>70.6</c:v>
                </c:pt>
                <c:pt idx="1">
                  <c:v>70.5</c:v>
                </c:pt>
                <c:pt idx="2">
                  <c:v>74.3</c:v>
                </c:pt>
                <c:pt idx="3">
                  <c:v>76.8</c:v>
                </c:pt>
                <c:pt idx="4">
                  <c:v>80.2</c:v>
                </c:pt>
                <c:pt idx="5">
                  <c:v>85.7</c:v>
                </c:pt>
                <c:pt idx="6">
                  <c:v>86.8</c:v>
                </c:pt>
              </c:numCache>
            </c:numRef>
          </c:val>
        </c:ser>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How Orange County workers commute (%)</c:v>
                </c:pt>
              </c:strCache>
            </c:strRef>
          </c:tx>
          <c:spPr>
            <a:solidFill>
              <a:srgbClr val="43A3A3"/>
            </a:solidFill>
            <a:effectLst/>
          </c:spPr>
          <c:invertIfNegative val="0"/>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cat>
            <c:multiLvlStrRef>
              <c:f>Sheet1!$A$2:$A$6</c:f>
              <c:multiLvlStrCache>
                <c:ptCount val="5"/>
                <c:lvl>
                  <c:pt idx="0">
                    <c:v>Drove alone</c:v>
                  </c:pt>
                  <c:pt idx="1">
                    <c:v>Worked from home</c:v>
                  </c:pt>
                  <c:pt idx="2">
                    <c:v>Carpooled</c:v>
                  </c:pt>
                  <c:pt idx="3">
                    <c:v>Walked</c:v>
                  </c:pt>
                  <c:pt idx="4">
                    <c:v>Public transportation</c:v>
                  </c:pt>
                </c:lvl>
              </c:multiLvlStrCache>
            </c:multiLvlStrRef>
          </c:cat>
          <c:val>
            <c:numRef>
              <c:f>Sheet1!$B$2:$B$6</c:f>
              <c:numCache>
                <c:formatCode>General</c:formatCode>
                <c:ptCount val="5"/>
                <c:pt idx="0">
                  <c:v>67.5</c:v>
                </c:pt>
                <c:pt idx="1">
                  <c:v>18.5</c:v>
                </c:pt>
                <c:pt idx="2">
                  <c:v>8.9</c:v>
                </c:pt>
                <c:pt idx="3">
                  <c:v>1.7</c:v>
                </c:pt>
                <c:pt idx="4">
                  <c:v>1.2</c:v>
                </c:pt>
              </c:numCache>
            </c:numRef>
          </c:val>
        </c:ser>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Average domestic airfare, U.S. ($)</c:v>
                </c:pt>
              </c:strCache>
            </c:strRef>
          </c:tx>
          <c:spPr>
            <a:solidFill>
              <a:srgbClr val="B4D9E3"/>
            </a:solidFill>
            <a:effectLst/>
          </c:spPr>
          <c:invertIfNegative val="0"/>
          <c:dLbls>
            <c:numFmt formatCode="&quot;$&quot;#,##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B4D9E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dPt>
            <c:idx val="5"/>
            <c:invertIfNegative val="0"/>
            <c:bubble3D val="0"/>
            <c:spPr>
              <a:solidFill>
                <a:srgbClr val="B4D9E3"/>
              </a:solidFill>
              <a:effectLst/>
            </c:spPr>
          </c:dPt>
          <c:dPt>
            <c:idx val="6"/>
            <c:invertIfNegative val="0"/>
            <c:bubble3D val="0"/>
            <c:spPr>
              <a:solidFill>
                <a:srgbClr val="43A3A3"/>
              </a:solidFill>
              <a:effectLst/>
            </c:spPr>
          </c:dPt>
          <c:cat>
            <c:multiLvlStrRef>
              <c:f>Sheet1!$A$2:$A$8</c:f>
              <c:multiLvlStrCache>
                <c:ptCount val="7"/>
                <c:lvl>
                  <c:pt idx="0">
                    <c:v>2019</c:v>
                  </c:pt>
                  <c:pt idx="1">
                    <c:v>2020</c:v>
                  </c:pt>
                  <c:pt idx="2">
                    <c:v>2021</c:v>
                  </c:pt>
                  <c:pt idx="3">
                    <c:v>2022</c:v>
                  </c:pt>
                  <c:pt idx="4">
                    <c:v>2023</c:v>
                  </c:pt>
                  <c:pt idx="5">
                    <c:v>2024</c:v>
                  </c:pt>
                  <c:pt idx="6">
                    <c:v>2025</c:v>
                  </c:pt>
                </c:lvl>
              </c:multiLvlStrCache>
            </c:multiLvlStrRef>
          </c:cat>
          <c:val>
            <c:numRef>
              <c:f>Sheet1!$B$2:$B$8</c:f>
              <c:numCache>
                <c:formatCode>General</c:formatCode>
                <c:ptCount val="7"/>
                <c:pt idx="0">
                  <c:v>352</c:v>
                </c:pt>
                <c:pt idx="1">
                  <c:v>292</c:v>
                </c:pt>
                <c:pt idx="2">
                  <c:v>307</c:v>
                </c:pt>
                <c:pt idx="3">
                  <c:v>378</c:v>
                </c:pt>
                <c:pt idx="4">
                  <c:v>382</c:v>
                </c:pt>
                <c:pt idx="5">
                  <c:v>384</c:v>
                </c:pt>
                <c:pt idx="6">
                  <c:v>387</c:v>
                </c:pt>
              </c:numCache>
            </c:numRef>
          </c:val>
        </c:ser>
        <c:dLbls>
          <c:numFmt formatCode="&quot;$&quot;#,##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of Anaheim visitor days that include each cluster, 2024 (%)</c:v>
                </c:pt>
              </c:strCache>
            </c:strRef>
          </c:tx>
          <c:spPr>
            <a:solidFill>
              <a:srgbClr val="B4D9E3"/>
            </a:solidFill>
            <a:effectLst/>
          </c:spPr>
          <c:invertIfNegative val="0"/>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B4D9E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dPt>
            <c:idx val="5"/>
            <c:invertIfNegative val="0"/>
            <c:bubble3D val="0"/>
            <c:spPr>
              <a:solidFill>
                <a:srgbClr val="43A3A3"/>
              </a:solidFill>
              <a:effectLst/>
            </c:spPr>
          </c:dPt>
          <c:dPt>
            <c:idx val="6"/>
            <c:invertIfNegative val="0"/>
            <c:bubble3D val="0"/>
            <c:spPr>
              <a:solidFill>
                <a:srgbClr val="B4D9E3"/>
              </a:solidFill>
              <a:effectLst/>
            </c:spPr>
          </c:dPt>
          <c:cat>
            <c:multiLvlStrRef>
              <c:f>Sheet1!$A$2:$A$8</c:f>
              <c:multiLvlStrCache>
                <c:ptCount val="7"/>
                <c:lvl>
                  <c:pt idx="0">
                    <c:v>Attractions and activities</c:v>
                  </c:pt>
                  <c:pt idx="1">
                    <c:v>Disneyland</c:v>
                  </c:pt>
                  <c:pt idx="2">
                    <c:v>Accommodations</c:v>
                  </c:pt>
                  <c:pt idx="3">
                    <c:v>Shopping</c:v>
                  </c:pt>
                  <c:pt idx="4">
                    <c:v>Dining</c:v>
                  </c:pt>
                  <c:pt idx="5">
                    <c:v>OC Vibe</c:v>
                  </c:pt>
                  <c:pt idx="6">
                    <c:v>Meeting services</c:v>
                  </c:pt>
                </c:lvl>
              </c:multiLvlStrCache>
            </c:multiLvlStrRef>
          </c:cat>
          <c:val>
            <c:numRef>
              <c:f>Sheet1!$B$2:$B$8</c:f>
              <c:numCache>
                <c:formatCode>General</c:formatCode>
                <c:ptCount val="7"/>
                <c:pt idx="0">
                  <c:v>75.8</c:v>
                </c:pt>
                <c:pt idx="1">
                  <c:v>74.4</c:v>
                </c:pt>
                <c:pt idx="2">
                  <c:v>65.8</c:v>
                </c:pt>
                <c:pt idx="3">
                  <c:v>51.1</c:v>
                </c:pt>
                <c:pt idx="4">
                  <c:v>28.7</c:v>
                </c:pt>
                <c:pt idx="5">
                  <c:v>5.2</c:v>
                </c:pt>
                <c:pt idx="6">
                  <c:v>3.4</c:v>
                </c:pt>
              </c:numCache>
            </c:numRef>
          </c:val>
        </c:ser>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Top states for District 5 visitors (% of unique domestic visitors)</c:v>
                </c:pt>
              </c:strCache>
            </c:strRef>
          </c:tx>
          <c:spPr>
            <a:solidFill>
              <a:srgbClr val="43A3A3"/>
            </a:solidFill>
            <a:effectLst/>
          </c:spPr>
          <c:invertIfNegative val="0"/>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dPt>
            <c:idx val="5"/>
            <c:invertIfNegative val="0"/>
            <c:bubble3D val="0"/>
            <c:spPr>
              <a:solidFill>
                <a:srgbClr val="B4D9E3"/>
              </a:solidFill>
              <a:effectLst/>
            </c:spPr>
          </c:dPt>
          <c:cat>
            <c:multiLvlStrRef>
              <c:f>Sheet1!$A$2:$A$7</c:f>
              <c:multiLvlStrCache>
                <c:ptCount val="6"/>
                <c:lvl>
                  <c:pt idx="0">
                    <c:v>California</c:v>
                  </c:pt>
                  <c:pt idx="1">
                    <c:v>Texas</c:v>
                  </c:pt>
                  <c:pt idx="2">
                    <c:v>Virginia</c:v>
                  </c:pt>
                  <c:pt idx="3">
                    <c:v>Florida</c:v>
                  </c:pt>
                  <c:pt idx="4">
                    <c:v>Arizona</c:v>
                  </c:pt>
                  <c:pt idx="5">
                    <c:v>New York</c:v>
                  </c:pt>
                </c:lvl>
              </c:multiLvlStrCache>
            </c:multiLvlStrRef>
          </c:cat>
          <c:val>
            <c:numRef>
              <c:f>Sheet1!$B$2:$B$7</c:f>
              <c:numCache>
                <c:formatCode>General</c:formatCode>
                <c:ptCount val="6"/>
                <c:pt idx="0">
                  <c:v>56</c:v>
                </c:pt>
                <c:pt idx="1">
                  <c:v>4.5</c:v>
                </c:pt>
                <c:pt idx="2">
                  <c:v>4.2</c:v>
                </c:pt>
                <c:pt idx="3">
                  <c:v>3.7</c:v>
                </c:pt>
                <c:pt idx="4">
                  <c:v>2.4</c:v>
                </c:pt>
                <c:pt idx="5">
                  <c:v>2.2</c:v>
                </c:pt>
              </c:numCache>
            </c:numRef>
          </c:val>
        </c:ser>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Visits per 1,000 impressions by vendor</c:v>
                </c:pt>
              </c:strCache>
            </c:strRef>
          </c:tx>
          <c:spPr>
            <a:solidFill>
              <a:srgbClr val="B4D9E3"/>
            </a:solidFill>
            <a:effectLst/>
          </c:spPr>
          <c:invertIfNegative val="0"/>
          <c:dLbls>
            <c:numFmt formatCode="0.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B4D9E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43A3A3"/>
              </a:solidFill>
              <a:effectLst/>
            </c:spPr>
          </c:dPt>
          <c:dPt>
            <c:idx val="5"/>
            <c:invertIfNegative val="0"/>
            <c:bubble3D val="0"/>
            <c:spPr>
              <a:solidFill>
                <a:srgbClr val="B4D9E3"/>
              </a:solidFill>
              <a:effectLst/>
            </c:spPr>
          </c:dPt>
          <c:dPt>
            <c:idx val="6"/>
            <c:invertIfNegative val="0"/>
            <c:bubble3D val="0"/>
            <c:spPr>
              <a:solidFill>
                <a:srgbClr val="B4D9E3"/>
              </a:solidFill>
              <a:effectLst/>
            </c:spPr>
          </c:dPt>
          <c:cat>
            <c:multiLvlStrRef>
              <c:f>Sheet1!$A$2:$A$8</c:f>
              <c:multiLvlStrCache>
                <c:ptCount val="7"/>
                <c:lvl>
                  <c:pt idx="0">
                    <c:v>Basis DSP (Adgenuity)</c:v>
                  </c:pt>
                  <c:pt idx="1">
                    <c:v>Epsilon</c:v>
                  </c:pt>
                  <c:pt idx="2">
                    <c:v>TripAdvisor</c:v>
                  </c:pt>
                  <c:pt idx="3">
                    <c:v>Travelzoo</c:v>
                  </c:pt>
                  <c:pt idx="4">
                    <c:v>Expedia</c:v>
                  </c:pt>
                  <c:pt idx="5">
                    <c:v>Priceline</c:v>
                  </c:pt>
                  <c:pt idx="6">
                    <c:v>Klaviyo</c:v>
                  </c:pt>
                </c:lvl>
              </c:multiLvlStrCache>
            </c:multiLvlStrRef>
          </c:cat>
          <c:val>
            <c:numRef>
              <c:f>Sheet1!$B$2:$B$8</c:f>
              <c:numCache>
                <c:formatCode>General</c:formatCode>
                <c:ptCount val="7"/>
                <c:pt idx="0">
                  <c:v>13.8</c:v>
                </c:pt>
                <c:pt idx="1">
                  <c:v>13.9</c:v>
                </c:pt>
                <c:pt idx="2">
                  <c:v>13.4</c:v>
                </c:pt>
                <c:pt idx="3">
                  <c:v>9.3</c:v>
                </c:pt>
                <c:pt idx="4">
                  <c:v>24.7</c:v>
                </c:pt>
                <c:pt idx="5">
                  <c:v>5.7</c:v>
                </c:pt>
                <c:pt idx="6">
                  <c:v>19.8</c:v>
                </c:pt>
              </c:numCache>
            </c:numRef>
          </c:val>
        </c:ser>
        <c:dLbls>
          <c:numFmt formatCode="0.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Hotel occupancy by Orange County submarket, 12 months (%)</c:v>
                </c:pt>
              </c:strCache>
            </c:strRef>
          </c:tx>
          <c:spPr>
            <a:solidFill>
              <a:srgbClr val="43A3A3"/>
            </a:solidFill>
            <a:effectLst/>
          </c:spPr>
          <c:invertIfNegative val="0"/>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cat>
            <c:multiLvlStrRef>
              <c:f>Sheet1!$A$2:$A$6</c:f>
              <c:multiLvlStrCache>
                <c:ptCount val="5"/>
                <c:lvl>
                  <c:pt idx="0">
                    <c:v>Disneyland</c:v>
                  </c:pt>
                  <c:pt idx="1">
                    <c:v>Newport Beach/Dana Point</c:v>
                  </c:pt>
                  <c:pt idx="2">
                    <c:v>Santa Ana/Costa Mesa</c:v>
                  </c:pt>
                  <c:pt idx="3">
                    <c:v>Anaheim (outside Disneyland submarket)</c:v>
                  </c:pt>
                  <c:pt idx="4">
                    <c:v>Orange County Northwest/Fullerton</c:v>
                  </c:pt>
                </c:lvl>
              </c:multiLvlStrCache>
            </c:multiLvlStrRef>
          </c:cat>
          <c:val>
            <c:numRef>
              <c:f>Sheet1!$B$2:$B$6</c:f>
              <c:numCache>
                <c:formatCode>General</c:formatCode>
                <c:ptCount val="5"/>
                <c:pt idx="0">
                  <c:v>78.4</c:v>
                </c:pt>
                <c:pt idx="1">
                  <c:v>70.8</c:v>
                </c:pt>
                <c:pt idx="2">
                  <c:v>72.7</c:v>
                </c:pt>
                <c:pt idx="3">
                  <c:v>71.6</c:v>
                </c:pt>
                <c:pt idx="4">
                  <c:v>70.4</c:v>
                </c:pt>
              </c:numCache>
            </c:numRef>
          </c:val>
        </c:ser>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Anaheim visitor spending, actual and forecast ($B)</c:v>
                </c:pt>
              </c:strCache>
            </c:strRef>
          </c:tx>
          <c:spPr>
            <a:solidFill>
              <a:srgbClr val="B4D9E3"/>
            </a:solidFill>
            <a:effectLst/>
          </c:spPr>
          <c:invertIfNegative val="0"/>
          <c:dLbls>
            <c:numFmt formatCode="&quot;$&quot;0.0&quot;B&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B4D9E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dPt>
            <c:idx val="5"/>
            <c:invertIfNegative val="0"/>
            <c:bubble3D val="0"/>
            <c:spPr>
              <a:solidFill>
                <a:srgbClr val="B4D9E3"/>
              </a:solidFill>
              <a:effectLst/>
            </c:spPr>
          </c:dPt>
          <c:dPt>
            <c:idx val="6"/>
            <c:invertIfNegative val="0"/>
            <c:bubble3D val="0"/>
            <c:spPr>
              <a:solidFill>
                <a:srgbClr val="43A3A3"/>
              </a:solidFill>
              <a:effectLst/>
            </c:spPr>
          </c:dPt>
          <c:cat>
            <c:multiLvlStrRef>
              <c:f>Sheet1!$A$2:$A$8</c:f>
              <c:multiLvlStrCache>
                <c:ptCount val="7"/>
                <c:lvl>
                  <c:pt idx="0">
                    <c:v>2022</c:v>
                  </c:pt>
                  <c:pt idx="1">
                    <c:v>2023</c:v>
                  </c:pt>
                  <c:pt idx="2">
                    <c:v>2024</c:v>
                  </c:pt>
                  <c:pt idx="3">
                    <c:v>2025</c:v>
                  </c:pt>
                  <c:pt idx="4">
                    <c:v>2026F</c:v>
                  </c:pt>
                  <c:pt idx="5">
                    <c:v>2027F</c:v>
                  </c:pt>
                  <c:pt idx="6">
                    <c:v>2028F</c:v>
                  </c:pt>
                </c:lvl>
              </c:multiLvlStrCache>
            </c:multiLvlStrRef>
          </c:cat>
          <c:val>
            <c:numRef>
              <c:f>Sheet1!$B$2:$B$8</c:f>
              <c:numCache>
                <c:formatCode>General</c:formatCode>
                <c:ptCount val="7"/>
                <c:pt idx="0">
                  <c:v>6</c:v>
                </c:pt>
                <c:pt idx="1">
                  <c:v>6.5</c:v>
                </c:pt>
                <c:pt idx="2">
                  <c:v>6.6</c:v>
                </c:pt>
                <c:pt idx="3">
                  <c:v>6.8</c:v>
                </c:pt>
                <c:pt idx="4">
                  <c:v>7.2</c:v>
                </c:pt>
                <c:pt idx="5">
                  <c:v>7.4</c:v>
                </c:pt>
                <c:pt idx="6">
                  <c:v>7.7</c:v>
                </c:pt>
              </c:numCache>
            </c:numRef>
          </c:val>
        </c:ser>
        <c:dLbls>
          <c:numFmt formatCode="&quot;$&quot;0.0&quot;B&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Anaheim visitor spent about $258 in 2025. Countywide, the average was $350 per visitor, and across the U.S. travel spending came to about $553 per trip.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Spending per visitor (Tourism Economics) or per trip (U.S. Travel Association). Calculation shown for each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every Anaheim visitor stayed one more night, lodging spending would rise about $794M. Counting all spending, one more day for overnight visitors is worth about $1.02B, and one more day for every visitor about $3.15B (the study's upper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2025 inputs. Weighted average stay blends domestic and international stays.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Visitors spent $224M on transportation in Anaheim in 2025 (3.3% of spending), supporting 2,080 jobs in transportation and gas stations. Countywide: $707M and 6,141 jobs. Statewide, visitors spent $25.2B on local transportation, gas and air (17.9% of visitor spending).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Visitor transportation spending and the jobs, business sales and labor income it supports in transportation and gas stations (direct + indirect + induced).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85.8% of District 5 visitors stay overnight and 43.8% are first-time visitors (Jan.–May 2026). Their median household income is $85.7K, above the $79.9K for all Anaheim and Garden Grove visitors and the $85.4K U.S. household median.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of domestic unique visitors, Jan.–May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Orange County drew 51.3M visitors in 2025: 29.2M day and 22.1M overnight; 47.9M domestic and 3.5M international (Tourism Economics). CIC Research counted 50.21M in 2019 with a different method. No 2026 year-to-date count is published for the county; Anaheim drew 13.1M in Jan.-June 2026, +3.1%.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than half (55.4%) of Orange County visitors in 2019 lived in Southern California: Los Angeles metro 26%, Riverside/San Bernardino 19% and San Diego 6%; 9.1% were international (CIC). Location data for Anaheim and Garden Grove (Jan. 2023-Aug. 2026) shows 44.7% of domestic trips from the Los Angeles-Long Beach-Anaheim metro area, which includes Orange County.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July. Orange County hotels averaged 80.6% occupancy in July across 2023-2025 vs. 61.2% in January, the low month (CoStar). In 2026, July reached 82.6%. Monthly visitor counts are not published for the county, so hotel occupancy is the monthly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2019, 81.2% of Orange County visitors came for pleasure or to see friends and relatives, 9.6% for business or conventions and 7.6% for special events. The average travel party was 2.8 people, 37.0% had children with them, and overnight visitors stayed 4.2 nights (CIC). It is the latest county visitor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Orange County had 60,224 hotel rooms in Sept. 2026. Hotels filled 75.2% of rooms at $221.67 a night in Jan.-Aug. 2026, up from 72.3% and $209.68 in 2025 and 77.4% and $165.36 in 2019 (CoStar).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 Anaheim visitor spending rose 3.1% in 2025 and 7.8% in Q2 2026. Orange County grew 3.4%, California 1.7% and the U.S. 1.4% after inflation.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Anaheim welcomed 6.74M visitors in Q2 2026 (+2.8%), who spent $1.76B (+7.8%). Overnight visits rose 4.5% and day visits 2.1%; hotel rates were nearly 9% higher. Garden Grove: 831,000 visitors (+3.4%), $200.4M (+7.1%).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Anaheim, recreation takes the largest share (34.0%), then lodging (25.2%), retail (21.9%), food and beverage (15.6%) and transportation (3.3%). Countywide, food and beverage leads (27.6%). Statewide, food service and lodging 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Visitors supported 67,817 Anaheim jobs in 2025, about one in three. Countywide the total was 178,164 (one in 14), statewide 1.17 million direct travel jobs, and nationally more than 15 million.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16.8% in Anaheim (11,366 of 67,817), 40.6% in Garden Grove and 29.1% countywide. Statewide, accommodation and food service together hold 55.3% of direct travel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$10.4B in Anaheim in 2025 (visitor spending $6.83B plus $3.6B in supplier and worker spending), $1.1B in Garden Grove and $30.7B countywide. Nationally, travel generated $3.0 trillion in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Visitors generated $0.97B in state and local taxes in Anaheim in 2025, $3.09B countywide, $13.6B statewide and $92B nationally.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$31.5M in Anaheim visitor spending: 26.5M visitors × 1% × $118.71 per visitor-day. On the hotel side, each point of Sunday–Monday occupancy is about 22,200 room nights and $5.1M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Mostly by car: 74.0% of domestic trips to Anaheim and Garden Grove start within 50 miles, and SR-57 beside OC Vibe carries about 275,000 vehicles a weekday. ARTIC adds 277 weekday bus trips, Amtrak (191,153 passengers in 2024) and Metrolink.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Gasoline averaged $4.09 a gallon on the West Coast in 2025 vs. $3.10 nationally. The average U.S. domestic airfare was $387 (+9.9% since 2019), and driving cost $0.82 a mile in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 of Anaheim visitor days in 2024 included the OC Vibe area, before the new venues open (Datafy). Disneyland was in 74.4% and meeting services in 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Southern California dominates: Los Angeles and Riverside metros are 46.2% of District 5 visitors. By card spending, the leading fly-in metros are Seattle, Phoenix, Las Vegas, Orlando and New York; internationally, Mexico, Canada and Japan.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 From January through August 2026, paid media produced 31.0M measurable impressions and 368,416 observed visits (11.9 per 1,000 impressions), arriving about 39 days after seeing an 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Resort-area hotels filled 78.4% of rooms at $255 a night over the past 12 months (CoStar Disneyland submarket); countywide 74.0% at $218. Anaheim hotel revenue per room rose 11.4% in Q2 2026, about twice the U.S. (+5.7%).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Tourism Economics forecasts Anaheim visitors rising to 27.6M and spending to $7.7B by 2028. LARC forecasts Anaheim hotel revenue per room of $162.18 in 2026 (+7.0%). Nationally, trips are forecast to grow 2.0% in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VA Title">
    <p:bg>
      <p:bgPr>
        <a:solidFill>
          <a:srgbClr val="125C6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31720"/>
            <a:ext cx="8686800" cy="1371600"/>
          </a:xfrm>
          <a:prstGeom prst="rect">
            <a:avLst/>
          </a:prstGeom>
          <a:noFill/>
          <a:ln/>
        </p:spPr>
        <p:txBody>
          <a:bodyPr wrap="square" rtlCol="0"/>
          <a:lstStyle>
            <a:lvl1pPr algn="l" indent="0" marL="0">
              <a:buNone/>
              <a:defRPr lang="en-US" sz="4400" b="1" i="1" dirty="0">
                <a:solidFill>
                  <a:srgbClr val="FFFFFF"/>
                </a:solidFill>
              </a:defRPr>
            </a:lvl1pPr>
          </a:lstStyle>
          <a:p>
            <a:pPr algn="l" indent="0" marL="0">
              <a:buNone/>
            </a:pPr>
            <a:endParaRPr lang="en-US" sz="4400" dirty="0"/>
          </a:p>
        </p:txBody>
      </p:sp>
      <p:sp>
        <p:nvSpPr>
          <p:cNvPr id="3" name="Text 0"/>
          <p:cNvSpPr/>
          <p:nvPr>
            <p:ph idx="101" type="body" hasCustomPrompt="1"/>
          </p:nvPr>
        </p:nvSpPr>
        <p:spPr>
          <a:xfrm>
            <a:off x="548640" y="3794760"/>
            <a:ext cx="8686800" cy="1097280"/>
          </a:xfrm>
          <a:prstGeom prst="rect">
            <a:avLst/>
          </a:prstGeom>
          <a:noFill/>
          <a:ln/>
        </p:spPr>
        <p:txBody>
          <a:bodyPr wrap="square" rtlCol="0"/>
          <a:lstStyle>
            <a:lvl1pPr algn="l" indent="0" marL="0">
              <a:buNone/>
              <a:defRPr lang="en-US" sz="1800" dirty="0">
                <a:solidFill>
                  <a:srgbClr val="FFFFFF"/>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VA Section">
    <p:bg>
      <p:bgPr>
        <a:solidFill>
          <a:srgbClr val="125C6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10058400" cy="1097280"/>
          </a:xfrm>
          <a:prstGeom prst="rect">
            <a:avLst/>
          </a:prstGeom>
          <a:noFill/>
          <a:ln/>
        </p:spPr>
        <p:txBody>
          <a:bodyPr wrap="square" rtlCol="0"/>
          <a:lstStyle>
            <a:lvl1pPr indent="0" marL="0">
              <a:buNone/>
              <a:defRPr lang="en-US" sz="3600" b="1" i="1" dirty="0">
                <a:solidFill>
                  <a:srgbClr val="FFFFFF"/>
                </a:solidFill>
              </a:defRPr>
            </a:lvl1pPr>
          </a:lstStyle>
          <a:p>
            <a:pPr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VA Conten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180015" y="274320"/>
            <a:ext cx="1463040" cy="534010"/>
          </a:xfrm>
          <a:prstGeom prst="rect">
            <a:avLst/>
          </a:prstGeom>
        </p:spPr>
      </p:pic>
      <p:sp>
        <p:nvSpPr>
          <p:cNvPr id="3" name="Shape 0"/>
          <p:cNvSpPr/>
          <p:nvPr/>
        </p:nvSpPr>
        <p:spPr>
          <a:xfrm>
            <a:off x="548640" y="6400800"/>
            <a:ext cx="11094415" cy="0"/>
          </a:xfrm>
          <a:prstGeom prst="line">
            <a:avLst/>
          </a:prstGeom>
          <a:noFill/>
          <a:ln w="12700">
            <a:solidFill>
              <a:srgbClr val="43A3A3"/>
            </a:solidFill>
            <a:prstDash val="solid"/>
          </a:ln>
        </p:spPr>
      </p:sp>
      <p:sp>
        <p:nvSpPr>
          <p:cNvPr id="4" name="Text 1"/>
          <p:cNvSpPr/>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rgbClr val="231F20"/>
                </a:solidFill>
              </a:rPr>
              <a:t>Visit Anaheim | visitanaheim.org</a:t>
            </a:r>
            <a:endParaRPr lang="en-US" sz="900" dirty="0"/>
          </a:p>
        </p:txBody>
      </p:sp>
      <p:sp>
        <p:nvSpPr>
          <p:cNvPr id="5" name="Text 2"/>
          <p:cNvSpPr/>
          <p:nvPr>
            <p:ph idx="103" type="title" hasCustomPrompt="1"/>
          </p:nvPr>
        </p:nvSpPr>
        <p:spPr>
          <a:xfrm>
            <a:off x="548640" y="274320"/>
            <a:ext cx="9265615" cy="777240"/>
          </a:xfrm>
          <a:prstGeom prst="rect">
            <a:avLst/>
          </a:prstGeom>
          <a:noFill/>
          <a:ln/>
        </p:spPr>
        <p:txBody>
          <a:bodyPr wrap="square" rtlCol="0"/>
          <a:lstStyle>
            <a:lvl1pPr algn="l" indent="0" marL="0">
              <a:buNone/>
              <a:defRPr lang="en-US" sz="2200" b="1" dirty="0">
                <a:solidFill>
                  <a:srgbClr val="125C60"/>
                </a:solidFill>
              </a:defRPr>
            </a:lvl1pPr>
          </a:lstStyle>
          <a:p>
            <a:pPr algn="l" indent="0" marL="0">
              <a:buNone/>
            </a:pPr>
            <a:endParaRPr lang="en-US" sz="2200" dirty="0"/>
          </a:p>
        </p:txBody>
      </p:sp>
      <p:sp>
        <p:nvSpPr>
          <p:cNvPr id="6" name="Text 2"/>
          <p:cNvSpPr/>
          <p:nvPr>
            <p:ph idx="104" type="body" hasCustomPrompt="1"/>
          </p:nvPr>
        </p:nvSpPr>
        <p:spPr>
          <a:xfrm>
            <a:off x="548640" y="1097280"/>
            <a:ext cx="9265615" cy="274320"/>
          </a:xfrm>
          <a:prstGeom prst="rect">
            <a:avLst/>
          </a:prstGeom>
          <a:noFill/>
          <a:ln/>
        </p:spPr>
        <p:txBody>
          <a:bodyPr wrap="square" rtlCol="0"/>
          <a:lstStyle>
            <a:lvl1pPr algn="l" indent="0" marL="0">
              <a:buNone/>
              <a:defRPr lang="en-US" sz="1200" dirty="0">
                <a:solidFill>
                  <a:srgbClr val="231F20"/>
                </a:solidFill>
              </a:defRPr>
            </a:lvl1pPr>
          </a:lstStyle>
          <a:p>
            <a:pPr algn="l" indent="0" marL="0">
              <a:buNone/>
            </a:pP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20.xml"/><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22.xml"/><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23.xml"/><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24.xml"/><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plate"/>
          <p:cNvSpPr/>
          <p:nvPr/>
        </p:nvSpPr>
        <p:spPr>
          <a:xfrm>
            <a:off x="548640" y="640080"/>
            <a:ext cx="2743200" cy="1275588"/>
          </a:xfrm>
          <a:prstGeom prst="roundRect">
            <a:avLst>
              <a:gd name="adj" fmla="val 7168"/>
            </a:avLst>
          </a:prstGeom>
          <a:solidFill>
            <a:srgbClr val="F9F9F2"/>
          </a:solidFill>
          <a:ln w="12700">
            <a:solidFill>
              <a:srgbClr val="F9F9F2"/>
            </a:solidFill>
            <a:prstDash val="solid"/>
          </a:ln>
        </p:spPr>
      </p:sp>
      <p:pic>
        <p:nvPicPr>
          <p:cNvPr id="3" name="Image 0" descr="Visit Anaheim">    </p:cNvPr>
          <p:cNvPicPr>
            <a:picLocks noChangeAspect="1"/>
          </p:cNvPicPr>
          <p:nvPr/>
        </p:nvPicPr>
        <p:blipFill>
          <a:blip r:embed="rId1"/>
          <a:stretch>
            <a:fillRect/>
          </a:stretch>
        </p:blipFill>
        <p:spPr>
          <a:xfrm>
            <a:off x="685800" y="777240"/>
            <a:ext cx="2468880" cy="901141"/>
          </a:xfrm>
          <a:prstGeom prst="rect">
            <a:avLst/>
          </a:prstGeom>
        </p:spPr>
      </p:pic>
      <p:sp>
        <p:nvSpPr>
          <p:cNvPr id="4" name="Text 0"/>
          <p:cNvSpPr/>
          <p:nvPr>
            <p:ph idx="100" type="title" hasCustomPrompt="1"/>
          </p:nvPr>
        </p:nvSpPr>
        <p:spPr>
          <a:xfrm>
            <a:off x="548640" y="2331720"/>
            <a:ext cx="8686800" cy="1371600"/>
          </a:xfrm>
          <a:prstGeom prst="rect">
            <a:avLst/>
          </a:prstGeom>
          <a:noFill/>
          <a:ln/>
        </p:spPr>
        <p:txBody>
          <a:bodyPr wrap="square" lIns="0" tIns="0" rIns="0" bIns="0" rtlCol="0" anchor="t"/>
          <a:lstStyle/>
          <a:p>
            <a:pPr algn="l" indent="0" marL="0">
              <a:buNone/>
            </a:pPr>
            <a:r>
              <a:rPr lang="en-US" sz="4400" b="1" i="1" dirty="0">
                <a:solidFill>
                  <a:srgbClr val="FFFFFF"/>
                </a:solidFill>
              </a:rPr>
              <a:t>Questions answered: Anaheim, Orange County and U.S.</a:t>
            </a:r>
            <a:endParaRPr lang="en-US" sz="4400" dirty="0"/>
          </a:p>
        </p:txBody>
      </p:sp>
      <p:sp>
        <p:nvSpPr>
          <p:cNvPr id="5" name="Text 0"/>
          <p:cNvSpPr/>
          <p:nvPr>
            <p:ph idx="101" type="body" hasCustomPrompt="1"/>
          </p:nvPr>
        </p:nvSpPr>
        <p:spPr>
          <a:xfrm>
            <a:off x="548640" y="3794760"/>
            <a:ext cx="8686800" cy="1097280"/>
          </a:xfrm>
          <a:prstGeom prst="rect">
            <a:avLst/>
          </a:prstGeom>
          <a:noFill/>
          <a:ln/>
        </p:spPr>
        <p:txBody>
          <a:bodyPr wrap="square" lIns="0" tIns="0" rIns="0" bIns="0" rtlCol="0" anchor="t"/>
          <a:lstStyle/>
          <a:p>
            <a:pPr algn="l" indent="0" marL="0">
              <a:buNone/>
            </a:pPr>
            <a:r>
              <a:rPr lang="en-US" sz="1800" dirty="0">
                <a:solidFill>
                  <a:srgbClr val="FFFFFF"/>
                </a:solidFill>
              </a:rPr>
              <a:t>Average spend, one more night, transportation impact and District 5, each with a short answer, a visual, the method and the reports behind it. Data through September 2026.</a:t>
            </a:r>
            <a:endParaRPr lang="en-US" sz="1800" dirty="0"/>
          </a:p>
        </p:txBody>
      </p:sp>
      <p:sp>
        <p:nvSpPr>
          <p:cNvPr id="6" name="Text 3"/>
          <p:cNvSpPr txBox="1"/>
          <p:nvPr/>
        </p:nvSpPr>
        <p:spPr>
          <a:xfrm>
            <a:off x="548640" y="6035040"/>
            <a:ext cx="10058400" cy="365760"/>
          </a:xfrm>
          <a:prstGeom prst="rect">
            <a:avLst/>
          </a:prstGeom>
          <a:noFill/>
          <a:ln/>
        </p:spPr>
        <p:txBody>
          <a:bodyPr wrap="square" lIns="0" tIns="0" rIns="0" bIns="0" rtlCol="0" anchor="ctr"/>
          <a:lstStyle/>
          <a:p>
            <a:pPr indent="0" marL="0">
              <a:buNone/>
            </a:pPr>
            <a:r>
              <a:rPr lang="en-US" sz="1200" dirty="0">
                <a:solidFill>
                  <a:srgbClr val="FFFFFF"/>
                </a:solidFill>
                <a:latin typeface="Proxima Nova" pitchFamily="34" charset="0"/>
                <a:ea typeface="Proxima Nova" pitchFamily="34" charset="-122"/>
                <a:cs typeface="Proxima Nova" pitchFamily="34" charset="-120"/>
              </a:rPr>
              <a:t>Prepared by Visit Anaheim Business Intelligence · October 2026 · Companion to the OC Vibe Insights app and report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Questions answered: the four core questions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Anaheim, Orange County and U.S. · each answer has a summary, a visual, the method and the files to read more</a:t>
            </a:r>
            <a:endParaRPr lang="en-US" sz="1200" dirty="0"/>
          </a:p>
        </p:txBody>
      </p:sp>
      <p:sp>
        <p:nvSpPr>
          <p:cNvPr id="4" name="kpi-card-0"/>
          <p:cNvSpPr/>
          <p:nvPr/>
        </p:nvSpPr>
        <p:spPr>
          <a:xfrm>
            <a:off x="548640" y="1463040"/>
            <a:ext cx="2650160" cy="2194560"/>
          </a:xfrm>
          <a:prstGeom prst="roundRect">
            <a:avLst>
              <a:gd name="adj" fmla="val 3333"/>
            </a:avLst>
          </a:prstGeom>
          <a:solidFill>
            <a:srgbClr val="FFFFFF"/>
          </a:solidFill>
          <a:ln w="12700">
            <a:solidFill>
              <a:srgbClr val="B4D9E3"/>
            </a:solidFill>
            <a:prstDash val="solid"/>
          </a:ln>
        </p:spPr>
      </p:sp>
      <p:sp>
        <p:nvSpPr>
          <p:cNvPr id="5" name="Text 3"/>
          <p:cNvSpPr txBox="1"/>
          <p:nvPr/>
        </p:nvSpPr>
        <p:spPr>
          <a:xfrm>
            <a:off x="713232" y="159105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VISITOR SPENDING</a:t>
            </a:r>
            <a:endParaRPr lang="en-US" sz="900" dirty="0"/>
          </a:p>
        </p:txBody>
      </p:sp>
      <p:sp>
        <p:nvSpPr>
          <p:cNvPr id="6" name="Text 4"/>
          <p:cNvSpPr txBox="1"/>
          <p:nvPr/>
        </p:nvSpPr>
        <p:spPr>
          <a:xfrm>
            <a:off x="713232" y="181051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per Anaheim visitor, 2025</a:t>
            </a:r>
            <a:endParaRPr lang="en-US" sz="1050" dirty="0"/>
          </a:p>
        </p:txBody>
      </p:sp>
      <p:sp>
        <p:nvSpPr>
          <p:cNvPr id="7" name="Text 5"/>
          <p:cNvSpPr txBox="1"/>
          <p:nvPr/>
        </p:nvSpPr>
        <p:spPr>
          <a:xfrm>
            <a:off x="713232" y="2084832"/>
            <a:ext cx="2320976" cy="548640"/>
          </a:xfrm>
          <a:prstGeom prst="rect">
            <a:avLst/>
          </a:prstGeom>
          <a:noFill/>
          <a:ln/>
        </p:spPr>
        <p:txBody>
          <a:bodyPr wrap="square" lIns="0" tIns="0" rIns="0" bIns="0" rtlCol="0" anchor="ctr"/>
          <a:lstStyle/>
          <a:p>
            <a:pPr indent="0" marL="0">
              <a:buNone/>
            </a:pPr>
            <a:r>
              <a:rPr lang="en-US" sz="2600" b="1" dirty="0">
                <a:solidFill>
                  <a:srgbClr val="125C60"/>
                </a:solidFill>
                <a:latin typeface="Proxima Nova" pitchFamily="34" charset="0"/>
                <a:ea typeface="Proxima Nova" pitchFamily="34" charset="-122"/>
                <a:cs typeface="Proxima Nova" pitchFamily="34" charset="-120"/>
              </a:rPr>
              <a:t>$258</a:t>
            </a:r>
            <a:endParaRPr lang="en-US" sz="2600" dirty="0"/>
          </a:p>
        </p:txBody>
      </p:sp>
      <p:sp>
        <p:nvSpPr>
          <p:cNvPr id="8" name="Text 6"/>
          <p:cNvSpPr txBox="1"/>
          <p:nvPr/>
        </p:nvSpPr>
        <p:spPr>
          <a:xfrm>
            <a:off x="713232" y="2633472"/>
            <a:ext cx="2320976" cy="93268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What does the average visitor spend?</a:t>
            </a:r>
            <a:endParaRPr lang="en-US" sz="1000" dirty="0"/>
          </a:p>
        </p:txBody>
      </p:sp>
      <p:sp>
        <p:nvSpPr>
          <p:cNvPr id="9" name="kpi-card-1"/>
          <p:cNvSpPr/>
          <p:nvPr/>
        </p:nvSpPr>
        <p:spPr>
          <a:xfrm>
            <a:off x="3363392" y="1463040"/>
            <a:ext cx="2650160" cy="2194560"/>
          </a:xfrm>
          <a:prstGeom prst="roundRect">
            <a:avLst>
              <a:gd name="adj" fmla="val 3333"/>
            </a:avLst>
          </a:prstGeom>
          <a:solidFill>
            <a:srgbClr val="FFFFFF"/>
          </a:solidFill>
          <a:ln w="12700">
            <a:solidFill>
              <a:srgbClr val="B4D9E3"/>
            </a:solidFill>
            <a:prstDash val="solid"/>
          </a:ln>
        </p:spPr>
      </p:sp>
      <p:sp>
        <p:nvSpPr>
          <p:cNvPr id="10" name="Text 8"/>
          <p:cNvSpPr txBox="1"/>
          <p:nvPr/>
        </p:nvSpPr>
        <p:spPr>
          <a:xfrm>
            <a:off x="3527984" y="159105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ONE MORE NIGHT</a:t>
            </a:r>
            <a:endParaRPr lang="en-US" sz="900" dirty="0"/>
          </a:p>
        </p:txBody>
      </p:sp>
      <p:sp>
        <p:nvSpPr>
          <p:cNvPr id="11" name="Text 9"/>
          <p:cNvSpPr txBox="1"/>
          <p:nvPr/>
        </p:nvSpPr>
        <p:spPr>
          <a:xfrm>
            <a:off x="3527984" y="181051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one more night of Anaheim lodging spending</a:t>
            </a:r>
            <a:endParaRPr lang="en-US" sz="1050" dirty="0"/>
          </a:p>
        </p:txBody>
      </p:sp>
      <p:sp>
        <p:nvSpPr>
          <p:cNvPr id="12" name="Text 10"/>
          <p:cNvSpPr txBox="1"/>
          <p:nvPr/>
        </p:nvSpPr>
        <p:spPr>
          <a:xfrm>
            <a:off x="3527984" y="2084832"/>
            <a:ext cx="2320976" cy="548640"/>
          </a:xfrm>
          <a:prstGeom prst="rect">
            <a:avLst/>
          </a:prstGeom>
          <a:noFill/>
          <a:ln/>
        </p:spPr>
        <p:txBody>
          <a:bodyPr wrap="square" lIns="0" tIns="0" rIns="0" bIns="0" rtlCol="0" anchor="ctr"/>
          <a:lstStyle/>
          <a:p>
            <a:pPr indent="0" marL="0">
              <a:buNone/>
            </a:pPr>
            <a:r>
              <a:rPr lang="en-US" sz="2600" b="1" dirty="0">
                <a:solidFill>
                  <a:srgbClr val="125C60"/>
                </a:solidFill>
                <a:latin typeface="Proxima Nova" pitchFamily="34" charset="0"/>
                <a:ea typeface="Proxima Nova" pitchFamily="34" charset="-122"/>
                <a:cs typeface="Proxima Nova" pitchFamily="34" charset="-120"/>
              </a:rPr>
              <a:t>$794M</a:t>
            </a:r>
            <a:endParaRPr lang="en-US" sz="2600" dirty="0"/>
          </a:p>
        </p:txBody>
      </p:sp>
      <p:sp>
        <p:nvSpPr>
          <p:cNvPr id="13" name="Text 11"/>
          <p:cNvSpPr txBox="1"/>
          <p:nvPr/>
        </p:nvSpPr>
        <p:spPr>
          <a:xfrm>
            <a:off x="3527984" y="2633472"/>
            <a:ext cx="2320976" cy="93268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What is one more night per visitor worth?</a:t>
            </a:r>
            <a:endParaRPr lang="en-US" sz="1000" dirty="0"/>
          </a:p>
        </p:txBody>
      </p:sp>
      <p:sp>
        <p:nvSpPr>
          <p:cNvPr id="14" name="kpi-card-2"/>
          <p:cNvSpPr/>
          <p:nvPr/>
        </p:nvSpPr>
        <p:spPr>
          <a:xfrm>
            <a:off x="6178144" y="1463040"/>
            <a:ext cx="2650160" cy="2194560"/>
          </a:xfrm>
          <a:prstGeom prst="roundRect">
            <a:avLst>
              <a:gd name="adj" fmla="val 3333"/>
            </a:avLst>
          </a:prstGeom>
          <a:solidFill>
            <a:srgbClr val="FFFFFF"/>
          </a:solidFill>
          <a:ln w="12700">
            <a:solidFill>
              <a:srgbClr val="B4D9E3"/>
            </a:solidFill>
            <a:prstDash val="solid"/>
          </a:ln>
        </p:spPr>
      </p:sp>
      <p:sp>
        <p:nvSpPr>
          <p:cNvPr id="15" name="Text 13"/>
          <p:cNvSpPr txBox="1"/>
          <p:nvPr/>
        </p:nvSpPr>
        <p:spPr>
          <a:xfrm>
            <a:off x="6342736" y="159105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TRANSPORTATION</a:t>
            </a:r>
            <a:endParaRPr lang="en-US" sz="900" dirty="0"/>
          </a:p>
        </p:txBody>
      </p:sp>
      <p:sp>
        <p:nvSpPr>
          <p:cNvPr id="16" name="Text 14"/>
          <p:cNvSpPr txBox="1"/>
          <p:nvPr/>
        </p:nvSpPr>
        <p:spPr>
          <a:xfrm>
            <a:off x="6342736" y="181051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Anaheim transportation and gas station jobs supported by visitors, 2025</a:t>
            </a:r>
            <a:endParaRPr lang="en-US" sz="1050" dirty="0"/>
          </a:p>
        </p:txBody>
      </p:sp>
      <p:sp>
        <p:nvSpPr>
          <p:cNvPr id="17" name="Text 15"/>
          <p:cNvSpPr txBox="1"/>
          <p:nvPr/>
        </p:nvSpPr>
        <p:spPr>
          <a:xfrm>
            <a:off x="6342736" y="2084832"/>
            <a:ext cx="2320976" cy="548640"/>
          </a:xfrm>
          <a:prstGeom prst="rect">
            <a:avLst/>
          </a:prstGeom>
          <a:noFill/>
          <a:ln/>
        </p:spPr>
        <p:txBody>
          <a:bodyPr wrap="square" lIns="0" tIns="0" rIns="0" bIns="0" rtlCol="0" anchor="ctr"/>
          <a:lstStyle/>
          <a:p>
            <a:pPr indent="0" marL="0">
              <a:buNone/>
            </a:pPr>
            <a:r>
              <a:rPr lang="en-US" sz="2600" b="1" dirty="0">
                <a:solidFill>
                  <a:srgbClr val="125C60"/>
                </a:solidFill>
                <a:latin typeface="Proxima Nova" pitchFamily="34" charset="0"/>
                <a:ea typeface="Proxima Nova" pitchFamily="34" charset="-122"/>
                <a:cs typeface="Proxima Nova" pitchFamily="34" charset="-120"/>
              </a:rPr>
              <a:t>2,080</a:t>
            </a:r>
            <a:endParaRPr lang="en-US" sz="2600" dirty="0"/>
          </a:p>
        </p:txBody>
      </p:sp>
      <p:sp>
        <p:nvSpPr>
          <p:cNvPr id="18" name="Text 16"/>
          <p:cNvSpPr txBox="1"/>
          <p:nvPr/>
        </p:nvSpPr>
        <p:spPr>
          <a:xfrm>
            <a:off x="6342736" y="2633472"/>
            <a:ext cx="2320976" cy="93268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What is the economic impact of visitor transportation?</a:t>
            </a:r>
            <a:endParaRPr lang="en-US" sz="1000" dirty="0"/>
          </a:p>
        </p:txBody>
      </p:sp>
      <p:sp>
        <p:nvSpPr>
          <p:cNvPr id="19" name="kpi-card-3"/>
          <p:cNvSpPr/>
          <p:nvPr/>
        </p:nvSpPr>
        <p:spPr>
          <a:xfrm>
            <a:off x="8992895" y="1463040"/>
            <a:ext cx="2650160" cy="2194560"/>
          </a:xfrm>
          <a:prstGeom prst="roundRect">
            <a:avLst>
              <a:gd name="adj" fmla="val 3333"/>
            </a:avLst>
          </a:prstGeom>
          <a:solidFill>
            <a:srgbClr val="FFFFFF"/>
          </a:solidFill>
          <a:ln w="12700">
            <a:solidFill>
              <a:srgbClr val="B4D9E3"/>
            </a:solidFill>
            <a:prstDash val="solid"/>
          </a:ln>
        </p:spPr>
      </p:sp>
      <p:sp>
        <p:nvSpPr>
          <p:cNvPr id="20" name="Text 18"/>
          <p:cNvSpPr txBox="1"/>
          <p:nvPr/>
        </p:nvSpPr>
        <p:spPr>
          <a:xfrm>
            <a:off x="9157487" y="159105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DISTRICT 5 AND WHO VISITS</a:t>
            </a:r>
            <a:endParaRPr lang="en-US" sz="900" dirty="0"/>
          </a:p>
        </p:txBody>
      </p:sp>
      <p:sp>
        <p:nvSpPr>
          <p:cNvPr id="21" name="Text 19"/>
          <p:cNvSpPr txBox="1"/>
          <p:nvPr/>
        </p:nvSpPr>
        <p:spPr>
          <a:xfrm>
            <a:off x="9157487" y="181051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of District 5 visitors stay overnight</a:t>
            </a:r>
            <a:endParaRPr lang="en-US" sz="1050" dirty="0"/>
          </a:p>
        </p:txBody>
      </p:sp>
      <p:sp>
        <p:nvSpPr>
          <p:cNvPr id="22" name="Text 20"/>
          <p:cNvSpPr txBox="1"/>
          <p:nvPr/>
        </p:nvSpPr>
        <p:spPr>
          <a:xfrm>
            <a:off x="9157487" y="2084832"/>
            <a:ext cx="2320976" cy="548640"/>
          </a:xfrm>
          <a:prstGeom prst="rect">
            <a:avLst/>
          </a:prstGeom>
          <a:noFill/>
          <a:ln/>
        </p:spPr>
        <p:txBody>
          <a:bodyPr wrap="square" lIns="0" tIns="0" rIns="0" bIns="0" rtlCol="0" anchor="ctr"/>
          <a:lstStyle/>
          <a:p>
            <a:pPr indent="0" marL="0">
              <a:buNone/>
            </a:pPr>
            <a:r>
              <a:rPr lang="en-US" sz="2600" b="1" dirty="0">
                <a:solidFill>
                  <a:srgbClr val="125C60"/>
                </a:solidFill>
                <a:latin typeface="Proxima Nova" pitchFamily="34" charset="0"/>
                <a:ea typeface="Proxima Nova" pitchFamily="34" charset="-122"/>
                <a:cs typeface="Proxima Nova" pitchFamily="34" charset="-120"/>
              </a:rPr>
              <a:t>85.8%</a:t>
            </a:r>
            <a:endParaRPr lang="en-US" sz="2600" dirty="0"/>
          </a:p>
        </p:txBody>
      </p:sp>
      <p:sp>
        <p:nvSpPr>
          <p:cNvPr id="23" name="Text 21"/>
          <p:cNvSpPr txBox="1"/>
          <p:nvPr/>
        </p:nvSpPr>
        <p:spPr>
          <a:xfrm>
            <a:off x="9157487" y="2633472"/>
            <a:ext cx="2320976" cy="93268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Who visits District 5, where OC Vibe is being built?</a:t>
            </a:r>
            <a:endParaRPr lang="en-US" sz="1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3794760"/>
          <a:ext cx="11094415" cy="914400"/>
        </p:xfrm>
        <a:graphic>
          <a:graphicData uri="http://schemas.openxmlformats.org/drawingml/2006/table">
            <a:tbl>
              <a:tblPr/>
              <a:tblGrid>
                <a:gridCol w="3108960"/>
                <a:gridCol w="7985455"/>
              </a:tblGrid>
              <a:tr h="457200">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Question</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Short answer</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57200">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What does the average visitor spend?</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Each Anaheim visitor spent about </a:t>
                      </a:r>
                      <a:pPr algn="l" indent="0" marL="0">
                        <a:buNone/>
                      </a:pPr>
                      <a:r>
                        <a:rPr lang="en-US" sz="900" b="1" dirty="0">
                          <a:solidFill>
                            <a:srgbClr val="125C60"/>
                          </a:solidFill>
                          <a:latin typeface="Proxima Nova" pitchFamily="34" charset="0"/>
                          <a:ea typeface="Proxima Nova" pitchFamily="34" charset="-122"/>
                          <a:cs typeface="Proxima Nova" pitchFamily="34" charset="-120"/>
                        </a:rPr>
                        <a:t>$258</a:t>
                      </a:r>
                      <a:pPr algn="l" indent="0" marL="0">
                        <a:buNone/>
                      </a:pPr>
                      <a:r>
                        <a:rPr lang="en-US" sz="900" dirty="0">
                          <a:solidFill>
                            <a:srgbClr val="231F20"/>
                          </a:solidFill>
                          <a:latin typeface="Proxima Nova" pitchFamily="34" charset="0"/>
                          <a:ea typeface="Proxima Nova" pitchFamily="34" charset="-122"/>
                          <a:cs typeface="Proxima Nova" pitchFamily="34" charset="-120"/>
                        </a:rPr>
                        <a:t> in 2025. Countywide, the average was </a:t>
                      </a:r>
                      <a:pPr algn="l" indent="0" marL="0">
                        <a:buNone/>
                      </a:pPr>
                      <a:r>
                        <a:rPr lang="en-US" sz="900" b="1" dirty="0">
                          <a:solidFill>
                            <a:srgbClr val="125C60"/>
                          </a:solidFill>
                          <a:latin typeface="Proxima Nova" pitchFamily="34" charset="0"/>
                          <a:ea typeface="Proxima Nova" pitchFamily="34" charset="-122"/>
                          <a:cs typeface="Proxima Nova" pitchFamily="34" charset="-120"/>
                        </a:rPr>
                        <a:t>$350</a:t>
                      </a:r>
                      <a:pPr algn="l" indent="0" marL="0">
                        <a:buNone/>
                      </a:pPr>
                      <a:r>
                        <a:rPr lang="en-US" sz="900" dirty="0">
                          <a:solidFill>
                            <a:srgbClr val="231F20"/>
                          </a:solidFill>
                          <a:latin typeface="Proxima Nova" pitchFamily="34" charset="0"/>
                          <a:ea typeface="Proxima Nova" pitchFamily="34" charset="-122"/>
                          <a:cs typeface="Proxima Nova" pitchFamily="34" charset="-120"/>
                        </a:rPr>
                        <a:t> per visitor, and across the U.S. travel spending came to about </a:t>
                      </a:r>
                      <a:pPr algn="l" indent="0" marL="0">
                        <a:buNone/>
                      </a:pPr>
                      <a:r>
                        <a:rPr lang="en-US" sz="900" b="1" dirty="0">
                          <a:solidFill>
                            <a:srgbClr val="125C60"/>
                          </a:solidFill>
                          <a:latin typeface="Proxima Nova" pitchFamily="34" charset="0"/>
                          <a:ea typeface="Proxima Nova" pitchFamily="34" charset="-122"/>
                          <a:cs typeface="Proxima Nova" pitchFamily="34" charset="-120"/>
                        </a:rPr>
                        <a:t>$553</a:t>
                      </a:r>
                      <a:pPr algn="l" indent="0" marL="0">
                        <a:buNone/>
                      </a:pPr>
                      <a:r>
                        <a:rPr lang="en-US" sz="900" dirty="0">
                          <a:solidFill>
                            <a:srgbClr val="231F20"/>
                          </a:solidFill>
                          <a:latin typeface="Proxima Nova" pitchFamily="34" charset="0"/>
                          <a:ea typeface="Proxima Nova" pitchFamily="34" charset="-122"/>
                          <a:cs typeface="Proxima Nova" pitchFamily="34" charset="-120"/>
                        </a:rPr>
                        <a:t> per trip.</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What is one more night per visitor worth?</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If every Anaheim visitor stayed one more night, lodging spending would rise about </a:t>
                      </a:r>
                      <a:pPr algn="l" indent="0" marL="0">
                        <a:buNone/>
                      </a:pPr>
                      <a:r>
                        <a:rPr lang="en-US" sz="900" b="1" dirty="0">
                          <a:solidFill>
                            <a:srgbClr val="125C60"/>
                          </a:solidFill>
                          <a:latin typeface="Proxima Nova" pitchFamily="34" charset="0"/>
                          <a:ea typeface="Proxima Nova" pitchFamily="34" charset="-122"/>
                          <a:cs typeface="Proxima Nova" pitchFamily="34" charset="-120"/>
                        </a:rPr>
                        <a:t>$794M</a:t>
                      </a:r>
                      <a:pPr algn="l" indent="0" marL="0">
                        <a:buNone/>
                      </a:pPr>
                      <a:r>
                        <a:rPr lang="en-US" sz="900" dirty="0">
                          <a:solidFill>
                            <a:srgbClr val="231F20"/>
                          </a:solidFill>
                          <a:latin typeface="Proxima Nova" pitchFamily="34" charset="0"/>
                          <a:ea typeface="Proxima Nova" pitchFamily="34" charset="-122"/>
                          <a:cs typeface="Proxima Nova" pitchFamily="34" charset="-120"/>
                        </a:rPr>
                        <a:t>. Counting all spending, one more day for overnight visitors is worth about </a:t>
                      </a:r>
                      <a:pPr algn="l" indent="0" marL="0">
                        <a:buNone/>
                      </a:pPr>
                      <a:r>
                        <a:rPr lang="en-US" sz="900" b="1" dirty="0">
                          <a:solidFill>
                            <a:srgbClr val="125C60"/>
                          </a:solidFill>
                          <a:latin typeface="Proxima Nova" pitchFamily="34" charset="0"/>
                          <a:ea typeface="Proxima Nova" pitchFamily="34" charset="-122"/>
                          <a:cs typeface="Proxima Nova" pitchFamily="34" charset="-120"/>
                        </a:rPr>
                        <a:t>$1.02B</a:t>
                      </a:r>
                      <a:pPr algn="l" indent="0" marL="0">
                        <a:buNone/>
                      </a:pPr>
                      <a:r>
                        <a:rPr lang="en-US" sz="900" dirty="0">
                          <a:solidFill>
                            <a:srgbClr val="231F20"/>
                          </a:solidFill>
                          <a:latin typeface="Proxima Nova" pitchFamily="34" charset="0"/>
                          <a:ea typeface="Proxima Nova" pitchFamily="34" charset="-122"/>
                          <a:cs typeface="Proxima Nova" pitchFamily="34" charset="-120"/>
                        </a:rPr>
                        <a:t>, and one more day for every visitor about </a:t>
                      </a:r>
                      <a:pPr algn="l" indent="0" marL="0">
                        <a:buNone/>
                      </a:pPr>
                      <a:r>
                        <a:rPr lang="en-US" sz="900" b="1" dirty="0">
                          <a:solidFill>
                            <a:srgbClr val="125C60"/>
                          </a:solidFill>
                          <a:latin typeface="Proxima Nova" pitchFamily="34" charset="0"/>
                          <a:ea typeface="Proxima Nova" pitchFamily="34" charset="-122"/>
                          <a:cs typeface="Proxima Nova" pitchFamily="34" charset="-120"/>
                        </a:rPr>
                        <a:t>$3.15B</a:t>
                      </a:r>
                      <a:pPr algn="l" indent="0" marL="0">
                        <a:buNone/>
                      </a:pPr>
                      <a:r>
                        <a:rPr lang="en-US" sz="900" dirty="0">
                          <a:solidFill>
                            <a:srgbClr val="231F20"/>
                          </a:solidFill>
                          <a:latin typeface="Proxima Nova" pitchFamily="34" charset="0"/>
                          <a:ea typeface="Proxima Nova" pitchFamily="34" charset="-122"/>
                          <a:cs typeface="Proxima Nova" pitchFamily="34" charset="-120"/>
                        </a:rPr>
                        <a:t> (the study's upper bound).</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What is the economic impact of visitor transportation?</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Visitors spent </a:t>
                      </a:r>
                      <a:pPr algn="l" indent="0" marL="0">
                        <a:buNone/>
                      </a:pPr>
                      <a:r>
                        <a:rPr lang="en-US" sz="900" b="1" dirty="0">
                          <a:solidFill>
                            <a:srgbClr val="125C60"/>
                          </a:solidFill>
                          <a:latin typeface="Proxima Nova" pitchFamily="34" charset="0"/>
                          <a:ea typeface="Proxima Nova" pitchFamily="34" charset="-122"/>
                          <a:cs typeface="Proxima Nova" pitchFamily="34" charset="-120"/>
                        </a:rPr>
                        <a:t>$224M</a:t>
                      </a:r>
                      <a:pPr algn="l" indent="0" marL="0">
                        <a:buNone/>
                      </a:pPr>
                      <a:r>
                        <a:rPr lang="en-US" sz="900" dirty="0">
                          <a:solidFill>
                            <a:srgbClr val="231F20"/>
                          </a:solidFill>
                          <a:latin typeface="Proxima Nova" pitchFamily="34" charset="0"/>
                          <a:ea typeface="Proxima Nova" pitchFamily="34" charset="-122"/>
                          <a:cs typeface="Proxima Nova" pitchFamily="34" charset="-120"/>
                        </a:rPr>
                        <a:t> on transportation in Anaheim in 2025 (</a:t>
                      </a:r>
                      <a:pPr algn="l" indent="0" marL="0">
                        <a:buNone/>
                      </a:pPr>
                      <a:r>
                        <a:rPr lang="en-US" sz="900" b="1" dirty="0">
                          <a:solidFill>
                            <a:srgbClr val="125C60"/>
                          </a:solidFill>
                          <a:latin typeface="Proxima Nova" pitchFamily="34" charset="0"/>
                          <a:ea typeface="Proxima Nova" pitchFamily="34" charset="-122"/>
                          <a:cs typeface="Proxima Nova" pitchFamily="34" charset="-120"/>
                        </a:rPr>
                        <a:t>3.3%</a:t>
                      </a:r>
                      <a:pPr algn="l" indent="0" marL="0">
                        <a:buNone/>
                      </a:pPr>
                      <a:r>
                        <a:rPr lang="en-US" sz="900" dirty="0">
                          <a:solidFill>
                            <a:srgbClr val="231F20"/>
                          </a:solidFill>
                          <a:latin typeface="Proxima Nova" pitchFamily="34" charset="0"/>
                          <a:ea typeface="Proxima Nova" pitchFamily="34" charset="-122"/>
                          <a:cs typeface="Proxima Nova" pitchFamily="34" charset="-120"/>
                        </a:rPr>
                        <a:t> of spending), supporting </a:t>
                      </a:r>
                      <a:pPr algn="l" indent="0" marL="0">
                        <a:buNone/>
                      </a:pPr>
                      <a:r>
                        <a:rPr lang="en-US" sz="900" b="1" dirty="0">
                          <a:solidFill>
                            <a:srgbClr val="125C60"/>
                          </a:solidFill>
                          <a:latin typeface="Proxima Nova" pitchFamily="34" charset="0"/>
                          <a:ea typeface="Proxima Nova" pitchFamily="34" charset="-122"/>
                          <a:cs typeface="Proxima Nova" pitchFamily="34" charset="-120"/>
                        </a:rPr>
                        <a:t>2,080 jobs</a:t>
                      </a:r>
                      <a:pPr algn="l" indent="0" marL="0">
                        <a:buNone/>
                      </a:pPr>
                      <a:r>
                        <a:rPr lang="en-US" sz="900" dirty="0">
                          <a:solidFill>
                            <a:srgbClr val="231F20"/>
                          </a:solidFill>
                          <a:latin typeface="Proxima Nova" pitchFamily="34" charset="0"/>
                          <a:ea typeface="Proxima Nova" pitchFamily="34" charset="-122"/>
                          <a:cs typeface="Proxima Nova" pitchFamily="34" charset="-120"/>
                        </a:rPr>
                        <a:t> in transportation and gas stations. Countywide: </a:t>
                      </a:r>
                      <a:pPr algn="l" indent="0" marL="0">
                        <a:buNone/>
                      </a:pPr>
                      <a:r>
                        <a:rPr lang="en-US" sz="900" b="1" dirty="0">
                          <a:solidFill>
                            <a:srgbClr val="125C60"/>
                          </a:solidFill>
                          <a:latin typeface="Proxima Nova" pitchFamily="34" charset="0"/>
                          <a:ea typeface="Proxima Nova" pitchFamily="34" charset="-122"/>
                          <a:cs typeface="Proxima Nova" pitchFamily="34" charset="-120"/>
                        </a:rPr>
                        <a:t>$707M</a:t>
                      </a:r>
                      <a:pPr algn="l" indent="0" marL="0">
                        <a:buNone/>
                      </a:pPr>
                      <a:r>
                        <a:rPr lang="en-US" sz="900" dirty="0">
                          <a:solidFill>
                            <a:srgbClr val="231F20"/>
                          </a:solidFill>
                          <a:latin typeface="Proxima Nova" pitchFamily="34" charset="0"/>
                          <a:ea typeface="Proxima Nova" pitchFamily="34" charset="-122"/>
                          <a:cs typeface="Proxima Nova" pitchFamily="34" charset="-120"/>
                        </a:rPr>
                        <a:t> and </a:t>
                      </a:r>
                      <a:pPr algn="l" indent="0" marL="0">
                        <a:buNone/>
                      </a:pPr>
                      <a:r>
                        <a:rPr lang="en-US" sz="900" b="1" dirty="0">
                          <a:solidFill>
                            <a:srgbClr val="125C60"/>
                          </a:solidFill>
                          <a:latin typeface="Proxima Nova" pitchFamily="34" charset="0"/>
                          <a:ea typeface="Proxima Nova" pitchFamily="34" charset="-122"/>
                          <a:cs typeface="Proxima Nova" pitchFamily="34" charset="-120"/>
                        </a:rPr>
                        <a:t>6,141 jobs</a:t>
                      </a:r>
                      <a:pPr algn="l" indent="0" marL="0">
                        <a:buNone/>
                      </a:pPr>
                      <a:r>
                        <a:rPr lang="en-US" sz="900" dirty="0">
                          <a:solidFill>
                            <a:srgbClr val="231F20"/>
                          </a:solidFill>
                          <a:latin typeface="Proxima Nova" pitchFamily="34" charset="0"/>
                          <a:ea typeface="Proxima Nova" pitchFamily="34" charset="-122"/>
                          <a:cs typeface="Proxima Nova" pitchFamily="34" charset="-120"/>
                        </a:rPr>
                        <a:t>. Statewide, visitors spent </a:t>
                      </a:r>
                      <a:pPr algn="l" indent="0" marL="0">
                        <a:buNone/>
                      </a:pPr>
                      <a:r>
                        <a:rPr lang="en-US" sz="900" b="1" dirty="0">
                          <a:solidFill>
                            <a:srgbClr val="125C60"/>
                          </a:solidFill>
                          <a:latin typeface="Proxima Nova" pitchFamily="34" charset="0"/>
                          <a:ea typeface="Proxima Nova" pitchFamily="34" charset="-122"/>
                          <a:cs typeface="Proxima Nova" pitchFamily="34" charset="-120"/>
                        </a:rPr>
                        <a:t>$25.2B</a:t>
                      </a:r>
                      <a:pPr algn="l" indent="0" marL="0">
                        <a:buNone/>
                      </a:pPr>
                      <a:r>
                        <a:rPr lang="en-US" sz="900" dirty="0">
                          <a:solidFill>
                            <a:srgbClr val="231F20"/>
                          </a:solidFill>
                          <a:latin typeface="Proxima Nova" pitchFamily="34" charset="0"/>
                          <a:ea typeface="Proxima Nova" pitchFamily="34" charset="-122"/>
                          <a:cs typeface="Proxima Nova" pitchFamily="34" charset="-120"/>
                        </a:rPr>
                        <a:t> on local transportation, gas and air (</a:t>
                      </a:r>
                      <a:pPr algn="l" indent="0" marL="0">
                        <a:buNone/>
                      </a:pPr>
                      <a:r>
                        <a:rPr lang="en-US" sz="900" b="1" dirty="0">
                          <a:solidFill>
                            <a:srgbClr val="125C60"/>
                          </a:solidFill>
                          <a:latin typeface="Proxima Nova" pitchFamily="34" charset="0"/>
                          <a:ea typeface="Proxima Nova" pitchFamily="34" charset="-122"/>
                          <a:cs typeface="Proxima Nova" pitchFamily="34" charset="-120"/>
                        </a:rPr>
                        <a:t>17.9%</a:t>
                      </a:r>
                      <a:pPr algn="l" indent="0" marL="0">
                        <a:buNone/>
                      </a:pPr>
                      <a:r>
                        <a:rPr lang="en-US" sz="900" dirty="0">
                          <a:solidFill>
                            <a:srgbClr val="231F20"/>
                          </a:solidFill>
                          <a:latin typeface="Proxima Nova" pitchFamily="34" charset="0"/>
                          <a:ea typeface="Proxima Nova" pitchFamily="34" charset="-122"/>
                          <a:cs typeface="Proxima Nova" pitchFamily="34" charset="-120"/>
                        </a:rPr>
                        <a:t> of visitor spending).</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Who visits District 5, where OC Vibe is being built?</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b="1" dirty="0">
                          <a:solidFill>
                            <a:srgbClr val="125C60"/>
                          </a:solidFill>
                          <a:latin typeface="Proxima Nova" pitchFamily="34" charset="0"/>
                          <a:ea typeface="Proxima Nova" pitchFamily="34" charset="-122"/>
                          <a:cs typeface="Proxima Nova" pitchFamily="34" charset="-120"/>
                        </a:rPr>
                        <a:t>85.8%</a:t>
                      </a:r>
                      <a:pPr algn="l" indent="0" marL="0">
                        <a:buNone/>
                      </a:pPr>
                      <a:r>
                        <a:rPr lang="en-US" sz="900" dirty="0">
                          <a:solidFill>
                            <a:srgbClr val="231F20"/>
                          </a:solidFill>
                          <a:latin typeface="Proxima Nova" pitchFamily="34" charset="0"/>
                          <a:ea typeface="Proxima Nova" pitchFamily="34" charset="-122"/>
                          <a:cs typeface="Proxima Nova" pitchFamily="34" charset="-120"/>
                        </a:rPr>
                        <a:t> of District 5 visitors stay overnight and </a:t>
                      </a:r>
                      <a:pPr algn="l" indent="0" marL="0">
                        <a:buNone/>
                      </a:pPr>
                      <a:r>
                        <a:rPr lang="en-US" sz="900" b="1" dirty="0">
                          <a:solidFill>
                            <a:srgbClr val="125C60"/>
                          </a:solidFill>
                          <a:latin typeface="Proxima Nova" pitchFamily="34" charset="0"/>
                          <a:ea typeface="Proxima Nova" pitchFamily="34" charset="-122"/>
                          <a:cs typeface="Proxima Nova" pitchFamily="34" charset="-120"/>
                        </a:rPr>
                        <a:t>43.8%</a:t>
                      </a:r>
                      <a:pPr algn="l" indent="0" marL="0">
                        <a:buNone/>
                      </a:pPr>
                      <a:r>
                        <a:rPr lang="en-US" sz="900" dirty="0">
                          <a:solidFill>
                            <a:srgbClr val="231F20"/>
                          </a:solidFill>
                          <a:latin typeface="Proxima Nova" pitchFamily="34" charset="0"/>
                          <a:ea typeface="Proxima Nova" pitchFamily="34" charset="-122"/>
                          <a:cs typeface="Proxima Nova" pitchFamily="34" charset="-120"/>
                        </a:rPr>
                        <a:t> are first-time visitors (Jan.–May 2026). Their median household income is </a:t>
                      </a:r>
                      <a:pPr algn="l" indent="0" marL="0">
                        <a:buNone/>
                      </a:pPr>
                      <a:r>
                        <a:rPr lang="en-US" sz="900" b="1" dirty="0">
                          <a:solidFill>
                            <a:srgbClr val="125C60"/>
                          </a:solidFill>
                          <a:latin typeface="Proxima Nova" pitchFamily="34" charset="0"/>
                          <a:ea typeface="Proxima Nova" pitchFamily="34" charset="-122"/>
                          <a:cs typeface="Proxima Nova" pitchFamily="34" charset="-120"/>
                        </a:rPr>
                        <a:t>$85.7K</a:t>
                      </a:r>
                      <a:pPr algn="l" indent="0" marL="0">
                        <a:buNone/>
                      </a:pPr>
                      <a:r>
                        <a:rPr lang="en-US" sz="900" dirty="0">
                          <a:solidFill>
                            <a:srgbClr val="231F20"/>
                          </a:solidFill>
                          <a:latin typeface="Proxima Nova" pitchFamily="34" charset="0"/>
                          <a:ea typeface="Proxima Nova" pitchFamily="34" charset="-122"/>
                          <a:cs typeface="Proxima Nova" pitchFamily="34" charset="-120"/>
                        </a:rPr>
                        <a:t>, above the </a:t>
                      </a:r>
                      <a:pPr algn="l" indent="0" marL="0">
                        <a:buNone/>
                      </a:pPr>
                      <a:r>
                        <a:rPr lang="en-US" sz="900" b="1" dirty="0">
                          <a:solidFill>
                            <a:srgbClr val="125C60"/>
                          </a:solidFill>
                          <a:latin typeface="Proxima Nova" pitchFamily="34" charset="0"/>
                          <a:ea typeface="Proxima Nova" pitchFamily="34" charset="-122"/>
                          <a:cs typeface="Proxima Nova" pitchFamily="34" charset="-120"/>
                        </a:rPr>
                        <a:t>$79.9K</a:t>
                      </a:r>
                      <a:pPr algn="l" indent="0" marL="0">
                        <a:buNone/>
                      </a:pPr>
                      <a:r>
                        <a:rPr lang="en-US" sz="900" dirty="0">
                          <a:solidFill>
                            <a:srgbClr val="231F20"/>
                          </a:solidFill>
                          <a:latin typeface="Proxima Nova" pitchFamily="34" charset="0"/>
                          <a:ea typeface="Proxima Nova" pitchFamily="34" charset="-122"/>
                          <a:cs typeface="Proxima Nova" pitchFamily="34" charset="-120"/>
                        </a:rPr>
                        <a:t> for all Anaheim and Garden Grove visitors and the </a:t>
                      </a:r>
                      <a:pPr algn="l" indent="0" marL="0">
                        <a:buNone/>
                      </a:pPr>
                      <a:r>
                        <a:rPr lang="en-US" sz="900" b="1" dirty="0">
                          <a:solidFill>
                            <a:srgbClr val="125C60"/>
                          </a:solidFill>
                          <a:latin typeface="Proxima Nova" pitchFamily="34" charset="0"/>
                          <a:ea typeface="Proxima Nova" pitchFamily="34" charset="-122"/>
                          <a:cs typeface="Proxima Nova" pitchFamily="34" charset="-120"/>
                        </a:rPr>
                        <a:t>$85.4K</a:t>
                      </a:r>
                      <a:pPr algn="l" indent="0" marL="0">
                        <a:buNone/>
                      </a:pPr>
                      <a:r>
                        <a:rPr lang="en-US" sz="900" dirty="0">
                          <a:solidFill>
                            <a:srgbClr val="231F20"/>
                          </a:solidFill>
                          <a:latin typeface="Proxima Nova" pitchFamily="34" charset="0"/>
                          <a:ea typeface="Proxima Nova" pitchFamily="34" charset="-122"/>
                          <a:cs typeface="Proxima Nova" pitchFamily="34" charset="-120"/>
                        </a:rPr>
                        <a:t> U.S. household median.</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2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 (Oct. 14, 2026); sources on each question slide.</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Every question answered in this report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Find the slide or open the app: Questions answered</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011680"/>
                <a:gridCol w="4572000"/>
                <a:gridCol w="4510735"/>
              </a:tblGrid>
              <a:tr h="210312">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Topic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Question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Headline answer</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How many visitors come to Orange County, and how many stay overnight?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51.3M Orange County visitors,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Where do Orange County visitors come from?</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55.4% of Orange County visitors from Southern California, 2019</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When is Orange County busiest?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80.6% July hotel occupancy, 2023-2025 average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Why do people visit Orange County, and who travels with them?</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37.0% of Orange County visitors traveled with children, 2019</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How many hotel rooms does Orange County have, and how full are they?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75.2% Orange County hotel occupancy, Jan.-Aug.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Visitor spending</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What does the average visitor spend?</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$258 per Anaheim visitor,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Visitor spending</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Is visitor spending growing?</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+7.8% Anaheim visitor spending, Q2 2026 vs. Q2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Visitor spending</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What did the latest quarterly Tourism Economics report (Q2 2026) show?</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$1.76B Anaheim visitor spending, Q2 2026 (+7.8%)</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Visitor spending</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Where do visitor dollars go?</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34.0% of Anaheim visitor spending goes to recreation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Jobs and economy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How many jobs does the visitor economy support?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67,817 Anaheim jobs supported by visitors,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Jobs and economy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What share of visitor-supported jobs are in food and beverage?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29.1% of Orange County visitor-supported jobs are in food and beverage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Jobs and economy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What is the total economic impact of visitors?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$10.4B Anaheim total economic impact,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Jobs and economy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How much tax revenue do visitors generate?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$970M Anaheim state and local taxes from visitors,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One more night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What is one more night per visitor worth?</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$794M one more night of Anaheim lodging spending</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One more night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What is each 1% of visitors staying a day longer worth?</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$31.5M per 1% of Anaheim visitors adding a day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What is the economic impact of visitor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2,080 Anaheim transportation and gas station jobs supported by visitors,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How do people get to the OC Vibe area?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275,000 vehicles a weekday on SR-57 beside OC Vibe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What does it cost to travel here?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$4.09 West Coast gasoline per gallon,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District 5 and who visits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Who visits District 5, where OC Vibe is being built?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85.8% of District 5 visitors stay overnight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District 5 and who visits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How much Anaheim visitor activity already includes the OC Vibe area?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5.2% of Anaheim visitor days included the OC Vibe area, 2024</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District 5 and who visits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Which markets bring visitors and spending?</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46.2% of District 5 visitors come from the Los Angeles and Riverside metros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District 5 and who visits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Does Visit Anaheim's marketing bring visitors?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368,416 observed visits after ad exposure, Jan.–Aug.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Hotels and outlook</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How are hotels performing?</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78.4% Disneyland submarket hotel occupancy, 12 months to Aug.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Hotels and outlook</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What is the outlook to 2028?</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$7.7B Anaheim visitor spending forecast, 2028</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About this report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Where can I get the full reports and data behind this app?</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45 source files to view or download</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About this report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How often is this updated, and what is coming next?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Quarterly next updates Jan. 15, Apr. 15, July 15 and Oct. 15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 (Oct. 14,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does the average visitor spend?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Visitor spending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Each Anaheim visitor spent about </a:t>
            </a:r>
            <a:pPr indent="0" marL="0">
              <a:buNone/>
            </a:pPr>
            <a:r>
              <a:rPr lang="en-US" sz="1200" b="1" dirty="0">
                <a:solidFill>
                  <a:srgbClr val="125C60"/>
                </a:solidFill>
                <a:latin typeface="Proxima Nova" pitchFamily="34" charset="0"/>
                <a:ea typeface="Proxima Nova" pitchFamily="34" charset="-122"/>
                <a:cs typeface="Proxima Nova" pitchFamily="34" charset="-120"/>
              </a:rPr>
              <a:t>$258</a:t>
            </a:r>
            <a:pPr indent="0" marL="0">
              <a:buNone/>
            </a:pPr>
            <a:r>
              <a:rPr lang="en-US" sz="1200" dirty="0">
                <a:solidFill>
                  <a:srgbClr val="231F20"/>
                </a:solidFill>
                <a:latin typeface="Proxima Nova" pitchFamily="34" charset="0"/>
                <a:ea typeface="Proxima Nova" pitchFamily="34" charset="-122"/>
                <a:cs typeface="Proxima Nova" pitchFamily="34" charset="-120"/>
              </a:rPr>
              <a:t> in 2025. Countywide, the average was </a:t>
            </a:r>
            <a:pPr indent="0" marL="0">
              <a:buNone/>
            </a:pPr>
            <a:r>
              <a:rPr lang="en-US" sz="1200" b="1" dirty="0">
                <a:solidFill>
                  <a:srgbClr val="125C60"/>
                </a:solidFill>
                <a:latin typeface="Proxima Nova" pitchFamily="34" charset="0"/>
                <a:ea typeface="Proxima Nova" pitchFamily="34" charset="-122"/>
                <a:cs typeface="Proxima Nova" pitchFamily="34" charset="-120"/>
              </a:rPr>
              <a:t>$350</a:t>
            </a:r>
            <a:pPr indent="0" marL="0">
              <a:buNone/>
            </a:pPr>
            <a:r>
              <a:rPr lang="en-US" sz="1200" dirty="0">
                <a:solidFill>
                  <a:srgbClr val="231F20"/>
                </a:solidFill>
                <a:latin typeface="Proxima Nova" pitchFamily="34" charset="0"/>
                <a:ea typeface="Proxima Nova" pitchFamily="34" charset="-122"/>
                <a:cs typeface="Proxima Nova" pitchFamily="34" charset="-120"/>
              </a:rPr>
              <a:t> per visitor, and across the U.S. travel spending came to about </a:t>
            </a:r>
            <a:pPr indent="0" marL="0">
              <a:buNone/>
            </a:pPr>
            <a:r>
              <a:rPr lang="en-US" sz="1200" b="1" dirty="0">
                <a:solidFill>
                  <a:srgbClr val="125C60"/>
                </a:solidFill>
                <a:latin typeface="Proxima Nova" pitchFamily="34" charset="0"/>
                <a:ea typeface="Proxima Nova" pitchFamily="34" charset="-122"/>
                <a:cs typeface="Proxima Nova" pitchFamily="34" charset="-120"/>
              </a:rPr>
              <a:t>$553</a:t>
            </a:r>
            <a:pPr indent="0" marL="0">
              <a:buNone/>
            </a:pPr>
            <a:r>
              <a:rPr lang="en-US" sz="1200" dirty="0">
                <a:solidFill>
                  <a:srgbClr val="231F20"/>
                </a:solidFill>
                <a:latin typeface="Proxima Nova" pitchFamily="34" charset="0"/>
                <a:ea typeface="Proxima Nova" pitchFamily="34" charset="-122"/>
                <a:cs typeface="Proxima Nova" pitchFamily="34" charset="-120"/>
              </a:rPr>
              <a:t> per trip.</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$258</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$6.832B ÷ 26.5M visitors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Garden Grove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$237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$769.3M ÷ 3.24M visitors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$350</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Published by Tourism Economics; day visitors $58, overnight $737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$553 per trip</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$1.360T ÷ 2.46B trips (2025, real 2025 dollars); domestic $494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Spending per visitor or trip, 2025</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Spending per visitor = visitor spending ÷ visitors. Tourism Economics counts a visitor as anyone who stays overnight or travels more than 50 miles. The U.S. figure is per trip (domestic and international), in 2025 dollars.</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Day trips pull averages down: </a:t>
            </a:r>
            <a:pPr indent="0" marL="0">
              <a:buNone/>
            </a:pPr>
            <a:r>
              <a:rPr lang="en-US" sz="900" b="1" dirty="0">
                <a:solidFill>
                  <a:srgbClr val="125C60"/>
                </a:solidFill>
                <a:latin typeface="Proxima Nova" pitchFamily="34" charset="0"/>
                <a:ea typeface="Proxima Nova" pitchFamily="34" charset="-122"/>
                <a:cs typeface="Proxima Nova" pitchFamily="34" charset="-120"/>
              </a:rPr>
              <a:t>67.5%</a:t>
            </a:r>
            <a:pPr indent="0" marL="0">
              <a:buNone/>
            </a:pPr>
            <a:r>
              <a:rPr lang="en-US" sz="900" dirty="0">
                <a:solidFill>
                  <a:srgbClr val="231F20"/>
                </a:solidFill>
                <a:latin typeface="Proxima Nova" pitchFamily="34" charset="0"/>
                <a:ea typeface="Proxima Nova" pitchFamily="34" charset="-122"/>
                <a:cs typeface="Proxima Nova" pitchFamily="34" charset="-120"/>
              </a:rPr>
              <a:t> of Anaheim visitors are day visitors vs. </a:t>
            </a:r>
            <a:pPr indent="0" marL="0">
              <a:buNone/>
            </a:pPr>
            <a:r>
              <a:rPr lang="en-US" sz="900" b="1" dirty="0">
                <a:solidFill>
                  <a:srgbClr val="125C60"/>
                </a:solidFill>
                <a:latin typeface="Proxima Nova" pitchFamily="34" charset="0"/>
                <a:ea typeface="Proxima Nova" pitchFamily="34" charset="-122"/>
                <a:cs typeface="Proxima Nova" pitchFamily="34" charset="-120"/>
              </a:rPr>
              <a:t>57.0%</a:t>
            </a:r>
            <a:pPr indent="0" marL="0">
              <a:buNone/>
            </a:pPr>
            <a:r>
              <a:rPr lang="en-US" sz="900" dirty="0">
                <a:solidFill>
                  <a:srgbClr val="231F20"/>
                </a:solidFill>
                <a:latin typeface="Proxima Nova" pitchFamily="34" charset="0"/>
                <a:ea typeface="Proxima Nova" pitchFamily="34" charset="-122"/>
                <a:cs typeface="Proxima Nova" pitchFamily="34" charset="-120"/>
              </a:rPr>
              <a:t> countywide, and Orange County overnight visitors spend </a:t>
            </a:r>
            <a:pPr indent="0" marL="0">
              <a:buNone/>
            </a:pPr>
            <a:r>
              <a:rPr lang="en-US" sz="900" b="1" dirty="0">
                <a:solidFill>
                  <a:srgbClr val="125C60"/>
                </a:solidFill>
                <a:latin typeface="Proxima Nova" pitchFamily="34" charset="0"/>
                <a:ea typeface="Proxima Nova" pitchFamily="34" charset="-122"/>
                <a:cs typeface="Proxima Nova" pitchFamily="34" charset="-120"/>
              </a:rPr>
              <a:t>$737</a:t>
            </a:r>
            <a:pPr indent="0" marL="0">
              <a:buNone/>
            </a:pPr>
            <a:r>
              <a:rPr lang="en-US" sz="900" dirty="0">
                <a:solidFill>
                  <a:srgbClr val="231F20"/>
                </a:solidFill>
                <a:latin typeface="Proxima Nova" pitchFamily="34" charset="0"/>
                <a:ea typeface="Proxima Nova" pitchFamily="34" charset="-122"/>
                <a:cs typeface="Proxima Nova" pitchFamily="34" charset="-120"/>
              </a:rPr>
              <a:t> each vs. </a:t>
            </a:r>
            <a:pPr indent="0" marL="0">
              <a:buNone/>
            </a:pPr>
            <a:r>
              <a:rPr lang="en-US" sz="900" b="1" dirty="0">
                <a:solidFill>
                  <a:srgbClr val="125C60"/>
                </a:solidFill>
                <a:latin typeface="Proxima Nova" pitchFamily="34" charset="0"/>
                <a:ea typeface="Proxima Nova" pitchFamily="34" charset="-122"/>
                <a:cs typeface="Proxima Nova" pitchFamily="34" charset="-120"/>
              </a:rPr>
              <a:t>$58</a:t>
            </a:r>
            <a:pPr indent="0" marL="0">
              <a:buNone/>
            </a:pPr>
            <a:r>
              <a:rPr lang="en-US" sz="900" dirty="0">
                <a:solidFill>
                  <a:srgbClr val="231F20"/>
                </a:solidFill>
                <a:latin typeface="Proxima Nova" pitchFamily="34" charset="0"/>
                <a:ea typeface="Proxima Nova" pitchFamily="34" charset="-122"/>
                <a:cs typeface="Proxima Nova" pitchFamily="34" charset="-120"/>
              </a:rPr>
              <a:t> for day visitors. Compare direction, not exact levels, across sources.</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2025 (pub. Apr.–May 2026); U.S. Travel Association and Tourism Economics, Travel Forecast, Spring 2026 (real 2025 dollars). Files in the app library: Economic Impact of Visitors to Anaheim, 2025; Economic Impact of Visitors to Garden Grove, 2025; Economic Impact of Visitors to Orange County, 2025; Anaheim and Garden Grove Travel Forecast, Sept. 2026 (Q2 2026 results).</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Average spend: Anaheim, Orange County, California and U.S.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The detail behind: What does the average visitor spend?</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377440"/>
                <a:gridCol w="2011680"/>
                <a:gridCol w="5120640"/>
                <a:gridCol w="1584655"/>
              </a:tblGrid>
              <a:tr h="274320">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Geography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Spending per visitor or trip</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How it is calculated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Year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Anaheim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$258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$6.832B ÷ 26.5M visitors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Garden Grove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$237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$769.3M ÷ 3.24M visitors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Orange County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$350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Published by Tourism Economics (day $58, overnight $737)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U.S., per trip</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$553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$1.360T ÷ 2.46B trips (real 2025 dollars)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U.S., per domestic trip</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$494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$1.185T ÷ 2.40B domestic trips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6" name="note-How it is calculated"/>
          <p:cNvSpPr/>
          <p:nvPr/>
        </p:nvSpPr>
        <p:spPr>
          <a:xfrm>
            <a:off x="548640" y="4983480"/>
            <a:ext cx="5455768" cy="914400"/>
          </a:xfrm>
          <a:prstGeom prst="rect">
            <a:avLst/>
          </a:prstGeom>
          <a:solidFill>
            <a:srgbClr val="F9F9F2"/>
          </a:solidFill>
          <a:ln w="9525">
            <a:solidFill>
              <a:srgbClr val="B4D9E3"/>
            </a:solidFill>
            <a:prstDash val="solid"/>
          </a:ln>
        </p:spPr>
      </p:sp>
      <p:sp>
        <p:nvSpPr>
          <p:cNvPr id="7" name="Text 3"/>
          <p:cNvSpPr txBox="1"/>
          <p:nvPr/>
        </p:nvSpPr>
        <p:spPr>
          <a:xfrm>
            <a:off x="658368" y="5056632"/>
            <a:ext cx="5236312"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8" name="Text 4"/>
          <p:cNvSpPr txBox="1"/>
          <p:nvPr/>
        </p:nvSpPr>
        <p:spPr>
          <a:xfrm>
            <a:off x="658368" y="5276088"/>
            <a:ext cx="5236312"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Spending per visitor = visitor spending ÷ visitors. Tourism Economics counts a visitor as anyone who stays overnight or travels more than 50 miles. The U.S. figure is per trip (domestic and international), in 2025 dollars.</a:t>
            </a:r>
            <a:endParaRPr lang="en-US" sz="900" dirty="0"/>
          </a:p>
        </p:txBody>
      </p:sp>
      <p:sp>
        <p:nvSpPr>
          <p:cNvPr id="9" name="note-Keep in mind"/>
          <p:cNvSpPr/>
          <p:nvPr/>
        </p:nvSpPr>
        <p:spPr>
          <a:xfrm>
            <a:off x="6187288" y="4983480"/>
            <a:ext cx="5455768" cy="914400"/>
          </a:xfrm>
          <a:prstGeom prst="rect">
            <a:avLst/>
          </a:prstGeom>
          <a:solidFill>
            <a:srgbClr val="F9F9F2"/>
          </a:solidFill>
          <a:ln w="9525">
            <a:solidFill>
              <a:srgbClr val="B4D9E3"/>
            </a:solidFill>
            <a:prstDash val="solid"/>
          </a:ln>
        </p:spPr>
      </p:sp>
      <p:sp>
        <p:nvSpPr>
          <p:cNvPr id="10" name="Text 6"/>
          <p:cNvSpPr txBox="1"/>
          <p:nvPr/>
        </p:nvSpPr>
        <p:spPr>
          <a:xfrm>
            <a:off x="6297016" y="5056632"/>
            <a:ext cx="5236312"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1" name="Text 7"/>
          <p:cNvSpPr txBox="1"/>
          <p:nvPr/>
        </p:nvSpPr>
        <p:spPr>
          <a:xfrm>
            <a:off x="6297016" y="5276088"/>
            <a:ext cx="5236312"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Day trips pull averages down: </a:t>
            </a:r>
            <a:pPr indent="0" marL="0">
              <a:buNone/>
            </a:pPr>
            <a:r>
              <a:rPr lang="en-US" sz="900" b="1" dirty="0">
                <a:solidFill>
                  <a:srgbClr val="125C60"/>
                </a:solidFill>
                <a:latin typeface="Proxima Nova" pitchFamily="34" charset="0"/>
                <a:ea typeface="Proxima Nova" pitchFamily="34" charset="-122"/>
                <a:cs typeface="Proxima Nova" pitchFamily="34" charset="-120"/>
              </a:rPr>
              <a:t>67.5%</a:t>
            </a:r>
            <a:pPr indent="0" marL="0">
              <a:buNone/>
            </a:pPr>
            <a:r>
              <a:rPr lang="en-US" sz="900" dirty="0">
                <a:solidFill>
                  <a:srgbClr val="231F20"/>
                </a:solidFill>
                <a:latin typeface="Proxima Nova" pitchFamily="34" charset="0"/>
                <a:ea typeface="Proxima Nova" pitchFamily="34" charset="-122"/>
                <a:cs typeface="Proxima Nova" pitchFamily="34" charset="-120"/>
              </a:rPr>
              <a:t> of Anaheim visitors are day visitors vs. </a:t>
            </a:r>
            <a:pPr indent="0" marL="0">
              <a:buNone/>
            </a:pPr>
            <a:r>
              <a:rPr lang="en-US" sz="900" b="1" dirty="0">
                <a:solidFill>
                  <a:srgbClr val="125C60"/>
                </a:solidFill>
                <a:latin typeface="Proxima Nova" pitchFamily="34" charset="0"/>
                <a:ea typeface="Proxima Nova" pitchFamily="34" charset="-122"/>
                <a:cs typeface="Proxima Nova" pitchFamily="34" charset="-120"/>
              </a:rPr>
              <a:t>57.0%</a:t>
            </a:r>
            <a:pPr indent="0" marL="0">
              <a:buNone/>
            </a:pPr>
            <a:r>
              <a:rPr lang="en-US" sz="900" dirty="0">
                <a:solidFill>
                  <a:srgbClr val="231F20"/>
                </a:solidFill>
                <a:latin typeface="Proxima Nova" pitchFamily="34" charset="0"/>
                <a:ea typeface="Proxima Nova" pitchFamily="34" charset="-122"/>
                <a:cs typeface="Proxima Nova" pitchFamily="34" charset="-120"/>
              </a:rPr>
              <a:t> countywide, and Orange County overnight visitors spend </a:t>
            </a:r>
            <a:pPr indent="0" marL="0">
              <a:buNone/>
            </a:pPr>
            <a:r>
              <a:rPr lang="en-US" sz="900" b="1" dirty="0">
                <a:solidFill>
                  <a:srgbClr val="125C60"/>
                </a:solidFill>
                <a:latin typeface="Proxima Nova" pitchFamily="34" charset="0"/>
                <a:ea typeface="Proxima Nova" pitchFamily="34" charset="-122"/>
                <a:cs typeface="Proxima Nova" pitchFamily="34" charset="-120"/>
              </a:rPr>
              <a:t>$737</a:t>
            </a:r>
            <a:pPr indent="0" marL="0">
              <a:buNone/>
            </a:pPr>
            <a:r>
              <a:rPr lang="en-US" sz="900" dirty="0">
                <a:solidFill>
                  <a:srgbClr val="231F20"/>
                </a:solidFill>
                <a:latin typeface="Proxima Nova" pitchFamily="34" charset="0"/>
                <a:ea typeface="Proxima Nova" pitchFamily="34" charset="-122"/>
                <a:cs typeface="Proxima Nova" pitchFamily="34" charset="-120"/>
              </a:rPr>
              <a:t> each vs. </a:t>
            </a:r>
            <a:pPr indent="0" marL="0">
              <a:buNone/>
            </a:pPr>
            <a:r>
              <a:rPr lang="en-US" sz="900" b="1" dirty="0">
                <a:solidFill>
                  <a:srgbClr val="125C60"/>
                </a:solidFill>
                <a:latin typeface="Proxima Nova" pitchFamily="34" charset="0"/>
                <a:ea typeface="Proxima Nova" pitchFamily="34" charset="-122"/>
                <a:cs typeface="Proxima Nova" pitchFamily="34" charset="-120"/>
              </a:rPr>
              <a:t>$58</a:t>
            </a:r>
            <a:pPr indent="0" marL="0">
              <a:buNone/>
            </a:pPr>
            <a:r>
              <a:rPr lang="en-US" sz="900" dirty="0">
                <a:solidFill>
                  <a:srgbClr val="231F20"/>
                </a:solidFill>
                <a:latin typeface="Proxima Nova" pitchFamily="34" charset="0"/>
                <a:ea typeface="Proxima Nova" pitchFamily="34" charset="-122"/>
                <a:cs typeface="Proxima Nova" pitchFamily="34" charset="-120"/>
              </a:rPr>
              <a:t> for day visitors. Compare direction, not exact levels, across sources.</a:t>
            </a:r>
            <a:endParaRPr lang="en-US" sz="900" dirty="0"/>
          </a:p>
        </p:txBody>
      </p:sp>
      <p:sp>
        <p:nvSpPr>
          <p:cNvPr id="12"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2025 (pub. Apr.–May 2026); U.S. Travel Association and Tourism Economics, Travel Forecast, Spring 2026 (real 2025 dollars) (accessed Oct. 14,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is one more night per visitor worth?</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One more night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If every Anaheim visitor stayed one more night, lodging spending would rise about </a:t>
            </a:r>
            <a:pPr indent="0" marL="0">
              <a:buNone/>
            </a:pPr>
            <a:r>
              <a:rPr lang="en-US" sz="1200" b="1" dirty="0">
                <a:solidFill>
                  <a:srgbClr val="125C60"/>
                </a:solidFill>
                <a:latin typeface="Proxima Nova" pitchFamily="34" charset="0"/>
                <a:ea typeface="Proxima Nova" pitchFamily="34" charset="-122"/>
                <a:cs typeface="Proxima Nova" pitchFamily="34" charset="-120"/>
              </a:rPr>
              <a:t>$794M</a:t>
            </a:r>
            <a:pPr indent="0" marL="0">
              <a:buNone/>
            </a:pPr>
            <a:r>
              <a:rPr lang="en-US" sz="1200" dirty="0">
                <a:solidFill>
                  <a:srgbClr val="231F20"/>
                </a:solidFill>
                <a:latin typeface="Proxima Nova" pitchFamily="34" charset="0"/>
                <a:ea typeface="Proxima Nova" pitchFamily="34" charset="-122"/>
                <a:cs typeface="Proxima Nova" pitchFamily="34" charset="-120"/>
              </a:rPr>
              <a:t>. Counting all spending, one more day for overnight visitors is worth about </a:t>
            </a:r>
            <a:pPr indent="0" marL="0">
              <a:buNone/>
            </a:pPr>
            <a:r>
              <a:rPr lang="en-US" sz="1200" b="1" dirty="0">
                <a:solidFill>
                  <a:srgbClr val="125C60"/>
                </a:solidFill>
                <a:latin typeface="Proxima Nova" pitchFamily="34" charset="0"/>
                <a:ea typeface="Proxima Nova" pitchFamily="34" charset="-122"/>
                <a:cs typeface="Proxima Nova" pitchFamily="34" charset="-120"/>
              </a:rPr>
              <a:t>$1.02B</a:t>
            </a:r>
            <a:pPr indent="0" marL="0">
              <a:buNone/>
            </a:pPr>
            <a:r>
              <a:rPr lang="en-US" sz="1200" dirty="0">
                <a:solidFill>
                  <a:srgbClr val="231F20"/>
                </a:solidFill>
                <a:latin typeface="Proxima Nova" pitchFamily="34" charset="0"/>
                <a:ea typeface="Proxima Nova" pitchFamily="34" charset="-122"/>
                <a:cs typeface="Proxima Nova" pitchFamily="34" charset="-120"/>
              </a:rPr>
              <a:t>, and one more day for every visitor about </a:t>
            </a:r>
            <a:pPr indent="0" marL="0">
              <a:buNone/>
            </a:pPr>
            <a:r>
              <a:rPr lang="en-US" sz="1200" b="1" dirty="0">
                <a:solidFill>
                  <a:srgbClr val="125C60"/>
                </a:solidFill>
                <a:latin typeface="Proxima Nova" pitchFamily="34" charset="0"/>
                <a:ea typeface="Proxima Nova" pitchFamily="34" charset="-122"/>
                <a:cs typeface="Proxima Nova" pitchFamily="34" charset="-120"/>
              </a:rPr>
              <a:t>$3.15B</a:t>
            </a:r>
            <a:pPr indent="0" marL="0">
              <a:buNone/>
            </a:pPr>
            <a:r>
              <a:rPr lang="en-US" sz="1200" dirty="0">
                <a:solidFill>
                  <a:srgbClr val="231F20"/>
                </a:solidFill>
                <a:latin typeface="Proxima Nova" pitchFamily="34" charset="0"/>
                <a:ea typeface="Proxima Nova" pitchFamily="34" charset="-122"/>
                <a:cs typeface="Proxima Nova" pitchFamily="34" charset="-120"/>
              </a:rPr>
              <a:t> (the study's upper bound).</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lodging (headline)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$794M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$1.724B lodging spending ÷ 2.17-day weighted average stay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overnight visitors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$1.02B</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8.6M overnight visitors × $118.71 per visitor-day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every visitor (upper bound)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$3.15B</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$6.832B ÷ 2.17 days; total with the extra day $9.98B</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$737 vs. $58</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Spending per overnight visitor vs. per day visitor (2025), 12.7 times as much</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One more night or day in Anaheim, three ways ($M)</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Weighted average stay = </a:t>
            </a:r>
            <a:pPr indent="0" marL="0">
              <a:buNone/>
            </a:pPr>
            <a:r>
              <a:rPr lang="en-US" sz="900" b="1" dirty="0">
                <a:solidFill>
                  <a:srgbClr val="125C60"/>
                </a:solidFill>
                <a:latin typeface="Proxima Nova" pitchFamily="34" charset="0"/>
                <a:ea typeface="Proxima Nova" pitchFamily="34" charset="-122"/>
                <a:cs typeface="Proxima Nova" pitchFamily="34" charset="-120"/>
              </a:rPr>
              <a:t>93.2%</a:t>
            </a:r>
            <a:pPr indent="0" marL="0">
              <a:buNone/>
            </a:pPr>
            <a:r>
              <a:rPr lang="en-US" sz="900" dirty="0">
                <a:solidFill>
                  <a:srgbClr val="231F20"/>
                </a:solidFill>
                <a:latin typeface="Proxima Nova" pitchFamily="34" charset="0"/>
                <a:ea typeface="Proxima Nova" pitchFamily="34" charset="-122"/>
                <a:cs typeface="Proxima Nova" pitchFamily="34" charset="-120"/>
              </a:rPr>
              <a:t> domestic × </a:t>
            </a:r>
            <a:pPr indent="0" marL="0">
              <a:buNone/>
            </a:pPr>
            <a:r>
              <a:rPr lang="en-US" sz="900" b="1" dirty="0">
                <a:solidFill>
                  <a:srgbClr val="125C60"/>
                </a:solidFill>
                <a:latin typeface="Proxima Nova" pitchFamily="34" charset="0"/>
                <a:ea typeface="Proxima Nova" pitchFamily="34" charset="-122"/>
                <a:cs typeface="Proxima Nova" pitchFamily="34" charset="-120"/>
              </a:rPr>
              <a:t>1.9 days</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6.8%</a:t>
            </a:r>
            <a:pPr indent="0" marL="0">
              <a:buNone/>
            </a:pPr>
            <a:r>
              <a:rPr lang="en-US" sz="900" dirty="0">
                <a:solidFill>
                  <a:srgbClr val="231F20"/>
                </a:solidFill>
                <a:latin typeface="Proxima Nova" pitchFamily="34" charset="0"/>
                <a:ea typeface="Proxima Nova" pitchFamily="34" charset="-122"/>
                <a:cs typeface="Proxima Nova" pitchFamily="34" charset="-120"/>
              </a:rPr>
              <a:t> international × </a:t>
            </a:r>
            <a:pPr indent="0" marL="0">
              <a:buNone/>
            </a:pPr>
            <a:r>
              <a:rPr lang="en-US" sz="900" b="1" dirty="0">
                <a:solidFill>
                  <a:srgbClr val="125C60"/>
                </a:solidFill>
                <a:latin typeface="Proxima Nova" pitchFamily="34" charset="0"/>
                <a:ea typeface="Proxima Nova" pitchFamily="34" charset="-122"/>
                <a:cs typeface="Proxima Nova" pitchFamily="34" charset="-120"/>
              </a:rPr>
              <a:t>5.9 days</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2.17 days</a:t>
            </a:r>
            <a:pPr indent="0" marL="0">
              <a:buNone/>
            </a:pPr>
            <a:r>
              <a:rPr lang="en-US" sz="900" dirty="0">
                <a:solidFill>
                  <a:srgbClr val="231F20"/>
                </a:solidFill>
                <a:latin typeface="Proxima Nova" pitchFamily="34" charset="0"/>
                <a:ea typeface="Proxima Nova" pitchFamily="34" charset="-122"/>
                <a:cs typeface="Proxima Nova" pitchFamily="34" charset="-120"/>
              </a:rPr>
              <a:t> (Azira stays; Tourism Economics visitor mix). Spending per day = 2025 spending ÷ </a:t>
            </a:r>
            <a:pPr indent="0" marL="0">
              <a:buNone/>
            </a:pPr>
            <a:r>
              <a:rPr lang="en-US" sz="900" b="1" dirty="0">
                <a:solidFill>
                  <a:srgbClr val="125C60"/>
                </a:solidFill>
                <a:latin typeface="Proxima Nova" pitchFamily="34" charset="0"/>
                <a:ea typeface="Proxima Nova" pitchFamily="34" charset="-122"/>
                <a:cs typeface="Proxima Nova" pitchFamily="34" charset="-120"/>
              </a:rPr>
              <a:t>2.17</a:t>
            </a:r>
            <a:pPr indent="0" marL="0">
              <a:buNone/>
            </a:pPr>
            <a:r>
              <a:rPr lang="en-US" sz="900" dirty="0">
                <a:solidFill>
                  <a:srgbClr val="231F20"/>
                </a:solidFill>
                <a:latin typeface="Proxima Nova" pitchFamily="34" charset="0"/>
                <a:ea typeface="Proxima Nova" pitchFamily="34" charset="-122"/>
                <a:cs typeface="Proxima Nova" pitchFamily="34" charset="-120"/>
              </a:rPr>
              <a:t>. Spending per visitor-day = </a:t>
            </a:r>
            <a:pPr indent="0" marL="0">
              <a:buNone/>
            </a:pPr>
            <a:r>
              <a:rPr lang="en-US" sz="900" b="1" dirty="0">
                <a:solidFill>
                  <a:srgbClr val="125C60"/>
                </a:solidFill>
                <a:latin typeface="Proxima Nova" pitchFamily="34" charset="0"/>
                <a:ea typeface="Proxima Nova" pitchFamily="34" charset="-122"/>
                <a:cs typeface="Proxima Nova" pitchFamily="34" charset="-120"/>
              </a:rPr>
              <a:t>$6.832B</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26.5M</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2.17</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$118.71</a:t>
            </a:r>
            <a:pPr indent="0" marL="0">
              <a:buNone/>
            </a:pPr>
            <a:r>
              <a:rPr lang="en-US" sz="900" dirty="0">
                <a:solidFill>
                  <a:srgbClr val="231F20"/>
                </a:solidFill>
                <a:latin typeface="Proxima Nova" pitchFamily="34" charset="0"/>
                <a:ea typeface="Proxima Nova" pitchFamily="34" charset="-122"/>
                <a:cs typeface="Proxima Nova" pitchFamily="34" charset="-120"/>
              </a:rPr>
              <a:t>.</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These are scenarios that hold spending per day constant; they are not forecasts. The study deck shows </a:t>
            </a:r>
            <a:pPr indent="0" marL="0">
              <a:buNone/>
            </a:pPr>
            <a:r>
              <a:rPr lang="en-US" sz="900" b="1" dirty="0">
                <a:solidFill>
                  <a:srgbClr val="125C60"/>
                </a:solidFill>
                <a:latin typeface="Proxima Nova" pitchFamily="34" charset="0"/>
                <a:ea typeface="Proxima Nova" pitchFamily="34" charset="-122"/>
                <a:cs typeface="Proxima Nova" pitchFamily="34" charset="-120"/>
              </a:rPr>
              <a:t>$9.9B</a:t>
            </a:r>
            <a:pPr indent="0" marL="0">
              <a:buNone/>
            </a:pPr>
            <a:r>
              <a:rPr lang="en-US" sz="900" dirty="0">
                <a:solidFill>
                  <a:srgbClr val="231F20"/>
                </a:solidFill>
                <a:latin typeface="Proxima Nova" pitchFamily="34" charset="0"/>
                <a:ea typeface="Proxima Nova" pitchFamily="34" charset="-122"/>
                <a:cs typeface="Proxima Nova" pitchFamily="34" charset="-120"/>
              </a:rPr>
              <a:t> for the total; the calculation gives </a:t>
            </a:r>
            <a:pPr indent="0" marL="0">
              <a:buNone/>
            </a:pPr>
            <a:r>
              <a:rPr lang="en-US" sz="900" b="1" dirty="0">
                <a:solidFill>
                  <a:srgbClr val="125C60"/>
                </a:solidFill>
                <a:latin typeface="Proxima Nova" pitchFamily="34" charset="0"/>
                <a:ea typeface="Proxima Nova" pitchFamily="34" charset="-122"/>
                <a:cs typeface="Proxima Nova" pitchFamily="34" charset="-120"/>
              </a:rPr>
              <a:t>$9.98B</a:t>
            </a:r>
            <a:pPr indent="0" marL="0">
              <a:buNone/>
            </a:pPr>
            <a:r>
              <a:rPr lang="en-US" sz="900" dirty="0">
                <a:solidFill>
                  <a:srgbClr val="231F20"/>
                </a:solidFill>
                <a:latin typeface="Proxima Nova" pitchFamily="34" charset="0"/>
                <a:ea typeface="Proxima Nova" pitchFamily="34" charset="-122"/>
                <a:cs typeface="Proxima Nova" pitchFamily="34" charset="-120"/>
              </a:rPr>
              <a:t>. A countywide version needs Orange County length of stay, which can be pulled from Azira at the next update.</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Extra Night study; Tourism Economics, Economic Impact of Visitors 2025 (pub. Apr.–May 2026); Visit Anaheim BI calculation; Visit Anaheim Extra Night study; Tourism Economics, Economic Impact of Visitors 2025 (pub. Apr.–May 2026). Files in the app library: One more night study (Extra Night Calculation); One more night workbook (TID Request data); Economic Impact of Visitors to Anaheim, 2025; Economic Impact of Visitors to Orange County, 2025.</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the one-more-night estimate is built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The detail behind: What is one more night per visitor worth?</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291840"/>
                <a:gridCol w="2194560"/>
                <a:gridCol w="5608015"/>
              </a:tblGrid>
              <a:tr h="274320">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Step</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Value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Basis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Visitors,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26.5M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Domestic / international share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93.2% / 6.8%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24.7M ÷ 26.5M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Average stay, domestic / international</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1.9 / 5.9 days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Azira location data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Weighted average stay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2.17 days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93.2% × 1.9 + 6.8% × 5.9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Lodging spending,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$1.72B</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 (all accommodation types)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One more night of lodging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$794M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$1.72B ÷ 2.17 days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Total visitor spending,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$6.83B</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Spending per visitor-day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$118.71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$6.83B ÷ (26.5M × 2.17)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One more day, overnight visitors only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$1.02B</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8.6M × spending per visitor-day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One more day, every visitor (upper bound)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$3.15B</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$6.83B ÷ 2.17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6" name="note-How it is calculated"/>
          <p:cNvSpPr/>
          <p:nvPr/>
        </p:nvSpPr>
        <p:spPr>
          <a:xfrm>
            <a:off x="548640" y="4983480"/>
            <a:ext cx="5455768" cy="914400"/>
          </a:xfrm>
          <a:prstGeom prst="rect">
            <a:avLst/>
          </a:prstGeom>
          <a:solidFill>
            <a:srgbClr val="F9F9F2"/>
          </a:solidFill>
          <a:ln w="9525">
            <a:solidFill>
              <a:srgbClr val="B4D9E3"/>
            </a:solidFill>
            <a:prstDash val="solid"/>
          </a:ln>
        </p:spPr>
      </p:sp>
      <p:sp>
        <p:nvSpPr>
          <p:cNvPr id="7" name="Text 3"/>
          <p:cNvSpPr txBox="1"/>
          <p:nvPr/>
        </p:nvSpPr>
        <p:spPr>
          <a:xfrm>
            <a:off x="658368" y="5056632"/>
            <a:ext cx="5236312"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8" name="Text 4"/>
          <p:cNvSpPr txBox="1"/>
          <p:nvPr/>
        </p:nvSpPr>
        <p:spPr>
          <a:xfrm>
            <a:off x="658368" y="5276088"/>
            <a:ext cx="5236312"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Weighted average stay = </a:t>
            </a:r>
            <a:pPr indent="0" marL="0">
              <a:buNone/>
            </a:pPr>
            <a:r>
              <a:rPr lang="en-US" sz="900" b="1" dirty="0">
                <a:solidFill>
                  <a:srgbClr val="125C60"/>
                </a:solidFill>
                <a:latin typeface="Proxima Nova" pitchFamily="34" charset="0"/>
                <a:ea typeface="Proxima Nova" pitchFamily="34" charset="-122"/>
                <a:cs typeface="Proxima Nova" pitchFamily="34" charset="-120"/>
              </a:rPr>
              <a:t>93.2%</a:t>
            </a:r>
            <a:pPr indent="0" marL="0">
              <a:buNone/>
            </a:pPr>
            <a:r>
              <a:rPr lang="en-US" sz="900" dirty="0">
                <a:solidFill>
                  <a:srgbClr val="231F20"/>
                </a:solidFill>
                <a:latin typeface="Proxima Nova" pitchFamily="34" charset="0"/>
                <a:ea typeface="Proxima Nova" pitchFamily="34" charset="-122"/>
                <a:cs typeface="Proxima Nova" pitchFamily="34" charset="-120"/>
              </a:rPr>
              <a:t> domestic × </a:t>
            </a:r>
            <a:pPr indent="0" marL="0">
              <a:buNone/>
            </a:pPr>
            <a:r>
              <a:rPr lang="en-US" sz="900" b="1" dirty="0">
                <a:solidFill>
                  <a:srgbClr val="125C60"/>
                </a:solidFill>
                <a:latin typeface="Proxima Nova" pitchFamily="34" charset="0"/>
                <a:ea typeface="Proxima Nova" pitchFamily="34" charset="-122"/>
                <a:cs typeface="Proxima Nova" pitchFamily="34" charset="-120"/>
              </a:rPr>
              <a:t>1.9 days</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6.8%</a:t>
            </a:r>
            <a:pPr indent="0" marL="0">
              <a:buNone/>
            </a:pPr>
            <a:r>
              <a:rPr lang="en-US" sz="900" dirty="0">
                <a:solidFill>
                  <a:srgbClr val="231F20"/>
                </a:solidFill>
                <a:latin typeface="Proxima Nova" pitchFamily="34" charset="0"/>
                <a:ea typeface="Proxima Nova" pitchFamily="34" charset="-122"/>
                <a:cs typeface="Proxima Nova" pitchFamily="34" charset="-120"/>
              </a:rPr>
              <a:t> international × </a:t>
            </a:r>
            <a:pPr indent="0" marL="0">
              <a:buNone/>
            </a:pPr>
            <a:r>
              <a:rPr lang="en-US" sz="900" b="1" dirty="0">
                <a:solidFill>
                  <a:srgbClr val="125C60"/>
                </a:solidFill>
                <a:latin typeface="Proxima Nova" pitchFamily="34" charset="0"/>
                <a:ea typeface="Proxima Nova" pitchFamily="34" charset="-122"/>
                <a:cs typeface="Proxima Nova" pitchFamily="34" charset="-120"/>
              </a:rPr>
              <a:t>5.9 days</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2.17 days</a:t>
            </a:r>
            <a:pPr indent="0" marL="0">
              <a:buNone/>
            </a:pPr>
            <a:r>
              <a:rPr lang="en-US" sz="900" dirty="0">
                <a:solidFill>
                  <a:srgbClr val="231F20"/>
                </a:solidFill>
                <a:latin typeface="Proxima Nova" pitchFamily="34" charset="0"/>
                <a:ea typeface="Proxima Nova" pitchFamily="34" charset="-122"/>
                <a:cs typeface="Proxima Nova" pitchFamily="34" charset="-120"/>
              </a:rPr>
              <a:t> (Azira stays; Tourism Economics visitor mix). Spending per day = 2025 spending ÷ </a:t>
            </a:r>
            <a:pPr indent="0" marL="0">
              <a:buNone/>
            </a:pPr>
            <a:r>
              <a:rPr lang="en-US" sz="900" b="1" dirty="0">
                <a:solidFill>
                  <a:srgbClr val="125C60"/>
                </a:solidFill>
                <a:latin typeface="Proxima Nova" pitchFamily="34" charset="0"/>
                <a:ea typeface="Proxima Nova" pitchFamily="34" charset="-122"/>
                <a:cs typeface="Proxima Nova" pitchFamily="34" charset="-120"/>
              </a:rPr>
              <a:t>2.17</a:t>
            </a:r>
            <a:pPr indent="0" marL="0">
              <a:buNone/>
            </a:pPr>
            <a:r>
              <a:rPr lang="en-US" sz="900" dirty="0">
                <a:solidFill>
                  <a:srgbClr val="231F20"/>
                </a:solidFill>
                <a:latin typeface="Proxima Nova" pitchFamily="34" charset="0"/>
                <a:ea typeface="Proxima Nova" pitchFamily="34" charset="-122"/>
                <a:cs typeface="Proxima Nova" pitchFamily="34" charset="-120"/>
              </a:rPr>
              <a:t>. Spending per visitor-day = </a:t>
            </a:r>
            <a:pPr indent="0" marL="0">
              <a:buNone/>
            </a:pPr>
            <a:r>
              <a:rPr lang="en-US" sz="900" b="1" dirty="0">
                <a:solidFill>
                  <a:srgbClr val="125C60"/>
                </a:solidFill>
                <a:latin typeface="Proxima Nova" pitchFamily="34" charset="0"/>
                <a:ea typeface="Proxima Nova" pitchFamily="34" charset="-122"/>
                <a:cs typeface="Proxima Nova" pitchFamily="34" charset="-120"/>
              </a:rPr>
              <a:t>$6.832B</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26.5M</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2.17</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$118.71</a:t>
            </a:r>
            <a:pPr indent="0" marL="0">
              <a:buNone/>
            </a:pPr>
            <a:r>
              <a:rPr lang="en-US" sz="900" dirty="0">
                <a:solidFill>
                  <a:srgbClr val="231F20"/>
                </a:solidFill>
                <a:latin typeface="Proxima Nova" pitchFamily="34" charset="0"/>
                <a:ea typeface="Proxima Nova" pitchFamily="34" charset="-122"/>
                <a:cs typeface="Proxima Nova" pitchFamily="34" charset="-120"/>
              </a:rPr>
              <a:t>.</a:t>
            </a:r>
            <a:endParaRPr lang="en-US" sz="900" dirty="0"/>
          </a:p>
        </p:txBody>
      </p:sp>
      <p:sp>
        <p:nvSpPr>
          <p:cNvPr id="9" name="note-Keep in mind"/>
          <p:cNvSpPr/>
          <p:nvPr/>
        </p:nvSpPr>
        <p:spPr>
          <a:xfrm>
            <a:off x="6187288" y="4983480"/>
            <a:ext cx="5455768" cy="914400"/>
          </a:xfrm>
          <a:prstGeom prst="rect">
            <a:avLst/>
          </a:prstGeom>
          <a:solidFill>
            <a:srgbClr val="F9F9F2"/>
          </a:solidFill>
          <a:ln w="9525">
            <a:solidFill>
              <a:srgbClr val="B4D9E3"/>
            </a:solidFill>
            <a:prstDash val="solid"/>
          </a:ln>
        </p:spPr>
      </p:sp>
      <p:sp>
        <p:nvSpPr>
          <p:cNvPr id="10" name="Text 6"/>
          <p:cNvSpPr txBox="1"/>
          <p:nvPr/>
        </p:nvSpPr>
        <p:spPr>
          <a:xfrm>
            <a:off x="6297016" y="5056632"/>
            <a:ext cx="5236312"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1" name="Text 7"/>
          <p:cNvSpPr txBox="1"/>
          <p:nvPr/>
        </p:nvSpPr>
        <p:spPr>
          <a:xfrm>
            <a:off x="6297016" y="5276088"/>
            <a:ext cx="5236312"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These are scenarios that hold spending per day constant; they are not forecasts. The study deck shows </a:t>
            </a:r>
            <a:pPr indent="0" marL="0">
              <a:buNone/>
            </a:pPr>
            <a:r>
              <a:rPr lang="en-US" sz="900" b="1" dirty="0">
                <a:solidFill>
                  <a:srgbClr val="125C60"/>
                </a:solidFill>
                <a:latin typeface="Proxima Nova" pitchFamily="34" charset="0"/>
                <a:ea typeface="Proxima Nova" pitchFamily="34" charset="-122"/>
                <a:cs typeface="Proxima Nova" pitchFamily="34" charset="-120"/>
              </a:rPr>
              <a:t>$9.9B</a:t>
            </a:r>
            <a:pPr indent="0" marL="0">
              <a:buNone/>
            </a:pPr>
            <a:r>
              <a:rPr lang="en-US" sz="900" dirty="0">
                <a:solidFill>
                  <a:srgbClr val="231F20"/>
                </a:solidFill>
                <a:latin typeface="Proxima Nova" pitchFamily="34" charset="0"/>
                <a:ea typeface="Proxima Nova" pitchFamily="34" charset="-122"/>
                <a:cs typeface="Proxima Nova" pitchFamily="34" charset="-120"/>
              </a:rPr>
              <a:t> for the total; the calculation gives </a:t>
            </a:r>
            <a:pPr indent="0" marL="0">
              <a:buNone/>
            </a:pPr>
            <a:r>
              <a:rPr lang="en-US" sz="900" b="1" dirty="0">
                <a:solidFill>
                  <a:srgbClr val="125C60"/>
                </a:solidFill>
                <a:latin typeface="Proxima Nova" pitchFamily="34" charset="0"/>
                <a:ea typeface="Proxima Nova" pitchFamily="34" charset="-122"/>
                <a:cs typeface="Proxima Nova" pitchFamily="34" charset="-120"/>
              </a:rPr>
              <a:t>$9.98B</a:t>
            </a:r>
            <a:pPr indent="0" marL="0">
              <a:buNone/>
            </a:pPr>
            <a:r>
              <a:rPr lang="en-US" sz="900" dirty="0">
                <a:solidFill>
                  <a:srgbClr val="231F20"/>
                </a:solidFill>
                <a:latin typeface="Proxima Nova" pitchFamily="34" charset="0"/>
                <a:ea typeface="Proxima Nova" pitchFamily="34" charset="-122"/>
                <a:cs typeface="Proxima Nova" pitchFamily="34" charset="-120"/>
              </a:rPr>
              <a:t>. A countywide version needs Orange County length of stay, which can be pulled from Azira at the next update.</a:t>
            </a:r>
            <a:endParaRPr lang="en-US" sz="900" dirty="0"/>
          </a:p>
        </p:txBody>
      </p:sp>
      <p:sp>
        <p:nvSpPr>
          <p:cNvPr id="12"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BI, Extra Night Calculation deck and TID Request workbook (2025 Tourism Economics and Azira inputs; recalculated Oct. 12,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is the economic impact of visitor transportation?</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Transportation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Visitors spent </a:t>
            </a:r>
            <a:pPr indent="0" marL="0">
              <a:buNone/>
            </a:pPr>
            <a:r>
              <a:rPr lang="en-US" sz="1200" b="1" dirty="0">
                <a:solidFill>
                  <a:srgbClr val="125C60"/>
                </a:solidFill>
                <a:latin typeface="Proxima Nova" pitchFamily="34" charset="0"/>
                <a:ea typeface="Proxima Nova" pitchFamily="34" charset="-122"/>
                <a:cs typeface="Proxima Nova" pitchFamily="34" charset="-120"/>
              </a:rPr>
              <a:t>$224M</a:t>
            </a:r>
            <a:pPr indent="0" marL="0">
              <a:buNone/>
            </a:pPr>
            <a:r>
              <a:rPr lang="en-US" sz="1200" dirty="0">
                <a:solidFill>
                  <a:srgbClr val="231F20"/>
                </a:solidFill>
                <a:latin typeface="Proxima Nova" pitchFamily="34" charset="0"/>
                <a:ea typeface="Proxima Nova" pitchFamily="34" charset="-122"/>
                <a:cs typeface="Proxima Nova" pitchFamily="34" charset="-120"/>
              </a:rPr>
              <a:t> on transportation in Anaheim in 2025 (</a:t>
            </a:r>
            <a:pPr indent="0" marL="0">
              <a:buNone/>
            </a:pPr>
            <a:r>
              <a:rPr lang="en-US" sz="1200" b="1" dirty="0">
                <a:solidFill>
                  <a:srgbClr val="125C60"/>
                </a:solidFill>
                <a:latin typeface="Proxima Nova" pitchFamily="34" charset="0"/>
                <a:ea typeface="Proxima Nova" pitchFamily="34" charset="-122"/>
                <a:cs typeface="Proxima Nova" pitchFamily="34" charset="-120"/>
              </a:rPr>
              <a:t>3.3%</a:t>
            </a:r>
            <a:pPr indent="0" marL="0">
              <a:buNone/>
            </a:pPr>
            <a:r>
              <a:rPr lang="en-US" sz="1200" dirty="0">
                <a:solidFill>
                  <a:srgbClr val="231F20"/>
                </a:solidFill>
                <a:latin typeface="Proxima Nova" pitchFamily="34" charset="0"/>
                <a:ea typeface="Proxima Nova" pitchFamily="34" charset="-122"/>
                <a:cs typeface="Proxima Nova" pitchFamily="34" charset="-120"/>
              </a:rPr>
              <a:t> of spending), supporting </a:t>
            </a:r>
            <a:pPr indent="0" marL="0">
              <a:buNone/>
            </a:pPr>
            <a:r>
              <a:rPr lang="en-US" sz="1200" b="1" dirty="0">
                <a:solidFill>
                  <a:srgbClr val="125C60"/>
                </a:solidFill>
                <a:latin typeface="Proxima Nova" pitchFamily="34" charset="0"/>
                <a:ea typeface="Proxima Nova" pitchFamily="34" charset="-122"/>
                <a:cs typeface="Proxima Nova" pitchFamily="34" charset="-120"/>
              </a:rPr>
              <a:t>2,080 jobs</a:t>
            </a:r>
            <a:pPr indent="0" marL="0">
              <a:buNone/>
            </a:pPr>
            <a:r>
              <a:rPr lang="en-US" sz="1200" dirty="0">
                <a:solidFill>
                  <a:srgbClr val="231F20"/>
                </a:solidFill>
                <a:latin typeface="Proxima Nova" pitchFamily="34" charset="0"/>
                <a:ea typeface="Proxima Nova" pitchFamily="34" charset="-122"/>
                <a:cs typeface="Proxima Nova" pitchFamily="34" charset="-120"/>
              </a:rPr>
              <a:t> in transportation and gas stations. Countywide: </a:t>
            </a:r>
            <a:pPr indent="0" marL="0">
              <a:buNone/>
            </a:pPr>
            <a:r>
              <a:rPr lang="en-US" sz="1200" b="1" dirty="0">
                <a:solidFill>
                  <a:srgbClr val="125C60"/>
                </a:solidFill>
                <a:latin typeface="Proxima Nova" pitchFamily="34" charset="0"/>
                <a:ea typeface="Proxima Nova" pitchFamily="34" charset="-122"/>
                <a:cs typeface="Proxima Nova" pitchFamily="34" charset="-120"/>
              </a:rPr>
              <a:t>$707M</a:t>
            </a:r>
            <a:pPr indent="0" marL="0">
              <a:buNone/>
            </a:pPr>
            <a:r>
              <a:rPr lang="en-US" sz="1200" dirty="0">
                <a:solidFill>
                  <a:srgbClr val="231F20"/>
                </a:solidFill>
                <a:latin typeface="Proxima Nova" pitchFamily="34" charset="0"/>
                <a:ea typeface="Proxima Nova" pitchFamily="34" charset="-122"/>
                <a:cs typeface="Proxima Nova" pitchFamily="34" charset="-120"/>
              </a:rPr>
              <a:t> and </a:t>
            </a:r>
            <a:pPr indent="0" marL="0">
              <a:buNone/>
            </a:pPr>
            <a:r>
              <a:rPr lang="en-US" sz="1200" b="1" dirty="0">
                <a:solidFill>
                  <a:srgbClr val="125C60"/>
                </a:solidFill>
                <a:latin typeface="Proxima Nova" pitchFamily="34" charset="0"/>
                <a:ea typeface="Proxima Nova" pitchFamily="34" charset="-122"/>
                <a:cs typeface="Proxima Nova" pitchFamily="34" charset="-120"/>
              </a:rPr>
              <a:t>6,141 jobs</a:t>
            </a:r>
            <a:pPr indent="0" marL="0">
              <a:buNone/>
            </a:pPr>
            <a:r>
              <a:rPr lang="en-US" sz="1200" dirty="0">
                <a:solidFill>
                  <a:srgbClr val="231F20"/>
                </a:solidFill>
                <a:latin typeface="Proxima Nova" pitchFamily="34" charset="0"/>
                <a:ea typeface="Proxima Nova" pitchFamily="34" charset="-122"/>
                <a:cs typeface="Proxima Nova" pitchFamily="34" charset="-120"/>
              </a:rPr>
              <a:t>. Statewide, visitors spent </a:t>
            </a:r>
            <a:pPr indent="0" marL="0">
              <a:buNone/>
            </a:pPr>
            <a:r>
              <a:rPr lang="en-US" sz="1200" b="1" dirty="0">
                <a:solidFill>
                  <a:srgbClr val="125C60"/>
                </a:solidFill>
                <a:latin typeface="Proxima Nova" pitchFamily="34" charset="0"/>
                <a:ea typeface="Proxima Nova" pitchFamily="34" charset="-122"/>
                <a:cs typeface="Proxima Nova" pitchFamily="34" charset="-120"/>
              </a:rPr>
              <a:t>$25.2B</a:t>
            </a:r>
            <a:pPr indent="0" marL="0">
              <a:buNone/>
            </a:pPr>
            <a:r>
              <a:rPr lang="en-US" sz="1200" dirty="0">
                <a:solidFill>
                  <a:srgbClr val="231F20"/>
                </a:solidFill>
                <a:latin typeface="Proxima Nova" pitchFamily="34" charset="0"/>
                <a:ea typeface="Proxima Nova" pitchFamily="34" charset="-122"/>
                <a:cs typeface="Proxima Nova" pitchFamily="34" charset="-120"/>
              </a:rPr>
              <a:t> on local transportation, gas and air (</a:t>
            </a:r>
            <a:pPr indent="0" marL="0">
              <a:buNone/>
            </a:pPr>
            <a:r>
              <a:rPr lang="en-US" sz="1200" b="1" dirty="0">
                <a:solidFill>
                  <a:srgbClr val="125C60"/>
                </a:solidFill>
                <a:latin typeface="Proxima Nova" pitchFamily="34" charset="0"/>
                <a:ea typeface="Proxima Nova" pitchFamily="34" charset="-122"/>
                <a:cs typeface="Proxima Nova" pitchFamily="34" charset="-120"/>
              </a:rPr>
              <a:t>17.9%</a:t>
            </a:r>
            <a:pPr indent="0" marL="0">
              <a:buNone/>
            </a:pPr>
            <a:r>
              <a:rPr lang="en-US" sz="1200" dirty="0">
                <a:solidFill>
                  <a:srgbClr val="231F20"/>
                </a:solidFill>
                <a:latin typeface="Proxima Nova" pitchFamily="34" charset="0"/>
                <a:ea typeface="Proxima Nova" pitchFamily="34" charset="-122"/>
                <a:cs typeface="Proxima Nova" pitchFamily="34" charset="-120"/>
              </a:rPr>
              <a:t> of visitor spending).</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$224M · 2,080 jobs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3.3% of spending; business sales $298M (other transport $159M + gas stations $139M); labor income $45M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Garden Grove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$46.9M · 326 jobs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6.1% of spending; business sales $51.8M; labor income $7.0M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$707M · 6,141 jobs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3.9% of spending; business sales $973M (other transport $496M + gas $349M + air $128M); labor income $143M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California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$25.2B · 73,100 jobs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Local transportation and gas $18.7B + visitor air $6.5B; direct jobs: ground 46,900 + air 26,200 (2025p)</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 costs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$3.10 vs. $4.09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Gasoline per gallon, U.S. vs. West Coast (2025); average domestic airfare $387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Visitor transportation spending, share of all visitor spending, 2025 (%)</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Tourism Economics transportation = ride share, taxis, trains, rental cars, buses and gasoline bought locally, plus the local share of air travel where an airport exists. Jobs and sales add the 'other transport', 'gas stations' and 'air transport' rows (direct, indirect and induced) of each report's industry tables.</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Shares differ because Visit California counts visitor air fares and statewide ground travel, while Anaheim (no commercial airport) counts spending inside the city. A dedicated Tourism Economics transportation impact analysis has been requested and will be added at the next quarterly update after it arrives.</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2025 (pub. Apr.–May 2026); Visit California, The Economic Impact of Travel in California, 2025p (Dean Runyan Associates, Apr. 6, 2026); U.S. Bureau of Transportation Statistics, Transportation Economic Trends. Files in the app library: Economic Impact of Visitors to Anaheim, 2025; Economic Impact of Visitors to Garden Grove, 2025; Economic Impact of Visitors to Orange County, 2025; Transportation Economic Trends: table guide.</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Economic impact of visitor transportation, 2025</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The detail behind: What is the economic impact of visitor transportation?</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849069"/>
                <a:gridCol w="1849069"/>
                <a:gridCol w="1849069"/>
                <a:gridCol w="1849069"/>
                <a:gridCol w="1849069"/>
                <a:gridCol w="1849069"/>
              </a:tblGrid>
              <a:tr h="274320">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Geography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Visitor transportation spending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Share of visitor spending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Business sales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Jobs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Labor income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Anaheim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$224M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3.3%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$298M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2,080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$45M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Garden Grove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$46.9M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6.1%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$51.8M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$7.0M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Orange County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$707M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$973M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6,141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$143M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California (direct only)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$25.2B</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17.9%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Not published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73,100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Not published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6" name="note-How it is calculated"/>
          <p:cNvSpPr/>
          <p:nvPr/>
        </p:nvSpPr>
        <p:spPr>
          <a:xfrm>
            <a:off x="548640" y="4983480"/>
            <a:ext cx="5455768" cy="914400"/>
          </a:xfrm>
          <a:prstGeom prst="rect">
            <a:avLst/>
          </a:prstGeom>
          <a:solidFill>
            <a:srgbClr val="F9F9F2"/>
          </a:solidFill>
          <a:ln w="9525">
            <a:solidFill>
              <a:srgbClr val="B4D9E3"/>
            </a:solidFill>
            <a:prstDash val="solid"/>
          </a:ln>
        </p:spPr>
      </p:sp>
      <p:sp>
        <p:nvSpPr>
          <p:cNvPr id="7" name="Text 3"/>
          <p:cNvSpPr txBox="1"/>
          <p:nvPr/>
        </p:nvSpPr>
        <p:spPr>
          <a:xfrm>
            <a:off x="658368" y="5056632"/>
            <a:ext cx="5236312"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8" name="Text 4"/>
          <p:cNvSpPr txBox="1"/>
          <p:nvPr/>
        </p:nvSpPr>
        <p:spPr>
          <a:xfrm>
            <a:off x="658368" y="5276088"/>
            <a:ext cx="5236312"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Tourism Economics transportation = ride share, taxis, trains, rental cars, buses and gasoline bought locally, plus the local share of air travel where an airport exists. Jobs and sales add the 'other transport', 'gas stations' and 'air transport' rows (direct, indirect and induced) of each report's industry tables.</a:t>
            </a:r>
            <a:endParaRPr lang="en-US" sz="900" dirty="0"/>
          </a:p>
        </p:txBody>
      </p:sp>
      <p:sp>
        <p:nvSpPr>
          <p:cNvPr id="9" name="note-Keep in mind"/>
          <p:cNvSpPr/>
          <p:nvPr/>
        </p:nvSpPr>
        <p:spPr>
          <a:xfrm>
            <a:off x="6187288" y="4983480"/>
            <a:ext cx="5455768" cy="914400"/>
          </a:xfrm>
          <a:prstGeom prst="rect">
            <a:avLst/>
          </a:prstGeom>
          <a:solidFill>
            <a:srgbClr val="F9F9F2"/>
          </a:solidFill>
          <a:ln w="9525">
            <a:solidFill>
              <a:srgbClr val="B4D9E3"/>
            </a:solidFill>
            <a:prstDash val="solid"/>
          </a:ln>
        </p:spPr>
      </p:sp>
      <p:sp>
        <p:nvSpPr>
          <p:cNvPr id="10" name="Text 6"/>
          <p:cNvSpPr txBox="1"/>
          <p:nvPr/>
        </p:nvSpPr>
        <p:spPr>
          <a:xfrm>
            <a:off x="6297016" y="5056632"/>
            <a:ext cx="5236312"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1" name="Text 7"/>
          <p:cNvSpPr txBox="1"/>
          <p:nvPr/>
        </p:nvSpPr>
        <p:spPr>
          <a:xfrm>
            <a:off x="6297016" y="5276088"/>
            <a:ext cx="5236312"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Shares differ because Visit California counts visitor air fares and statewide ground travel, while Anaheim (no commercial airport) counts spending inside the city. A dedicated Tourism Economics transportation impact analysis has been requested and will be added at the next quarterly update after it arrives.</a:t>
            </a:r>
            <a:endParaRPr lang="en-US" sz="900" dirty="0"/>
          </a:p>
        </p:txBody>
      </p:sp>
      <p:sp>
        <p:nvSpPr>
          <p:cNvPr id="12"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2025 (pub. Apr.–May 2026) (industry tables: other transport, gas stations, air transport); Visit California, The Economic Impact of Travel in California, 2025p (Dean Runyan Associates, Apr. 6, 2026) (accessed Oct. 14,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Who visits District 5, where OC Vibe is being built?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District 5 and who visits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85.8%</a:t>
            </a:r>
            <a:pPr indent="0" marL="0">
              <a:buNone/>
            </a:pPr>
            <a:r>
              <a:rPr lang="en-US" sz="1200" dirty="0">
                <a:solidFill>
                  <a:srgbClr val="231F20"/>
                </a:solidFill>
                <a:latin typeface="Proxima Nova" pitchFamily="34" charset="0"/>
                <a:ea typeface="Proxima Nova" pitchFamily="34" charset="-122"/>
                <a:cs typeface="Proxima Nova" pitchFamily="34" charset="-120"/>
              </a:rPr>
              <a:t> of District 5 visitors stay overnight and </a:t>
            </a:r>
            <a:pPr indent="0" marL="0">
              <a:buNone/>
            </a:pPr>
            <a:r>
              <a:rPr lang="en-US" sz="1200" b="1" dirty="0">
                <a:solidFill>
                  <a:srgbClr val="125C60"/>
                </a:solidFill>
                <a:latin typeface="Proxima Nova" pitchFamily="34" charset="0"/>
                <a:ea typeface="Proxima Nova" pitchFamily="34" charset="-122"/>
                <a:cs typeface="Proxima Nova" pitchFamily="34" charset="-120"/>
              </a:rPr>
              <a:t>43.8%</a:t>
            </a:r>
            <a:pPr indent="0" marL="0">
              <a:buNone/>
            </a:pPr>
            <a:r>
              <a:rPr lang="en-US" sz="1200" dirty="0">
                <a:solidFill>
                  <a:srgbClr val="231F20"/>
                </a:solidFill>
                <a:latin typeface="Proxima Nova" pitchFamily="34" charset="0"/>
                <a:ea typeface="Proxima Nova" pitchFamily="34" charset="-122"/>
                <a:cs typeface="Proxima Nova" pitchFamily="34" charset="-120"/>
              </a:rPr>
              <a:t> are first-time visitors (Jan.–May 2026). Their median household income is </a:t>
            </a:r>
            <a:pPr indent="0" marL="0">
              <a:buNone/>
            </a:pPr>
            <a:r>
              <a:rPr lang="en-US" sz="1200" b="1" dirty="0">
                <a:solidFill>
                  <a:srgbClr val="125C60"/>
                </a:solidFill>
                <a:latin typeface="Proxima Nova" pitchFamily="34" charset="0"/>
                <a:ea typeface="Proxima Nova" pitchFamily="34" charset="-122"/>
                <a:cs typeface="Proxima Nova" pitchFamily="34" charset="-120"/>
              </a:rPr>
              <a:t>$85.7K</a:t>
            </a:r>
            <a:pPr indent="0" marL="0">
              <a:buNone/>
            </a:pPr>
            <a:r>
              <a:rPr lang="en-US" sz="1200" dirty="0">
                <a:solidFill>
                  <a:srgbClr val="231F20"/>
                </a:solidFill>
                <a:latin typeface="Proxima Nova" pitchFamily="34" charset="0"/>
                <a:ea typeface="Proxima Nova" pitchFamily="34" charset="-122"/>
                <a:cs typeface="Proxima Nova" pitchFamily="34" charset="-120"/>
              </a:rPr>
              <a:t>, above the </a:t>
            </a:r>
            <a:pPr indent="0" marL="0">
              <a:buNone/>
            </a:pPr>
            <a:r>
              <a:rPr lang="en-US" sz="1200" b="1" dirty="0">
                <a:solidFill>
                  <a:srgbClr val="125C60"/>
                </a:solidFill>
                <a:latin typeface="Proxima Nova" pitchFamily="34" charset="0"/>
                <a:ea typeface="Proxima Nova" pitchFamily="34" charset="-122"/>
                <a:cs typeface="Proxima Nova" pitchFamily="34" charset="-120"/>
              </a:rPr>
              <a:t>$79.9K</a:t>
            </a:r>
            <a:pPr indent="0" marL="0">
              <a:buNone/>
            </a:pPr>
            <a:r>
              <a:rPr lang="en-US" sz="1200" dirty="0">
                <a:solidFill>
                  <a:srgbClr val="231F20"/>
                </a:solidFill>
                <a:latin typeface="Proxima Nova" pitchFamily="34" charset="0"/>
                <a:ea typeface="Proxima Nova" pitchFamily="34" charset="-122"/>
                <a:cs typeface="Proxima Nova" pitchFamily="34" charset="-120"/>
              </a:rPr>
              <a:t> for all Anaheim and Garden Grove visitors and the </a:t>
            </a:r>
            <a:pPr indent="0" marL="0">
              <a:buNone/>
            </a:pPr>
            <a:r>
              <a:rPr lang="en-US" sz="1200" b="1" dirty="0">
                <a:solidFill>
                  <a:srgbClr val="125C60"/>
                </a:solidFill>
                <a:latin typeface="Proxima Nova" pitchFamily="34" charset="0"/>
                <a:ea typeface="Proxima Nova" pitchFamily="34" charset="-122"/>
                <a:cs typeface="Proxima Nova" pitchFamily="34" charset="-120"/>
              </a:rPr>
              <a:t>$85.4K</a:t>
            </a:r>
            <a:pPr indent="0" marL="0">
              <a:buNone/>
            </a:pPr>
            <a:r>
              <a:rPr lang="en-US" sz="1200" dirty="0">
                <a:solidFill>
                  <a:srgbClr val="231F20"/>
                </a:solidFill>
                <a:latin typeface="Proxima Nova" pitchFamily="34" charset="0"/>
                <a:ea typeface="Proxima Nova" pitchFamily="34" charset="-122"/>
                <a:cs typeface="Proxima Nova" pitchFamily="34" charset="-120"/>
              </a:rPr>
              <a:t> U.S. household median.</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District 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85.8% overnight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43.8% new · median income $85.7K · 56.0% from California · sample 1,003,735 devices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and Garden Grove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81.7% overnight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82.5% repeat · 1.3-day stay · median income $79.9K · 93.3% of trips from California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$121.9K</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Median household income of residents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$85.4K</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Median household income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Top origin metros for District 5 visitors (% of unique visitors)</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Azira counts mobile devices seen in District 5. Overnight and new-visitor shares cover visitors who stayed 4+ hours, are not commuters and live 50+ miles away. Income is matched from U.S. Census data for home areas.</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Location samples describe visitor mix; they are not visitor counts. Compare within Azira, not with Datafy or Visa.</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Azira via Symphony (Jan. 1–May 31, 2026); Azira via Symphony (Aug. 2026); Oxford Economics via CoStar (Oct. 12, 2026). Files in the app library: District 5 visitor profile (POI Analysis); Domestic visitors to Anaheim and Garden Grove; Orange County hospitality market report.</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Where District 5 visitors come from</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The detail behind: Who visits District 5, where OC Vibe is being built?</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5547208"/>
                <a:gridCol w="5547208"/>
              </a:tblGrid>
              <a:tr h="274320">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Metro area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Share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Los Angeles–Long Beach–Anaheim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23.6%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Riverside–San Bernardino–Ontario</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Washington–Arlington–Alexandria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San Diego–Chula Vista–Carlsbad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New York–Newark–Jersey City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Bakersfield–Delano</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Phoenix–Mesa–Chandler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Dallas–Fort Worth–Arlington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Las Vegas–Henderson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Chicago–Naperville–Elgin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Oxnard–Thousand Oaks–Ventura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6" name="note-How it is calculated"/>
          <p:cNvSpPr/>
          <p:nvPr/>
        </p:nvSpPr>
        <p:spPr>
          <a:xfrm>
            <a:off x="548640" y="4983480"/>
            <a:ext cx="5455768" cy="914400"/>
          </a:xfrm>
          <a:prstGeom prst="rect">
            <a:avLst/>
          </a:prstGeom>
          <a:solidFill>
            <a:srgbClr val="F9F9F2"/>
          </a:solidFill>
          <a:ln w="9525">
            <a:solidFill>
              <a:srgbClr val="B4D9E3"/>
            </a:solidFill>
            <a:prstDash val="solid"/>
          </a:ln>
        </p:spPr>
      </p:sp>
      <p:sp>
        <p:nvSpPr>
          <p:cNvPr id="7" name="Text 3"/>
          <p:cNvSpPr txBox="1"/>
          <p:nvPr/>
        </p:nvSpPr>
        <p:spPr>
          <a:xfrm>
            <a:off x="658368" y="5056632"/>
            <a:ext cx="5236312"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8" name="Text 4"/>
          <p:cNvSpPr txBox="1"/>
          <p:nvPr/>
        </p:nvSpPr>
        <p:spPr>
          <a:xfrm>
            <a:off x="658368" y="5276088"/>
            <a:ext cx="5236312"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Azira counts mobile devices seen in District 5. Overnight and new-visitor shares cover visitors who stayed 4+ hours, are not commuters and live 50+ miles away. Income is matched from U.S. Census data for home areas.</a:t>
            </a:r>
            <a:endParaRPr lang="en-US" sz="900" dirty="0"/>
          </a:p>
        </p:txBody>
      </p:sp>
      <p:sp>
        <p:nvSpPr>
          <p:cNvPr id="9" name="note-Keep in mind"/>
          <p:cNvSpPr/>
          <p:nvPr/>
        </p:nvSpPr>
        <p:spPr>
          <a:xfrm>
            <a:off x="6187288" y="4983480"/>
            <a:ext cx="5455768" cy="914400"/>
          </a:xfrm>
          <a:prstGeom prst="rect">
            <a:avLst/>
          </a:prstGeom>
          <a:solidFill>
            <a:srgbClr val="F9F9F2"/>
          </a:solidFill>
          <a:ln w="9525">
            <a:solidFill>
              <a:srgbClr val="B4D9E3"/>
            </a:solidFill>
            <a:prstDash val="solid"/>
          </a:ln>
        </p:spPr>
      </p:sp>
      <p:sp>
        <p:nvSpPr>
          <p:cNvPr id="10" name="Text 6"/>
          <p:cNvSpPr txBox="1"/>
          <p:nvPr/>
        </p:nvSpPr>
        <p:spPr>
          <a:xfrm>
            <a:off x="6297016" y="5056632"/>
            <a:ext cx="5236312"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1" name="Text 7"/>
          <p:cNvSpPr txBox="1"/>
          <p:nvPr/>
        </p:nvSpPr>
        <p:spPr>
          <a:xfrm>
            <a:off x="6297016" y="5276088"/>
            <a:ext cx="5236312"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Location samples describe visitor mix; they are not visitor counts. Compare within Azira, not with Datafy or Visa.</a:t>
            </a:r>
            <a:endParaRPr lang="en-US" sz="900" dirty="0"/>
          </a:p>
        </p:txBody>
      </p:sp>
      <p:sp>
        <p:nvSpPr>
          <p:cNvPr id="12"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Symphony | Tourism Economics, Azira POI Analysis: District 5 (Jan. 1–May 31,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many visitors come to Orange County, and how many stay overnight?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Orange County tourism statistics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Orange County drew </a:t>
            </a:r>
            <a:pPr indent="0" marL="0">
              <a:buNone/>
            </a:pPr>
            <a:r>
              <a:rPr lang="en-US" sz="1200" b="1" dirty="0">
                <a:solidFill>
                  <a:srgbClr val="125C60"/>
                </a:solidFill>
                <a:latin typeface="Proxima Nova" pitchFamily="34" charset="0"/>
                <a:ea typeface="Proxima Nova" pitchFamily="34" charset="-122"/>
                <a:cs typeface="Proxima Nova" pitchFamily="34" charset="-120"/>
              </a:rPr>
              <a:t>51.3M</a:t>
            </a:r>
            <a:pPr indent="0" marL="0">
              <a:buNone/>
            </a:pPr>
            <a:r>
              <a:rPr lang="en-US" sz="1200" dirty="0">
                <a:solidFill>
                  <a:srgbClr val="231F20"/>
                </a:solidFill>
                <a:latin typeface="Proxima Nova" pitchFamily="34" charset="0"/>
                <a:ea typeface="Proxima Nova" pitchFamily="34" charset="-122"/>
                <a:cs typeface="Proxima Nova" pitchFamily="34" charset="-120"/>
              </a:rPr>
              <a:t> visitors in 2025: </a:t>
            </a:r>
            <a:pPr indent="0" marL="0">
              <a:buNone/>
            </a:pPr>
            <a:r>
              <a:rPr lang="en-US" sz="1200" b="1" dirty="0">
                <a:solidFill>
                  <a:srgbClr val="125C60"/>
                </a:solidFill>
                <a:latin typeface="Proxima Nova" pitchFamily="34" charset="0"/>
                <a:ea typeface="Proxima Nova" pitchFamily="34" charset="-122"/>
                <a:cs typeface="Proxima Nova" pitchFamily="34" charset="-120"/>
              </a:rPr>
              <a:t>29.2M</a:t>
            </a:r>
            <a:pPr indent="0" marL="0">
              <a:buNone/>
            </a:pPr>
            <a:r>
              <a:rPr lang="en-US" sz="1200" dirty="0">
                <a:solidFill>
                  <a:srgbClr val="231F20"/>
                </a:solidFill>
                <a:latin typeface="Proxima Nova" pitchFamily="34" charset="0"/>
                <a:ea typeface="Proxima Nova" pitchFamily="34" charset="-122"/>
                <a:cs typeface="Proxima Nova" pitchFamily="34" charset="-120"/>
              </a:rPr>
              <a:t> day and </a:t>
            </a:r>
            <a:pPr indent="0" marL="0">
              <a:buNone/>
            </a:pPr>
            <a:r>
              <a:rPr lang="en-US" sz="1200" b="1" dirty="0">
                <a:solidFill>
                  <a:srgbClr val="125C60"/>
                </a:solidFill>
                <a:latin typeface="Proxima Nova" pitchFamily="34" charset="0"/>
                <a:ea typeface="Proxima Nova" pitchFamily="34" charset="-122"/>
                <a:cs typeface="Proxima Nova" pitchFamily="34" charset="-120"/>
              </a:rPr>
              <a:t>22.1M</a:t>
            </a:r>
            <a:pPr indent="0" marL="0">
              <a:buNone/>
            </a:pPr>
            <a:r>
              <a:rPr lang="en-US" sz="1200" dirty="0">
                <a:solidFill>
                  <a:srgbClr val="231F20"/>
                </a:solidFill>
                <a:latin typeface="Proxima Nova" pitchFamily="34" charset="0"/>
                <a:ea typeface="Proxima Nova" pitchFamily="34" charset="-122"/>
                <a:cs typeface="Proxima Nova" pitchFamily="34" charset="-120"/>
              </a:rPr>
              <a:t> overnight; </a:t>
            </a:r>
            <a:pPr indent="0" marL="0">
              <a:buNone/>
            </a:pPr>
            <a:r>
              <a:rPr lang="en-US" sz="1200" b="1" dirty="0">
                <a:solidFill>
                  <a:srgbClr val="125C60"/>
                </a:solidFill>
                <a:latin typeface="Proxima Nova" pitchFamily="34" charset="0"/>
                <a:ea typeface="Proxima Nova" pitchFamily="34" charset="-122"/>
                <a:cs typeface="Proxima Nova" pitchFamily="34" charset="-120"/>
              </a:rPr>
              <a:t>47.9M</a:t>
            </a:r>
            <a:pPr indent="0" marL="0">
              <a:buNone/>
            </a:pPr>
            <a:r>
              <a:rPr lang="en-US" sz="1200" dirty="0">
                <a:solidFill>
                  <a:srgbClr val="231F20"/>
                </a:solidFill>
                <a:latin typeface="Proxima Nova" pitchFamily="34" charset="0"/>
                <a:ea typeface="Proxima Nova" pitchFamily="34" charset="-122"/>
                <a:cs typeface="Proxima Nova" pitchFamily="34" charset="-120"/>
              </a:rPr>
              <a:t> domestic and </a:t>
            </a:r>
            <a:pPr indent="0" marL="0">
              <a:buNone/>
            </a:pPr>
            <a:r>
              <a:rPr lang="en-US" sz="1200" b="1" dirty="0">
                <a:solidFill>
                  <a:srgbClr val="125C60"/>
                </a:solidFill>
                <a:latin typeface="Proxima Nova" pitchFamily="34" charset="0"/>
                <a:ea typeface="Proxima Nova" pitchFamily="34" charset="-122"/>
                <a:cs typeface="Proxima Nova" pitchFamily="34" charset="-120"/>
              </a:rPr>
              <a:t>3.5M</a:t>
            </a:r>
            <a:pPr indent="0" marL="0">
              <a:buNone/>
            </a:pPr>
            <a:r>
              <a:rPr lang="en-US" sz="1200" dirty="0">
                <a:solidFill>
                  <a:srgbClr val="231F20"/>
                </a:solidFill>
                <a:latin typeface="Proxima Nova" pitchFamily="34" charset="0"/>
                <a:ea typeface="Proxima Nova" pitchFamily="34" charset="-122"/>
                <a:cs typeface="Proxima Nova" pitchFamily="34" charset="-120"/>
              </a:rPr>
              <a:t> international (Tourism Economics). CIC Research counted </a:t>
            </a:r>
            <a:pPr indent="0" marL="0">
              <a:buNone/>
            </a:pPr>
            <a:r>
              <a:rPr lang="en-US" sz="1200" b="1" dirty="0">
                <a:solidFill>
                  <a:srgbClr val="125C60"/>
                </a:solidFill>
                <a:latin typeface="Proxima Nova" pitchFamily="34" charset="0"/>
                <a:ea typeface="Proxima Nova" pitchFamily="34" charset="-122"/>
                <a:cs typeface="Proxima Nova" pitchFamily="34" charset="-120"/>
              </a:rPr>
              <a:t>50.21M</a:t>
            </a:r>
            <a:pPr indent="0" marL="0">
              <a:buNone/>
            </a:pPr>
            <a:r>
              <a:rPr lang="en-US" sz="1200" dirty="0">
                <a:solidFill>
                  <a:srgbClr val="231F20"/>
                </a:solidFill>
                <a:latin typeface="Proxima Nova" pitchFamily="34" charset="0"/>
                <a:ea typeface="Proxima Nova" pitchFamily="34" charset="-122"/>
                <a:cs typeface="Proxima Nova" pitchFamily="34" charset="-120"/>
              </a:rPr>
              <a:t> in 2019 with a different method. No 2026 year-to-date count is published for the county; Anaheim drew </a:t>
            </a:r>
            <a:pPr indent="0" marL="0">
              <a:buNone/>
            </a:pPr>
            <a:r>
              <a:rPr lang="en-US" sz="1200" b="1" dirty="0">
                <a:solidFill>
                  <a:srgbClr val="125C60"/>
                </a:solidFill>
                <a:latin typeface="Proxima Nova" pitchFamily="34" charset="0"/>
                <a:ea typeface="Proxima Nova" pitchFamily="34" charset="-122"/>
                <a:cs typeface="Proxima Nova" pitchFamily="34" charset="-120"/>
              </a:rPr>
              <a:t>13.1M</a:t>
            </a:r>
            <a:pPr indent="0" marL="0">
              <a:buNone/>
            </a:pPr>
            <a:r>
              <a:rPr lang="en-US" sz="1200" dirty="0">
                <a:solidFill>
                  <a:srgbClr val="231F20"/>
                </a:solidFill>
                <a:latin typeface="Proxima Nova" pitchFamily="34" charset="0"/>
                <a:ea typeface="Proxima Nova" pitchFamily="34" charset="-122"/>
                <a:cs typeface="Proxima Nova" pitchFamily="34" charset="-120"/>
              </a:rPr>
              <a:t> in Jan.-June 2026, </a:t>
            </a:r>
            <a:pPr indent="0" marL="0">
              <a:buNone/>
            </a:pPr>
            <a:r>
              <a:rPr lang="en-US" sz="1200" b="1" dirty="0">
                <a:solidFill>
                  <a:srgbClr val="125C60"/>
                </a:solidFill>
                <a:latin typeface="Proxima Nova" pitchFamily="34" charset="0"/>
                <a:ea typeface="Proxima Nova" pitchFamily="34" charset="-122"/>
                <a:cs typeface="Proxima Nova" pitchFamily="34" charset="-120"/>
              </a:rPr>
              <a:t>+3.1%</a:t>
            </a:r>
            <a:pPr indent="0" marL="0">
              <a:buNone/>
            </a:pPr>
            <a:r>
              <a:rPr lang="en-US" sz="1200" dirty="0">
                <a:solidFill>
                  <a:srgbClr val="231F20"/>
                </a:solidFill>
                <a:latin typeface="Proxima Nova" pitchFamily="34" charset="0"/>
                <a:ea typeface="Proxima Nova" pitchFamily="34" charset="-122"/>
                <a:cs typeface="Proxima Nova" pitchFamily="34" charset="-120"/>
              </a:rPr>
              <a:t>.</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51.3M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Day 29.2M + overnight 22.1M; domestic 47.9M (93.3%), international 3.5M (6.7%)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2019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50.21M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Day 28.73M + overnight 21.48M; international 9.1% (4.6M)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2020</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Not published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Visitor spending fell to $5.92B, 46.7% of 2019 (Dean Runyan Associates for Visit California)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Jan.-June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13.06M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Q1 6.32M + Q2 6.74M vs. 12.67M in Jan.-June 2025 (+3.1%)</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California,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271.4M visits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255.0M domestic, 16.4M international (2019: 285.6M)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Orange County visitors, millions</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Tourism Economics counts visitors who stay overnight or travel more than 50 miles. CIC Research estimated 2019 volume from visitor intercept surveys, a household panel and hotel data. Day + overnight = total.</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CIC (2009-2019) and Tourism Economics (2021-2025) use different methods; compare each series within itself. Tourism Economics has not published Orange County visitors for 2019-2020 or a 2026 year-to-date count; both are on the request list for Tourism Economics.</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to Orange County, 2025 (pub. May 2026); CIC Research, Annual Profile of Visitors to Anaheim and Orange County, 2019 (for Visit Anaheim, Apr. 2020); Dean Runyan Associates for Visit California, The Economic Impact of Travel in California, 2025p (Apr. 2026), Orange County detail; Tourism Economics, Anaheim and Garden Grove Travel Forecast (Sept. 2026); Tourism Economics for Visit California, California Travel Forecast data (Sept. 2026). Files in the app library: Economic Impact of Visitors to Orange County, 2025; Annual Profile of Visitors to Anaheim and Orange County, 2019; The Economic Impact of Travel in California, 2025p; Anaheim and Garden Grove Travel Forecast, Sept. 2026 (Q2 2026 results).</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Where do Orange County visitors come from?</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Orange County tourism statistics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More than half (</a:t>
            </a:r>
            <a:pPr indent="0" marL="0">
              <a:buNone/>
            </a:pPr>
            <a:r>
              <a:rPr lang="en-US" sz="1200" b="1" dirty="0">
                <a:solidFill>
                  <a:srgbClr val="125C60"/>
                </a:solidFill>
                <a:latin typeface="Proxima Nova" pitchFamily="34" charset="0"/>
                <a:ea typeface="Proxima Nova" pitchFamily="34" charset="-122"/>
                <a:cs typeface="Proxima Nova" pitchFamily="34" charset="-120"/>
              </a:rPr>
              <a:t>55.4%</a:t>
            </a:r>
            <a:pPr indent="0" marL="0">
              <a:buNone/>
            </a:pPr>
            <a:r>
              <a:rPr lang="en-US" sz="1200" dirty="0">
                <a:solidFill>
                  <a:srgbClr val="231F20"/>
                </a:solidFill>
                <a:latin typeface="Proxima Nova" pitchFamily="34" charset="0"/>
                <a:ea typeface="Proxima Nova" pitchFamily="34" charset="-122"/>
                <a:cs typeface="Proxima Nova" pitchFamily="34" charset="-120"/>
              </a:rPr>
              <a:t>) of Orange County visitors in 2019 lived in Southern California: Los Angeles metro </a:t>
            </a:r>
            <a:pPr indent="0" marL="0">
              <a:buNone/>
            </a:pPr>
            <a:r>
              <a:rPr lang="en-US" sz="1200" b="1" dirty="0">
                <a:solidFill>
                  <a:srgbClr val="125C60"/>
                </a:solidFill>
                <a:latin typeface="Proxima Nova" pitchFamily="34" charset="0"/>
                <a:ea typeface="Proxima Nova" pitchFamily="34" charset="-122"/>
                <a:cs typeface="Proxima Nova" pitchFamily="34" charset="-120"/>
              </a:rPr>
              <a:t>26%</a:t>
            </a:r>
            <a:pPr indent="0" marL="0">
              <a:buNone/>
            </a:pPr>
            <a:r>
              <a:rPr lang="en-US" sz="1200" dirty="0">
                <a:solidFill>
                  <a:srgbClr val="231F20"/>
                </a:solidFill>
                <a:latin typeface="Proxima Nova" pitchFamily="34" charset="0"/>
                <a:ea typeface="Proxima Nova" pitchFamily="34" charset="-122"/>
                <a:cs typeface="Proxima Nova" pitchFamily="34" charset="-120"/>
              </a:rPr>
              <a:t>, Riverside/San Bernardino </a:t>
            </a:r>
            <a:pPr indent="0" marL="0">
              <a:buNone/>
            </a:pPr>
            <a:r>
              <a:rPr lang="en-US" sz="1200" b="1" dirty="0">
                <a:solidFill>
                  <a:srgbClr val="125C60"/>
                </a:solidFill>
                <a:latin typeface="Proxima Nova" pitchFamily="34" charset="0"/>
                <a:ea typeface="Proxima Nova" pitchFamily="34" charset="-122"/>
                <a:cs typeface="Proxima Nova" pitchFamily="34" charset="-120"/>
              </a:rPr>
              <a:t>19%</a:t>
            </a:r>
            <a:pPr indent="0" marL="0">
              <a:buNone/>
            </a:pPr>
            <a:r>
              <a:rPr lang="en-US" sz="1200" dirty="0">
                <a:solidFill>
                  <a:srgbClr val="231F20"/>
                </a:solidFill>
                <a:latin typeface="Proxima Nova" pitchFamily="34" charset="0"/>
                <a:ea typeface="Proxima Nova" pitchFamily="34" charset="-122"/>
                <a:cs typeface="Proxima Nova" pitchFamily="34" charset="-120"/>
              </a:rPr>
              <a:t> and San Diego </a:t>
            </a:r>
            <a:pPr indent="0" marL="0">
              <a:buNone/>
            </a:pPr>
            <a:r>
              <a:rPr lang="en-US" sz="1200" b="1" dirty="0">
                <a:solidFill>
                  <a:srgbClr val="125C60"/>
                </a:solidFill>
                <a:latin typeface="Proxima Nova" pitchFamily="34" charset="0"/>
                <a:ea typeface="Proxima Nova" pitchFamily="34" charset="-122"/>
                <a:cs typeface="Proxima Nova" pitchFamily="34" charset="-120"/>
              </a:rPr>
              <a:t>6%</a:t>
            </a:r>
            <a:pPr indent="0" marL="0">
              <a:buNone/>
            </a:pPr>
            <a:r>
              <a:rPr lang="en-US" sz="1200" dirty="0">
                <a:solidFill>
                  <a:srgbClr val="231F20"/>
                </a:solidFill>
                <a:latin typeface="Proxima Nova" pitchFamily="34" charset="0"/>
                <a:ea typeface="Proxima Nova" pitchFamily="34" charset="-122"/>
                <a:cs typeface="Proxima Nova" pitchFamily="34" charset="-120"/>
              </a:rPr>
              <a:t>; </a:t>
            </a:r>
            <a:pPr indent="0" marL="0">
              <a:buNone/>
            </a:pPr>
            <a:r>
              <a:rPr lang="en-US" sz="1200" b="1" dirty="0">
                <a:solidFill>
                  <a:srgbClr val="125C60"/>
                </a:solidFill>
                <a:latin typeface="Proxima Nova" pitchFamily="34" charset="0"/>
                <a:ea typeface="Proxima Nova" pitchFamily="34" charset="-122"/>
                <a:cs typeface="Proxima Nova" pitchFamily="34" charset="-120"/>
              </a:rPr>
              <a:t>9.1%</a:t>
            </a:r>
            <a:pPr indent="0" marL="0">
              <a:buNone/>
            </a:pPr>
            <a:r>
              <a:rPr lang="en-US" sz="1200" dirty="0">
                <a:solidFill>
                  <a:srgbClr val="231F20"/>
                </a:solidFill>
                <a:latin typeface="Proxima Nova" pitchFamily="34" charset="0"/>
                <a:ea typeface="Proxima Nova" pitchFamily="34" charset="-122"/>
                <a:cs typeface="Proxima Nova" pitchFamily="34" charset="-120"/>
              </a:rPr>
              <a:t> were international (CIC). Location data for Anaheim and Garden Grove (Jan. 2023-Aug. 2026) shows </a:t>
            </a:r>
            <a:pPr indent="0" marL="0">
              <a:buNone/>
            </a:pPr>
            <a:r>
              <a:rPr lang="en-US" sz="1200" b="1" dirty="0">
                <a:solidFill>
                  <a:srgbClr val="125C60"/>
                </a:solidFill>
                <a:latin typeface="Proxima Nova" pitchFamily="34" charset="0"/>
                <a:ea typeface="Proxima Nova" pitchFamily="34" charset="-122"/>
                <a:cs typeface="Proxima Nova" pitchFamily="34" charset="-120"/>
              </a:rPr>
              <a:t>44.7%</a:t>
            </a:r>
            <a:pPr indent="0" marL="0">
              <a:buNone/>
            </a:pPr>
            <a:r>
              <a:rPr lang="en-US" sz="1200" dirty="0">
                <a:solidFill>
                  <a:srgbClr val="231F20"/>
                </a:solidFill>
                <a:latin typeface="Proxima Nova" pitchFamily="34" charset="0"/>
                <a:ea typeface="Proxima Nova" pitchFamily="34" charset="-122"/>
                <a:cs typeface="Proxima Nova" pitchFamily="34" charset="-120"/>
              </a:rPr>
              <a:t> of domestic trips from the Los Angeles-Long Beach-Anaheim metro area, which includes Orange County.</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2019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55.4% Southern California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Los Angeles 26%, Riverside/San Bernardino 19%, San Diego 6%; international 9.1% (Mexico 848K, Canada 786K)</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and Garden Grove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44.7% Los Angeles-Long Beach-Anaheim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Riverside-San Bernardino-Ontario 26.1%, San Diego 4.1%, Phoenix 2.3% (share of domestic trips)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and Garden Grove, international,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Mexico 766K</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Canada 254K, U.K. 123K, Australia 104K</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Share of domestic trips by home metro area, Anaheim and Garden Grove</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CIC: visitor survey, share of all visitors. Azira: mobile location data, share of domestic trips to Anaheim and Garden Grove by home metro area.</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The Los Angeles-Long Beach-Anaheim metro area includes all of Orange County. Azira does not provide ZIP codes, so it cannot be split into Anaheim and outside Anaheim.</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CIC Research, Annual Profile of Visitors to Anaheim and Orange County, 2019 (for Visit Anaheim, Apr. 2020); Symphony | Tourism Economics (Azira), Anaheim and Garden Grove, Jan. 1, 2023-Aug. 31, 2026 (pulled Oct. 19, 2026); Tourism Economics, Travel Forecast (Sept. 2026). Files in the app library: Annual Profile of Visitors to Anaheim and Orange County, 2019; Azira origin share by metro area (MSA), Anaheim and Garden Grove; Azira origin share by TV market (DMA), Anaheim and Garden Grove; Anaheim and Garden Grove Travel Forecast, Sept. 2026 (Q2 2026 results).</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When is Orange County busiest?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Orange County tourism statistics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July. Orange County hotels averaged </a:t>
            </a:r>
            <a:pPr indent="0" marL="0">
              <a:buNone/>
            </a:pPr>
            <a:r>
              <a:rPr lang="en-US" sz="1200" b="1" dirty="0">
                <a:solidFill>
                  <a:srgbClr val="125C60"/>
                </a:solidFill>
                <a:latin typeface="Proxima Nova" pitchFamily="34" charset="0"/>
                <a:ea typeface="Proxima Nova" pitchFamily="34" charset="-122"/>
                <a:cs typeface="Proxima Nova" pitchFamily="34" charset="-120"/>
              </a:rPr>
              <a:t>80.6%</a:t>
            </a:r>
            <a:pPr indent="0" marL="0">
              <a:buNone/>
            </a:pPr>
            <a:r>
              <a:rPr lang="en-US" sz="1200" dirty="0">
                <a:solidFill>
                  <a:srgbClr val="231F20"/>
                </a:solidFill>
                <a:latin typeface="Proxima Nova" pitchFamily="34" charset="0"/>
                <a:ea typeface="Proxima Nova" pitchFamily="34" charset="-122"/>
                <a:cs typeface="Proxima Nova" pitchFamily="34" charset="-120"/>
              </a:rPr>
              <a:t> occupancy in July across 2023-2025 vs. </a:t>
            </a:r>
            <a:pPr indent="0" marL="0">
              <a:buNone/>
            </a:pPr>
            <a:r>
              <a:rPr lang="en-US" sz="1200" b="1" dirty="0">
                <a:solidFill>
                  <a:srgbClr val="125C60"/>
                </a:solidFill>
                <a:latin typeface="Proxima Nova" pitchFamily="34" charset="0"/>
                <a:ea typeface="Proxima Nova" pitchFamily="34" charset="-122"/>
                <a:cs typeface="Proxima Nova" pitchFamily="34" charset="-120"/>
              </a:rPr>
              <a:t>61.2%</a:t>
            </a:r>
            <a:pPr indent="0" marL="0">
              <a:buNone/>
            </a:pPr>
            <a:r>
              <a:rPr lang="en-US" sz="1200" dirty="0">
                <a:solidFill>
                  <a:srgbClr val="231F20"/>
                </a:solidFill>
                <a:latin typeface="Proxima Nova" pitchFamily="34" charset="0"/>
                <a:ea typeface="Proxima Nova" pitchFamily="34" charset="-122"/>
                <a:cs typeface="Proxima Nova" pitchFamily="34" charset="-120"/>
              </a:rPr>
              <a:t> in January, the low month (CoStar). In 2026, July reached </a:t>
            </a:r>
            <a:pPr indent="0" marL="0">
              <a:buNone/>
            </a:pPr>
            <a:r>
              <a:rPr lang="en-US" sz="1200" b="1" dirty="0">
                <a:solidFill>
                  <a:srgbClr val="125C60"/>
                </a:solidFill>
                <a:latin typeface="Proxima Nova" pitchFamily="34" charset="0"/>
                <a:ea typeface="Proxima Nova" pitchFamily="34" charset="-122"/>
                <a:cs typeface="Proxima Nova" pitchFamily="34" charset="-120"/>
              </a:rPr>
              <a:t>82.6%</a:t>
            </a:r>
            <a:pPr indent="0" marL="0">
              <a:buNone/>
            </a:pPr>
            <a:r>
              <a:rPr lang="en-US" sz="1200" dirty="0">
                <a:solidFill>
                  <a:srgbClr val="231F20"/>
                </a:solidFill>
                <a:latin typeface="Proxima Nova" pitchFamily="34" charset="0"/>
                <a:ea typeface="Proxima Nova" pitchFamily="34" charset="-122"/>
                <a:cs typeface="Proxima Nova" pitchFamily="34" charset="-120"/>
              </a:rPr>
              <a:t>. Monthly visitor counts are not published for the county, so hotel occupancy is the monthly measure.</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hotels, July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80.6%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Average of 2023 80.7%, 2024 80.0%, 2025 81.2%</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hotels, January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61.2%</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Average of 2023 58.4%, 2024 61.7%, 2025 63.6%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hotels, June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76.4%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Second-highest month</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Orange County hotel occupancy by month, 2023-2025 average</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Average of the three most recent full years: (2023 + 2024 + 2025) / 3 for each month.</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Hotel occupancy measures overnight guests only; day visitors (</a:t>
            </a:r>
            <a:pPr indent="0" marL="0">
              <a:buNone/>
            </a:pPr>
            <a:r>
              <a:rPr lang="en-US" sz="900" b="1" dirty="0">
                <a:solidFill>
                  <a:srgbClr val="125C60"/>
                </a:solidFill>
                <a:latin typeface="Proxima Nova" pitchFamily="34" charset="0"/>
                <a:ea typeface="Proxima Nova" pitchFamily="34" charset="-122"/>
                <a:cs typeface="Proxima Nova" pitchFamily="34" charset="-120"/>
              </a:rPr>
              <a:t>57%</a:t>
            </a:r>
            <a:pPr indent="0" marL="0">
              <a:buNone/>
            </a:pPr>
            <a:r>
              <a:rPr lang="en-US" sz="900" dirty="0">
                <a:solidFill>
                  <a:srgbClr val="231F20"/>
                </a:solidFill>
                <a:latin typeface="Proxima Nova" pitchFamily="34" charset="0"/>
                <a:ea typeface="Proxima Nova" pitchFamily="34" charset="-122"/>
                <a:cs typeface="Proxima Nova" pitchFamily="34" charset="-120"/>
              </a:rPr>
              <a:t> of county visitors in 2025) are not in it.</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CoStar, Orange County hotel market (monthly data through Sept. 2026; market report Oct. 12, 2026). Files in the app library: Orange County hospitality market report; State and Regional Lodging Forecast, Sept.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Why do people visit Orange County, and who travels with them?</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Orange County tourism statistics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In 2019, </a:t>
            </a:r>
            <a:pPr indent="0" marL="0">
              <a:buNone/>
            </a:pPr>
            <a:r>
              <a:rPr lang="en-US" sz="1200" b="1" dirty="0">
                <a:solidFill>
                  <a:srgbClr val="125C60"/>
                </a:solidFill>
                <a:latin typeface="Proxima Nova" pitchFamily="34" charset="0"/>
                <a:ea typeface="Proxima Nova" pitchFamily="34" charset="-122"/>
                <a:cs typeface="Proxima Nova" pitchFamily="34" charset="-120"/>
              </a:rPr>
              <a:t>81.2%</a:t>
            </a:r>
            <a:pPr indent="0" marL="0">
              <a:buNone/>
            </a:pPr>
            <a:r>
              <a:rPr lang="en-US" sz="1200" dirty="0">
                <a:solidFill>
                  <a:srgbClr val="231F20"/>
                </a:solidFill>
                <a:latin typeface="Proxima Nova" pitchFamily="34" charset="0"/>
                <a:ea typeface="Proxima Nova" pitchFamily="34" charset="-122"/>
                <a:cs typeface="Proxima Nova" pitchFamily="34" charset="-120"/>
              </a:rPr>
              <a:t> of Orange County visitors came for pleasure or to see friends and relatives, </a:t>
            </a:r>
            <a:pPr indent="0" marL="0">
              <a:buNone/>
            </a:pPr>
            <a:r>
              <a:rPr lang="en-US" sz="1200" b="1" dirty="0">
                <a:solidFill>
                  <a:srgbClr val="125C60"/>
                </a:solidFill>
                <a:latin typeface="Proxima Nova" pitchFamily="34" charset="0"/>
                <a:ea typeface="Proxima Nova" pitchFamily="34" charset="-122"/>
                <a:cs typeface="Proxima Nova" pitchFamily="34" charset="-120"/>
              </a:rPr>
              <a:t>9.6%</a:t>
            </a:r>
            <a:pPr indent="0" marL="0">
              <a:buNone/>
            </a:pPr>
            <a:r>
              <a:rPr lang="en-US" sz="1200" dirty="0">
                <a:solidFill>
                  <a:srgbClr val="231F20"/>
                </a:solidFill>
                <a:latin typeface="Proxima Nova" pitchFamily="34" charset="0"/>
                <a:ea typeface="Proxima Nova" pitchFamily="34" charset="-122"/>
                <a:cs typeface="Proxima Nova" pitchFamily="34" charset="-120"/>
              </a:rPr>
              <a:t> for business or conventions and </a:t>
            </a:r>
            <a:pPr indent="0" marL="0">
              <a:buNone/>
            </a:pPr>
            <a:r>
              <a:rPr lang="en-US" sz="1200" b="1" dirty="0">
                <a:solidFill>
                  <a:srgbClr val="125C60"/>
                </a:solidFill>
                <a:latin typeface="Proxima Nova" pitchFamily="34" charset="0"/>
                <a:ea typeface="Proxima Nova" pitchFamily="34" charset="-122"/>
                <a:cs typeface="Proxima Nova" pitchFamily="34" charset="-120"/>
              </a:rPr>
              <a:t>7.6%</a:t>
            </a:r>
            <a:pPr indent="0" marL="0">
              <a:buNone/>
            </a:pPr>
            <a:r>
              <a:rPr lang="en-US" sz="1200" dirty="0">
                <a:solidFill>
                  <a:srgbClr val="231F20"/>
                </a:solidFill>
                <a:latin typeface="Proxima Nova" pitchFamily="34" charset="0"/>
                <a:ea typeface="Proxima Nova" pitchFamily="34" charset="-122"/>
                <a:cs typeface="Proxima Nova" pitchFamily="34" charset="-120"/>
              </a:rPr>
              <a:t> for special events. The average travel party was </a:t>
            </a:r>
            <a:pPr indent="0" marL="0">
              <a:buNone/>
            </a:pPr>
            <a:r>
              <a:rPr lang="en-US" sz="1200" b="1" dirty="0">
                <a:solidFill>
                  <a:srgbClr val="125C60"/>
                </a:solidFill>
                <a:latin typeface="Proxima Nova" pitchFamily="34" charset="0"/>
                <a:ea typeface="Proxima Nova" pitchFamily="34" charset="-122"/>
                <a:cs typeface="Proxima Nova" pitchFamily="34" charset="-120"/>
              </a:rPr>
              <a:t>2.8</a:t>
            </a:r>
            <a:pPr indent="0" marL="0">
              <a:buNone/>
            </a:pPr>
            <a:r>
              <a:rPr lang="en-US" sz="1200" dirty="0">
                <a:solidFill>
                  <a:srgbClr val="231F20"/>
                </a:solidFill>
                <a:latin typeface="Proxima Nova" pitchFamily="34" charset="0"/>
                <a:ea typeface="Proxima Nova" pitchFamily="34" charset="-122"/>
                <a:cs typeface="Proxima Nova" pitchFamily="34" charset="-120"/>
              </a:rPr>
              <a:t> people, </a:t>
            </a:r>
            <a:pPr indent="0" marL="0">
              <a:buNone/>
            </a:pPr>
            <a:r>
              <a:rPr lang="en-US" sz="1200" b="1" dirty="0">
                <a:solidFill>
                  <a:srgbClr val="125C60"/>
                </a:solidFill>
                <a:latin typeface="Proxima Nova" pitchFamily="34" charset="0"/>
                <a:ea typeface="Proxima Nova" pitchFamily="34" charset="-122"/>
                <a:cs typeface="Proxima Nova" pitchFamily="34" charset="-120"/>
              </a:rPr>
              <a:t>37.0%</a:t>
            </a:r>
            <a:pPr indent="0" marL="0">
              <a:buNone/>
            </a:pPr>
            <a:r>
              <a:rPr lang="en-US" sz="1200" dirty="0">
                <a:solidFill>
                  <a:srgbClr val="231F20"/>
                </a:solidFill>
                <a:latin typeface="Proxima Nova" pitchFamily="34" charset="0"/>
                <a:ea typeface="Proxima Nova" pitchFamily="34" charset="-122"/>
                <a:cs typeface="Proxima Nova" pitchFamily="34" charset="-120"/>
              </a:rPr>
              <a:t> had children with them, and overnight visitors stayed </a:t>
            </a:r>
            <a:pPr indent="0" marL="0">
              <a:buNone/>
            </a:pPr>
            <a:r>
              <a:rPr lang="en-US" sz="1200" b="1" dirty="0">
                <a:solidFill>
                  <a:srgbClr val="125C60"/>
                </a:solidFill>
                <a:latin typeface="Proxima Nova" pitchFamily="34" charset="0"/>
                <a:ea typeface="Proxima Nova" pitchFamily="34" charset="-122"/>
                <a:cs typeface="Proxima Nova" pitchFamily="34" charset="-120"/>
              </a:rPr>
              <a:t>4.2 nights</a:t>
            </a:r>
            <a:pPr indent="0" marL="0">
              <a:buNone/>
            </a:pPr>
            <a:r>
              <a:rPr lang="en-US" sz="1200" dirty="0">
                <a:solidFill>
                  <a:srgbClr val="231F20"/>
                </a:solidFill>
                <a:latin typeface="Proxima Nova" pitchFamily="34" charset="0"/>
                <a:ea typeface="Proxima Nova" pitchFamily="34" charset="-122"/>
                <a:cs typeface="Proxima Nova" pitchFamily="34" charset="-120"/>
              </a:rPr>
              <a:t> (CIC). It is the latest county visitor profile.</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all visitors, 2019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Party of 2.8</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37.0% with children; 81.2% pleasure or VFR; 1.8 nights average (day visitors count as 0)</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hotel guests, 2019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Party of 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28.7% with children; 29.0% business or convention; 3.8 nights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all visitors, 2019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Party of 3.0</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42.0% with children; 78.3% pleasure or VFR; 9.7% special events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and Garden Grove,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1.28-1.46 days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Average length of stay by month, Jan.-Aug. 2026; international 4.99 days (2023-2026)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Main purpose of trip, Orange County visitors, 2019</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CIC Research surveyed </a:t>
            </a:r>
            <a:pPr indent="0" marL="0">
              <a:buNone/>
            </a:pPr>
            <a:r>
              <a:rPr lang="en-US" sz="900" b="1" dirty="0">
                <a:solidFill>
                  <a:srgbClr val="125C60"/>
                </a:solidFill>
                <a:latin typeface="Proxima Nova" pitchFamily="34" charset="0"/>
                <a:ea typeface="Proxima Nova" pitchFamily="34" charset="-122"/>
                <a:cs typeface="Proxima Nova" pitchFamily="34" charset="-120"/>
              </a:rPr>
              <a:t>4,040</a:t>
            </a:r>
            <a:pPr indent="0" marL="0">
              <a:buNone/>
            </a:pPr>
            <a:r>
              <a:rPr lang="en-US" sz="900" dirty="0">
                <a:solidFill>
                  <a:srgbClr val="231F20"/>
                </a:solidFill>
                <a:latin typeface="Proxima Nova" pitchFamily="34" charset="0"/>
                <a:ea typeface="Proxima Nova" pitchFamily="34" charset="-122"/>
                <a:cs typeface="Proxima Nova" pitchFamily="34" charset="-120"/>
              </a:rPr>
              <a:t> visitor groups in 2019 (</a:t>
            </a:r>
            <a:pPr indent="0" marL="0">
              <a:buNone/>
            </a:pPr>
            <a:r>
              <a:rPr lang="en-US" sz="900" b="1" dirty="0">
                <a:solidFill>
                  <a:srgbClr val="125C60"/>
                </a:solidFill>
                <a:latin typeface="Proxima Nova" pitchFamily="34" charset="0"/>
                <a:ea typeface="Proxima Nova" pitchFamily="34" charset="-122"/>
                <a:cs typeface="Proxima Nova" pitchFamily="34" charset="-120"/>
              </a:rPr>
              <a:t>2,686</a:t>
            </a:r>
            <a:pPr indent="0" marL="0">
              <a:buNone/>
            </a:pPr>
            <a:r>
              <a:rPr lang="en-US" sz="900" dirty="0">
                <a:solidFill>
                  <a:srgbClr val="231F20"/>
                </a:solidFill>
                <a:latin typeface="Proxima Nova" pitchFamily="34" charset="0"/>
                <a:ea typeface="Proxima Nova" pitchFamily="34" charset="-122"/>
                <a:cs typeface="Proxima Nova" pitchFamily="34" charset="-120"/>
              </a:rPr>
              <a:t> intercepts at 36 Orange County locations plus a panel of </a:t>
            </a:r>
            <a:pPr indent="0" marL="0">
              <a:buNone/>
            </a:pPr>
            <a:r>
              <a:rPr lang="en-US" sz="900" b="1" dirty="0">
                <a:solidFill>
                  <a:srgbClr val="125C60"/>
                </a:solidFill>
                <a:latin typeface="Proxima Nova" pitchFamily="34" charset="0"/>
                <a:ea typeface="Proxima Nova" pitchFamily="34" charset="-122"/>
                <a:cs typeface="Proxima Nova" pitchFamily="34" charset="-120"/>
              </a:rPr>
              <a:t>2,087</a:t>
            </a:r>
            <a:pPr indent="0" marL="0">
              <a:buNone/>
            </a:pPr>
            <a:r>
              <a:rPr lang="en-US" sz="900" dirty="0">
                <a:solidFill>
                  <a:srgbClr val="231F20"/>
                </a:solidFill>
                <a:latin typeface="Proxima Nova" pitchFamily="34" charset="0"/>
                <a:ea typeface="Proxima Nova" pitchFamily="34" charset="-122"/>
                <a:cs typeface="Proxima Nova" pitchFamily="34" charset="-120"/>
              </a:rPr>
              <a:t> households).</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The 2019 profile predates the pandemic; no newer Orange County visitor survey was found (SharePoint and Visit California sources searched Oct. 19, 2026). A new survey would update purpose, party size and children.</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CIC Research, Annual Profile of Visitors to Anaheim and Orange County, 2019 (for Visit Anaheim, Apr. 2020); Symphony | Tourism Economics (Azira), Anaheim and Garden Grove, Jan. 1, 2023-Aug. 31, 2026 (pulled Oct. 19, 2026). Files in the app library: Annual Profile of Visitors to Anaheim and Orange County, 2019; Azira length of stay trend, Anaheim and Garden Grove; Azira international average length of stay, Anaheim and Garden Grove; Monthly Travel Indicators, Aug.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many hotel rooms does Orange County have, and how full are they?</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Orange County tourism statistics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Orange County had </a:t>
            </a:r>
            <a:pPr indent="0" marL="0">
              <a:buNone/>
            </a:pPr>
            <a:r>
              <a:rPr lang="en-US" sz="1200" b="1" dirty="0">
                <a:solidFill>
                  <a:srgbClr val="125C60"/>
                </a:solidFill>
                <a:latin typeface="Proxima Nova" pitchFamily="34" charset="0"/>
                <a:ea typeface="Proxima Nova" pitchFamily="34" charset="-122"/>
                <a:cs typeface="Proxima Nova" pitchFamily="34" charset="-120"/>
              </a:rPr>
              <a:t>60,224</a:t>
            </a:r>
            <a:pPr indent="0" marL="0">
              <a:buNone/>
            </a:pPr>
            <a:r>
              <a:rPr lang="en-US" sz="1200" dirty="0">
                <a:solidFill>
                  <a:srgbClr val="231F20"/>
                </a:solidFill>
                <a:latin typeface="Proxima Nova" pitchFamily="34" charset="0"/>
                <a:ea typeface="Proxima Nova" pitchFamily="34" charset="-122"/>
                <a:cs typeface="Proxima Nova" pitchFamily="34" charset="-120"/>
              </a:rPr>
              <a:t> hotel rooms in Sept. 2026. Hotels filled </a:t>
            </a:r>
            <a:pPr indent="0" marL="0">
              <a:buNone/>
            </a:pPr>
            <a:r>
              <a:rPr lang="en-US" sz="1200" b="1" dirty="0">
                <a:solidFill>
                  <a:srgbClr val="125C60"/>
                </a:solidFill>
                <a:latin typeface="Proxima Nova" pitchFamily="34" charset="0"/>
                <a:ea typeface="Proxima Nova" pitchFamily="34" charset="-122"/>
                <a:cs typeface="Proxima Nova" pitchFamily="34" charset="-120"/>
              </a:rPr>
              <a:t>75.2%</a:t>
            </a:r>
            <a:pPr indent="0" marL="0">
              <a:buNone/>
            </a:pPr>
            <a:r>
              <a:rPr lang="en-US" sz="1200" dirty="0">
                <a:solidFill>
                  <a:srgbClr val="231F20"/>
                </a:solidFill>
                <a:latin typeface="Proxima Nova" pitchFamily="34" charset="0"/>
                <a:ea typeface="Proxima Nova" pitchFamily="34" charset="-122"/>
                <a:cs typeface="Proxima Nova" pitchFamily="34" charset="-120"/>
              </a:rPr>
              <a:t> of rooms at </a:t>
            </a:r>
            <a:pPr indent="0" marL="0">
              <a:buNone/>
            </a:pPr>
            <a:r>
              <a:rPr lang="en-US" sz="1200" b="1" dirty="0">
                <a:solidFill>
                  <a:srgbClr val="125C60"/>
                </a:solidFill>
                <a:latin typeface="Proxima Nova" pitchFamily="34" charset="0"/>
                <a:ea typeface="Proxima Nova" pitchFamily="34" charset="-122"/>
                <a:cs typeface="Proxima Nova" pitchFamily="34" charset="-120"/>
              </a:rPr>
              <a:t>$221.67</a:t>
            </a:r>
            <a:pPr indent="0" marL="0">
              <a:buNone/>
            </a:pPr>
            <a:r>
              <a:rPr lang="en-US" sz="1200" dirty="0">
                <a:solidFill>
                  <a:srgbClr val="231F20"/>
                </a:solidFill>
                <a:latin typeface="Proxima Nova" pitchFamily="34" charset="0"/>
                <a:ea typeface="Proxima Nova" pitchFamily="34" charset="-122"/>
                <a:cs typeface="Proxima Nova" pitchFamily="34" charset="-120"/>
              </a:rPr>
              <a:t> a night in Jan.-Aug. 2026, up from </a:t>
            </a:r>
            <a:pPr indent="0" marL="0">
              <a:buNone/>
            </a:pPr>
            <a:r>
              <a:rPr lang="en-US" sz="1200" b="1" dirty="0">
                <a:solidFill>
                  <a:srgbClr val="125C60"/>
                </a:solidFill>
                <a:latin typeface="Proxima Nova" pitchFamily="34" charset="0"/>
                <a:ea typeface="Proxima Nova" pitchFamily="34" charset="-122"/>
                <a:cs typeface="Proxima Nova" pitchFamily="34" charset="-120"/>
              </a:rPr>
              <a:t>72.3%</a:t>
            </a:r>
            <a:pPr indent="0" marL="0">
              <a:buNone/>
            </a:pPr>
            <a:r>
              <a:rPr lang="en-US" sz="1200" dirty="0">
                <a:solidFill>
                  <a:srgbClr val="231F20"/>
                </a:solidFill>
                <a:latin typeface="Proxima Nova" pitchFamily="34" charset="0"/>
                <a:ea typeface="Proxima Nova" pitchFamily="34" charset="-122"/>
                <a:cs typeface="Proxima Nova" pitchFamily="34" charset="-120"/>
              </a:rPr>
              <a:t> and </a:t>
            </a:r>
            <a:pPr indent="0" marL="0">
              <a:buNone/>
            </a:pPr>
            <a:r>
              <a:rPr lang="en-US" sz="1200" b="1" dirty="0">
                <a:solidFill>
                  <a:srgbClr val="125C60"/>
                </a:solidFill>
                <a:latin typeface="Proxima Nova" pitchFamily="34" charset="0"/>
                <a:ea typeface="Proxima Nova" pitchFamily="34" charset="-122"/>
                <a:cs typeface="Proxima Nova" pitchFamily="34" charset="-120"/>
              </a:rPr>
              <a:t>$209.68</a:t>
            </a:r>
            <a:pPr indent="0" marL="0">
              <a:buNone/>
            </a:pPr>
            <a:r>
              <a:rPr lang="en-US" sz="1200" dirty="0">
                <a:solidFill>
                  <a:srgbClr val="231F20"/>
                </a:solidFill>
                <a:latin typeface="Proxima Nova" pitchFamily="34" charset="0"/>
                <a:ea typeface="Proxima Nova" pitchFamily="34" charset="-122"/>
                <a:cs typeface="Proxima Nova" pitchFamily="34" charset="-120"/>
              </a:rPr>
              <a:t> in 2025 and </a:t>
            </a:r>
            <a:pPr indent="0" marL="0">
              <a:buNone/>
            </a:pPr>
            <a:r>
              <a:rPr lang="en-US" sz="1200" b="1" dirty="0">
                <a:solidFill>
                  <a:srgbClr val="125C60"/>
                </a:solidFill>
                <a:latin typeface="Proxima Nova" pitchFamily="34" charset="0"/>
                <a:ea typeface="Proxima Nova" pitchFamily="34" charset="-122"/>
                <a:cs typeface="Proxima Nova" pitchFamily="34" charset="-120"/>
              </a:rPr>
              <a:t>77.4%</a:t>
            </a:r>
            <a:pPr indent="0" marL="0">
              <a:buNone/>
            </a:pPr>
            <a:r>
              <a:rPr lang="en-US" sz="1200" dirty="0">
                <a:solidFill>
                  <a:srgbClr val="231F20"/>
                </a:solidFill>
                <a:latin typeface="Proxima Nova" pitchFamily="34" charset="0"/>
                <a:ea typeface="Proxima Nova" pitchFamily="34" charset="-122"/>
                <a:cs typeface="Proxima Nova" pitchFamily="34" charset="-120"/>
              </a:rPr>
              <a:t> and </a:t>
            </a:r>
            <a:pPr indent="0" marL="0">
              <a:buNone/>
            </a:pPr>
            <a:r>
              <a:rPr lang="en-US" sz="1200" b="1" dirty="0">
                <a:solidFill>
                  <a:srgbClr val="125C60"/>
                </a:solidFill>
                <a:latin typeface="Proxima Nova" pitchFamily="34" charset="0"/>
                <a:ea typeface="Proxima Nova" pitchFamily="34" charset="-122"/>
                <a:cs typeface="Proxima Nova" pitchFamily="34" charset="-120"/>
              </a:rPr>
              <a:t>$165.36</a:t>
            </a:r>
            <a:pPr indent="0" marL="0">
              <a:buNone/>
            </a:pPr>
            <a:r>
              <a:rPr lang="en-US" sz="1200" dirty="0">
                <a:solidFill>
                  <a:srgbClr val="231F20"/>
                </a:solidFill>
                <a:latin typeface="Proxima Nova" pitchFamily="34" charset="0"/>
                <a:ea typeface="Proxima Nova" pitchFamily="34" charset="-122"/>
                <a:cs typeface="Proxima Nova" pitchFamily="34" charset="-120"/>
              </a:rPr>
              <a:t> in 2019 (CoStar).</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2026 YTD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75.2% · $221.67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Revenue per available room $166.70 (75.2% x $221.67)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72.3% · $209.68</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60,547 rooms available a night on average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2019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77.4% · $165.36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58,633 rooms available a night on average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2026 forecast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75.9% · $221.61</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Tourism Economics lodging forecast for Visit California (CoStar basis)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Orange County hotel occupancy</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Rooms available a night = annual available room nights / days in the year. Revenue per available room = occupancy x ADR.</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CoStar data is licensed; summary figures are shared, raw exports are not.</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CoStar, Orange County hotel market (monthly data through Sept. 2026; market report Oct. 12, 2026); Tourism Economics for Visit California, State and Regional Lodging Forecast (Sept. 2026; CoStar data). Files in the app library: Orange County hospitality market report; Disneyland hospitality submarket report; State and Regional Lodging Forecast, Sept.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Is visitor spending growing?</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Visitor spending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Yes. Anaheim visitor spending rose </a:t>
            </a:r>
            <a:pPr indent="0" marL="0">
              <a:buNone/>
            </a:pPr>
            <a:r>
              <a:rPr lang="en-US" sz="1200" b="1" dirty="0">
                <a:solidFill>
                  <a:srgbClr val="125C60"/>
                </a:solidFill>
                <a:latin typeface="Proxima Nova" pitchFamily="34" charset="0"/>
                <a:ea typeface="Proxima Nova" pitchFamily="34" charset="-122"/>
                <a:cs typeface="Proxima Nova" pitchFamily="34" charset="-120"/>
              </a:rPr>
              <a:t>3.1%</a:t>
            </a:r>
            <a:pPr indent="0" marL="0">
              <a:buNone/>
            </a:pPr>
            <a:r>
              <a:rPr lang="en-US" sz="1200" dirty="0">
                <a:solidFill>
                  <a:srgbClr val="231F20"/>
                </a:solidFill>
                <a:latin typeface="Proxima Nova" pitchFamily="34" charset="0"/>
                <a:ea typeface="Proxima Nova" pitchFamily="34" charset="-122"/>
                <a:cs typeface="Proxima Nova" pitchFamily="34" charset="-120"/>
              </a:rPr>
              <a:t> in 2025 and </a:t>
            </a:r>
            <a:pPr indent="0" marL="0">
              <a:buNone/>
            </a:pPr>
            <a:r>
              <a:rPr lang="en-US" sz="1200" b="1" dirty="0">
                <a:solidFill>
                  <a:srgbClr val="125C60"/>
                </a:solidFill>
                <a:latin typeface="Proxima Nova" pitchFamily="34" charset="0"/>
                <a:ea typeface="Proxima Nova" pitchFamily="34" charset="-122"/>
                <a:cs typeface="Proxima Nova" pitchFamily="34" charset="-120"/>
              </a:rPr>
              <a:t>7.8%</a:t>
            </a:r>
            <a:pPr indent="0" marL="0">
              <a:buNone/>
            </a:pPr>
            <a:r>
              <a:rPr lang="en-US" sz="1200" dirty="0">
                <a:solidFill>
                  <a:srgbClr val="231F20"/>
                </a:solidFill>
                <a:latin typeface="Proxima Nova" pitchFamily="34" charset="0"/>
                <a:ea typeface="Proxima Nova" pitchFamily="34" charset="-122"/>
                <a:cs typeface="Proxima Nova" pitchFamily="34" charset="-120"/>
              </a:rPr>
              <a:t> in Q2 2026. Orange County grew </a:t>
            </a:r>
            <a:pPr indent="0" marL="0">
              <a:buNone/>
            </a:pPr>
            <a:r>
              <a:rPr lang="en-US" sz="1200" b="1" dirty="0">
                <a:solidFill>
                  <a:srgbClr val="125C60"/>
                </a:solidFill>
                <a:latin typeface="Proxima Nova" pitchFamily="34" charset="0"/>
                <a:ea typeface="Proxima Nova" pitchFamily="34" charset="-122"/>
                <a:cs typeface="Proxima Nova" pitchFamily="34" charset="-120"/>
              </a:rPr>
              <a:t>3.4%</a:t>
            </a:r>
            <a:pPr indent="0" marL="0">
              <a:buNone/>
            </a:pPr>
            <a:r>
              <a:rPr lang="en-US" sz="1200" dirty="0">
                <a:solidFill>
                  <a:srgbClr val="231F20"/>
                </a:solidFill>
                <a:latin typeface="Proxima Nova" pitchFamily="34" charset="0"/>
                <a:ea typeface="Proxima Nova" pitchFamily="34" charset="-122"/>
                <a:cs typeface="Proxima Nova" pitchFamily="34" charset="-120"/>
              </a:rPr>
              <a:t>, California </a:t>
            </a:r>
            <a:pPr indent="0" marL="0">
              <a:buNone/>
            </a:pPr>
            <a:r>
              <a:rPr lang="en-US" sz="1200" b="1" dirty="0">
                <a:solidFill>
                  <a:srgbClr val="125C60"/>
                </a:solidFill>
                <a:latin typeface="Proxima Nova" pitchFamily="34" charset="0"/>
                <a:ea typeface="Proxima Nova" pitchFamily="34" charset="-122"/>
                <a:cs typeface="Proxima Nova" pitchFamily="34" charset="-120"/>
              </a:rPr>
              <a:t>1.7%</a:t>
            </a:r>
            <a:pPr indent="0" marL="0">
              <a:buNone/>
            </a:pPr>
            <a:r>
              <a:rPr lang="en-US" sz="1200" dirty="0">
                <a:solidFill>
                  <a:srgbClr val="231F20"/>
                </a:solidFill>
                <a:latin typeface="Proxima Nova" pitchFamily="34" charset="0"/>
                <a:ea typeface="Proxima Nova" pitchFamily="34" charset="-122"/>
                <a:cs typeface="Proxima Nova" pitchFamily="34" charset="-120"/>
              </a:rPr>
              <a:t> and the U.S. </a:t>
            </a:r>
            <a:pPr indent="0" marL="0">
              <a:buNone/>
            </a:pPr>
            <a:r>
              <a:rPr lang="en-US" sz="1200" b="1" dirty="0">
                <a:solidFill>
                  <a:srgbClr val="125C60"/>
                </a:solidFill>
                <a:latin typeface="Proxima Nova" pitchFamily="34" charset="0"/>
                <a:ea typeface="Proxima Nova" pitchFamily="34" charset="-122"/>
                <a:cs typeface="Proxima Nova" pitchFamily="34" charset="-120"/>
              </a:rPr>
              <a:t>1.4%</a:t>
            </a:r>
            <a:pPr indent="0" marL="0">
              <a:buNone/>
            </a:pPr>
            <a:r>
              <a:rPr lang="en-US" sz="1200" dirty="0">
                <a:solidFill>
                  <a:srgbClr val="231F20"/>
                </a:solidFill>
                <a:latin typeface="Proxima Nova" pitchFamily="34" charset="0"/>
                <a:ea typeface="Proxima Nova" pitchFamily="34" charset="-122"/>
                <a:cs typeface="Proxima Nova" pitchFamily="34" charset="-120"/>
              </a:rPr>
              <a:t> after inflation.</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+3.1%</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$6.626B to $6.832B (2024 to 2025); Q2 2026 +7.8%</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+3.4%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$17.40B to $17.99B (2024 to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California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$156.2B to $158.9B direct travel spending (2024 to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$1.341T to $1.360T (2024 to 2025, real 2025 dollars)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Growth in visitor or travel spending, 2025 vs. 2024</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Growth = this year ÷ last year − 1. Anaheim, Orange County and California are in current dollars; the U.S. series is adjusted for inflation, so it reads lower.</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Tourism Economics forecasts Anaheim visitor spending of </a:t>
            </a:r>
            <a:pPr indent="0" marL="0">
              <a:buNone/>
            </a:pPr>
            <a:r>
              <a:rPr lang="en-US" sz="900" b="1" dirty="0">
                <a:solidFill>
                  <a:srgbClr val="125C60"/>
                </a:solidFill>
                <a:latin typeface="Proxima Nova" pitchFamily="34" charset="0"/>
                <a:ea typeface="Proxima Nova" pitchFamily="34" charset="-122"/>
                <a:cs typeface="Proxima Nova" pitchFamily="34" charset="-120"/>
              </a:rPr>
              <a:t>$7.2B</a:t>
            </a:r>
            <a:pPr indent="0" marL="0">
              <a:buNone/>
            </a:pPr>
            <a:r>
              <a:rPr lang="en-US" sz="900" dirty="0">
                <a:solidFill>
                  <a:srgbClr val="231F20"/>
                </a:solidFill>
                <a:latin typeface="Proxima Nova" pitchFamily="34" charset="0"/>
                <a:ea typeface="Proxima Nova" pitchFamily="34" charset="-122"/>
                <a:cs typeface="Proxima Nova" pitchFamily="34" charset="-120"/>
              </a:rPr>
              <a:t> in 2026 (</a:t>
            </a:r>
            <a:pPr indent="0" marL="0">
              <a:buNone/>
            </a:pPr>
            <a:r>
              <a:rPr lang="en-US" sz="900" b="1" dirty="0">
                <a:solidFill>
                  <a:srgbClr val="125C60"/>
                </a:solidFill>
                <a:latin typeface="Proxima Nova" pitchFamily="34" charset="0"/>
                <a:ea typeface="Proxima Nova" pitchFamily="34" charset="-122"/>
                <a:cs typeface="Proxima Nova" pitchFamily="34" charset="-120"/>
              </a:rPr>
              <a:t>+5.6%</a:t>
            </a:r>
            <a:pPr indent="0" marL="0">
              <a:buNone/>
            </a:pPr>
            <a:r>
              <a:rPr lang="en-US" sz="900" dirty="0">
                <a:solidFill>
                  <a:srgbClr val="231F20"/>
                </a:solidFill>
                <a:latin typeface="Proxima Nova" pitchFamily="34" charset="0"/>
                <a:ea typeface="Proxima Nova" pitchFamily="34" charset="-122"/>
                <a:cs typeface="Proxima Nova" pitchFamily="34" charset="-120"/>
              </a:rPr>
              <a:t>).</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2025 (pub. Apr.–May 2026); Tourism Economics, Anaheim and Garden Grove Travel Forecast (Sept. 2026); Tourism Economics, Economic Impact of Visitors 2025 (pub. Apr.–May 2026); Visit California, The Economic Impact of Travel in California, 2025p (Dean Runyan Associates, Apr. 6, 2026); U.S. Travel Association and Tourism Economics, Travel Forecast, Spring 2026 (real 2025 dollars). Files in the app library: Economic Impact of Visitors to Anaheim, 2025; Economic Impact of Visitors to Orange County, 2025; Anaheim and Garden Grove Travel Forecast, Sept. 2026 (Q2 2026 results).</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did the latest quarterly Tourism Economics report (Q2 2026) show?</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Visitor spending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Anaheim welcomed </a:t>
            </a:r>
            <a:pPr indent="0" marL="0">
              <a:buNone/>
            </a:pPr>
            <a:r>
              <a:rPr lang="en-US" sz="1200" b="1" dirty="0">
                <a:solidFill>
                  <a:srgbClr val="125C60"/>
                </a:solidFill>
                <a:latin typeface="Proxima Nova" pitchFamily="34" charset="0"/>
                <a:ea typeface="Proxima Nova" pitchFamily="34" charset="-122"/>
                <a:cs typeface="Proxima Nova" pitchFamily="34" charset="-120"/>
              </a:rPr>
              <a:t>6.74M</a:t>
            </a:r>
            <a:pPr indent="0" marL="0">
              <a:buNone/>
            </a:pPr>
            <a:r>
              <a:rPr lang="en-US" sz="1200" dirty="0">
                <a:solidFill>
                  <a:srgbClr val="231F20"/>
                </a:solidFill>
                <a:latin typeface="Proxima Nova" pitchFamily="34" charset="0"/>
                <a:ea typeface="Proxima Nova" pitchFamily="34" charset="-122"/>
                <a:cs typeface="Proxima Nova" pitchFamily="34" charset="-120"/>
              </a:rPr>
              <a:t> visitors in Q2 2026 (</a:t>
            </a:r>
            <a:pPr indent="0" marL="0">
              <a:buNone/>
            </a:pPr>
            <a:r>
              <a:rPr lang="en-US" sz="1200" b="1" dirty="0">
                <a:solidFill>
                  <a:srgbClr val="125C60"/>
                </a:solidFill>
                <a:latin typeface="Proxima Nova" pitchFamily="34" charset="0"/>
                <a:ea typeface="Proxima Nova" pitchFamily="34" charset="-122"/>
                <a:cs typeface="Proxima Nova" pitchFamily="34" charset="-120"/>
              </a:rPr>
              <a:t>+2.8%</a:t>
            </a:r>
            <a:pPr indent="0" marL="0">
              <a:buNone/>
            </a:pPr>
            <a:r>
              <a:rPr lang="en-US" sz="1200" dirty="0">
                <a:solidFill>
                  <a:srgbClr val="231F20"/>
                </a:solidFill>
                <a:latin typeface="Proxima Nova" pitchFamily="34" charset="0"/>
                <a:ea typeface="Proxima Nova" pitchFamily="34" charset="-122"/>
                <a:cs typeface="Proxima Nova" pitchFamily="34" charset="-120"/>
              </a:rPr>
              <a:t>), who spent </a:t>
            </a:r>
            <a:pPr indent="0" marL="0">
              <a:buNone/>
            </a:pPr>
            <a:r>
              <a:rPr lang="en-US" sz="1200" b="1" dirty="0">
                <a:solidFill>
                  <a:srgbClr val="125C60"/>
                </a:solidFill>
                <a:latin typeface="Proxima Nova" pitchFamily="34" charset="0"/>
                <a:ea typeface="Proxima Nova" pitchFamily="34" charset="-122"/>
                <a:cs typeface="Proxima Nova" pitchFamily="34" charset="-120"/>
              </a:rPr>
              <a:t>$1.76B</a:t>
            </a:r>
            <a:pPr indent="0" marL="0">
              <a:buNone/>
            </a:pPr>
            <a:r>
              <a:rPr lang="en-US" sz="1200" dirty="0">
                <a:solidFill>
                  <a:srgbClr val="231F20"/>
                </a:solidFill>
                <a:latin typeface="Proxima Nova" pitchFamily="34" charset="0"/>
                <a:ea typeface="Proxima Nova" pitchFamily="34" charset="-122"/>
                <a:cs typeface="Proxima Nova" pitchFamily="34" charset="-120"/>
              </a:rPr>
              <a:t> (</a:t>
            </a:r>
            <a:pPr indent="0" marL="0">
              <a:buNone/>
            </a:pPr>
            <a:r>
              <a:rPr lang="en-US" sz="1200" b="1" dirty="0">
                <a:solidFill>
                  <a:srgbClr val="125C60"/>
                </a:solidFill>
                <a:latin typeface="Proxima Nova" pitchFamily="34" charset="0"/>
                <a:ea typeface="Proxima Nova" pitchFamily="34" charset="-122"/>
                <a:cs typeface="Proxima Nova" pitchFamily="34" charset="-120"/>
              </a:rPr>
              <a:t>+7.8%</a:t>
            </a:r>
            <a:pPr indent="0" marL="0">
              <a:buNone/>
            </a:pPr>
            <a:r>
              <a:rPr lang="en-US" sz="1200" dirty="0">
                <a:solidFill>
                  <a:srgbClr val="231F20"/>
                </a:solidFill>
                <a:latin typeface="Proxima Nova" pitchFamily="34" charset="0"/>
                <a:ea typeface="Proxima Nova" pitchFamily="34" charset="-122"/>
                <a:cs typeface="Proxima Nova" pitchFamily="34" charset="-120"/>
              </a:rPr>
              <a:t>). Overnight visits rose </a:t>
            </a:r>
            <a:pPr indent="0" marL="0">
              <a:buNone/>
            </a:pPr>
            <a:r>
              <a:rPr lang="en-US" sz="1200" b="1" dirty="0">
                <a:solidFill>
                  <a:srgbClr val="125C60"/>
                </a:solidFill>
                <a:latin typeface="Proxima Nova" pitchFamily="34" charset="0"/>
                <a:ea typeface="Proxima Nova" pitchFamily="34" charset="-122"/>
                <a:cs typeface="Proxima Nova" pitchFamily="34" charset="-120"/>
              </a:rPr>
              <a:t>4.5%</a:t>
            </a:r>
            <a:pPr indent="0" marL="0">
              <a:buNone/>
            </a:pPr>
            <a:r>
              <a:rPr lang="en-US" sz="1200" dirty="0">
                <a:solidFill>
                  <a:srgbClr val="231F20"/>
                </a:solidFill>
                <a:latin typeface="Proxima Nova" pitchFamily="34" charset="0"/>
                <a:ea typeface="Proxima Nova" pitchFamily="34" charset="-122"/>
                <a:cs typeface="Proxima Nova" pitchFamily="34" charset="-120"/>
              </a:rPr>
              <a:t> and day visits </a:t>
            </a:r>
            <a:pPr indent="0" marL="0">
              <a:buNone/>
            </a:pPr>
            <a:r>
              <a:rPr lang="en-US" sz="1200" b="1" dirty="0">
                <a:solidFill>
                  <a:srgbClr val="125C60"/>
                </a:solidFill>
                <a:latin typeface="Proxima Nova" pitchFamily="34" charset="0"/>
                <a:ea typeface="Proxima Nova" pitchFamily="34" charset="-122"/>
                <a:cs typeface="Proxima Nova" pitchFamily="34" charset="-120"/>
              </a:rPr>
              <a:t>2.1%</a:t>
            </a:r>
            <a:pPr indent="0" marL="0">
              <a:buNone/>
            </a:pPr>
            <a:r>
              <a:rPr lang="en-US" sz="1200" dirty="0">
                <a:solidFill>
                  <a:srgbClr val="231F20"/>
                </a:solidFill>
                <a:latin typeface="Proxima Nova" pitchFamily="34" charset="0"/>
                <a:ea typeface="Proxima Nova" pitchFamily="34" charset="-122"/>
                <a:cs typeface="Proxima Nova" pitchFamily="34" charset="-120"/>
              </a:rPr>
              <a:t>; hotel rates were nearly </a:t>
            </a:r>
            <a:pPr indent="0" marL="0">
              <a:buNone/>
            </a:pPr>
            <a:r>
              <a:rPr lang="en-US" sz="1200" b="1" dirty="0">
                <a:solidFill>
                  <a:srgbClr val="125C60"/>
                </a:solidFill>
                <a:latin typeface="Proxima Nova" pitchFamily="34" charset="0"/>
                <a:ea typeface="Proxima Nova" pitchFamily="34" charset="-122"/>
                <a:cs typeface="Proxima Nova" pitchFamily="34" charset="-120"/>
              </a:rPr>
              <a:t>9%</a:t>
            </a:r>
            <a:pPr indent="0" marL="0">
              <a:buNone/>
            </a:pPr>
            <a:r>
              <a:rPr lang="en-US" sz="1200" dirty="0">
                <a:solidFill>
                  <a:srgbClr val="231F20"/>
                </a:solidFill>
                <a:latin typeface="Proxima Nova" pitchFamily="34" charset="0"/>
                <a:ea typeface="Proxima Nova" pitchFamily="34" charset="-122"/>
                <a:cs typeface="Proxima Nova" pitchFamily="34" charset="-120"/>
              </a:rPr>
              <a:t> higher. Garden Grove: </a:t>
            </a:r>
            <a:pPr indent="0" marL="0">
              <a:buNone/>
            </a:pPr>
            <a:r>
              <a:rPr lang="en-US" sz="1200" b="1" dirty="0">
                <a:solidFill>
                  <a:srgbClr val="125C60"/>
                </a:solidFill>
                <a:latin typeface="Proxima Nova" pitchFamily="34" charset="0"/>
                <a:ea typeface="Proxima Nova" pitchFamily="34" charset="-122"/>
                <a:cs typeface="Proxima Nova" pitchFamily="34" charset="-120"/>
              </a:rPr>
              <a:t>831,000 visitors</a:t>
            </a:r>
            <a:pPr indent="0" marL="0">
              <a:buNone/>
            </a:pPr>
            <a:r>
              <a:rPr lang="en-US" sz="1200" dirty="0">
                <a:solidFill>
                  <a:srgbClr val="231F20"/>
                </a:solidFill>
                <a:latin typeface="Proxima Nova" pitchFamily="34" charset="0"/>
                <a:ea typeface="Proxima Nova" pitchFamily="34" charset="-122"/>
                <a:cs typeface="Proxima Nova" pitchFamily="34" charset="-120"/>
              </a:rPr>
              <a:t> (</a:t>
            </a:r>
            <a:pPr indent="0" marL="0">
              <a:buNone/>
            </a:pPr>
            <a:r>
              <a:rPr lang="en-US" sz="1200" b="1" dirty="0">
                <a:solidFill>
                  <a:srgbClr val="125C60"/>
                </a:solidFill>
                <a:latin typeface="Proxima Nova" pitchFamily="34" charset="0"/>
                <a:ea typeface="Proxima Nova" pitchFamily="34" charset="-122"/>
                <a:cs typeface="Proxima Nova" pitchFamily="34" charset="-120"/>
              </a:rPr>
              <a:t>+3.4%</a:t>
            </a:r>
            <a:pPr indent="0" marL="0">
              <a:buNone/>
            </a:pPr>
            <a:r>
              <a:rPr lang="en-US" sz="1200" dirty="0">
                <a:solidFill>
                  <a:srgbClr val="231F20"/>
                </a:solidFill>
                <a:latin typeface="Proxima Nova" pitchFamily="34" charset="0"/>
                <a:ea typeface="Proxima Nova" pitchFamily="34" charset="-122"/>
                <a:cs typeface="Proxima Nova" pitchFamily="34" charset="-120"/>
              </a:rPr>
              <a:t>), </a:t>
            </a:r>
            <a:pPr indent="0" marL="0">
              <a:buNone/>
            </a:pPr>
            <a:r>
              <a:rPr lang="en-US" sz="1200" b="1" dirty="0">
                <a:solidFill>
                  <a:srgbClr val="125C60"/>
                </a:solidFill>
                <a:latin typeface="Proxima Nova" pitchFamily="34" charset="0"/>
                <a:ea typeface="Proxima Nova" pitchFamily="34" charset="-122"/>
                <a:cs typeface="Proxima Nova" pitchFamily="34" charset="-120"/>
              </a:rPr>
              <a:t>$200.4M</a:t>
            </a:r>
            <a:pPr indent="0" marL="0">
              <a:buNone/>
            </a:pPr>
            <a:r>
              <a:rPr lang="en-US" sz="1200" dirty="0">
                <a:solidFill>
                  <a:srgbClr val="231F20"/>
                </a:solidFill>
                <a:latin typeface="Proxima Nova" pitchFamily="34" charset="0"/>
                <a:ea typeface="Proxima Nova" pitchFamily="34" charset="-122"/>
                <a:cs typeface="Proxima Nova" pitchFamily="34" charset="-120"/>
              </a:rPr>
              <a:t> (</a:t>
            </a:r>
            <a:pPr indent="0" marL="0">
              <a:buNone/>
            </a:pPr>
            <a:r>
              <a:rPr lang="en-US" sz="1200" b="1" dirty="0">
                <a:solidFill>
                  <a:srgbClr val="125C60"/>
                </a:solidFill>
                <a:latin typeface="Proxima Nova" pitchFamily="34" charset="0"/>
                <a:ea typeface="Proxima Nova" pitchFamily="34" charset="-122"/>
                <a:cs typeface="Proxima Nova" pitchFamily="34" charset="-120"/>
              </a:rPr>
              <a:t>+7.1%</a:t>
            </a:r>
            <a:pPr indent="0" marL="0">
              <a:buNone/>
            </a:pPr>
            <a:r>
              <a:rPr lang="en-US" sz="1200" dirty="0">
                <a:solidFill>
                  <a:srgbClr val="231F20"/>
                </a:solidFill>
                <a:latin typeface="Proxima Nova" pitchFamily="34" charset="0"/>
                <a:ea typeface="Proxima Nova" pitchFamily="34" charset="-122"/>
                <a:cs typeface="Proxima Nova" pitchFamily="34" charset="-120"/>
              </a:rPr>
              <a:t>).</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Q2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6.74M visitors · $1.76B</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+2.8% visitors · +7.8% spending; first half 13.1M visitors, $3.5B</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Garden Grove, Q2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831,000 visitors · $200.4M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+3.4% visitors · +7.1% spending</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and Garden Grove, international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2.16M visitors in 2026 (forecast)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+1.0%; spending $2.79B (+1.8%); Mexico +6.9%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 outlook</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Steady, with risks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Tourism Economics expects a prolonged Federal Reserve pause; risks include an equity correction and layoffs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Anaheim visitor spending by quarter ($B)</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Quarterly visits and spending are Tourism Economics measurements in its Travel Forecast. Change is vs. the same quarter a year earlier.</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The quarterly results are in the Travel Forecast (Sept. 2026). The annual Economic Impact reports cover calendar 2025; both are in the library.</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Anaheim and Garden Grove Travel Forecast (Sept. 2026). Files in the app library: Anaheim and Garden Grove Travel Forecast, Sept. 2026 (Q2 2026 results); Anaheim and Garden Grove Travel Forecast, June 2026 (Q1 2026 results).</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Where do visitor dollars go?</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Visitor spending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In Anaheim, recreation takes the largest share (</a:t>
            </a:r>
            <a:pPr indent="0" marL="0">
              <a:buNone/>
            </a:pPr>
            <a:r>
              <a:rPr lang="en-US" sz="1200" b="1" dirty="0">
                <a:solidFill>
                  <a:srgbClr val="125C60"/>
                </a:solidFill>
                <a:latin typeface="Proxima Nova" pitchFamily="34" charset="0"/>
                <a:ea typeface="Proxima Nova" pitchFamily="34" charset="-122"/>
                <a:cs typeface="Proxima Nova" pitchFamily="34" charset="-120"/>
              </a:rPr>
              <a:t>34.0%</a:t>
            </a:r>
            <a:pPr indent="0" marL="0">
              <a:buNone/>
            </a:pPr>
            <a:r>
              <a:rPr lang="en-US" sz="1200" dirty="0">
                <a:solidFill>
                  <a:srgbClr val="231F20"/>
                </a:solidFill>
                <a:latin typeface="Proxima Nova" pitchFamily="34" charset="0"/>
                <a:ea typeface="Proxima Nova" pitchFamily="34" charset="-122"/>
                <a:cs typeface="Proxima Nova" pitchFamily="34" charset="-120"/>
              </a:rPr>
              <a:t>), then lodging (</a:t>
            </a:r>
            <a:pPr indent="0" marL="0">
              <a:buNone/>
            </a:pPr>
            <a:r>
              <a:rPr lang="en-US" sz="1200" b="1" dirty="0">
                <a:solidFill>
                  <a:srgbClr val="125C60"/>
                </a:solidFill>
                <a:latin typeface="Proxima Nova" pitchFamily="34" charset="0"/>
                <a:ea typeface="Proxima Nova" pitchFamily="34" charset="-122"/>
                <a:cs typeface="Proxima Nova" pitchFamily="34" charset="-120"/>
              </a:rPr>
              <a:t>25.2%</a:t>
            </a:r>
            <a:pPr indent="0" marL="0">
              <a:buNone/>
            </a:pPr>
            <a:r>
              <a:rPr lang="en-US" sz="1200" dirty="0">
                <a:solidFill>
                  <a:srgbClr val="231F20"/>
                </a:solidFill>
                <a:latin typeface="Proxima Nova" pitchFamily="34" charset="0"/>
                <a:ea typeface="Proxima Nova" pitchFamily="34" charset="-122"/>
                <a:cs typeface="Proxima Nova" pitchFamily="34" charset="-120"/>
              </a:rPr>
              <a:t>), retail (</a:t>
            </a:r>
            <a:pPr indent="0" marL="0">
              <a:buNone/>
            </a:pPr>
            <a:r>
              <a:rPr lang="en-US" sz="1200" b="1" dirty="0">
                <a:solidFill>
                  <a:srgbClr val="125C60"/>
                </a:solidFill>
                <a:latin typeface="Proxima Nova" pitchFamily="34" charset="0"/>
                <a:ea typeface="Proxima Nova" pitchFamily="34" charset="-122"/>
                <a:cs typeface="Proxima Nova" pitchFamily="34" charset="-120"/>
              </a:rPr>
              <a:t>21.9%</a:t>
            </a:r>
            <a:pPr indent="0" marL="0">
              <a:buNone/>
            </a:pPr>
            <a:r>
              <a:rPr lang="en-US" sz="1200" dirty="0">
                <a:solidFill>
                  <a:srgbClr val="231F20"/>
                </a:solidFill>
                <a:latin typeface="Proxima Nova" pitchFamily="34" charset="0"/>
                <a:ea typeface="Proxima Nova" pitchFamily="34" charset="-122"/>
                <a:cs typeface="Proxima Nova" pitchFamily="34" charset="-120"/>
              </a:rPr>
              <a:t>), food and beverage (</a:t>
            </a:r>
            <a:pPr indent="0" marL="0">
              <a:buNone/>
            </a:pPr>
            <a:r>
              <a:rPr lang="en-US" sz="1200" b="1" dirty="0">
                <a:solidFill>
                  <a:srgbClr val="125C60"/>
                </a:solidFill>
                <a:latin typeface="Proxima Nova" pitchFamily="34" charset="0"/>
                <a:ea typeface="Proxima Nova" pitchFamily="34" charset="-122"/>
                <a:cs typeface="Proxima Nova" pitchFamily="34" charset="-120"/>
              </a:rPr>
              <a:t>15.6%</a:t>
            </a:r>
            <a:pPr indent="0" marL="0">
              <a:buNone/>
            </a:pPr>
            <a:r>
              <a:rPr lang="en-US" sz="1200" dirty="0">
                <a:solidFill>
                  <a:srgbClr val="231F20"/>
                </a:solidFill>
                <a:latin typeface="Proxima Nova" pitchFamily="34" charset="0"/>
                <a:ea typeface="Proxima Nova" pitchFamily="34" charset="-122"/>
                <a:cs typeface="Proxima Nova" pitchFamily="34" charset="-120"/>
              </a:rPr>
              <a:t>) and transportation (</a:t>
            </a:r>
            <a:pPr indent="0" marL="0">
              <a:buNone/>
            </a:pPr>
            <a:r>
              <a:rPr lang="en-US" sz="1200" b="1" dirty="0">
                <a:solidFill>
                  <a:srgbClr val="125C60"/>
                </a:solidFill>
                <a:latin typeface="Proxima Nova" pitchFamily="34" charset="0"/>
                <a:ea typeface="Proxima Nova" pitchFamily="34" charset="-122"/>
                <a:cs typeface="Proxima Nova" pitchFamily="34" charset="-120"/>
              </a:rPr>
              <a:t>3.3%</a:t>
            </a:r>
            <a:pPr indent="0" marL="0">
              <a:buNone/>
            </a:pPr>
            <a:r>
              <a:rPr lang="en-US" sz="1200" dirty="0">
                <a:solidFill>
                  <a:srgbClr val="231F20"/>
                </a:solidFill>
                <a:latin typeface="Proxima Nova" pitchFamily="34" charset="0"/>
                <a:ea typeface="Proxima Nova" pitchFamily="34" charset="-122"/>
                <a:cs typeface="Proxima Nova" pitchFamily="34" charset="-120"/>
              </a:rPr>
              <a:t>). Countywide, food and beverage leads (</a:t>
            </a:r>
            <a:pPr indent="0" marL="0">
              <a:buNone/>
            </a:pPr>
            <a:r>
              <a:rPr lang="en-US" sz="1200" b="1" dirty="0">
                <a:solidFill>
                  <a:srgbClr val="125C60"/>
                </a:solidFill>
                <a:latin typeface="Proxima Nova" pitchFamily="34" charset="0"/>
                <a:ea typeface="Proxima Nova" pitchFamily="34" charset="-122"/>
                <a:cs typeface="Proxima Nova" pitchFamily="34" charset="-120"/>
              </a:rPr>
              <a:t>27.6%</a:t>
            </a:r>
            <a:pPr indent="0" marL="0">
              <a:buNone/>
            </a:pPr>
            <a:r>
              <a:rPr lang="en-US" sz="1200" dirty="0">
                <a:solidFill>
                  <a:srgbClr val="231F20"/>
                </a:solidFill>
                <a:latin typeface="Proxima Nova" pitchFamily="34" charset="0"/>
                <a:ea typeface="Proxima Nova" pitchFamily="34" charset="-122"/>
                <a:cs typeface="Proxima Nova" pitchFamily="34" charset="-120"/>
              </a:rPr>
              <a:t>). Statewide, food service and lodging lead.</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Recreation 34.0%</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Lodging 25.2% · retail 21.9% · F&amp;B 15.6% · transportation 3.3% ($6.83B,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F&amp;B 27.6%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Lodging 25.9% · recreation 22.0% · retail 20.5% · transportation 3.9% ($17.99B,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California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Food service 27.3%</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Accommodations 25.0% · local transportation and gas 13.3% · arts and recreation 13.1% · retail 12.4% · visitor air 4.6% · food stores 4.2% ($140.8B,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Share of visitor spending by category, 2025</a:t>
            </a:r>
            <a:endParaRPr lang="en-US" sz="1200" dirty="0"/>
          </a:p>
        </p:txBody>
      </p:sp>
      <p:graphicFrame>
        <p:nvGraphicFramePr>
          <p:cNvPr id="8" name="chart" descr=""/>
          <p:cNvGraphicFramePr/>
          <p:nvPr/>
        </p:nvGraphicFramePr>
        <p:xfrm>
          <a:off x="7406640" y="1673352"/>
          <a:ext cx="4236415" cy="2167128"/>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Share = category spending ÷ total visitor spending. California food and beverage combines food service (</a:t>
            </a:r>
            <a:pPr indent="0" marL="0">
              <a:buNone/>
            </a:pPr>
            <a:r>
              <a:rPr lang="en-US" sz="900" b="1" dirty="0">
                <a:solidFill>
                  <a:srgbClr val="125C60"/>
                </a:solidFill>
                <a:latin typeface="Proxima Nova" pitchFamily="34" charset="0"/>
                <a:ea typeface="Proxima Nova" pitchFamily="34" charset="-122"/>
                <a:cs typeface="Proxima Nova" pitchFamily="34" charset="-120"/>
              </a:rPr>
              <a:t>$38.5B</a:t>
            </a:r>
            <a:pPr indent="0" marL="0">
              <a:buNone/>
            </a:pPr>
            <a:r>
              <a:rPr lang="en-US" sz="900" dirty="0">
                <a:solidFill>
                  <a:srgbClr val="231F20"/>
                </a:solidFill>
                <a:latin typeface="Proxima Nova" pitchFamily="34" charset="0"/>
                <a:ea typeface="Proxima Nova" pitchFamily="34" charset="-122"/>
                <a:cs typeface="Proxima Nova" pitchFamily="34" charset="-120"/>
              </a:rPr>
              <a:t>) and food stores (</a:t>
            </a:r>
            <a:pPr indent="0" marL="0">
              <a:buNone/>
            </a:pPr>
            <a:r>
              <a:rPr lang="en-US" sz="900" b="1" dirty="0">
                <a:solidFill>
                  <a:srgbClr val="125C60"/>
                </a:solidFill>
                <a:latin typeface="Proxima Nova" pitchFamily="34" charset="0"/>
                <a:ea typeface="Proxima Nova" pitchFamily="34" charset="-122"/>
                <a:cs typeface="Proxima Nova" pitchFamily="34" charset="-120"/>
              </a:rPr>
              <a:t>$5.9B</a:t>
            </a:r>
            <a:pPr indent="0" marL="0">
              <a:buNone/>
            </a:pPr>
            <a:r>
              <a:rPr lang="en-US" sz="900" dirty="0">
                <a:solidFill>
                  <a:srgbClr val="231F20"/>
                </a:solidFill>
                <a:latin typeface="Proxima Nova" pitchFamily="34" charset="0"/>
                <a:ea typeface="Proxima Nova" pitchFamily="34" charset="-122"/>
                <a:cs typeface="Proxima Nova" pitchFamily="34" charset="-120"/>
              </a:rPr>
              <a:t>); transportation combines local transportation and gas (</a:t>
            </a:r>
            <a:pPr indent="0" marL="0">
              <a:buNone/>
            </a:pPr>
            <a:r>
              <a:rPr lang="en-US" sz="900" b="1" dirty="0">
                <a:solidFill>
                  <a:srgbClr val="125C60"/>
                </a:solidFill>
                <a:latin typeface="Proxima Nova" pitchFamily="34" charset="0"/>
                <a:ea typeface="Proxima Nova" pitchFamily="34" charset="-122"/>
                <a:cs typeface="Proxima Nova" pitchFamily="34" charset="-120"/>
              </a:rPr>
              <a:t>$18.7B</a:t>
            </a:r>
            <a:pPr indent="0" marL="0">
              <a:buNone/>
            </a:pPr>
            <a:r>
              <a:rPr lang="en-US" sz="900" dirty="0">
                <a:solidFill>
                  <a:srgbClr val="231F20"/>
                </a:solidFill>
                <a:latin typeface="Proxima Nova" pitchFamily="34" charset="0"/>
                <a:ea typeface="Proxima Nova" pitchFamily="34" charset="-122"/>
                <a:cs typeface="Proxima Nova" pitchFamily="34" charset="-120"/>
              </a:rPr>
              <a:t>) and visitor air (</a:t>
            </a:r>
            <a:pPr indent="0" marL="0">
              <a:buNone/>
            </a:pPr>
            <a:r>
              <a:rPr lang="en-US" sz="900" b="1" dirty="0">
                <a:solidFill>
                  <a:srgbClr val="125C60"/>
                </a:solidFill>
                <a:latin typeface="Proxima Nova" pitchFamily="34" charset="0"/>
                <a:ea typeface="Proxima Nova" pitchFamily="34" charset="-122"/>
                <a:cs typeface="Proxima Nova" pitchFamily="34" charset="-120"/>
              </a:rPr>
              <a:t>$6.5B</a:t>
            </a:r>
            <a:pPr indent="0" marL="0">
              <a:buNone/>
            </a:pPr>
            <a:r>
              <a:rPr lang="en-US" sz="900" dirty="0">
                <a:solidFill>
                  <a:srgbClr val="231F20"/>
                </a:solidFill>
                <a:latin typeface="Proxima Nova" pitchFamily="34" charset="0"/>
                <a:ea typeface="Proxima Nova" pitchFamily="34" charset="-122"/>
                <a:cs typeface="Proxima Nova" pitchFamily="34" charset="-120"/>
              </a:rPr>
              <a:t>).</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Category definitions differ by source: Tourism Economics' city and county figures count spending inside the area and include little air travel; Visit California includes visitor air fares.</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2025 (pub. Apr.–May 2026); Visit California, The Economic Impact of Travel in California, 2025p (Dean Runyan Associates, Apr. 6, 2026). Files in the app library: Economic Impact of Visitors to Anaheim, 2025; Economic Impact of Visitors to Orange County, 2025.</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many jobs does the visitor economy support?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Jobs and economy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Visitors supported </a:t>
            </a:r>
            <a:pPr indent="0" marL="0">
              <a:buNone/>
            </a:pPr>
            <a:r>
              <a:rPr lang="en-US" sz="1200" b="1" dirty="0">
                <a:solidFill>
                  <a:srgbClr val="125C60"/>
                </a:solidFill>
                <a:latin typeface="Proxima Nova" pitchFamily="34" charset="0"/>
                <a:ea typeface="Proxima Nova" pitchFamily="34" charset="-122"/>
                <a:cs typeface="Proxima Nova" pitchFamily="34" charset="-120"/>
              </a:rPr>
              <a:t>67,817</a:t>
            </a:r>
            <a:pPr indent="0" marL="0">
              <a:buNone/>
            </a:pPr>
            <a:r>
              <a:rPr lang="en-US" sz="1200" dirty="0">
                <a:solidFill>
                  <a:srgbClr val="231F20"/>
                </a:solidFill>
                <a:latin typeface="Proxima Nova" pitchFamily="34" charset="0"/>
                <a:ea typeface="Proxima Nova" pitchFamily="34" charset="-122"/>
                <a:cs typeface="Proxima Nova" pitchFamily="34" charset="-120"/>
              </a:rPr>
              <a:t> Anaheim jobs in 2025, about one in three. Countywide the total was </a:t>
            </a:r>
            <a:pPr indent="0" marL="0">
              <a:buNone/>
            </a:pPr>
            <a:r>
              <a:rPr lang="en-US" sz="1200" b="1" dirty="0">
                <a:solidFill>
                  <a:srgbClr val="125C60"/>
                </a:solidFill>
                <a:latin typeface="Proxima Nova" pitchFamily="34" charset="0"/>
                <a:ea typeface="Proxima Nova" pitchFamily="34" charset="-122"/>
                <a:cs typeface="Proxima Nova" pitchFamily="34" charset="-120"/>
              </a:rPr>
              <a:t>178,164</a:t>
            </a:r>
            <a:pPr indent="0" marL="0">
              <a:buNone/>
            </a:pPr>
            <a:r>
              <a:rPr lang="en-US" sz="1200" dirty="0">
                <a:solidFill>
                  <a:srgbClr val="231F20"/>
                </a:solidFill>
                <a:latin typeface="Proxima Nova" pitchFamily="34" charset="0"/>
                <a:ea typeface="Proxima Nova" pitchFamily="34" charset="-122"/>
                <a:cs typeface="Proxima Nova" pitchFamily="34" charset="-120"/>
              </a:rPr>
              <a:t> (one in 14), statewide </a:t>
            </a:r>
            <a:pPr indent="0" marL="0">
              <a:buNone/>
            </a:pPr>
            <a:r>
              <a:rPr lang="en-US" sz="1200" b="1" dirty="0">
                <a:solidFill>
                  <a:srgbClr val="125C60"/>
                </a:solidFill>
                <a:latin typeface="Proxima Nova" pitchFamily="34" charset="0"/>
                <a:ea typeface="Proxima Nova" pitchFamily="34" charset="-122"/>
                <a:cs typeface="Proxima Nova" pitchFamily="34" charset="-120"/>
              </a:rPr>
              <a:t>1.17 million</a:t>
            </a:r>
            <a:pPr indent="0" marL="0">
              <a:buNone/>
            </a:pPr>
            <a:r>
              <a:rPr lang="en-US" sz="1200" dirty="0">
                <a:solidFill>
                  <a:srgbClr val="231F20"/>
                </a:solidFill>
                <a:latin typeface="Proxima Nova" pitchFamily="34" charset="0"/>
                <a:ea typeface="Proxima Nova" pitchFamily="34" charset="-122"/>
                <a:cs typeface="Proxima Nova" pitchFamily="34" charset="-120"/>
              </a:rPr>
              <a:t> direct travel jobs, and nationally more than </a:t>
            </a:r>
            <a:pPr indent="0" marL="0">
              <a:buNone/>
            </a:pPr>
            <a:r>
              <a:rPr lang="en-US" sz="1200" b="1" dirty="0">
                <a:solidFill>
                  <a:srgbClr val="125C60"/>
                </a:solidFill>
                <a:latin typeface="Proxima Nova" pitchFamily="34" charset="0"/>
                <a:ea typeface="Proxima Nova" pitchFamily="34" charset="-122"/>
                <a:cs typeface="Proxima Nova" pitchFamily="34" charset="-120"/>
              </a:rPr>
              <a:t>15 million</a:t>
            </a:r>
            <a:pPr indent="0" marL="0">
              <a:buNone/>
            </a:pPr>
            <a:r>
              <a:rPr lang="en-US" sz="1200" dirty="0">
                <a:solidFill>
                  <a:srgbClr val="231F20"/>
                </a:solidFill>
                <a:latin typeface="Proxima Nova" pitchFamily="34" charset="0"/>
                <a:ea typeface="Proxima Nova" pitchFamily="34" charset="-122"/>
                <a:cs typeface="Proxima Nova" pitchFamily="34" charset="-120"/>
              </a:rPr>
              <a:t>.</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67,817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32.8% of all jobs; 47,925 direct + 19,892 indirect and induced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Garden Grove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6,694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11.8% of all jobs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178,164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7.4% of all jobs; 125,511 direct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California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1,167,470</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Direct travel-generated jobs only (2025p)</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15M+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Jobs supported by travel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Share of all jobs supported by visitors, 2025</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Tourism Economics' totals add direct jobs (in businesses visitors buy from) to indirect (suppliers) and induced (workers' spending) jobs. Visit California's </a:t>
            </a:r>
            <a:pPr indent="0" marL="0">
              <a:buNone/>
            </a:pPr>
            <a:r>
              <a:rPr lang="en-US" sz="900" b="1" dirty="0">
                <a:solidFill>
                  <a:srgbClr val="125C60"/>
                </a:solidFill>
                <a:latin typeface="Proxima Nova" pitchFamily="34" charset="0"/>
                <a:ea typeface="Proxima Nova" pitchFamily="34" charset="-122"/>
                <a:cs typeface="Proxima Nova" pitchFamily="34" charset="-120"/>
              </a:rPr>
              <a:t>1.17 million</a:t>
            </a:r>
            <a:pPr indent="0" marL="0">
              <a:buNone/>
            </a:pPr>
            <a:r>
              <a:rPr lang="en-US" sz="900" dirty="0">
                <a:solidFill>
                  <a:srgbClr val="231F20"/>
                </a:solidFill>
                <a:latin typeface="Proxima Nova" pitchFamily="34" charset="0"/>
                <a:ea typeface="Proxima Nova" pitchFamily="34" charset="-122"/>
                <a:cs typeface="Proxima Nova" pitchFamily="34" charset="-120"/>
              </a:rPr>
              <a:t> counts direct jobs only.</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Jobs are full- and part-time, including proprietors, so they are not full-time equivalents.</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2025 (pub. Apr.–May 2026); Visit California, The Economic Impact of Travel in California, 2025p (Dean Runyan Associates, Apr. 6, 2026); U.S. Travel Association, Economic Impact of the U.S. Travel Industry (2025 data; pub. 2026). Files in the app library: Economic Impact of Visitors to Anaheim, 2025; Economic Impact of Visitors to Garden Grove, 2025; Economic Impact of Visitors to Orange County, 2025; Economic impact one-pagers, 2025: Orange County, Anaheim and Garden Grove.</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share of visitor-supported jobs are in food and beverage?</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Jobs and economy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16.8%</a:t>
            </a:r>
            <a:pPr indent="0" marL="0">
              <a:buNone/>
            </a:pPr>
            <a:r>
              <a:rPr lang="en-US" sz="1200" dirty="0">
                <a:solidFill>
                  <a:srgbClr val="231F20"/>
                </a:solidFill>
                <a:latin typeface="Proxima Nova" pitchFamily="34" charset="0"/>
                <a:ea typeface="Proxima Nova" pitchFamily="34" charset="-122"/>
                <a:cs typeface="Proxima Nova" pitchFamily="34" charset="-120"/>
              </a:rPr>
              <a:t> in Anaheim (</a:t>
            </a:r>
            <a:pPr indent="0" marL="0">
              <a:buNone/>
            </a:pPr>
            <a:r>
              <a:rPr lang="en-US" sz="1200" b="1" dirty="0">
                <a:solidFill>
                  <a:srgbClr val="125C60"/>
                </a:solidFill>
                <a:latin typeface="Proxima Nova" pitchFamily="34" charset="0"/>
                <a:ea typeface="Proxima Nova" pitchFamily="34" charset="-122"/>
                <a:cs typeface="Proxima Nova" pitchFamily="34" charset="-120"/>
              </a:rPr>
              <a:t>11,366</a:t>
            </a:r>
            <a:pPr indent="0" marL="0">
              <a:buNone/>
            </a:pPr>
            <a:r>
              <a:rPr lang="en-US" sz="1200" dirty="0">
                <a:solidFill>
                  <a:srgbClr val="231F20"/>
                </a:solidFill>
                <a:latin typeface="Proxima Nova" pitchFamily="34" charset="0"/>
                <a:ea typeface="Proxima Nova" pitchFamily="34" charset="-122"/>
                <a:cs typeface="Proxima Nova" pitchFamily="34" charset="-120"/>
              </a:rPr>
              <a:t> of </a:t>
            </a:r>
            <a:pPr indent="0" marL="0">
              <a:buNone/>
            </a:pPr>
            <a:r>
              <a:rPr lang="en-US" sz="1200" b="1" dirty="0">
                <a:solidFill>
                  <a:srgbClr val="125C60"/>
                </a:solidFill>
                <a:latin typeface="Proxima Nova" pitchFamily="34" charset="0"/>
                <a:ea typeface="Proxima Nova" pitchFamily="34" charset="-122"/>
                <a:cs typeface="Proxima Nova" pitchFamily="34" charset="-120"/>
              </a:rPr>
              <a:t>67,817</a:t>
            </a:r>
            <a:pPr indent="0" marL="0">
              <a:buNone/>
            </a:pPr>
            <a:r>
              <a:rPr lang="en-US" sz="1200" dirty="0">
                <a:solidFill>
                  <a:srgbClr val="231F20"/>
                </a:solidFill>
                <a:latin typeface="Proxima Nova" pitchFamily="34" charset="0"/>
                <a:ea typeface="Proxima Nova" pitchFamily="34" charset="-122"/>
                <a:cs typeface="Proxima Nova" pitchFamily="34" charset="-120"/>
              </a:rPr>
              <a:t>), </a:t>
            </a:r>
            <a:pPr indent="0" marL="0">
              <a:buNone/>
            </a:pPr>
            <a:r>
              <a:rPr lang="en-US" sz="1200" b="1" dirty="0">
                <a:solidFill>
                  <a:srgbClr val="125C60"/>
                </a:solidFill>
                <a:latin typeface="Proxima Nova" pitchFamily="34" charset="0"/>
                <a:ea typeface="Proxima Nova" pitchFamily="34" charset="-122"/>
                <a:cs typeface="Proxima Nova" pitchFamily="34" charset="-120"/>
              </a:rPr>
              <a:t>40.6%</a:t>
            </a:r>
            <a:pPr indent="0" marL="0">
              <a:buNone/>
            </a:pPr>
            <a:r>
              <a:rPr lang="en-US" sz="1200" dirty="0">
                <a:solidFill>
                  <a:srgbClr val="231F20"/>
                </a:solidFill>
                <a:latin typeface="Proxima Nova" pitchFamily="34" charset="0"/>
                <a:ea typeface="Proxima Nova" pitchFamily="34" charset="-122"/>
                <a:cs typeface="Proxima Nova" pitchFamily="34" charset="-120"/>
              </a:rPr>
              <a:t> in Garden Grove and </a:t>
            </a:r>
            <a:pPr indent="0" marL="0">
              <a:buNone/>
            </a:pPr>
            <a:r>
              <a:rPr lang="en-US" sz="1200" b="1" dirty="0">
                <a:solidFill>
                  <a:srgbClr val="125C60"/>
                </a:solidFill>
                <a:latin typeface="Proxima Nova" pitchFamily="34" charset="0"/>
                <a:ea typeface="Proxima Nova" pitchFamily="34" charset="-122"/>
                <a:cs typeface="Proxima Nova" pitchFamily="34" charset="-120"/>
              </a:rPr>
              <a:t>29.1%</a:t>
            </a:r>
            <a:pPr indent="0" marL="0">
              <a:buNone/>
            </a:pPr>
            <a:r>
              <a:rPr lang="en-US" sz="1200" dirty="0">
                <a:solidFill>
                  <a:srgbClr val="231F20"/>
                </a:solidFill>
                <a:latin typeface="Proxima Nova" pitchFamily="34" charset="0"/>
                <a:ea typeface="Proxima Nova" pitchFamily="34" charset="-122"/>
                <a:cs typeface="Proxima Nova" pitchFamily="34" charset="-120"/>
              </a:rPr>
              <a:t> countywide. Statewide, accommodation and food service together hold </a:t>
            </a:r>
            <a:pPr indent="0" marL="0">
              <a:buNone/>
            </a:pPr>
            <a:r>
              <a:rPr lang="en-US" sz="1200" b="1" dirty="0">
                <a:solidFill>
                  <a:srgbClr val="125C60"/>
                </a:solidFill>
                <a:latin typeface="Proxima Nova" pitchFamily="34" charset="0"/>
                <a:ea typeface="Proxima Nova" pitchFamily="34" charset="-122"/>
                <a:cs typeface="Proxima Nova" pitchFamily="34" charset="-120"/>
              </a:rPr>
              <a:t>55.3%</a:t>
            </a:r>
            <a:pPr indent="0" marL="0">
              <a:buNone/>
            </a:pPr>
            <a:r>
              <a:rPr lang="en-US" sz="1200" dirty="0">
                <a:solidFill>
                  <a:srgbClr val="231F20"/>
                </a:solidFill>
                <a:latin typeface="Proxima Nova" pitchFamily="34" charset="0"/>
                <a:ea typeface="Proxima Nova" pitchFamily="34" charset="-122"/>
                <a:cs typeface="Proxima Nova" pitchFamily="34" charset="-120"/>
              </a:rPr>
              <a:t> of direct travel jobs.</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16.8%</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11,366 ÷ 67,817 jobs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Garden Grove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40.6%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2,721 ÷ 6,694 jobs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29.1%</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51,892 ÷ 178,164 jobs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California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55.3%</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Accommodation and food service, 645,300 ÷ 1,167,500 direct jobs (combined category)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Food and beverage share of visitor-supported jobs, 2025</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Share = food and beverage jobs (direct, indirect and induced) ÷ all visitor-supported jobs, from each Tourism Economics regional report.</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In Anaheim, recreation and entertainment holds the most visitor-supported jobs (</a:t>
            </a:r>
            <a:pPr indent="0" marL="0">
              <a:buNone/>
            </a:pPr>
            <a:r>
              <a:rPr lang="en-US" sz="900" b="1" dirty="0">
                <a:solidFill>
                  <a:srgbClr val="125C60"/>
                </a:solidFill>
                <a:latin typeface="Proxima Nova" pitchFamily="34" charset="0"/>
                <a:ea typeface="Proxima Nova" pitchFamily="34" charset="-122"/>
                <a:cs typeface="Proxima Nova" pitchFamily="34" charset="-120"/>
              </a:rPr>
              <a:t>28,970</a:t>
            </a:r>
            <a:pPr indent="0" marL="0">
              <a:buNone/>
            </a:pPr>
            <a:r>
              <a:rPr lang="en-US" sz="900" dirty="0">
                <a:solidFill>
                  <a:srgbClr val="231F20"/>
                </a:solidFill>
                <a:latin typeface="Proxima Nova" pitchFamily="34" charset="0"/>
                <a:ea typeface="Proxima Nova" pitchFamily="34" charset="-122"/>
                <a:cs typeface="Proxima Nova" pitchFamily="34" charset="-120"/>
              </a:rPr>
              <a:t>). California's figure combines lodging with food service.</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2025 (pub. Apr.–May 2026); Visit California, The Economic Impact of Travel in California, 2025p (Dean Runyan Associates, Apr. 6, 2026). Files in the app library: Economic Impact of Visitors to Anaheim, 2025; Economic Impact of Visitors to Garden Grove, 2025; Economic Impact of Visitors to Orange County, 2025.</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is the total economic impact of visitors?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Jobs and economy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$10.4B</a:t>
            </a:r>
            <a:pPr indent="0" marL="0">
              <a:buNone/>
            </a:pPr>
            <a:r>
              <a:rPr lang="en-US" sz="1200" dirty="0">
                <a:solidFill>
                  <a:srgbClr val="231F20"/>
                </a:solidFill>
                <a:latin typeface="Proxima Nova" pitchFamily="34" charset="0"/>
                <a:ea typeface="Proxima Nova" pitchFamily="34" charset="-122"/>
                <a:cs typeface="Proxima Nova" pitchFamily="34" charset="-120"/>
              </a:rPr>
              <a:t> in Anaheim in 2025 (visitor spending </a:t>
            </a:r>
            <a:pPr indent="0" marL="0">
              <a:buNone/>
            </a:pPr>
            <a:r>
              <a:rPr lang="en-US" sz="1200" b="1" dirty="0">
                <a:solidFill>
                  <a:srgbClr val="125C60"/>
                </a:solidFill>
                <a:latin typeface="Proxima Nova" pitchFamily="34" charset="0"/>
                <a:ea typeface="Proxima Nova" pitchFamily="34" charset="-122"/>
                <a:cs typeface="Proxima Nova" pitchFamily="34" charset="-120"/>
              </a:rPr>
              <a:t>$6.83B</a:t>
            </a:r>
            <a:pPr indent="0" marL="0">
              <a:buNone/>
            </a:pPr>
            <a:r>
              <a:rPr lang="en-US" sz="1200" dirty="0">
                <a:solidFill>
                  <a:srgbClr val="231F20"/>
                </a:solidFill>
                <a:latin typeface="Proxima Nova" pitchFamily="34" charset="0"/>
                <a:ea typeface="Proxima Nova" pitchFamily="34" charset="-122"/>
                <a:cs typeface="Proxima Nova" pitchFamily="34" charset="-120"/>
              </a:rPr>
              <a:t> plus </a:t>
            </a:r>
            <a:pPr indent="0" marL="0">
              <a:buNone/>
            </a:pPr>
            <a:r>
              <a:rPr lang="en-US" sz="1200" b="1" dirty="0">
                <a:solidFill>
                  <a:srgbClr val="125C60"/>
                </a:solidFill>
                <a:latin typeface="Proxima Nova" pitchFamily="34" charset="0"/>
                <a:ea typeface="Proxima Nova" pitchFamily="34" charset="-122"/>
                <a:cs typeface="Proxima Nova" pitchFamily="34" charset="-120"/>
              </a:rPr>
              <a:t>$3.6B</a:t>
            </a:r>
            <a:pPr indent="0" marL="0">
              <a:buNone/>
            </a:pPr>
            <a:r>
              <a:rPr lang="en-US" sz="1200" dirty="0">
                <a:solidFill>
                  <a:srgbClr val="231F20"/>
                </a:solidFill>
                <a:latin typeface="Proxima Nova" pitchFamily="34" charset="0"/>
                <a:ea typeface="Proxima Nova" pitchFamily="34" charset="-122"/>
                <a:cs typeface="Proxima Nova" pitchFamily="34" charset="-120"/>
              </a:rPr>
              <a:t> in supplier and worker spending), </a:t>
            </a:r>
            <a:pPr indent="0" marL="0">
              <a:buNone/>
            </a:pPr>
            <a:r>
              <a:rPr lang="en-US" sz="1200" b="1" dirty="0">
                <a:solidFill>
                  <a:srgbClr val="125C60"/>
                </a:solidFill>
                <a:latin typeface="Proxima Nova" pitchFamily="34" charset="0"/>
                <a:ea typeface="Proxima Nova" pitchFamily="34" charset="-122"/>
                <a:cs typeface="Proxima Nova" pitchFamily="34" charset="-120"/>
              </a:rPr>
              <a:t>$1.1B</a:t>
            </a:r>
            <a:pPr indent="0" marL="0">
              <a:buNone/>
            </a:pPr>
            <a:r>
              <a:rPr lang="en-US" sz="1200" dirty="0">
                <a:solidFill>
                  <a:srgbClr val="231F20"/>
                </a:solidFill>
                <a:latin typeface="Proxima Nova" pitchFamily="34" charset="0"/>
                <a:ea typeface="Proxima Nova" pitchFamily="34" charset="-122"/>
                <a:cs typeface="Proxima Nova" pitchFamily="34" charset="-120"/>
              </a:rPr>
              <a:t> in Garden Grove and </a:t>
            </a:r>
            <a:pPr indent="0" marL="0">
              <a:buNone/>
            </a:pPr>
            <a:r>
              <a:rPr lang="en-US" sz="1200" b="1" dirty="0">
                <a:solidFill>
                  <a:srgbClr val="125C60"/>
                </a:solidFill>
                <a:latin typeface="Proxima Nova" pitchFamily="34" charset="0"/>
                <a:ea typeface="Proxima Nova" pitchFamily="34" charset="-122"/>
                <a:cs typeface="Proxima Nova" pitchFamily="34" charset="-120"/>
              </a:rPr>
              <a:t>$30.7B</a:t>
            </a:r>
            <a:pPr indent="0" marL="0">
              <a:buNone/>
            </a:pPr>
            <a:r>
              <a:rPr lang="en-US" sz="1200" dirty="0">
                <a:solidFill>
                  <a:srgbClr val="231F20"/>
                </a:solidFill>
                <a:latin typeface="Proxima Nova" pitchFamily="34" charset="0"/>
                <a:ea typeface="Proxima Nova" pitchFamily="34" charset="-122"/>
                <a:cs typeface="Proxima Nova" pitchFamily="34" charset="-120"/>
              </a:rPr>
              <a:t> countywide. Nationally, travel generated </a:t>
            </a:r>
            <a:pPr indent="0" marL="0">
              <a:buNone/>
            </a:pPr>
            <a:r>
              <a:rPr lang="en-US" sz="1200" b="1" dirty="0">
                <a:solidFill>
                  <a:srgbClr val="125C60"/>
                </a:solidFill>
                <a:latin typeface="Proxima Nova" pitchFamily="34" charset="0"/>
                <a:ea typeface="Proxima Nova" pitchFamily="34" charset="-122"/>
                <a:cs typeface="Proxima Nova" pitchFamily="34" charset="-120"/>
              </a:rPr>
              <a:t>$3.0</a:t>
            </a:r>
            <a:pPr indent="0" marL="0">
              <a:buNone/>
            </a:pPr>
            <a:r>
              <a:rPr lang="en-US" sz="1200" dirty="0">
                <a:solidFill>
                  <a:srgbClr val="231F20"/>
                </a:solidFill>
                <a:latin typeface="Proxima Nova" pitchFamily="34" charset="0"/>
                <a:ea typeface="Proxima Nova" pitchFamily="34" charset="-122"/>
                <a:cs typeface="Proxima Nova" pitchFamily="34" charset="-120"/>
              </a:rPr>
              <a:t> trillion in output.</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$10.42B</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$6.832B direct + $1.460B indirect + $2.130B induced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Garden Grove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$1.09B</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$769.3M + $127.7M + $191.1M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$30.67B</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$17.993B + $6.253B + $6.426B</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$3.0T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Economic output supported by travel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Total economic impact of visitors, 2025 ($B)</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Total impact = direct visitor spending + indirect (supply chain) + induced (spending of income earned), from Tourism Economics' input-output model.</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Each region is modeled on its own, so city totals are not additive with the county total.</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2025 (pub. Apr.–May 2026); U.S. Travel Association, Economic Impact of the U.S. Travel Industry (2025 data; pub. 2026). Files in the app library: Economic Impact of Visitors to Anaheim, 2025; Economic Impact of Visitors to Garden Grove, 2025; Economic Impact of Visitors to Orange County, 2025; Economic impact one-pagers, 2025: Orange County, Anaheim and Garden Grove.</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much tax revenue do visitors generate?</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Jobs and economy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Visitors generated </a:t>
            </a:r>
            <a:pPr indent="0" marL="0">
              <a:buNone/>
            </a:pPr>
            <a:r>
              <a:rPr lang="en-US" sz="1200" b="1" dirty="0">
                <a:solidFill>
                  <a:srgbClr val="125C60"/>
                </a:solidFill>
                <a:latin typeface="Proxima Nova" pitchFamily="34" charset="0"/>
                <a:ea typeface="Proxima Nova" pitchFamily="34" charset="-122"/>
                <a:cs typeface="Proxima Nova" pitchFamily="34" charset="-120"/>
              </a:rPr>
              <a:t>$0.97B</a:t>
            </a:r>
            <a:pPr indent="0" marL="0">
              <a:buNone/>
            </a:pPr>
            <a:r>
              <a:rPr lang="en-US" sz="1200" dirty="0">
                <a:solidFill>
                  <a:srgbClr val="231F20"/>
                </a:solidFill>
                <a:latin typeface="Proxima Nova" pitchFamily="34" charset="0"/>
                <a:ea typeface="Proxima Nova" pitchFamily="34" charset="-122"/>
                <a:cs typeface="Proxima Nova" pitchFamily="34" charset="-120"/>
              </a:rPr>
              <a:t> in state and local taxes in Anaheim in 2025, </a:t>
            </a:r>
            <a:pPr indent="0" marL="0">
              <a:buNone/>
            </a:pPr>
            <a:r>
              <a:rPr lang="en-US" sz="1200" b="1" dirty="0">
                <a:solidFill>
                  <a:srgbClr val="125C60"/>
                </a:solidFill>
                <a:latin typeface="Proxima Nova" pitchFamily="34" charset="0"/>
                <a:ea typeface="Proxima Nova" pitchFamily="34" charset="-122"/>
                <a:cs typeface="Proxima Nova" pitchFamily="34" charset="-120"/>
              </a:rPr>
              <a:t>$3.09B</a:t>
            </a:r>
            <a:pPr indent="0" marL="0">
              <a:buNone/>
            </a:pPr>
            <a:r>
              <a:rPr lang="en-US" sz="1200" dirty="0">
                <a:solidFill>
                  <a:srgbClr val="231F20"/>
                </a:solidFill>
                <a:latin typeface="Proxima Nova" pitchFamily="34" charset="0"/>
                <a:ea typeface="Proxima Nova" pitchFamily="34" charset="-122"/>
                <a:cs typeface="Proxima Nova" pitchFamily="34" charset="-120"/>
              </a:rPr>
              <a:t> countywide, </a:t>
            </a:r>
            <a:pPr indent="0" marL="0">
              <a:buNone/>
            </a:pPr>
            <a:r>
              <a:rPr lang="en-US" sz="1200" b="1" dirty="0">
                <a:solidFill>
                  <a:srgbClr val="125C60"/>
                </a:solidFill>
                <a:latin typeface="Proxima Nova" pitchFamily="34" charset="0"/>
                <a:ea typeface="Proxima Nova" pitchFamily="34" charset="-122"/>
                <a:cs typeface="Proxima Nova" pitchFamily="34" charset="-120"/>
              </a:rPr>
              <a:t>$13.6B</a:t>
            </a:r>
            <a:pPr indent="0" marL="0">
              <a:buNone/>
            </a:pPr>
            <a:r>
              <a:rPr lang="en-US" sz="1200" dirty="0">
                <a:solidFill>
                  <a:srgbClr val="231F20"/>
                </a:solidFill>
                <a:latin typeface="Proxima Nova" pitchFamily="34" charset="0"/>
                <a:ea typeface="Proxima Nova" pitchFamily="34" charset="-122"/>
                <a:cs typeface="Proxima Nova" pitchFamily="34" charset="-120"/>
              </a:rPr>
              <a:t> statewide and </a:t>
            </a:r>
            <a:pPr indent="0" marL="0">
              <a:buNone/>
            </a:pPr>
            <a:r>
              <a:rPr lang="en-US" sz="1200" b="1" dirty="0">
                <a:solidFill>
                  <a:srgbClr val="125C60"/>
                </a:solidFill>
                <a:latin typeface="Proxima Nova" pitchFamily="34" charset="0"/>
                <a:ea typeface="Proxima Nova" pitchFamily="34" charset="-122"/>
                <a:cs typeface="Proxima Nova" pitchFamily="34" charset="-120"/>
              </a:rPr>
              <a:t>$92B</a:t>
            </a:r>
            <a:pPr indent="0" marL="0">
              <a:buNone/>
            </a:pPr>
            <a:r>
              <a:rPr lang="en-US" sz="1200" dirty="0">
                <a:solidFill>
                  <a:srgbClr val="231F20"/>
                </a:solidFill>
                <a:latin typeface="Proxima Nova" pitchFamily="34" charset="0"/>
                <a:ea typeface="Proxima Nova" pitchFamily="34" charset="-122"/>
                <a:cs typeface="Proxima Nova" pitchFamily="34" charset="-120"/>
              </a:rPr>
              <a:t> nationally.</a:t>
            </a:r>
            <a:endParaRPr lang="en-US" sz="1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$970M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Includes $351M sales, $218M property and $234M lodging taxes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Garden Grove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$83.6M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Includes $30.1M lodging taxes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$3.09B</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Includes $557M lodging taxes; $2,857 per household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California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$13.6B</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Local $7.2B + state $6.5B (2025p)</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$92B</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State and local taxes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State and local taxes from visitors, 2025 ($M)</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Tourism Economics estimates taxes generated by visitor spending and the activity it supports; components are listed in each one-pager.</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Statewide local and state taxes add to </a:t>
            </a:r>
            <a:pPr indent="0" marL="0">
              <a:buNone/>
            </a:pPr>
            <a:r>
              <a:rPr lang="en-US" sz="900" b="1" dirty="0">
                <a:solidFill>
                  <a:srgbClr val="125C60"/>
                </a:solidFill>
                <a:latin typeface="Proxima Nova" pitchFamily="34" charset="0"/>
                <a:ea typeface="Proxima Nova" pitchFamily="34" charset="-122"/>
                <a:cs typeface="Proxima Nova" pitchFamily="34" charset="-120"/>
              </a:rPr>
              <a:t>$13.7B</a:t>
            </a:r>
            <a:pPr indent="0" marL="0">
              <a:buNone/>
            </a:pPr>
            <a:r>
              <a:rPr lang="en-US" sz="900" dirty="0">
                <a:solidFill>
                  <a:srgbClr val="231F20"/>
                </a:solidFill>
                <a:latin typeface="Proxima Nova" pitchFamily="34" charset="0"/>
                <a:ea typeface="Proxima Nova" pitchFamily="34" charset="-122"/>
                <a:cs typeface="Proxima Nova" pitchFamily="34" charset="-120"/>
              </a:rPr>
              <a:t> because of rounding; the report states </a:t>
            </a:r>
            <a:pPr indent="0" marL="0">
              <a:buNone/>
            </a:pPr>
            <a:r>
              <a:rPr lang="en-US" sz="900" b="1" dirty="0">
                <a:solidFill>
                  <a:srgbClr val="125C60"/>
                </a:solidFill>
                <a:latin typeface="Proxima Nova" pitchFamily="34" charset="0"/>
                <a:ea typeface="Proxima Nova" pitchFamily="34" charset="-122"/>
                <a:cs typeface="Proxima Nova" pitchFamily="34" charset="-120"/>
              </a:rPr>
              <a:t>$13.6B</a:t>
            </a:r>
            <a:pPr indent="0" marL="0">
              <a:buNone/>
            </a:pPr>
            <a:r>
              <a:rPr lang="en-US" sz="900" dirty="0">
                <a:solidFill>
                  <a:srgbClr val="231F20"/>
                </a:solidFill>
                <a:latin typeface="Proxima Nova" pitchFamily="34" charset="0"/>
                <a:ea typeface="Proxima Nova" pitchFamily="34" charset="-122"/>
                <a:cs typeface="Proxima Nova" pitchFamily="34" charset="-120"/>
              </a:rPr>
              <a:t>.</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2025 (pub. Apr.–May 2026); Visit California, The Economic Impact of Travel in California, 2025p (Dean Runyan Associates, Apr. 6, 2026); U.S. Travel Association, Economic Impact of the U.S. Travel Industry (2025 data; pub. 2026). Files in the app library: Economic impact one-pagers, 2025: Orange County, Anaheim and Garden Grove; Economic Impact of Visitors to Anaheim, 2025; Economic Impact of Visitors to Orange County, 2025.</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is each 1% of visitors staying a day longer worth?</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One more night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About </a:t>
            </a:r>
            <a:pPr indent="0" marL="0">
              <a:buNone/>
            </a:pPr>
            <a:r>
              <a:rPr lang="en-US" sz="1200" b="1" dirty="0">
                <a:solidFill>
                  <a:srgbClr val="125C60"/>
                </a:solidFill>
                <a:latin typeface="Proxima Nova" pitchFamily="34" charset="0"/>
                <a:ea typeface="Proxima Nova" pitchFamily="34" charset="-122"/>
                <a:cs typeface="Proxima Nova" pitchFamily="34" charset="-120"/>
              </a:rPr>
              <a:t>$31.5M</a:t>
            </a:r>
            <a:pPr indent="0" marL="0">
              <a:buNone/>
            </a:pPr>
            <a:r>
              <a:rPr lang="en-US" sz="1200" dirty="0">
                <a:solidFill>
                  <a:srgbClr val="231F20"/>
                </a:solidFill>
                <a:latin typeface="Proxima Nova" pitchFamily="34" charset="0"/>
                <a:ea typeface="Proxima Nova" pitchFamily="34" charset="-122"/>
                <a:cs typeface="Proxima Nova" pitchFamily="34" charset="-120"/>
              </a:rPr>
              <a:t> in Anaheim visitor spending: </a:t>
            </a:r>
            <a:pPr indent="0" marL="0">
              <a:buNone/>
            </a:pPr>
            <a:r>
              <a:rPr lang="en-US" sz="1200" b="1" dirty="0">
                <a:solidFill>
                  <a:srgbClr val="125C60"/>
                </a:solidFill>
                <a:latin typeface="Proxima Nova" pitchFamily="34" charset="0"/>
                <a:ea typeface="Proxima Nova" pitchFamily="34" charset="-122"/>
                <a:cs typeface="Proxima Nova" pitchFamily="34" charset="-120"/>
              </a:rPr>
              <a:t>26.5M</a:t>
            </a:r>
            <a:pPr indent="0" marL="0">
              <a:buNone/>
            </a:pPr>
            <a:r>
              <a:rPr lang="en-US" sz="1200" dirty="0">
                <a:solidFill>
                  <a:srgbClr val="231F20"/>
                </a:solidFill>
                <a:latin typeface="Proxima Nova" pitchFamily="34" charset="0"/>
                <a:ea typeface="Proxima Nova" pitchFamily="34" charset="-122"/>
                <a:cs typeface="Proxima Nova" pitchFamily="34" charset="-120"/>
              </a:rPr>
              <a:t> visitors × </a:t>
            </a:r>
            <a:pPr indent="0" marL="0">
              <a:buNone/>
            </a:pPr>
            <a:r>
              <a:rPr lang="en-US" sz="1200" b="1" dirty="0">
                <a:solidFill>
                  <a:srgbClr val="125C60"/>
                </a:solidFill>
                <a:latin typeface="Proxima Nova" pitchFamily="34" charset="0"/>
                <a:ea typeface="Proxima Nova" pitchFamily="34" charset="-122"/>
                <a:cs typeface="Proxima Nova" pitchFamily="34" charset="-120"/>
              </a:rPr>
              <a:t>1%</a:t>
            </a:r>
            <a:pPr indent="0" marL="0">
              <a:buNone/>
            </a:pPr>
            <a:r>
              <a:rPr lang="en-US" sz="1200" dirty="0">
                <a:solidFill>
                  <a:srgbClr val="231F20"/>
                </a:solidFill>
                <a:latin typeface="Proxima Nova" pitchFamily="34" charset="0"/>
                <a:ea typeface="Proxima Nova" pitchFamily="34" charset="-122"/>
                <a:cs typeface="Proxima Nova" pitchFamily="34" charset="-120"/>
              </a:rPr>
              <a:t> × </a:t>
            </a:r>
            <a:pPr indent="0" marL="0">
              <a:buNone/>
            </a:pPr>
            <a:r>
              <a:rPr lang="en-US" sz="1200" b="1" dirty="0">
                <a:solidFill>
                  <a:srgbClr val="125C60"/>
                </a:solidFill>
                <a:latin typeface="Proxima Nova" pitchFamily="34" charset="0"/>
                <a:ea typeface="Proxima Nova" pitchFamily="34" charset="-122"/>
                <a:cs typeface="Proxima Nova" pitchFamily="34" charset="-120"/>
              </a:rPr>
              <a:t>$118.71</a:t>
            </a:r>
            <a:pPr indent="0" marL="0">
              <a:buNone/>
            </a:pPr>
            <a:r>
              <a:rPr lang="en-US" sz="1200" dirty="0">
                <a:solidFill>
                  <a:srgbClr val="231F20"/>
                </a:solidFill>
                <a:latin typeface="Proxima Nova" pitchFamily="34" charset="0"/>
                <a:ea typeface="Proxima Nova" pitchFamily="34" charset="-122"/>
                <a:cs typeface="Proxima Nova" pitchFamily="34" charset="-120"/>
              </a:rPr>
              <a:t> per visitor-day. On the hotel side, each point of Sunday–Monday occupancy is about </a:t>
            </a:r>
            <a:pPr indent="0" marL="0">
              <a:buNone/>
            </a:pPr>
            <a:r>
              <a:rPr lang="en-US" sz="1200" b="1" dirty="0">
                <a:solidFill>
                  <a:srgbClr val="125C60"/>
                </a:solidFill>
                <a:latin typeface="Proxima Nova" pitchFamily="34" charset="0"/>
                <a:ea typeface="Proxima Nova" pitchFamily="34" charset="-122"/>
                <a:cs typeface="Proxima Nova" pitchFamily="34" charset="-120"/>
              </a:rPr>
              <a:t>22,200 room nights</a:t>
            </a:r>
            <a:pPr indent="0" marL="0">
              <a:buNone/>
            </a:pPr>
            <a:r>
              <a:rPr lang="en-US" sz="1200" dirty="0">
                <a:solidFill>
                  <a:srgbClr val="231F20"/>
                </a:solidFill>
                <a:latin typeface="Proxima Nova" pitchFamily="34" charset="0"/>
                <a:ea typeface="Proxima Nova" pitchFamily="34" charset="-122"/>
                <a:cs typeface="Proxima Nova" pitchFamily="34" charset="-120"/>
              </a:rPr>
              <a:t> and </a:t>
            </a:r>
            <a:pPr indent="0" marL="0">
              <a:buNone/>
            </a:pPr>
            <a:r>
              <a:rPr lang="en-US" sz="1200" b="1" dirty="0">
                <a:solidFill>
                  <a:srgbClr val="125C60"/>
                </a:solidFill>
                <a:latin typeface="Proxima Nova" pitchFamily="34" charset="0"/>
                <a:ea typeface="Proxima Nova" pitchFamily="34" charset="-122"/>
                <a:cs typeface="Proxima Nova" pitchFamily="34" charset="-120"/>
              </a:rPr>
              <a:t>$5.1M</a:t>
            </a:r>
            <a:pPr indent="0" marL="0">
              <a:buNone/>
            </a:pPr>
            <a:r>
              <a:rPr lang="en-US" sz="1200" dirty="0">
                <a:solidFill>
                  <a:srgbClr val="231F20"/>
                </a:solidFill>
                <a:latin typeface="Proxima Nova" pitchFamily="34" charset="0"/>
                <a:ea typeface="Proxima Nova" pitchFamily="34" charset="-122"/>
                <a:cs typeface="Proxima Nova" pitchFamily="34" charset="-120"/>
              </a:rPr>
              <a:t> a year.</a:t>
            </a:r>
            <a:endParaRPr lang="en-US" sz="1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visitor spending</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$31.5M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26.5M × 1% × $118.71</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hotels, Sunday–Monday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22,200 room nights · $5.1M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21,318 rooms × 1% × 104 nights × $230 average rate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hotels, the gap</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15.7 points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Sunday–Monday 70.6% vs. Friday–Saturday 86.2% occupancy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Anaheim+ hotel occupancy by night, 2026 (%)</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Value per </a:t>
            </a:r>
            <a:pPr indent="0" marL="0">
              <a:buNone/>
            </a:pPr>
            <a:r>
              <a:rPr lang="en-US" sz="900" b="1" dirty="0">
                <a:solidFill>
                  <a:srgbClr val="125C60"/>
                </a:solidFill>
                <a:latin typeface="Proxima Nova" pitchFamily="34" charset="0"/>
                <a:ea typeface="Proxima Nova" pitchFamily="34" charset="-122"/>
                <a:cs typeface="Proxima Nova" pitchFamily="34" charset="-120"/>
              </a:rPr>
              <a:t>1%</a:t>
            </a:r>
            <a:pPr indent="0" marL="0">
              <a:buNone/>
            </a:pPr>
            <a:r>
              <a:rPr lang="en-US" sz="900" dirty="0">
                <a:solidFill>
                  <a:srgbClr val="231F20"/>
                </a:solidFill>
                <a:latin typeface="Proxima Nova" pitchFamily="34" charset="0"/>
                <a:ea typeface="Proxima Nova" pitchFamily="34" charset="-122"/>
                <a:cs typeface="Proxima Nova" pitchFamily="34" charset="-120"/>
              </a:rPr>
              <a:t> = visitors × </a:t>
            </a:r>
            <a:pPr indent="0" marL="0">
              <a:buNone/>
            </a:pPr>
            <a:r>
              <a:rPr lang="en-US" sz="900" b="1" dirty="0">
                <a:solidFill>
                  <a:srgbClr val="125C60"/>
                </a:solidFill>
                <a:latin typeface="Proxima Nova" pitchFamily="34" charset="0"/>
                <a:ea typeface="Proxima Nova" pitchFamily="34" charset="-122"/>
                <a:cs typeface="Proxima Nova" pitchFamily="34" charset="-120"/>
              </a:rPr>
              <a:t>1%</a:t>
            </a:r>
            <a:pPr indent="0" marL="0">
              <a:buNone/>
            </a:pPr>
            <a:r>
              <a:rPr lang="en-US" sz="900" dirty="0">
                <a:solidFill>
                  <a:srgbClr val="231F20"/>
                </a:solidFill>
                <a:latin typeface="Proxima Nova" pitchFamily="34" charset="0"/>
                <a:ea typeface="Proxima Nova" pitchFamily="34" charset="-122"/>
                <a:cs typeface="Proxima Nova" pitchFamily="34" charset="-120"/>
              </a:rPr>
              <a:t> × spending per visitor-day. Value per occupancy point = rooms × </a:t>
            </a:r>
            <a:pPr indent="0" marL="0">
              <a:buNone/>
            </a:pPr>
            <a:r>
              <a:rPr lang="en-US" sz="900" b="1" dirty="0">
                <a:solidFill>
                  <a:srgbClr val="125C60"/>
                </a:solidFill>
                <a:latin typeface="Proxima Nova" pitchFamily="34" charset="0"/>
                <a:ea typeface="Proxima Nova" pitchFamily="34" charset="-122"/>
                <a:cs typeface="Proxima Nova" pitchFamily="34" charset="-120"/>
              </a:rPr>
              <a:t>1%</a:t>
            </a:r>
            <a:pPr indent="0" marL="0">
              <a:buNone/>
            </a:pPr>
            <a:r>
              <a:rPr lang="en-US" sz="900" dirty="0">
                <a:solidFill>
                  <a:srgbClr val="231F20"/>
                </a:solidFill>
                <a:latin typeface="Proxima Nova" pitchFamily="34" charset="0"/>
                <a:ea typeface="Proxima Nova" pitchFamily="34" charset="-122"/>
                <a:cs typeface="Proxima Nova" pitchFamily="34" charset="-120"/>
              </a:rPr>
              <a:t> × Sunday and Monday nights in a year (104) × average Sunday–Monday rate.</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Arithmetic on 2025 and 2026 source data; it is not a forecast of what OC Vibe will add.</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BI calculation; Tourism Economics, Economic Impact of Visitors 2025 (pub. Apr.–May 2026); STR daily data (Jan. 1–Oct. 3, 2026). Files in the app library: One more night study (Extra Night Calculation); STR daily hotel data, Visit Anaheim hotel sets; Economic Impact of Visitors to Anaheim, 2025.</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do people get to the OC Vibe area?</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Transportation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Mostly by car: </a:t>
            </a:r>
            <a:pPr indent="0" marL="0">
              <a:buNone/>
            </a:pPr>
            <a:r>
              <a:rPr lang="en-US" sz="1200" b="1" dirty="0">
                <a:solidFill>
                  <a:srgbClr val="125C60"/>
                </a:solidFill>
                <a:latin typeface="Proxima Nova" pitchFamily="34" charset="0"/>
                <a:ea typeface="Proxima Nova" pitchFamily="34" charset="-122"/>
                <a:cs typeface="Proxima Nova" pitchFamily="34" charset="-120"/>
              </a:rPr>
              <a:t>74.0%</a:t>
            </a:r>
            <a:pPr indent="0" marL="0">
              <a:buNone/>
            </a:pPr>
            <a:r>
              <a:rPr lang="en-US" sz="1200" dirty="0">
                <a:solidFill>
                  <a:srgbClr val="231F20"/>
                </a:solidFill>
                <a:latin typeface="Proxima Nova" pitchFamily="34" charset="0"/>
                <a:ea typeface="Proxima Nova" pitchFamily="34" charset="-122"/>
                <a:cs typeface="Proxima Nova" pitchFamily="34" charset="-120"/>
              </a:rPr>
              <a:t> of domestic trips to Anaheim and Garden Grove start within 50 miles, and SR-57 beside OC Vibe carries about </a:t>
            </a:r>
            <a:pPr indent="0" marL="0">
              <a:buNone/>
            </a:pPr>
            <a:r>
              <a:rPr lang="en-US" sz="1200" b="1" dirty="0">
                <a:solidFill>
                  <a:srgbClr val="125C60"/>
                </a:solidFill>
                <a:latin typeface="Proxima Nova" pitchFamily="34" charset="0"/>
                <a:ea typeface="Proxima Nova" pitchFamily="34" charset="-122"/>
                <a:cs typeface="Proxima Nova" pitchFamily="34" charset="-120"/>
              </a:rPr>
              <a:t>275,000 vehicles</a:t>
            </a:r>
            <a:pPr indent="0" marL="0">
              <a:buNone/>
            </a:pPr>
            <a:r>
              <a:rPr lang="en-US" sz="1200" dirty="0">
                <a:solidFill>
                  <a:srgbClr val="231F20"/>
                </a:solidFill>
                <a:latin typeface="Proxima Nova" pitchFamily="34" charset="0"/>
                <a:ea typeface="Proxima Nova" pitchFamily="34" charset="-122"/>
                <a:cs typeface="Proxima Nova" pitchFamily="34" charset="-120"/>
              </a:rPr>
              <a:t> a weekday. ARTIC adds 277 weekday bus trips, Amtrak (</a:t>
            </a:r>
            <a:pPr indent="0" marL="0">
              <a:buNone/>
            </a:pPr>
            <a:r>
              <a:rPr lang="en-US" sz="1200" b="1" dirty="0">
                <a:solidFill>
                  <a:srgbClr val="125C60"/>
                </a:solidFill>
                <a:latin typeface="Proxima Nova" pitchFamily="34" charset="0"/>
                <a:ea typeface="Proxima Nova" pitchFamily="34" charset="-122"/>
                <a:cs typeface="Proxima Nova" pitchFamily="34" charset="-120"/>
              </a:rPr>
              <a:t>191,153</a:t>
            </a:r>
            <a:pPr indent="0" marL="0">
              <a:buNone/>
            </a:pPr>
            <a:r>
              <a:rPr lang="en-US" sz="1200" dirty="0">
                <a:solidFill>
                  <a:srgbClr val="231F20"/>
                </a:solidFill>
                <a:latin typeface="Proxima Nova" pitchFamily="34" charset="0"/>
                <a:ea typeface="Proxima Nova" pitchFamily="34" charset="-122"/>
                <a:cs typeface="Proxima Nova" pitchFamily="34" charset="-120"/>
              </a:rPr>
              <a:t> passengers in 2024) and Metrolink.</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OC Vibe area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275,000 vehicles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SR-57, Ball Rd to Katella Ave (Caltrans 2024 count)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ARTIC</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277 weekday bus trips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Routes 50, 53 and 553; Saturday 182, Sunday 181</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Rail at ARTIC</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191,153 Amtrak passengers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2024; Metrolink Orange County Line 5,116 weekday riders (FY26 Q2)</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residents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67.5% drive alone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1,057,284 of 1,565,842 workers; public transportation 1.2%</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How Orange County workers commute (%)</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Bus trips are counted from OCTA's schedule files (every trip stopping at ARTIC on a weekday). Commute shares = workers by mode ÷ all workers 16 and over.</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Metrolink figures are line totals, not ARTIC boardings. Traffic counts for arterials date from 2021 to 2024.</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OCTA 2026 Traffic Flow Map (Aug. 2026); OCTA schedules (Aug. 9–Nov. 7, 2026); Rail Passengers Association; Metrolink; U.S. BTS County Transportation Profile. Files in the app library: 2026 Traffic Flow Map; OCTA bus schedules (GTFS feed); Amtrak service in Anaheim, CA (ANA); Metrolink fact sheet, FY2025-26 Q2; County Transportation Profile: Orange County, CA; Domestic visitors to Anaheim and Garden Grove.</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does it cost to travel here?</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Transportation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Gasoline averaged </a:t>
            </a:r>
            <a:pPr indent="0" marL="0">
              <a:buNone/>
            </a:pPr>
            <a:r>
              <a:rPr lang="en-US" sz="1200" b="1" dirty="0">
                <a:solidFill>
                  <a:srgbClr val="125C60"/>
                </a:solidFill>
                <a:latin typeface="Proxima Nova" pitchFamily="34" charset="0"/>
                <a:ea typeface="Proxima Nova" pitchFamily="34" charset="-122"/>
                <a:cs typeface="Proxima Nova" pitchFamily="34" charset="-120"/>
              </a:rPr>
              <a:t>$4.09</a:t>
            </a:r>
            <a:pPr indent="0" marL="0">
              <a:buNone/>
            </a:pPr>
            <a:r>
              <a:rPr lang="en-US" sz="1200" dirty="0">
                <a:solidFill>
                  <a:srgbClr val="231F20"/>
                </a:solidFill>
                <a:latin typeface="Proxima Nova" pitchFamily="34" charset="0"/>
                <a:ea typeface="Proxima Nova" pitchFamily="34" charset="-122"/>
                <a:cs typeface="Proxima Nova" pitchFamily="34" charset="-120"/>
              </a:rPr>
              <a:t> a gallon on the West Coast in 2025 vs. </a:t>
            </a:r>
            <a:pPr indent="0" marL="0">
              <a:buNone/>
            </a:pPr>
            <a:r>
              <a:rPr lang="en-US" sz="1200" b="1" dirty="0">
                <a:solidFill>
                  <a:srgbClr val="125C60"/>
                </a:solidFill>
                <a:latin typeface="Proxima Nova" pitchFamily="34" charset="0"/>
                <a:ea typeface="Proxima Nova" pitchFamily="34" charset="-122"/>
                <a:cs typeface="Proxima Nova" pitchFamily="34" charset="-120"/>
              </a:rPr>
              <a:t>$3.10</a:t>
            </a:r>
            <a:pPr indent="0" marL="0">
              <a:buNone/>
            </a:pPr>
            <a:r>
              <a:rPr lang="en-US" sz="1200" dirty="0">
                <a:solidFill>
                  <a:srgbClr val="231F20"/>
                </a:solidFill>
                <a:latin typeface="Proxima Nova" pitchFamily="34" charset="0"/>
                <a:ea typeface="Proxima Nova" pitchFamily="34" charset="-122"/>
                <a:cs typeface="Proxima Nova" pitchFamily="34" charset="-120"/>
              </a:rPr>
              <a:t> nationally. The average U.S. domestic airfare was </a:t>
            </a:r>
            <a:pPr indent="0" marL="0">
              <a:buNone/>
            </a:pPr>
            <a:r>
              <a:rPr lang="en-US" sz="1200" b="1" dirty="0">
                <a:solidFill>
                  <a:srgbClr val="125C60"/>
                </a:solidFill>
                <a:latin typeface="Proxima Nova" pitchFamily="34" charset="0"/>
                <a:ea typeface="Proxima Nova" pitchFamily="34" charset="-122"/>
                <a:cs typeface="Proxima Nova" pitchFamily="34" charset="-120"/>
              </a:rPr>
              <a:t>$387</a:t>
            </a:r>
            <a:pPr indent="0" marL="0">
              <a:buNone/>
            </a:pPr>
            <a:r>
              <a:rPr lang="en-US" sz="1200" dirty="0">
                <a:solidFill>
                  <a:srgbClr val="231F20"/>
                </a:solidFill>
                <a:latin typeface="Proxima Nova" pitchFamily="34" charset="0"/>
                <a:ea typeface="Proxima Nova" pitchFamily="34" charset="-122"/>
                <a:cs typeface="Proxima Nova" pitchFamily="34" charset="-120"/>
              </a:rPr>
              <a:t> (</a:t>
            </a:r>
            <a:pPr indent="0" marL="0">
              <a:buNone/>
            </a:pPr>
            <a:r>
              <a:rPr lang="en-US" sz="1200" b="1" dirty="0">
                <a:solidFill>
                  <a:srgbClr val="125C60"/>
                </a:solidFill>
                <a:latin typeface="Proxima Nova" pitchFamily="34" charset="0"/>
                <a:ea typeface="Proxima Nova" pitchFamily="34" charset="-122"/>
                <a:cs typeface="Proxima Nova" pitchFamily="34" charset="-120"/>
              </a:rPr>
              <a:t>+9.9%</a:t>
            </a:r>
            <a:pPr indent="0" marL="0">
              <a:buNone/>
            </a:pPr>
            <a:r>
              <a:rPr lang="en-US" sz="1200" dirty="0">
                <a:solidFill>
                  <a:srgbClr val="231F20"/>
                </a:solidFill>
                <a:latin typeface="Proxima Nova" pitchFamily="34" charset="0"/>
                <a:ea typeface="Proxima Nova" pitchFamily="34" charset="-122"/>
                <a:cs typeface="Proxima Nova" pitchFamily="34" charset="-120"/>
              </a:rPr>
              <a:t> since 2019), and driving cost </a:t>
            </a:r>
            <a:pPr indent="0" marL="0">
              <a:buNone/>
            </a:pPr>
            <a:r>
              <a:rPr lang="en-US" sz="1200" b="1" dirty="0">
                <a:solidFill>
                  <a:srgbClr val="125C60"/>
                </a:solidFill>
                <a:latin typeface="Proxima Nova" pitchFamily="34" charset="0"/>
                <a:ea typeface="Proxima Nova" pitchFamily="34" charset="-122"/>
                <a:cs typeface="Proxima Nova" pitchFamily="34" charset="-120"/>
              </a:rPr>
              <a:t>$0.82</a:t>
            </a:r>
            <a:pPr indent="0" marL="0">
              <a:buNone/>
            </a:pPr>
            <a:r>
              <a:rPr lang="en-US" sz="1200" dirty="0">
                <a:solidFill>
                  <a:srgbClr val="231F20"/>
                </a:solidFill>
                <a:latin typeface="Proxima Nova" pitchFamily="34" charset="0"/>
                <a:ea typeface="Proxima Nova" pitchFamily="34" charset="-122"/>
                <a:cs typeface="Proxima Nova" pitchFamily="34" charset="-120"/>
              </a:rPr>
              <a:t> a mile in 2024.</a:t>
            </a:r>
            <a:endParaRPr lang="en-US"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West Coast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$4.09 a gallon</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32% above the U.S. average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$3.10 a gallon</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Regular gasoline, 2025 average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 airfare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$387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Domestic average, 2025; $352 in 2019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 driving</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$0.82 a mile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Average total cost, 2024; $0.62 in 2019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Average domestic airfare, U.S. ($)</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Values as published by BTS in current dollars.</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National averages; Orange County fares and prices can differ.</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U.S. BTS, Transportation Economic Trends, Table 3.1; U.S. BTS, Table 3.1; U.S. BTS, Table 3.4; U.S. BTS, Table 6.6. Files in the app library: Transportation Economic Trends: table guide.</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much Anaheim visitor activity already includes the OC Vibe area?</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District 5 and who visits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5.2%</a:t>
            </a:r>
            <a:pPr indent="0" marL="0">
              <a:buNone/>
            </a:pPr>
            <a:r>
              <a:rPr lang="en-US" sz="1200" dirty="0">
                <a:solidFill>
                  <a:srgbClr val="231F20"/>
                </a:solidFill>
                <a:latin typeface="Proxima Nova" pitchFamily="34" charset="0"/>
                <a:ea typeface="Proxima Nova" pitchFamily="34" charset="-122"/>
                <a:cs typeface="Proxima Nova" pitchFamily="34" charset="-120"/>
              </a:rPr>
              <a:t> of Anaheim visitor days in 2024 included the OC Vibe area, before the new venues open (Datafy). Disneyland was in </a:t>
            </a:r>
            <a:pPr indent="0" marL="0">
              <a:buNone/>
            </a:pPr>
            <a:r>
              <a:rPr lang="en-US" sz="1200" b="1" dirty="0">
                <a:solidFill>
                  <a:srgbClr val="125C60"/>
                </a:solidFill>
                <a:latin typeface="Proxima Nova" pitchFamily="34" charset="0"/>
                <a:ea typeface="Proxima Nova" pitchFamily="34" charset="-122"/>
                <a:cs typeface="Proxima Nova" pitchFamily="34" charset="-120"/>
              </a:rPr>
              <a:t>74.4%</a:t>
            </a:r>
            <a:pPr indent="0" marL="0">
              <a:buNone/>
            </a:pPr>
            <a:r>
              <a:rPr lang="en-US" sz="1200" dirty="0">
                <a:solidFill>
                  <a:srgbClr val="231F20"/>
                </a:solidFill>
                <a:latin typeface="Proxima Nova" pitchFamily="34" charset="0"/>
                <a:ea typeface="Proxima Nova" pitchFamily="34" charset="-122"/>
                <a:cs typeface="Proxima Nova" pitchFamily="34" charset="-120"/>
              </a:rPr>
              <a:t> and meeting services in </a:t>
            </a:r>
            <a:pPr indent="0" marL="0">
              <a:buNone/>
            </a:pPr>
            <a:r>
              <a:rPr lang="en-US" sz="1200" b="1" dirty="0">
                <a:solidFill>
                  <a:srgbClr val="125C60"/>
                </a:solidFill>
                <a:latin typeface="Proxima Nova" pitchFamily="34" charset="0"/>
                <a:ea typeface="Proxima Nova" pitchFamily="34" charset="-122"/>
                <a:cs typeface="Proxima Nova" pitchFamily="34" charset="-120"/>
              </a:rPr>
              <a:t>3.4%</a:t>
            </a:r>
            <a:pPr indent="0" marL="0">
              <a:buNone/>
            </a:pPr>
            <a:r>
              <a:rPr lang="en-US" sz="1200" dirty="0">
                <a:solidFill>
                  <a:srgbClr val="231F20"/>
                </a:solidFill>
                <a:latin typeface="Proxima Nova" pitchFamily="34" charset="0"/>
                <a:ea typeface="Proxima Nova" pitchFamily="34" charset="-122"/>
                <a:cs typeface="Proxima Nova" pitchFamily="34" charset="-120"/>
              </a:rPr>
              <a:t>.</a:t>
            </a:r>
            <a:endParaRPr lang="en-US" sz="1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OC Vibe area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5.2%</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Share of Anaheim visitor days (visitors 50+ miles; employees excluded)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Disneyland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74.4%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Share of Anaheim visitor days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visitors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79.2% overnight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Repeat 49.6% · 6+ day stays 27.6%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Share of Anaheim visitor days that include each cluster, 2024 (%)</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Datafy assigns each visitor day to the clusters a device visited; a day can include several clusters, so shares add to more than </a:t>
            </a:r>
            <a:pPr indent="0" marL="0">
              <a:buNone/>
            </a:pPr>
            <a:r>
              <a:rPr lang="en-US" sz="900" b="1" dirty="0">
                <a:solidFill>
                  <a:srgbClr val="125C60"/>
                </a:solidFill>
                <a:latin typeface="Proxima Nova" pitchFamily="34" charset="0"/>
                <a:ea typeface="Proxima Nova" pitchFamily="34" charset="-122"/>
                <a:cs typeface="Proxima Nova" pitchFamily="34" charset="-120"/>
              </a:rPr>
              <a:t>100%</a:t>
            </a:r>
            <a:pPr indent="0" marL="0">
              <a:buNone/>
            </a:pPr>
            <a:r>
              <a:rPr lang="en-US" sz="900" dirty="0">
                <a:solidFill>
                  <a:srgbClr val="231F20"/>
                </a:solidFill>
                <a:latin typeface="Proxima Nova" pitchFamily="34" charset="0"/>
                <a:ea typeface="Proxima Nova" pitchFamily="34" charset="-122"/>
                <a:cs typeface="Proxima Nova" pitchFamily="34" charset="-120"/>
              </a:rPr>
              <a:t>.</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Datafy's calendar 2025 export (in the library) uses a different basis and is not yet used here; it will be reconciled at the next quarterly update.</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Datafy (calendar 2024). Files in the app library: Datafy tables export, Anaheim, calendar 2025; District 5 visitor profile (POI Analysis).</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Which markets bring visitors and spending?</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District 5 and who visits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Southern California dominates: Los Angeles and Riverside metros are </a:t>
            </a:r>
            <a:pPr indent="0" marL="0">
              <a:buNone/>
            </a:pPr>
            <a:r>
              <a:rPr lang="en-US" sz="1200" b="1" dirty="0">
                <a:solidFill>
                  <a:srgbClr val="125C60"/>
                </a:solidFill>
                <a:latin typeface="Proxima Nova" pitchFamily="34" charset="0"/>
                <a:ea typeface="Proxima Nova" pitchFamily="34" charset="-122"/>
                <a:cs typeface="Proxima Nova" pitchFamily="34" charset="-120"/>
              </a:rPr>
              <a:t>46.2%</a:t>
            </a:r>
            <a:pPr indent="0" marL="0">
              <a:buNone/>
            </a:pPr>
            <a:r>
              <a:rPr lang="en-US" sz="1200" dirty="0">
                <a:solidFill>
                  <a:srgbClr val="231F20"/>
                </a:solidFill>
                <a:latin typeface="Proxima Nova" pitchFamily="34" charset="0"/>
                <a:ea typeface="Proxima Nova" pitchFamily="34" charset="-122"/>
                <a:cs typeface="Proxima Nova" pitchFamily="34" charset="-120"/>
              </a:rPr>
              <a:t> of District 5 visitors. By card spending, the leading fly-in metros are Seattle, Phoenix, Las Vegas, Orlando and New York; internationally, Mexico, Canada and Japan.</a:t>
            </a:r>
            <a:endParaRPr lang="en-US" sz="1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District 5 visitors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California 56.0%</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Texas 4.5% · Virginia 4.2% · Florida 3.7% · Arizona 2.4%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Visitor card spending (U.S.)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$464.6M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Los Angeles metro 66.1%; Seattle $5.4M, Phoenix $4.9M, Las Vegas $4.5M, Orlando $3.4M, New York $3.3M (Aug.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International card spending</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$17.9M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Mexico $5.2M, Canada $3.2M, Japan $2.4M, United Kingdom $1.4M (Aug.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International visitors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2.16M (2026 forecast)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Anaheim and Garden Grove; Mexico 819,078 (+6.9%)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Top states for District 5 visitors (% of unique domestic visitors)</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Origins are home locations of devices (Azira) or cardholder home metros (Visa). </a:t>
            </a:r>
            <a:pPr indent="0" marL="0">
              <a:buNone/>
            </a:pPr>
            <a:r>
              <a:rPr lang="en-US" sz="900" b="1" dirty="0">
                <a:solidFill>
                  <a:srgbClr val="125C60"/>
                </a:solidFill>
                <a:latin typeface="Proxima Nova" pitchFamily="34" charset="0"/>
                <a:ea typeface="Proxima Nova" pitchFamily="34" charset="-122"/>
                <a:cs typeface="Proxima Nova" pitchFamily="34" charset="-120"/>
              </a:rPr>
              <a:t>46.2%</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23.6%</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22.6%</a:t>
            </a:r>
            <a:pPr indent="0" marL="0">
              <a:buNone/>
            </a:pPr>
            <a:r>
              <a:rPr lang="en-US" sz="900" dirty="0">
                <a:solidFill>
                  <a:srgbClr val="231F20"/>
                </a:solidFill>
                <a:latin typeface="Proxima Nova" pitchFamily="34" charset="0"/>
                <a:ea typeface="Proxima Nova" pitchFamily="34" charset="-122"/>
                <a:cs typeface="Proxima Nova" pitchFamily="34" charset="-120"/>
              </a:rPr>
              <a:t>.</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Visa covers Visa cards only, and its geography set needs confirmation; use it for ranking markets, not totals.</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Azira via Symphony (Jan. 1–May 31, 2026); Visa Destination Insights via Symphony; Tourism Economics, Anaheim and Garden Grove Travel Forecast (Sept. 2026). Files in the app library: District 5 visitor profile (POI Analysis); Visitor card spending by visitor type; International card activity; Anaheim and Garden Grove Travel Forecast, Sept. 2026 (Q2 2026 results).</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Does Visit Anaheim's marketing bring visitors?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District 5 and who visits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Yes. From January through August 2026, paid media produced </a:t>
            </a:r>
            <a:pPr indent="0" marL="0">
              <a:buNone/>
            </a:pPr>
            <a:r>
              <a:rPr lang="en-US" sz="1200" b="1" dirty="0">
                <a:solidFill>
                  <a:srgbClr val="125C60"/>
                </a:solidFill>
                <a:latin typeface="Proxima Nova" pitchFamily="34" charset="0"/>
                <a:ea typeface="Proxima Nova" pitchFamily="34" charset="-122"/>
                <a:cs typeface="Proxima Nova" pitchFamily="34" charset="-120"/>
              </a:rPr>
              <a:t>31.0M</a:t>
            </a:r>
            <a:pPr indent="0" marL="0">
              <a:buNone/>
            </a:pPr>
            <a:r>
              <a:rPr lang="en-US" sz="1200" dirty="0">
                <a:solidFill>
                  <a:srgbClr val="231F20"/>
                </a:solidFill>
                <a:latin typeface="Proxima Nova" pitchFamily="34" charset="0"/>
                <a:ea typeface="Proxima Nova" pitchFamily="34" charset="-122"/>
                <a:cs typeface="Proxima Nova" pitchFamily="34" charset="-120"/>
              </a:rPr>
              <a:t> measurable impressions and </a:t>
            </a:r>
            <a:pPr indent="0" marL="0">
              <a:buNone/>
            </a:pPr>
            <a:r>
              <a:rPr lang="en-US" sz="1200" b="1" dirty="0">
                <a:solidFill>
                  <a:srgbClr val="125C60"/>
                </a:solidFill>
                <a:latin typeface="Proxima Nova" pitchFamily="34" charset="0"/>
                <a:ea typeface="Proxima Nova" pitchFamily="34" charset="-122"/>
                <a:cs typeface="Proxima Nova" pitchFamily="34" charset="-120"/>
              </a:rPr>
              <a:t>368,416</a:t>
            </a:r>
            <a:pPr indent="0" marL="0">
              <a:buNone/>
            </a:pPr>
            <a:r>
              <a:rPr lang="en-US" sz="1200" dirty="0">
                <a:solidFill>
                  <a:srgbClr val="231F20"/>
                </a:solidFill>
                <a:latin typeface="Proxima Nova" pitchFamily="34" charset="0"/>
                <a:ea typeface="Proxima Nova" pitchFamily="34" charset="-122"/>
                <a:cs typeface="Proxima Nova" pitchFamily="34" charset="-120"/>
              </a:rPr>
              <a:t> observed visits (</a:t>
            </a:r>
            <a:pPr indent="0" marL="0">
              <a:buNone/>
            </a:pPr>
            <a:r>
              <a:rPr lang="en-US" sz="1200" b="1" dirty="0">
                <a:solidFill>
                  <a:srgbClr val="125C60"/>
                </a:solidFill>
                <a:latin typeface="Proxima Nova" pitchFamily="34" charset="0"/>
                <a:ea typeface="Proxima Nova" pitchFamily="34" charset="-122"/>
                <a:cs typeface="Proxima Nova" pitchFamily="34" charset="-120"/>
              </a:rPr>
              <a:t>11.9</a:t>
            </a:r>
            <a:pPr indent="0" marL="0">
              <a:buNone/>
            </a:pPr>
            <a:r>
              <a:rPr lang="en-US" sz="1200" dirty="0">
                <a:solidFill>
                  <a:srgbClr val="231F20"/>
                </a:solidFill>
                <a:latin typeface="Proxima Nova" pitchFamily="34" charset="0"/>
                <a:ea typeface="Proxima Nova" pitchFamily="34" charset="-122"/>
                <a:cs typeface="Proxima Nova" pitchFamily="34" charset="-120"/>
              </a:rPr>
              <a:t> per </a:t>
            </a:r>
            <a:pPr indent="0" marL="0">
              <a:buNone/>
            </a:pPr>
            <a:r>
              <a:rPr lang="en-US" sz="1200" b="1" dirty="0">
                <a:solidFill>
                  <a:srgbClr val="125C60"/>
                </a:solidFill>
                <a:latin typeface="Proxima Nova" pitchFamily="34" charset="0"/>
                <a:ea typeface="Proxima Nova" pitchFamily="34" charset="-122"/>
                <a:cs typeface="Proxima Nova" pitchFamily="34" charset="-120"/>
              </a:rPr>
              <a:t>1,000</a:t>
            </a:r>
            <a:pPr indent="0" marL="0">
              <a:buNone/>
            </a:pPr>
            <a:r>
              <a:rPr lang="en-US" sz="1200" dirty="0">
                <a:solidFill>
                  <a:srgbClr val="231F20"/>
                </a:solidFill>
                <a:latin typeface="Proxima Nova" pitchFamily="34" charset="0"/>
                <a:ea typeface="Proxima Nova" pitchFamily="34" charset="-122"/>
                <a:cs typeface="Proxima Nova" pitchFamily="34" charset="-120"/>
              </a:rPr>
              <a:t> impressions), arriving about </a:t>
            </a:r>
            <a:pPr indent="0" marL="0">
              <a:buNone/>
            </a:pPr>
            <a:r>
              <a:rPr lang="en-US" sz="1200" b="1" dirty="0">
                <a:solidFill>
                  <a:srgbClr val="125C60"/>
                </a:solidFill>
                <a:latin typeface="Proxima Nova" pitchFamily="34" charset="0"/>
                <a:ea typeface="Proxima Nova" pitchFamily="34" charset="-122"/>
                <a:cs typeface="Proxima Nova" pitchFamily="34" charset="-120"/>
              </a:rPr>
              <a:t>39 days</a:t>
            </a:r>
            <a:pPr indent="0" marL="0">
              <a:buNone/>
            </a:pPr>
            <a:r>
              <a:rPr lang="en-US" sz="1200" dirty="0">
                <a:solidFill>
                  <a:srgbClr val="231F20"/>
                </a:solidFill>
                <a:latin typeface="Proxima Nova" pitchFamily="34" charset="0"/>
                <a:ea typeface="Proxima Nova" pitchFamily="34" charset="-122"/>
                <a:cs typeface="Proxima Nova" pitchFamily="34" charset="-120"/>
              </a:rPr>
              <a:t> after seeing an ad.</a:t>
            </a:r>
            <a:endParaRPr lang="en-US" sz="12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All campaigns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368,416 visits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31,011,072 impressions · visit rate 1.19%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Best campaign rate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34.4 per 1,000</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Luxury campaign, Basis DSP</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Top vendor by visits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183,900 visits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Basis DSP (13.3M impressions)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Visits per 1,000 impressions by vendor</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Visits per </a:t>
            </a:r>
            <a:pPr indent="0" marL="0">
              <a:buNone/>
            </a:pPr>
            <a:r>
              <a:rPr lang="en-US" sz="900" b="1" dirty="0">
                <a:solidFill>
                  <a:srgbClr val="125C60"/>
                </a:solidFill>
                <a:latin typeface="Proxima Nova" pitchFamily="34" charset="0"/>
                <a:ea typeface="Proxima Nova" pitchFamily="34" charset="-122"/>
                <a:cs typeface="Proxima Nova" pitchFamily="34" charset="-120"/>
              </a:rPr>
              <a:t>1,000</a:t>
            </a:r>
            <a:pPr indent="0" marL="0">
              <a:buNone/>
            </a:pPr>
            <a:r>
              <a:rPr lang="en-US" sz="900" dirty="0">
                <a:solidFill>
                  <a:srgbClr val="231F20"/>
                </a:solidFill>
                <a:latin typeface="Proxima Nova" pitchFamily="34" charset="0"/>
                <a:ea typeface="Proxima Nova" pitchFamily="34" charset="-122"/>
                <a:cs typeface="Proxima Nova" pitchFamily="34" charset="-120"/>
              </a:rPr>
              <a:t> impressions = observed visits ÷ measurable impressions × </a:t>
            </a:r>
            <a:pPr indent="0" marL="0">
              <a:buNone/>
            </a:pPr>
            <a:r>
              <a:rPr lang="en-US" sz="900" b="1" dirty="0">
                <a:solidFill>
                  <a:srgbClr val="125C60"/>
                </a:solidFill>
                <a:latin typeface="Proxima Nova" pitchFamily="34" charset="0"/>
                <a:ea typeface="Proxima Nova" pitchFamily="34" charset="-122"/>
                <a:cs typeface="Proxima Nova" pitchFamily="34" charset="-120"/>
              </a:rPr>
              <a:t>1,000</a:t>
            </a:r>
            <a:pPr indent="0" marL="0">
              <a:buNone/>
            </a:pPr>
            <a:r>
              <a:rPr lang="en-US" sz="900" dirty="0">
                <a:solidFill>
                  <a:srgbClr val="231F20"/>
                </a:solidFill>
                <a:latin typeface="Proxima Nova" pitchFamily="34" charset="0"/>
                <a:ea typeface="Proxima Nova" pitchFamily="34" charset="-122"/>
                <a:cs typeface="Proxima Nova" pitchFamily="34" charset="-120"/>
              </a:rPr>
              <a:t>. Only the first visit after exposure counts, with at least </a:t>
            </a:r>
            <a:pPr indent="0" marL="0">
              <a:buNone/>
            </a:pPr>
            <a:r>
              <a:rPr lang="en-US" sz="900" b="1" dirty="0">
                <a:solidFill>
                  <a:srgbClr val="125C60"/>
                </a:solidFill>
                <a:latin typeface="Proxima Nova" pitchFamily="34" charset="0"/>
                <a:ea typeface="Proxima Nova" pitchFamily="34" charset="-122"/>
                <a:cs typeface="Proxima Nova" pitchFamily="34" charset="-120"/>
              </a:rPr>
              <a:t>3 days</a:t>
            </a:r>
            <a:pPr indent="0" marL="0">
              <a:buNone/>
            </a:pPr>
            <a:r>
              <a:rPr lang="en-US" sz="900" dirty="0">
                <a:solidFill>
                  <a:srgbClr val="231F20"/>
                </a:solidFill>
                <a:latin typeface="Proxima Nova" pitchFamily="34" charset="0"/>
                <a:ea typeface="Proxima Nova" pitchFamily="34" charset="-122"/>
                <a:cs typeface="Proxima Nova" pitchFamily="34" charset="-120"/>
              </a:rPr>
              <a:t> from exposure to visit.</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Observed visits are a sample-based measure, not total visitors caused by ads.</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Azira attribution via Symphony (Jan. 1–Aug. 31, 2026); Azira attribution via Symphony. Files in the app library: Media attribution summary.</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are hotels performing?</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Hotels and outlook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Resort-area hotels filled </a:t>
            </a:r>
            <a:pPr indent="0" marL="0">
              <a:buNone/>
            </a:pPr>
            <a:r>
              <a:rPr lang="en-US" sz="1200" b="1" dirty="0">
                <a:solidFill>
                  <a:srgbClr val="125C60"/>
                </a:solidFill>
                <a:latin typeface="Proxima Nova" pitchFamily="34" charset="0"/>
                <a:ea typeface="Proxima Nova" pitchFamily="34" charset="-122"/>
                <a:cs typeface="Proxima Nova" pitchFamily="34" charset="-120"/>
              </a:rPr>
              <a:t>78.4%</a:t>
            </a:r>
            <a:pPr indent="0" marL="0">
              <a:buNone/>
            </a:pPr>
            <a:r>
              <a:rPr lang="en-US" sz="1200" dirty="0">
                <a:solidFill>
                  <a:srgbClr val="231F20"/>
                </a:solidFill>
                <a:latin typeface="Proxima Nova" pitchFamily="34" charset="0"/>
                <a:ea typeface="Proxima Nova" pitchFamily="34" charset="-122"/>
                <a:cs typeface="Proxima Nova" pitchFamily="34" charset="-120"/>
              </a:rPr>
              <a:t> of rooms at </a:t>
            </a:r>
            <a:pPr indent="0" marL="0">
              <a:buNone/>
            </a:pPr>
            <a:r>
              <a:rPr lang="en-US" sz="1200" b="1" dirty="0">
                <a:solidFill>
                  <a:srgbClr val="125C60"/>
                </a:solidFill>
                <a:latin typeface="Proxima Nova" pitchFamily="34" charset="0"/>
                <a:ea typeface="Proxima Nova" pitchFamily="34" charset="-122"/>
                <a:cs typeface="Proxima Nova" pitchFamily="34" charset="-120"/>
              </a:rPr>
              <a:t>$255</a:t>
            </a:r>
            <a:pPr indent="0" marL="0">
              <a:buNone/>
            </a:pPr>
            <a:r>
              <a:rPr lang="en-US" sz="1200" dirty="0">
                <a:solidFill>
                  <a:srgbClr val="231F20"/>
                </a:solidFill>
                <a:latin typeface="Proxima Nova" pitchFamily="34" charset="0"/>
                <a:ea typeface="Proxima Nova" pitchFamily="34" charset="-122"/>
                <a:cs typeface="Proxima Nova" pitchFamily="34" charset="-120"/>
              </a:rPr>
              <a:t> a night over the past 12 months (CoStar Disneyland submarket); countywide </a:t>
            </a:r>
            <a:pPr indent="0" marL="0">
              <a:buNone/>
            </a:pPr>
            <a:r>
              <a:rPr lang="en-US" sz="1200" b="1" dirty="0">
                <a:solidFill>
                  <a:srgbClr val="125C60"/>
                </a:solidFill>
                <a:latin typeface="Proxima Nova" pitchFamily="34" charset="0"/>
                <a:ea typeface="Proxima Nova" pitchFamily="34" charset="-122"/>
                <a:cs typeface="Proxima Nova" pitchFamily="34" charset="-120"/>
              </a:rPr>
              <a:t>74.0%</a:t>
            </a:r>
            <a:pPr indent="0" marL="0">
              <a:buNone/>
            </a:pPr>
            <a:r>
              <a:rPr lang="en-US" sz="1200" dirty="0">
                <a:solidFill>
                  <a:srgbClr val="231F20"/>
                </a:solidFill>
                <a:latin typeface="Proxima Nova" pitchFamily="34" charset="0"/>
                <a:ea typeface="Proxima Nova" pitchFamily="34" charset="-122"/>
                <a:cs typeface="Proxima Nova" pitchFamily="34" charset="-120"/>
              </a:rPr>
              <a:t> at </a:t>
            </a:r>
            <a:pPr indent="0" marL="0">
              <a:buNone/>
            </a:pPr>
            <a:r>
              <a:rPr lang="en-US" sz="1200" b="1" dirty="0">
                <a:solidFill>
                  <a:srgbClr val="125C60"/>
                </a:solidFill>
                <a:latin typeface="Proxima Nova" pitchFamily="34" charset="0"/>
                <a:ea typeface="Proxima Nova" pitchFamily="34" charset="-122"/>
                <a:cs typeface="Proxima Nova" pitchFamily="34" charset="-120"/>
              </a:rPr>
              <a:t>$218</a:t>
            </a:r>
            <a:pPr indent="0" marL="0">
              <a:buNone/>
            </a:pPr>
            <a:r>
              <a:rPr lang="en-US" sz="1200" dirty="0">
                <a:solidFill>
                  <a:srgbClr val="231F20"/>
                </a:solidFill>
                <a:latin typeface="Proxima Nova" pitchFamily="34" charset="0"/>
                <a:ea typeface="Proxima Nova" pitchFamily="34" charset="-122"/>
                <a:cs typeface="Proxima Nova" pitchFamily="34" charset="-120"/>
              </a:rPr>
              <a:t>. Anaheim hotel revenue per room rose </a:t>
            </a:r>
            <a:pPr indent="0" marL="0">
              <a:buNone/>
            </a:pPr>
            <a:r>
              <a:rPr lang="en-US" sz="1200" b="1" dirty="0">
                <a:solidFill>
                  <a:srgbClr val="125C60"/>
                </a:solidFill>
                <a:latin typeface="Proxima Nova" pitchFamily="34" charset="0"/>
                <a:ea typeface="Proxima Nova" pitchFamily="34" charset="-122"/>
                <a:cs typeface="Proxima Nova" pitchFamily="34" charset="-120"/>
              </a:rPr>
              <a:t>11.4%</a:t>
            </a:r>
            <a:pPr indent="0" marL="0">
              <a:buNone/>
            </a:pPr>
            <a:r>
              <a:rPr lang="en-US" sz="1200" dirty="0">
                <a:solidFill>
                  <a:srgbClr val="231F20"/>
                </a:solidFill>
                <a:latin typeface="Proxima Nova" pitchFamily="34" charset="0"/>
                <a:ea typeface="Proxima Nova" pitchFamily="34" charset="-122"/>
                <a:cs typeface="Proxima Nova" pitchFamily="34" charset="-120"/>
              </a:rPr>
              <a:t> in Q2 2026, about twice the U.S. (</a:t>
            </a:r>
            <a:pPr indent="0" marL="0">
              <a:buNone/>
            </a:pPr>
            <a:r>
              <a:rPr lang="en-US" sz="1200" b="1" dirty="0">
                <a:solidFill>
                  <a:srgbClr val="125C60"/>
                </a:solidFill>
                <a:latin typeface="Proxima Nova" pitchFamily="34" charset="0"/>
                <a:ea typeface="Proxima Nova" pitchFamily="34" charset="-122"/>
                <a:cs typeface="Proxima Nova" pitchFamily="34" charset="-120"/>
              </a:rPr>
              <a:t>+5.7%</a:t>
            </a:r>
            <a:pPr indent="0" marL="0">
              <a:buNone/>
            </a:pPr>
            <a:r>
              <a:rPr lang="en-US" sz="1200" dirty="0">
                <a:solidFill>
                  <a:srgbClr val="231F20"/>
                </a:solidFill>
                <a:latin typeface="Proxima Nova" pitchFamily="34" charset="0"/>
                <a:ea typeface="Proxima Nova" pitchFamily="34" charset="-122"/>
                <a:cs typeface="Proxima Nova" pitchFamily="34" charset="-120"/>
              </a:rPr>
              <a:t>).</a:t>
            </a:r>
            <a:endParaRPr lang="en-US" sz="1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Disneyland submarket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78.4% · $255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RevPAR $199.78 (+7.9%); 21,213 rooms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74.0% · $218</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RevPAR $162 (+6.9%); 60,223 rooms; 668 under construction</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market vs. U.S.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+11.4% vs. +5.7%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Revenue per available room, Q2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Hotel occupancy by Orange County submarket, 12 months (%)</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Occupancy = rooms sold ÷ rooms available; ADR = room revenue ÷ rooms sold; RevPAR = room revenue ÷ rooms available.</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CoStar, STR and LARC use different hotel sets; compare trends, not levels.</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CoStar (through Aug. 2026); LARC Market Intelligence Report (Sept. 2026). Files in the app library: Orange County hospitality market report; Disneyland hospitality submarket report; Anaheim Market Intelligence Report, Sept. 2026; STR daily hotel data, Visit Anaheim hotel sets.</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is the outlook to 2028?</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Hotels and outlook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Tourism Economics forecasts Anaheim visitors rising to </a:t>
            </a:r>
            <a:pPr indent="0" marL="0">
              <a:buNone/>
            </a:pPr>
            <a:r>
              <a:rPr lang="en-US" sz="1200" b="1" dirty="0">
                <a:solidFill>
                  <a:srgbClr val="125C60"/>
                </a:solidFill>
                <a:latin typeface="Proxima Nova" pitchFamily="34" charset="0"/>
                <a:ea typeface="Proxima Nova" pitchFamily="34" charset="-122"/>
                <a:cs typeface="Proxima Nova" pitchFamily="34" charset="-120"/>
              </a:rPr>
              <a:t>27.6M</a:t>
            </a:r>
            <a:pPr indent="0" marL="0">
              <a:buNone/>
            </a:pPr>
            <a:r>
              <a:rPr lang="en-US" sz="1200" dirty="0">
                <a:solidFill>
                  <a:srgbClr val="231F20"/>
                </a:solidFill>
                <a:latin typeface="Proxima Nova" pitchFamily="34" charset="0"/>
                <a:ea typeface="Proxima Nova" pitchFamily="34" charset="-122"/>
                <a:cs typeface="Proxima Nova" pitchFamily="34" charset="-120"/>
              </a:rPr>
              <a:t> and spending to </a:t>
            </a:r>
            <a:pPr indent="0" marL="0">
              <a:buNone/>
            </a:pPr>
            <a:r>
              <a:rPr lang="en-US" sz="1200" b="1" dirty="0">
                <a:solidFill>
                  <a:srgbClr val="125C60"/>
                </a:solidFill>
                <a:latin typeface="Proxima Nova" pitchFamily="34" charset="0"/>
                <a:ea typeface="Proxima Nova" pitchFamily="34" charset="-122"/>
                <a:cs typeface="Proxima Nova" pitchFamily="34" charset="-120"/>
              </a:rPr>
              <a:t>$7.7B</a:t>
            </a:r>
            <a:pPr indent="0" marL="0">
              <a:buNone/>
            </a:pPr>
            <a:r>
              <a:rPr lang="en-US" sz="1200" dirty="0">
                <a:solidFill>
                  <a:srgbClr val="231F20"/>
                </a:solidFill>
                <a:latin typeface="Proxima Nova" pitchFamily="34" charset="0"/>
                <a:ea typeface="Proxima Nova" pitchFamily="34" charset="-122"/>
                <a:cs typeface="Proxima Nova" pitchFamily="34" charset="-120"/>
              </a:rPr>
              <a:t> by 2028. LARC forecasts Anaheim hotel revenue per room of </a:t>
            </a:r>
            <a:pPr indent="0" marL="0">
              <a:buNone/>
            </a:pPr>
            <a:r>
              <a:rPr lang="en-US" sz="1200" b="1" dirty="0">
                <a:solidFill>
                  <a:srgbClr val="125C60"/>
                </a:solidFill>
                <a:latin typeface="Proxima Nova" pitchFamily="34" charset="0"/>
                <a:ea typeface="Proxima Nova" pitchFamily="34" charset="-122"/>
                <a:cs typeface="Proxima Nova" pitchFamily="34" charset="-120"/>
              </a:rPr>
              <a:t>$162.18</a:t>
            </a:r>
            <a:pPr indent="0" marL="0">
              <a:buNone/>
            </a:pPr>
            <a:r>
              <a:rPr lang="en-US" sz="1200" dirty="0">
                <a:solidFill>
                  <a:srgbClr val="231F20"/>
                </a:solidFill>
                <a:latin typeface="Proxima Nova" pitchFamily="34" charset="0"/>
                <a:ea typeface="Proxima Nova" pitchFamily="34" charset="-122"/>
                <a:cs typeface="Proxima Nova" pitchFamily="34" charset="-120"/>
              </a:rPr>
              <a:t> in 2026 (</a:t>
            </a:r>
            <a:pPr indent="0" marL="0">
              <a:buNone/>
            </a:pPr>
            <a:r>
              <a:rPr lang="en-US" sz="1200" b="1" dirty="0">
                <a:solidFill>
                  <a:srgbClr val="125C60"/>
                </a:solidFill>
                <a:latin typeface="Proxima Nova" pitchFamily="34" charset="0"/>
                <a:ea typeface="Proxima Nova" pitchFamily="34" charset="-122"/>
                <a:cs typeface="Proxima Nova" pitchFamily="34" charset="-120"/>
              </a:rPr>
              <a:t>+7.0%</a:t>
            </a:r>
            <a:pPr indent="0" marL="0">
              <a:buNone/>
            </a:pPr>
            <a:r>
              <a:rPr lang="en-US" sz="1200" dirty="0">
                <a:solidFill>
                  <a:srgbClr val="231F20"/>
                </a:solidFill>
                <a:latin typeface="Proxima Nova" pitchFamily="34" charset="0"/>
                <a:ea typeface="Proxima Nova" pitchFamily="34" charset="-122"/>
                <a:cs typeface="Proxima Nova" pitchFamily="34" charset="-120"/>
              </a:rPr>
              <a:t>). Nationally, trips are forecast to grow </a:t>
            </a:r>
            <a:pPr indent="0" marL="0">
              <a:buNone/>
            </a:pPr>
            <a:r>
              <a:rPr lang="en-US" sz="1200" b="1" dirty="0">
                <a:solidFill>
                  <a:srgbClr val="125C60"/>
                </a:solidFill>
                <a:latin typeface="Proxima Nova" pitchFamily="34" charset="0"/>
                <a:ea typeface="Proxima Nova" pitchFamily="34" charset="-122"/>
                <a:cs typeface="Proxima Nova" pitchFamily="34" charset="-120"/>
              </a:rPr>
              <a:t>2.0%</a:t>
            </a:r>
            <a:pPr indent="0" marL="0">
              <a:buNone/>
            </a:pPr>
            <a:r>
              <a:rPr lang="en-US" sz="1200" dirty="0">
                <a:solidFill>
                  <a:srgbClr val="231F20"/>
                </a:solidFill>
                <a:latin typeface="Proxima Nova" pitchFamily="34" charset="0"/>
                <a:ea typeface="Proxima Nova" pitchFamily="34" charset="-122"/>
                <a:cs typeface="Proxima Nova" pitchFamily="34" charset="-120"/>
              </a:rPr>
              <a:t> in 2026.</a:t>
            </a:r>
            <a:endParaRPr lang="en-US" sz="1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visitors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27.0M (2026) · 27.6M (2028)</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Spending $7.2B (2026) · $7.7B (2028)</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hotels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$162.18 RevPAR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Occupancy 73.9%, ADR $219.53</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 travel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2.51B trips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Spending $1.374T (real 2025 dollars); international arrivals 70.6M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Anaheim visitor spending, actual and forecast ($B)</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Forecasts as published by Tourism Economics (Sept. 2026), LARC (Sept. 2026) and the U.S. Travel Association (Spring 2026).</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Forecasts change with each edition; the June edition had </a:t>
            </a:r>
            <a:pPr indent="0" marL="0">
              <a:buNone/>
            </a:pPr>
            <a:r>
              <a:rPr lang="en-US" sz="900" b="1" dirty="0">
                <a:solidFill>
                  <a:srgbClr val="125C60"/>
                </a:solidFill>
                <a:latin typeface="Proxima Nova" pitchFamily="34" charset="0"/>
                <a:ea typeface="Proxima Nova" pitchFamily="34" charset="-122"/>
                <a:cs typeface="Proxima Nova" pitchFamily="34" charset="-120"/>
              </a:rPr>
              <a:t>27.1M</a:t>
            </a:r>
            <a:pPr indent="0" marL="0">
              <a:buNone/>
            </a:pPr>
            <a:r>
              <a:rPr lang="en-US" sz="900" dirty="0">
                <a:solidFill>
                  <a:srgbClr val="231F20"/>
                </a:solidFill>
                <a:latin typeface="Proxima Nova" pitchFamily="34" charset="0"/>
                <a:ea typeface="Proxima Nova" pitchFamily="34" charset="-122"/>
                <a:cs typeface="Proxima Nova" pitchFamily="34" charset="-120"/>
              </a:rPr>
              <a:t> visitors for 2026.</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Anaheim and Garden Grove Travel Forecast (Sept. 2026); LARC (Sept. 2026); U.S. Travel Association and Tourism Economics, Travel Forecast, Spring 2026 (real 2025 dollars). Files in the app library: Anaheim and Garden Grove Travel Forecast, Sept. 2026 (Q2 2026 results); Anaheim and Garden Grove Travel Forecast, June 2026 (Q1 2026 results); Anaheim Market Intelligence Report, Sept. 2026; Hotel forecasts combined, 3Q 2026 edition.</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About the data</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Limits and differences between sources to keep in mind</a:t>
            </a:r>
            <a:endParaRPr lang="en-US" sz="1200" dirty="0"/>
          </a:p>
        </p:txBody>
      </p:sp>
      <p:sp>
        <p:nvSpPr>
          <p:cNvPr id="4" name="Text 2"/>
          <p:cNvSpPr txBox="1"/>
          <p:nvPr/>
        </p:nvSpPr>
        <p:spPr>
          <a:xfrm>
            <a:off x="548640" y="1463040"/>
            <a:ext cx="11094415" cy="4389120"/>
          </a:xfrm>
          <a:prstGeom prst="rect">
            <a:avLst/>
          </a:prstGeom>
          <a:noFill/>
          <a:ln/>
        </p:spPr>
        <p:txBody>
          <a:bodyPr wrap="square" lIns="0" tIns="0" rIns="0" bIns="0" rtlCol="0" anchor="t"/>
          <a:lstStyle/>
          <a:p>
            <a:pPr algn="l" marL="177800" indent="-177800">
              <a:spcAft>
                <a:spcPts val="600"/>
              </a:spcAft>
              <a:buSzPct val="100000"/>
              <a:buChar char="•"/>
            </a:pPr>
            <a:r>
              <a:rPr lang="en-US" sz="1200" dirty="0">
                <a:solidFill>
                  <a:srgbClr val="231F20"/>
                </a:solidFill>
                <a:latin typeface="Proxima Nova" pitchFamily="34" charset="0"/>
                <a:ea typeface="Proxima Nova" pitchFamily="34" charset="-122"/>
                <a:cs typeface="Proxima Nova" pitchFamily="34" charset="-120"/>
              </a:rPr>
              <a:t>Orange County visitor counts come from two methods (CIC Research 2009-2019; Tourism Economics 2021-2025) and are shown as separate series; 2020 and 2026 year to date are not published for the county.</a:t>
            </a:r>
            <a:endParaRPr lang="en-US" sz="1200" dirty="0"/>
          </a:p>
          <a:p>
            <a:pPr algn="l" marL="177800" indent="-177800">
              <a:spcAft>
                <a:spcPts val="600"/>
              </a:spcAft>
              <a:buSzPct val="100000"/>
              <a:buChar char="•"/>
            </a:pPr>
            <a:r>
              <a:rPr lang="en-US" sz="1200" dirty="0">
                <a:solidFill>
                  <a:srgbClr val="231F20"/>
                </a:solidFill>
                <a:latin typeface="Proxima Nova" pitchFamily="34" charset="0"/>
                <a:ea typeface="Proxima Nova" pitchFamily="34" charset="-122"/>
                <a:cs typeface="Proxima Nova" pitchFamily="34" charset="-120"/>
              </a:rPr>
              <a:t>Azira files cover Anaheim and Garden Grove, not Orange County, and carry no ZIP codes; 2026 length of stay and distance shares reflect a likely method change.</a:t>
            </a:r>
            <a:endParaRPr lang="en-US" sz="1200" dirty="0"/>
          </a:p>
          <a:p>
            <a:pPr algn="l" marL="177800" indent="-177800">
              <a:spcAft>
                <a:spcPts val="600"/>
              </a:spcAft>
              <a:buSzPct val="100000"/>
              <a:buChar char="•"/>
            </a:pPr>
            <a:r>
              <a:rPr lang="en-US" sz="1200" dirty="0">
                <a:solidFill>
                  <a:srgbClr val="231F20"/>
                </a:solidFill>
                <a:latin typeface="Proxima Nova" pitchFamily="34" charset="0"/>
                <a:ea typeface="Proxima Nova" pitchFamily="34" charset="-122"/>
                <a:cs typeface="Proxima Nova" pitchFamily="34" charset="-120"/>
              </a:rPr>
              <a:t>The latest Orange County visitor profile (trip purpose, party size, children) is CIC Research's 2019 study.</a:t>
            </a:r>
            <a:endParaRPr lang="en-US" sz="1200" dirty="0"/>
          </a:p>
          <a:p>
            <a:pPr algn="l" marL="177800" indent="-177800">
              <a:spcAft>
                <a:spcPts val="600"/>
              </a:spcAft>
              <a:buSzPct val="100000"/>
              <a:buChar char="•"/>
            </a:pPr>
            <a:r>
              <a:rPr lang="en-US" sz="1200" dirty="0">
                <a:solidFill>
                  <a:srgbClr val="231F20"/>
                </a:solidFill>
                <a:latin typeface="Proxima Nova" pitchFamily="34" charset="0"/>
                <a:ea typeface="Proxima Nova" pitchFamily="34" charset="-122"/>
                <a:cs typeface="Proxima Nova" pitchFamily="34" charset="-120"/>
              </a:rPr>
              <a:t>Tourism Economics counts a visitor as anyone who stays overnight or travels more than 50 miles; each region is modeled on its own, so city and county totals do not add.</a:t>
            </a:r>
            <a:endParaRPr lang="en-US" sz="1200" dirty="0"/>
          </a:p>
          <a:p>
            <a:pPr algn="l" marL="177800" indent="-177800">
              <a:spcAft>
                <a:spcPts val="600"/>
              </a:spcAft>
              <a:buSzPct val="100000"/>
              <a:buChar char="•"/>
            </a:pPr>
            <a:r>
              <a:rPr lang="en-US" sz="1200" dirty="0">
                <a:solidFill>
                  <a:srgbClr val="231F20"/>
                </a:solidFill>
                <a:latin typeface="Proxima Nova" pitchFamily="34" charset="0"/>
                <a:ea typeface="Proxima Nova" pitchFamily="34" charset="-122"/>
                <a:cs typeface="Proxima Nova" pitchFamily="34" charset="-120"/>
              </a:rPr>
              <a:t>Location data (Azira, Datafy) and card data (Visa) describe visitor mix and rank markets; they are not visitor counts. Compare within each source.</a:t>
            </a:r>
            <a:endParaRPr lang="en-US" sz="1200" dirty="0"/>
          </a:p>
          <a:p>
            <a:pPr algn="l" marL="177800" indent="-177800">
              <a:spcAft>
                <a:spcPts val="600"/>
              </a:spcAft>
              <a:buSzPct val="100000"/>
              <a:buChar char="•"/>
            </a:pPr>
            <a:r>
              <a:rPr lang="en-US" sz="1200" dirty="0">
                <a:solidFill>
                  <a:srgbClr val="231F20"/>
                </a:solidFill>
                <a:latin typeface="Proxima Nova" pitchFamily="34" charset="0"/>
                <a:ea typeface="Proxima Nova" pitchFamily="34" charset="-122"/>
                <a:cs typeface="Proxima Nova" pitchFamily="34" charset="-120"/>
              </a:rPr>
              <a:t>One-more-night values are scenarios that hold spending per day constant; they are not forecasts.</a:t>
            </a:r>
            <a:endParaRPr lang="en-US" sz="1200" dirty="0"/>
          </a:p>
        </p:txBody>
      </p:sp>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 (Oct. 14,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Reports and data library</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60 files used to build this report · open or download each one in the app (Reports and data library)</a:t>
            </a:r>
            <a:endParaRPr lang="en-US" sz="1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737360"/>
                <a:gridCol w="3931920"/>
                <a:gridCol w="2194560"/>
                <a:gridCol w="1600200"/>
                <a:gridCol w="1097280"/>
                <a:gridCol w="533095"/>
              </a:tblGrid>
              <a:tr h="329184">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Topic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File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Publisher</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Covers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Published</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Type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Economic impact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Economic Impact of Visitors to Anaheim,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Calendar 2025 vs. 2024</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Apr.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Economic impact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Economic Impact of Visitors to Anaheim, 2025: supplemental charts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Calendar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Apr.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Economic impact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Economic Impact of Visitors to Garden Grove,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Calendar 2025 vs. 2024</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Apr.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Economic impact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Economic Impact of Visitors to Garden Grove, 2025: supplemental charts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Calendar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Apr.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Economic impact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Economic Impact of Visitors to Orange County,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Calendar 2025 vs. 2024</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May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Economic impact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Economic Impact of Visitors to Orange County, 2025: supplemental charts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Calendar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May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Economic impact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Economic impact one-pagers, 2025: Orange County, Anaheim and Garden Grove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Calendar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Apr.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Annual Profile of Visitors to Anaheim and Orange County, 2019</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CIC Research</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Calendar 2019; visitor volume 2009-2019</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Apr. 2020</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The Economic Impact of Travel in California, 2025p</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Dean Runyan Associates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2015-2025p</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Apr.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 Travel Impacts by Assembly District, 2025p</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Dean Runyan Associates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2019-2025p</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Apr.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 Travel Forecast data, Sept.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2019-2030 (forecast from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Sept.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State and Regional Lodging Forecast, Sept.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2013-2029 (forecast from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Sept.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Monthly Travel Indicators, Aug.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Visit California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Aug.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Oct. 8,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 Reports and data library (Oct. 14, 2026). Files as received from each publisher.</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Reports and data library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60 files used to build this report · open or download each one in the app (Reports and data library)</a:t>
            </a:r>
            <a:endParaRPr lang="en-US" sz="12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737360"/>
                <a:gridCol w="3931920"/>
                <a:gridCol w="2194560"/>
                <a:gridCol w="1600200"/>
                <a:gridCol w="1097280"/>
                <a:gridCol w="533095"/>
              </a:tblGrid>
              <a:tr h="329184">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Topic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File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Publisher</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Covers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Published</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Type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 Resident Sentiment on Travel and Tourism, 2022-2025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Visit California (Omnitrak)</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2022-2025 survey waves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Mar. 24,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Azira length of stay trend, Anaheim and Garden Grove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Symphony | Tourism Economics (Azira)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Jan. 1, 2023-Aug. 31,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Pulled Oct.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Azira distance share trend, Anaheim and Garden Grove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Symphony | Tourism Economics (Azira)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Jan. 1, 2023-Aug. 31,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Pulled Oct.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Azira origin share by metro area (MSA), Anaheim and Garden Grove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Symphony | Tourism Economics (Azira)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Jan. 1, 2023-Aug. 31,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Pulled Oct.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Azira origin share by TV market (DMA), Anaheim and Garden Grove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Symphony | Tourism Economics (Azira)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Jan. 1, 2023-Aug. 31,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Pulled Oct.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Azira international average length of stay, Anaheim and Garden Grove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Symphony | Tourism Economics (Azira)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Jan. 1, 2023-Aug. 31,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Pulled Oct.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Quarterly results and forecasts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Anaheim and Garden Grove Travel Forecast, Sept. 2026 (Q2 2026 results)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2019–2028; Q2 2026 actual</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Sept.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Quarterly results and forecasts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Anaheim and Garden Grove Travel Forecast, June 2026 (Q1 2026 results)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2019–2028; Q1 2026 actual</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June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One more night study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One more night study (Extra Night Calculation)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Visit Anaheim Business Intelligence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2025 inputs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2025; recalculated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PPTX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One more night study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One more night workbook (TID Request data)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Visit Anaheim Business Intelligence (Symphony, STR, Simpleview inputs)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2020–2025; hotel nights July 2024–2025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Exported Jan. 20,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Who visits and District 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District 5 visitor profile (POI Analysis)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Symphony | Tourism Economics (Azira)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Jan. 1–May 31,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Exported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Who visits and District 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Domestic visitors to Anaheim and Garden Grove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Symphony | Tourism Economics (Azira)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Aug.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Exported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Who visits and District 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Visitor card spending by visitor type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Visa Destination Insights via Symphony | 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Aug. 2026 vs. Aug.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Exported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 Reports and data library (Oct. 14, 2026). Files as received from each publisher.</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Reports and data library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60 files used to build this report · open or download each one in the app (Reports and data library)</a:t>
            </a:r>
            <a:endParaRPr lang="en-US" sz="1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737360"/>
                <a:gridCol w="3931920"/>
                <a:gridCol w="2194560"/>
                <a:gridCol w="1600200"/>
                <a:gridCol w="1097280"/>
                <a:gridCol w="533095"/>
              </a:tblGrid>
              <a:tr h="329184">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Topic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File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Publisher</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Covers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Published</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Type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Who visits and District 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International card activity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Visa Destination Insights via Symphony | 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Aug. 2026 vs. Aug.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Exported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Who visits and District 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Datafy tables export, Anaheim, calendar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Datafy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Jan. 1–Dec. 31, 2025 (trends 2023–2025)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Exported Feb. 17,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Marketing attribution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Media attribution summary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Symphony | Tourism Economics (Azira attribution feed)</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Exposures Jan. 1–Aug. 31,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Exported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Hotels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Orange County hospitality market report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CoStar Group</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12 months and YTD through Aug.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Pulled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Hotels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Disneyland hospitality submarket report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CoStar Group</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12 months and YTD through Aug.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Pulled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Hotels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Orange County hospitality capital markets report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CoStar Group</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Through Aug.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Pulled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Hotels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CoStar submarket export, monthly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CoStar Group</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Monthly Jan.–Aug.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Processed Aug. 31,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Hotels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STR daily hotel data, Visit Anaheim hotel sets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STR (CoStar Group)</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Jan. 1–Oct. 3, 2026, daily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Provided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Hotels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Hotel forecasts combined, 1Q 2026 edition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Lodging Analytics Research &amp; Consulting (LARC)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Forecast to 2030</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1Q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Hotels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Hotel forecasts combined, 2Q 2026 edition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Lodging Analytics Research &amp; Consulting (LARC)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Forecast to 2030</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2Q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Hotels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Hotel forecasts combined, 3Q 2026 edition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Lodging Analytics Research &amp; Consulting (LARC)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Forecast to 2030</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3Q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Market outlook</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Anaheim Market Intelligence Report, Jan.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Lodging Analytics Research &amp; Consulting (LARC)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Data to Jan. 2026 edition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Jan.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Market outlook</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Anaheim Market Intelligence Report, Apr.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Lodging Analytics Research &amp; Consulting (LARC)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Data to Apr. 2026 edition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Apr.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 Reports and data library (Oct. 14, 2026). Files as received from each publisher.</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Reports and data library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60 files used to build this report · open or download each one in the app (Reports and data library)</a:t>
            </a:r>
            <a:endParaRPr lang="en-US" sz="1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737360"/>
                <a:gridCol w="3931920"/>
                <a:gridCol w="2194560"/>
                <a:gridCol w="1600200"/>
                <a:gridCol w="1097280"/>
                <a:gridCol w="533095"/>
              </a:tblGrid>
              <a:tr h="329184">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Topic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File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Publisher</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Covers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Published</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Type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Market outlook</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Anaheim Market Intelligence Report, June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Lodging Analytics Research &amp; Consulting (LARC)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Data to June 2026 edition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June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Market outlook</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Anaheim Market Intelligence Report, July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Lodging Analytics Research &amp; Consulting (LARC)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Data to July 2026 edition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July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Market outlook</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Anaheim Market Intelligence Report, Sept.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Lodging Analytics Research &amp; Consulting (LARC)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Data to Sept. 2026 edition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Sept.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2026 Traffic Flow Map</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Orange County Transportation Authority (OCTA)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Counts 2021–2024</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Aug.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OCTA bus schedules (GTFS feed)</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Orange County Transportation Authority (OCTA)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Service Aug. 9–Nov. 7,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Provided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ZIP</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Amtrak service in Anaheim, CA (ANA)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Rail Passengers Association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2018–2024</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Oct. 27,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Metrolink fact sheet, FY2025-26 Q2</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Metrolink (SCRRA)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Oct.–Dec.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FY2025-26 Q2</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County Transportation Profile: Orange County, CA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U.S. Bureau of Transportation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American Community Survey (year not stated)</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Provided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County Transportation Profile data: demographics and the economy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U.S. Bureau of Transportation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As in the profile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Provided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Transportation Economic Trends: table guide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U.S. Bureau of Transportation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All TET tables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Accessed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Orange County: operating statistics by operator</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(state data snapshots)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2003–2017</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Downloaded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CSV</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Orange County: financial data by operator</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(state data snapshots)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2003–2017</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Downloaded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CSV</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Orange County: financial data by operator (second view)</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(state data snapshots)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2003–2017</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Downloaded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CSV</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 Reports and data library (Oct. 14, 2026). Files as received from each publisher.</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Reports and data library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60 files used to build this report · open or download each one in the app (Reports and data library)</a:t>
            </a:r>
            <a:endParaRPr lang="en-US" sz="12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737360"/>
                <a:gridCol w="3931920"/>
                <a:gridCol w="2194560"/>
                <a:gridCol w="1600200"/>
                <a:gridCol w="1097280"/>
                <a:gridCol w="533095"/>
              </a:tblGrid>
              <a:tr h="329184">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Topic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File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Publisher</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Covers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Published</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Type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Orange County: financial data by type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(state data snapshots)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2003–2017</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Downloaded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CSV</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Orange County: total passengers by mode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(state data snapshots)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2003–2017</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Downloaded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CSV</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Orange County: operating statistics by operator (second view)</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(state data snapshots)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2003–2017</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Downloaded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CSV</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Orange County: operating statistics by operator (third view)</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(state data snapshots)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2003–2017</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Downloaded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CSV</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Destination program</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Program of Experiences, 2027</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Visit Anaheim</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2027</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This report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OC Vibe Insights, full report (PDF)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Visit Anaheim Business Intelligence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Data through Sept.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Updated quarterly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This report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OC Vibe Insights, full deck (PowerPoint)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Visit Anaheim Business Intelligence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Data through Sept.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Updated quarterly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PPTX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This report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Questions answered: Anaheim, Orange County and U.S. (PowerPoint)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Visit Anaheim Business Intelligence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Data through Sept.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Oct. 14,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PPTX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 Reports and data library (Oct. 14, 2026). Files as received from each publisher.</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Public sources used (links)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Published by others and linked rather than hosted</a:t>
            </a:r>
            <a:endParaRPr lang="en-US" sz="12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840480"/>
                <a:gridCol w="4023360"/>
                <a:gridCol w="3230575"/>
              </a:tblGrid>
              <a:tr h="548640">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Source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What it is used for</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Link</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54864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Visit California: The Economic Impact of Travel in California, 2025p (Dean Runyan Associates, Apr. 6,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California and Orange County travel spending, jobs and taxes; statewide spending on local transportation, gas and visitor air. Accessed Oct. 14,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https://www.visitvisalia.com//caeconomicimpactreport_2025-low-res.pdf</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54864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 Travel Association and Tourism Economics: Travel Forecast, Spring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U.S. travel spending ($1.360T in 2025) and trips (2.46B), real 2025 dollars. Accessed Oct. 14,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https://www.ustravel.org/sites/default/files/2026-05/US_Travel-Forecast_Spring26.pdf</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54864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 Travel Association: Economic Impact of the U.S. Travel Industry (2025 data)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U.S. jobs supported (15M+), economic output ($3.0T) and state and local taxes ($92B). Accessed Oct. 14,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https://www.ustravel.org/sites/default/files/media_root/economic-impact/pdf/DCH26_EconImp_National_FIN.pdf</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54864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Visit California 2025 report summary (Rural County Representatives of California, May 15,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Secondary summary of the statewide 2025 results.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https://www.rcrcnet.org/general/visit-california-releases-2025-economic-impact-report-a-story-of-resilience/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54864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 Bureau of Transportation Statistics: Transportation Economic Trends data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Gas prices, airfares and car costs, 2019–2025 (Tables 3.1, 3.4, 6.6). Accessed Oct.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https://data.bts.gov/resource/tcq5-4pgu.json</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54864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 Bureau of Economic Analysis: Travel and Tourism Satellite Account, 2018–2023</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National tourism output ($1.52T direct, 2023) and 6.5M direct tourism jobs. Accessed Oct. 14,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https://apps.bea.gov/scb/issues/2025/02-february/0225-travel-tourism-satellite-account.htm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Accessed dates as listed.</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oxima Nov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oxima Nov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0FC4979223D3F4F8ACA1256696572B0" ma:contentTypeVersion="9" ma:contentTypeDescription="Create a new document." ma:contentTypeScope="" ma:versionID="5bec7ac07237f680a7bd44260216b081">
  <xsd:schema xmlns:xsd="http://www.w3.org/2001/XMLSchema" xmlns:xs="http://www.w3.org/2001/XMLSchema" xmlns:p="http://schemas.microsoft.com/office/2006/metadata/properties" xmlns:ns2="d19ff334-c877-4aa1-91a5-0eec512030d6" targetNamespace="http://schemas.microsoft.com/office/2006/metadata/properties" ma:root="true" ma:fieldsID="9709f6edfecda1367f5e9212db946075" ns2:_="">
    <xsd:import namespace="d19ff334-c877-4aa1-91a5-0eec512030d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9ff334-c877-4aa1-91a5-0eec512030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895bdb12-9539-4e14-a8be-417d3eac86a2"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19ff334-c877-4aa1-91a5-0eec512030d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F41B69C-CD89-4904-8E48-E4F198B21FD3}"/>
</file>

<file path=customXml/itemProps2.xml><?xml version="1.0" encoding="utf-8"?>
<ds:datastoreItem xmlns:ds="http://schemas.openxmlformats.org/officeDocument/2006/customXml" ds:itemID="{00C376A4-3AA9-4F7B-8341-1D0028E72F9A}"/>
</file>

<file path=customXml/itemProps3.xml><?xml version="1.0" encoding="utf-8"?>
<ds:datastoreItem xmlns:ds="http://schemas.openxmlformats.org/officeDocument/2006/customXml" ds:itemID="{56463D03-6084-4AC9-86F3-2502D5AE7360}"/>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Visit Anaheim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 Vibe Insights: Questions answered</dc:title>
  <dc:subject>PptxGenJS Presentation</dc:subject>
  <dc:creator>Visit Anaheim Business Intelligence</dc:creator>
  <cp:lastModifiedBy>Visit Anaheim Business Intelligence</cp:lastModifiedBy>
  <cp:revision>1</cp:revision>
  <dcterms:created xsi:type="dcterms:W3CDTF">2026-10-19T19:36:21Z</dcterms:created>
  <dcterms:modified xsi:type="dcterms:W3CDTF">2026-10-19T19:36:21Z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0x010100B0FC4979223D3F4F8ACA1256696572B0</vt:lpwstr>
  </property>
</Properties>
</file>