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6.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charts/chart7.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8.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charts/chart9.xml" ContentType="application/vnd.openxmlformats-officedocument.drawingml.chart+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charts/chart10.xml" ContentType="application/vnd.openxmlformats-officedocument.drawingml.chart+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charts/chart11.xml" ContentType="application/vnd.openxmlformats-officedocument.drawingml.chart+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charts/chart12.xml" ContentType="application/vnd.openxmlformats-officedocument.drawingml.chart+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3.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charts/chart14.xml" ContentType="application/vnd.openxmlformats-officedocument.drawingml.chart+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5.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6.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Lst>
  <p:notesMasterIdLst>
    <p:notesMasterId r:id="rId1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e94a3cf-1515-0a93-c027-6bc2a3d0d129}">
          <p14:sldIdLst>
            <p14:sldId id="256"/>
            <p14:sldId id="257"/>
            <p14:sldId id="258"/>
            <p14:sldId id="259"/>
            <p14:sldId id="260"/>
            <p14:sldId id="261"/>
            <p14:sldId id="262"/>
          </p14:sldIdLst>
        </p14:section>
        <p14:section name="Questions answered" id="{51691d95-2f97-23b2-e664-59946da42256}">
          <p14:sldIdLst>
            <p14:sldId id="263"/>
            <p14:sldId id="264"/>
            <p14:sldId id="265"/>
            <p14:sldId id="266"/>
            <p14:sldId id="267"/>
            <p14:sldId id="268"/>
            <p14:sldId id="269"/>
            <p14:sldId id="270"/>
            <p14:sldId id="271"/>
            <p14:sldId id="272"/>
          </p14:sldIdLst>
        </p14:section>
        <p14:section name="Anaheim and OC Vibe today" id="{21d98396-64d6-41c1-8bb9-6a697a4ddf23}">
          <p14:sldIdLst>
            <p14:sldId id="273"/>
            <p14:sldId id="274"/>
            <p14:sldId id="275"/>
            <p14:sldId id="276"/>
            <p14:sldId id="277"/>
            <p14:sldId id="278"/>
            <p14:sldId id="279"/>
            <p14:sldId id="280"/>
            <p14:sldId id="281"/>
            <p14:sldId id="282"/>
            <p14:sldId id="283"/>
          </p14:sldIdLst>
        </p14:section>
        <p14:section name="Orange County tourism" id="{1070d66a-c63b-e01c-69eb-2a5a9e9ad812}">
          <p14:sldIdLst>
            <p14:sldId id="284"/>
            <p14:sldId id="285"/>
            <p14:sldId id="286"/>
            <p14:sldId id="287"/>
            <p14:sldId id="288"/>
            <p14:sldId id="289"/>
            <p14:sldId id="290"/>
            <p14:sldId id="291"/>
            <p14:sldId id="292"/>
            <p14:sldId id="293"/>
            <p14:sldId id="294"/>
            <p14:sldId id="295"/>
            <p14:sldId id="296"/>
            <p14:sldId id="297"/>
            <p14:sldId id="298"/>
            <p14:sldId id="299"/>
            <p14:sldId id="300"/>
          </p14:sldIdLst>
        </p14:section>
        <p14:section name="Who visits" id="{29f81a7b-04ac-6052-f8ed-e0d39f3f9425}">
          <p14:sldIdLst>
            <p14:sldId id="301"/>
            <p14:sldId id="302"/>
            <p14:sldId id="303"/>
            <p14:sldId id="304"/>
            <p14:sldId id="305"/>
            <p14:sldId id="306"/>
            <p14:sldId id="307"/>
            <p14:sldId id="308"/>
          </p14:sldIdLst>
        </p14:section>
        <p14:section name="Visitor spending" id="{816aff2c-81ec-057b-84db-3061518152a1}">
          <p14:sldIdLst>
            <p14:sldId id="309"/>
            <p14:sldId id="310"/>
            <p14:sldId id="311"/>
            <p14:sldId id="312"/>
            <p14:sldId id="313"/>
            <p14:sldId id="314"/>
            <p14:sldId id="315"/>
            <p14:sldId id="316"/>
            <p14:sldId id="317"/>
          </p14:sldIdLst>
        </p14:section>
        <p14:section name="Jobs and economy" id="{5d0fc4e1-7f1b-b443-4834-78acdb69a910}">
          <p14:sldIdLst>
            <p14:sldId id="318"/>
            <p14:sldId id="319"/>
            <p14:sldId id="320"/>
            <p14:sldId id="321"/>
            <p14:sldId id="322"/>
          </p14:sldIdLst>
        </p14:section>
        <p14:section name="Hotel market" id="{45b9cd82-be19-2e47-cba7-5d65cd67cfef}">
          <p14:sldIdLst>
            <p14:sldId id="323"/>
            <p14:sldId id="324"/>
            <p14:sldId id="325"/>
            <p14:sldId id="326"/>
            <p14:sldId id="327"/>
            <p14:sldId id="328"/>
            <p14:sldId id="329"/>
            <p14:sldId id="330"/>
            <p14:sldId id="331"/>
          </p14:sldIdLst>
        </p14:section>
        <p14:section name="One more night" id="{64dfd708-ff28-8301-3043-a241192830bc}">
          <p14:sldIdLst>
            <p14:sldId id="332"/>
            <p14:sldId id="333"/>
            <p14:sldId id="334"/>
            <p14:sldId id="335"/>
            <p14:sldId id="336"/>
            <p14:sldId id="337"/>
            <p14:sldId id="338"/>
          </p14:sldIdLst>
        </p14:section>
        <p14:section name="Getting here" id="{ccb9acfc-484d-8888-8269-4ead37240d93}">
          <p14:sldIdLst>
            <p14:sldId id="339"/>
            <p14:sldId id="340"/>
            <p14:sldId id="341"/>
            <p14:sldId id="342"/>
            <p14:sldId id="343"/>
            <p14:sldId id="344"/>
            <p14:sldId id="345"/>
            <p14:sldId id="346"/>
            <p14:sldId id="347"/>
            <p14:sldId id="348"/>
            <p14:sldId id="349"/>
            <p14:sldId id="350"/>
          </p14:sldIdLst>
        </p14:section>
        <p14:section name="Marketing reach" id="{c0d90fc6-2d4e-ae57-c2c0-41ba529da40f}">
          <p14:sldIdLst>
            <p14:sldId id="351"/>
            <p14:sldId id="352"/>
            <p14:sldId id="353"/>
            <p14:sldId id="354"/>
            <p14:sldId id="355"/>
            <p14:sldId id="356"/>
          </p14:sldIdLst>
        </p14:section>
        <p14:section name="Market outlook" id="{c4bc7f51-7f8a-663e-012b-1369133b1831}">
          <p14:sldIdLst>
            <p14:sldId id="357"/>
            <p14:sldId id="358"/>
            <p14:sldId id="359"/>
            <p14:sldId id="360"/>
            <p14:sldId id="361"/>
            <p14:sldId id="362"/>
            <p14:sldId id="363"/>
            <p14:sldId id="364"/>
          </p14:sldIdLst>
        </p14:section>
        <p14:section name="Compare and contrast" id="{b97d92a9-2765-317c-de57-1788ebca0fb1}">
          <p14:sldIdLst>
            <p14:sldId id="365"/>
            <p14:sldId id="366"/>
            <p14:sldId id="367"/>
            <p14:sldId id="368"/>
            <p14:sldId id="369"/>
          </p14:sldIdLst>
        </p14:section>
        <p14:section name="Reports and data library" id="{11e1059c-9429-48c8-c27b-3a1e49b844d0}">
          <p14:sldIdLst>
            <p14:sldId id="370"/>
            <p14:sldId id="371"/>
            <p14:sldId id="372"/>
            <p14:sldId id="373"/>
            <p14:sldId id="374"/>
            <p14:sldId id="375"/>
          </p14:sldIdLst>
        </p14:section>
        <p14:section name="Next steps" id="{cb8e86ff-6816-8e78-71f9-aca1d9ec103f}">
          <p14:sldIdLst>
            <p14:sldId id="376"/>
            <p14:sldId id="377"/>
            <p14:sldId id="378"/>
            <p14:sldId id="379"/>
            <p14:sldId id="380"/>
            <p14:sldId id="381"/>
            <p14:sldId id="382"/>
            <p14:sldId id="383"/>
            <p14:sldId id="384"/>
            <p14:sldId id="385"/>
          </p14:sldIdLst>
        </p14:section>
        <p14:section name="Appendix" id="{10c7495b-8635-9ff9-327f-e278b7a2c410}">
          <p14:sldIdLst>
            <p14:sldId id="386"/>
            <p14:sldId id="387"/>
            <p14:sldId id="388"/>
            <p14:sldId id="389"/>
            <p14:sldId id="390"/>
            <p14:sldId id="3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notesMaster" Target="notesMasters/notesMaster1.xml"/><Relationship Id="rId139" Type="http://schemas.openxmlformats.org/officeDocument/2006/relationships/presProps" Target="presProps.xml"/><Relationship Id="rId140" Type="http://schemas.openxmlformats.org/officeDocument/2006/relationships/viewProps" Target="viewProps.xml"/><Relationship Id="rId141" Type="http://schemas.openxmlformats.org/officeDocument/2006/relationships/theme" Target="theme/theme1.xml"/><Relationship Id="rId1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Anaheim Business Intelligence updates OC Vibe Insights each quarter, on the 15th of January, April, July and October, after Tourism Economics delivers its quarterly Anaheim Travel Forecast. The data was last updated Oct. 19, 2026; the next scheduled update is Jan. 15,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Anaheim sits inside a larger county market. The next section sizes Orange County: arrivals, origins, seasonality, visitor profile and hotels.
The five questions, as sent by Entertainment + Culture Advisors on Oct. 19, 2026: (1) How many visitors came to Orange County each year from 2019 to 2025, and so far in 2026, split by domestic and international and by overnight and day? (2) Where do visitors come from, and can the Los Angeles-Long Beach-Anaheim area be split into Anaheim and outside Anaheim? (3) How does visitation change month by month? (4) What is the purpose of the trip, how long do visitors stay, how large is the travel party and how many travel with children? (5) How many hotel rooms does Orange County have, and what are occupancy and average daily rate?
Two visitor series exist and are kept apart: CIC Research for Visit Anaheim (2009-2019, survey-based) and Tourism Economics (2021-2025, model-based). CIC counted 50.21M visitors in 2019; Tourism Economics counted 51.3M in 2025. Neither publishes 2020 for the county; Dean Runyan Associates shows county visitor spending fell to 46.7% of its 2019 level that year.
Origins can be shown at the metro-area level. The Los Angeles-Long Beach-Anaheim metro area includes all of Orange County, and Azira does not supply ZIP codes, so a split between Anaheim and the rest of the metro area is not available from current sources.
Monthly visitor counts are not published for Orange County. Hotel occupancy is the monthly measure: July averaged 80.6% and January 61.2% over 2023-2025 (CoStar).
The most recent Orange County visitor profile is CIC Research's 2019 study; no newer county survey was found in Visit Anaheim's SharePoint or in Visit California's research (searched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questions, as sent by Entertainment + Culture Advisors on Oct. 19, 2026: (1) How many visitors came to Orange County each year from 2019 to 2025, and so far in 2026, split by domestic and international and by overnight and day? (2) Where do visitors come from, and can the Los Angeles-Long Beach-Anaheim area be split into Anaheim and outside Anaheim? (3) How does visitation change month by month? (4) What is the purpose of the trip, how long do visitors stay, how large is the travel party and how many travel with children? (5) How many hotel rooms does Orange County have, and what are occupancy and average daily rate?
Two visitor series exist and are kept apart: CIC Research for Visit Anaheim (2009-2019, survey-based) and Tourism Economics (2021-2025, model-based). CIC counted 50.21M visitors in 2019; Tourism Economics counted 51.3M in 2025. Neither publishes 2020 for the county; Dean Runyan Associates shows county visitor spending fell to 46.7% of its 2019 level that year.
Origins can be shown at the metro-area level. The Los Angeles-Long Beach-Anaheim metro area includes all of Orange County, and Azira does not supply ZIP codes, so a split between Anaheim and the rest of the metro area is not available from current sources.
Monthly visitor counts are not published for Orange County. Hotel occupancy is the monthly measure: July averaged 80.6% and January 61.2% over 2023-2025 (CoStar).
The most recent Orange County visitor profile is CIC Research's 2019 study; no newer county survey was found in Visit Anaheim's SharePoint or in Visit California's research (searched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Orange County tourism: With the county market sized, the next question is who visits the OC Vibe area itself.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eg"/><Relationship Id="rId2" Type="http://schemas.openxmlformats.org/officeDocument/2006/relationships/slideLayout" Target="../slideLayouts/slideLayout4.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Updated quarterly; next update Jan. 15, 2027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Orange County market: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51.3M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in 2025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22.1M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93.3%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domestic);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55.4%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from Southern California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37.0%</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traveling with children (2019);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60,224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hotel rooms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$221.67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ADR in Jan.-Aug. 2026, with July the peak month. (Source: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Key takeaways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headline number from each section, with its period</a:t>
            </a:r>
            <a:endParaRPr lang="en-US" sz="1200" dirty="0"/>
          </a:p>
        </p:txBody>
      </p:sp>
      <p:sp>
        <p:nvSpPr>
          <p:cNvPr id="4" name="Shape 2"/>
          <p:cNvSpPr/>
          <p:nvPr/>
        </p:nvSpPr>
        <p:spPr>
          <a:xfrm>
            <a:off x="548640" y="1371600"/>
            <a:ext cx="3588410" cy="1417320"/>
          </a:xfrm>
          <a:prstGeom prst="rect">
            <a:avLst/>
          </a:prstGeom>
          <a:solidFill>
            <a:srgbClr val="FFFFFF"/>
          </a:solidFill>
          <a:ln w="12700">
            <a:solidFill>
              <a:srgbClr val="B4D9E3"/>
            </a:solidFill>
            <a:prstDash val="solid"/>
          </a:ln>
        </p:spPr>
      </p:sp>
      <p:sp>
        <p:nvSpPr>
          <p:cNvPr id="5" name="Shape 3"/>
          <p:cNvSpPr/>
          <p:nvPr/>
        </p:nvSpPr>
        <p:spPr>
          <a:xfrm>
            <a:off x="548640" y="1371600"/>
            <a:ext cx="3588410" cy="54864"/>
          </a:xfrm>
          <a:prstGeom prst="rect">
            <a:avLst/>
          </a:prstGeom>
          <a:solidFill>
            <a:srgbClr val="43A3A3"/>
          </a:solidFill>
          <a:ln w="12700">
            <a:solidFill>
              <a:srgbClr val="43A3A3"/>
            </a:solidFill>
            <a:prstDash val="solid"/>
          </a:ln>
        </p:spPr>
      </p:sp>
      <p:sp>
        <p:nvSpPr>
          <p:cNvPr id="6" name="Text 4"/>
          <p:cNvSpPr txBox="1"/>
          <p:nvPr/>
        </p:nvSpPr>
        <p:spPr>
          <a:xfrm>
            <a:off x="658368"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AND OC VIBE TODAY</a:t>
            </a:r>
            <a:endParaRPr lang="en-US" sz="850" dirty="0"/>
          </a:p>
        </p:txBody>
      </p:sp>
      <p:sp>
        <p:nvSpPr>
          <p:cNvPr id="7" name="Text 5"/>
          <p:cNvSpPr txBox="1"/>
          <p:nvPr/>
        </p:nvSpPr>
        <p:spPr>
          <a:xfrm>
            <a:off x="658368"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$6.83B</a:t>
            </a:r>
            <a:endParaRPr lang="en-US" sz="2400" dirty="0"/>
          </a:p>
        </p:txBody>
      </p:sp>
      <p:sp>
        <p:nvSpPr>
          <p:cNvPr id="8" name="Text 6"/>
          <p:cNvSpPr txBox="1"/>
          <p:nvPr/>
        </p:nvSpPr>
        <p:spPr>
          <a:xfrm>
            <a:off x="2423160"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visitor spending, 2025 (Tourism Economics)</a:t>
            </a:r>
            <a:endParaRPr lang="en-US" sz="950" dirty="0"/>
          </a:p>
        </p:txBody>
      </p:sp>
      <p:sp>
        <p:nvSpPr>
          <p:cNvPr id="9" name="Text 7"/>
          <p:cNvSpPr txBox="1"/>
          <p:nvPr/>
        </p:nvSpPr>
        <p:spPr>
          <a:xfrm>
            <a:off x="658368"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000" b="1" dirty="0">
                <a:solidFill>
                  <a:srgbClr val="125C60"/>
                </a:solidFill>
                <a:latin typeface="Proxima Nova" pitchFamily="34" charset="0"/>
                <a:ea typeface="Proxima Nova" pitchFamily="34" charset="-122"/>
                <a:cs typeface="Proxima Nova" pitchFamily="34" charset="-120"/>
              </a:rPr>
              <a:t>26.5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who spent </a:t>
            </a:r>
            <a:pPr indent="0" marL="0">
              <a:buNone/>
            </a:pPr>
            <a:r>
              <a:rPr lang="en-US" sz="1000" b="1" dirty="0">
                <a:solidFill>
                  <a:srgbClr val="125C60"/>
                </a:solidFill>
                <a:latin typeface="Proxima Nova" pitchFamily="34" charset="0"/>
                <a:ea typeface="Proxima Nova" pitchFamily="34" charset="-122"/>
                <a:cs typeface="Proxima Nova" pitchFamily="34" charset="-120"/>
              </a:rPr>
              <a:t>$6.83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2025</a:t>
            </a:r>
            <a:endParaRPr lang="en-US" sz="1000" dirty="0"/>
          </a:p>
        </p:txBody>
      </p:sp>
      <p:sp>
        <p:nvSpPr>
          <p:cNvPr id="10" name="Shape 8"/>
          <p:cNvSpPr/>
          <p:nvPr/>
        </p:nvSpPr>
        <p:spPr>
          <a:xfrm>
            <a:off x="4301642" y="1371600"/>
            <a:ext cx="3588410" cy="1417320"/>
          </a:xfrm>
          <a:prstGeom prst="rect">
            <a:avLst/>
          </a:prstGeom>
          <a:solidFill>
            <a:srgbClr val="FFFFFF"/>
          </a:solidFill>
          <a:ln w="12700">
            <a:solidFill>
              <a:srgbClr val="B4D9E3"/>
            </a:solidFill>
            <a:prstDash val="solid"/>
          </a:ln>
        </p:spPr>
      </p:sp>
      <p:sp>
        <p:nvSpPr>
          <p:cNvPr id="11" name="Shape 9"/>
          <p:cNvSpPr/>
          <p:nvPr/>
        </p:nvSpPr>
        <p:spPr>
          <a:xfrm>
            <a:off x="4301642" y="1371600"/>
            <a:ext cx="3588410" cy="54864"/>
          </a:xfrm>
          <a:prstGeom prst="rect">
            <a:avLst/>
          </a:prstGeom>
          <a:solidFill>
            <a:srgbClr val="43A3A3"/>
          </a:solidFill>
          <a:ln w="12700">
            <a:solidFill>
              <a:srgbClr val="43A3A3"/>
            </a:solidFill>
            <a:prstDash val="solid"/>
          </a:ln>
        </p:spPr>
      </p:sp>
      <p:sp>
        <p:nvSpPr>
          <p:cNvPr id="12" name="Text 10"/>
          <p:cNvSpPr txBox="1"/>
          <p:nvPr/>
        </p:nvSpPr>
        <p:spPr>
          <a:xfrm>
            <a:off x="4411370"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TOURISM</a:t>
            </a:r>
            <a:endParaRPr lang="en-US" sz="850" dirty="0"/>
          </a:p>
        </p:txBody>
      </p:sp>
      <p:sp>
        <p:nvSpPr>
          <p:cNvPr id="13" name="Text 11"/>
          <p:cNvSpPr txBox="1"/>
          <p:nvPr/>
        </p:nvSpPr>
        <p:spPr>
          <a:xfrm>
            <a:off x="4411370"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51.3M</a:t>
            </a:r>
            <a:endParaRPr lang="en-US" sz="2400" dirty="0"/>
          </a:p>
        </p:txBody>
      </p:sp>
      <p:sp>
        <p:nvSpPr>
          <p:cNvPr id="14" name="Text 12"/>
          <p:cNvSpPr txBox="1"/>
          <p:nvPr/>
        </p:nvSpPr>
        <p:spPr>
          <a:xfrm>
            <a:off x="6176162"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visitors, 2025 (Tourism Economics)</a:t>
            </a:r>
            <a:endParaRPr lang="en-US" sz="950" dirty="0"/>
          </a:p>
        </p:txBody>
      </p:sp>
      <p:sp>
        <p:nvSpPr>
          <p:cNvPr id="15" name="Text 13"/>
          <p:cNvSpPr txBox="1"/>
          <p:nvPr/>
        </p:nvSpPr>
        <p:spPr>
          <a:xfrm>
            <a:off x="4411370"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draws </a:t>
            </a:r>
            <a:pPr indent="0" marL="0">
              <a:buNone/>
            </a:pPr>
            <a:r>
              <a:rPr lang="en-US" sz="1000" b="1" dirty="0">
                <a:solidFill>
                  <a:srgbClr val="125C60"/>
                </a:solidFill>
                <a:latin typeface="Proxima Nova" pitchFamily="34" charset="0"/>
                <a:ea typeface="Proxima Nova" pitchFamily="34" charset="-122"/>
                <a:cs typeface="Proxima Nova" pitchFamily="34" charset="-120"/>
              </a:rPr>
              <a:t>51.3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a year;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75%</a:t>
            </a:r>
            <a:pPr indent="0" marL="0">
              <a:buNone/>
            </a:pPr>
            <a:r>
              <a:rPr lang="en-US" sz="1000" dirty="0">
                <a:solidFill>
                  <a:srgbClr val="231F20"/>
                </a:solidFill>
                <a:latin typeface="Proxima Nova" pitchFamily="34" charset="0"/>
                <a:ea typeface="Proxima Nova" pitchFamily="34" charset="-122"/>
                <a:cs typeface="Proxima Nova" pitchFamily="34" charset="-120"/>
              </a:rPr>
              <a:t> of rooms in 2026</a:t>
            </a:r>
            <a:endParaRPr lang="en-US" sz="1000" dirty="0"/>
          </a:p>
        </p:txBody>
      </p:sp>
      <p:sp>
        <p:nvSpPr>
          <p:cNvPr id="16" name="Shape 14"/>
          <p:cNvSpPr/>
          <p:nvPr/>
        </p:nvSpPr>
        <p:spPr>
          <a:xfrm>
            <a:off x="8054645" y="1371600"/>
            <a:ext cx="3588410" cy="1417320"/>
          </a:xfrm>
          <a:prstGeom prst="rect">
            <a:avLst/>
          </a:prstGeom>
          <a:solidFill>
            <a:srgbClr val="FFFFFF"/>
          </a:solidFill>
          <a:ln w="12700">
            <a:solidFill>
              <a:srgbClr val="B4D9E3"/>
            </a:solidFill>
            <a:prstDash val="solid"/>
          </a:ln>
        </p:spPr>
      </p:sp>
      <p:sp>
        <p:nvSpPr>
          <p:cNvPr id="17" name="Shape 15"/>
          <p:cNvSpPr/>
          <p:nvPr/>
        </p:nvSpPr>
        <p:spPr>
          <a:xfrm>
            <a:off x="8054645" y="1371600"/>
            <a:ext cx="3588410" cy="54864"/>
          </a:xfrm>
          <a:prstGeom prst="rect">
            <a:avLst/>
          </a:prstGeom>
          <a:solidFill>
            <a:srgbClr val="43A3A3"/>
          </a:solidFill>
          <a:ln w="12700">
            <a:solidFill>
              <a:srgbClr val="43A3A3"/>
            </a:solidFill>
            <a:prstDash val="solid"/>
          </a:ln>
        </p:spPr>
      </p:sp>
      <p:sp>
        <p:nvSpPr>
          <p:cNvPr id="18" name="Text 16"/>
          <p:cNvSpPr txBox="1"/>
          <p:nvPr/>
        </p:nvSpPr>
        <p:spPr>
          <a:xfrm>
            <a:off x="8164373"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WHO VISITS</a:t>
            </a:r>
            <a:endParaRPr lang="en-US" sz="850" dirty="0"/>
          </a:p>
        </p:txBody>
      </p:sp>
      <p:sp>
        <p:nvSpPr>
          <p:cNvPr id="19" name="Text 17"/>
          <p:cNvSpPr txBox="1"/>
          <p:nvPr/>
        </p:nvSpPr>
        <p:spPr>
          <a:xfrm>
            <a:off x="8164373"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20" name="Text 18"/>
          <p:cNvSpPr txBox="1"/>
          <p:nvPr/>
        </p:nvSpPr>
        <p:spPr>
          <a:xfrm>
            <a:off x="9929165"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of District 5 visitors stay overnight</a:t>
            </a:r>
            <a:endParaRPr lang="en-US" sz="950" dirty="0"/>
          </a:p>
        </p:txBody>
      </p:sp>
      <p:sp>
        <p:nvSpPr>
          <p:cNvPr id="21" name="Text 19"/>
          <p:cNvSpPr txBox="1"/>
          <p:nvPr/>
        </p:nvSpPr>
        <p:spPr>
          <a:xfrm>
            <a:off x="8164373"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Most District 5 visitors stay overnight, and </a:t>
            </a:r>
            <a:pPr indent="0" marL="0">
              <a:buNone/>
            </a:pPr>
            <a:r>
              <a:rPr lang="en-US" sz="1000" b="1" dirty="0">
                <a:solidFill>
                  <a:srgbClr val="125C60"/>
                </a:solidFill>
                <a:latin typeface="Proxima Nova" pitchFamily="34" charset="0"/>
                <a:ea typeface="Proxima Nova" pitchFamily="34" charset="-122"/>
                <a:cs typeface="Proxima Nova" pitchFamily="34" charset="-120"/>
              </a:rPr>
              <a:t>44%</a:t>
            </a:r>
            <a:pPr indent="0" marL="0">
              <a:buNone/>
            </a:pPr>
            <a:r>
              <a:rPr lang="en-US" sz="1000" dirty="0">
                <a:solidFill>
                  <a:srgbClr val="231F20"/>
                </a:solidFill>
                <a:latin typeface="Proxima Nova" pitchFamily="34" charset="0"/>
                <a:ea typeface="Proxima Nova" pitchFamily="34" charset="-122"/>
                <a:cs typeface="Proxima Nova" pitchFamily="34" charset="-120"/>
              </a:rPr>
              <a:t> are new</a:t>
            </a:r>
            <a:endParaRPr lang="en-US" sz="1000" dirty="0"/>
          </a:p>
        </p:txBody>
      </p:sp>
      <p:sp>
        <p:nvSpPr>
          <p:cNvPr id="22" name="Shape 20"/>
          <p:cNvSpPr/>
          <p:nvPr/>
        </p:nvSpPr>
        <p:spPr>
          <a:xfrm>
            <a:off x="548640" y="2880360"/>
            <a:ext cx="3588410" cy="1417320"/>
          </a:xfrm>
          <a:prstGeom prst="rect">
            <a:avLst/>
          </a:prstGeom>
          <a:solidFill>
            <a:srgbClr val="FFFFFF"/>
          </a:solidFill>
          <a:ln w="12700">
            <a:solidFill>
              <a:srgbClr val="B4D9E3"/>
            </a:solidFill>
            <a:prstDash val="solid"/>
          </a:ln>
        </p:spPr>
      </p:sp>
      <p:sp>
        <p:nvSpPr>
          <p:cNvPr id="23" name="Shape 21"/>
          <p:cNvSpPr/>
          <p:nvPr/>
        </p:nvSpPr>
        <p:spPr>
          <a:xfrm>
            <a:off x="548640" y="2880360"/>
            <a:ext cx="3588410" cy="54864"/>
          </a:xfrm>
          <a:prstGeom prst="rect">
            <a:avLst/>
          </a:prstGeom>
          <a:solidFill>
            <a:srgbClr val="43A3A3"/>
          </a:solidFill>
          <a:ln w="12700">
            <a:solidFill>
              <a:srgbClr val="43A3A3"/>
            </a:solidFill>
            <a:prstDash val="solid"/>
          </a:ln>
        </p:spPr>
      </p:sp>
      <p:sp>
        <p:nvSpPr>
          <p:cNvPr id="24" name="Text 22"/>
          <p:cNvSpPr txBox="1"/>
          <p:nvPr/>
        </p:nvSpPr>
        <p:spPr>
          <a:xfrm>
            <a:off x="658368"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SPENDING</a:t>
            </a:r>
            <a:endParaRPr lang="en-US" sz="850" dirty="0"/>
          </a:p>
        </p:txBody>
      </p:sp>
      <p:sp>
        <p:nvSpPr>
          <p:cNvPr id="25" name="Text 23"/>
          <p:cNvSpPr txBox="1"/>
          <p:nvPr/>
        </p:nvSpPr>
        <p:spPr>
          <a:xfrm>
            <a:off x="658368"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$258</a:t>
            </a:r>
            <a:endParaRPr lang="en-US" sz="2400" dirty="0"/>
          </a:p>
        </p:txBody>
      </p:sp>
      <p:sp>
        <p:nvSpPr>
          <p:cNvPr id="26" name="Text 24"/>
          <p:cNvSpPr txBox="1"/>
          <p:nvPr/>
        </p:nvSpPr>
        <p:spPr>
          <a:xfrm>
            <a:off x="2423160"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spent per Anaheim visitor, 2025</a:t>
            </a:r>
            <a:endParaRPr lang="en-US" sz="950" dirty="0"/>
          </a:p>
        </p:txBody>
      </p:sp>
      <p:sp>
        <p:nvSpPr>
          <p:cNvPr id="27" name="Text 25"/>
          <p:cNvSpPr txBox="1"/>
          <p:nvPr/>
        </p:nvSpPr>
        <p:spPr>
          <a:xfrm>
            <a:off x="658368"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visitors spent </a:t>
            </a:r>
            <a:pPr indent="0" marL="0">
              <a:buNone/>
            </a:pPr>
            <a:r>
              <a:rPr lang="en-US" sz="10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the second quarter, up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endParaRPr lang="en-US" sz="1000" dirty="0"/>
          </a:p>
        </p:txBody>
      </p:sp>
      <p:sp>
        <p:nvSpPr>
          <p:cNvPr id="28" name="Shape 26"/>
          <p:cNvSpPr/>
          <p:nvPr/>
        </p:nvSpPr>
        <p:spPr>
          <a:xfrm>
            <a:off x="4301642" y="2880360"/>
            <a:ext cx="3588410" cy="1417320"/>
          </a:xfrm>
          <a:prstGeom prst="rect">
            <a:avLst/>
          </a:prstGeom>
          <a:solidFill>
            <a:srgbClr val="FFFFFF"/>
          </a:solidFill>
          <a:ln w="12700">
            <a:solidFill>
              <a:srgbClr val="B4D9E3"/>
            </a:solidFill>
            <a:prstDash val="solid"/>
          </a:ln>
        </p:spPr>
      </p:sp>
      <p:sp>
        <p:nvSpPr>
          <p:cNvPr id="29" name="Shape 27"/>
          <p:cNvSpPr/>
          <p:nvPr/>
        </p:nvSpPr>
        <p:spPr>
          <a:xfrm>
            <a:off x="4301642" y="2880360"/>
            <a:ext cx="3588410" cy="54864"/>
          </a:xfrm>
          <a:prstGeom prst="rect">
            <a:avLst/>
          </a:prstGeom>
          <a:solidFill>
            <a:srgbClr val="43A3A3"/>
          </a:solidFill>
          <a:ln w="12700">
            <a:solidFill>
              <a:srgbClr val="43A3A3"/>
            </a:solidFill>
            <a:prstDash val="solid"/>
          </a:ln>
        </p:spPr>
      </p:sp>
      <p:sp>
        <p:nvSpPr>
          <p:cNvPr id="30" name="Text 28"/>
          <p:cNvSpPr txBox="1"/>
          <p:nvPr/>
        </p:nvSpPr>
        <p:spPr>
          <a:xfrm>
            <a:off x="4411370"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JOBS AND ECONOMY</a:t>
            </a:r>
            <a:endParaRPr lang="en-US" sz="850" dirty="0"/>
          </a:p>
        </p:txBody>
      </p:sp>
      <p:sp>
        <p:nvSpPr>
          <p:cNvPr id="31" name="Text 29"/>
          <p:cNvSpPr txBox="1"/>
          <p:nvPr/>
        </p:nvSpPr>
        <p:spPr>
          <a:xfrm>
            <a:off x="4411370"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67,817</a:t>
            </a:r>
            <a:endParaRPr lang="en-US" sz="2400" dirty="0"/>
          </a:p>
        </p:txBody>
      </p:sp>
      <p:sp>
        <p:nvSpPr>
          <p:cNvPr id="32" name="Text 30"/>
          <p:cNvSpPr txBox="1"/>
          <p:nvPr/>
        </p:nvSpPr>
        <p:spPr>
          <a:xfrm>
            <a:off x="6176162"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jobs supported, 2025</a:t>
            </a:r>
            <a:endParaRPr lang="en-US" sz="950" dirty="0"/>
          </a:p>
        </p:txBody>
      </p:sp>
      <p:sp>
        <p:nvSpPr>
          <p:cNvPr id="33" name="Text 31"/>
          <p:cNvSpPr txBox="1"/>
          <p:nvPr/>
        </p:nvSpPr>
        <p:spPr>
          <a:xfrm>
            <a:off x="4411370"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000" b="1" dirty="0">
                <a:solidFill>
                  <a:srgbClr val="125C60"/>
                </a:solidFill>
                <a:latin typeface="Proxima Nova" pitchFamily="34" charset="0"/>
                <a:ea typeface="Proxima Nova" pitchFamily="34" charset="-122"/>
                <a:cs typeface="Proxima Nova" pitchFamily="34" charset="-120"/>
              </a:rPr>
              <a:t>67,817</a:t>
            </a:r>
            <a:pPr indent="0" marL="0">
              <a:buNone/>
            </a:pPr>
            <a:r>
              <a:rPr lang="en-US" sz="1000" dirty="0">
                <a:solidFill>
                  <a:srgbClr val="231F20"/>
                </a:solidFill>
                <a:latin typeface="Proxima Nova" pitchFamily="34" charset="0"/>
                <a:ea typeface="Proxima Nova" pitchFamily="34" charset="-122"/>
                <a:cs typeface="Proxima Nova" pitchFamily="34" charset="-120"/>
              </a:rPr>
              <a:t> Anaheim jobs in 2025, one in three</a:t>
            </a:r>
            <a:endParaRPr lang="en-US" sz="1000" dirty="0"/>
          </a:p>
        </p:txBody>
      </p:sp>
      <p:sp>
        <p:nvSpPr>
          <p:cNvPr id="34" name="Shape 32"/>
          <p:cNvSpPr/>
          <p:nvPr/>
        </p:nvSpPr>
        <p:spPr>
          <a:xfrm>
            <a:off x="8054645" y="2880360"/>
            <a:ext cx="3588410" cy="1417320"/>
          </a:xfrm>
          <a:prstGeom prst="rect">
            <a:avLst/>
          </a:prstGeom>
          <a:solidFill>
            <a:srgbClr val="FFFFFF"/>
          </a:solidFill>
          <a:ln w="12700">
            <a:solidFill>
              <a:srgbClr val="B4D9E3"/>
            </a:solidFill>
            <a:prstDash val="solid"/>
          </a:ln>
        </p:spPr>
      </p:sp>
      <p:sp>
        <p:nvSpPr>
          <p:cNvPr id="35" name="Shape 33"/>
          <p:cNvSpPr/>
          <p:nvPr/>
        </p:nvSpPr>
        <p:spPr>
          <a:xfrm>
            <a:off x="8054645" y="2880360"/>
            <a:ext cx="3588410" cy="54864"/>
          </a:xfrm>
          <a:prstGeom prst="rect">
            <a:avLst/>
          </a:prstGeom>
          <a:solidFill>
            <a:srgbClr val="43A3A3"/>
          </a:solidFill>
          <a:ln w="12700">
            <a:solidFill>
              <a:srgbClr val="43A3A3"/>
            </a:solidFill>
            <a:prstDash val="solid"/>
          </a:ln>
        </p:spPr>
      </p:sp>
      <p:sp>
        <p:nvSpPr>
          <p:cNvPr id="36" name="Text 34"/>
          <p:cNvSpPr txBox="1"/>
          <p:nvPr/>
        </p:nvSpPr>
        <p:spPr>
          <a:xfrm>
            <a:off x="8164373"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HOTEL MARKET</a:t>
            </a:r>
            <a:endParaRPr lang="en-US" sz="850" dirty="0"/>
          </a:p>
        </p:txBody>
      </p:sp>
      <p:sp>
        <p:nvSpPr>
          <p:cNvPr id="37" name="Text 35"/>
          <p:cNvSpPr txBox="1"/>
          <p:nvPr/>
        </p:nvSpPr>
        <p:spPr>
          <a:xfrm>
            <a:off x="8164373"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78.4%</a:t>
            </a:r>
            <a:endParaRPr lang="en-US" sz="2400" dirty="0"/>
          </a:p>
        </p:txBody>
      </p:sp>
      <p:sp>
        <p:nvSpPr>
          <p:cNvPr id="38" name="Text 36"/>
          <p:cNvSpPr txBox="1"/>
          <p:nvPr/>
        </p:nvSpPr>
        <p:spPr>
          <a:xfrm>
            <a:off x="9929165"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hotel occupancy, past 12 months</a:t>
            </a:r>
            <a:endParaRPr lang="en-US" sz="950" dirty="0"/>
          </a:p>
        </p:txBody>
      </p:sp>
      <p:sp>
        <p:nvSpPr>
          <p:cNvPr id="39" name="Text 37"/>
          <p:cNvSpPr txBox="1"/>
          <p:nvPr/>
        </p:nvSpPr>
        <p:spPr>
          <a:xfrm>
            <a:off x="8164373"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pPr indent="0" marL="0">
              <a:buNone/>
            </a:pPr>
            <a:r>
              <a:rPr lang="en-US" sz="1000" dirty="0">
                <a:solidFill>
                  <a:srgbClr val="231F20"/>
                </a:solidFill>
                <a:latin typeface="Proxima Nova" pitchFamily="34" charset="0"/>
                <a:ea typeface="Proxima Nova" pitchFamily="34" charset="-122"/>
                <a:cs typeface="Proxima Nova" pitchFamily="34" charset="-120"/>
              </a:rPr>
              <a:t> of rooms while new supply stays scarce</a:t>
            </a:r>
            <a:endParaRPr lang="en-US" sz="1000" dirty="0"/>
          </a:p>
        </p:txBody>
      </p:sp>
      <p:sp>
        <p:nvSpPr>
          <p:cNvPr id="40" name="Shape 38"/>
          <p:cNvSpPr/>
          <p:nvPr/>
        </p:nvSpPr>
        <p:spPr>
          <a:xfrm>
            <a:off x="548640" y="4389120"/>
            <a:ext cx="3588410" cy="1417320"/>
          </a:xfrm>
          <a:prstGeom prst="rect">
            <a:avLst/>
          </a:prstGeom>
          <a:solidFill>
            <a:srgbClr val="FFFFFF"/>
          </a:solidFill>
          <a:ln w="12700">
            <a:solidFill>
              <a:srgbClr val="B4D9E3"/>
            </a:solidFill>
            <a:prstDash val="solid"/>
          </a:ln>
        </p:spPr>
      </p:sp>
      <p:sp>
        <p:nvSpPr>
          <p:cNvPr id="41" name="Shape 39"/>
          <p:cNvSpPr/>
          <p:nvPr/>
        </p:nvSpPr>
        <p:spPr>
          <a:xfrm>
            <a:off x="548640" y="4389120"/>
            <a:ext cx="3588410" cy="54864"/>
          </a:xfrm>
          <a:prstGeom prst="rect">
            <a:avLst/>
          </a:prstGeom>
          <a:solidFill>
            <a:srgbClr val="43A3A3"/>
          </a:solidFill>
          <a:ln w="12700">
            <a:solidFill>
              <a:srgbClr val="43A3A3"/>
            </a:solidFill>
            <a:prstDash val="solid"/>
          </a:ln>
        </p:spPr>
      </p:sp>
      <p:sp>
        <p:nvSpPr>
          <p:cNvPr id="42" name="Text 40"/>
          <p:cNvSpPr txBox="1"/>
          <p:nvPr/>
        </p:nvSpPr>
        <p:spPr>
          <a:xfrm>
            <a:off x="658368"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a:t>
            </a:r>
            <a:endParaRPr lang="en-US" sz="850" dirty="0"/>
          </a:p>
        </p:txBody>
      </p:sp>
      <p:sp>
        <p:nvSpPr>
          <p:cNvPr id="43" name="Text 41"/>
          <p:cNvSpPr txBox="1"/>
          <p:nvPr/>
        </p:nvSpPr>
        <p:spPr>
          <a:xfrm>
            <a:off x="658368"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$794M</a:t>
            </a:r>
            <a:endParaRPr lang="en-US" sz="2400" dirty="0"/>
          </a:p>
        </p:txBody>
      </p:sp>
      <p:sp>
        <p:nvSpPr>
          <p:cNvPr id="44" name="Text 42"/>
          <p:cNvSpPr txBox="1"/>
          <p:nvPr/>
        </p:nvSpPr>
        <p:spPr>
          <a:xfrm>
            <a:off x="2423160"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 spending</a:t>
            </a:r>
            <a:endParaRPr lang="en-US" sz="950" dirty="0"/>
          </a:p>
        </p:txBody>
      </p:sp>
      <p:sp>
        <p:nvSpPr>
          <p:cNvPr id="45" name="Text 43"/>
          <p:cNvSpPr txBox="1"/>
          <p:nvPr/>
        </p:nvSpPr>
        <p:spPr>
          <a:xfrm>
            <a:off x="658368"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indent="0" marL="0">
              <a:buNone/>
            </a:pPr>
            <a:r>
              <a:rPr lang="en-US" sz="100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000" dirty="0">
                <a:solidFill>
                  <a:srgbClr val="231F20"/>
                </a:solidFill>
                <a:latin typeface="Proxima Nova" pitchFamily="34" charset="0"/>
                <a:ea typeface="Proxima Nova" pitchFamily="34" charset="-122"/>
                <a:cs typeface="Proxima Nova" pitchFamily="34" charset="-120"/>
              </a:rPr>
              <a:t> in lodging</a:t>
            </a:r>
            <a:endParaRPr lang="en-US" sz="1000" dirty="0"/>
          </a:p>
        </p:txBody>
      </p:sp>
      <p:sp>
        <p:nvSpPr>
          <p:cNvPr id="46" name="Shape 44"/>
          <p:cNvSpPr/>
          <p:nvPr/>
        </p:nvSpPr>
        <p:spPr>
          <a:xfrm>
            <a:off x="4301642" y="4389120"/>
            <a:ext cx="3588410" cy="1417320"/>
          </a:xfrm>
          <a:prstGeom prst="rect">
            <a:avLst/>
          </a:prstGeom>
          <a:solidFill>
            <a:srgbClr val="FFFFFF"/>
          </a:solidFill>
          <a:ln w="12700">
            <a:solidFill>
              <a:srgbClr val="B4D9E3"/>
            </a:solidFill>
            <a:prstDash val="solid"/>
          </a:ln>
        </p:spPr>
      </p:sp>
      <p:sp>
        <p:nvSpPr>
          <p:cNvPr id="47" name="Shape 45"/>
          <p:cNvSpPr/>
          <p:nvPr/>
        </p:nvSpPr>
        <p:spPr>
          <a:xfrm>
            <a:off x="4301642" y="4389120"/>
            <a:ext cx="3588410" cy="54864"/>
          </a:xfrm>
          <a:prstGeom prst="rect">
            <a:avLst/>
          </a:prstGeom>
          <a:solidFill>
            <a:srgbClr val="43A3A3"/>
          </a:solidFill>
          <a:ln w="12700">
            <a:solidFill>
              <a:srgbClr val="43A3A3"/>
            </a:solidFill>
            <a:prstDash val="solid"/>
          </a:ln>
        </p:spPr>
      </p:sp>
      <p:sp>
        <p:nvSpPr>
          <p:cNvPr id="48" name="Text 46"/>
          <p:cNvSpPr txBox="1"/>
          <p:nvPr/>
        </p:nvSpPr>
        <p:spPr>
          <a:xfrm>
            <a:off x="4411370"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GETTING HERE</a:t>
            </a:r>
            <a:endParaRPr lang="en-US" sz="850" dirty="0"/>
          </a:p>
        </p:txBody>
      </p:sp>
      <p:sp>
        <p:nvSpPr>
          <p:cNvPr id="49" name="Text 47"/>
          <p:cNvSpPr txBox="1"/>
          <p:nvPr/>
        </p:nvSpPr>
        <p:spPr>
          <a:xfrm>
            <a:off x="4411370"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275K</a:t>
            </a:r>
            <a:endParaRPr lang="en-US" sz="2400" dirty="0"/>
          </a:p>
        </p:txBody>
      </p:sp>
      <p:sp>
        <p:nvSpPr>
          <p:cNvPr id="50" name="Text 48"/>
          <p:cNvSpPr txBox="1"/>
          <p:nvPr/>
        </p:nvSpPr>
        <p:spPr>
          <a:xfrm>
            <a:off x="6176162"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vehicles a day on SR-57 at OC Vibe</a:t>
            </a:r>
            <a:endParaRPr lang="en-US" sz="950" dirty="0"/>
          </a:p>
        </p:txBody>
      </p:sp>
      <p:sp>
        <p:nvSpPr>
          <p:cNvPr id="51" name="Text 49"/>
          <p:cNvSpPr txBox="1"/>
          <p:nvPr/>
        </p:nvSpPr>
        <p:spPr>
          <a:xfrm>
            <a:off x="4411370" y="5175504"/>
            <a:ext cx="3368954" cy="566928"/>
          </a:xfrm>
          <a:prstGeom prst="rect">
            <a:avLst/>
          </a:prstGeom>
          <a:noFill/>
          <a:ln/>
        </p:spPr>
        <p:txBody>
          <a:bodyPr wrap="square" lIns="0" tIns="0" rIns="0" bIns="0" rtlCol="0" anchor="t">
            <a:normAutofit/>
          </a:bodyPr>
          <a:lstStyle/>
          <a:p>
            <a:pPr indent="0" marL="0">
              <a:buNone/>
            </a:pPr>
            <a:r>
              <a:rPr lang="en-US" sz="10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000" dirty="0">
                <a:solidFill>
                  <a:srgbClr val="231F20"/>
                </a:solidFill>
                <a:latin typeface="Proxima Nova" pitchFamily="34" charset="0"/>
                <a:ea typeface="Proxima Nova" pitchFamily="34" charset="-122"/>
                <a:cs typeface="Proxima Nova" pitchFamily="34" charset="-120"/>
              </a:rPr>
              <a:t> a day pass OC Vibe on SR-57</a:t>
            </a:r>
            <a:endParaRPr lang="en-US" sz="1000" dirty="0"/>
          </a:p>
        </p:txBody>
      </p:sp>
      <p:sp>
        <p:nvSpPr>
          <p:cNvPr id="52" name="Shape 50"/>
          <p:cNvSpPr/>
          <p:nvPr/>
        </p:nvSpPr>
        <p:spPr>
          <a:xfrm>
            <a:off x="8054645" y="4389120"/>
            <a:ext cx="3588410" cy="1417320"/>
          </a:xfrm>
          <a:prstGeom prst="rect">
            <a:avLst/>
          </a:prstGeom>
          <a:solidFill>
            <a:srgbClr val="FFFFFF"/>
          </a:solidFill>
          <a:ln w="12700">
            <a:solidFill>
              <a:srgbClr val="B4D9E3"/>
            </a:solidFill>
            <a:prstDash val="solid"/>
          </a:ln>
        </p:spPr>
      </p:sp>
      <p:sp>
        <p:nvSpPr>
          <p:cNvPr id="53" name="Shape 51"/>
          <p:cNvSpPr/>
          <p:nvPr/>
        </p:nvSpPr>
        <p:spPr>
          <a:xfrm>
            <a:off x="8054645" y="4389120"/>
            <a:ext cx="3588410" cy="54864"/>
          </a:xfrm>
          <a:prstGeom prst="rect">
            <a:avLst/>
          </a:prstGeom>
          <a:solidFill>
            <a:srgbClr val="43A3A3"/>
          </a:solidFill>
          <a:ln w="12700">
            <a:solidFill>
              <a:srgbClr val="43A3A3"/>
            </a:solidFill>
            <a:prstDash val="solid"/>
          </a:ln>
        </p:spPr>
      </p:sp>
      <p:sp>
        <p:nvSpPr>
          <p:cNvPr id="54" name="Text 52"/>
          <p:cNvSpPr txBox="1"/>
          <p:nvPr/>
        </p:nvSpPr>
        <p:spPr>
          <a:xfrm>
            <a:off x="8164373"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MARKETING REACH</a:t>
            </a:r>
            <a:endParaRPr lang="en-US" sz="850" dirty="0"/>
          </a:p>
        </p:txBody>
      </p:sp>
      <p:sp>
        <p:nvSpPr>
          <p:cNvPr id="55" name="Text 53"/>
          <p:cNvSpPr txBox="1"/>
          <p:nvPr/>
        </p:nvSpPr>
        <p:spPr>
          <a:xfrm>
            <a:off x="8164373"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368,416</a:t>
            </a:r>
            <a:endParaRPr lang="en-US" sz="2400" dirty="0"/>
          </a:p>
        </p:txBody>
      </p:sp>
      <p:sp>
        <p:nvSpPr>
          <p:cNvPr id="56" name="Text 54"/>
          <p:cNvSpPr txBox="1"/>
          <p:nvPr/>
        </p:nvSpPr>
        <p:spPr>
          <a:xfrm>
            <a:off x="9929165"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observed visits after ad exposure</a:t>
            </a:r>
            <a:endParaRPr lang="en-US" sz="950" dirty="0"/>
          </a:p>
        </p:txBody>
      </p:sp>
      <p:sp>
        <p:nvSpPr>
          <p:cNvPr id="57" name="Text 55"/>
          <p:cNvSpPr txBox="1"/>
          <p:nvPr/>
        </p:nvSpPr>
        <p:spPr>
          <a:xfrm>
            <a:off x="8164373"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 Anaheim marketing drove </a:t>
            </a:r>
            <a:pPr indent="0" marL="0">
              <a:buNone/>
            </a:pPr>
            <a:r>
              <a:rPr lang="en-US" sz="1000" b="1" dirty="0">
                <a:solidFill>
                  <a:srgbClr val="125C60"/>
                </a:solidFill>
                <a:latin typeface="Proxima Nova" pitchFamily="34" charset="0"/>
                <a:ea typeface="Proxima Nova" pitchFamily="34" charset="-122"/>
                <a:cs typeface="Proxima Nova" pitchFamily="34" charset="-120"/>
              </a:rPr>
              <a:t>368,416</a:t>
            </a:r>
            <a:pPr indent="0" marL="0">
              <a:buNone/>
            </a:pPr>
            <a:r>
              <a:rPr lang="en-US" sz="1000" dirty="0">
                <a:solidFill>
                  <a:srgbClr val="231F20"/>
                </a:solidFill>
                <a:latin typeface="Proxima Nova" pitchFamily="34" charset="0"/>
                <a:ea typeface="Proxima Nova" pitchFamily="34" charset="-122"/>
                <a:cs typeface="Proxima Nova" pitchFamily="34" charset="-120"/>
              </a:rPr>
              <a:t> observed visits this year</a:t>
            </a:r>
            <a:endParaRPr lang="en-US" sz="1000" dirty="0"/>
          </a:p>
        </p:txBody>
      </p:sp>
      <p:sp>
        <p:nvSpPr>
          <p:cNvPr id="58" name="Shape 56"/>
          <p:cNvSpPr/>
          <p:nvPr/>
        </p:nvSpPr>
        <p:spPr>
          <a:xfrm>
            <a:off x="548640" y="5897880"/>
            <a:ext cx="3588410" cy="1417320"/>
          </a:xfrm>
          <a:prstGeom prst="rect">
            <a:avLst/>
          </a:prstGeom>
          <a:solidFill>
            <a:srgbClr val="FFFFFF"/>
          </a:solidFill>
          <a:ln w="12700">
            <a:solidFill>
              <a:srgbClr val="B4D9E3"/>
            </a:solidFill>
            <a:prstDash val="solid"/>
          </a:ln>
        </p:spPr>
      </p:sp>
      <p:sp>
        <p:nvSpPr>
          <p:cNvPr id="59" name="Shape 57"/>
          <p:cNvSpPr/>
          <p:nvPr/>
        </p:nvSpPr>
        <p:spPr>
          <a:xfrm>
            <a:off x="548640" y="5897880"/>
            <a:ext cx="3588410" cy="54864"/>
          </a:xfrm>
          <a:prstGeom prst="rect">
            <a:avLst/>
          </a:prstGeom>
          <a:solidFill>
            <a:srgbClr val="43A3A3"/>
          </a:solidFill>
          <a:ln w="12700">
            <a:solidFill>
              <a:srgbClr val="43A3A3"/>
            </a:solidFill>
            <a:prstDash val="solid"/>
          </a:ln>
        </p:spPr>
      </p:sp>
      <p:sp>
        <p:nvSpPr>
          <p:cNvPr id="60" name="Text 58"/>
          <p:cNvSpPr txBox="1"/>
          <p:nvPr/>
        </p:nvSpPr>
        <p:spPr>
          <a:xfrm>
            <a:off x="658368" y="598932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 OUTLOOK</a:t>
            </a:r>
            <a:endParaRPr lang="en-US" sz="850" dirty="0"/>
          </a:p>
        </p:txBody>
      </p:sp>
      <p:sp>
        <p:nvSpPr>
          <p:cNvPr id="61" name="Text 59"/>
          <p:cNvSpPr txBox="1"/>
          <p:nvPr/>
        </p:nvSpPr>
        <p:spPr>
          <a:xfrm>
            <a:off x="658368" y="619048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62" name="Text 60"/>
          <p:cNvSpPr txBox="1"/>
          <p:nvPr/>
        </p:nvSpPr>
        <p:spPr>
          <a:xfrm>
            <a:off x="2423160" y="620877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hotel revenue per room, Q2 2026</a:t>
            </a:r>
            <a:endParaRPr lang="en-US" sz="950" dirty="0"/>
          </a:p>
        </p:txBody>
      </p:sp>
      <p:sp>
        <p:nvSpPr>
          <p:cNvPr id="63" name="Text 61"/>
          <p:cNvSpPr txBox="1"/>
          <p:nvPr/>
        </p:nvSpPr>
        <p:spPr>
          <a:xfrm>
            <a:off x="658368" y="668426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hotel revenue per room up </a:t>
            </a:r>
            <a:pPr indent="0" marL="0">
              <a:buNone/>
            </a:pPr>
            <a:r>
              <a:rPr lang="en-US" sz="1000" b="1" dirty="0">
                <a:solidFill>
                  <a:srgbClr val="125C60"/>
                </a:solidFill>
                <a:latin typeface="Proxima Nova" pitchFamily="34" charset="0"/>
                <a:ea typeface="Proxima Nova" pitchFamily="34" charset="-122"/>
                <a:cs typeface="Proxima Nova" pitchFamily="34" charset="-120"/>
              </a:rPr>
              <a:t>11.4%</a:t>
            </a:r>
            <a:pPr indent="0" marL="0">
              <a:buNone/>
            </a:pPr>
            <a:r>
              <a:rPr lang="en-US" sz="1000" dirty="0">
                <a:solidFill>
                  <a:srgbClr val="231F20"/>
                </a:solidFill>
                <a:latin typeface="Proxima Nova" pitchFamily="34" charset="0"/>
                <a:ea typeface="Proxima Nova" pitchFamily="34" charset="-122"/>
                <a:cs typeface="Proxima Nova" pitchFamily="34" charset="-120"/>
              </a:rPr>
              <a:t> as OC Vibe nears opening</a:t>
            </a:r>
            <a:endParaRPr lang="en-US" sz="1000" dirty="0"/>
          </a:p>
        </p:txBody>
      </p:sp>
      <p:sp>
        <p:nvSpPr>
          <p:cNvPr id="6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Each figure with its source and period on its section slides. Visit Anaheim Business Intelligence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tourism: Anaheim sits inside a larger county market. The next section sizes Orange County: arrivals, origins, seasonality, visitor profile and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tourism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many visitors come to Orange County, from where and when, who are they, and what hotel capacity serves them?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With the county market sized, the next question is who visits the OC Vibe area itself.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Reports and data library: Every report and data file behind these sections can be opened or downloaded in the library; the Appendix and Sources follow.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is updated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19, 2026 · Next scheduled update Jan. 15, 2027</a:t>
            </a:r>
            <a:endParaRPr lang="en-US" sz="1200" dirty="0"/>
          </a:p>
        </p:txBody>
      </p:sp>
      <p:sp>
        <p:nvSpPr>
          <p:cNvPr id="5" name="Text 2"/>
          <p:cNvSpPr txBox="1"/>
          <p:nvPr/>
        </p:nvSpPr>
        <p:spPr>
          <a:xfrm>
            <a:off x="548640" y="1325880"/>
            <a:ext cx="11094415" cy="566928"/>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 Anaheim Business Intelligence updates OC Vibe Insights each quarter, on the 15th of January, April, July and October, after Tourism Economics delivers its quarterly Anaheim Travel Forecast. The data was last updated Oct. 19, 2026; the next scheduled update is Jan. 15, 2027.</a:t>
            </a:r>
            <a:endParaRPr lang="en-US" sz="1200" dirty="0"/>
          </a:p>
        </p:txBody>
      </p:sp>
      <p:sp>
        <p:nvSpPr>
          <p:cNvPr id="6" name="update-card-0"/>
          <p:cNvSpPr/>
          <p:nvPr/>
        </p:nvSpPr>
        <p:spPr>
          <a:xfrm>
            <a:off x="548640" y="1965960"/>
            <a:ext cx="3588410" cy="1920240"/>
          </a:xfrm>
          <a:prstGeom prst="rect">
            <a:avLst/>
          </a:prstGeom>
          <a:solidFill>
            <a:srgbClr val="FFFFFF"/>
          </a:solidFill>
          <a:ln w="12700">
            <a:solidFill>
              <a:srgbClr val="B4D9E3"/>
            </a:solidFill>
            <a:prstDash val="solid"/>
          </a:ln>
        </p:spPr>
      </p:sp>
      <p:sp>
        <p:nvSpPr>
          <p:cNvPr id="7" name="Shape 4"/>
          <p:cNvSpPr/>
          <p:nvPr/>
        </p:nvSpPr>
        <p:spPr>
          <a:xfrm>
            <a:off x="548640" y="1965960"/>
            <a:ext cx="3588410" cy="64008"/>
          </a:xfrm>
          <a:prstGeom prst="rect">
            <a:avLst/>
          </a:prstGeom>
          <a:solidFill>
            <a:srgbClr val="43A3A3"/>
          </a:solidFill>
          <a:ln w="12700">
            <a:solidFill>
              <a:srgbClr val="43A3A3"/>
            </a:solidFill>
            <a:prstDash val="solid"/>
          </a:ln>
        </p:spPr>
      </p:sp>
      <p:sp>
        <p:nvSpPr>
          <p:cNvPr id="8" name="Text 5"/>
          <p:cNvSpPr txBox="1"/>
          <p:nvPr/>
        </p:nvSpPr>
        <p:spPr>
          <a:xfrm>
            <a:off x="685800"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9" name="Text 6"/>
          <p:cNvSpPr txBox="1"/>
          <p:nvPr/>
        </p:nvSpPr>
        <p:spPr>
          <a:xfrm>
            <a:off x="685800"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Visit Anaheim BI</a:t>
            </a:r>
            <a:endParaRPr lang="en-US" sz="2000" dirty="0"/>
          </a:p>
        </p:txBody>
      </p:sp>
      <p:sp>
        <p:nvSpPr>
          <p:cNvPr id="10" name="Text 7"/>
          <p:cNvSpPr txBox="1"/>
          <p:nvPr/>
        </p:nvSpPr>
        <p:spPr>
          <a:xfrm>
            <a:off x="685800"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Business Intelligence team</a:t>
            </a:r>
            <a:endParaRPr lang="en-US" sz="1000" dirty="0"/>
          </a:p>
        </p:txBody>
      </p:sp>
      <p:sp>
        <p:nvSpPr>
          <p:cNvPr id="11" name="Text 8"/>
          <p:cNvSpPr txBox="1"/>
          <p:nvPr/>
        </p:nvSpPr>
        <p:spPr>
          <a:xfrm>
            <a:off x="685800"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Prepares each update and checks every figure against its source before it is published. Questions go to bi@visitanaheim.org.</a:t>
            </a:r>
            <a:endParaRPr lang="en-US" sz="900" dirty="0"/>
          </a:p>
        </p:txBody>
      </p:sp>
      <p:sp>
        <p:nvSpPr>
          <p:cNvPr id="12" name="Text 9"/>
          <p:cNvSpPr txBox="1"/>
          <p:nvPr/>
        </p:nvSpPr>
        <p:spPr>
          <a:xfrm>
            <a:off x="685800"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13" name="update-card-1"/>
          <p:cNvSpPr/>
          <p:nvPr/>
        </p:nvSpPr>
        <p:spPr>
          <a:xfrm>
            <a:off x="4301642" y="1965960"/>
            <a:ext cx="3588410" cy="1920240"/>
          </a:xfrm>
          <a:prstGeom prst="rect">
            <a:avLst/>
          </a:prstGeom>
          <a:solidFill>
            <a:srgbClr val="FFFFFF"/>
          </a:solidFill>
          <a:ln w="12700">
            <a:solidFill>
              <a:srgbClr val="B4D9E3"/>
            </a:solidFill>
            <a:prstDash val="solid"/>
          </a:ln>
        </p:spPr>
      </p:sp>
      <p:sp>
        <p:nvSpPr>
          <p:cNvPr id="14" name="Shape 11"/>
          <p:cNvSpPr/>
          <p:nvPr/>
        </p:nvSpPr>
        <p:spPr>
          <a:xfrm>
            <a:off x="4301642" y="1965960"/>
            <a:ext cx="3588410" cy="64008"/>
          </a:xfrm>
          <a:prstGeom prst="rect">
            <a:avLst/>
          </a:prstGeom>
          <a:solidFill>
            <a:srgbClr val="43A3A3"/>
          </a:solidFill>
          <a:ln w="12700">
            <a:solidFill>
              <a:srgbClr val="43A3A3"/>
            </a:solidFill>
            <a:prstDash val="solid"/>
          </a:ln>
        </p:spPr>
      </p:sp>
      <p:sp>
        <p:nvSpPr>
          <p:cNvPr id="15" name="Text 12"/>
          <p:cNvSpPr txBox="1"/>
          <p:nvPr/>
        </p:nvSpPr>
        <p:spPr>
          <a:xfrm>
            <a:off x="4438802"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6" name="Text 13"/>
          <p:cNvSpPr txBox="1"/>
          <p:nvPr/>
        </p:nvSpPr>
        <p:spPr>
          <a:xfrm>
            <a:off x="4438802"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Changed figures only</a:t>
            </a:r>
            <a:endParaRPr lang="en-US" sz="2000" dirty="0"/>
          </a:p>
        </p:txBody>
      </p:sp>
      <p:sp>
        <p:nvSpPr>
          <p:cNvPr id="17" name="Text 14"/>
          <p:cNvSpPr txBox="1"/>
          <p:nvPr/>
        </p:nvSpPr>
        <p:spPr>
          <a:xfrm>
            <a:off x="4438802"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New published or measured values</a:t>
            </a:r>
            <a:endParaRPr lang="en-US" sz="1000" dirty="0"/>
          </a:p>
        </p:txBody>
      </p:sp>
      <p:sp>
        <p:nvSpPr>
          <p:cNvPr id="18" name="Text 15"/>
          <p:cNvSpPr txBox="1"/>
          <p:nvPr/>
        </p:nvSpPr>
        <p:spPr>
          <a:xfrm>
            <a:off x="4438802"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replaces only figures that have a new published or measured value, with the new period and publication date, and rewrites any sentence that cites them. A source with nothing new keeps its current, dated figures; no figure is estimated to fill a gap.</a:t>
            </a:r>
            <a:endParaRPr lang="en-US" sz="900" dirty="0"/>
          </a:p>
        </p:txBody>
      </p:sp>
      <p:sp>
        <p:nvSpPr>
          <p:cNvPr id="19" name="Text 16"/>
          <p:cNvSpPr txBox="1"/>
          <p:nvPr/>
        </p:nvSpPr>
        <p:spPr>
          <a:xfrm>
            <a:off x="4438802"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0" name="update-card-2"/>
          <p:cNvSpPr/>
          <p:nvPr/>
        </p:nvSpPr>
        <p:spPr>
          <a:xfrm>
            <a:off x="8054645" y="1965960"/>
            <a:ext cx="3588410" cy="1920240"/>
          </a:xfrm>
          <a:prstGeom prst="rect">
            <a:avLst/>
          </a:prstGeom>
          <a:solidFill>
            <a:srgbClr val="FFFFFF"/>
          </a:solidFill>
          <a:ln w="12700">
            <a:solidFill>
              <a:srgbClr val="B4D9E3"/>
            </a:solidFill>
            <a:prstDash val="solid"/>
          </a:ln>
        </p:spPr>
      </p:sp>
      <p:sp>
        <p:nvSpPr>
          <p:cNvPr id="21" name="Shape 18"/>
          <p:cNvSpPr/>
          <p:nvPr/>
        </p:nvSpPr>
        <p:spPr>
          <a:xfrm>
            <a:off x="8054645" y="1965960"/>
            <a:ext cx="3588410" cy="64008"/>
          </a:xfrm>
          <a:prstGeom prst="rect">
            <a:avLst/>
          </a:prstGeom>
          <a:solidFill>
            <a:srgbClr val="43A3A3"/>
          </a:solidFill>
          <a:ln w="12700">
            <a:solidFill>
              <a:srgbClr val="43A3A3"/>
            </a:solidFill>
            <a:prstDash val="solid"/>
          </a:ln>
        </p:spPr>
      </p:sp>
      <p:sp>
        <p:nvSpPr>
          <p:cNvPr id="22" name="Text 19"/>
          <p:cNvSpPr txBox="1"/>
          <p:nvPr/>
        </p:nvSpPr>
        <p:spPr>
          <a:xfrm>
            <a:off x="8191805"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3" name="Text 20"/>
          <p:cNvSpPr txBox="1"/>
          <p:nvPr/>
        </p:nvSpPr>
        <p:spPr>
          <a:xfrm>
            <a:off x="8191805"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Quarterly</a:t>
            </a:r>
            <a:endParaRPr lang="en-US" sz="2000" dirty="0"/>
          </a:p>
        </p:txBody>
      </p:sp>
      <p:sp>
        <p:nvSpPr>
          <p:cNvPr id="24" name="Text 21"/>
          <p:cNvSpPr txBox="1"/>
          <p:nvPr/>
        </p:nvSpPr>
        <p:spPr>
          <a:xfrm>
            <a:off x="8191805"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15th of Jan., April, July and Oct.</a:t>
            </a:r>
            <a:endParaRPr lang="en-US" sz="1000" dirty="0"/>
          </a:p>
        </p:txBody>
      </p:sp>
      <p:sp>
        <p:nvSpPr>
          <p:cNvPr id="25" name="Text 22"/>
          <p:cNvSpPr txBox="1"/>
          <p:nvPr/>
        </p:nvSpPr>
        <p:spPr>
          <a:xfrm>
            <a:off x="8191805"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Updates run on a fixed schedule at about 9 a.m. Pacific. Data last updated Oct. 19, 2026; next scheduled update Jan. 15, 2027.</a:t>
            </a:r>
            <a:endParaRPr lang="en-US" sz="900" dirty="0"/>
          </a:p>
        </p:txBody>
      </p:sp>
      <p:sp>
        <p:nvSpPr>
          <p:cNvPr id="26" name="Text 23"/>
          <p:cNvSpPr txBox="1"/>
          <p:nvPr/>
        </p:nvSpPr>
        <p:spPr>
          <a:xfrm>
            <a:off x="8191805"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7" name="update-card-3"/>
          <p:cNvSpPr/>
          <p:nvPr/>
        </p:nvSpPr>
        <p:spPr>
          <a:xfrm>
            <a:off x="548640" y="3977640"/>
            <a:ext cx="3588410" cy="1920240"/>
          </a:xfrm>
          <a:prstGeom prst="rect">
            <a:avLst/>
          </a:prstGeom>
          <a:solidFill>
            <a:srgbClr val="FFFFFF"/>
          </a:solidFill>
          <a:ln w="12700">
            <a:solidFill>
              <a:srgbClr val="B4D9E3"/>
            </a:solidFill>
            <a:prstDash val="solid"/>
          </a:ln>
        </p:spPr>
      </p:sp>
      <p:sp>
        <p:nvSpPr>
          <p:cNvPr id="28" name="Shape 25"/>
          <p:cNvSpPr/>
          <p:nvPr/>
        </p:nvSpPr>
        <p:spPr>
          <a:xfrm>
            <a:off x="548640" y="3977640"/>
            <a:ext cx="3588410" cy="64008"/>
          </a:xfrm>
          <a:prstGeom prst="rect">
            <a:avLst/>
          </a:prstGeom>
          <a:solidFill>
            <a:srgbClr val="43A3A3"/>
          </a:solidFill>
          <a:ln w="12700">
            <a:solidFill>
              <a:srgbClr val="43A3A3"/>
            </a:solidFill>
            <a:prstDash val="solid"/>
          </a:ln>
        </p:spPr>
      </p:sp>
      <p:sp>
        <p:nvSpPr>
          <p:cNvPr id="29" name="Text 26"/>
          <p:cNvSpPr txBox="1"/>
          <p:nvPr/>
        </p:nvSpPr>
        <p:spPr>
          <a:xfrm>
            <a:off x="685800"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30" name="Text 27"/>
          <p:cNvSpPr txBox="1"/>
          <p:nvPr/>
        </p:nvSpPr>
        <p:spPr>
          <a:xfrm>
            <a:off x="685800"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 formats</a:t>
            </a:r>
            <a:endParaRPr lang="en-US" sz="2000" dirty="0"/>
          </a:p>
        </p:txBody>
      </p:sp>
      <p:sp>
        <p:nvSpPr>
          <p:cNvPr id="31" name="Text 28"/>
          <p:cNvSpPr txBox="1"/>
          <p:nvPr/>
        </p:nvSpPr>
        <p:spPr>
          <a:xfrm>
            <a:off x="685800"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Dashboard, deck and data tables</a:t>
            </a:r>
            <a:endParaRPr lang="en-US" sz="1000" dirty="0"/>
          </a:p>
        </p:txBody>
      </p:sp>
      <p:sp>
        <p:nvSpPr>
          <p:cNvPr id="32" name="Text 29"/>
          <p:cNvSpPr txBox="1"/>
          <p:nvPr/>
        </p:nvSpPr>
        <p:spPr>
          <a:xfrm>
            <a:off x="685800"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is published to the dashboard (oc-vibe-insights.vercel.app and the claude.ai dashboard), the downloadable PowerPoint deck and the data tables (Excel and CSV).</a:t>
            </a:r>
            <a:endParaRPr lang="en-US" sz="900" dirty="0"/>
          </a:p>
        </p:txBody>
      </p:sp>
      <p:sp>
        <p:nvSpPr>
          <p:cNvPr id="33" name="Text 30"/>
          <p:cNvSpPr txBox="1"/>
          <p:nvPr/>
        </p:nvSpPr>
        <p:spPr>
          <a:xfrm>
            <a:off x="685800"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34" name="update-card-4"/>
          <p:cNvSpPr/>
          <p:nvPr/>
        </p:nvSpPr>
        <p:spPr>
          <a:xfrm>
            <a:off x="4301642" y="3977640"/>
            <a:ext cx="3588410" cy="1920240"/>
          </a:xfrm>
          <a:prstGeom prst="rect">
            <a:avLst/>
          </a:prstGeom>
          <a:solidFill>
            <a:srgbClr val="FFFFFF"/>
          </a:solidFill>
          <a:ln w="12700">
            <a:solidFill>
              <a:srgbClr val="B4D9E3"/>
            </a:solidFill>
            <a:prstDash val="solid"/>
          </a:ln>
        </p:spPr>
      </p:sp>
      <p:sp>
        <p:nvSpPr>
          <p:cNvPr id="35" name="Shape 32"/>
          <p:cNvSpPr/>
          <p:nvPr/>
        </p:nvSpPr>
        <p:spPr>
          <a:xfrm>
            <a:off x="4301642" y="3977640"/>
            <a:ext cx="3588410" cy="64008"/>
          </a:xfrm>
          <a:prstGeom prst="rect">
            <a:avLst/>
          </a:prstGeom>
          <a:solidFill>
            <a:srgbClr val="43A3A3"/>
          </a:solidFill>
          <a:ln w="12700">
            <a:solidFill>
              <a:srgbClr val="43A3A3"/>
            </a:solidFill>
            <a:prstDash val="solid"/>
          </a:ln>
        </p:spPr>
      </p:sp>
      <p:sp>
        <p:nvSpPr>
          <p:cNvPr id="36" name="Text 33"/>
          <p:cNvSpPr txBox="1"/>
          <p:nvPr/>
        </p:nvSpPr>
        <p:spPr>
          <a:xfrm>
            <a:off x="4438802"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7" name="Text 34"/>
          <p:cNvSpPr txBox="1"/>
          <p:nvPr/>
        </p:nvSpPr>
        <p:spPr>
          <a:xfrm>
            <a:off x="4438802"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Every quarter</a:t>
            </a:r>
            <a:endParaRPr lang="en-US" sz="2000" dirty="0"/>
          </a:p>
        </p:txBody>
      </p:sp>
      <p:sp>
        <p:nvSpPr>
          <p:cNvPr id="38" name="Text 35"/>
          <p:cNvSpPr txBox="1"/>
          <p:nvPr/>
        </p:nvSpPr>
        <p:spPr>
          <a:xfrm>
            <a:off x="4438802"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forecast cycle</a:t>
            </a:r>
            <a:endParaRPr lang="en-US" sz="1000" dirty="0"/>
          </a:p>
        </p:txBody>
      </p:sp>
      <p:sp>
        <p:nvSpPr>
          <p:cNvPr id="39" name="Text 36"/>
          <p:cNvSpPr txBox="1"/>
          <p:nvPr/>
        </p:nvSpPr>
        <p:spPr>
          <a:xfrm>
            <a:off x="4438802"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data is the core of this report (Anaheim's visitor volume, spending and forecast), and its Anaheim Travel Forecast arrives each quarter. STR, CoStar and Visa are available weekly or monthly and Azira monthly; they are pulled at the same time, so every figure in an edition shares one as-of date.</a:t>
            </a:r>
            <a:endParaRPr lang="en-US" sz="900" dirty="0"/>
          </a:p>
        </p:txBody>
      </p:sp>
      <p:sp>
        <p:nvSpPr>
          <p:cNvPr id="40" name="Text 37"/>
          <p:cNvSpPr txBox="1"/>
          <p:nvPr/>
        </p:nvSpPr>
        <p:spPr>
          <a:xfrm>
            <a:off x="4438802"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(quarterly); Visit Anaheim BI, quarterly refresh runbook (Oct. 13, 2026; cadence confirmed Oct. 14, 2026)</a:t>
            </a:r>
            <a:endParaRPr lang="en-US" sz="700" dirty="0"/>
          </a:p>
        </p:txBody>
      </p:sp>
      <p:sp>
        <p:nvSpPr>
          <p:cNvPr id="41" name="update-card-5"/>
          <p:cNvSpPr/>
          <p:nvPr/>
        </p:nvSpPr>
        <p:spPr>
          <a:xfrm>
            <a:off x="8054645" y="3977640"/>
            <a:ext cx="3588410" cy="1920240"/>
          </a:xfrm>
          <a:prstGeom prst="rect">
            <a:avLst/>
          </a:prstGeom>
          <a:solidFill>
            <a:srgbClr val="FFFFFF"/>
          </a:solidFill>
          <a:ln w="12700">
            <a:solidFill>
              <a:srgbClr val="B4D9E3"/>
            </a:solidFill>
            <a:prstDash val="solid"/>
          </a:ln>
        </p:spPr>
      </p:sp>
      <p:sp>
        <p:nvSpPr>
          <p:cNvPr id="42" name="Shape 39"/>
          <p:cNvSpPr/>
          <p:nvPr/>
        </p:nvSpPr>
        <p:spPr>
          <a:xfrm>
            <a:off x="8054645" y="3977640"/>
            <a:ext cx="3588410" cy="64008"/>
          </a:xfrm>
          <a:prstGeom prst="rect">
            <a:avLst/>
          </a:prstGeom>
          <a:solidFill>
            <a:srgbClr val="43A3A3"/>
          </a:solidFill>
          <a:ln w="12700">
            <a:solidFill>
              <a:srgbClr val="43A3A3"/>
            </a:solidFill>
            <a:prstDash val="solid"/>
          </a:ln>
        </p:spPr>
      </p:sp>
      <p:sp>
        <p:nvSpPr>
          <p:cNvPr id="43" name="Text 40"/>
          <p:cNvSpPr txBox="1"/>
          <p:nvPr/>
        </p:nvSpPr>
        <p:spPr>
          <a:xfrm>
            <a:off x="8191805"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4" name="Text 41"/>
          <p:cNvSpPr txBox="1"/>
          <p:nvPr/>
        </p:nvSpPr>
        <p:spPr>
          <a:xfrm>
            <a:off x="8191805"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 steps</a:t>
            </a:r>
            <a:endParaRPr lang="en-US" sz="2000" dirty="0"/>
          </a:p>
        </p:txBody>
      </p:sp>
      <p:sp>
        <p:nvSpPr>
          <p:cNvPr id="45" name="Text 42"/>
          <p:cNvSpPr txBox="1"/>
          <p:nvPr/>
        </p:nvSpPr>
        <p:spPr>
          <a:xfrm>
            <a:off x="8191805"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Find, update, check, publish</a:t>
            </a:r>
            <a:endParaRPr lang="en-US" sz="1000" dirty="0"/>
          </a:p>
        </p:txBody>
      </p:sp>
      <p:sp>
        <p:nvSpPr>
          <p:cNvPr id="46" name="Text 43"/>
          <p:cNvSpPr txBox="1"/>
          <p:nvPr/>
        </p:nvSpPr>
        <p:spPr>
          <a:xfrm>
            <a:off x="8191805"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Find the newest file from each source; update only changed figures and the sentences that cite them; check every number against its table and source; republish the dashboard, deck and data tables with the new dates.</a:t>
            </a:r>
            <a:endParaRPr lang="en-US" sz="900" dirty="0"/>
          </a:p>
        </p:txBody>
      </p:sp>
      <p:sp>
        <p:nvSpPr>
          <p:cNvPr id="47" name="Text 44"/>
          <p:cNvSpPr txBox="1"/>
          <p:nvPr/>
        </p:nvSpPr>
        <p:spPr>
          <a:xfrm>
            <a:off x="8191805"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4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Contact: bi@visitanaheim.org.</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OC Vibe requests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has OC Vibe asked for, and where is each answered?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 of 9 requests answered in this app (white paper review pending a draft)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OC Vibe requests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will Visit Anaheim review OC Vibe's white paper?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Pending white paper review starts when a draft is shared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come to Orange County, and how many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Orange County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Orange County visitors come from?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of Orange County visitors from Southern California,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When is Orange County busiest?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80.6% July hotel occupancy,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Why do people visit Orange County, and who travels with them?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37.0% of Orange County visitors traveled with children,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how full are they?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75.2% Orange County hotel occupancy,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57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26.5 million visitors move through Anaheim's economy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calendar 2025 · each link shows its calculation</a:t>
            </a:r>
            <a:endParaRPr lang="en-US" sz="950" dirty="0"/>
          </a:p>
        </p:txBody>
      </p:sp>
      <p:sp>
        <p:nvSpPr>
          <p:cNvPr id="6" name="Shape 4"/>
          <p:cNvSpPr/>
          <p:nvPr/>
        </p:nvSpPr>
        <p:spPr>
          <a:xfrm>
            <a:off x="548640" y="2075688"/>
            <a:ext cx="1523939" cy="2011680"/>
          </a:xfrm>
          <a:prstGeom prst="roundRect">
            <a:avLst>
              <a:gd name="adj" fmla="val 3600"/>
            </a:avLst>
          </a:prstGeom>
          <a:solidFill>
            <a:srgbClr val="F9F9F2"/>
          </a:solidFill>
          <a:ln w="12700">
            <a:solidFill>
              <a:srgbClr val="B4D9E3"/>
            </a:solidFill>
            <a:prstDash val="solid"/>
          </a:ln>
        </p:spPr>
      </p:sp>
      <p:sp>
        <p:nvSpPr>
          <p:cNvPr id="7" name="Shape 5"/>
          <p:cNvSpPr/>
          <p:nvPr/>
        </p:nvSpPr>
        <p:spPr>
          <a:xfrm>
            <a:off x="548640" y="2075688"/>
            <a:ext cx="1523939" cy="64008"/>
          </a:xfrm>
          <a:prstGeom prst="rect">
            <a:avLst/>
          </a:prstGeom>
          <a:solidFill>
            <a:srgbClr val="125C60"/>
          </a:solidFill>
          <a:ln w="12700">
            <a:solidFill>
              <a:srgbClr val="125C60"/>
            </a:solidFill>
            <a:prstDash val="solid"/>
          </a:ln>
        </p:spPr>
      </p:sp>
      <p:sp>
        <p:nvSpPr>
          <p:cNvPr id="8" name="Text 6"/>
          <p:cNvSpPr txBox="1"/>
          <p:nvPr/>
        </p:nvSpPr>
        <p:spPr>
          <a:xfrm>
            <a:off x="658368"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26.5M</a:t>
            </a:r>
            <a:endParaRPr lang="en-US" sz="2500" dirty="0"/>
          </a:p>
        </p:txBody>
      </p:sp>
      <p:sp>
        <p:nvSpPr>
          <p:cNvPr id="9" name="Text 7"/>
          <p:cNvSpPr txBox="1"/>
          <p:nvPr/>
        </p:nvSpPr>
        <p:spPr>
          <a:xfrm>
            <a:off x="658368"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visitors</a:t>
            </a:r>
            <a:endParaRPr lang="en-US" sz="1200" dirty="0"/>
          </a:p>
        </p:txBody>
      </p:sp>
      <p:sp>
        <p:nvSpPr>
          <p:cNvPr id="10" name="Shape 8"/>
          <p:cNvSpPr/>
          <p:nvPr/>
        </p:nvSpPr>
        <p:spPr>
          <a:xfrm>
            <a:off x="2145731" y="2761488"/>
            <a:ext cx="722376" cy="0"/>
          </a:xfrm>
          <a:prstGeom prst="line">
            <a:avLst/>
          </a:prstGeom>
          <a:noFill/>
          <a:ln w="38100">
            <a:solidFill>
              <a:srgbClr val="43A3A3"/>
            </a:solidFill>
            <a:prstDash val="solid"/>
            <a:tailEnd type="triangle"/>
          </a:ln>
        </p:spPr>
      </p:sp>
      <p:sp>
        <p:nvSpPr>
          <p:cNvPr id="11" name="Text 9"/>
          <p:cNvSpPr txBox="1"/>
          <p:nvPr/>
        </p:nvSpPr>
        <p:spPr>
          <a:xfrm>
            <a:off x="2090867"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$258 each: $6.832B ÷ 26.5M</a:t>
            </a:r>
            <a:endParaRPr lang="en-US" sz="850" dirty="0"/>
          </a:p>
        </p:txBody>
      </p:sp>
      <p:sp>
        <p:nvSpPr>
          <p:cNvPr id="12" name="Shape 10"/>
          <p:cNvSpPr/>
          <p:nvPr/>
        </p:nvSpPr>
        <p:spPr>
          <a:xfrm>
            <a:off x="2941259" y="2075688"/>
            <a:ext cx="1523939" cy="2011680"/>
          </a:xfrm>
          <a:prstGeom prst="roundRect">
            <a:avLst>
              <a:gd name="adj" fmla="val 3600"/>
            </a:avLst>
          </a:prstGeom>
          <a:solidFill>
            <a:srgbClr val="F9F9F2"/>
          </a:solidFill>
          <a:ln w="12700">
            <a:solidFill>
              <a:srgbClr val="B4D9E3"/>
            </a:solidFill>
            <a:prstDash val="solid"/>
          </a:ln>
        </p:spPr>
      </p:sp>
      <p:sp>
        <p:nvSpPr>
          <p:cNvPr id="13" name="Shape 11"/>
          <p:cNvSpPr/>
          <p:nvPr/>
        </p:nvSpPr>
        <p:spPr>
          <a:xfrm>
            <a:off x="2941259" y="2075688"/>
            <a:ext cx="1523939" cy="64008"/>
          </a:xfrm>
          <a:prstGeom prst="rect">
            <a:avLst/>
          </a:prstGeom>
          <a:solidFill>
            <a:srgbClr val="125C60"/>
          </a:solidFill>
          <a:ln w="12700">
            <a:solidFill>
              <a:srgbClr val="125C60"/>
            </a:solidFill>
            <a:prstDash val="solid"/>
          </a:ln>
        </p:spPr>
      </p:sp>
      <p:sp>
        <p:nvSpPr>
          <p:cNvPr id="14" name="Text 12"/>
          <p:cNvSpPr txBox="1"/>
          <p:nvPr/>
        </p:nvSpPr>
        <p:spPr>
          <a:xfrm>
            <a:off x="3050987"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$6.83B</a:t>
            </a:r>
            <a:endParaRPr lang="en-US" sz="2500" dirty="0"/>
          </a:p>
        </p:txBody>
      </p:sp>
      <p:sp>
        <p:nvSpPr>
          <p:cNvPr id="15" name="Text 13"/>
          <p:cNvSpPr txBox="1"/>
          <p:nvPr/>
        </p:nvSpPr>
        <p:spPr>
          <a:xfrm>
            <a:off x="3050987"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 spending</a:t>
            </a:r>
            <a:endParaRPr lang="en-US" sz="1200" dirty="0"/>
          </a:p>
        </p:txBody>
      </p:sp>
      <p:sp>
        <p:nvSpPr>
          <p:cNvPr id="16" name="Shape 14"/>
          <p:cNvSpPr/>
          <p:nvPr/>
        </p:nvSpPr>
        <p:spPr>
          <a:xfrm>
            <a:off x="4538350" y="2761488"/>
            <a:ext cx="722376" cy="0"/>
          </a:xfrm>
          <a:prstGeom prst="line">
            <a:avLst/>
          </a:prstGeom>
          <a:noFill/>
          <a:ln w="38100">
            <a:solidFill>
              <a:srgbClr val="43A3A3"/>
            </a:solidFill>
            <a:prstDash val="solid"/>
            <a:tailEnd type="triangle"/>
          </a:ln>
        </p:spPr>
      </p:sp>
      <p:sp>
        <p:nvSpPr>
          <p:cNvPr id="17" name="Text 15"/>
          <p:cNvSpPr txBox="1"/>
          <p:nvPr/>
        </p:nvSpPr>
        <p:spPr>
          <a:xfrm>
            <a:off x="4483486"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×1.53: $10.42B ÷ $6.832B</a:t>
            </a:r>
            <a:endParaRPr lang="en-US" sz="850" dirty="0"/>
          </a:p>
        </p:txBody>
      </p:sp>
      <p:sp>
        <p:nvSpPr>
          <p:cNvPr id="18" name="Shape 16"/>
          <p:cNvSpPr/>
          <p:nvPr/>
        </p:nvSpPr>
        <p:spPr>
          <a:xfrm>
            <a:off x="5333878" y="2075688"/>
            <a:ext cx="1523939" cy="2011680"/>
          </a:xfrm>
          <a:prstGeom prst="roundRect">
            <a:avLst>
              <a:gd name="adj" fmla="val 3600"/>
            </a:avLst>
          </a:prstGeom>
          <a:solidFill>
            <a:srgbClr val="F9F9F2"/>
          </a:solidFill>
          <a:ln w="12700">
            <a:solidFill>
              <a:srgbClr val="B4D9E3"/>
            </a:solidFill>
            <a:prstDash val="solid"/>
          </a:ln>
        </p:spPr>
      </p:sp>
      <p:sp>
        <p:nvSpPr>
          <p:cNvPr id="19" name="Shape 17"/>
          <p:cNvSpPr/>
          <p:nvPr/>
        </p:nvSpPr>
        <p:spPr>
          <a:xfrm>
            <a:off x="5333878" y="2075688"/>
            <a:ext cx="1523939" cy="64008"/>
          </a:xfrm>
          <a:prstGeom prst="rect">
            <a:avLst/>
          </a:prstGeom>
          <a:solidFill>
            <a:srgbClr val="125C60"/>
          </a:solidFill>
          <a:ln w="12700">
            <a:solidFill>
              <a:srgbClr val="125C60"/>
            </a:solidFill>
            <a:prstDash val="solid"/>
          </a:ln>
        </p:spPr>
      </p:sp>
      <p:sp>
        <p:nvSpPr>
          <p:cNvPr id="20" name="Text 18"/>
          <p:cNvSpPr txBox="1"/>
          <p:nvPr/>
        </p:nvSpPr>
        <p:spPr>
          <a:xfrm>
            <a:off x="5443606"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$10.42B</a:t>
            </a:r>
            <a:endParaRPr lang="en-US" sz="2500" dirty="0"/>
          </a:p>
        </p:txBody>
      </p:sp>
      <p:sp>
        <p:nvSpPr>
          <p:cNvPr id="21" name="Text 19"/>
          <p:cNvSpPr txBox="1"/>
          <p:nvPr/>
        </p:nvSpPr>
        <p:spPr>
          <a:xfrm>
            <a:off x="5443606"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total economic impact</a:t>
            </a:r>
            <a:endParaRPr lang="en-US" sz="1200" dirty="0"/>
          </a:p>
        </p:txBody>
      </p:sp>
      <p:sp>
        <p:nvSpPr>
          <p:cNvPr id="22" name="Shape 20"/>
          <p:cNvSpPr/>
          <p:nvPr/>
        </p:nvSpPr>
        <p:spPr>
          <a:xfrm>
            <a:off x="6930969" y="2761488"/>
            <a:ext cx="722376" cy="0"/>
          </a:xfrm>
          <a:prstGeom prst="line">
            <a:avLst/>
          </a:prstGeom>
          <a:noFill/>
          <a:ln w="38100">
            <a:solidFill>
              <a:srgbClr val="43A3A3"/>
            </a:solidFill>
            <a:prstDash val="solid"/>
            <a:tailEnd type="triangle"/>
          </a:ln>
        </p:spPr>
      </p:sp>
      <p:sp>
        <p:nvSpPr>
          <p:cNvPr id="23" name="Text 21"/>
          <p:cNvSpPr txBox="1"/>
          <p:nvPr/>
        </p:nvSpPr>
        <p:spPr>
          <a:xfrm>
            <a:off x="6876105"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9.9 jobs per $1M: 67,817 ÷ 6,832</a:t>
            </a:r>
            <a:endParaRPr lang="en-US" sz="850" dirty="0"/>
          </a:p>
        </p:txBody>
      </p:sp>
      <p:sp>
        <p:nvSpPr>
          <p:cNvPr id="24" name="Shape 22"/>
          <p:cNvSpPr/>
          <p:nvPr/>
        </p:nvSpPr>
        <p:spPr>
          <a:xfrm>
            <a:off x="7726497" y="2075688"/>
            <a:ext cx="1523939" cy="2011680"/>
          </a:xfrm>
          <a:prstGeom prst="roundRect">
            <a:avLst>
              <a:gd name="adj" fmla="val 3600"/>
            </a:avLst>
          </a:prstGeom>
          <a:solidFill>
            <a:srgbClr val="F9F9F2"/>
          </a:solidFill>
          <a:ln w="12700">
            <a:solidFill>
              <a:srgbClr val="B4D9E3"/>
            </a:solidFill>
            <a:prstDash val="solid"/>
          </a:ln>
        </p:spPr>
      </p:sp>
      <p:sp>
        <p:nvSpPr>
          <p:cNvPr id="25" name="Shape 23"/>
          <p:cNvSpPr/>
          <p:nvPr/>
        </p:nvSpPr>
        <p:spPr>
          <a:xfrm>
            <a:off x="7726497" y="2075688"/>
            <a:ext cx="1523939" cy="64008"/>
          </a:xfrm>
          <a:prstGeom prst="rect">
            <a:avLst/>
          </a:prstGeom>
          <a:solidFill>
            <a:srgbClr val="125C60"/>
          </a:solidFill>
          <a:ln w="12700">
            <a:solidFill>
              <a:srgbClr val="125C60"/>
            </a:solidFill>
            <a:prstDash val="solid"/>
          </a:ln>
        </p:spPr>
      </p:sp>
      <p:sp>
        <p:nvSpPr>
          <p:cNvPr id="26" name="Text 24"/>
          <p:cNvSpPr txBox="1"/>
          <p:nvPr/>
        </p:nvSpPr>
        <p:spPr>
          <a:xfrm>
            <a:off x="7836225"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67,817</a:t>
            </a:r>
            <a:endParaRPr lang="en-US" sz="2500" dirty="0"/>
          </a:p>
        </p:txBody>
      </p:sp>
      <p:sp>
        <p:nvSpPr>
          <p:cNvPr id="27" name="Text 25"/>
          <p:cNvSpPr txBox="1"/>
          <p:nvPr/>
        </p:nvSpPr>
        <p:spPr>
          <a:xfrm>
            <a:off x="7836225"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jobs supported (32.8% of all Anaheim jobs)</a:t>
            </a:r>
            <a:endParaRPr lang="en-US" sz="1200" dirty="0"/>
          </a:p>
        </p:txBody>
      </p:sp>
      <p:sp>
        <p:nvSpPr>
          <p:cNvPr id="28" name="Shape 26"/>
          <p:cNvSpPr/>
          <p:nvPr/>
        </p:nvSpPr>
        <p:spPr>
          <a:xfrm>
            <a:off x="9323588" y="2761488"/>
            <a:ext cx="722376" cy="0"/>
          </a:xfrm>
          <a:prstGeom prst="line">
            <a:avLst/>
          </a:prstGeom>
          <a:noFill/>
          <a:ln w="38100">
            <a:solidFill>
              <a:srgbClr val="43A3A3"/>
            </a:solidFill>
            <a:prstDash val="solid"/>
            <a:tailEnd type="triangle"/>
          </a:ln>
        </p:spPr>
      </p:sp>
      <p:sp>
        <p:nvSpPr>
          <p:cNvPr id="29" name="Text 27"/>
          <p:cNvSpPr txBox="1"/>
          <p:nvPr/>
        </p:nvSpPr>
        <p:spPr>
          <a:xfrm>
            <a:off x="9268724"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$142K per $1M: $970M ÷ 6,832</a:t>
            </a:r>
            <a:endParaRPr lang="en-US" sz="850" dirty="0"/>
          </a:p>
        </p:txBody>
      </p:sp>
      <p:sp>
        <p:nvSpPr>
          <p:cNvPr id="30" name="Shape 28"/>
          <p:cNvSpPr/>
          <p:nvPr/>
        </p:nvSpPr>
        <p:spPr>
          <a:xfrm>
            <a:off x="10119116" y="2075688"/>
            <a:ext cx="1523939" cy="2011680"/>
          </a:xfrm>
          <a:prstGeom prst="roundRect">
            <a:avLst>
              <a:gd name="adj" fmla="val 3600"/>
            </a:avLst>
          </a:prstGeom>
          <a:solidFill>
            <a:srgbClr val="F9F9F2"/>
          </a:solidFill>
          <a:ln w="12700">
            <a:solidFill>
              <a:srgbClr val="B4D9E3"/>
            </a:solidFill>
            <a:prstDash val="solid"/>
          </a:ln>
        </p:spPr>
      </p:sp>
      <p:sp>
        <p:nvSpPr>
          <p:cNvPr id="31" name="Shape 29"/>
          <p:cNvSpPr/>
          <p:nvPr/>
        </p:nvSpPr>
        <p:spPr>
          <a:xfrm>
            <a:off x="10119116" y="2075688"/>
            <a:ext cx="1523939" cy="64008"/>
          </a:xfrm>
          <a:prstGeom prst="rect">
            <a:avLst/>
          </a:prstGeom>
          <a:solidFill>
            <a:srgbClr val="125C60"/>
          </a:solidFill>
          <a:ln w="12700">
            <a:solidFill>
              <a:srgbClr val="125C60"/>
            </a:solidFill>
            <a:prstDash val="solid"/>
          </a:ln>
        </p:spPr>
      </p:sp>
      <p:sp>
        <p:nvSpPr>
          <p:cNvPr id="32" name="Text 30"/>
          <p:cNvSpPr txBox="1"/>
          <p:nvPr/>
        </p:nvSpPr>
        <p:spPr>
          <a:xfrm>
            <a:off x="10228844"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$970M</a:t>
            </a:r>
            <a:endParaRPr lang="en-US" sz="2500" dirty="0"/>
          </a:p>
        </p:txBody>
      </p:sp>
      <p:sp>
        <p:nvSpPr>
          <p:cNvPr id="33" name="Text 31"/>
          <p:cNvSpPr txBox="1"/>
          <p:nvPr/>
        </p:nvSpPr>
        <p:spPr>
          <a:xfrm>
            <a:off x="10228844"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state and local taxes</a:t>
            </a:r>
            <a:endParaRPr lang="en-US" sz="1200" dirty="0"/>
          </a:p>
        </p:txBody>
      </p:sp>
      <p:sp>
        <p:nvSpPr>
          <p:cNvPr id="34" name="Shape 32"/>
          <p:cNvSpPr/>
          <p:nvPr/>
        </p:nvSpPr>
        <p:spPr>
          <a:xfrm>
            <a:off x="548640" y="4389120"/>
            <a:ext cx="11094415" cy="45720"/>
          </a:xfrm>
          <a:prstGeom prst="rect">
            <a:avLst/>
          </a:prstGeom>
          <a:solidFill>
            <a:srgbClr val="125C60"/>
          </a:solidFill>
          <a:ln w="12700">
            <a:solidFill>
              <a:srgbClr val="125C60"/>
            </a:solidFill>
            <a:prstDash val="solid"/>
          </a:ln>
        </p:spPr>
      </p:sp>
      <p:sp>
        <p:nvSpPr>
          <p:cNvPr id="35" name="Text 33"/>
          <p:cNvSpPr txBox="1"/>
          <p:nvPr/>
        </p:nvSpPr>
        <p:spPr>
          <a:xfrm>
            <a:off x="548640" y="44805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6" name="Text 34"/>
          <p:cNvSpPr txBox="1"/>
          <p:nvPr/>
        </p:nvSpPr>
        <p:spPr>
          <a:xfrm>
            <a:off x="548640" y="4736592"/>
            <a:ext cx="11094415" cy="114300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3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draws 51.3 million visitors a year; hotels fill 75% of rooms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Orange County tourism · CIC Research 2009-2019; Tourism Economics 2021-2025; CoStar through Sept. 2026; Azira Jan. 2023-Aug.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19, 2026): </a:t>
            </a:r>
            <a:pPr indent="0" marL="0">
              <a:buNone/>
            </a:pPr>
            <a:r>
              <a:rPr lang="en-US" sz="135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350" b="1" dirty="0">
                <a:solidFill>
                  <a:srgbClr val="125C60"/>
                </a:solidFill>
                <a:latin typeface="Proxima Nova" pitchFamily="34" charset="0"/>
                <a:ea typeface="Proxima Nova" pitchFamily="34" charset="-122"/>
                <a:cs typeface="Proxima Nova" pitchFamily="34" charset="-120"/>
              </a:rPr>
              <a:t>51.3M</a:t>
            </a:r>
            <a:pPr indent="0" marL="0">
              <a:buNone/>
            </a:pPr>
            <a:r>
              <a:rPr lang="en-US" sz="135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29.2M</a:t>
            </a:r>
            <a:pPr indent="0" marL="0">
              <a:buNone/>
            </a:pPr>
            <a:r>
              <a:rPr lang="en-US" sz="1350" dirty="0">
                <a:solidFill>
                  <a:srgbClr val="231F20"/>
                </a:solidFill>
                <a:latin typeface="Proxima Nova" pitchFamily="34" charset="0"/>
                <a:ea typeface="Proxima Nova" pitchFamily="34" charset="-122"/>
                <a:cs typeface="Proxima Nova" pitchFamily="34" charset="-120"/>
              </a:rPr>
              <a:t> for the day and </a:t>
            </a:r>
            <a:pPr indent="0" marL="0">
              <a:buNone/>
            </a:pPr>
            <a:r>
              <a:rPr lang="en-US" sz="1350" b="1" dirty="0">
                <a:solidFill>
                  <a:srgbClr val="125C60"/>
                </a:solidFill>
                <a:latin typeface="Proxima Nova" pitchFamily="34" charset="0"/>
                <a:ea typeface="Proxima Nova" pitchFamily="34" charset="-122"/>
                <a:cs typeface="Proxima Nova" pitchFamily="34" charset="-120"/>
              </a:rPr>
              <a:t>22.1M</a:t>
            </a:r>
            <a:pPr indent="0" marL="0">
              <a:buNone/>
            </a:pPr>
            <a:r>
              <a:rPr lang="en-US" sz="1350" dirty="0">
                <a:solidFill>
                  <a:srgbClr val="231F20"/>
                </a:solidFill>
                <a:latin typeface="Proxima Nova" pitchFamily="34" charset="0"/>
                <a:ea typeface="Proxima Nova" pitchFamily="34" charset="-122"/>
                <a:cs typeface="Proxima Nova" pitchFamily="34" charset="-120"/>
              </a:rPr>
              <a:t>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93.3%</a:t>
            </a:r>
            <a:pPr indent="0" marL="0">
              <a:buNone/>
            </a:pPr>
            <a:r>
              <a:rPr lang="en-US" sz="1350" dirty="0">
                <a:solidFill>
                  <a:srgbClr val="231F20"/>
                </a:solidFill>
                <a:latin typeface="Proxima Nova" pitchFamily="34" charset="0"/>
                <a:ea typeface="Proxima Nova" pitchFamily="34" charset="-122"/>
                <a:cs typeface="Proxima Nova" pitchFamily="34" charset="-120"/>
              </a:rPr>
              <a:t> came from within the U.S. (Tourism Economics). Most come for leisure: in 2019, </a:t>
            </a:r>
            <a:pPr indent="0" marL="0">
              <a:buNone/>
            </a:pPr>
            <a:r>
              <a:rPr lang="en-US" sz="1350" b="1" dirty="0">
                <a:solidFill>
                  <a:srgbClr val="125C60"/>
                </a:solidFill>
                <a:latin typeface="Proxima Nova" pitchFamily="34" charset="0"/>
                <a:ea typeface="Proxima Nova" pitchFamily="34" charset="-122"/>
                <a:cs typeface="Proxima Nova" pitchFamily="34" charset="-120"/>
              </a:rPr>
              <a:t>81.2%</a:t>
            </a:r>
            <a:pPr indent="0" marL="0">
              <a:buNone/>
            </a:pPr>
            <a:r>
              <a:rPr lang="en-US" sz="1350" dirty="0">
                <a:solidFill>
                  <a:srgbClr val="231F20"/>
                </a:solidFill>
                <a:latin typeface="Proxima Nova" pitchFamily="34" charset="0"/>
                <a:ea typeface="Proxima Nova" pitchFamily="34" charset="-122"/>
                <a:cs typeface="Proxima Nova" pitchFamily="34" charset="-120"/>
              </a:rPr>
              <a:t> traveled for pleasure or to see friends and relatives, in parties of </a:t>
            </a:r>
            <a:pPr indent="0" marL="0">
              <a:buNone/>
            </a:pPr>
            <a:r>
              <a:rPr lang="en-US" sz="1350" b="1" dirty="0">
                <a:solidFill>
                  <a:srgbClr val="125C60"/>
                </a:solidFill>
                <a:latin typeface="Proxima Nova" pitchFamily="34" charset="0"/>
                <a:ea typeface="Proxima Nova" pitchFamily="34" charset="-122"/>
                <a:cs typeface="Proxima Nova" pitchFamily="34" charset="-120"/>
              </a:rPr>
              <a:t>2.8</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37.0%</a:t>
            </a:r>
            <a:pPr indent="0" marL="0">
              <a:buNone/>
            </a:pPr>
            <a:r>
              <a:rPr lang="en-US" sz="1350" dirty="0">
                <a:solidFill>
                  <a:srgbClr val="231F20"/>
                </a:solidFill>
                <a:latin typeface="Proxima Nova" pitchFamily="34" charset="0"/>
                <a:ea typeface="Proxima Nova" pitchFamily="34" charset="-122"/>
                <a:cs typeface="Proxima Nova" pitchFamily="34" charset="-120"/>
              </a:rPr>
              <a:t> brought children (CIC Research).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75.2%</a:t>
            </a:r>
            <a:pPr indent="0" marL="0">
              <a:buNone/>
            </a:pPr>
            <a:r>
              <a:rPr lang="en-US" sz="1350" dirty="0">
                <a:solidFill>
                  <a:srgbClr val="231F20"/>
                </a:solidFill>
                <a:latin typeface="Proxima Nova" pitchFamily="34" charset="0"/>
                <a:ea typeface="Proxima Nova" pitchFamily="34" charset="-122"/>
                <a:cs typeface="Proxima Nova" pitchFamily="34" charset="-120"/>
              </a:rPr>
              <a:t> of </a:t>
            </a:r>
            <a:pPr indent="0" marL="0">
              <a:buNone/>
            </a:pPr>
            <a:r>
              <a:rPr lang="en-US" sz="1350" b="1" dirty="0">
                <a:solidFill>
                  <a:srgbClr val="125C60"/>
                </a:solidFill>
                <a:latin typeface="Proxima Nova" pitchFamily="34" charset="0"/>
                <a:ea typeface="Proxima Nova" pitchFamily="34" charset="-122"/>
                <a:cs typeface="Proxima Nova" pitchFamily="34" charset="-120"/>
              </a:rPr>
              <a:t>60,224 rooms</a:t>
            </a:r>
            <a:pPr indent="0" marL="0">
              <a:buNone/>
            </a:pPr>
            <a:r>
              <a:rPr lang="en-US" sz="1350" dirty="0">
                <a:solidFill>
                  <a:srgbClr val="231F20"/>
                </a:solidFill>
                <a:latin typeface="Proxima Nova" pitchFamily="34" charset="0"/>
                <a:ea typeface="Proxima Nova" pitchFamily="34" charset="-122"/>
                <a:cs typeface="Proxima Nova" pitchFamily="34" charset="-120"/>
              </a:rPr>
              <a:t> at </a:t>
            </a:r>
            <a:pPr indent="0" marL="0">
              <a:buNone/>
            </a:pPr>
            <a:r>
              <a:rPr lang="en-US" sz="1350" b="1" dirty="0">
                <a:solidFill>
                  <a:srgbClr val="125C60"/>
                </a:solidFill>
                <a:latin typeface="Proxima Nova" pitchFamily="34" charset="0"/>
                <a:ea typeface="Proxima Nova" pitchFamily="34" charset="-122"/>
                <a:cs typeface="Proxima Nova" pitchFamily="34" charset="-120"/>
              </a:rPr>
              <a:t>$221.67</a:t>
            </a:r>
            <a:pPr indent="0" marL="0">
              <a:buNone/>
            </a:pPr>
            <a:r>
              <a:rPr lang="en-US" sz="1350" dirty="0">
                <a:solidFill>
                  <a:srgbClr val="231F20"/>
                </a:solidFill>
                <a:latin typeface="Proxima Nova" pitchFamily="34" charset="0"/>
                <a:ea typeface="Proxima Nova" pitchFamily="34" charset="-122"/>
                <a:cs typeface="Proxima Nova" pitchFamily="34" charset="-120"/>
              </a:rPr>
              <a:t> in Jan.-Aug. 2026, with July the busiest month (CoStar).</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Entertainment + Culture Advisors asked five questions for OCVIBE's market study. The answers come from five sources with different methods: Tourism Economics for current visitor volume (</a:t>
            </a:r>
            <a:pPr indent="0" marL="0">
              <a:buNone/>
            </a:pPr>
            <a:r>
              <a:rPr lang="en-US" sz="1250" b="1" dirty="0">
                <a:solidFill>
                  <a:srgbClr val="125C60"/>
                </a:solidFill>
                <a:latin typeface="Proxima Nova" pitchFamily="34" charset="0"/>
                <a:ea typeface="Proxima Nova" pitchFamily="34" charset="-122"/>
                <a:cs typeface="Proxima Nova" pitchFamily="34" charset="-120"/>
              </a:rPr>
              <a:t>51.3M</a:t>
            </a:r>
            <a:pPr indent="0" marL="0">
              <a:buNone/>
            </a:pPr>
            <a:r>
              <a:rPr lang="en-US" sz="1250" dirty="0">
                <a:solidFill>
                  <a:srgbClr val="231F20"/>
                </a:solidFill>
                <a:latin typeface="Proxima Nova" pitchFamily="34" charset="0"/>
                <a:ea typeface="Proxima Nova" pitchFamily="34" charset="-122"/>
                <a:cs typeface="Proxima Nova" pitchFamily="34" charset="-120"/>
              </a:rPr>
              <a:t> in 2025), CIC Research for the 2019 baseline and visitor profile, Azira for origins, and CoStar for hotel rooms and seasonality. Gaps are named with their solutions.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51.3M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2019 BASELINE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50.21M</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 (different method)</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HOTELS, JAN.-AUG. 2026</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Occupancy</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51.3M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Orange County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Orange County (staying overnight or traveling 50+ miles), the county's hotels, and ECA and OCVIBE as the requesters.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2019 visitors from Southern California</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51.3M</a:t>
            </a:r>
            <a:pPr indent="0" marL="0">
              <a:buNone/>
            </a:pPr>
            <a:r>
              <a:rPr lang="en-US" sz="95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950" b="1" dirty="0">
                <a:solidFill>
                  <a:srgbClr val="125C60"/>
                </a:solidFill>
                <a:latin typeface="Proxima Nova" pitchFamily="34" charset="0"/>
                <a:ea typeface="Proxima Nova" pitchFamily="34" charset="-122"/>
                <a:cs typeface="Proxima Nova" pitchFamily="34" charset="-120"/>
              </a:rPr>
              <a:t>29.2M</a:t>
            </a:r>
            <a:pPr indent="0" marL="0">
              <a:buNone/>
            </a:pPr>
            <a:r>
              <a:rPr lang="en-US" sz="950" dirty="0">
                <a:solidFill>
                  <a:srgbClr val="231F20"/>
                </a:solidFill>
                <a:latin typeface="Proxima Nova" pitchFamily="34" charset="0"/>
                <a:ea typeface="Proxima Nova" pitchFamily="34" charset="-122"/>
                <a:cs typeface="Proxima Nova" pitchFamily="34" charset="-120"/>
              </a:rPr>
              <a:t> day, </a:t>
            </a:r>
            <a:pPr indent="0" marL="0">
              <a:buNone/>
            </a:pPr>
            <a:r>
              <a:rPr lang="en-US" sz="950" b="1" dirty="0">
                <a:solidFill>
                  <a:srgbClr val="125C60"/>
                </a:solidFill>
                <a:latin typeface="Proxima Nova" pitchFamily="34" charset="0"/>
                <a:ea typeface="Proxima Nova" pitchFamily="34" charset="-122"/>
                <a:cs typeface="Proxima Nova" pitchFamily="34" charset="-120"/>
              </a:rPr>
              <a:t>22.1M</a:t>
            </a:r>
            <a:pPr indent="0" marL="0">
              <a:buNone/>
            </a:pPr>
            <a:r>
              <a:rPr lang="en-US" sz="950" dirty="0">
                <a:solidFill>
                  <a:srgbClr val="231F20"/>
                </a:solidFill>
                <a:latin typeface="Proxima Nova" pitchFamily="34" charset="0"/>
                <a:ea typeface="Proxima Nova" pitchFamily="34" charset="-122"/>
                <a:cs typeface="Proxima Nova" pitchFamily="34" charset="-120"/>
              </a:rPr>
              <a:t>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93.3%</a:t>
            </a:r>
            <a:pPr indent="0" marL="0">
              <a:buNone/>
            </a:pPr>
            <a:r>
              <a:rPr lang="en-US" sz="950" dirty="0">
                <a:solidFill>
                  <a:srgbClr val="231F20"/>
                </a:solidFill>
                <a:latin typeface="Proxima Nova" pitchFamily="34" charset="0"/>
                <a:ea typeface="Proxima Nova" pitchFamily="34" charset="-122"/>
                <a:cs typeface="Proxima Nova" pitchFamily="34" charset="-120"/>
              </a:rPr>
              <a:t> domestic); </a:t>
            </a:r>
            <a:pPr indent="0" marL="0">
              <a:buNone/>
            </a:pPr>
            <a:r>
              <a:rPr lang="en-US" sz="950" b="1" dirty="0">
                <a:solidFill>
                  <a:srgbClr val="125C60"/>
                </a:solidFill>
                <a:latin typeface="Proxima Nova" pitchFamily="34" charset="0"/>
                <a:ea typeface="Proxima Nova" pitchFamily="34" charset="-122"/>
                <a:cs typeface="Proxima Nova" pitchFamily="34" charset="-120"/>
              </a:rPr>
              <a:t>55.4%</a:t>
            </a:r>
            <a:pPr indent="0" marL="0">
              <a:buNone/>
            </a:pPr>
            <a:r>
              <a:rPr lang="en-US" sz="950" dirty="0">
                <a:solidFill>
                  <a:srgbClr val="231F20"/>
                </a:solidFill>
                <a:latin typeface="Proxima Nova" pitchFamily="34" charset="0"/>
                <a:ea typeface="Proxima Nova" pitchFamily="34" charset="-122"/>
                <a:cs typeface="Proxima Nova" pitchFamily="34" charset="-120"/>
              </a:rPr>
              <a:t> from Southern California (2019); July peak; </a:t>
            </a:r>
            <a:pPr indent="0" marL="0">
              <a:buNone/>
            </a:pPr>
            <a:r>
              <a:rPr lang="en-US" sz="950" b="1" dirty="0">
                <a:solidFill>
                  <a:srgbClr val="125C60"/>
                </a:solidFill>
                <a:latin typeface="Proxima Nova" pitchFamily="34" charset="0"/>
                <a:ea typeface="Proxima Nova" pitchFamily="34" charset="-122"/>
                <a:cs typeface="Proxima Nova" pitchFamily="34" charset="-120"/>
              </a:rPr>
              <a:t>81.2%</a:t>
            </a:r>
            <a:pPr indent="0" marL="0">
              <a:buNone/>
            </a:pPr>
            <a:r>
              <a:rPr lang="en-US" sz="950" dirty="0">
                <a:solidFill>
                  <a:srgbClr val="231F20"/>
                </a:solidFill>
                <a:latin typeface="Proxima Nova" pitchFamily="34" charset="0"/>
                <a:ea typeface="Proxima Nova" pitchFamily="34" charset="-122"/>
                <a:cs typeface="Proxima Nova" pitchFamily="34" charset="-120"/>
              </a:rPr>
              <a:t> leisure, party of </a:t>
            </a:r>
            <a:pPr indent="0" marL="0">
              <a:buNone/>
            </a:pPr>
            <a:r>
              <a:rPr lang="en-US" sz="950" b="1" dirty="0">
                <a:solidFill>
                  <a:srgbClr val="125C60"/>
                </a:solidFill>
                <a:latin typeface="Proxima Nova" pitchFamily="34" charset="0"/>
                <a:ea typeface="Proxima Nova" pitchFamily="34" charset="-122"/>
                <a:cs typeface="Proxima Nova" pitchFamily="34" charset="-120"/>
              </a:rPr>
              <a:t>2.8</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37.0%</a:t>
            </a:r>
            <a:pPr indent="0" marL="0">
              <a:buNone/>
            </a:pPr>
            <a:r>
              <a:rPr lang="en-US" sz="950" dirty="0">
                <a:solidFill>
                  <a:srgbClr val="231F20"/>
                </a:solidFill>
                <a:latin typeface="Proxima Nova" pitchFamily="34" charset="0"/>
                <a:ea typeface="Proxima Nova" pitchFamily="34" charset="-122"/>
                <a:cs typeface="Proxima Nova" pitchFamily="34" charset="-120"/>
              </a:rPr>
              <a:t> with children (2019); </a:t>
            </a:r>
            <a:pPr indent="0" marL="0">
              <a:buNone/>
            </a:pPr>
            <a:r>
              <a:rPr lang="en-US" sz="950" b="1" dirty="0">
                <a:solidFill>
                  <a:srgbClr val="125C60"/>
                </a:solidFill>
                <a:latin typeface="Proxima Nova" pitchFamily="34" charset="0"/>
                <a:ea typeface="Proxima Nova" pitchFamily="34" charset="-122"/>
                <a:cs typeface="Proxima Nova" pitchFamily="34" charset="-120"/>
              </a:rPr>
              <a:t>60,224</a:t>
            </a:r>
            <a:pPr indent="0" marL="0">
              <a:buNone/>
            </a:pPr>
            <a:r>
              <a:rPr lang="en-US" sz="950" dirty="0">
                <a:solidFill>
                  <a:srgbClr val="231F20"/>
                </a:solidFill>
                <a:latin typeface="Proxima Nova" pitchFamily="34" charset="0"/>
                <a:ea typeface="Proxima Nova" pitchFamily="34" charset="-122"/>
                <a:cs typeface="Proxima Nova" pitchFamily="34" charset="-120"/>
              </a:rPr>
              <a:t> hotel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75.2%</a:t>
            </a:r>
            <a:pPr indent="0" marL="0">
              <a:buNone/>
            </a:pPr>
            <a:r>
              <a:rPr lang="en-US" sz="950" dirty="0">
                <a:solidFill>
                  <a:srgbClr val="231F20"/>
                </a:solidFill>
                <a:latin typeface="Proxima Nova" pitchFamily="34" charset="0"/>
                <a:ea typeface="Proxima Nova" pitchFamily="34" charset="-122"/>
                <a:cs typeface="Proxima Nova" pitchFamily="34" charset="-120"/>
              </a:rPr>
              <a:t> occupancy and </a:t>
            </a:r>
            <a:pPr indent="0" marL="0">
              <a:buNone/>
            </a:pPr>
            <a:r>
              <a:rPr lang="en-US" sz="950" b="1" dirty="0">
                <a:solidFill>
                  <a:srgbClr val="125C60"/>
                </a:solidFill>
                <a:latin typeface="Proxima Nova" pitchFamily="34" charset="0"/>
                <a:ea typeface="Proxima Nova" pitchFamily="34" charset="-122"/>
                <a:cs typeface="Proxima Nova" pitchFamily="34" charset="-120"/>
              </a:rPr>
              <a:t>$221.67</a:t>
            </a:r>
            <a:pPr indent="0" marL="0">
              <a:buNone/>
            </a:pPr>
            <a:r>
              <a:rPr lang="en-US" sz="950" dirty="0">
                <a:solidFill>
                  <a:srgbClr val="231F20"/>
                </a:solidFill>
                <a:latin typeface="Proxima Nova" pitchFamily="34" charset="0"/>
                <a:ea typeface="Proxima Nova" pitchFamily="34" charset="-122"/>
                <a:cs typeface="Proxima Nova" pitchFamily="34" charset="-120"/>
              </a:rPr>
              <a:t> ADR (2026 YTD).</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80.6%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July hotel occupancy, 2023-2025 average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2009-2019 (CIC) and 2021-2025 (Tourism Economics); hotels Jan. 2019-Sept. 2026 (CoStar); Azira Jan. 1, 2023-Aug. 31, 2026. Assembled Oct. 19,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37.0%</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2019 visitors traveled with children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Orange County; Anaheim where the county figure is not published; Anaheim and Garden Grove for Azira location data.</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60,224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Orange County hotel rooms, Sept. 2026</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ECA's market study for OCVIBE needs a county baseline for audience size, origin, timing, visitor mix and lodging capacity.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75.2%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occupancy, Jan.-Aug. 2026</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Published figures from each source, kept as separate series; BI arithmetic shown for averages, revenue per available room and changes.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 Symphony | Tourism Economics (Azira), Anaheim and Garden Grove, Jan. 1, 2023-Aug. 31, 2026 (pulled Oct. 19,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345429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Four in ten Orange County visitors stay overnight</a:t>
            </a:r>
            <a:endParaRPr lang="en-US" sz="1500" dirty="0"/>
          </a:p>
        </p:txBody>
      </p:sp>
      <p:sp>
        <p:nvSpPr>
          <p:cNvPr id="5" name="Text 3"/>
          <p:cNvSpPr txBox="1"/>
          <p:nvPr/>
        </p:nvSpPr>
        <p:spPr>
          <a:xfrm>
            <a:off x="548640" y="1746504"/>
            <a:ext cx="345429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Overnight and day visitors, calendar 2025</a:t>
            </a:r>
            <a:endParaRPr lang="en-US" sz="950" dirty="0"/>
          </a:p>
        </p:txBody>
      </p:sp>
      <p:sp>
        <p:nvSpPr>
          <p:cNvPr id="6" name="Shape 4"/>
          <p:cNvSpPr/>
          <p:nvPr/>
        </p:nvSpPr>
        <p:spPr>
          <a:xfrm>
            <a:off x="548640" y="2167128"/>
            <a:ext cx="3454298" cy="731520"/>
          </a:xfrm>
          <a:prstGeom prst="rect">
            <a:avLst/>
          </a:prstGeom>
          <a:solidFill>
            <a:srgbClr val="B4D9E3"/>
          </a:solidFill>
          <a:ln w="12700">
            <a:solidFill>
              <a:srgbClr val="B4D9E3"/>
            </a:solidFill>
            <a:prstDash val="solid"/>
          </a:ln>
        </p:spPr>
      </p:sp>
      <p:sp>
        <p:nvSpPr>
          <p:cNvPr id="7" name="Shape 5"/>
          <p:cNvSpPr/>
          <p:nvPr/>
        </p:nvSpPr>
        <p:spPr>
          <a:xfrm>
            <a:off x="548640" y="2167128"/>
            <a:ext cx="1488803"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1727149"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22.1M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(43.1%)</a:t>
            </a:r>
            <a:endParaRPr lang="en-US" sz="1800" dirty="0"/>
          </a:p>
        </p:txBody>
      </p:sp>
      <p:sp>
        <p:nvSpPr>
          <p:cNvPr id="9" name="Text 7"/>
          <p:cNvSpPr txBox="1"/>
          <p:nvPr/>
        </p:nvSpPr>
        <p:spPr>
          <a:xfrm>
            <a:off x="2275789" y="3035808"/>
            <a:ext cx="1727149"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51.3M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(29.2M day visitors)</a:t>
            </a:r>
            <a:endParaRPr lang="en-US" sz="1800" dirty="0"/>
          </a:p>
        </p:txBody>
      </p:sp>
      <p:sp>
        <p:nvSpPr>
          <p:cNvPr id="10" name="Text 8"/>
          <p:cNvSpPr txBox="1"/>
          <p:nvPr/>
        </p:nvSpPr>
        <p:spPr>
          <a:xfrm>
            <a:off x="548640" y="3538728"/>
            <a:ext cx="345429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22.1M / 51.3M = 43.1%; day visitors 29.2M / 51.3M = 56.9%</a:t>
            </a:r>
            <a:endParaRPr lang="en-US" sz="950" dirty="0"/>
          </a:p>
        </p:txBody>
      </p:sp>
      <p:sp>
        <p:nvSpPr>
          <p:cNvPr id="11" name="Text 9"/>
          <p:cNvSpPr txBox="1"/>
          <p:nvPr/>
        </p:nvSpPr>
        <p:spPr>
          <a:xfrm>
            <a:off x="4368698" y="1417320"/>
            <a:ext cx="345429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Orange County visitors</a:t>
            </a:r>
            <a:endParaRPr lang="en-US" sz="1500" dirty="0"/>
          </a:p>
        </p:txBody>
      </p:sp>
      <p:sp>
        <p:nvSpPr>
          <p:cNvPr id="12" name="Text 10"/>
          <p:cNvSpPr txBox="1"/>
          <p:nvPr/>
        </p:nvSpPr>
        <p:spPr>
          <a:xfrm>
            <a:off x="4368698" y="1746504"/>
            <a:ext cx="345429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CIC Research, calendar 2019 (latest county profile)</a:t>
            </a:r>
            <a:endParaRPr lang="en-US" sz="950" dirty="0"/>
          </a:p>
        </p:txBody>
      </p:sp>
      <p:sp>
        <p:nvSpPr>
          <p:cNvPr id="13" name="Shape 11"/>
          <p:cNvSpPr/>
          <p:nvPr/>
        </p:nvSpPr>
        <p:spPr>
          <a:xfrm>
            <a:off x="4368698" y="2075688"/>
            <a:ext cx="60279" cy="60279"/>
          </a:xfrm>
          <a:prstGeom prst="rect">
            <a:avLst/>
          </a:prstGeom>
          <a:solidFill>
            <a:srgbClr val="43A3A3"/>
          </a:solidFill>
          <a:ln w="12700">
            <a:solidFill>
              <a:srgbClr val="43A3A3"/>
            </a:solidFill>
            <a:prstDash val="solid"/>
          </a:ln>
        </p:spPr>
      </p:sp>
      <p:sp>
        <p:nvSpPr>
          <p:cNvPr id="14" name="Shape 12"/>
          <p:cNvSpPr/>
          <p:nvPr/>
        </p:nvSpPr>
        <p:spPr>
          <a:xfrm>
            <a:off x="4437417" y="2075688"/>
            <a:ext cx="60279" cy="60279"/>
          </a:xfrm>
          <a:prstGeom prst="rect">
            <a:avLst/>
          </a:prstGeom>
          <a:solidFill>
            <a:srgbClr val="43A3A3"/>
          </a:solidFill>
          <a:ln w="12700">
            <a:solidFill>
              <a:srgbClr val="43A3A3"/>
            </a:solidFill>
            <a:prstDash val="solid"/>
          </a:ln>
        </p:spPr>
      </p:sp>
      <p:sp>
        <p:nvSpPr>
          <p:cNvPr id="15" name="Shape 13"/>
          <p:cNvSpPr/>
          <p:nvPr/>
        </p:nvSpPr>
        <p:spPr>
          <a:xfrm>
            <a:off x="4506135" y="2075688"/>
            <a:ext cx="60279" cy="60279"/>
          </a:xfrm>
          <a:prstGeom prst="rect">
            <a:avLst/>
          </a:prstGeom>
          <a:solidFill>
            <a:srgbClr val="43A3A3"/>
          </a:solidFill>
          <a:ln w="12700">
            <a:solidFill>
              <a:srgbClr val="43A3A3"/>
            </a:solidFill>
            <a:prstDash val="solid"/>
          </a:ln>
        </p:spPr>
      </p:sp>
      <p:sp>
        <p:nvSpPr>
          <p:cNvPr id="16" name="Shape 14"/>
          <p:cNvSpPr/>
          <p:nvPr/>
        </p:nvSpPr>
        <p:spPr>
          <a:xfrm>
            <a:off x="4574854" y="2075688"/>
            <a:ext cx="60279" cy="60279"/>
          </a:xfrm>
          <a:prstGeom prst="rect">
            <a:avLst/>
          </a:prstGeom>
          <a:solidFill>
            <a:srgbClr val="43A3A3"/>
          </a:solidFill>
          <a:ln w="12700">
            <a:solidFill>
              <a:srgbClr val="43A3A3"/>
            </a:solidFill>
            <a:prstDash val="solid"/>
          </a:ln>
        </p:spPr>
      </p:sp>
      <p:sp>
        <p:nvSpPr>
          <p:cNvPr id="17" name="Shape 15"/>
          <p:cNvSpPr/>
          <p:nvPr/>
        </p:nvSpPr>
        <p:spPr>
          <a:xfrm>
            <a:off x="4643572" y="2075688"/>
            <a:ext cx="60279" cy="60279"/>
          </a:xfrm>
          <a:prstGeom prst="rect">
            <a:avLst/>
          </a:prstGeom>
          <a:solidFill>
            <a:srgbClr val="43A3A3"/>
          </a:solidFill>
          <a:ln w="12700">
            <a:solidFill>
              <a:srgbClr val="43A3A3"/>
            </a:solidFill>
            <a:prstDash val="solid"/>
          </a:ln>
        </p:spPr>
      </p:sp>
      <p:sp>
        <p:nvSpPr>
          <p:cNvPr id="18" name="Shape 16"/>
          <p:cNvSpPr/>
          <p:nvPr/>
        </p:nvSpPr>
        <p:spPr>
          <a:xfrm>
            <a:off x="4712290" y="2075688"/>
            <a:ext cx="60279" cy="60279"/>
          </a:xfrm>
          <a:prstGeom prst="rect">
            <a:avLst/>
          </a:prstGeom>
          <a:solidFill>
            <a:srgbClr val="43A3A3"/>
          </a:solidFill>
          <a:ln w="12700">
            <a:solidFill>
              <a:srgbClr val="43A3A3"/>
            </a:solidFill>
            <a:prstDash val="solid"/>
          </a:ln>
        </p:spPr>
      </p:sp>
      <p:sp>
        <p:nvSpPr>
          <p:cNvPr id="19" name="Shape 17"/>
          <p:cNvSpPr/>
          <p:nvPr/>
        </p:nvSpPr>
        <p:spPr>
          <a:xfrm>
            <a:off x="4781009" y="2075688"/>
            <a:ext cx="60279" cy="60279"/>
          </a:xfrm>
          <a:prstGeom prst="rect">
            <a:avLst/>
          </a:prstGeom>
          <a:solidFill>
            <a:srgbClr val="43A3A3"/>
          </a:solidFill>
          <a:ln w="12700">
            <a:solidFill>
              <a:srgbClr val="43A3A3"/>
            </a:solidFill>
            <a:prstDash val="solid"/>
          </a:ln>
        </p:spPr>
      </p:sp>
      <p:sp>
        <p:nvSpPr>
          <p:cNvPr id="20" name="Shape 18"/>
          <p:cNvSpPr/>
          <p:nvPr/>
        </p:nvSpPr>
        <p:spPr>
          <a:xfrm>
            <a:off x="4849727" y="2075688"/>
            <a:ext cx="60279" cy="60279"/>
          </a:xfrm>
          <a:prstGeom prst="rect">
            <a:avLst/>
          </a:prstGeom>
          <a:solidFill>
            <a:srgbClr val="43A3A3"/>
          </a:solidFill>
          <a:ln w="12700">
            <a:solidFill>
              <a:srgbClr val="43A3A3"/>
            </a:solidFill>
            <a:prstDash val="solid"/>
          </a:ln>
        </p:spPr>
      </p:sp>
      <p:sp>
        <p:nvSpPr>
          <p:cNvPr id="21" name="Shape 19"/>
          <p:cNvSpPr/>
          <p:nvPr/>
        </p:nvSpPr>
        <p:spPr>
          <a:xfrm>
            <a:off x="4918445" y="2075688"/>
            <a:ext cx="60279" cy="60279"/>
          </a:xfrm>
          <a:prstGeom prst="rect">
            <a:avLst/>
          </a:prstGeom>
          <a:solidFill>
            <a:srgbClr val="43A3A3"/>
          </a:solidFill>
          <a:ln w="12700">
            <a:solidFill>
              <a:srgbClr val="43A3A3"/>
            </a:solidFill>
            <a:prstDash val="solid"/>
          </a:ln>
        </p:spPr>
      </p:sp>
      <p:sp>
        <p:nvSpPr>
          <p:cNvPr id="22" name="Shape 20"/>
          <p:cNvSpPr/>
          <p:nvPr/>
        </p:nvSpPr>
        <p:spPr>
          <a:xfrm>
            <a:off x="4987164" y="2075688"/>
            <a:ext cx="60279" cy="60279"/>
          </a:xfrm>
          <a:prstGeom prst="rect">
            <a:avLst/>
          </a:prstGeom>
          <a:solidFill>
            <a:srgbClr val="43A3A3"/>
          </a:solidFill>
          <a:ln w="12700">
            <a:solidFill>
              <a:srgbClr val="43A3A3"/>
            </a:solidFill>
            <a:prstDash val="solid"/>
          </a:ln>
        </p:spPr>
      </p:sp>
      <p:sp>
        <p:nvSpPr>
          <p:cNvPr id="23" name="Shape 21"/>
          <p:cNvSpPr/>
          <p:nvPr/>
        </p:nvSpPr>
        <p:spPr>
          <a:xfrm>
            <a:off x="4368698" y="2144406"/>
            <a:ext cx="60279" cy="60279"/>
          </a:xfrm>
          <a:prstGeom prst="rect">
            <a:avLst/>
          </a:prstGeom>
          <a:solidFill>
            <a:srgbClr val="43A3A3"/>
          </a:solidFill>
          <a:ln w="12700">
            <a:solidFill>
              <a:srgbClr val="43A3A3"/>
            </a:solidFill>
            <a:prstDash val="solid"/>
          </a:ln>
        </p:spPr>
      </p:sp>
      <p:sp>
        <p:nvSpPr>
          <p:cNvPr id="24" name="Shape 22"/>
          <p:cNvSpPr/>
          <p:nvPr/>
        </p:nvSpPr>
        <p:spPr>
          <a:xfrm>
            <a:off x="4437417" y="2144406"/>
            <a:ext cx="60279" cy="60279"/>
          </a:xfrm>
          <a:prstGeom prst="rect">
            <a:avLst/>
          </a:prstGeom>
          <a:solidFill>
            <a:srgbClr val="43A3A3"/>
          </a:solidFill>
          <a:ln w="12700">
            <a:solidFill>
              <a:srgbClr val="43A3A3"/>
            </a:solidFill>
            <a:prstDash val="solid"/>
          </a:ln>
        </p:spPr>
      </p:sp>
      <p:sp>
        <p:nvSpPr>
          <p:cNvPr id="25" name="Shape 23"/>
          <p:cNvSpPr/>
          <p:nvPr/>
        </p:nvSpPr>
        <p:spPr>
          <a:xfrm>
            <a:off x="4506135" y="2144406"/>
            <a:ext cx="60279" cy="60279"/>
          </a:xfrm>
          <a:prstGeom prst="rect">
            <a:avLst/>
          </a:prstGeom>
          <a:solidFill>
            <a:srgbClr val="43A3A3"/>
          </a:solidFill>
          <a:ln w="12700">
            <a:solidFill>
              <a:srgbClr val="43A3A3"/>
            </a:solidFill>
            <a:prstDash val="solid"/>
          </a:ln>
        </p:spPr>
      </p:sp>
      <p:sp>
        <p:nvSpPr>
          <p:cNvPr id="26" name="Shape 24"/>
          <p:cNvSpPr/>
          <p:nvPr/>
        </p:nvSpPr>
        <p:spPr>
          <a:xfrm>
            <a:off x="4574854" y="2144406"/>
            <a:ext cx="60279" cy="60279"/>
          </a:xfrm>
          <a:prstGeom prst="rect">
            <a:avLst/>
          </a:prstGeom>
          <a:solidFill>
            <a:srgbClr val="43A3A3"/>
          </a:solidFill>
          <a:ln w="12700">
            <a:solidFill>
              <a:srgbClr val="43A3A3"/>
            </a:solidFill>
            <a:prstDash val="solid"/>
          </a:ln>
        </p:spPr>
      </p:sp>
      <p:sp>
        <p:nvSpPr>
          <p:cNvPr id="27" name="Shape 25"/>
          <p:cNvSpPr/>
          <p:nvPr/>
        </p:nvSpPr>
        <p:spPr>
          <a:xfrm>
            <a:off x="4643572" y="2144406"/>
            <a:ext cx="60279" cy="60279"/>
          </a:xfrm>
          <a:prstGeom prst="rect">
            <a:avLst/>
          </a:prstGeom>
          <a:solidFill>
            <a:srgbClr val="43A3A3"/>
          </a:solidFill>
          <a:ln w="12700">
            <a:solidFill>
              <a:srgbClr val="43A3A3"/>
            </a:solidFill>
            <a:prstDash val="solid"/>
          </a:ln>
        </p:spPr>
      </p:sp>
      <p:sp>
        <p:nvSpPr>
          <p:cNvPr id="28" name="Shape 26"/>
          <p:cNvSpPr/>
          <p:nvPr/>
        </p:nvSpPr>
        <p:spPr>
          <a:xfrm>
            <a:off x="4712290" y="2144406"/>
            <a:ext cx="60279" cy="60279"/>
          </a:xfrm>
          <a:prstGeom prst="rect">
            <a:avLst/>
          </a:prstGeom>
          <a:solidFill>
            <a:srgbClr val="43A3A3"/>
          </a:solidFill>
          <a:ln w="12700">
            <a:solidFill>
              <a:srgbClr val="43A3A3"/>
            </a:solidFill>
            <a:prstDash val="solid"/>
          </a:ln>
        </p:spPr>
      </p:sp>
      <p:sp>
        <p:nvSpPr>
          <p:cNvPr id="29" name="Shape 27"/>
          <p:cNvSpPr/>
          <p:nvPr/>
        </p:nvSpPr>
        <p:spPr>
          <a:xfrm>
            <a:off x="4781009" y="2144406"/>
            <a:ext cx="60279" cy="60279"/>
          </a:xfrm>
          <a:prstGeom prst="rect">
            <a:avLst/>
          </a:prstGeom>
          <a:solidFill>
            <a:srgbClr val="43A3A3"/>
          </a:solidFill>
          <a:ln w="12700">
            <a:solidFill>
              <a:srgbClr val="43A3A3"/>
            </a:solidFill>
            <a:prstDash val="solid"/>
          </a:ln>
        </p:spPr>
      </p:sp>
      <p:sp>
        <p:nvSpPr>
          <p:cNvPr id="30" name="Shape 28"/>
          <p:cNvSpPr/>
          <p:nvPr/>
        </p:nvSpPr>
        <p:spPr>
          <a:xfrm>
            <a:off x="4849727" y="2144406"/>
            <a:ext cx="60279" cy="60279"/>
          </a:xfrm>
          <a:prstGeom prst="rect">
            <a:avLst/>
          </a:prstGeom>
          <a:solidFill>
            <a:srgbClr val="43A3A3"/>
          </a:solidFill>
          <a:ln w="12700">
            <a:solidFill>
              <a:srgbClr val="43A3A3"/>
            </a:solidFill>
            <a:prstDash val="solid"/>
          </a:ln>
        </p:spPr>
      </p:sp>
      <p:sp>
        <p:nvSpPr>
          <p:cNvPr id="31" name="Shape 29"/>
          <p:cNvSpPr/>
          <p:nvPr/>
        </p:nvSpPr>
        <p:spPr>
          <a:xfrm>
            <a:off x="4918445" y="2144406"/>
            <a:ext cx="60279" cy="60279"/>
          </a:xfrm>
          <a:prstGeom prst="rect">
            <a:avLst/>
          </a:prstGeom>
          <a:solidFill>
            <a:srgbClr val="43A3A3"/>
          </a:solidFill>
          <a:ln w="12700">
            <a:solidFill>
              <a:srgbClr val="43A3A3"/>
            </a:solidFill>
            <a:prstDash val="solid"/>
          </a:ln>
        </p:spPr>
      </p:sp>
      <p:sp>
        <p:nvSpPr>
          <p:cNvPr id="32" name="Shape 30"/>
          <p:cNvSpPr/>
          <p:nvPr/>
        </p:nvSpPr>
        <p:spPr>
          <a:xfrm>
            <a:off x="4987164" y="2144406"/>
            <a:ext cx="60279" cy="60279"/>
          </a:xfrm>
          <a:prstGeom prst="rect">
            <a:avLst/>
          </a:prstGeom>
          <a:solidFill>
            <a:srgbClr val="43A3A3"/>
          </a:solidFill>
          <a:ln w="12700">
            <a:solidFill>
              <a:srgbClr val="43A3A3"/>
            </a:solidFill>
            <a:prstDash val="solid"/>
          </a:ln>
        </p:spPr>
      </p:sp>
      <p:sp>
        <p:nvSpPr>
          <p:cNvPr id="33" name="Shape 31"/>
          <p:cNvSpPr/>
          <p:nvPr/>
        </p:nvSpPr>
        <p:spPr>
          <a:xfrm>
            <a:off x="4368698" y="2213125"/>
            <a:ext cx="60279" cy="60279"/>
          </a:xfrm>
          <a:prstGeom prst="rect">
            <a:avLst/>
          </a:prstGeom>
          <a:solidFill>
            <a:srgbClr val="43A3A3"/>
          </a:solidFill>
          <a:ln w="12700">
            <a:solidFill>
              <a:srgbClr val="43A3A3"/>
            </a:solidFill>
            <a:prstDash val="solid"/>
          </a:ln>
        </p:spPr>
      </p:sp>
      <p:sp>
        <p:nvSpPr>
          <p:cNvPr id="34" name="Shape 32"/>
          <p:cNvSpPr/>
          <p:nvPr/>
        </p:nvSpPr>
        <p:spPr>
          <a:xfrm>
            <a:off x="4437417" y="2213125"/>
            <a:ext cx="60279" cy="60279"/>
          </a:xfrm>
          <a:prstGeom prst="rect">
            <a:avLst/>
          </a:prstGeom>
          <a:solidFill>
            <a:srgbClr val="43A3A3"/>
          </a:solidFill>
          <a:ln w="12700">
            <a:solidFill>
              <a:srgbClr val="43A3A3"/>
            </a:solidFill>
            <a:prstDash val="solid"/>
          </a:ln>
        </p:spPr>
      </p:sp>
      <p:sp>
        <p:nvSpPr>
          <p:cNvPr id="35" name="Shape 33"/>
          <p:cNvSpPr/>
          <p:nvPr/>
        </p:nvSpPr>
        <p:spPr>
          <a:xfrm>
            <a:off x="4506135" y="2213125"/>
            <a:ext cx="60279" cy="60279"/>
          </a:xfrm>
          <a:prstGeom prst="rect">
            <a:avLst/>
          </a:prstGeom>
          <a:solidFill>
            <a:srgbClr val="43A3A3"/>
          </a:solidFill>
          <a:ln w="12700">
            <a:solidFill>
              <a:srgbClr val="43A3A3"/>
            </a:solidFill>
            <a:prstDash val="solid"/>
          </a:ln>
        </p:spPr>
      </p:sp>
      <p:sp>
        <p:nvSpPr>
          <p:cNvPr id="36" name="Shape 34"/>
          <p:cNvSpPr/>
          <p:nvPr/>
        </p:nvSpPr>
        <p:spPr>
          <a:xfrm>
            <a:off x="4574854" y="2213125"/>
            <a:ext cx="60279" cy="60279"/>
          </a:xfrm>
          <a:prstGeom prst="rect">
            <a:avLst/>
          </a:prstGeom>
          <a:solidFill>
            <a:srgbClr val="43A3A3"/>
          </a:solidFill>
          <a:ln w="12700">
            <a:solidFill>
              <a:srgbClr val="43A3A3"/>
            </a:solidFill>
            <a:prstDash val="solid"/>
          </a:ln>
        </p:spPr>
      </p:sp>
      <p:sp>
        <p:nvSpPr>
          <p:cNvPr id="37" name="Shape 35"/>
          <p:cNvSpPr/>
          <p:nvPr/>
        </p:nvSpPr>
        <p:spPr>
          <a:xfrm>
            <a:off x="4643572" y="2213125"/>
            <a:ext cx="60279" cy="60279"/>
          </a:xfrm>
          <a:prstGeom prst="rect">
            <a:avLst/>
          </a:prstGeom>
          <a:solidFill>
            <a:srgbClr val="43A3A3"/>
          </a:solidFill>
          <a:ln w="12700">
            <a:solidFill>
              <a:srgbClr val="43A3A3"/>
            </a:solidFill>
            <a:prstDash val="solid"/>
          </a:ln>
        </p:spPr>
      </p:sp>
      <p:sp>
        <p:nvSpPr>
          <p:cNvPr id="38" name="Shape 36"/>
          <p:cNvSpPr/>
          <p:nvPr/>
        </p:nvSpPr>
        <p:spPr>
          <a:xfrm>
            <a:off x="4712290" y="2213125"/>
            <a:ext cx="60279" cy="60279"/>
          </a:xfrm>
          <a:prstGeom prst="rect">
            <a:avLst/>
          </a:prstGeom>
          <a:solidFill>
            <a:srgbClr val="43A3A3"/>
          </a:solidFill>
          <a:ln w="12700">
            <a:solidFill>
              <a:srgbClr val="43A3A3"/>
            </a:solidFill>
            <a:prstDash val="solid"/>
          </a:ln>
        </p:spPr>
      </p:sp>
      <p:sp>
        <p:nvSpPr>
          <p:cNvPr id="39" name="Shape 37"/>
          <p:cNvSpPr/>
          <p:nvPr/>
        </p:nvSpPr>
        <p:spPr>
          <a:xfrm>
            <a:off x="4781009" y="2213125"/>
            <a:ext cx="60279" cy="60279"/>
          </a:xfrm>
          <a:prstGeom prst="rect">
            <a:avLst/>
          </a:prstGeom>
          <a:solidFill>
            <a:srgbClr val="43A3A3"/>
          </a:solidFill>
          <a:ln w="12700">
            <a:solidFill>
              <a:srgbClr val="43A3A3"/>
            </a:solidFill>
            <a:prstDash val="solid"/>
          </a:ln>
        </p:spPr>
      </p:sp>
      <p:sp>
        <p:nvSpPr>
          <p:cNvPr id="40" name="Shape 38"/>
          <p:cNvSpPr/>
          <p:nvPr/>
        </p:nvSpPr>
        <p:spPr>
          <a:xfrm>
            <a:off x="4849727" y="2213125"/>
            <a:ext cx="60279" cy="60279"/>
          </a:xfrm>
          <a:prstGeom prst="rect">
            <a:avLst/>
          </a:prstGeom>
          <a:solidFill>
            <a:srgbClr val="43A3A3"/>
          </a:solidFill>
          <a:ln w="12700">
            <a:solidFill>
              <a:srgbClr val="43A3A3"/>
            </a:solidFill>
            <a:prstDash val="solid"/>
          </a:ln>
        </p:spPr>
      </p:sp>
      <p:sp>
        <p:nvSpPr>
          <p:cNvPr id="41" name="Shape 39"/>
          <p:cNvSpPr/>
          <p:nvPr/>
        </p:nvSpPr>
        <p:spPr>
          <a:xfrm>
            <a:off x="4918445" y="2213125"/>
            <a:ext cx="60279" cy="60279"/>
          </a:xfrm>
          <a:prstGeom prst="rect">
            <a:avLst/>
          </a:prstGeom>
          <a:solidFill>
            <a:srgbClr val="43A3A3"/>
          </a:solidFill>
          <a:ln w="12700">
            <a:solidFill>
              <a:srgbClr val="43A3A3"/>
            </a:solidFill>
            <a:prstDash val="solid"/>
          </a:ln>
        </p:spPr>
      </p:sp>
      <p:sp>
        <p:nvSpPr>
          <p:cNvPr id="42" name="Shape 40"/>
          <p:cNvSpPr/>
          <p:nvPr/>
        </p:nvSpPr>
        <p:spPr>
          <a:xfrm>
            <a:off x="4987164" y="2213125"/>
            <a:ext cx="60279" cy="60279"/>
          </a:xfrm>
          <a:prstGeom prst="rect">
            <a:avLst/>
          </a:prstGeom>
          <a:solidFill>
            <a:srgbClr val="43A3A3"/>
          </a:solidFill>
          <a:ln w="12700">
            <a:solidFill>
              <a:srgbClr val="43A3A3"/>
            </a:solidFill>
            <a:prstDash val="solid"/>
          </a:ln>
        </p:spPr>
      </p:sp>
      <p:sp>
        <p:nvSpPr>
          <p:cNvPr id="43" name="Shape 41"/>
          <p:cNvSpPr/>
          <p:nvPr/>
        </p:nvSpPr>
        <p:spPr>
          <a:xfrm>
            <a:off x="4368698" y="2281843"/>
            <a:ext cx="60279" cy="60279"/>
          </a:xfrm>
          <a:prstGeom prst="rect">
            <a:avLst/>
          </a:prstGeom>
          <a:solidFill>
            <a:srgbClr val="43A3A3"/>
          </a:solidFill>
          <a:ln w="12700">
            <a:solidFill>
              <a:srgbClr val="43A3A3"/>
            </a:solidFill>
            <a:prstDash val="solid"/>
          </a:ln>
        </p:spPr>
      </p:sp>
      <p:sp>
        <p:nvSpPr>
          <p:cNvPr id="44" name="Shape 42"/>
          <p:cNvSpPr/>
          <p:nvPr/>
        </p:nvSpPr>
        <p:spPr>
          <a:xfrm>
            <a:off x="4437417" y="2281843"/>
            <a:ext cx="60279" cy="60279"/>
          </a:xfrm>
          <a:prstGeom prst="rect">
            <a:avLst/>
          </a:prstGeom>
          <a:solidFill>
            <a:srgbClr val="43A3A3"/>
          </a:solidFill>
          <a:ln w="12700">
            <a:solidFill>
              <a:srgbClr val="43A3A3"/>
            </a:solidFill>
            <a:prstDash val="solid"/>
          </a:ln>
        </p:spPr>
      </p:sp>
      <p:sp>
        <p:nvSpPr>
          <p:cNvPr id="45" name="Shape 43"/>
          <p:cNvSpPr/>
          <p:nvPr/>
        </p:nvSpPr>
        <p:spPr>
          <a:xfrm>
            <a:off x="4506135" y="2281843"/>
            <a:ext cx="60279" cy="60279"/>
          </a:xfrm>
          <a:prstGeom prst="rect">
            <a:avLst/>
          </a:prstGeom>
          <a:solidFill>
            <a:srgbClr val="43A3A3"/>
          </a:solidFill>
          <a:ln w="12700">
            <a:solidFill>
              <a:srgbClr val="43A3A3"/>
            </a:solidFill>
            <a:prstDash val="solid"/>
          </a:ln>
        </p:spPr>
      </p:sp>
      <p:sp>
        <p:nvSpPr>
          <p:cNvPr id="46" name="Shape 44"/>
          <p:cNvSpPr/>
          <p:nvPr/>
        </p:nvSpPr>
        <p:spPr>
          <a:xfrm>
            <a:off x="4574854" y="2281843"/>
            <a:ext cx="60279" cy="60279"/>
          </a:xfrm>
          <a:prstGeom prst="rect">
            <a:avLst/>
          </a:prstGeom>
          <a:solidFill>
            <a:srgbClr val="43A3A3"/>
          </a:solidFill>
          <a:ln w="12700">
            <a:solidFill>
              <a:srgbClr val="43A3A3"/>
            </a:solidFill>
            <a:prstDash val="solid"/>
          </a:ln>
        </p:spPr>
      </p:sp>
      <p:sp>
        <p:nvSpPr>
          <p:cNvPr id="47" name="Shape 45"/>
          <p:cNvSpPr/>
          <p:nvPr/>
        </p:nvSpPr>
        <p:spPr>
          <a:xfrm>
            <a:off x="4643572" y="2281843"/>
            <a:ext cx="60279" cy="60279"/>
          </a:xfrm>
          <a:prstGeom prst="rect">
            <a:avLst/>
          </a:prstGeom>
          <a:solidFill>
            <a:srgbClr val="43A3A3"/>
          </a:solidFill>
          <a:ln w="12700">
            <a:solidFill>
              <a:srgbClr val="43A3A3"/>
            </a:solidFill>
            <a:prstDash val="solid"/>
          </a:ln>
        </p:spPr>
      </p:sp>
      <p:sp>
        <p:nvSpPr>
          <p:cNvPr id="48" name="Shape 46"/>
          <p:cNvSpPr/>
          <p:nvPr/>
        </p:nvSpPr>
        <p:spPr>
          <a:xfrm>
            <a:off x="4712290" y="2281843"/>
            <a:ext cx="60279" cy="60279"/>
          </a:xfrm>
          <a:prstGeom prst="rect">
            <a:avLst/>
          </a:prstGeom>
          <a:solidFill>
            <a:srgbClr val="43A3A3"/>
          </a:solidFill>
          <a:ln w="12700">
            <a:solidFill>
              <a:srgbClr val="43A3A3"/>
            </a:solidFill>
            <a:prstDash val="solid"/>
          </a:ln>
        </p:spPr>
      </p:sp>
      <p:sp>
        <p:nvSpPr>
          <p:cNvPr id="49" name="Shape 47"/>
          <p:cNvSpPr/>
          <p:nvPr/>
        </p:nvSpPr>
        <p:spPr>
          <a:xfrm>
            <a:off x="4781009" y="2281843"/>
            <a:ext cx="60279" cy="60279"/>
          </a:xfrm>
          <a:prstGeom prst="rect">
            <a:avLst/>
          </a:prstGeom>
          <a:solidFill>
            <a:srgbClr val="43A3A3"/>
          </a:solidFill>
          <a:ln w="12700">
            <a:solidFill>
              <a:srgbClr val="43A3A3"/>
            </a:solidFill>
            <a:prstDash val="solid"/>
          </a:ln>
        </p:spPr>
      </p:sp>
      <p:sp>
        <p:nvSpPr>
          <p:cNvPr id="50" name="Shape 48"/>
          <p:cNvSpPr/>
          <p:nvPr/>
        </p:nvSpPr>
        <p:spPr>
          <a:xfrm>
            <a:off x="4849727" y="2281843"/>
            <a:ext cx="60279" cy="60279"/>
          </a:xfrm>
          <a:prstGeom prst="rect">
            <a:avLst/>
          </a:prstGeom>
          <a:solidFill>
            <a:srgbClr val="43A3A3"/>
          </a:solidFill>
          <a:ln w="12700">
            <a:solidFill>
              <a:srgbClr val="43A3A3"/>
            </a:solidFill>
            <a:prstDash val="solid"/>
          </a:ln>
        </p:spPr>
      </p:sp>
      <p:sp>
        <p:nvSpPr>
          <p:cNvPr id="51" name="Shape 49"/>
          <p:cNvSpPr/>
          <p:nvPr/>
        </p:nvSpPr>
        <p:spPr>
          <a:xfrm>
            <a:off x="4918445" y="2281843"/>
            <a:ext cx="60279" cy="60279"/>
          </a:xfrm>
          <a:prstGeom prst="rect">
            <a:avLst/>
          </a:prstGeom>
          <a:solidFill>
            <a:srgbClr val="43A3A3"/>
          </a:solidFill>
          <a:ln w="12700">
            <a:solidFill>
              <a:srgbClr val="43A3A3"/>
            </a:solidFill>
            <a:prstDash val="solid"/>
          </a:ln>
        </p:spPr>
      </p:sp>
      <p:sp>
        <p:nvSpPr>
          <p:cNvPr id="52" name="Shape 50"/>
          <p:cNvSpPr/>
          <p:nvPr/>
        </p:nvSpPr>
        <p:spPr>
          <a:xfrm>
            <a:off x="4987164" y="2281843"/>
            <a:ext cx="60279" cy="60279"/>
          </a:xfrm>
          <a:prstGeom prst="rect">
            <a:avLst/>
          </a:prstGeom>
          <a:solidFill>
            <a:srgbClr val="43A3A3"/>
          </a:solidFill>
          <a:ln w="12700">
            <a:solidFill>
              <a:srgbClr val="43A3A3"/>
            </a:solidFill>
            <a:prstDash val="solid"/>
          </a:ln>
        </p:spPr>
      </p:sp>
      <p:sp>
        <p:nvSpPr>
          <p:cNvPr id="53" name="Shape 51"/>
          <p:cNvSpPr/>
          <p:nvPr/>
        </p:nvSpPr>
        <p:spPr>
          <a:xfrm>
            <a:off x="4368698" y="2350562"/>
            <a:ext cx="60279" cy="60279"/>
          </a:xfrm>
          <a:prstGeom prst="rect">
            <a:avLst/>
          </a:prstGeom>
          <a:solidFill>
            <a:srgbClr val="43A3A3"/>
          </a:solidFill>
          <a:ln w="12700">
            <a:solidFill>
              <a:srgbClr val="43A3A3"/>
            </a:solidFill>
            <a:prstDash val="solid"/>
          </a:ln>
        </p:spPr>
      </p:sp>
      <p:sp>
        <p:nvSpPr>
          <p:cNvPr id="54" name="Shape 52"/>
          <p:cNvSpPr/>
          <p:nvPr/>
        </p:nvSpPr>
        <p:spPr>
          <a:xfrm>
            <a:off x="4437417" y="2350562"/>
            <a:ext cx="60279" cy="60279"/>
          </a:xfrm>
          <a:prstGeom prst="rect">
            <a:avLst/>
          </a:prstGeom>
          <a:solidFill>
            <a:srgbClr val="43A3A3"/>
          </a:solidFill>
          <a:ln w="12700">
            <a:solidFill>
              <a:srgbClr val="43A3A3"/>
            </a:solidFill>
            <a:prstDash val="solid"/>
          </a:ln>
        </p:spPr>
      </p:sp>
      <p:sp>
        <p:nvSpPr>
          <p:cNvPr id="55" name="Shape 53"/>
          <p:cNvSpPr/>
          <p:nvPr/>
        </p:nvSpPr>
        <p:spPr>
          <a:xfrm>
            <a:off x="4506135" y="2350562"/>
            <a:ext cx="60279" cy="60279"/>
          </a:xfrm>
          <a:prstGeom prst="rect">
            <a:avLst/>
          </a:prstGeom>
          <a:solidFill>
            <a:srgbClr val="43A3A3"/>
          </a:solidFill>
          <a:ln w="12700">
            <a:solidFill>
              <a:srgbClr val="43A3A3"/>
            </a:solidFill>
            <a:prstDash val="solid"/>
          </a:ln>
        </p:spPr>
      </p:sp>
      <p:sp>
        <p:nvSpPr>
          <p:cNvPr id="56" name="Shape 54"/>
          <p:cNvSpPr/>
          <p:nvPr/>
        </p:nvSpPr>
        <p:spPr>
          <a:xfrm>
            <a:off x="4574854" y="2350562"/>
            <a:ext cx="60279" cy="60279"/>
          </a:xfrm>
          <a:prstGeom prst="rect">
            <a:avLst/>
          </a:prstGeom>
          <a:solidFill>
            <a:srgbClr val="43A3A3"/>
          </a:solidFill>
          <a:ln w="12700">
            <a:solidFill>
              <a:srgbClr val="43A3A3"/>
            </a:solidFill>
            <a:prstDash val="solid"/>
          </a:ln>
        </p:spPr>
      </p:sp>
      <p:sp>
        <p:nvSpPr>
          <p:cNvPr id="57" name="Shape 55"/>
          <p:cNvSpPr/>
          <p:nvPr/>
        </p:nvSpPr>
        <p:spPr>
          <a:xfrm>
            <a:off x="4643572" y="2350562"/>
            <a:ext cx="60279" cy="60279"/>
          </a:xfrm>
          <a:prstGeom prst="rect">
            <a:avLst/>
          </a:prstGeom>
          <a:solidFill>
            <a:srgbClr val="43A3A3"/>
          </a:solidFill>
          <a:ln w="12700">
            <a:solidFill>
              <a:srgbClr val="43A3A3"/>
            </a:solidFill>
            <a:prstDash val="solid"/>
          </a:ln>
        </p:spPr>
      </p:sp>
      <p:sp>
        <p:nvSpPr>
          <p:cNvPr id="58" name="Shape 56"/>
          <p:cNvSpPr/>
          <p:nvPr/>
        </p:nvSpPr>
        <p:spPr>
          <a:xfrm>
            <a:off x="4712290" y="2350562"/>
            <a:ext cx="60279" cy="60279"/>
          </a:xfrm>
          <a:prstGeom prst="rect">
            <a:avLst/>
          </a:prstGeom>
          <a:solidFill>
            <a:srgbClr val="43A3A3"/>
          </a:solidFill>
          <a:ln w="12700">
            <a:solidFill>
              <a:srgbClr val="43A3A3"/>
            </a:solidFill>
            <a:prstDash val="solid"/>
          </a:ln>
        </p:spPr>
      </p:sp>
      <p:sp>
        <p:nvSpPr>
          <p:cNvPr id="59" name="Shape 57"/>
          <p:cNvSpPr/>
          <p:nvPr/>
        </p:nvSpPr>
        <p:spPr>
          <a:xfrm>
            <a:off x="4781009" y="2350562"/>
            <a:ext cx="60279" cy="60279"/>
          </a:xfrm>
          <a:prstGeom prst="rect">
            <a:avLst/>
          </a:prstGeom>
          <a:solidFill>
            <a:srgbClr val="43A3A3"/>
          </a:solidFill>
          <a:ln w="12700">
            <a:solidFill>
              <a:srgbClr val="43A3A3"/>
            </a:solidFill>
            <a:prstDash val="solid"/>
          </a:ln>
        </p:spPr>
      </p:sp>
      <p:sp>
        <p:nvSpPr>
          <p:cNvPr id="60" name="Shape 58"/>
          <p:cNvSpPr/>
          <p:nvPr/>
        </p:nvSpPr>
        <p:spPr>
          <a:xfrm>
            <a:off x="4849727" y="2350562"/>
            <a:ext cx="60279" cy="60279"/>
          </a:xfrm>
          <a:prstGeom prst="rect">
            <a:avLst/>
          </a:prstGeom>
          <a:solidFill>
            <a:srgbClr val="43A3A3"/>
          </a:solidFill>
          <a:ln w="12700">
            <a:solidFill>
              <a:srgbClr val="43A3A3"/>
            </a:solidFill>
            <a:prstDash val="solid"/>
          </a:ln>
        </p:spPr>
      </p:sp>
      <p:sp>
        <p:nvSpPr>
          <p:cNvPr id="61" name="Shape 59"/>
          <p:cNvSpPr/>
          <p:nvPr/>
        </p:nvSpPr>
        <p:spPr>
          <a:xfrm>
            <a:off x="4918445" y="2350562"/>
            <a:ext cx="60279" cy="60279"/>
          </a:xfrm>
          <a:prstGeom prst="rect">
            <a:avLst/>
          </a:prstGeom>
          <a:solidFill>
            <a:srgbClr val="43A3A3"/>
          </a:solidFill>
          <a:ln w="12700">
            <a:solidFill>
              <a:srgbClr val="43A3A3"/>
            </a:solidFill>
            <a:prstDash val="solid"/>
          </a:ln>
        </p:spPr>
      </p:sp>
      <p:sp>
        <p:nvSpPr>
          <p:cNvPr id="62" name="Shape 60"/>
          <p:cNvSpPr/>
          <p:nvPr/>
        </p:nvSpPr>
        <p:spPr>
          <a:xfrm>
            <a:off x="4987164" y="2350562"/>
            <a:ext cx="60279" cy="60279"/>
          </a:xfrm>
          <a:prstGeom prst="rect">
            <a:avLst/>
          </a:prstGeom>
          <a:solidFill>
            <a:srgbClr val="43A3A3"/>
          </a:solidFill>
          <a:ln w="12700">
            <a:solidFill>
              <a:srgbClr val="43A3A3"/>
            </a:solidFill>
            <a:prstDash val="solid"/>
          </a:ln>
        </p:spPr>
      </p:sp>
      <p:sp>
        <p:nvSpPr>
          <p:cNvPr id="63" name="Shape 61"/>
          <p:cNvSpPr/>
          <p:nvPr/>
        </p:nvSpPr>
        <p:spPr>
          <a:xfrm>
            <a:off x="4368698" y="2419280"/>
            <a:ext cx="60279" cy="60279"/>
          </a:xfrm>
          <a:prstGeom prst="rect">
            <a:avLst/>
          </a:prstGeom>
          <a:solidFill>
            <a:srgbClr val="43A3A3"/>
          </a:solidFill>
          <a:ln w="12700">
            <a:solidFill>
              <a:srgbClr val="43A3A3"/>
            </a:solidFill>
            <a:prstDash val="solid"/>
          </a:ln>
        </p:spPr>
      </p:sp>
      <p:sp>
        <p:nvSpPr>
          <p:cNvPr id="64" name="Shape 62"/>
          <p:cNvSpPr/>
          <p:nvPr/>
        </p:nvSpPr>
        <p:spPr>
          <a:xfrm>
            <a:off x="4437417" y="2419280"/>
            <a:ext cx="60279" cy="60279"/>
          </a:xfrm>
          <a:prstGeom prst="rect">
            <a:avLst/>
          </a:prstGeom>
          <a:solidFill>
            <a:srgbClr val="43A3A3"/>
          </a:solidFill>
          <a:ln w="12700">
            <a:solidFill>
              <a:srgbClr val="43A3A3"/>
            </a:solidFill>
            <a:prstDash val="solid"/>
          </a:ln>
        </p:spPr>
      </p:sp>
      <p:sp>
        <p:nvSpPr>
          <p:cNvPr id="65" name="Shape 63"/>
          <p:cNvSpPr/>
          <p:nvPr/>
        </p:nvSpPr>
        <p:spPr>
          <a:xfrm>
            <a:off x="4506135" y="2419280"/>
            <a:ext cx="60279" cy="60279"/>
          </a:xfrm>
          <a:prstGeom prst="rect">
            <a:avLst/>
          </a:prstGeom>
          <a:solidFill>
            <a:srgbClr val="43A3A3"/>
          </a:solidFill>
          <a:ln w="12700">
            <a:solidFill>
              <a:srgbClr val="43A3A3"/>
            </a:solidFill>
            <a:prstDash val="solid"/>
          </a:ln>
        </p:spPr>
      </p:sp>
      <p:sp>
        <p:nvSpPr>
          <p:cNvPr id="66" name="Shape 64"/>
          <p:cNvSpPr/>
          <p:nvPr/>
        </p:nvSpPr>
        <p:spPr>
          <a:xfrm>
            <a:off x="4574854" y="2419280"/>
            <a:ext cx="60279" cy="60279"/>
          </a:xfrm>
          <a:prstGeom prst="rect">
            <a:avLst/>
          </a:prstGeom>
          <a:solidFill>
            <a:srgbClr val="43A3A3"/>
          </a:solidFill>
          <a:ln w="12700">
            <a:solidFill>
              <a:srgbClr val="43A3A3"/>
            </a:solidFill>
            <a:prstDash val="solid"/>
          </a:ln>
        </p:spPr>
      </p:sp>
      <p:sp>
        <p:nvSpPr>
          <p:cNvPr id="67" name="Shape 65"/>
          <p:cNvSpPr/>
          <p:nvPr/>
        </p:nvSpPr>
        <p:spPr>
          <a:xfrm>
            <a:off x="4643572" y="2419280"/>
            <a:ext cx="60279" cy="60279"/>
          </a:xfrm>
          <a:prstGeom prst="rect">
            <a:avLst/>
          </a:prstGeom>
          <a:solidFill>
            <a:srgbClr val="43A3A3"/>
          </a:solidFill>
          <a:ln w="12700">
            <a:solidFill>
              <a:srgbClr val="43A3A3"/>
            </a:solidFill>
            <a:prstDash val="solid"/>
          </a:ln>
        </p:spPr>
      </p:sp>
      <p:sp>
        <p:nvSpPr>
          <p:cNvPr id="68" name="Shape 66"/>
          <p:cNvSpPr/>
          <p:nvPr/>
        </p:nvSpPr>
        <p:spPr>
          <a:xfrm>
            <a:off x="4712290" y="2419280"/>
            <a:ext cx="60279" cy="60279"/>
          </a:xfrm>
          <a:prstGeom prst="rect">
            <a:avLst/>
          </a:prstGeom>
          <a:solidFill>
            <a:srgbClr val="43A3A3"/>
          </a:solidFill>
          <a:ln w="12700">
            <a:solidFill>
              <a:srgbClr val="43A3A3"/>
            </a:solidFill>
            <a:prstDash val="solid"/>
          </a:ln>
        </p:spPr>
      </p:sp>
      <p:sp>
        <p:nvSpPr>
          <p:cNvPr id="69" name="Shape 67"/>
          <p:cNvSpPr/>
          <p:nvPr/>
        </p:nvSpPr>
        <p:spPr>
          <a:xfrm>
            <a:off x="4781009" y="2419280"/>
            <a:ext cx="60279" cy="60279"/>
          </a:xfrm>
          <a:prstGeom prst="rect">
            <a:avLst/>
          </a:prstGeom>
          <a:solidFill>
            <a:srgbClr val="43A3A3"/>
          </a:solidFill>
          <a:ln w="12700">
            <a:solidFill>
              <a:srgbClr val="43A3A3"/>
            </a:solidFill>
            <a:prstDash val="solid"/>
          </a:ln>
        </p:spPr>
      </p:sp>
      <p:sp>
        <p:nvSpPr>
          <p:cNvPr id="70" name="Shape 68"/>
          <p:cNvSpPr/>
          <p:nvPr/>
        </p:nvSpPr>
        <p:spPr>
          <a:xfrm>
            <a:off x="4849727" y="2419280"/>
            <a:ext cx="60279" cy="60279"/>
          </a:xfrm>
          <a:prstGeom prst="rect">
            <a:avLst/>
          </a:prstGeom>
          <a:solidFill>
            <a:srgbClr val="43A3A3"/>
          </a:solidFill>
          <a:ln w="12700">
            <a:solidFill>
              <a:srgbClr val="43A3A3"/>
            </a:solidFill>
            <a:prstDash val="solid"/>
          </a:ln>
        </p:spPr>
      </p:sp>
      <p:sp>
        <p:nvSpPr>
          <p:cNvPr id="71" name="Shape 69"/>
          <p:cNvSpPr/>
          <p:nvPr/>
        </p:nvSpPr>
        <p:spPr>
          <a:xfrm>
            <a:off x="4918445" y="2419280"/>
            <a:ext cx="60279" cy="60279"/>
          </a:xfrm>
          <a:prstGeom prst="rect">
            <a:avLst/>
          </a:prstGeom>
          <a:solidFill>
            <a:srgbClr val="43A3A3"/>
          </a:solidFill>
          <a:ln w="12700">
            <a:solidFill>
              <a:srgbClr val="43A3A3"/>
            </a:solidFill>
            <a:prstDash val="solid"/>
          </a:ln>
        </p:spPr>
      </p:sp>
      <p:sp>
        <p:nvSpPr>
          <p:cNvPr id="72" name="Shape 70"/>
          <p:cNvSpPr/>
          <p:nvPr/>
        </p:nvSpPr>
        <p:spPr>
          <a:xfrm>
            <a:off x="4987164" y="2419280"/>
            <a:ext cx="60279" cy="60279"/>
          </a:xfrm>
          <a:prstGeom prst="rect">
            <a:avLst/>
          </a:prstGeom>
          <a:solidFill>
            <a:srgbClr val="43A3A3"/>
          </a:solidFill>
          <a:ln w="12700">
            <a:solidFill>
              <a:srgbClr val="43A3A3"/>
            </a:solidFill>
            <a:prstDash val="solid"/>
          </a:ln>
        </p:spPr>
      </p:sp>
      <p:sp>
        <p:nvSpPr>
          <p:cNvPr id="73" name="Shape 71"/>
          <p:cNvSpPr/>
          <p:nvPr/>
        </p:nvSpPr>
        <p:spPr>
          <a:xfrm>
            <a:off x="4368698" y="2487998"/>
            <a:ext cx="60279" cy="60279"/>
          </a:xfrm>
          <a:prstGeom prst="rect">
            <a:avLst/>
          </a:prstGeom>
          <a:solidFill>
            <a:srgbClr val="43A3A3"/>
          </a:solidFill>
          <a:ln w="12700">
            <a:solidFill>
              <a:srgbClr val="43A3A3"/>
            </a:solidFill>
            <a:prstDash val="solid"/>
          </a:ln>
        </p:spPr>
      </p:sp>
      <p:sp>
        <p:nvSpPr>
          <p:cNvPr id="74" name="Shape 72"/>
          <p:cNvSpPr/>
          <p:nvPr/>
        </p:nvSpPr>
        <p:spPr>
          <a:xfrm>
            <a:off x="4437417" y="2487998"/>
            <a:ext cx="60279" cy="60279"/>
          </a:xfrm>
          <a:prstGeom prst="rect">
            <a:avLst/>
          </a:prstGeom>
          <a:solidFill>
            <a:srgbClr val="43A3A3"/>
          </a:solidFill>
          <a:ln w="12700">
            <a:solidFill>
              <a:srgbClr val="43A3A3"/>
            </a:solidFill>
            <a:prstDash val="solid"/>
          </a:ln>
        </p:spPr>
      </p:sp>
      <p:sp>
        <p:nvSpPr>
          <p:cNvPr id="75" name="Shape 73"/>
          <p:cNvSpPr/>
          <p:nvPr/>
        </p:nvSpPr>
        <p:spPr>
          <a:xfrm>
            <a:off x="4506135" y="2487998"/>
            <a:ext cx="60279" cy="60279"/>
          </a:xfrm>
          <a:prstGeom prst="rect">
            <a:avLst/>
          </a:prstGeom>
          <a:solidFill>
            <a:srgbClr val="43A3A3"/>
          </a:solidFill>
          <a:ln w="12700">
            <a:solidFill>
              <a:srgbClr val="43A3A3"/>
            </a:solidFill>
            <a:prstDash val="solid"/>
          </a:ln>
        </p:spPr>
      </p:sp>
      <p:sp>
        <p:nvSpPr>
          <p:cNvPr id="76" name="Shape 74"/>
          <p:cNvSpPr/>
          <p:nvPr/>
        </p:nvSpPr>
        <p:spPr>
          <a:xfrm>
            <a:off x="4574854" y="2487998"/>
            <a:ext cx="60279" cy="60279"/>
          </a:xfrm>
          <a:prstGeom prst="rect">
            <a:avLst/>
          </a:prstGeom>
          <a:solidFill>
            <a:srgbClr val="43A3A3"/>
          </a:solidFill>
          <a:ln w="12700">
            <a:solidFill>
              <a:srgbClr val="43A3A3"/>
            </a:solidFill>
            <a:prstDash val="solid"/>
          </a:ln>
        </p:spPr>
      </p:sp>
      <p:sp>
        <p:nvSpPr>
          <p:cNvPr id="77" name="Shape 75"/>
          <p:cNvSpPr/>
          <p:nvPr/>
        </p:nvSpPr>
        <p:spPr>
          <a:xfrm>
            <a:off x="4643572" y="2487998"/>
            <a:ext cx="60279" cy="60279"/>
          </a:xfrm>
          <a:prstGeom prst="rect">
            <a:avLst/>
          </a:prstGeom>
          <a:solidFill>
            <a:srgbClr val="43A3A3"/>
          </a:solidFill>
          <a:ln w="12700">
            <a:solidFill>
              <a:srgbClr val="43A3A3"/>
            </a:solidFill>
            <a:prstDash val="solid"/>
          </a:ln>
        </p:spPr>
      </p:sp>
      <p:sp>
        <p:nvSpPr>
          <p:cNvPr id="78" name="Shape 76"/>
          <p:cNvSpPr/>
          <p:nvPr/>
        </p:nvSpPr>
        <p:spPr>
          <a:xfrm>
            <a:off x="4712290" y="2487998"/>
            <a:ext cx="60279" cy="60279"/>
          </a:xfrm>
          <a:prstGeom prst="rect">
            <a:avLst/>
          </a:prstGeom>
          <a:solidFill>
            <a:srgbClr val="43A3A3"/>
          </a:solidFill>
          <a:ln w="12700">
            <a:solidFill>
              <a:srgbClr val="43A3A3"/>
            </a:solidFill>
            <a:prstDash val="solid"/>
          </a:ln>
        </p:spPr>
      </p:sp>
      <p:sp>
        <p:nvSpPr>
          <p:cNvPr id="79" name="Shape 77"/>
          <p:cNvSpPr/>
          <p:nvPr/>
        </p:nvSpPr>
        <p:spPr>
          <a:xfrm>
            <a:off x="4781009" y="2487998"/>
            <a:ext cx="60279" cy="60279"/>
          </a:xfrm>
          <a:prstGeom prst="rect">
            <a:avLst/>
          </a:prstGeom>
          <a:solidFill>
            <a:srgbClr val="43A3A3"/>
          </a:solidFill>
          <a:ln w="12700">
            <a:solidFill>
              <a:srgbClr val="43A3A3"/>
            </a:solidFill>
            <a:prstDash val="solid"/>
          </a:ln>
        </p:spPr>
      </p:sp>
      <p:sp>
        <p:nvSpPr>
          <p:cNvPr id="80" name="Shape 78"/>
          <p:cNvSpPr/>
          <p:nvPr/>
        </p:nvSpPr>
        <p:spPr>
          <a:xfrm>
            <a:off x="4849727" y="2487998"/>
            <a:ext cx="60279" cy="60279"/>
          </a:xfrm>
          <a:prstGeom prst="rect">
            <a:avLst/>
          </a:prstGeom>
          <a:solidFill>
            <a:srgbClr val="43A3A3"/>
          </a:solidFill>
          <a:ln w="12700">
            <a:solidFill>
              <a:srgbClr val="43A3A3"/>
            </a:solidFill>
            <a:prstDash val="solid"/>
          </a:ln>
        </p:spPr>
      </p:sp>
      <p:sp>
        <p:nvSpPr>
          <p:cNvPr id="81" name="Shape 79"/>
          <p:cNvSpPr/>
          <p:nvPr/>
        </p:nvSpPr>
        <p:spPr>
          <a:xfrm>
            <a:off x="4918445" y="2487998"/>
            <a:ext cx="60279" cy="60279"/>
          </a:xfrm>
          <a:prstGeom prst="rect">
            <a:avLst/>
          </a:prstGeom>
          <a:solidFill>
            <a:srgbClr val="43A3A3"/>
          </a:solidFill>
          <a:ln w="12700">
            <a:solidFill>
              <a:srgbClr val="43A3A3"/>
            </a:solidFill>
            <a:prstDash val="solid"/>
          </a:ln>
        </p:spPr>
      </p:sp>
      <p:sp>
        <p:nvSpPr>
          <p:cNvPr id="82" name="Shape 80"/>
          <p:cNvSpPr/>
          <p:nvPr/>
        </p:nvSpPr>
        <p:spPr>
          <a:xfrm>
            <a:off x="4987164" y="2487998"/>
            <a:ext cx="60279" cy="60279"/>
          </a:xfrm>
          <a:prstGeom prst="rect">
            <a:avLst/>
          </a:prstGeom>
          <a:solidFill>
            <a:srgbClr val="43A3A3"/>
          </a:solidFill>
          <a:ln w="12700">
            <a:solidFill>
              <a:srgbClr val="43A3A3"/>
            </a:solidFill>
            <a:prstDash val="solid"/>
          </a:ln>
        </p:spPr>
      </p:sp>
      <p:sp>
        <p:nvSpPr>
          <p:cNvPr id="83" name="Shape 81"/>
          <p:cNvSpPr/>
          <p:nvPr/>
        </p:nvSpPr>
        <p:spPr>
          <a:xfrm>
            <a:off x="4368698" y="2556717"/>
            <a:ext cx="60279" cy="60279"/>
          </a:xfrm>
          <a:prstGeom prst="rect">
            <a:avLst/>
          </a:prstGeom>
          <a:solidFill>
            <a:srgbClr val="43A3A3"/>
          </a:solidFill>
          <a:ln w="12700">
            <a:solidFill>
              <a:srgbClr val="43A3A3"/>
            </a:solidFill>
            <a:prstDash val="solid"/>
          </a:ln>
        </p:spPr>
      </p:sp>
      <p:sp>
        <p:nvSpPr>
          <p:cNvPr id="84" name="Shape 82"/>
          <p:cNvSpPr/>
          <p:nvPr/>
        </p:nvSpPr>
        <p:spPr>
          <a:xfrm>
            <a:off x="4437417" y="2556717"/>
            <a:ext cx="60279" cy="60279"/>
          </a:xfrm>
          <a:prstGeom prst="rect">
            <a:avLst/>
          </a:prstGeom>
          <a:solidFill>
            <a:srgbClr val="43A3A3"/>
          </a:solidFill>
          <a:ln w="12700">
            <a:solidFill>
              <a:srgbClr val="43A3A3"/>
            </a:solidFill>
            <a:prstDash val="solid"/>
          </a:ln>
        </p:spPr>
      </p:sp>
      <p:sp>
        <p:nvSpPr>
          <p:cNvPr id="85" name="Shape 83"/>
          <p:cNvSpPr/>
          <p:nvPr/>
        </p:nvSpPr>
        <p:spPr>
          <a:xfrm>
            <a:off x="4506135" y="2556717"/>
            <a:ext cx="60279" cy="60279"/>
          </a:xfrm>
          <a:prstGeom prst="rect">
            <a:avLst/>
          </a:prstGeom>
          <a:solidFill>
            <a:srgbClr val="43A3A3"/>
          </a:solidFill>
          <a:ln w="12700">
            <a:solidFill>
              <a:srgbClr val="43A3A3"/>
            </a:solidFill>
            <a:prstDash val="solid"/>
          </a:ln>
        </p:spPr>
      </p:sp>
      <p:sp>
        <p:nvSpPr>
          <p:cNvPr id="86" name="Shape 84"/>
          <p:cNvSpPr/>
          <p:nvPr/>
        </p:nvSpPr>
        <p:spPr>
          <a:xfrm>
            <a:off x="4574854" y="2556717"/>
            <a:ext cx="60279" cy="60279"/>
          </a:xfrm>
          <a:prstGeom prst="rect">
            <a:avLst/>
          </a:prstGeom>
          <a:solidFill>
            <a:srgbClr val="43A3A3"/>
          </a:solidFill>
          <a:ln w="12700">
            <a:solidFill>
              <a:srgbClr val="43A3A3"/>
            </a:solidFill>
            <a:prstDash val="solid"/>
          </a:ln>
        </p:spPr>
      </p:sp>
      <p:sp>
        <p:nvSpPr>
          <p:cNvPr id="87" name="Shape 85"/>
          <p:cNvSpPr/>
          <p:nvPr/>
        </p:nvSpPr>
        <p:spPr>
          <a:xfrm>
            <a:off x="4643572" y="2556717"/>
            <a:ext cx="60279" cy="60279"/>
          </a:xfrm>
          <a:prstGeom prst="rect">
            <a:avLst/>
          </a:prstGeom>
          <a:solidFill>
            <a:srgbClr val="43A3A3"/>
          </a:solidFill>
          <a:ln w="12700">
            <a:solidFill>
              <a:srgbClr val="43A3A3"/>
            </a:solidFill>
            <a:prstDash val="solid"/>
          </a:ln>
        </p:spPr>
      </p:sp>
      <p:sp>
        <p:nvSpPr>
          <p:cNvPr id="88" name="Shape 86"/>
          <p:cNvSpPr/>
          <p:nvPr/>
        </p:nvSpPr>
        <p:spPr>
          <a:xfrm>
            <a:off x="4712290" y="2556717"/>
            <a:ext cx="60279" cy="60279"/>
          </a:xfrm>
          <a:prstGeom prst="rect">
            <a:avLst/>
          </a:prstGeom>
          <a:solidFill>
            <a:srgbClr val="43A3A3"/>
          </a:solidFill>
          <a:ln w="12700">
            <a:solidFill>
              <a:srgbClr val="43A3A3"/>
            </a:solidFill>
            <a:prstDash val="solid"/>
          </a:ln>
        </p:spPr>
      </p:sp>
      <p:sp>
        <p:nvSpPr>
          <p:cNvPr id="89" name="Shape 87"/>
          <p:cNvSpPr/>
          <p:nvPr/>
        </p:nvSpPr>
        <p:spPr>
          <a:xfrm>
            <a:off x="4781009" y="2556717"/>
            <a:ext cx="60279" cy="60279"/>
          </a:xfrm>
          <a:prstGeom prst="rect">
            <a:avLst/>
          </a:prstGeom>
          <a:solidFill>
            <a:srgbClr val="43A3A3"/>
          </a:solidFill>
          <a:ln w="12700">
            <a:solidFill>
              <a:srgbClr val="43A3A3"/>
            </a:solidFill>
            <a:prstDash val="solid"/>
          </a:ln>
        </p:spPr>
      </p:sp>
      <p:sp>
        <p:nvSpPr>
          <p:cNvPr id="90" name="Shape 88"/>
          <p:cNvSpPr/>
          <p:nvPr/>
        </p:nvSpPr>
        <p:spPr>
          <a:xfrm>
            <a:off x="4849727" y="2556717"/>
            <a:ext cx="60279" cy="60279"/>
          </a:xfrm>
          <a:prstGeom prst="rect">
            <a:avLst/>
          </a:prstGeom>
          <a:solidFill>
            <a:srgbClr val="43A3A3"/>
          </a:solidFill>
          <a:ln w="12700">
            <a:solidFill>
              <a:srgbClr val="43A3A3"/>
            </a:solidFill>
            <a:prstDash val="solid"/>
          </a:ln>
        </p:spPr>
      </p:sp>
      <p:sp>
        <p:nvSpPr>
          <p:cNvPr id="91" name="Shape 89"/>
          <p:cNvSpPr/>
          <p:nvPr/>
        </p:nvSpPr>
        <p:spPr>
          <a:xfrm>
            <a:off x="4918445" y="2556717"/>
            <a:ext cx="60279" cy="60279"/>
          </a:xfrm>
          <a:prstGeom prst="rect">
            <a:avLst/>
          </a:prstGeom>
          <a:solidFill>
            <a:srgbClr val="43A3A3"/>
          </a:solidFill>
          <a:ln w="12700">
            <a:solidFill>
              <a:srgbClr val="43A3A3"/>
            </a:solidFill>
            <a:prstDash val="solid"/>
          </a:ln>
        </p:spPr>
      </p:sp>
      <p:sp>
        <p:nvSpPr>
          <p:cNvPr id="92" name="Shape 90"/>
          <p:cNvSpPr/>
          <p:nvPr/>
        </p:nvSpPr>
        <p:spPr>
          <a:xfrm>
            <a:off x="4987164" y="2556717"/>
            <a:ext cx="60279" cy="60279"/>
          </a:xfrm>
          <a:prstGeom prst="rect">
            <a:avLst/>
          </a:prstGeom>
          <a:solidFill>
            <a:srgbClr val="43A3A3"/>
          </a:solidFill>
          <a:ln w="12700">
            <a:solidFill>
              <a:srgbClr val="43A3A3"/>
            </a:solidFill>
            <a:prstDash val="solid"/>
          </a:ln>
        </p:spPr>
      </p:sp>
      <p:sp>
        <p:nvSpPr>
          <p:cNvPr id="93" name="Shape 91"/>
          <p:cNvSpPr/>
          <p:nvPr/>
        </p:nvSpPr>
        <p:spPr>
          <a:xfrm>
            <a:off x="4368698" y="2625435"/>
            <a:ext cx="60279" cy="60279"/>
          </a:xfrm>
          <a:prstGeom prst="rect">
            <a:avLst/>
          </a:prstGeom>
          <a:solidFill>
            <a:srgbClr val="43A3A3"/>
          </a:solidFill>
          <a:ln w="12700">
            <a:solidFill>
              <a:srgbClr val="43A3A3"/>
            </a:solidFill>
            <a:prstDash val="solid"/>
          </a:ln>
        </p:spPr>
      </p:sp>
      <p:sp>
        <p:nvSpPr>
          <p:cNvPr id="94" name="Shape 92"/>
          <p:cNvSpPr/>
          <p:nvPr/>
        </p:nvSpPr>
        <p:spPr>
          <a:xfrm>
            <a:off x="4437417" y="2625435"/>
            <a:ext cx="60279" cy="60279"/>
          </a:xfrm>
          <a:prstGeom prst="rect">
            <a:avLst/>
          </a:prstGeom>
          <a:solidFill>
            <a:srgbClr val="E3E2DA"/>
          </a:solidFill>
          <a:ln w="12700">
            <a:solidFill>
              <a:srgbClr val="E3E2DA"/>
            </a:solidFill>
            <a:prstDash val="solid"/>
          </a:ln>
        </p:spPr>
      </p:sp>
      <p:sp>
        <p:nvSpPr>
          <p:cNvPr id="95" name="Shape 93"/>
          <p:cNvSpPr/>
          <p:nvPr/>
        </p:nvSpPr>
        <p:spPr>
          <a:xfrm>
            <a:off x="4506135" y="2625435"/>
            <a:ext cx="60279" cy="60279"/>
          </a:xfrm>
          <a:prstGeom prst="rect">
            <a:avLst/>
          </a:prstGeom>
          <a:solidFill>
            <a:srgbClr val="E3E2DA"/>
          </a:solidFill>
          <a:ln w="12700">
            <a:solidFill>
              <a:srgbClr val="E3E2DA"/>
            </a:solidFill>
            <a:prstDash val="solid"/>
          </a:ln>
        </p:spPr>
      </p:sp>
      <p:sp>
        <p:nvSpPr>
          <p:cNvPr id="96" name="Shape 94"/>
          <p:cNvSpPr/>
          <p:nvPr/>
        </p:nvSpPr>
        <p:spPr>
          <a:xfrm>
            <a:off x="4574854" y="2625435"/>
            <a:ext cx="60279" cy="60279"/>
          </a:xfrm>
          <a:prstGeom prst="rect">
            <a:avLst/>
          </a:prstGeom>
          <a:solidFill>
            <a:srgbClr val="E3E2DA"/>
          </a:solidFill>
          <a:ln w="12700">
            <a:solidFill>
              <a:srgbClr val="E3E2DA"/>
            </a:solidFill>
            <a:prstDash val="solid"/>
          </a:ln>
        </p:spPr>
      </p:sp>
      <p:sp>
        <p:nvSpPr>
          <p:cNvPr id="97" name="Shape 95"/>
          <p:cNvSpPr/>
          <p:nvPr/>
        </p:nvSpPr>
        <p:spPr>
          <a:xfrm>
            <a:off x="4643572" y="2625435"/>
            <a:ext cx="60279" cy="60279"/>
          </a:xfrm>
          <a:prstGeom prst="rect">
            <a:avLst/>
          </a:prstGeom>
          <a:solidFill>
            <a:srgbClr val="E3E2DA"/>
          </a:solidFill>
          <a:ln w="12700">
            <a:solidFill>
              <a:srgbClr val="E3E2DA"/>
            </a:solidFill>
            <a:prstDash val="solid"/>
          </a:ln>
        </p:spPr>
      </p:sp>
      <p:sp>
        <p:nvSpPr>
          <p:cNvPr id="98" name="Shape 96"/>
          <p:cNvSpPr/>
          <p:nvPr/>
        </p:nvSpPr>
        <p:spPr>
          <a:xfrm>
            <a:off x="4712290" y="2625435"/>
            <a:ext cx="60279" cy="60279"/>
          </a:xfrm>
          <a:prstGeom prst="rect">
            <a:avLst/>
          </a:prstGeom>
          <a:solidFill>
            <a:srgbClr val="E3E2DA"/>
          </a:solidFill>
          <a:ln w="12700">
            <a:solidFill>
              <a:srgbClr val="E3E2DA"/>
            </a:solidFill>
            <a:prstDash val="solid"/>
          </a:ln>
        </p:spPr>
      </p:sp>
      <p:sp>
        <p:nvSpPr>
          <p:cNvPr id="99" name="Shape 97"/>
          <p:cNvSpPr/>
          <p:nvPr/>
        </p:nvSpPr>
        <p:spPr>
          <a:xfrm>
            <a:off x="4781009" y="2625435"/>
            <a:ext cx="60279" cy="60279"/>
          </a:xfrm>
          <a:prstGeom prst="rect">
            <a:avLst/>
          </a:prstGeom>
          <a:solidFill>
            <a:srgbClr val="E3E2DA"/>
          </a:solidFill>
          <a:ln w="12700">
            <a:solidFill>
              <a:srgbClr val="E3E2DA"/>
            </a:solidFill>
            <a:prstDash val="solid"/>
          </a:ln>
        </p:spPr>
      </p:sp>
      <p:sp>
        <p:nvSpPr>
          <p:cNvPr id="100" name="Shape 98"/>
          <p:cNvSpPr/>
          <p:nvPr/>
        </p:nvSpPr>
        <p:spPr>
          <a:xfrm>
            <a:off x="4849727" y="2625435"/>
            <a:ext cx="60279" cy="60279"/>
          </a:xfrm>
          <a:prstGeom prst="rect">
            <a:avLst/>
          </a:prstGeom>
          <a:solidFill>
            <a:srgbClr val="E3E2DA"/>
          </a:solidFill>
          <a:ln w="12700">
            <a:solidFill>
              <a:srgbClr val="E3E2DA"/>
            </a:solidFill>
            <a:prstDash val="solid"/>
          </a:ln>
        </p:spPr>
      </p:sp>
      <p:sp>
        <p:nvSpPr>
          <p:cNvPr id="101" name="Shape 99"/>
          <p:cNvSpPr/>
          <p:nvPr/>
        </p:nvSpPr>
        <p:spPr>
          <a:xfrm>
            <a:off x="4918445" y="2625435"/>
            <a:ext cx="60279" cy="60279"/>
          </a:xfrm>
          <a:prstGeom prst="rect">
            <a:avLst/>
          </a:prstGeom>
          <a:solidFill>
            <a:srgbClr val="E3E2DA"/>
          </a:solidFill>
          <a:ln w="12700">
            <a:solidFill>
              <a:srgbClr val="E3E2DA"/>
            </a:solidFill>
            <a:prstDash val="solid"/>
          </a:ln>
        </p:spPr>
      </p:sp>
      <p:sp>
        <p:nvSpPr>
          <p:cNvPr id="102" name="Shape 100"/>
          <p:cNvSpPr/>
          <p:nvPr/>
        </p:nvSpPr>
        <p:spPr>
          <a:xfrm>
            <a:off x="4987164" y="2625435"/>
            <a:ext cx="60279" cy="60279"/>
          </a:xfrm>
          <a:prstGeom prst="rect">
            <a:avLst/>
          </a:prstGeom>
          <a:solidFill>
            <a:srgbClr val="E3E2DA"/>
          </a:solidFill>
          <a:ln w="12700">
            <a:solidFill>
              <a:srgbClr val="E3E2DA"/>
            </a:solidFill>
            <a:prstDash val="solid"/>
          </a:ln>
        </p:spPr>
      </p:sp>
      <p:sp>
        <p:nvSpPr>
          <p:cNvPr id="103" name="Shape 101"/>
          <p:cNvSpPr/>
          <p:nvPr/>
        </p:nvSpPr>
        <p:spPr>
          <a:xfrm>
            <a:off x="4368698" y="2694153"/>
            <a:ext cx="60279" cy="60279"/>
          </a:xfrm>
          <a:prstGeom prst="rect">
            <a:avLst/>
          </a:prstGeom>
          <a:solidFill>
            <a:srgbClr val="E3E2DA"/>
          </a:solidFill>
          <a:ln w="12700">
            <a:solidFill>
              <a:srgbClr val="E3E2DA"/>
            </a:solidFill>
            <a:prstDash val="solid"/>
          </a:ln>
        </p:spPr>
      </p:sp>
      <p:sp>
        <p:nvSpPr>
          <p:cNvPr id="104" name="Shape 102"/>
          <p:cNvSpPr/>
          <p:nvPr/>
        </p:nvSpPr>
        <p:spPr>
          <a:xfrm>
            <a:off x="4437417" y="2694153"/>
            <a:ext cx="60279" cy="60279"/>
          </a:xfrm>
          <a:prstGeom prst="rect">
            <a:avLst/>
          </a:prstGeom>
          <a:solidFill>
            <a:srgbClr val="E3E2DA"/>
          </a:solidFill>
          <a:ln w="12700">
            <a:solidFill>
              <a:srgbClr val="E3E2DA"/>
            </a:solidFill>
            <a:prstDash val="solid"/>
          </a:ln>
        </p:spPr>
      </p:sp>
      <p:sp>
        <p:nvSpPr>
          <p:cNvPr id="105" name="Shape 103"/>
          <p:cNvSpPr/>
          <p:nvPr/>
        </p:nvSpPr>
        <p:spPr>
          <a:xfrm>
            <a:off x="4506135" y="2694153"/>
            <a:ext cx="60279" cy="60279"/>
          </a:xfrm>
          <a:prstGeom prst="rect">
            <a:avLst/>
          </a:prstGeom>
          <a:solidFill>
            <a:srgbClr val="E3E2DA"/>
          </a:solidFill>
          <a:ln w="12700">
            <a:solidFill>
              <a:srgbClr val="E3E2DA"/>
            </a:solidFill>
            <a:prstDash val="solid"/>
          </a:ln>
        </p:spPr>
      </p:sp>
      <p:sp>
        <p:nvSpPr>
          <p:cNvPr id="106" name="Shape 104"/>
          <p:cNvSpPr/>
          <p:nvPr/>
        </p:nvSpPr>
        <p:spPr>
          <a:xfrm>
            <a:off x="4574854" y="2694153"/>
            <a:ext cx="60279" cy="60279"/>
          </a:xfrm>
          <a:prstGeom prst="rect">
            <a:avLst/>
          </a:prstGeom>
          <a:solidFill>
            <a:srgbClr val="E3E2DA"/>
          </a:solidFill>
          <a:ln w="12700">
            <a:solidFill>
              <a:srgbClr val="E3E2DA"/>
            </a:solidFill>
            <a:prstDash val="solid"/>
          </a:ln>
        </p:spPr>
      </p:sp>
      <p:sp>
        <p:nvSpPr>
          <p:cNvPr id="107" name="Shape 105"/>
          <p:cNvSpPr/>
          <p:nvPr/>
        </p:nvSpPr>
        <p:spPr>
          <a:xfrm>
            <a:off x="4643572" y="2694153"/>
            <a:ext cx="60279" cy="60279"/>
          </a:xfrm>
          <a:prstGeom prst="rect">
            <a:avLst/>
          </a:prstGeom>
          <a:solidFill>
            <a:srgbClr val="E3E2DA"/>
          </a:solidFill>
          <a:ln w="12700">
            <a:solidFill>
              <a:srgbClr val="E3E2DA"/>
            </a:solidFill>
            <a:prstDash val="solid"/>
          </a:ln>
        </p:spPr>
      </p:sp>
      <p:sp>
        <p:nvSpPr>
          <p:cNvPr id="108" name="Shape 106"/>
          <p:cNvSpPr/>
          <p:nvPr/>
        </p:nvSpPr>
        <p:spPr>
          <a:xfrm>
            <a:off x="4712290" y="2694153"/>
            <a:ext cx="60279" cy="60279"/>
          </a:xfrm>
          <a:prstGeom prst="rect">
            <a:avLst/>
          </a:prstGeom>
          <a:solidFill>
            <a:srgbClr val="E3E2DA"/>
          </a:solidFill>
          <a:ln w="12700">
            <a:solidFill>
              <a:srgbClr val="E3E2DA"/>
            </a:solidFill>
            <a:prstDash val="solid"/>
          </a:ln>
        </p:spPr>
      </p:sp>
      <p:sp>
        <p:nvSpPr>
          <p:cNvPr id="109" name="Shape 107"/>
          <p:cNvSpPr/>
          <p:nvPr/>
        </p:nvSpPr>
        <p:spPr>
          <a:xfrm>
            <a:off x="4781009" y="2694153"/>
            <a:ext cx="60279" cy="60279"/>
          </a:xfrm>
          <a:prstGeom prst="rect">
            <a:avLst/>
          </a:prstGeom>
          <a:solidFill>
            <a:srgbClr val="E3E2DA"/>
          </a:solidFill>
          <a:ln w="12700">
            <a:solidFill>
              <a:srgbClr val="E3E2DA"/>
            </a:solidFill>
            <a:prstDash val="solid"/>
          </a:ln>
        </p:spPr>
      </p:sp>
      <p:sp>
        <p:nvSpPr>
          <p:cNvPr id="110" name="Shape 108"/>
          <p:cNvSpPr/>
          <p:nvPr/>
        </p:nvSpPr>
        <p:spPr>
          <a:xfrm>
            <a:off x="4849727" y="2694153"/>
            <a:ext cx="60279" cy="60279"/>
          </a:xfrm>
          <a:prstGeom prst="rect">
            <a:avLst/>
          </a:prstGeom>
          <a:solidFill>
            <a:srgbClr val="E3E2DA"/>
          </a:solidFill>
          <a:ln w="12700">
            <a:solidFill>
              <a:srgbClr val="E3E2DA"/>
            </a:solidFill>
            <a:prstDash val="solid"/>
          </a:ln>
        </p:spPr>
      </p:sp>
      <p:sp>
        <p:nvSpPr>
          <p:cNvPr id="111" name="Shape 109"/>
          <p:cNvSpPr/>
          <p:nvPr/>
        </p:nvSpPr>
        <p:spPr>
          <a:xfrm>
            <a:off x="4918445" y="2694153"/>
            <a:ext cx="60279" cy="60279"/>
          </a:xfrm>
          <a:prstGeom prst="rect">
            <a:avLst/>
          </a:prstGeom>
          <a:solidFill>
            <a:srgbClr val="E3E2DA"/>
          </a:solidFill>
          <a:ln w="12700">
            <a:solidFill>
              <a:srgbClr val="E3E2DA"/>
            </a:solidFill>
            <a:prstDash val="solid"/>
          </a:ln>
        </p:spPr>
      </p:sp>
      <p:sp>
        <p:nvSpPr>
          <p:cNvPr id="112" name="Shape 110"/>
          <p:cNvSpPr/>
          <p:nvPr/>
        </p:nvSpPr>
        <p:spPr>
          <a:xfrm>
            <a:off x="4987164" y="2694153"/>
            <a:ext cx="60279" cy="60279"/>
          </a:xfrm>
          <a:prstGeom prst="rect">
            <a:avLst/>
          </a:prstGeom>
          <a:solidFill>
            <a:srgbClr val="E3E2DA"/>
          </a:solidFill>
          <a:ln w="12700">
            <a:solidFill>
              <a:srgbClr val="E3E2DA"/>
            </a:solidFill>
            <a:prstDash val="solid"/>
          </a:ln>
        </p:spPr>
      </p:sp>
      <p:sp>
        <p:nvSpPr>
          <p:cNvPr id="113" name="Text 111"/>
          <p:cNvSpPr txBox="1"/>
          <p:nvPr/>
        </p:nvSpPr>
        <p:spPr>
          <a:xfrm>
            <a:off x="4368698" y="2836024"/>
            <a:ext cx="968553"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81.2%</a:t>
            </a:r>
            <a:endParaRPr lang="en-US" sz="2000" dirty="0"/>
          </a:p>
        </p:txBody>
      </p:sp>
      <p:sp>
        <p:nvSpPr>
          <p:cNvPr id="114" name="Text 112"/>
          <p:cNvSpPr txBox="1"/>
          <p:nvPr/>
        </p:nvSpPr>
        <p:spPr>
          <a:xfrm>
            <a:off x="4368698" y="3201784"/>
            <a:ext cx="877113"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came for leisure or to see friends and relatives (81 of every 100)</a:t>
            </a:r>
            <a:endParaRPr lang="en-US" sz="1000" dirty="0"/>
          </a:p>
        </p:txBody>
      </p:sp>
      <p:sp>
        <p:nvSpPr>
          <p:cNvPr id="115" name="Shape 113"/>
          <p:cNvSpPr/>
          <p:nvPr/>
        </p:nvSpPr>
        <p:spPr>
          <a:xfrm>
            <a:off x="5520131" y="2075688"/>
            <a:ext cx="60279" cy="60279"/>
          </a:xfrm>
          <a:prstGeom prst="rect">
            <a:avLst/>
          </a:prstGeom>
          <a:solidFill>
            <a:srgbClr val="43A3A3"/>
          </a:solidFill>
          <a:ln w="12700">
            <a:solidFill>
              <a:srgbClr val="43A3A3"/>
            </a:solidFill>
            <a:prstDash val="solid"/>
          </a:ln>
        </p:spPr>
      </p:sp>
      <p:sp>
        <p:nvSpPr>
          <p:cNvPr id="116" name="Shape 114"/>
          <p:cNvSpPr/>
          <p:nvPr/>
        </p:nvSpPr>
        <p:spPr>
          <a:xfrm>
            <a:off x="5588850" y="2075688"/>
            <a:ext cx="60279" cy="60279"/>
          </a:xfrm>
          <a:prstGeom prst="rect">
            <a:avLst/>
          </a:prstGeom>
          <a:solidFill>
            <a:srgbClr val="43A3A3"/>
          </a:solidFill>
          <a:ln w="12700">
            <a:solidFill>
              <a:srgbClr val="43A3A3"/>
            </a:solidFill>
            <a:prstDash val="solid"/>
          </a:ln>
        </p:spPr>
      </p:sp>
      <p:sp>
        <p:nvSpPr>
          <p:cNvPr id="117" name="Shape 115"/>
          <p:cNvSpPr/>
          <p:nvPr/>
        </p:nvSpPr>
        <p:spPr>
          <a:xfrm>
            <a:off x="5657568" y="2075688"/>
            <a:ext cx="60279" cy="60279"/>
          </a:xfrm>
          <a:prstGeom prst="rect">
            <a:avLst/>
          </a:prstGeom>
          <a:solidFill>
            <a:srgbClr val="43A3A3"/>
          </a:solidFill>
          <a:ln w="12700">
            <a:solidFill>
              <a:srgbClr val="43A3A3"/>
            </a:solidFill>
            <a:prstDash val="solid"/>
          </a:ln>
        </p:spPr>
      </p:sp>
      <p:sp>
        <p:nvSpPr>
          <p:cNvPr id="118" name="Shape 116"/>
          <p:cNvSpPr/>
          <p:nvPr/>
        </p:nvSpPr>
        <p:spPr>
          <a:xfrm>
            <a:off x="5726286" y="2075688"/>
            <a:ext cx="60279" cy="60279"/>
          </a:xfrm>
          <a:prstGeom prst="rect">
            <a:avLst/>
          </a:prstGeom>
          <a:solidFill>
            <a:srgbClr val="43A3A3"/>
          </a:solidFill>
          <a:ln w="12700">
            <a:solidFill>
              <a:srgbClr val="43A3A3"/>
            </a:solidFill>
            <a:prstDash val="solid"/>
          </a:ln>
        </p:spPr>
      </p:sp>
      <p:sp>
        <p:nvSpPr>
          <p:cNvPr id="119" name="Shape 117"/>
          <p:cNvSpPr/>
          <p:nvPr/>
        </p:nvSpPr>
        <p:spPr>
          <a:xfrm>
            <a:off x="5795005" y="2075688"/>
            <a:ext cx="60279" cy="60279"/>
          </a:xfrm>
          <a:prstGeom prst="rect">
            <a:avLst/>
          </a:prstGeom>
          <a:solidFill>
            <a:srgbClr val="43A3A3"/>
          </a:solidFill>
          <a:ln w="12700">
            <a:solidFill>
              <a:srgbClr val="43A3A3"/>
            </a:solidFill>
            <a:prstDash val="solid"/>
          </a:ln>
        </p:spPr>
      </p:sp>
      <p:sp>
        <p:nvSpPr>
          <p:cNvPr id="120" name="Shape 118"/>
          <p:cNvSpPr/>
          <p:nvPr/>
        </p:nvSpPr>
        <p:spPr>
          <a:xfrm>
            <a:off x="5863723" y="2075688"/>
            <a:ext cx="60279" cy="60279"/>
          </a:xfrm>
          <a:prstGeom prst="rect">
            <a:avLst/>
          </a:prstGeom>
          <a:solidFill>
            <a:srgbClr val="43A3A3"/>
          </a:solidFill>
          <a:ln w="12700">
            <a:solidFill>
              <a:srgbClr val="43A3A3"/>
            </a:solidFill>
            <a:prstDash val="solid"/>
          </a:ln>
        </p:spPr>
      </p:sp>
      <p:sp>
        <p:nvSpPr>
          <p:cNvPr id="121" name="Shape 119"/>
          <p:cNvSpPr/>
          <p:nvPr/>
        </p:nvSpPr>
        <p:spPr>
          <a:xfrm>
            <a:off x="5932441" y="2075688"/>
            <a:ext cx="60279" cy="60279"/>
          </a:xfrm>
          <a:prstGeom prst="rect">
            <a:avLst/>
          </a:prstGeom>
          <a:solidFill>
            <a:srgbClr val="43A3A3"/>
          </a:solidFill>
          <a:ln w="12700">
            <a:solidFill>
              <a:srgbClr val="43A3A3"/>
            </a:solidFill>
            <a:prstDash val="solid"/>
          </a:ln>
        </p:spPr>
      </p:sp>
      <p:sp>
        <p:nvSpPr>
          <p:cNvPr id="122" name="Shape 120"/>
          <p:cNvSpPr/>
          <p:nvPr/>
        </p:nvSpPr>
        <p:spPr>
          <a:xfrm>
            <a:off x="6001160" y="2075688"/>
            <a:ext cx="60279" cy="60279"/>
          </a:xfrm>
          <a:prstGeom prst="rect">
            <a:avLst/>
          </a:prstGeom>
          <a:solidFill>
            <a:srgbClr val="43A3A3"/>
          </a:solidFill>
          <a:ln w="12700">
            <a:solidFill>
              <a:srgbClr val="43A3A3"/>
            </a:solidFill>
            <a:prstDash val="solid"/>
          </a:ln>
        </p:spPr>
      </p:sp>
      <p:sp>
        <p:nvSpPr>
          <p:cNvPr id="123" name="Shape 121"/>
          <p:cNvSpPr/>
          <p:nvPr/>
        </p:nvSpPr>
        <p:spPr>
          <a:xfrm>
            <a:off x="6069878" y="2075688"/>
            <a:ext cx="60279" cy="60279"/>
          </a:xfrm>
          <a:prstGeom prst="rect">
            <a:avLst/>
          </a:prstGeom>
          <a:solidFill>
            <a:srgbClr val="43A3A3"/>
          </a:solidFill>
          <a:ln w="12700">
            <a:solidFill>
              <a:srgbClr val="43A3A3"/>
            </a:solidFill>
            <a:prstDash val="solid"/>
          </a:ln>
        </p:spPr>
      </p:sp>
      <p:sp>
        <p:nvSpPr>
          <p:cNvPr id="124" name="Shape 122"/>
          <p:cNvSpPr/>
          <p:nvPr/>
        </p:nvSpPr>
        <p:spPr>
          <a:xfrm>
            <a:off x="6138597" y="2075688"/>
            <a:ext cx="60279" cy="60279"/>
          </a:xfrm>
          <a:prstGeom prst="rect">
            <a:avLst/>
          </a:prstGeom>
          <a:solidFill>
            <a:srgbClr val="43A3A3"/>
          </a:solidFill>
          <a:ln w="12700">
            <a:solidFill>
              <a:srgbClr val="43A3A3"/>
            </a:solidFill>
            <a:prstDash val="solid"/>
          </a:ln>
        </p:spPr>
      </p:sp>
      <p:sp>
        <p:nvSpPr>
          <p:cNvPr id="125" name="Shape 123"/>
          <p:cNvSpPr/>
          <p:nvPr/>
        </p:nvSpPr>
        <p:spPr>
          <a:xfrm>
            <a:off x="5520131" y="2144406"/>
            <a:ext cx="60279" cy="60279"/>
          </a:xfrm>
          <a:prstGeom prst="rect">
            <a:avLst/>
          </a:prstGeom>
          <a:solidFill>
            <a:srgbClr val="43A3A3"/>
          </a:solidFill>
          <a:ln w="12700">
            <a:solidFill>
              <a:srgbClr val="43A3A3"/>
            </a:solidFill>
            <a:prstDash val="solid"/>
          </a:ln>
        </p:spPr>
      </p:sp>
      <p:sp>
        <p:nvSpPr>
          <p:cNvPr id="126" name="Shape 124"/>
          <p:cNvSpPr/>
          <p:nvPr/>
        </p:nvSpPr>
        <p:spPr>
          <a:xfrm>
            <a:off x="5588850" y="2144406"/>
            <a:ext cx="60279" cy="60279"/>
          </a:xfrm>
          <a:prstGeom prst="rect">
            <a:avLst/>
          </a:prstGeom>
          <a:solidFill>
            <a:srgbClr val="43A3A3"/>
          </a:solidFill>
          <a:ln w="12700">
            <a:solidFill>
              <a:srgbClr val="43A3A3"/>
            </a:solidFill>
            <a:prstDash val="solid"/>
          </a:ln>
        </p:spPr>
      </p:sp>
      <p:sp>
        <p:nvSpPr>
          <p:cNvPr id="127" name="Shape 125"/>
          <p:cNvSpPr/>
          <p:nvPr/>
        </p:nvSpPr>
        <p:spPr>
          <a:xfrm>
            <a:off x="5657568" y="2144406"/>
            <a:ext cx="60279" cy="60279"/>
          </a:xfrm>
          <a:prstGeom prst="rect">
            <a:avLst/>
          </a:prstGeom>
          <a:solidFill>
            <a:srgbClr val="43A3A3"/>
          </a:solidFill>
          <a:ln w="12700">
            <a:solidFill>
              <a:srgbClr val="43A3A3"/>
            </a:solidFill>
            <a:prstDash val="solid"/>
          </a:ln>
        </p:spPr>
      </p:sp>
      <p:sp>
        <p:nvSpPr>
          <p:cNvPr id="128" name="Shape 126"/>
          <p:cNvSpPr/>
          <p:nvPr/>
        </p:nvSpPr>
        <p:spPr>
          <a:xfrm>
            <a:off x="5726286" y="2144406"/>
            <a:ext cx="60279" cy="60279"/>
          </a:xfrm>
          <a:prstGeom prst="rect">
            <a:avLst/>
          </a:prstGeom>
          <a:solidFill>
            <a:srgbClr val="43A3A3"/>
          </a:solidFill>
          <a:ln w="12700">
            <a:solidFill>
              <a:srgbClr val="43A3A3"/>
            </a:solidFill>
            <a:prstDash val="solid"/>
          </a:ln>
        </p:spPr>
      </p:sp>
      <p:sp>
        <p:nvSpPr>
          <p:cNvPr id="129" name="Shape 127"/>
          <p:cNvSpPr/>
          <p:nvPr/>
        </p:nvSpPr>
        <p:spPr>
          <a:xfrm>
            <a:off x="5795005" y="2144406"/>
            <a:ext cx="60279" cy="60279"/>
          </a:xfrm>
          <a:prstGeom prst="rect">
            <a:avLst/>
          </a:prstGeom>
          <a:solidFill>
            <a:srgbClr val="43A3A3"/>
          </a:solidFill>
          <a:ln w="12700">
            <a:solidFill>
              <a:srgbClr val="43A3A3"/>
            </a:solidFill>
            <a:prstDash val="solid"/>
          </a:ln>
        </p:spPr>
      </p:sp>
      <p:sp>
        <p:nvSpPr>
          <p:cNvPr id="130" name="Shape 128"/>
          <p:cNvSpPr/>
          <p:nvPr/>
        </p:nvSpPr>
        <p:spPr>
          <a:xfrm>
            <a:off x="5863723" y="2144406"/>
            <a:ext cx="60279" cy="60279"/>
          </a:xfrm>
          <a:prstGeom prst="rect">
            <a:avLst/>
          </a:prstGeom>
          <a:solidFill>
            <a:srgbClr val="43A3A3"/>
          </a:solidFill>
          <a:ln w="12700">
            <a:solidFill>
              <a:srgbClr val="43A3A3"/>
            </a:solidFill>
            <a:prstDash val="solid"/>
          </a:ln>
        </p:spPr>
      </p:sp>
      <p:sp>
        <p:nvSpPr>
          <p:cNvPr id="131" name="Shape 129"/>
          <p:cNvSpPr/>
          <p:nvPr/>
        </p:nvSpPr>
        <p:spPr>
          <a:xfrm>
            <a:off x="5932441" y="2144406"/>
            <a:ext cx="60279" cy="60279"/>
          </a:xfrm>
          <a:prstGeom prst="rect">
            <a:avLst/>
          </a:prstGeom>
          <a:solidFill>
            <a:srgbClr val="43A3A3"/>
          </a:solidFill>
          <a:ln w="12700">
            <a:solidFill>
              <a:srgbClr val="43A3A3"/>
            </a:solidFill>
            <a:prstDash val="solid"/>
          </a:ln>
        </p:spPr>
      </p:sp>
      <p:sp>
        <p:nvSpPr>
          <p:cNvPr id="132" name="Shape 130"/>
          <p:cNvSpPr/>
          <p:nvPr/>
        </p:nvSpPr>
        <p:spPr>
          <a:xfrm>
            <a:off x="6001160" y="2144406"/>
            <a:ext cx="60279" cy="60279"/>
          </a:xfrm>
          <a:prstGeom prst="rect">
            <a:avLst/>
          </a:prstGeom>
          <a:solidFill>
            <a:srgbClr val="43A3A3"/>
          </a:solidFill>
          <a:ln w="12700">
            <a:solidFill>
              <a:srgbClr val="43A3A3"/>
            </a:solidFill>
            <a:prstDash val="solid"/>
          </a:ln>
        </p:spPr>
      </p:sp>
      <p:sp>
        <p:nvSpPr>
          <p:cNvPr id="133" name="Shape 131"/>
          <p:cNvSpPr/>
          <p:nvPr/>
        </p:nvSpPr>
        <p:spPr>
          <a:xfrm>
            <a:off x="6069878" y="2144406"/>
            <a:ext cx="60279" cy="60279"/>
          </a:xfrm>
          <a:prstGeom prst="rect">
            <a:avLst/>
          </a:prstGeom>
          <a:solidFill>
            <a:srgbClr val="43A3A3"/>
          </a:solidFill>
          <a:ln w="12700">
            <a:solidFill>
              <a:srgbClr val="43A3A3"/>
            </a:solidFill>
            <a:prstDash val="solid"/>
          </a:ln>
        </p:spPr>
      </p:sp>
      <p:sp>
        <p:nvSpPr>
          <p:cNvPr id="134" name="Shape 132"/>
          <p:cNvSpPr/>
          <p:nvPr/>
        </p:nvSpPr>
        <p:spPr>
          <a:xfrm>
            <a:off x="6138597" y="2144406"/>
            <a:ext cx="60279" cy="60279"/>
          </a:xfrm>
          <a:prstGeom prst="rect">
            <a:avLst/>
          </a:prstGeom>
          <a:solidFill>
            <a:srgbClr val="43A3A3"/>
          </a:solidFill>
          <a:ln w="12700">
            <a:solidFill>
              <a:srgbClr val="43A3A3"/>
            </a:solidFill>
            <a:prstDash val="solid"/>
          </a:ln>
        </p:spPr>
      </p:sp>
      <p:sp>
        <p:nvSpPr>
          <p:cNvPr id="135" name="Shape 133"/>
          <p:cNvSpPr/>
          <p:nvPr/>
        </p:nvSpPr>
        <p:spPr>
          <a:xfrm>
            <a:off x="5520131" y="2213125"/>
            <a:ext cx="60279" cy="60279"/>
          </a:xfrm>
          <a:prstGeom prst="rect">
            <a:avLst/>
          </a:prstGeom>
          <a:solidFill>
            <a:srgbClr val="43A3A3"/>
          </a:solidFill>
          <a:ln w="12700">
            <a:solidFill>
              <a:srgbClr val="43A3A3"/>
            </a:solidFill>
            <a:prstDash val="solid"/>
          </a:ln>
        </p:spPr>
      </p:sp>
      <p:sp>
        <p:nvSpPr>
          <p:cNvPr id="136" name="Shape 134"/>
          <p:cNvSpPr/>
          <p:nvPr/>
        </p:nvSpPr>
        <p:spPr>
          <a:xfrm>
            <a:off x="5588850" y="2213125"/>
            <a:ext cx="60279" cy="60279"/>
          </a:xfrm>
          <a:prstGeom prst="rect">
            <a:avLst/>
          </a:prstGeom>
          <a:solidFill>
            <a:srgbClr val="43A3A3"/>
          </a:solidFill>
          <a:ln w="12700">
            <a:solidFill>
              <a:srgbClr val="43A3A3"/>
            </a:solidFill>
            <a:prstDash val="solid"/>
          </a:ln>
        </p:spPr>
      </p:sp>
      <p:sp>
        <p:nvSpPr>
          <p:cNvPr id="137" name="Shape 135"/>
          <p:cNvSpPr/>
          <p:nvPr/>
        </p:nvSpPr>
        <p:spPr>
          <a:xfrm>
            <a:off x="5657568" y="2213125"/>
            <a:ext cx="60279" cy="60279"/>
          </a:xfrm>
          <a:prstGeom prst="rect">
            <a:avLst/>
          </a:prstGeom>
          <a:solidFill>
            <a:srgbClr val="43A3A3"/>
          </a:solidFill>
          <a:ln w="12700">
            <a:solidFill>
              <a:srgbClr val="43A3A3"/>
            </a:solidFill>
            <a:prstDash val="solid"/>
          </a:ln>
        </p:spPr>
      </p:sp>
      <p:sp>
        <p:nvSpPr>
          <p:cNvPr id="138" name="Shape 136"/>
          <p:cNvSpPr/>
          <p:nvPr/>
        </p:nvSpPr>
        <p:spPr>
          <a:xfrm>
            <a:off x="5726286" y="2213125"/>
            <a:ext cx="60279" cy="60279"/>
          </a:xfrm>
          <a:prstGeom prst="rect">
            <a:avLst/>
          </a:prstGeom>
          <a:solidFill>
            <a:srgbClr val="43A3A3"/>
          </a:solidFill>
          <a:ln w="12700">
            <a:solidFill>
              <a:srgbClr val="43A3A3"/>
            </a:solidFill>
            <a:prstDash val="solid"/>
          </a:ln>
        </p:spPr>
      </p:sp>
      <p:sp>
        <p:nvSpPr>
          <p:cNvPr id="139" name="Shape 137"/>
          <p:cNvSpPr/>
          <p:nvPr/>
        </p:nvSpPr>
        <p:spPr>
          <a:xfrm>
            <a:off x="5795005" y="2213125"/>
            <a:ext cx="60279" cy="60279"/>
          </a:xfrm>
          <a:prstGeom prst="rect">
            <a:avLst/>
          </a:prstGeom>
          <a:solidFill>
            <a:srgbClr val="43A3A3"/>
          </a:solidFill>
          <a:ln w="12700">
            <a:solidFill>
              <a:srgbClr val="43A3A3"/>
            </a:solidFill>
            <a:prstDash val="solid"/>
          </a:ln>
        </p:spPr>
      </p:sp>
      <p:sp>
        <p:nvSpPr>
          <p:cNvPr id="140" name="Shape 138"/>
          <p:cNvSpPr/>
          <p:nvPr/>
        </p:nvSpPr>
        <p:spPr>
          <a:xfrm>
            <a:off x="5863723" y="2213125"/>
            <a:ext cx="60279" cy="60279"/>
          </a:xfrm>
          <a:prstGeom prst="rect">
            <a:avLst/>
          </a:prstGeom>
          <a:solidFill>
            <a:srgbClr val="43A3A3"/>
          </a:solidFill>
          <a:ln w="12700">
            <a:solidFill>
              <a:srgbClr val="43A3A3"/>
            </a:solidFill>
            <a:prstDash val="solid"/>
          </a:ln>
        </p:spPr>
      </p:sp>
      <p:sp>
        <p:nvSpPr>
          <p:cNvPr id="141" name="Shape 139"/>
          <p:cNvSpPr/>
          <p:nvPr/>
        </p:nvSpPr>
        <p:spPr>
          <a:xfrm>
            <a:off x="5932441" y="2213125"/>
            <a:ext cx="60279" cy="60279"/>
          </a:xfrm>
          <a:prstGeom prst="rect">
            <a:avLst/>
          </a:prstGeom>
          <a:solidFill>
            <a:srgbClr val="43A3A3"/>
          </a:solidFill>
          <a:ln w="12700">
            <a:solidFill>
              <a:srgbClr val="43A3A3"/>
            </a:solidFill>
            <a:prstDash val="solid"/>
          </a:ln>
        </p:spPr>
      </p:sp>
      <p:sp>
        <p:nvSpPr>
          <p:cNvPr id="142" name="Shape 140"/>
          <p:cNvSpPr/>
          <p:nvPr/>
        </p:nvSpPr>
        <p:spPr>
          <a:xfrm>
            <a:off x="6001160" y="2213125"/>
            <a:ext cx="60279" cy="60279"/>
          </a:xfrm>
          <a:prstGeom prst="rect">
            <a:avLst/>
          </a:prstGeom>
          <a:solidFill>
            <a:srgbClr val="43A3A3"/>
          </a:solidFill>
          <a:ln w="12700">
            <a:solidFill>
              <a:srgbClr val="43A3A3"/>
            </a:solidFill>
            <a:prstDash val="solid"/>
          </a:ln>
        </p:spPr>
      </p:sp>
      <p:sp>
        <p:nvSpPr>
          <p:cNvPr id="143" name="Shape 141"/>
          <p:cNvSpPr/>
          <p:nvPr/>
        </p:nvSpPr>
        <p:spPr>
          <a:xfrm>
            <a:off x="6069878" y="2213125"/>
            <a:ext cx="60279" cy="60279"/>
          </a:xfrm>
          <a:prstGeom prst="rect">
            <a:avLst/>
          </a:prstGeom>
          <a:solidFill>
            <a:srgbClr val="43A3A3"/>
          </a:solidFill>
          <a:ln w="12700">
            <a:solidFill>
              <a:srgbClr val="43A3A3"/>
            </a:solidFill>
            <a:prstDash val="solid"/>
          </a:ln>
        </p:spPr>
      </p:sp>
      <p:sp>
        <p:nvSpPr>
          <p:cNvPr id="144" name="Shape 142"/>
          <p:cNvSpPr/>
          <p:nvPr/>
        </p:nvSpPr>
        <p:spPr>
          <a:xfrm>
            <a:off x="6138597" y="2213125"/>
            <a:ext cx="60279" cy="60279"/>
          </a:xfrm>
          <a:prstGeom prst="rect">
            <a:avLst/>
          </a:prstGeom>
          <a:solidFill>
            <a:srgbClr val="43A3A3"/>
          </a:solidFill>
          <a:ln w="12700">
            <a:solidFill>
              <a:srgbClr val="43A3A3"/>
            </a:solidFill>
            <a:prstDash val="solid"/>
          </a:ln>
        </p:spPr>
      </p:sp>
      <p:sp>
        <p:nvSpPr>
          <p:cNvPr id="145" name="Shape 143"/>
          <p:cNvSpPr/>
          <p:nvPr/>
        </p:nvSpPr>
        <p:spPr>
          <a:xfrm>
            <a:off x="5520131" y="2281843"/>
            <a:ext cx="60279" cy="60279"/>
          </a:xfrm>
          <a:prstGeom prst="rect">
            <a:avLst/>
          </a:prstGeom>
          <a:solidFill>
            <a:srgbClr val="43A3A3"/>
          </a:solidFill>
          <a:ln w="12700">
            <a:solidFill>
              <a:srgbClr val="43A3A3"/>
            </a:solidFill>
            <a:prstDash val="solid"/>
          </a:ln>
        </p:spPr>
      </p:sp>
      <p:sp>
        <p:nvSpPr>
          <p:cNvPr id="146" name="Shape 144"/>
          <p:cNvSpPr/>
          <p:nvPr/>
        </p:nvSpPr>
        <p:spPr>
          <a:xfrm>
            <a:off x="5588850" y="2281843"/>
            <a:ext cx="60279" cy="60279"/>
          </a:xfrm>
          <a:prstGeom prst="rect">
            <a:avLst/>
          </a:prstGeom>
          <a:solidFill>
            <a:srgbClr val="43A3A3"/>
          </a:solidFill>
          <a:ln w="12700">
            <a:solidFill>
              <a:srgbClr val="43A3A3"/>
            </a:solidFill>
            <a:prstDash val="solid"/>
          </a:ln>
        </p:spPr>
      </p:sp>
      <p:sp>
        <p:nvSpPr>
          <p:cNvPr id="147" name="Shape 145"/>
          <p:cNvSpPr/>
          <p:nvPr/>
        </p:nvSpPr>
        <p:spPr>
          <a:xfrm>
            <a:off x="5657568" y="2281843"/>
            <a:ext cx="60279" cy="60279"/>
          </a:xfrm>
          <a:prstGeom prst="rect">
            <a:avLst/>
          </a:prstGeom>
          <a:solidFill>
            <a:srgbClr val="43A3A3"/>
          </a:solidFill>
          <a:ln w="12700">
            <a:solidFill>
              <a:srgbClr val="43A3A3"/>
            </a:solidFill>
            <a:prstDash val="solid"/>
          </a:ln>
        </p:spPr>
      </p:sp>
      <p:sp>
        <p:nvSpPr>
          <p:cNvPr id="148" name="Shape 146"/>
          <p:cNvSpPr/>
          <p:nvPr/>
        </p:nvSpPr>
        <p:spPr>
          <a:xfrm>
            <a:off x="5726286" y="2281843"/>
            <a:ext cx="60279" cy="60279"/>
          </a:xfrm>
          <a:prstGeom prst="rect">
            <a:avLst/>
          </a:prstGeom>
          <a:solidFill>
            <a:srgbClr val="43A3A3"/>
          </a:solidFill>
          <a:ln w="12700">
            <a:solidFill>
              <a:srgbClr val="43A3A3"/>
            </a:solidFill>
            <a:prstDash val="solid"/>
          </a:ln>
        </p:spPr>
      </p:sp>
      <p:sp>
        <p:nvSpPr>
          <p:cNvPr id="149" name="Shape 147"/>
          <p:cNvSpPr/>
          <p:nvPr/>
        </p:nvSpPr>
        <p:spPr>
          <a:xfrm>
            <a:off x="5795005" y="2281843"/>
            <a:ext cx="60279" cy="60279"/>
          </a:xfrm>
          <a:prstGeom prst="rect">
            <a:avLst/>
          </a:prstGeom>
          <a:solidFill>
            <a:srgbClr val="43A3A3"/>
          </a:solidFill>
          <a:ln w="12700">
            <a:solidFill>
              <a:srgbClr val="43A3A3"/>
            </a:solidFill>
            <a:prstDash val="solid"/>
          </a:ln>
        </p:spPr>
      </p:sp>
      <p:sp>
        <p:nvSpPr>
          <p:cNvPr id="150" name="Shape 148"/>
          <p:cNvSpPr/>
          <p:nvPr/>
        </p:nvSpPr>
        <p:spPr>
          <a:xfrm>
            <a:off x="5863723" y="2281843"/>
            <a:ext cx="60279" cy="60279"/>
          </a:xfrm>
          <a:prstGeom prst="rect">
            <a:avLst/>
          </a:prstGeom>
          <a:solidFill>
            <a:srgbClr val="43A3A3"/>
          </a:solidFill>
          <a:ln w="12700">
            <a:solidFill>
              <a:srgbClr val="43A3A3"/>
            </a:solidFill>
            <a:prstDash val="solid"/>
          </a:ln>
        </p:spPr>
      </p:sp>
      <p:sp>
        <p:nvSpPr>
          <p:cNvPr id="151" name="Shape 149"/>
          <p:cNvSpPr/>
          <p:nvPr/>
        </p:nvSpPr>
        <p:spPr>
          <a:xfrm>
            <a:off x="5932441" y="2281843"/>
            <a:ext cx="60279" cy="60279"/>
          </a:xfrm>
          <a:prstGeom prst="rect">
            <a:avLst/>
          </a:prstGeom>
          <a:solidFill>
            <a:srgbClr val="43A3A3"/>
          </a:solidFill>
          <a:ln w="12700">
            <a:solidFill>
              <a:srgbClr val="43A3A3"/>
            </a:solidFill>
            <a:prstDash val="solid"/>
          </a:ln>
        </p:spPr>
      </p:sp>
      <p:sp>
        <p:nvSpPr>
          <p:cNvPr id="152" name="Shape 150"/>
          <p:cNvSpPr/>
          <p:nvPr/>
        </p:nvSpPr>
        <p:spPr>
          <a:xfrm>
            <a:off x="6001160" y="2281843"/>
            <a:ext cx="60279" cy="60279"/>
          </a:xfrm>
          <a:prstGeom prst="rect">
            <a:avLst/>
          </a:prstGeom>
          <a:solidFill>
            <a:srgbClr val="43A3A3"/>
          </a:solidFill>
          <a:ln w="12700">
            <a:solidFill>
              <a:srgbClr val="43A3A3"/>
            </a:solidFill>
            <a:prstDash val="solid"/>
          </a:ln>
        </p:spPr>
      </p:sp>
      <p:sp>
        <p:nvSpPr>
          <p:cNvPr id="153" name="Shape 151"/>
          <p:cNvSpPr/>
          <p:nvPr/>
        </p:nvSpPr>
        <p:spPr>
          <a:xfrm>
            <a:off x="6069878" y="2281843"/>
            <a:ext cx="60279" cy="60279"/>
          </a:xfrm>
          <a:prstGeom prst="rect">
            <a:avLst/>
          </a:prstGeom>
          <a:solidFill>
            <a:srgbClr val="43A3A3"/>
          </a:solidFill>
          <a:ln w="12700">
            <a:solidFill>
              <a:srgbClr val="43A3A3"/>
            </a:solidFill>
            <a:prstDash val="solid"/>
          </a:ln>
        </p:spPr>
      </p:sp>
      <p:sp>
        <p:nvSpPr>
          <p:cNvPr id="154" name="Shape 152"/>
          <p:cNvSpPr/>
          <p:nvPr/>
        </p:nvSpPr>
        <p:spPr>
          <a:xfrm>
            <a:off x="6138597" y="2281843"/>
            <a:ext cx="60279" cy="60279"/>
          </a:xfrm>
          <a:prstGeom prst="rect">
            <a:avLst/>
          </a:prstGeom>
          <a:solidFill>
            <a:srgbClr val="43A3A3"/>
          </a:solidFill>
          <a:ln w="12700">
            <a:solidFill>
              <a:srgbClr val="43A3A3"/>
            </a:solidFill>
            <a:prstDash val="solid"/>
          </a:ln>
        </p:spPr>
      </p:sp>
      <p:sp>
        <p:nvSpPr>
          <p:cNvPr id="155" name="Shape 153"/>
          <p:cNvSpPr/>
          <p:nvPr/>
        </p:nvSpPr>
        <p:spPr>
          <a:xfrm>
            <a:off x="5520131" y="2350562"/>
            <a:ext cx="60279" cy="60279"/>
          </a:xfrm>
          <a:prstGeom prst="rect">
            <a:avLst/>
          </a:prstGeom>
          <a:solidFill>
            <a:srgbClr val="43A3A3"/>
          </a:solidFill>
          <a:ln w="12700">
            <a:solidFill>
              <a:srgbClr val="43A3A3"/>
            </a:solidFill>
            <a:prstDash val="solid"/>
          </a:ln>
        </p:spPr>
      </p:sp>
      <p:sp>
        <p:nvSpPr>
          <p:cNvPr id="156" name="Shape 154"/>
          <p:cNvSpPr/>
          <p:nvPr/>
        </p:nvSpPr>
        <p:spPr>
          <a:xfrm>
            <a:off x="5588850" y="2350562"/>
            <a:ext cx="60279" cy="60279"/>
          </a:xfrm>
          <a:prstGeom prst="rect">
            <a:avLst/>
          </a:prstGeom>
          <a:solidFill>
            <a:srgbClr val="43A3A3"/>
          </a:solidFill>
          <a:ln w="12700">
            <a:solidFill>
              <a:srgbClr val="43A3A3"/>
            </a:solidFill>
            <a:prstDash val="solid"/>
          </a:ln>
        </p:spPr>
      </p:sp>
      <p:sp>
        <p:nvSpPr>
          <p:cNvPr id="157" name="Shape 155"/>
          <p:cNvSpPr/>
          <p:nvPr/>
        </p:nvSpPr>
        <p:spPr>
          <a:xfrm>
            <a:off x="5657568" y="2350562"/>
            <a:ext cx="60279" cy="60279"/>
          </a:xfrm>
          <a:prstGeom prst="rect">
            <a:avLst/>
          </a:prstGeom>
          <a:solidFill>
            <a:srgbClr val="43A3A3"/>
          </a:solidFill>
          <a:ln w="12700">
            <a:solidFill>
              <a:srgbClr val="43A3A3"/>
            </a:solidFill>
            <a:prstDash val="solid"/>
          </a:ln>
        </p:spPr>
      </p:sp>
      <p:sp>
        <p:nvSpPr>
          <p:cNvPr id="158" name="Shape 156"/>
          <p:cNvSpPr/>
          <p:nvPr/>
        </p:nvSpPr>
        <p:spPr>
          <a:xfrm>
            <a:off x="5726286" y="2350562"/>
            <a:ext cx="60279" cy="60279"/>
          </a:xfrm>
          <a:prstGeom prst="rect">
            <a:avLst/>
          </a:prstGeom>
          <a:solidFill>
            <a:srgbClr val="43A3A3"/>
          </a:solidFill>
          <a:ln w="12700">
            <a:solidFill>
              <a:srgbClr val="43A3A3"/>
            </a:solidFill>
            <a:prstDash val="solid"/>
          </a:ln>
        </p:spPr>
      </p:sp>
      <p:sp>
        <p:nvSpPr>
          <p:cNvPr id="159" name="Shape 157"/>
          <p:cNvSpPr/>
          <p:nvPr/>
        </p:nvSpPr>
        <p:spPr>
          <a:xfrm>
            <a:off x="5795005" y="2350562"/>
            <a:ext cx="60279" cy="60279"/>
          </a:xfrm>
          <a:prstGeom prst="rect">
            <a:avLst/>
          </a:prstGeom>
          <a:solidFill>
            <a:srgbClr val="43A3A3"/>
          </a:solidFill>
          <a:ln w="12700">
            <a:solidFill>
              <a:srgbClr val="43A3A3"/>
            </a:solidFill>
            <a:prstDash val="solid"/>
          </a:ln>
        </p:spPr>
      </p:sp>
      <p:sp>
        <p:nvSpPr>
          <p:cNvPr id="160" name="Shape 158"/>
          <p:cNvSpPr/>
          <p:nvPr/>
        </p:nvSpPr>
        <p:spPr>
          <a:xfrm>
            <a:off x="5863723" y="2350562"/>
            <a:ext cx="60279" cy="60279"/>
          </a:xfrm>
          <a:prstGeom prst="rect">
            <a:avLst/>
          </a:prstGeom>
          <a:solidFill>
            <a:srgbClr val="43A3A3"/>
          </a:solidFill>
          <a:ln w="12700">
            <a:solidFill>
              <a:srgbClr val="43A3A3"/>
            </a:solidFill>
            <a:prstDash val="solid"/>
          </a:ln>
        </p:spPr>
      </p:sp>
      <p:sp>
        <p:nvSpPr>
          <p:cNvPr id="161" name="Shape 159"/>
          <p:cNvSpPr/>
          <p:nvPr/>
        </p:nvSpPr>
        <p:spPr>
          <a:xfrm>
            <a:off x="5932441" y="2350562"/>
            <a:ext cx="60279" cy="60279"/>
          </a:xfrm>
          <a:prstGeom prst="rect">
            <a:avLst/>
          </a:prstGeom>
          <a:solidFill>
            <a:srgbClr val="43A3A3"/>
          </a:solidFill>
          <a:ln w="12700">
            <a:solidFill>
              <a:srgbClr val="43A3A3"/>
            </a:solidFill>
            <a:prstDash val="solid"/>
          </a:ln>
        </p:spPr>
      </p:sp>
      <p:sp>
        <p:nvSpPr>
          <p:cNvPr id="162" name="Shape 160"/>
          <p:cNvSpPr/>
          <p:nvPr/>
        </p:nvSpPr>
        <p:spPr>
          <a:xfrm>
            <a:off x="6001160" y="2350562"/>
            <a:ext cx="60279" cy="60279"/>
          </a:xfrm>
          <a:prstGeom prst="rect">
            <a:avLst/>
          </a:prstGeom>
          <a:solidFill>
            <a:srgbClr val="43A3A3"/>
          </a:solidFill>
          <a:ln w="12700">
            <a:solidFill>
              <a:srgbClr val="43A3A3"/>
            </a:solidFill>
            <a:prstDash val="solid"/>
          </a:ln>
        </p:spPr>
      </p:sp>
      <p:sp>
        <p:nvSpPr>
          <p:cNvPr id="163" name="Shape 161"/>
          <p:cNvSpPr/>
          <p:nvPr/>
        </p:nvSpPr>
        <p:spPr>
          <a:xfrm>
            <a:off x="6069878" y="2350562"/>
            <a:ext cx="60279" cy="60279"/>
          </a:xfrm>
          <a:prstGeom prst="rect">
            <a:avLst/>
          </a:prstGeom>
          <a:solidFill>
            <a:srgbClr val="43A3A3"/>
          </a:solidFill>
          <a:ln w="12700">
            <a:solidFill>
              <a:srgbClr val="43A3A3"/>
            </a:solidFill>
            <a:prstDash val="solid"/>
          </a:ln>
        </p:spPr>
      </p:sp>
      <p:sp>
        <p:nvSpPr>
          <p:cNvPr id="164" name="Shape 162"/>
          <p:cNvSpPr/>
          <p:nvPr/>
        </p:nvSpPr>
        <p:spPr>
          <a:xfrm>
            <a:off x="6138597" y="2350562"/>
            <a:ext cx="60279" cy="60279"/>
          </a:xfrm>
          <a:prstGeom prst="rect">
            <a:avLst/>
          </a:prstGeom>
          <a:solidFill>
            <a:srgbClr val="43A3A3"/>
          </a:solidFill>
          <a:ln w="12700">
            <a:solidFill>
              <a:srgbClr val="43A3A3"/>
            </a:solidFill>
            <a:prstDash val="solid"/>
          </a:ln>
        </p:spPr>
      </p:sp>
      <p:sp>
        <p:nvSpPr>
          <p:cNvPr id="165" name="Shape 163"/>
          <p:cNvSpPr/>
          <p:nvPr/>
        </p:nvSpPr>
        <p:spPr>
          <a:xfrm>
            <a:off x="5520131" y="2419280"/>
            <a:ext cx="60279" cy="60279"/>
          </a:xfrm>
          <a:prstGeom prst="rect">
            <a:avLst/>
          </a:prstGeom>
          <a:solidFill>
            <a:srgbClr val="43A3A3"/>
          </a:solidFill>
          <a:ln w="12700">
            <a:solidFill>
              <a:srgbClr val="43A3A3"/>
            </a:solidFill>
            <a:prstDash val="solid"/>
          </a:ln>
        </p:spPr>
      </p:sp>
      <p:sp>
        <p:nvSpPr>
          <p:cNvPr id="166" name="Shape 164"/>
          <p:cNvSpPr/>
          <p:nvPr/>
        </p:nvSpPr>
        <p:spPr>
          <a:xfrm>
            <a:off x="5588850" y="2419280"/>
            <a:ext cx="60279" cy="60279"/>
          </a:xfrm>
          <a:prstGeom prst="rect">
            <a:avLst/>
          </a:prstGeom>
          <a:solidFill>
            <a:srgbClr val="43A3A3"/>
          </a:solidFill>
          <a:ln w="12700">
            <a:solidFill>
              <a:srgbClr val="43A3A3"/>
            </a:solidFill>
            <a:prstDash val="solid"/>
          </a:ln>
        </p:spPr>
      </p:sp>
      <p:sp>
        <p:nvSpPr>
          <p:cNvPr id="167" name="Shape 165"/>
          <p:cNvSpPr/>
          <p:nvPr/>
        </p:nvSpPr>
        <p:spPr>
          <a:xfrm>
            <a:off x="5657568" y="2419280"/>
            <a:ext cx="60279" cy="60279"/>
          </a:xfrm>
          <a:prstGeom prst="rect">
            <a:avLst/>
          </a:prstGeom>
          <a:solidFill>
            <a:srgbClr val="43A3A3"/>
          </a:solidFill>
          <a:ln w="12700">
            <a:solidFill>
              <a:srgbClr val="43A3A3"/>
            </a:solidFill>
            <a:prstDash val="solid"/>
          </a:ln>
        </p:spPr>
      </p:sp>
      <p:sp>
        <p:nvSpPr>
          <p:cNvPr id="168" name="Shape 166"/>
          <p:cNvSpPr/>
          <p:nvPr/>
        </p:nvSpPr>
        <p:spPr>
          <a:xfrm>
            <a:off x="5726286" y="2419280"/>
            <a:ext cx="60279" cy="60279"/>
          </a:xfrm>
          <a:prstGeom prst="rect">
            <a:avLst/>
          </a:prstGeom>
          <a:solidFill>
            <a:srgbClr val="43A3A3"/>
          </a:solidFill>
          <a:ln w="12700">
            <a:solidFill>
              <a:srgbClr val="43A3A3"/>
            </a:solidFill>
            <a:prstDash val="solid"/>
          </a:ln>
        </p:spPr>
      </p:sp>
      <p:sp>
        <p:nvSpPr>
          <p:cNvPr id="169" name="Shape 167"/>
          <p:cNvSpPr/>
          <p:nvPr/>
        </p:nvSpPr>
        <p:spPr>
          <a:xfrm>
            <a:off x="5795005" y="2419280"/>
            <a:ext cx="60279" cy="60279"/>
          </a:xfrm>
          <a:prstGeom prst="rect">
            <a:avLst/>
          </a:prstGeom>
          <a:solidFill>
            <a:srgbClr val="43A3A3"/>
          </a:solidFill>
          <a:ln w="12700">
            <a:solidFill>
              <a:srgbClr val="43A3A3"/>
            </a:solidFill>
            <a:prstDash val="solid"/>
          </a:ln>
        </p:spPr>
      </p:sp>
      <p:sp>
        <p:nvSpPr>
          <p:cNvPr id="170" name="Shape 168"/>
          <p:cNvSpPr/>
          <p:nvPr/>
        </p:nvSpPr>
        <p:spPr>
          <a:xfrm>
            <a:off x="5863723" y="2419280"/>
            <a:ext cx="60279" cy="60279"/>
          </a:xfrm>
          <a:prstGeom prst="rect">
            <a:avLst/>
          </a:prstGeom>
          <a:solidFill>
            <a:srgbClr val="E3E2DA"/>
          </a:solidFill>
          <a:ln w="12700">
            <a:solidFill>
              <a:srgbClr val="E3E2DA"/>
            </a:solidFill>
            <a:prstDash val="solid"/>
          </a:ln>
        </p:spPr>
      </p:sp>
      <p:sp>
        <p:nvSpPr>
          <p:cNvPr id="171" name="Shape 169"/>
          <p:cNvSpPr/>
          <p:nvPr/>
        </p:nvSpPr>
        <p:spPr>
          <a:xfrm>
            <a:off x="5932441" y="2419280"/>
            <a:ext cx="60279" cy="60279"/>
          </a:xfrm>
          <a:prstGeom prst="rect">
            <a:avLst/>
          </a:prstGeom>
          <a:solidFill>
            <a:srgbClr val="E3E2DA"/>
          </a:solidFill>
          <a:ln w="12700">
            <a:solidFill>
              <a:srgbClr val="E3E2DA"/>
            </a:solidFill>
            <a:prstDash val="solid"/>
          </a:ln>
        </p:spPr>
      </p:sp>
      <p:sp>
        <p:nvSpPr>
          <p:cNvPr id="172" name="Shape 170"/>
          <p:cNvSpPr/>
          <p:nvPr/>
        </p:nvSpPr>
        <p:spPr>
          <a:xfrm>
            <a:off x="6001160" y="2419280"/>
            <a:ext cx="60279" cy="60279"/>
          </a:xfrm>
          <a:prstGeom prst="rect">
            <a:avLst/>
          </a:prstGeom>
          <a:solidFill>
            <a:srgbClr val="E3E2DA"/>
          </a:solidFill>
          <a:ln w="12700">
            <a:solidFill>
              <a:srgbClr val="E3E2DA"/>
            </a:solidFill>
            <a:prstDash val="solid"/>
          </a:ln>
        </p:spPr>
      </p:sp>
      <p:sp>
        <p:nvSpPr>
          <p:cNvPr id="173" name="Shape 171"/>
          <p:cNvSpPr/>
          <p:nvPr/>
        </p:nvSpPr>
        <p:spPr>
          <a:xfrm>
            <a:off x="6069878" y="2419280"/>
            <a:ext cx="60279" cy="60279"/>
          </a:xfrm>
          <a:prstGeom prst="rect">
            <a:avLst/>
          </a:prstGeom>
          <a:solidFill>
            <a:srgbClr val="E3E2DA"/>
          </a:solidFill>
          <a:ln w="12700">
            <a:solidFill>
              <a:srgbClr val="E3E2DA"/>
            </a:solidFill>
            <a:prstDash val="solid"/>
          </a:ln>
        </p:spPr>
      </p:sp>
      <p:sp>
        <p:nvSpPr>
          <p:cNvPr id="174" name="Shape 172"/>
          <p:cNvSpPr/>
          <p:nvPr/>
        </p:nvSpPr>
        <p:spPr>
          <a:xfrm>
            <a:off x="6138597" y="2419280"/>
            <a:ext cx="60279" cy="60279"/>
          </a:xfrm>
          <a:prstGeom prst="rect">
            <a:avLst/>
          </a:prstGeom>
          <a:solidFill>
            <a:srgbClr val="E3E2DA"/>
          </a:solidFill>
          <a:ln w="12700">
            <a:solidFill>
              <a:srgbClr val="E3E2DA"/>
            </a:solidFill>
            <a:prstDash val="solid"/>
          </a:ln>
        </p:spPr>
      </p:sp>
      <p:sp>
        <p:nvSpPr>
          <p:cNvPr id="175" name="Shape 173"/>
          <p:cNvSpPr/>
          <p:nvPr/>
        </p:nvSpPr>
        <p:spPr>
          <a:xfrm>
            <a:off x="5520131" y="2487998"/>
            <a:ext cx="60279" cy="60279"/>
          </a:xfrm>
          <a:prstGeom prst="rect">
            <a:avLst/>
          </a:prstGeom>
          <a:solidFill>
            <a:srgbClr val="E3E2DA"/>
          </a:solidFill>
          <a:ln w="12700">
            <a:solidFill>
              <a:srgbClr val="E3E2DA"/>
            </a:solidFill>
            <a:prstDash val="solid"/>
          </a:ln>
        </p:spPr>
      </p:sp>
      <p:sp>
        <p:nvSpPr>
          <p:cNvPr id="176" name="Shape 174"/>
          <p:cNvSpPr/>
          <p:nvPr/>
        </p:nvSpPr>
        <p:spPr>
          <a:xfrm>
            <a:off x="5588850" y="2487998"/>
            <a:ext cx="60279" cy="60279"/>
          </a:xfrm>
          <a:prstGeom prst="rect">
            <a:avLst/>
          </a:prstGeom>
          <a:solidFill>
            <a:srgbClr val="E3E2DA"/>
          </a:solidFill>
          <a:ln w="12700">
            <a:solidFill>
              <a:srgbClr val="E3E2DA"/>
            </a:solidFill>
            <a:prstDash val="solid"/>
          </a:ln>
        </p:spPr>
      </p:sp>
      <p:sp>
        <p:nvSpPr>
          <p:cNvPr id="177" name="Shape 175"/>
          <p:cNvSpPr/>
          <p:nvPr/>
        </p:nvSpPr>
        <p:spPr>
          <a:xfrm>
            <a:off x="5657568" y="2487998"/>
            <a:ext cx="60279" cy="60279"/>
          </a:xfrm>
          <a:prstGeom prst="rect">
            <a:avLst/>
          </a:prstGeom>
          <a:solidFill>
            <a:srgbClr val="E3E2DA"/>
          </a:solidFill>
          <a:ln w="12700">
            <a:solidFill>
              <a:srgbClr val="E3E2DA"/>
            </a:solidFill>
            <a:prstDash val="solid"/>
          </a:ln>
        </p:spPr>
      </p:sp>
      <p:sp>
        <p:nvSpPr>
          <p:cNvPr id="178" name="Shape 176"/>
          <p:cNvSpPr/>
          <p:nvPr/>
        </p:nvSpPr>
        <p:spPr>
          <a:xfrm>
            <a:off x="5726286" y="2487998"/>
            <a:ext cx="60279" cy="60279"/>
          </a:xfrm>
          <a:prstGeom prst="rect">
            <a:avLst/>
          </a:prstGeom>
          <a:solidFill>
            <a:srgbClr val="E3E2DA"/>
          </a:solidFill>
          <a:ln w="12700">
            <a:solidFill>
              <a:srgbClr val="E3E2DA"/>
            </a:solidFill>
            <a:prstDash val="solid"/>
          </a:ln>
        </p:spPr>
      </p:sp>
      <p:sp>
        <p:nvSpPr>
          <p:cNvPr id="179" name="Shape 177"/>
          <p:cNvSpPr/>
          <p:nvPr/>
        </p:nvSpPr>
        <p:spPr>
          <a:xfrm>
            <a:off x="5795005" y="2487998"/>
            <a:ext cx="60279" cy="60279"/>
          </a:xfrm>
          <a:prstGeom prst="rect">
            <a:avLst/>
          </a:prstGeom>
          <a:solidFill>
            <a:srgbClr val="E3E2DA"/>
          </a:solidFill>
          <a:ln w="12700">
            <a:solidFill>
              <a:srgbClr val="E3E2DA"/>
            </a:solidFill>
            <a:prstDash val="solid"/>
          </a:ln>
        </p:spPr>
      </p:sp>
      <p:sp>
        <p:nvSpPr>
          <p:cNvPr id="180" name="Shape 178"/>
          <p:cNvSpPr/>
          <p:nvPr/>
        </p:nvSpPr>
        <p:spPr>
          <a:xfrm>
            <a:off x="5863723" y="2487998"/>
            <a:ext cx="60279" cy="60279"/>
          </a:xfrm>
          <a:prstGeom prst="rect">
            <a:avLst/>
          </a:prstGeom>
          <a:solidFill>
            <a:srgbClr val="E3E2DA"/>
          </a:solidFill>
          <a:ln w="12700">
            <a:solidFill>
              <a:srgbClr val="E3E2DA"/>
            </a:solidFill>
            <a:prstDash val="solid"/>
          </a:ln>
        </p:spPr>
      </p:sp>
      <p:sp>
        <p:nvSpPr>
          <p:cNvPr id="181" name="Shape 179"/>
          <p:cNvSpPr/>
          <p:nvPr/>
        </p:nvSpPr>
        <p:spPr>
          <a:xfrm>
            <a:off x="5932441" y="2487998"/>
            <a:ext cx="60279" cy="60279"/>
          </a:xfrm>
          <a:prstGeom prst="rect">
            <a:avLst/>
          </a:prstGeom>
          <a:solidFill>
            <a:srgbClr val="E3E2DA"/>
          </a:solidFill>
          <a:ln w="12700">
            <a:solidFill>
              <a:srgbClr val="E3E2DA"/>
            </a:solidFill>
            <a:prstDash val="solid"/>
          </a:ln>
        </p:spPr>
      </p:sp>
      <p:sp>
        <p:nvSpPr>
          <p:cNvPr id="182" name="Shape 180"/>
          <p:cNvSpPr/>
          <p:nvPr/>
        </p:nvSpPr>
        <p:spPr>
          <a:xfrm>
            <a:off x="6001160" y="2487998"/>
            <a:ext cx="60279" cy="60279"/>
          </a:xfrm>
          <a:prstGeom prst="rect">
            <a:avLst/>
          </a:prstGeom>
          <a:solidFill>
            <a:srgbClr val="E3E2DA"/>
          </a:solidFill>
          <a:ln w="12700">
            <a:solidFill>
              <a:srgbClr val="E3E2DA"/>
            </a:solidFill>
            <a:prstDash val="solid"/>
          </a:ln>
        </p:spPr>
      </p:sp>
      <p:sp>
        <p:nvSpPr>
          <p:cNvPr id="183" name="Shape 181"/>
          <p:cNvSpPr/>
          <p:nvPr/>
        </p:nvSpPr>
        <p:spPr>
          <a:xfrm>
            <a:off x="6069878" y="2487998"/>
            <a:ext cx="60279" cy="60279"/>
          </a:xfrm>
          <a:prstGeom prst="rect">
            <a:avLst/>
          </a:prstGeom>
          <a:solidFill>
            <a:srgbClr val="E3E2DA"/>
          </a:solidFill>
          <a:ln w="12700">
            <a:solidFill>
              <a:srgbClr val="E3E2DA"/>
            </a:solidFill>
            <a:prstDash val="solid"/>
          </a:ln>
        </p:spPr>
      </p:sp>
      <p:sp>
        <p:nvSpPr>
          <p:cNvPr id="184" name="Shape 182"/>
          <p:cNvSpPr/>
          <p:nvPr/>
        </p:nvSpPr>
        <p:spPr>
          <a:xfrm>
            <a:off x="6138597" y="2487998"/>
            <a:ext cx="60279" cy="60279"/>
          </a:xfrm>
          <a:prstGeom prst="rect">
            <a:avLst/>
          </a:prstGeom>
          <a:solidFill>
            <a:srgbClr val="E3E2DA"/>
          </a:solidFill>
          <a:ln w="12700">
            <a:solidFill>
              <a:srgbClr val="E3E2DA"/>
            </a:solidFill>
            <a:prstDash val="solid"/>
          </a:ln>
        </p:spPr>
      </p:sp>
      <p:sp>
        <p:nvSpPr>
          <p:cNvPr id="185" name="Shape 183"/>
          <p:cNvSpPr/>
          <p:nvPr/>
        </p:nvSpPr>
        <p:spPr>
          <a:xfrm>
            <a:off x="5520131" y="2556717"/>
            <a:ext cx="60279" cy="60279"/>
          </a:xfrm>
          <a:prstGeom prst="rect">
            <a:avLst/>
          </a:prstGeom>
          <a:solidFill>
            <a:srgbClr val="E3E2DA"/>
          </a:solidFill>
          <a:ln w="12700">
            <a:solidFill>
              <a:srgbClr val="E3E2DA"/>
            </a:solidFill>
            <a:prstDash val="solid"/>
          </a:ln>
        </p:spPr>
      </p:sp>
      <p:sp>
        <p:nvSpPr>
          <p:cNvPr id="186" name="Shape 184"/>
          <p:cNvSpPr/>
          <p:nvPr/>
        </p:nvSpPr>
        <p:spPr>
          <a:xfrm>
            <a:off x="5588850" y="2556717"/>
            <a:ext cx="60279" cy="60279"/>
          </a:xfrm>
          <a:prstGeom prst="rect">
            <a:avLst/>
          </a:prstGeom>
          <a:solidFill>
            <a:srgbClr val="E3E2DA"/>
          </a:solidFill>
          <a:ln w="12700">
            <a:solidFill>
              <a:srgbClr val="E3E2DA"/>
            </a:solidFill>
            <a:prstDash val="solid"/>
          </a:ln>
        </p:spPr>
      </p:sp>
      <p:sp>
        <p:nvSpPr>
          <p:cNvPr id="187" name="Shape 185"/>
          <p:cNvSpPr/>
          <p:nvPr/>
        </p:nvSpPr>
        <p:spPr>
          <a:xfrm>
            <a:off x="5657568" y="2556717"/>
            <a:ext cx="60279" cy="60279"/>
          </a:xfrm>
          <a:prstGeom prst="rect">
            <a:avLst/>
          </a:prstGeom>
          <a:solidFill>
            <a:srgbClr val="E3E2DA"/>
          </a:solidFill>
          <a:ln w="12700">
            <a:solidFill>
              <a:srgbClr val="E3E2DA"/>
            </a:solidFill>
            <a:prstDash val="solid"/>
          </a:ln>
        </p:spPr>
      </p:sp>
      <p:sp>
        <p:nvSpPr>
          <p:cNvPr id="188" name="Shape 186"/>
          <p:cNvSpPr/>
          <p:nvPr/>
        </p:nvSpPr>
        <p:spPr>
          <a:xfrm>
            <a:off x="5726286" y="2556717"/>
            <a:ext cx="60279" cy="60279"/>
          </a:xfrm>
          <a:prstGeom prst="rect">
            <a:avLst/>
          </a:prstGeom>
          <a:solidFill>
            <a:srgbClr val="E3E2DA"/>
          </a:solidFill>
          <a:ln w="12700">
            <a:solidFill>
              <a:srgbClr val="E3E2DA"/>
            </a:solidFill>
            <a:prstDash val="solid"/>
          </a:ln>
        </p:spPr>
      </p:sp>
      <p:sp>
        <p:nvSpPr>
          <p:cNvPr id="189" name="Shape 187"/>
          <p:cNvSpPr/>
          <p:nvPr/>
        </p:nvSpPr>
        <p:spPr>
          <a:xfrm>
            <a:off x="5795005" y="2556717"/>
            <a:ext cx="60279" cy="60279"/>
          </a:xfrm>
          <a:prstGeom prst="rect">
            <a:avLst/>
          </a:prstGeom>
          <a:solidFill>
            <a:srgbClr val="E3E2DA"/>
          </a:solidFill>
          <a:ln w="12700">
            <a:solidFill>
              <a:srgbClr val="E3E2DA"/>
            </a:solidFill>
            <a:prstDash val="solid"/>
          </a:ln>
        </p:spPr>
      </p:sp>
      <p:sp>
        <p:nvSpPr>
          <p:cNvPr id="190" name="Shape 188"/>
          <p:cNvSpPr/>
          <p:nvPr/>
        </p:nvSpPr>
        <p:spPr>
          <a:xfrm>
            <a:off x="5863723" y="2556717"/>
            <a:ext cx="60279" cy="60279"/>
          </a:xfrm>
          <a:prstGeom prst="rect">
            <a:avLst/>
          </a:prstGeom>
          <a:solidFill>
            <a:srgbClr val="E3E2DA"/>
          </a:solidFill>
          <a:ln w="12700">
            <a:solidFill>
              <a:srgbClr val="E3E2DA"/>
            </a:solidFill>
            <a:prstDash val="solid"/>
          </a:ln>
        </p:spPr>
      </p:sp>
      <p:sp>
        <p:nvSpPr>
          <p:cNvPr id="191" name="Shape 189"/>
          <p:cNvSpPr/>
          <p:nvPr/>
        </p:nvSpPr>
        <p:spPr>
          <a:xfrm>
            <a:off x="5932441" y="2556717"/>
            <a:ext cx="60279" cy="60279"/>
          </a:xfrm>
          <a:prstGeom prst="rect">
            <a:avLst/>
          </a:prstGeom>
          <a:solidFill>
            <a:srgbClr val="E3E2DA"/>
          </a:solidFill>
          <a:ln w="12700">
            <a:solidFill>
              <a:srgbClr val="E3E2DA"/>
            </a:solidFill>
            <a:prstDash val="solid"/>
          </a:ln>
        </p:spPr>
      </p:sp>
      <p:sp>
        <p:nvSpPr>
          <p:cNvPr id="192" name="Shape 190"/>
          <p:cNvSpPr/>
          <p:nvPr/>
        </p:nvSpPr>
        <p:spPr>
          <a:xfrm>
            <a:off x="6001160" y="2556717"/>
            <a:ext cx="60279" cy="60279"/>
          </a:xfrm>
          <a:prstGeom prst="rect">
            <a:avLst/>
          </a:prstGeom>
          <a:solidFill>
            <a:srgbClr val="E3E2DA"/>
          </a:solidFill>
          <a:ln w="12700">
            <a:solidFill>
              <a:srgbClr val="E3E2DA"/>
            </a:solidFill>
            <a:prstDash val="solid"/>
          </a:ln>
        </p:spPr>
      </p:sp>
      <p:sp>
        <p:nvSpPr>
          <p:cNvPr id="193" name="Shape 191"/>
          <p:cNvSpPr/>
          <p:nvPr/>
        </p:nvSpPr>
        <p:spPr>
          <a:xfrm>
            <a:off x="6069878" y="2556717"/>
            <a:ext cx="60279" cy="60279"/>
          </a:xfrm>
          <a:prstGeom prst="rect">
            <a:avLst/>
          </a:prstGeom>
          <a:solidFill>
            <a:srgbClr val="E3E2DA"/>
          </a:solidFill>
          <a:ln w="12700">
            <a:solidFill>
              <a:srgbClr val="E3E2DA"/>
            </a:solidFill>
            <a:prstDash val="solid"/>
          </a:ln>
        </p:spPr>
      </p:sp>
      <p:sp>
        <p:nvSpPr>
          <p:cNvPr id="194" name="Shape 192"/>
          <p:cNvSpPr/>
          <p:nvPr/>
        </p:nvSpPr>
        <p:spPr>
          <a:xfrm>
            <a:off x="6138597" y="2556717"/>
            <a:ext cx="60279" cy="60279"/>
          </a:xfrm>
          <a:prstGeom prst="rect">
            <a:avLst/>
          </a:prstGeom>
          <a:solidFill>
            <a:srgbClr val="E3E2DA"/>
          </a:solidFill>
          <a:ln w="12700">
            <a:solidFill>
              <a:srgbClr val="E3E2DA"/>
            </a:solidFill>
            <a:prstDash val="solid"/>
          </a:ln>
        </p:spPr>
      </p:sp>
      <p:sp>
        <p:nvSpPr>
          <p:cNvPr id="195" name="Shape 193"/>
          <p:cNvSpPr/>
          <p:nvPr/>
        </p:nvSpPr>
        <p:spPr>
          <a:xfrm>
            <a:off x="5520131" y="2625435"/>
            <a:ext cx="60279" cy="60279"/>
          </a:xfrm>
          <a:prstGeom prst="rect">
            <a:avLst/>
          </a:prstGeom>
          <a:solidFill>
            <a:srgbClr val="E3E2DA"/>
          </a:solidFill>
          <a:ln w="12700">
            <a:solidFill>
              <a:srgbClr val="E3E2DA"/>
            </a:solidFill>
            <a:prstDash val="solid"/>
          </a:ln>
        </p:spPr>
      </p:sp>
      <p:sp>
        <p:nvSpPr>
          <p:cNvPr id="196" name="Shape 194"/>
          <p:cNvSpPr/>
          <p:nvPr/>
        </p:nvSpPr>
        <p:spPr>
          <a:xfrm>
            <a:off x="5588850" y="2625435"/>
            <a:ext cx="60279" cy="60279"/>
          </a:xfrm>
          <a:prstGeom prst="rect">
            <a:avLst/>
          </a:prstGeom>
          <a:solidFill>
            <a:srgbClr val="E3E2DA"/>
          </a:solidFill>
          <a:ln w="12700">
            <a:solidFill>
              <a:srgbClr val="E3E2DA"/>
            </a:solidFill>
            <a:prstDash val="solid"/>
          </a:ln>
        </p:spPr>
      </p:sp>
      <p:sp>
        <p:nvSpPr>
          <p:cNvPr id="197" name="Shape 195"/>
          <p:cNvSpPr/>
          <p:nvPr/>
        </p:nvSpPr>
        <p:spPr>
          <a:xfrm>
            <a:off x="5657568" y="2625435"/>
            <a:ext cx="60279" cy="60279"/>
          </a:xfrm>
          <a:prstGeom prst="rect">
            <a:avLst/>
          </a:prstGeom>
          <a:solidFill>
            <a:srgbClr val="E3E2DA"/>
          </a:solidFill>
          <a:ln w="12700">
            <a:solidFill>
              <a:srgbClr val="E3E2DA"/>
            </a:solidFill>
            <a:prstDash val="solid"/>
          </a:ln>
        </p:spPr>
      </p:sp>
      <p:sp>
        <p:nvSpPr>
          <p:cNvPr id="198" name="Shape 196"/>
          <p:cNvSpPr/>
          <p:nvPr/>
        </p:nvSpPr>
        <p:spPr>
          <a:xfrm>
            <a:off x="5726286" y="2625435"/>
            <a:ext cx="60279" cy="60279"/>
          </a:xfrm>
          <a:prstGeom prst="rect">
            <a:avLst/>
          </a:prstGeom>
          <a:solidFill>
            <a:srgbClr val="E3E2DA"/>
          </a:solidFill>
          <a:ln w="12700">
            <a:solidFill>
              <a:srgbClr val="E3E2DA"/>
            </a:solidFill>
            <a:prstDash val="solid"/>
          </a:ln>
        </p:spPr>
      </p:sp>
      <p:sp>
        <p:nvSpPr>
          <p:cNvPr id="199" name="Shape 197"/>
          <p:cNvSpPr/>
          <p:nvPr/>
        </p:nvSpPr>
        <p:spPr>
          <a:xfrm>
            <a:off x="5795005" y="2625435"/>
            <a:ext cx="60279" cy="60279"/>
          </a:xfrm>
          <a:prstGeom prst="rect">
            <a:avLst/>
          </a:prstGeom>
          <a:solidFill>
            <a:srgbClr val="E3E2DA"/>
          </a:solidFill>
          <a:ln w="12700">
            <a:solidFill>
              <a:srgbClr val="E3E2DA"/>
            </a:solidFill>
            <a:prstDash val="solid"/>
          </a:ln>
        </p:spPr>
      </p:sp>
      <p:sp>
        <p:nvSpPr>
          <p:cNvPr id="200" name="Shape 198"/>
          <p:cNvSpPr/>
          <p:nvPr/>
        </p:nvSpPr>
        <p:spPr>
          <a:xfrm>
            <a:off x="5863723" y="2625435"/>
            <a:ext cx="60279" cy="60279"/>
          </a:xfrm>
          <a:prstGeom prst="rect">
            <a:avLst/>
          </a:prstGeom>
          <a:solidFill>
            <a:srgbClr val="E3E2DA"/>
          </a:solidFill>
          <a:ln w="12700">
            <a:solidFill>
              <a:srgbClr val="E3E2DA"/>
            </a:solidFill>
            <a:prstDash val="solid"/>
          </a:ln>
        </p:spPr>
      </p:sp>
      <p:sp>
        <p:nvSpPr>
          <p:cNvPr id="201" name="Shape 199"/>
          <p:cNvSpPr/>
          <p:nvPr/>
        </p:nvSpPr>
        <p:spPr>
          <a:xfrm>
            <a:off x="5932441" y="2625435"/>
            <a:ext cx="60279" cy="60279"/>
          </a:xfrm>
          <a:prstGeom prst="rect">
            <a:avLst/>
          </a:prstGeom>
          <a:solidFill>
            <a:srgbClr val="E3E2DA"/>
          </a:solidFill>
          <a:ln w="12700">
            <a:solidFill>
              <a:srgbClr val="E3E2DA"/>
            </a:solidFill>
            <a:prstDash val="solid"/>
          </a:ln>
        </p:spPr>
      </p:sp>
      <p:sp>
        <p:nvSpPr>
          <p:cNvPr id="202" name="Shape 200"/>
          <p:cNvSpPr/>
          <p:nvPr/>
        </p:nvSpPr>
        <p:spPr>
          <a:xfrm>
            <a:off x="6001160" y="2625435"/>
            <a:ext cx="60279" cy="60279"/>
          </a:xfrm>
          <a:prstGeom prst="rect">
            <a:avLst/>
          </a:prstGeom>
          <a:solidFill>
            <a:srgbClr val="E3E2DA"/>
          </a:solidFill>
          <a:ln w="12700">
            <a:solidFill>
              <a:srgbClr val="E3E2DA"/>
            </a:solidFill>
            <a:prstDash val="solid"/>
          </a:ln>
        </p:spPr>
      </p:sp>
      <p:sp>
        <p:nvSpPr>
          <p:cNvPr id="203" name="Shape 201"/>
          <p:cNvSpPr/>
          <p:nvPr/>
        </p:nvSpPr>
        <p:spPr>
          <a:xfrm>
            <a:off x="6069878" y="2625435"/>
            <a:ext cx="60279" cy="60279"/>
          </a:xfrm>
          <a:prstGeom prst="rect">
            <a:avLst/>
          </a:prstGeom>
          <a:solidFill>
            <a:srgbClr val="E3E2DA"/>
          </a:solidFill>
          <a:ln w="12700">
            <a:solidFill>
              <a:srgbClr val="E3E2DA"/>
            </a:solidFill>
            <a:prstDash val="solid"/>
          </a:ln>
        </p:spPr>
      </p:sp>
      <p:sp>
        <p:nvSpPr>
          <p:cNvPr id="204" name="Shape 202"/>
          <p:cNvSpPr/>
          <p:nvPr/>
        </p:nvSpPr>
        <p:spPr>
          <a:xfrm>
            <a:off x="6138597" y="2625435"/>
            <a:ext cx="60279" cy="60279"/>
          </a:xfrm>
          <a:prstGeom prst="rect">
            <a:avLst/>
          </a:prstGeom>
          <a:solidFill>
            <a:srgbClr val="E3E2DA"/>
          </a:solidFill>
          <a:ln w="12700">
            <a:solidFill>
              <a:srgbClr val="E3E2DA"/>
            </a:solidFill>
            <a:prstDash val="solid"/>
          </a:ln>
        </p:spPr>
      </p:sp>
      <p:sp>
        <p:nvSpPr>
          <p:cNvPr id="205" name="Shape 203"/>
          <p:cNvSpPr/>
          <p:nvPr/>
        </p:nvSpPr>
        <p:spPr>
          <a:xfrm>
            <a:off x="5520131" y="2694153"/>
            <a:ext cx="60279" cy="60279"/>
          </a:xfrm>
          <a:prstGeom prst="rect">
            <a:avLst/>
          </a:prstGeom>
          <a:solidFill>
            <a:srgbClr val="E3E2DA"/>
          </a:solidFill>
          <a:ln w="12700">
            <a:solidFill>
              <a:srgbClr val="E3E2DA"/>
            </a:solidFill>
            <a:prstDash val="solid"/>
          </a:ln>
        </p:spPr>
      </p:sp>
      <p:sp>
        <p:nvSpPr>
          <p:cNvPr id="206" name="Shape 204"/>
          <p:cNvSpPr/>
          <p:nvPr/>
        </p:nvSpPr>
        <p:spPr>
          <a:xfrm>
            <a:off x="5588850" y="2694153"/>
            <a:ext cx="60279" cy="60279"/>
          </a:xfrm>
          <a:prstGeom prst="rect">
            <a:avLst/>
          </a:prstGeom>
          <a:solidFill>
            <a:srgbClr val="E3E2DA"/>
          </a:solidFill>
          <a:ln w="12700">
            <a:solidFill>
              <a:srgbClr val="E3E2DA"/>
            </a:solidFill>
            <a:prstDash val="solid"/>
          </a:ln>
        </p:spPr>
      </p:sp>
      <p:sp>
        <p:nvSpPr>
          <p:cNvPr id="207" name="Shape 205"/>
          <p:cNvSpPr/>
          <p:nvPr/>
        </p:nvSpPr>
        <p:spPr>
          <a:xfrm>
            <a:off x="5657568" y="2694153"/>
            <a:ext cx="60279" cy="60279"/>
          </a:xfrm>
          <a:prstGeom prst="rect">
            <a:avLst/>
          </a:prstGeom>
          <a:solidFill>
            <a:srgbClr val="E3E2DA"/>
          </a:solidFill>
          <a:ln w="12700">
            <a:solidFill>
              <a:srgbClr val="E3E2DA"/>
            </a:solidFill>
            <a:prstDash val="solid"/>
          </a:ln>
        </p:spPr>
      </p:sp>
      <p:sp>
        <p:nvSpPr>
          <p:cNvPr id="208" name="Shape 206"/>
          <p:cNvSpPr/>
          <p:nvPr/>
        </p:nvSpPr>
        <p:spPr>
          <a:xfrm>
            <a:off x="5726286" y="2694153"/>
            <a:ext cx="60279" cy="60279"/>
          </a:xfrm>
          <a:prstGeom prst="rect">
            <a:avLst/>
          </a:prstGeom>
          <a:solidFill>
            <a:srgbClr val="E3E2DA"/>
          </a:solidFill>
          <a:ln w="12700">
            <a:solidFill>
              <a:srgbClr val="E3E2DA"/>
            </a:solidFill>
            <a:prstDash val="solid"/>
          </a:ln>
        </p:spPr>
      </p:sp>
      <p:sp>
        <p:nvSpPr>
          <p:cNvPr id="209" name="Shape 207"/>
          <p:cNvSpPr/>
          <p:nvPr/>
        </p:nvSpPr>
        <p:spPr>
          <a:xfrm>
            <a:off x="5795005" y="2694153"/>
            <a:ext cx="60279" cy="60279"/>
          </a:xfrm>
          <a:prstGeom prst="rect">
            <a:avLst/>
          </a:prstGeom>
          <a:solidFill>
            <a:srgbClr val="E3E2DA"/>
          </a:solidFill>
          <a:ln w="12700">
            <a:solidFill>
              <a:srgbClr val="E3E2DA"/>
            </a:solidFill>
            <a:prstDash val="solid"/>
          </a:ln>
        </p:spPr>
      </p:sp>
      <p:sp>
        <p:nvSpPr>
          <p:cNvPr id="210" name="Shape 208"/>
          <p:cNvSpPr/>
          <p:nvPr/>
        </p:nvSpPr>
        <p:spPr>
          <a:xfrm>
            <a:off x="5863723" y="2694153"/>
            <a:ext cx="60279" cy="60279"/>
          </a:xfrm>
          <a:prstGeom prst="rect">
            <a:avLst/>
          </a:prstGeom>
          <a:solidFill>
            <a:srgbClr val="E3E2DA"/>
          </a:solidFill>
          <a:ln w="12700">
            <a:solidFill>
              <a:srgbClr val="E3E2DA"/>
            </a:solidFill>
            <a:prstDash val="solid"/>
          </a:ln>
        </p:spPr>
      </p:sp>
      <p:sp>
        <p:nvSpPr>
          <p:cNvPr id="211" name="Shape 209"/>
          <p:cNvSpPr/>
          <p:nvPr/>
        </p:nvSpPr>
        <p:spPr>
          <a:xfrm>
            <a:off x="5932441" y="2694153"/>
            <a:ext cx="60279" cy="60279"/>
          </a:xfrm>
          <a:prstGeom prst="rect">
            <a:avLst/>
          </a:prstGeom>
          <a:solidFill>
            <a:srgbClr val="E3E2DA"/>
          </a:solidFill>
          <a:ln w="12700">
            <a:solidFill>
              <a:srgbClr val="E3E2DA"/>
            </a:solidFill>
            <a:prstDash val="solid"/>
          </a:ln>
        </p:spPr>
      </p:sp>
      <p:sp>
        <p:nvSpPr>
          <p:cNvPr id="212" name="Shape 210"/>
          <p:cNvSpPr/>
          <p:nvPr/>
        </p:nvSpPr>
        <p:spPr>
          <a:xfrm>
            <a:off x="6001160" y="2694153"/>
            <a:ext cx="60279" cy="60279"/>
          </a:xfrm>
          <a:prstGeom prst="rect">
            <a:avLst/>
          </a:prstGeom>
          <a:solidFill>
            <a:srgbClr val="E3E2DA"/>
          </a:solidFill>
          <a:ln w="12700">
            <a:solidFill>
              <a:srgbClr val="E3E2DA"/>
            </a:solidFill>
            <a:prstDash val="solid"/>
          </a:ln>
        </p:spPr>
      </p:sp>
      <p:sp>
        <p:nvSpPr>
          <p:cNvPr id="213" name="Shape 211"/>
          <p:cNvSpPr/>
          <p:nvPr/>
        </p:nvSpPr>
        <p:spPr>
          <a:xfrm>
            <a:off x="6069878" y="2694153"/>
            <a:ext cx="60279" cy="60279"/>
          </a:xfrm>
          <a:prstGeom prst="rect">
            <a:avLst/>
          </a:prstGeom>
          <a:solidFill>
            <a:srgbClr val="E3E2DA"/>
          </a:solidFill>
          <a:ln w="12700">
            <a:solidFill>
              <a:srgbClr val="E3E2DA"/>
            </a:solidFill>
            <a:prstDash val="solid"/>
          </a:ln>
        </p:spPr>
      </p:sp>
      <p:sp>
        <p:nvSpPr>
          <p:cNvPr id="214" name="Shape 212"/>
          <p:cNvSpPr/>
          <p:nvPr/>
        </p:nvSpPr>
        <p:spPr>
          <a:xfrm>
            <a:off x="6138597" y="2694153"/>
            <a:ext cx="60279" cy="60279"/>
          </a:xfrm>
          <a:prstGeom prst="rect">
            <a:avLst/>
          </a:prstGeom>
          <a:solidFill>
            <a:srgbClr val="E3E2DA"/>
          </a:solidFill>
          <a:ln w="12700">
            <a:solidFill>
              <a:srgbClr val="E3E2DA"/>
            </a:solidFill>
            <a:prstDash val="solid"/>
          </a:ln>
        </p:spPr>
      </p:sp>
      <p:sp>
        <p:nvSpPr>
          <p:cNvPr id="215" name="Text 213"/>
          <p:cNvSpPr txBox="1"/>
          <p:nvPr/>
        </p:nvSpPr>
        <p:spPr>
          <a:xfrm>
            <a:off x="5520131" y="2836024"/>
            <a:ext cx="968553"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55.4%</a:t>
            </a:r>
            <a:endParaRPr lang="en-US" sz="2000" dirty="0"/>
          </a:p>
        </p:txBody>
      </p:sp>
      <p:sp>
        <p:nvSpPr>
          <p:cNvPr id="216" name="Text 214"/>
          <p:cNvSpPr txBox="1"/>
          <p:nvPr/>
        </p:nvSpPr>
        <p:spPr>
          <a:xfrm>
            <a:off x="5520131" y="3201784"/>
            <a:ext cx="877113"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live in Southern California (55 of every 100)</a:t>
            </a:r>
            <a:endParaRPr lang="en-US" sz="1000" dirty="0"/>
          </a:p>
        </p:txBody>
      </p:sp>
      <p:sp>
        <p:nvSpPr>
          <p:cNvPr id="217" name="Shape 215"/>
          <p:cNvSpPr/>
          <p:nvPr/>
        </p:nvSpPr>
        <p:spPr>
          <a:xfrm>
            <a:off x="6671564" y="2075688"/>
            <a:ext cx="60279" cy="60279"/>
          </a:xfrm>
          <a:prstGeom prst="rect">
            <a:avLst/>
          </a:prstGeom>
          <a:solidFill>
            <a:srgbClr val="43A3A3"/>
          </a:solidFill>
          <a:ln w="12700">
            <a:solidFill>
              <a:srgbClr val="43A3A3"/>
            </a:solidFill>
            <a:prstDash val="solid"/>
          </a:ln>
        </p:spPr>
      </p:sp>
      <p:sp>
        <p:nvSpPr>
          <p:cNvPr id="218" name="Shape 216"/>
          <p:cNvSpPr/>
          <p:nvPr/>
        </p:nvSpPr>
        <p:spPr>
          <a:xfrm>
            <a:off x="6740282" y="2075688"/>
            <a:ext cx="60279" cy="60279"/>
          </a:xfrm>
          <a:prstGeom prst="rect">
            <a:avLst/>
          </a:prstGeom>
          <a:solidFill>
            <a:srgbClr val="43A3A3"/>
          </a:solidFill>
          <a:ln w="12700">
            <a:solidFill>
              <a:srgbClr val="43A3A3"/>
            </a:solidFill>
            <a:prstDash val="solid"/>
          </a:ln>
        </p:spPr>
      </p:sp>
      <p:sp>
        <p:nvSpPr>
          <p:cNvPr id="219" name="Shape 217"/>
          <p:cNvSpPr/>
          <p:nvPr/>
        </p:nvSpPr>
        <p:spPr>
          <a:xfrm>
            <a:off x="6809001" y="2075688"/>
            <a:ext cx="60279" cy="60279"/>
          </a:xfrm>
          <a:prstGeom prst="rect">
            <a:avLst/>
          </a:prstGeom>
          <a:solidFill>
            <a:srgbClr val="43A3A3"/>
          </a:solidFill>
          <a:ln w="12700">
            <a:solidFill>
              <a:srgbClr val="43A3A3"/>
            </a:solidFill>
            <a:prstDash val="solid"/>
          </a:ln>
        </p:spPr>
      </p:sp>
      <p:sp>
        <p:nvSpPr>
          <p:cNvPr id="220" name="Shape 218"/>
          <p:cNvSpPr/>
          <p:nvPr/>
        </p:nvSpPr>
        <p:spPr>
          <a:xfrm>
            <a:off x="6877719" y="2075688"/>
            <a:ext cx="60279" cy="60279"/>
          </a:xfrm>
          <a:prstGeom prst="rect">
            <a:avLst/>
          </a:prstGeom>
          <a:solidFill>
            <a:srgbClr val="43A3A3"/>
          </a:solidFill>
          <a:ln w="12700">
            <a:solidFill>
              <a:srgbClr val="43A3A3"/>
            </a:solidFill>
            <a:prstDash val="solid"/>
          </a:ln>
        </p:spPr>
      </p:sp>
      <p:sp>
        <p:nvSpPr>
          <p:cNvPr id="221" name="Shape 219"/>
          <p:cNvSpPr/>
          <p:nvPr/>
        </p:nvSpPr>
        <p:spPr>
          <a:xfrm>
            <a:off x="6946438" y="2075688"/>
            <a:ext cx="60279" cy="60279"/>
          </a:xfrm>
          <a:prstGeom prst="rect">
            <a:avLst/>
          </a:prstGeom>
          <a:solidFill>
            <a:srgbClr val="43A3A3"/>
          </a:solidFill>
          <a:ln w="12700">
            <a:solidFill>
              <a:srgbClr val="43A3A3"/>
            </a:solidFill>
            <a:prstDash val="solid"/>
          </a:ln>
        </p:spPr>
      </p:sp>
      <p:sp>
        <p:nvSpPr>
          <p:cNvPr id="222" name="Shape 220"/>
          <p:cNvSpPr/>
          <p:nvPr/>
        </p:nvSpPr>
        <p:spPr>
          <a:xfrm>
            <a:off x="7015156" y="2075688"/>
            <a:ext cx="60279" cy="60279"/>
          </a:xfrm>
          <a:prstGeom prst="rect">
            <a:avLst/>
          </a:prstGeom>
          <a:solidFill>
            <a:srgbClr val="43A3A3"/>
          </a:solidFill>
          <a:ln w="12700">
            <a:solidFill>
              <a:srgbClr val="43A3A3"/>
            </a:solidFill>
            <a:prstDash val="solid"/>
          </a:ln>
        </p:spPr>
      </p:sp>
      <p:sp>
        <p:nvSpPr>
          <p:cNvPr id="223" name="Shape 221"/>
          <p:cNvSpPr/>
          <p:nvPr/>
        </p:nvSpPr>
        <p:spPr>
          <a:xfrm>
            <a:off x="7083874" y="2075688"/>
            <a:ext cx="60279" cy="60279"/>
          </a:xfrm>
          <a:prstGeom prst="rect">
            <a:avLst/>
          </a:prstGeom>
          <a:solidFill>
            <a:srgbClr val="43A3A3"/>
          </a:solidFill>
          <a:ln w="12700">
            <a:solidFill>
              <a:srgbClr val="43A3A3"/>
            </a:solidFill>
            <a:prstDash val="solid"/>
          </a:ln>
        </p:spPr>
      </p:sp>
      <p:sp>
        <p:nvSpPr>
          <p:cNvPr id="224" name="Shape 222"/>
          <p:cNvSpPr/>
          <p:nvPr/>
        </p:nvSpPr>
        <p:spPr>
          <a:xfrm>
            <a:off x="7152593" y="2075688"/>
            <a:ext cx="60279" cy="60279"/>
          </a:xfrm>
          <a:prstGeom prst="rect">
            <a:avLst/>
          </a:prstGeom>
          <a:solidFill>
            <a:srgbClr val="43A3A3"/>
          </a:solidFill>
          <a:ln w="12700">
            <a:solidFill>
              <a:srgbClr val="43A3A3"/>
            </a:solidFill>
            <a:prstDash val="solid"/>
          </a:ln>
        </p:spPr>
      </p:sp>
      <p:sp>
        <p:nvSpPr>
          <p:cNvPr id="225" name="Shape 223"/>
          <p:cNvSpPr/>
          <p:nvPr/>
        </p:nvSpPr>
        <p:spPr>
          <a:xfrm>
            <a:off x="7221311" y="2075688"/>
            <a:ext cx="60279" cy="60279"/>
          </a:xfrm>
          <a:prstGeom prst="rect">
            <a:avLst/>
          </a:prstGeom>
          <a:solidFill>
            <a:srgbClr val="43A3A3"/>
          </a:solidFill>
          <a:ln w="12700">
            <a:solidFill>
              <a:srgbClr val="43A3A3"/>
            </a:solidFill>
            <a:prstDash val="solid"/>
          </a:ln>
        </p:spPr>
      </p:sp>
      <p:sp>
        <p:nvSpPr>
          <p:cNvPr id="226" name="Shape 224"/>
          <p:cNvSpPr/>
          <p:nvPr/>
        </p:nvSpPr>
        <p:spPr>
          <a:xfrm>
            <a:off x="7290029" y="2075688"/>
            <a:ext cx="60279" cy="60279"/>
          </a:xfrm>
          <a:prstGeom prst="rect">
            <a:avLst/>
          </a:prstGeom>
          <a:solidFill>
            <a:srgbClr val="43A3A3"/>
          </a:solidFill>
          <a:ln w="12700">
            <a:solidFill>
              <a:srgbClr val="43A3A3"/>
            </a:solidFill>
            <a:prstDash val="solid"/>
          </a:ln>
        </p:spPr>
      </p:sp>
      <p:sp>
        <p:nvSpPr>
          <p:cNvPr id="227" name="Shape 225"/>
          <p:cNvSpPr/>
          <p:nvPr/>
        </p:nvSpPr>
        <p:spPr>
          <a:xfrm>
            <a:off x="6671564" y="2144406"/>
            <a:ext cx="60279" cy="60279"/>
          </a:xfrm>
          <a:prstGeom prst="rect">
            <a:avLst/>
          </a:prstGeom>
          <a:solidFill>
            <a:srgbClr val="43A3A3"/>
          </a:solidFill>
          <a:ln w="12700">
            <a:solidFill>
              <a:srgbClr val="43A3A3"/>
            </a:solidFill>
            <a:prstDash val="solid"/>
          </a:ln>
        </p:spPr>
      </p:sp>
      <p:sp>
        <p:nvSpPr>
          <p:cNvPr id="228" name="Shape 226"/>
          <p:cNvSpPr/>
          <p:nvPr/>
        </p:nvSpPr>
        <p:spPr>
          <a:xfrm>
            <a:off x="6740282" y="2144406"/>
            <a:ext cx="60279" cy="60279"/>
          </a:xfrm>
          <a:prstGeom prst="rect">
            <a:avLst/>
          </a:prstGeom>
          <a:solidFill>
            <a:srgbClr val="43A3A3"/>
          </a:solidFill>
          <a:ln w="12700">
            <a:solidFill>
              <a:srgbClr val="43A3A3"/>
            </a:solidFill>
            <a:prstDash val="solid"/>
          </a:ln>
        </p:spPr>
      </p:sp>
      <p:sp>
        <p:nvSpPr>
          <p:cNvPr id="229" name="Shape 227"/>
          <p:cNvSpPr/>
          <p:nvPr/>
        </p:nvSpPr>
        <p:spPr>
          <a:xfrm>
            <a:off x="6809001" y="2144406"/>
            <a:ext cx="60279" cy="60279"/>
          </a:xfrm>
          <a:prstGeom prst="rect">
            <a:avLst/>
          </a:prstGeom>
          <a:solidFill>
            <a:srgbClr val="43A3A3"/>
          </a:solidFill>
          <a:ln w="12700">
            <a:solidFill>
              <a:srgbClr val="43A3A3"/>
            </a:solidFill>
            <a:prstDash val="solid"/>
          </a:ln>
        </p:spPr>
      </p:sp>
      <p:sp>
        <p:nvSpPr>
          <p:cNvPr id="230" name="Shape 228"/>
          <p:cNvSpPr/>
          <p:nvPr/>
        </p:nvSpPr>
        <p:spPr>
          <a:xfrm>
            <a:off x="6877719" y="2144406"/>
            <a:ext cx="60279" cy="60279"/>
          </a:xfrm>
          <a:prstGeom prst="rect">
            <a:avLst/>
          </a:prstGeom>
          <a:solidFill>
            <a:srgbClr val="43A3A3"/>
          </a:solidFill>
          <a:ln w="12700">
            <a:solidFill>
              <a:srgbClr val="43A3A3"/>
            </a:solidFill>
            <a:prstDash val="solid"/>
          </a:ln>
        </p:spPr>
      </p:sp>
      <p:sp>
        <p:nvSpPr>
          <p:cNvPr id="231" name="Shape 229"/>
          <p:cNvSpPr/>
          <p:nvPr/>
        </p:nvSpPr>
        <p:spPr>
          <a:xfrm>
            <a:off x="6946438" y="2144406"/>
            <a:ext cx="60279" cy="60279"/>
          </a:xfrm>
          <a:prstGeom prst="rect">
            <a:avLst/>
          </a:prstGeom>
          <a:solidFill>
            <a:srgbClr val="43A3A3"/>
          </a:solidFill>
          <a:ln w="12700">
            <a:solidFill>
              <a:srgbClr val="43A3A3"/>
            </a:solidFill>
            <a:prstDash val="solid"/>
          </a:ln>
        </p:spPr>
      </p:sp>
      <p:sp>
        <p:nvSpPr>
          <p:cNvPr id="232" name="Shape 230"/>
          <p:cNvSpPr/>
          <p:nvPr/>
        </p:nvSpPr>
        <p:spPr>
          <a:xfrm>
            <a:off x="7015156" y="2144406"/>
            <a:ext cx="60279" cy="60279"/>
          </a:xfrm>
          <a:prstGeom prst="rect">
            <a:avLst/>
          </a:prstGeom>
          <a:solidFill>
            <a:srgbClr val="43A3A3"/>
          </a:solidFill>
          <a:ln w="12700">
            <a:solidFill>
              <a:srgbClr val="43A3A3"/>
            </a:solidFill>
            <a:prstDash val="solid"/>
          </a:ln>
        </p:spPr>
      </p:sp>
      <p:sp>
        <p:nvSpPr>
          <p:cNvPr id="233" name="Shape 231"/>
          <p:cNvSpPr/>
          <p:nvPr/>
        </p:nvSpPr>
        <p:spPr>
          <a:xfrm>
            <a:off x="7083874" y="2144406"/>
            <a:ext cx="60279" cy="60279"/>
          </a:xfrm>
          <a:prstGeom prst="rect">
            <a:avLst/>
          </a:prstGeom>
          <a:solidFill>
            <a:srgbClr val="43A3A3"/>
          </a:solidFill>
          <a:ln w="12700">
            <a:solidFill>
              <a:srgbClr val="43A3A3"/>
            </a:solidFill>
            <a:prstDash val="solid"/>
          </a:ln>
        </p:spPr>
      </p:sp>
      <p:sp>
        <p:nvSpPr>
          <p:cNvPr id="234" name="Shape 232"/>
          <p:cNvSpPr/>
          <p:nvPr/>
        </p:nvSpPr>
        <p:spPr>
          <a:xfrm>
            <a:off x="7152593" y="2144406"/>
            <a:ext cx="60279" cy="60279"/>
          </a:xfrm>
          <a:prstGeom prst="rect">
            <a:avLst/>
          </a:prstGeom>
          <a:solidFill>
            <a:srgbClr val="43A3A3"/>
          </a:solidFill>
          <a:ln w="12700">
            <a:solidFill>
              <a:srgbClr val="43A3A3"/>
            </a:solidFill>
            <a:prstDash val="solid"/>
          </a:ln>
        </p:spPr>
      </p:sp>
      <p:sp>
        <p:nvSpPr>
          <p:cNvPr id="235" name="Shape 233"/>
          <p:cNvSpPr/>
          <p:nvPr/>
        </p:nvSpPr>
        <p:spPr>
          <a:xfrm>
            <a:off x="7221311" y="2144406"/>
            <a:ext cx="60279" cy="60279"/>
          </a:xfrm>
          <a:prstGeom prst="rect">
            <a:avLst/>
          </a:prstGeom>
          <a:solidFill>
            <a:srgbClr val="43A3A3"/>
          </a:solidFill>
          <a:ln w="12700">
            <a:solidFill>
              <a:srgbClr val="43A3A3"/>
            </a:solidFill>
            <a:prstDash val="solid"/>
          </a:ln>
        </p:spPr>
      </p:sp>
      <p:sp>
        <p:nvSpPr>
          <p:cNvPr id="236" name="Shape 234"/>
          <p:cNvSpPr/>
          <p:nvPr/>
        </p:nvSpPr>
        <p:spPr>
          <a:xfrm>
            <a:off x="7290029" y="2144406"/>
            <a:ext cx="60279" cy="60279"/>
          </a:xfrm>
          <a:prstGeom prst="rect">
            <a:avLst/>
          </a:prstGeom>
          <a:solidFill>
            <a:srgbClr val="43A3A3"/>
          </a:solidFill>
          <a:ln w="12700">
            <a:solidFill>
              <a:srgbClr val="43A3A3"/>
            </a:solidFill>
            <a:prstDash val="solid"/>
          </a:ln>
        </p:spPr>
      </p:sp>
      <p:sp>
        <p:nvSpPr>
          <p:cNvPr id="237" name="Shape 235"/>
          <p:cNvSpPr/>
          <p:nvPr/>
        </p:nvSpPr>
        <p:spPr>
          <a:xfrm>
            <a:off x="6671564" y="2213125"/>
            <a:ext cx="60279" cy="60279"/>
          </a:xfrm>
          <a:prstGeom prst="rect">
            <a:avLst/>
          </a:prstGeom>
          <a:solidFill>
            <a:srgbClr val="43A3A3"/>
          </a:solidFill>
          <a:ln w="12700">
            <a:solidFill>
              <a:srgbClr val="43A3A3"/>
            </a:solidFill>
            <a:prstDash val="solid"/>
          </a:ln>
        </p:spPr>
      </p:sp>
      <p:sp>
        <p:nvSpPr>
          <p:cNvPr id="238" name="Shape 236"/>
          <p:cNvSpPr/>
          <p:nvPr/>
        </p:nvSpPr>
        <p:spPr>
          <a:xfrm>
            <a:off x="6740282" y="2213125"/>
            <a:ext cx="60279" cy="60279"/>
          </a:xfrm>
          <a:prstGeom prst="rect">
            <a:avLst/>
          </a:prstGeom>
          <a:solidFill>
            <a:srgbClr val="43A3A3"/>
          </a:solidFill>
          <a:ln w="12700">
            <a:solidFill>
              <a:srgbClr val="43A3A3"/>
            </a:solidFill>
            <a:prstDash val="solid"/>
          </a:ln>
        </p:spPr>
      </p:sp>
      <p:sp>
        <p:nvSpPr>
          <p:cNvPr id="239" name="Shape 237"/>
          <p:cNvSpPr/>
          <p:nvPr/>
        </p:nvSpPr>
        <p:spPr>
          <a:xfrm>
            <a:off x="6809001" y="2213125"/>
            <a:ext cx="60279" cy="60279"/>
          </a:xfrm>
          <a:prstGeom prst="rect">
            <a:avLst/>
          </a:prstGeom>
          <a:solidFill>
            <a:srgbClr val="43A3A3"/>
          </a:solidFill>
          <a:ln w="12700">
            <a:solidFill>
              <a:srgbClr val="43A3A3"/>
            </a:solidFill>
            <a:prstDash val="solid"/>
          </a:ln>
        </p:spPr>
      </p:sp>
      <p:sp>
        <p:nvSpPr>
          <p:cNvPr id="240" name="Shape 238"/>
          <p:cNvSpPr/>
          <p:nvPr/>
        </p:nvSpPr>
        <p:spPr>
          <a:xfrm>
            <a:off x="6877719" y="2213125"/>
            <a:ext cx="60279" cy="60279"/>
          </a:xfrm>
          <a:prstGeom prst="rect">
            <a:avLst/>
          </a:prstGeom>
          <a:solidFill>
            <a:srgbClr val="43A3A3"/>
          </a:solidFill>
          <a:ln w="12700">
            <a:solidFill>
              <a:srgbClr val="43A3A3"/>
            </a:solidFill>
            <a:prstDash val="solid"/>
          </a:ln>
        </p:spPr>
      </p:sp>
      <p:sp>
        <p:nvSpPr>
          <p:cNvPr id="241" name="Shape 239"/>
          <p:cNvSpPr/>
          <p:nvPr/>
        </p:nvSpPr>
        <p:spPr>
          <a:xfrm>
            <a:off x="6946438" y="2213125"/>
            <a:ext cx="60279" cy="60279"/>
          </a:xfrm>
          <a:prstGeom prst="rect">
            <a:avLst/>
          </a:prstGeom>
          <a:solidFill>
            <a:srgbClr val="43A3A3"/>
          </a:solidFill>
          <a:ln w="12700">
            <a:solidFill>
              <a:srgbClr val="43A3A3"/>
            </a:solidFill>
            <a:prstDash val="solid"/>
          </a:ln>
        </p:spPr>
      </p:sp>
      <p:sp>
        <p:nvSpPr>
          <p:cNvPr id="242" name="Shape 240"/>
          <p:cNvSpPr/>
          <p:nvPr/>
        </p:nvSpPr>
        <p:spPr>
          <a:xfrm>
            <a:off x="7015156" y="2213125"/>
            <a:ext cx="60279" cy="60279"/>
          </a:xfrm>
          <a:prstGeom prst="rect">
            <a:avLst/>
          </a:prstGeom>
          <a:solidFill>
            <a:srgbClr val="43A3A3"/>
          </a:solidFill>
          <a:ln w="12700">
            <a:solidFill>
              <a:srgbClr val="43A3A3"/>
            </a:solidFill>
            <a:prstDash val="solid"/>
          </a:ln>
        </p:spPr>
      </p:sp>
      <p:sp>
        <p:nvSpPr>
          <p:cNvPr id="243" name="Shape 241"/>
          <p:cNvSpPr/>
          <p:nvPr/>
        </p:nvSpPr>
        <p:spPr>
          <a:xfrm>
            <a:off x="7083874" y="2213125"/>
            <a:ext cx="60279" cy="60279"/>
          </a:xfrm>
          <a:prstGeom prst="rect">
            <a:avLst/>
          </a:prstGeom>
          <a:solidFill>
            <a:srgbClr val="43A3A3"/>
          </a:solidFill>
          <a:ln w="12700">
            <a:solidFill>
              <a:srgbClr val="43A3A3"/>
            </a:solidFill>
            <a:prstDash val="solid"/>
          </a:ln>
        </p:spPr>
      </p:sp>
      <p:sp>
        <p:nvSpPr>
          <p:cNvPr id="244" name="Shape 242"/>
          <p:cNvSpPr/>
          <p:nvPr/>
        </p:nvSpPr>
        <p:spPr>
          <a:xfrm>
            <a:off x="7152593" y="2213125"/>
            <a:ext cx="60279" cy="60279"/>
          </a:xfrm>
          <a:prstGeom prst="rect">
            <a:avLst/>
          </a:prstGeom>
          <a:solidFill>
            <a:srgbClr val="43A3A3"/>
          </a:solidFill>
          <a:ln w="12700">
            <a:solidFill>
              <a:srgbClr val="43A3A3"/>
            </a:solidFill>
            <a:prstDash val="solid"/>
          </a:ln>
        </p:spPr>
      </p:sp>
      <p:sp>
        <p:nvSpPr>
          <p:cNvPr id="245" name="Shape 243"/>
          <p:cNvSpPr/>
          <p:nvPr/>
        </p:nvSpPr>
        <p:spPr>
          <a:xfrm>
            <a:off x="7221311" y="2213125"/>
            <a:ext cx="60279" cy="60279"/>
          </a:xfrm>
          <a:prstGeom prst="rect">
            <a:avLst/>
          </a:prstGeom>
          <a:solidFill>
            <a:srgbClr val="43A3A3"/>
          </a:solidFill>
          <a:ln w="12700">
            <a:solidFill>
              <a:srgbClr val="43A3A3"/>
            </a:solidFill>
            <a:prstDash val="solid"/>
          </a:ln>
        </p:spPr>
      </p:sp>
      <p:sp>
        <p:nvSpPr>
          <p:cNvPr id="246" name="Shape 244"/>
          <p:cNvSpPr/>
          <p:nvPr/>
        </p:nvSpPr>
        <p:spPr>
          <a:xfrm>
            <a:off x="7290029" y="2213125"/>
            <a:ext cx="60279" cy="60279"/>
          </a:xfrm>
          <a:prstGeom prst="rect">
            <a:avLst/>
          </a:prstGeom>
          <a:solidFill>
            <a:srgbClr val="43A3A3"/>
          </a:solidFill>
          <a:ln w="12700">
            <a:solidFill>
              <a:srgbClr val="43A3A3"/>
            </a:solidFill>
            <a:prstDash val="solid"/>
          </a:ln>
        </p:spPr>
      </p:sp>
      <p:sp>
        <p:nvSpPr>
          <p:cNvPr id="247" name="Shape 245"/>
          <p:cNvSpPr/>
          <p:nvPr/>
        </p:nvSpPr>
        <p:spPr>
          <a:xfrm>
            <a:off x="6671564" y="2281843"/>
            <a:ext cx="60279" cy="60279"/>
          </a:xfrm>
          <a:prstGeom prst="rect">
            <a:avLst/>
          </a:prstGeom>
          <a:solidFill>
            <a:srgbClr val="43A3A3"/>
          </a:solidFill>
          <a:ln w="12700">
            <a:solidFill>
              <a:srgbClr val="43A3A3"/>
            </a:solidFill>
            <a:prstDash val="solid"/>
          </a:ln>
        </p:spPr>
      </p:sp>
      <p:sp>
        <p:nvSpPr>
          <p:cNvPr id="248" name="Shape 246"/>
          <p:cNvSpPr/>
          <p:nvPr/>
        </p:nvSpPr>
        <p:spPr>
          <a:xfrm>
            <a:off x="6740282" y="2281843"/>
            <a:ext cx="60279" cy="60279"/>
          </a:xfrm>
          <a:prstGeom prst="rect">
            <a:avLst/>
          </a:prstGeom>
          <a:solidFill>
            <a:srgbClr val="43A3A3"/>
          </a:solidFill>
          <a:ln w="12700">
            <a:solidFill>
              <a:srgbClr val="43A3A3"/>
            </a:solidFill>
            <a:prstDash val="solid"/>
          </a:ln>
        </p:spPr>
      </p:sp>
      <p:sp>
        <p:nvSpPr>
          <p:cNvPr id="249" name="Shape 247"/>
          <p:cNvSpPr/>
          <p:nvPr/>
        </p:nvSpPr>
        <p:spPr>
          <a:xfrm>
            <a:off x="6809001" y="2281843"/>
            <a:ext cx="60279" cy="60279"/>
          </a:xfrm>
          <a:prstGeom prst="rect">
            <a:avLst/>
          </a:prstGeom>
          <a:solidFill>
            <a:srgbClr val="43A3A3"/>
          </a:solidFill>
          <a:ln w="12700">
            <a:solidFill>
              <a:srgbClr val="43A3A3"/>
            </a:solidFill>
            <a:prstDash val="solid"/>
          </a:ln>
        </p:spPr>
      </p:sp>
      <p:sp>
        <p:nvSpPr>
          <p:cNvPr id="250" name="Shape 248"/>
          <p:cNvSpPr/>
          <p:nvPr/>
        </p:nvSpPr>
        <p:spPr>
          <a:xfrm>
            <a:off x="6877719" y="2281843"/>
            <a:ext cx="60279" cy="60279"/>
          </a:xfrm>
          <a:prstGeom prst="rect">
            <a:avLst/>
          </a:prstGeom>
          <a:solidFill>
            <a:srgbClr val="43A3A3"/>
          </a:solidFill>
          <a:ln w="12700">
            <a:solidFill>
              <a:srgbClr val="43A3A3"/>
            </a:solidFill>
            <a:prstDash val="solid"/>
          </a:ln>
        </p:spPr>
      </p:sp>
      <p:sp>
        <p:nvSpPr>
          <p:cNvPr id="251" name="Shape 249"/>
          <p:cNvSpPr/>
          <p:nvPr/>
        </p:nvSpPr>
        <p:spPr>
          <a:xfrm>
            <a:off x="6946438" y="2281843"/>
            <a:ext cx="60279" cy="60279"/>
          </a:xfrm>
          <a:prstGeom prst="rect">
            <a:avLst/>
          </a:prstGeom>
          <a:solidFill>
            <a:srgbClr val="43A3A3"/>
          </a:solidFill>
          <a:ln w="12700">
            <a:solidFill>
              <a:srgbClr val="43A3A3"/>
            </a:solidFill>
            <a:prstDash val="solid"/>
          </a:ln>
        </p:spPr>
      </p:sp>
      <p:sp>
        <p:nvSpPr>
          <p:cNvPr id="252" name="Shape 250"/>
          <p:cNvSpPr/>
          <p:nvPr/>
        </p:nvSpPr>
        <p:spPr>
          <a:xfrm>
            <a:off x="7015156" y="2281843"/>
            <a:ext cx="60279" cy="60279"/>
          </a:xfrm>
          <a:prstGeom prst="rect">
            <a:avLst/>
          </a:prstGeom>
          <a:solidFill>
            <a:srgbClr val="43A3A3"/>
          </a:solidFill>
          <a:ln w="12700">
            <a:solidFill>
              <a:srgbClr val="43A3A3"/>
            </a:solidFill>
            <a:prstDash val="solid"/>
          </a:ln>
        </p:spPr>
      </p:sp>
      <p:sp>
        <p:nvSpPr>
          <p:cNvPr id="253" name="Shape 251"/>
          <p:cNvSpPr/>
          <p:nvPr/>
        </p:nvSpPr>
        <p:spPr>
          <a:xfrm>
            <a:off x="7083874" y="2281843"/>
            <a:ext cx="60279" cy="60279"/>
          </a:xfrm>
          <a:prstGeom prst="rect">
            <a:avLst/>
          </a:prstGeom>
          <a:solidFill>
            <a:srgbClr val="43A3A3"/>
          </a:solidFill>
          <a:ln w="12700">
            <a:solidFill>
              <a:srgbClr val="43A3A3"/>
            </a:solidFill>
            <a:prstDash val="solid"/>
          </a:ln>
        </p:spPr>
      </p:sp>
      <p:sp>
        <p:nvSpPr>
          <p:cNvPr id="254" name="Shape 252"/>
          <p:cNvSpPr/>
          <p:nvPr/>
        </p:nvSpPr>
        <p:spPr>
          <a:xfrm>
            <a:off x="7152593" y="2281843"/>
            <a:ext cx="60279" cy="60279"/>
          </a:xfrm>
          <a:prstGeom prst="rect">
            <a:avLst/>
          </a:prstGeom>
          <a:solidFill>
            <a:srgbClr val="E3E2DA"/>
          </a:solidFill>
          <a:ln w="12700">
            <a:solidFill>
              <a:srgbClr val="E3E2DA"/>
            </a:solidFill>
            <a:prstDash val="solid"/>
          </a:ln>
        </p:spPr>
      </p:sp>
      <p:sp>
        <p:nvSpPr>
          <p:cNvPr id="255" name="Shape 253"/>
          <p:cNvSpPr/>
          <p:nvPr/>
        </p:nvSpPr>
        <p:spPr>
          <a:xfrm>
            <a:off x="7221311" y="2281843"/>
            <a:ext cx="60279" cy="60279"/>
          </a:xfrm>
          <a:prstGeom prst="rect">
            <a:avLst/>
          </a:prstGeom>
          <a:solidFill>
            <a:srgbClr val="E3E2DA"/>
          </a:solidFill>
          <a:ln w="12700">
            <a:solidFill>
              <a:srgbClr val="E3E2DA"/>
            </a:solidFill>
            <a:prstDash val="solid"/>
          </a:ln>
        </p:spPr>
      </p:sp>
      <p:sp>
        <p:nvSpPr>
          <p:cNvPr id="256" name="Shape 254"/>
          <p:cNvSpPr/>
          <p:nvPr/>
        </p:nvSpPr>
        <p:spPr>
          <a:xfrm>
            <a:off x="7290029" y="2281843"/>
            <a:ext cx="60279" cy="60279"/>
          </a:xfrm>
          <a:prstGeom prst="rect">
            <a:avLst/>
          </a:prstGeom>
          <a:solidFill>
            <a:srgbClr val="E3E2DA"/>
          </a:solidFill>
          <a:ln w="12700">
            <a:solidFill>
              <a:srgbClr val="E3E2DA"/>
            </a:solidFill>
            <a:prstDash val="solid"/>
          </a:ln>
        </p:spPr>
      </p:sp>
      <p:sp>
        <p:nvSpPr>
          <p:cNvPr id="257" name="Shape 255"/>
          <p:cNvSpPr/>
          <p:nvPr/>
        </p:nvSpPr>
        <p:spPr>
          <a:xfrm>
            <a:off x="6671564" y="2350562"/>
            <a:ext cx="60279" cy="60279"/>
          </a:xfrm>
          <a:prstGeom prst="rect">
            <a:avLst/>
          </a:prstGeom>
          <a:solidFill>
            <a:srgbClr val="E3E2DA"/>
          </a:solidFill>
          <a:ln w="12700">
            <a:solidFill>
              <a:srgbClr val="E3E2DA"/>
            </a:solidFill>
            <a:prstDash val="solid"/>
          </a:ln>
        </p:spPr>
      </p:sp>
      <p:sp>
        <p:nvSpPr>
          <p:cNvPr id="258" name="Shape 256"/>
          <p:cNvSpPr/>
          <p:nvPr/>
        </p:nvSpPr>
        <p:spPr>
          <a:xfrm>
            <a:off x="6740282" y="2350562"/>
            <a:ext cx="60279" cy="60279"/>
          </a:xfrm>
          <a:prstGeom prst="rect">
            <a:avLst/>
          </a:prstGeom>
          <a:solidFill>
            <a:srgbClr val="E3E2DA"/>
          </a:solidFill>
          <a:ln w="12700">
            <a:solidFill>
              <a:srgbClr val="E3E2DA"/>
            </a:solidFill>
            <a:prstDash val="solid"/>
          </a:ln>
        </p:spPr>
      </p:sp>
      <p:sp>
        <p:nvSpPr>
          <p:cNvPr id="259" name="Shape 257"/>
          <p:cNvSpPr/>
          <p:nvPr/>
        </p:nvSpPr>
        <p:spPr>
          <a:xfrm>
            <a:off x="6809001" y="2350562"/>
            <a:ext cx="60279" cy="60279"/>
          </a:xfrm>
          <a:prstGeom prst="rect">
            <a:avLst/>
          </a:prstGeom>
          <a:solidFill>
            <a:srgbClr val="E3E2DA"/>
          </a:solidFill>
          <a:ln w="12700">
            <a:solidFill>
              <a:srgbClr val="E3E2DA"/>
            </a:solidFill>
            <a:prstDash val="solid"/>
          </a:ln>
        </p:spPr>
      </p:sp>
      <p:sp>
        <p:nvSpPr>
          <p:cNvPr id="260" name="Shape 258"/>
          <p:cNvSpPr/>
          <p:nvPr/>
        </p:nvSpPr>
        <p:spPr>
          <a:xfrm>
            <a:off x="6877719" y="2350562"/>
            <a:ext cx="60279" cy="60279"/>
          </a:xfrm>
          <a:prstGeom prst="rect">
            <a:avLst/>
          </a:prstGeom>
          <a:solidFill>
            <a:srgbClr val="E3E2DA"/>
          </a:solidFill>
          <a:ln w="12700">
            <a:solidFill>
              <a:srgbClr val="E3E2DA"/>
            </a:solidFill>
            <a:prstDash val="solid"/>
          </a:ln>
        </p:spPr>
      </p:sp>
      <p:sp>
        <p:nvSpPr>
          <p:cNvPr id="261" name="Shape 259"/>
          <p:cNvSpPr/>
          <p:nvPr/>
        </p:nvSpPr>
        <p:spPr>
          <a:xfrm>
            <a:off x="6946438" y="2350562"/>
            <a:ext cx="60279" cy="60279"/>
          </a:xfrm>
          <a:prstGeom prst="rect">
            <a:avLst/>
          </a:prstGeom>
          <a:solidFill>
            <a:srgbClr val="E3E2DA"/>
          </a:solidFill>
          <a:ln w="12700">
            <a:solidFill>
              <a:srgbClr val="E3E2DA"/>
            </a:solidFill>
            <a:prstDash val="solid"/>
          </a:ln>
        </p:spPr>
      </p:sp>
      <p:sp>
        <p:nvSpPr>
          <p:cNvPr id="262" name="Shape 260"/>
          <p:cNvSpPr/>
          <p:nvPr/>
        </p:nvSpPr>
        <p:spPr>
          <a:xfrm>
            <a:off x="7015156" y="2350562"/>
            <a:ext cx="60279" cy="60279"/>
          </a:xfrm>
          <a:prstGeom prst="rect">
            <a:avLst/>
          </a:prstGeom>
          <a:solidFill>
            <a:srgbClr val="E3E2DA"/>
          </a:solidFill>
          <a:ln w="12700">
            <a:solidFill>
              <a:srgbClr val="E3E2DA"/>
            </a:solidFill>
            <a:prstDash val="solid"/>
          </a:ln>
        </p:spPr>
      </p:sp>
      <p:sp>
        <p:nvSpPr>
          <p:cNvPr id="263" name="Shape 261"/>
          <p:cNvSpPr/>
          <p:nvPr/>
        </p:nvSpPr>
        <p:spPr>
          <a:xfrm>
            <a:off x="7083874" y="2350562"/>
            <a:ext cx="60279" cy="60279"/>
          </a:xfrm>
          <a:prstGeom prst="rect">
            <a:avLst/>
          </a:prstGeom>
          <a:solidFill>
            <a:srgbClr val="E3E2DA"/>
          </a:solidFill>
          <a:ln w="12700">
            <a:solidFill>
              <a:srgbClr val="E3E2DA"/>
            </a:solidFill>
            <a:prstDash val="solid"/>
          </a:ln>
        </p:spPr>
      </p:sp>
      <p:sp>
        <p:nvSpPr>
          <p:cNvPr id="264" name="Shape 262"/>
          <p:cNvSpPr/>
          <p:nvPr/>
        </p:nvSpPr>
        <p:spPr>
          <a:xfrm>
            <a:off x="7152593" y="2350562"/>
            <a:ext cx="60279" cy="60279"/>
          </a:xfrm>
          <a:prstGeom prst="rect">
            <a:avLst/>
          </a:prstGeom>
          <a:solidFill>
            <a:srgbClr val="E3E2DA"/>
          </a:solidFill>
          <a:ln w="12700">
            <a:solidFill>
              <a:srgbClr val="E3E2DA"/>
            </a:solidFill>
            <a:prstDash val="solid"/>
          </a:ln>
        </p:spPr>
      </p:sp>
      <p:sp>
        <p:nvSpPr>
          <p:cNvPr id="265" name="Shape 263"/>
          <p:cNvSpPr/>
          <p:nvPr/>
        </p:nvSpPr>
        <p:spPr>
          <a:xfrm>
            <a:off x="7221311" y="2350562"/>
            <a:ext cx="60279" cy="60279"/>
          </a:xfrm>
          <a:prstGeom prst="rect">
            <a:avLst/>
          </a:prstGeom>
          <a:solidFill>
            <a:srgbClr val="E3E2DA"/>
          </a:solidFill>
          <a:ln w="12700">
            <a:solidFill>
              <a:srgbClr val="E3E2DA"/>
            </a:solidFill>
            <a:prstDash val="solid"/>
          </a:ln>
        </p:spPr>
      </p:sp>
      <p:sp>
        <p:nvSpPr>
          <p:cNvPr id="266" name="Shape 264"/>
          <p:cNvSpPr/>
          <p:nvPr/>
        </p:nvSpPr>
        <p:spPr>
          <a:xfrm>
            <a:off x="7290029" y="2350562"/>
            <a:ext cx="60279" cy="60279"/>
          </a:xfrm>
          <a:prstGeom prst="rect">
            <a:avLst/>
          </a:prstGeom>
          <a:solidFill>
            <a:srgbClr val="E3E2DA"/>
          </a:solidFill>
          <a:ln w="12700">
            <a:solidFill>
              <a:srgbClr val="E3E2DA"/>
            </a:solidFill>
            <a:prstDash val="solid"/>
          </a:ln>
        </p:spPr>
      </p:sp>
      <p:sp>
        <p:nvSpPr>
          <p:cNvPr id="267" name="Shape 265"/>
          <p:cNvSpPr/>
          <p:nvPr/>
        </p:nvSpPr>
        <p:spPr>
          <a:xfrm>
            <a:off x="6671564" y="2419280"/>
            <a:ext cx="60279" cy="60279"/>
          </a:xfrm>
          <a:prstGeom prst="rect">
            <a:avLst/>
          </a:prstGeom>
          <a:solidFill>
            <a:srgbClr val="E3E2DA"/>
          </a:solidFill>
          <a:ln w="12700">
            <a:solidFill>
              <a:srgbClr val="E3E2DA"/>
            </a:solidFill>
            <a:prstDash val="solid"/>
          </a:ln>
        </p:spPr>
      </p:sp>
      <p:sp>
        <p:nvSpPr>
          <p:cNvPr id="268" name="Shape 266"/>
          <p:cNvSpPr/>
          <p:nvPr/>
        </p:nvSpPr>
        <p:spPr>
          <a:xfrm>
            <a:off x="6740282" y="2419280"/>
            <a:ext cx="60279" cy="60279"/>
          </a:xfrm>
          <a:prstGeom prst="rect">
            <a:avLst/>
          </a:prstGeom>
          <a:solidFill>
            <a:srgbClr val="E3E2DA"/>
          </a:solidFill>
          <a:ln w="12700">
            <a:solidFill>
              <a:srgbClr val="E3E2DA"/>
            </a:solidFill>
            <a:prstDash val="solid"/>
          </a:ln>
        </p:spPr>
      </p:sp>
      <p:sp>
        <p:nvSpPr>
          <p:cNvPr id="269" name="Shape 267"/>
          <p:cNvSpPr/>
          <p:nvPr/>
        </p:nvSpPr>
        <p:spPr>
          <a:xfrm>
            <a:off x="6809001" y="2419280"/>
            <a:ext cx="60279" cy="60279"/>
          </a:xfrm>
          <a:prstGeom prst="rect">
            <a:avLst/>
          </a:prstGeom>
          <a:solidFill>
            <a:srgbClr val="E3E2DA"/>
          </a:solidFill>
          <a:ln w="12700">
            <a:solidFill>
              <a:srgbClr val="E3E2DA"/>
            </a:solidFill>
            <a:prstDash val="solid"/>
          </a:ln>
        </p:spPr>
      </p:sp>
      <p:sp>
        <p:nvSpPr>
          <p:cNvPr id="270" name="Shape 268"/>
          <p:cNvSpPr/>
          <p:nvPr/>
        </p:nvSpPr>
        <p:spPr>
          <a:xfrm>
            <a:off x="6877719" y="2419280"/>
            <a:ext cx="60279" cy="60279"/>
          </a:xfrm>
          <a:prstGeom prst="rect">
            <a:avLst/>
          </a:prstGeom>
          <a:solidFill>
            <a:srgbClr val="E3E2DA"/>
          </a:solidFill>
          <a:ln w="12700">
            <a:solidFill>
              <a:srgbClr val="E3E2DA"/>
            </a:solidFill>
            <a:prstDash val="solid"/>
          </a:ln>
        </p:spPr>
      </p:sp>
      <p:sp>
        <p:nvSpPr>
          <p:cNvPr id="271" name="Shape 269"/>
          <p:cNvSpPr/>
          <p:nvPr/>
        </p:nvSpPr>
        <p:spPr>
          <a:xfrm>
            <a:off x="6946438" y="2419280"/>
            <a:ext cx="60279" cy="60279"/>
          </a:xfrm>
          <a:prstGeom prst="rect">
            <a:avLst/>
          </a:prstGeom>
          <a:solidFill>
            <a:srgbClr val="E3E2DA"/>
          </a:solidFill>
          <a:ln w="12700">
            <a:solidFill>
              <a:srgbClr val="E3E2DA"/>
            </a:solidFill>
            <a:prstDash val="solid"/>
          </a:ln>
        </p:spPr>
      </p:sp>
      <p:sp>
        <p:nvSpPr>
          <p:cNvPr id="272" name="Shape 270"/>
          <p:cNvSpPr/>
          <p:nvPr/>
        </p:nvSpPr>
        <p:spPr>
          <a:xfrm>
            <a:off x="7015156" y="2419280"/>
            <a:ext cx="60279" cy="60279"/>
          </a:xfrm>
          <a:prstGeom prst="rect">
            <a:avLst/>
          </a:prstGeom>
          <a:solidFill>
            <a:srgbClr val="E3E2DA"/>
          </a:solidFill>
          <a:ln w="12700">
            <a:solidFill>
              <a:srgbClr val="E3E2DA"/>
            </a:solidFill>
            <a:prstDash val="solid"/>
          </a:ln>
        </p:spPr>
      </p:sp>
      <p:sp>
        <p:nvSpPr>
          <p:cNvPr id="273" name="Shape 271"/>
          <p:cNvSpPr/>
          <p:nvPr/>
        </p:nvSpPr>
        <p:spPr>
          <a:xfrm>
            <a:off x="7083874" y="2419280"/>
            <a:ext cx="60279" cy="60279"/>
          </a:xfrm>
          <a:prstGeom prst="rect">
            <a:avLst/>
          </a:prstGeom>
          <a:solidFill>
            <a:srgbClr val="E3E2DA"/>
          </a:solidFill>
          <a:ln w="12700">
            <a:solidFill>
              <a:srgbClr val="E3E2DA"/>
            </a:solidFill>
            <a:prstDash val="solid"/>
          </a:ln>
        </p:spPr>
      </p:sp>
      <p:sp>
        <p:nvSpPr>
          <p:cNvPr id="274" name="Shape 272"/>
          <p:cNvSpPr/>
          <p:nvPr/>
        </p:nvSpPr>
        <p:spPr>
          <a:xfrm>
            <a:off x="7152593" y="2419280"/>
            <a:ext cx="60279" cy="60279"/>
          </a:xfrm>
          <a:prstGeom prst="rect">
            <a:avLst/>
          </a:prstGeom>
          <a:solidFill>
            <a:srgbClr val="E3E2DA"/>
          </a:solidFill>
          <a:ln w="12700">
            <a:solidFill>
              <a:srgbClr val="E3E2DA"/>
            </a:solidFill>
            <a:prstDash val="solid"/>
          </a:ln>
        </p:spPr>
      </p:sp>
      <p:sp>
        <p:nvSpPr>
          <p:cNvPr id="275" name="Shape 273"/>
          <p:cNvSpPr/>
          <p:nvPr/>
        </p:nvSpPr>
        <p:spPr>
          <a:xfrm>
            <a:off x="7221311" y="2419280"/>
            <a:ext cx="60279" cy="60279"/>
          </a:xfrm>
          <a:prstGeom prst="rect">
            <a:avLst/>
          </a:prstGeom>
          <a:solidFill>
            <a:srgbClr val="E3E2DA"/>
          </a:solidFill>
          <a:ln w="12700">
            <a:solidFill>
              <a:srgbClr val="E3E2DA"/>
            </a:solidFill>
            <a:prstDash val="solid"/>
          </a:ln>
        </p:spPr>
      </p:sp>
      <p:sp>
        <p:nvSpPr>
          <p:cNvPr id="276" name="Shape 274"/>
          <p:cNvSpPr/>
          <p:nvPr/>
        </p:nvSpPr>
        <p:spPr>
          <a:xfrm>
            <a:off x="7290029" y="2419280"/>
            <a:ext cx="60279" cy="60279"/>
          </a:xfrm>
          <a:prstGeom prst="rect">
            <a:avLst/>
          </a:prstGeom>
          <a:solidFill>
            <a:srgbClr val="E3E2DA"/>
          </a:solidFill>
          <a:ln w="12700">
            <a:solidFill>
              <a:srgbClr val="E3E2DA"/>
            </a:solidFill>
            <a:prstDash val="solid"/>
          </a:ln>
        </p:spPr>
      </p:sp>
      <p:sp>
        <p:nvSpPr>
          <p:cNvPr id="277" name="Shape 275"/>
          <p:cNvSpPr/>
          <p:nvPr/>
        </p:nvSpPr>
        <p:spPr>
          <a:xfrm>
            <a:off x="6671564" y="2487998"/>
            <a:ext cx="60279" cy="60279"/>
          </a:xfrm>
          <a:prstGeom prst="rect">
            <a:avLst/>
          </a:prstGeom>
          <a:solidFill>
            <a:srgbClr val="E3E2DA"/>
          </a:solidFill>
          <a:ln w="12700">
            <a:solidFill>
              <a:srgbClr val="E3E2DA"/>
            </a:solidFill>
            <a:prstDash val="solid"/>
          </a:ln>
        </p:spPr>
      </p:sp>
      <p:sp>
        <p:nvSpPr>
          <p:cNvPr id="278" name="Shape 276"/>
          <p:cNvSpPr/>
          <p:nvPr/>
        </p:nvSpPr>
        <p:spPr>
          <a:xfrm>
            <a:off x="6740282" y="2487998"/>
            <a:ext cx="60279" cy="60279"/>
          </a:xfrm>
          <a:prstGeom prst="rect">
            <a:avLst/>
          </a:prstGeom>
          <a:solidFill>
            <a:srgbClr val="E3E2DA"/>
          </a:solidFill>
          <a:ln w="12700">
            <a:solidFill>
              <a:srgbClr val="E3E2DA"/>
            </a:solidFill>
            <a:prstDash val="solid"/>
          </a:ln>
        </p:spPr>
      </p:sp>
      <p:sp>
        <p:nvSpPr>
          <p:cNvPr id="279" name="Shape 277"/>
          <p:cNvSpPr/>
          <p:nvPr/>
        </p:nvSpPr>
        <p:spPr>
          <a:xfrm>
            <a:off x="6809001" y="2487998"/>
            <a:ext cx="60279" cy="60279"/>
          </a:xfrm>
          <a:prstGeom prst="rect">
            <a:avLst/>
          </a:prstGeom>
          <a:solidFill>
            <a:srgbClr val="E3E2DA"/>
          </a:solidFill>
          <a:ln w="12700">
            <a:solidFill>
              <a:srgbClr val="E3E2DA"/>
            </a:solidFill>
            <a:prstDash val="solid"/>
          </a:ln>
        </p:spPr>
      </p:sp>
      <p:sp>
        <p:nvSpPr>
          <p:cNvPr id="280" name="Shape 278"/>
          <p:cNvSpPr/>
          <p:nvPr/>
        </p:nvSpPr>
        <p:spPr>
          <a:xfrm>
            <a:off x="6877719" y="2487998"/>
            <a:ext cx="60279" cy="60279"/>
          </a:xfrm>
          <a:prstGeom prst="rect">
            <a:avLst/>
          </a:prstGeom>
          <a:solidFill>
            <a:srgbClr val="E3E2DA"/>
          </a:solidFill>
          <a:ln w="12700">
            <a:solidFill>
              <a:srgbClr val="E3E2DA"/>
            </a:solidFill>
            <a:prstDash val="solid"/>
          </a:ln>
        </p:spPr>
      </p:sp>
      <p:sp>
        <p:nvSpPr>
          <p:cNvPr id="281" name="Shape 279"/>
          <p:cNvSpPr/>
          <p:nvPr/>
        </p:nvSpPr>
        <p:spPr>
          <a:xfrm>
            <a:off x="6946438" y="2487998"/>
            <a:ext cx="60279" cy="60279"/>
          </a:xfrm>
          <a:prstGeom prst="rect">
            <a:avLst/>
          </a:prstGeom>
          <a:solidFill>
            <a:srgbClr val="E3E2DA"/>
          </a:solidFill>
          <a:ln w="12700">
            <a:solidFill>
              <a:srgbClr val="E3E2DA"/>
            </a:solidFill>
            <a:prstDash val="solid"/>
          </a:ln>
        </p:spPr>
      </p:sp>
      <p:sp>
        <p:nvSpPr>
          <p:cNvPr id="282" name="Shape 280"/>
          <p:cNvSpPr/>
          <p:nvPr/>
        </p:nvSpPr>
        <p:spPr>
          <a:xfrm>
            <a:off x="7015156" y="2487998"/>
            <a:ext cx="60279" cy="60279"/>
          </a:xfrm>
          <a:prstGeom prst="rect">
            <a:avLst/>
          </a:prstGeom>
          <a:solidFill>
            <a:srgbClr val="E3E2DA"/>
          </a:solidFill>
          <a:ln w="12700">
            <a:solidFill>
              <a:srgbClr val="E3E2DA"/>
            </a:solidFill>
            <a:prstDash val="solid"/>
          </a:ln>
        </p:spPr>
      </p:sp>
      <p:sp>
        <p:nvSpPr>
          <p:cNvPr id="283" name="Shape 281"/>
          <p:cNvSpPr/>
          <p:nvPr/>
        </p:nvSpPr>
        <p:spPr>
          <a:xfrm>
            <a:off x="7083874" y="2487998"/>
            <a:ext cx="60279" cy="60279"/>
          </a:xfrm>
          <a:prstGeom prst="rect">
            <a:avLst/>
          </a:prstGeom>
          <a:solidFill>
            <a:srgbClr val="E3E2DA"/>
          </a:solidFill>
          <a:ln w="12700">
            <a:solidFill>
              <a:srgbClr val="E3E2DA"/>
            </a:solidFill>
            <a:prstDash val="solid"/>
          </a:ln>
        </p:spPr>
      </p:sp>
      <p:sp>
        <p:nvSpPr>
          <p:cNvPr id="284" name="Shape 282"/>
          <p:cNvSpPr/>
          <p:nvPr/>
        </p:nvSpPr>
        <p:spPr>
          <a:xfrm>
            <a:off x="7152593" y="2487998"/>
            <a:ext cx="60279" cy="60279"/>
          </a:xfrm>
          <a:prstGeom prst="rect">
            <a:avLst/>
          </a:prstGeom>
          <a:solidFill>
            <a:srgbClr val="E3E2DA"/>
          </a:solidFill>
          <a:ln w="12700">
            <a:solidFill>
              <a:srgbClr val="E3E2DA"/>
            </a:solidFill>
            <a:prstDash val="solid"/>
          </a:ln>
        </p:spPr>
      </p:sp>
      <p:sp>
        <p:nvSpPr>
          <p:cNvPr id="285" name="Shape 283"/>
          <p:cNvSpPr/>
          <p:nvPr/>
        </p:nvSpPr>
        <p:spPr>
          <a:xfrm>
            <a:off x="7221311" y="2487998"/>
            <a:ext cx="60279" cy="60279"/>
          </a:xfrm>
          <a:prstGeom prst="rect">
            <a:avLst/>
          </a:prstGeom>
          <a:solidFill>
            <a:srgbClr val="E3E2DA"/>
          </a:solidFill>
          <a:ln w="12700">
            <a:solidFill>
              <a:srgbClr val="E3E2DA"/>
            </a:solidFill>
            <a:prstDash val="solid"/>
          </a:ln>
        </p:spPr>
      </p:sp>
      <p:sp>
        <p:nvSpPr>
          <p:cNvPr id="286" name="Shape 284"/>
          <p:cNvSpPr/>
          <p:nvPr/>
        </p:nvSpPr>
        <p:spPr>
          <a:xfrm>
            <a:off x="7290029" y="2487998"/>
            <a:ext cx="60279" cy="60279"/>
          </a:xfrm>
          <a:prstGeom prst="rect">
            <a:avLst/>
          </a:prstGeom>
          <a:solidFill>
            <a:srgbClr val="E3E2DA"/>
          </a:solidFill>
          <a:ln w="12700">
            <a:solidFill>
              <a:srgbClr val="E3E2DA"/>
            </a:solidFill>
            <a:prstDash val="solid"/>
          </a:ln>
        </p:spPr>
      </p:sp>
      <p:sp>
        <p:nvSpPr>
          <p:cNvPr id="287" name="Shape 285"/>
          <p:cNvSpPr/>
          <p:nvPr/>
        </p:nvSpPr>
        <p:spPr>
          <a:xfrm>
            <a:off x="6671564" y="2556717"/>
            <a:ext cx="60279" cy="60279"/>
          </a:xfrm>
          <a:prstGeom prst="rect">
            <a:avLst/>
          </a:prstGeom>
          <a:solidFill>
            <a:srgbClr val="E3E2DA"/>
          </a:solidFill>
          <a:ln w="12700">
            <a:solidFill>
              <a:srgbClr val="E3E2DA"/>
            </a:solidFill>
            <a:prstDash val="solid"/>
          </a:ln>
        </p:spPr>
      </p:sp>
      <p:sp>
        <p:nvSpPr>
          <p:cNvPr id="288" name="Shape 286"/>
          <p:cNvSpPr/>
          <p:nvPr/>
        </p:nvSpPr>
        <p:spPr>
          <a:xfrm>
            <a:off x="6740282" y="2556717"/>
            <a:ext cx="60279" cy="60279"/>
          </a:xfrm>
          <a:prstGeom prst="rect">
            <a:avLst/>
          </a:prstGeom>
          <a:solidFill>
            <a:srgbClr val="E3E2DA"/>
          </a:solidFill>
          <a:ln w="12700">
            <a:solidFill>
              <a:srgbClr val="E3E2DA"/>
            </a:solidFill>
            <a:prstDash val="solid"/>
          </a:ln>
        </p:spPr>
      </p:sp>
      <p:sp>
        <p:nvSpPr>
          <p:cNvPr id="289" name="Shape 287"/>
          <p:cNvSpPr/>
          <p:nvPr/>
        </p:nvSpPr>
        <p:spPr>
          <a:xfrm>
            <a:off x="6809001" y="2556717"/>
            <a:ext cx="60279" cy="60279"/>
          </a:xfrm>
          <a:prstGeom prst="rect">
            <a:avLst/>
          </a:prstGeom>
          <a:solidFill>
            <a:srgbClr val="E3E2DA"/>
          </a:solidFill>
          <a:ln w="12700">
            <a:solidFill>
              <a:srgbClr val="E3E2DA"/>
            </a:solidFill>
            <a:prstDash val="solid"/>
          </a:ln>
        </p:spPr>
      </p:sp>
      <p:sp>
        <p:nvSpPr>
          <p:cNvPr id="290" name="Shape 288"/>
          <p:cNvSpPr/>
          <p:nvPr/>
        </p:nvSpPr>
        <p:spPr>
          <a:xfrm>
            <a:off x="6877719" y="2556717"/>
            <a:ext cx="60279" cy="60279"/>
          </a:xfrm>
          <a:prstGeom prst="rect">
            <a:avLst/>
          </a:prstGeom>
          <a:solidFill>
            <a:srgbClr val="E3E2DA"/>
          </a:solidFill>
          <a:ln w="12700">
            <a:solidFill>
              <a:srgbClr val="E3E2DA"/>
            </a:solidFill>
            <a:prstDash val="solid"/>
          </a:ln>
        </p:spPr>
      </p:sp>
      <p:sp>
        <p:nvSpPr>
          <p:cNvPr id="291" name="Shape 289"/>
          <p:cNvSpPr/>
          <p:nvPr/>
        </p:nvSpPr>
        <p:spPr>
          <a:xfrm>
            <a:off x="6946438" y="2556717"/>
            <a:ext cx="60279" cy="60279"/>
          </a:xfrm>
          <a:prstGeom prst="rect">
            <a:avLst/>
          </a:prstGeom>
          <a:solidFill>
            <a:srgbClr val="E3E2DA"/>
          </a:solidFill>
          <a:ln w="12700">
            <a:solidFill>
              <a:srgbClr val="E3E2DA"/>
            </a:solidFill>
            <a:prstDash val="solid"/>
          </a:ln>
        </p:spPr>
      </p:sp>
      <p:sp>
        <p:nvSpPr>
          <p:cNvPr id="292" name="Shape 290"/>
          <p:cNvSpPr/>
          <p:nvPr/>
        </p:nvSpPr>
        <p:spPr>
          <a:xfrm>
            <a:off x="7015156" y="2556717"/>
            <a:ext cx="60279" cy="60279"/>
          </a:xfrm>
          <a:prstGeom prst="rect">
            <a:avLst/>
          </a:prstGeom>
          <a:solidFill>
            <a:srgbClr val="E3E2DA"/>
          </a:solidFill>
          <a:ln w="12700">
            <a:solidFill>
              <a:srgbClr val="E3E2DA"/>
            </a:solidFill>
            <a:prstDash val="solid"/>
          </a:ln>
        </p:spPr>
      </p:sp>
      <p:sp>
        <p:nvSpPr>
          <p:cNvPr id="293" name="Shape 291"/>
          <p:cNvSpPr/>
          <p:nvPr/>
        </p:nvSpPr>
        <p:spPr>
          <a:xfrm>
            <a:off x="7083874" y="2556717"/>
            <a:ext cx="60279" cy="60279"/>
          </a:xfrm>
          <a:prstGeom prst="rect">
            <a:avLst/>
          </a:prstGeom>
          <a:solidFill>
            <a:srgbClr val="E3E2DA"/>
          </a:solidFill>
          <a:ln w="12700">
            <a:solidFill>
              <a:srgbClr val="E3E2DA"/>
            </a:solidFill>
            <a:prstDash val="solid"/>
          </a:ln>
        </p:spPr>
      </p:sp>
      <p:sp>
        <p:nvSpPr>
          <p:cNvPr id="294" name="Shape 292"/>
          <p:cNvSpPr/>
          <p:nvPr/>
        </p:nvSpPr>
        <p:spPr>
          <a:xfrm>
            <a:off x="7152593" y="2556717"/>
            <a:ext cx="60279" cy="60279"/>
          </a:xfrm>
          <a:prstGeom prst="rect">
            <a:avLst/>
          </a:prstGeom>
          <a:solidFill>
            <a:srgbClr val="E3E2DA"/>
          </a:solidFill>
          <a:ln w="12700">
            <a:solidFill>
              <a:srgbClr val="E3E2DA"/>
            </a:solidFill>
            <a:prstDash val="solid"/>
          </a:ln>
        </p:spPr>
      </p:sp>
      <p:sp>
        <p:nvSpPr>
          <p:cNvPr id="295" name="Shape 293"/>
          <p:cNvSpPr/>
          <p:nvPr/>
        </p:nvSpPr>
        <p:spPr>
          <a:xfrm>
            <a:off x="7221311" y="2556717"/>
            <a:ext cx="60279" cy="60279"/>
          </a:xfrm>
          <a:prstGeom prst="rect">
            <a:avLst/>
          </a:prstGeom>
          <a:solidFill>
            <a:srgbClr val="E3E2DA"/>
          </a:solidFill>
          <a:ln w="12700">
            <a:solidFill>
              <a:srgbClr val="E3E2DA"/>
            </a:solidFill>
            <a:prstDash val="solid"/>
          </a:ln>
        </p:spPr>
      </p:sp>
      <p:sp>
        <p:nvSpPr>
          <p:cNvPr id="296" name="Shape 294"/>
          <p:cNvSpPr/>
          <p:nvPr/>
        </p:nvSpPr>
        <p:spPr>
          <a:xfrm>
            <a:off x="7290029" y="2556717"/>
            <a:ext cx="60279" cy="60279"/>
          </a:xfrm>
          <a:prstGeom prst="rect">
            <a:avLst/>
          </a:prstGeom>
          <a:solidFill>
            <a:srgbClr val="E3E2DA"/>
          </a:solidFill>
          <a:ln w="12700">
            <a:solidFill>
              <a:srgbClr val="E3E2DA"/>
            </a:solidFill>
            <a:prstDash val="solid"/>
          </a:ln>
        </p:spPr>
      </p:sp>
      <p:sp>
        <p:nvSpPr>
          <p:cNvPr id="297" name="Shape 295"/>
          <p:cNvSpPr/>
          <p:nvPr/>
        </p:nvSpPr>
        <p:spPr>
          <a:xfrm>
            <a:off x="6671564" y="2625435"/>
            <a:ext cx="60279" cy="60279"/>
          </a:xfrm>
          <a:prstGeom prst="rect">
            <a:avLst/>
          </a:prstGeom>
          <a:solidFill>
            <a:srgbClr val="E3E2DA"/>
          </a:solidFill>
          <a:ln w="12700">
            <a:solidFill>
              <a:srgbClr val="E3E2DA"/>
            </a:solidFill>
            <a:prstDash val="solid"/>
          </a:ln>
        </p:spPr>
      </p:sp>
      <p:sp>
        <p:nvSpPr>
          <p:cNvPr id="298" name="Shape 296"/>
          <p:cNvSpPr/>
          <p:nvPr/>
        </p:nvSpPr>
        <p:spPr>
          <a:xfrm>
            <a:off x="6740282" y="2625435"/>
            <a:ext cx="60279" cy="60279"/>
          </a:xfrm>
          <a:prstGeom prst="rect">
            <a:avLst/>
          </a:prstGeom>
          <a:solidFill>
            <a:srgbClr val="E3E2DA"/>
          </a:solidFill>
          <a:ln w="12700">
            <a:solidFill>
              <a:srgbClr val="E3E2DA"/>
            </a:solidFill>
            <a:prstDash val="solid"/>
          </a:ln>
        </p:spPr>
      </p:sp>
      <p:sp>
        <p:nvSpPr>
          <p:cNvPr id="299" name="Shape 297"/>
          <p:cNvSpPr/>
          <p:nvPr/>
        </p:nvSpPr>
        <p:spPr>
          <a:xfrm>
            <a:off x="6809001" y="2625435"/>
            <a:ext cx="60279" cy="60279"/>
          </a:xfrm>
          <a:prstGeom prst="rect">
            <a:avLst/>
          </a:prstGeom>
          <a:solidFill>
            <a:srgbClr val="E3E2DA"/>
          </a:solidFill>
          <a:ln w="12700">
            <a:solidFill>
              <a:srgbClr val="E3E2DA"/>
            </a:solidFill>
            <a:prstDash val="solid"/>
          </a:ln>
        </p:spPr>
      </p:sp>
      <p:sp>
        <p:nvSpPr>
          <p:cNvPr id="300" name="Shape 298"/>
          <p:cNvSpPr/>
          <p:nvPr/>
        </p:nvSpPr>
        <p:spPr>
          <a:xfrm>
            <a:off x="6877719" y="2625435"/>
            <a:ext cx="60279" cy="60279"/>
          </a:xfrm>
          <a:prstGeom prst="rect">
            <a:avLst/>
          </a:prstGeom>
          <a:solidFill>
            <a:srgbClr val="E3E2DA"/>
          </a:solidFill>
          <a:ln w="12700">
            <a:solidFill>
              <a:srgbClr val="E3E2DA"/>
            </a:solidFill>
            <a:prstDash val="solid"/>
          </a:ln>
        </p:spPr>
      </p:sp>
      <p:sp>
        <p:nvSpPr>
          <p:cNvPr id="301" name="Shape 299"/>
          <p:cNvSpPr/>
          <p:nvPr/>
        </p:nvSpPr>
        <p:spPr>
          <a:xfrm>
            <a:off x="6946438" y="2625435"/>
            <a:ext cx="60279" cy="60279"/>
          </a:xfrm>
          <a:prstGeom prst="rect">
            <a:avLst/>
          </a:prstGeom>
          <a:solidFill>
            <a:srgbClr val="E3E2DA"/>
          </a:solidFill>
          <a:ln w="12700">
            <a:solidFill>
              <a:srgbClr val="E3E2DA"/>
            </a:solidFill>
            <a:prstDash val="solid"/>
          </a:ln>
        </p:spPr>
      </p:sp>
      <p:sp>
        <p:nvSpPr>
          <p:cNvPr id="302" name="Shape 300"/>
          <p:cNvSpPr/>
          <p:nvPr/>
        </p:nvSpPr>
        <p:spPr>
          <a:xfrm>
            <a:off x="7015156" y="2625435"/>
            <a:ext cx="60279" cy="60279"/>
          </a:xfrm>
          <a:prstGeom prst="rect">
            <a:avLst/>
          </a:prstGeom>
          <a:solidFill>
            <a:srgbClr val="E3E2DA"/>
          </a:solidFill>
          <a:ln w="12700">
            <a:solidFill>
              <a:srgbClr val="E3E2DA"/>
            </a:solidFill>
            <a:prstDash val="solid"/>
          </a:ln>
        </p:spPr>
      </p:sp>
      <p:sp>
        <p:nvSpPr>
          <p:cNvPr id="303" name="Shape 301"/>
          <p:cNvSpPr/>
          <p:nvPr/>
        </p:nvSpPr>
        <p:spPr>
          <a:xfrm>
            <a:off x="7083874" y="2625435"/>
            <a:ext cx="60279" cy="60279"/>
          </a:xfrm>
          <a:prstGeom prst="rect">
            <a:avLst/>
          </a:prstGeom>
          <a:solidFill>
            <a:srgbClr val="E3E2DA"/>
          </a:solidFill>
          <a:ln w="12700">
            <a:solidFill>
              <a:srgbClr val="E3E2DA"/>
            </a:solidFill>
            <a:prstDash val="solid"/>
          </a:ln>
        </p:spPr>
      </p:sp>
      <p:sp>
        <p:nvSpPr>
          <p:cNvPr id="304" name="Shape 302"/>
          <p:cNvSpPr/>
          <p:nvPr/>
        </p:nvSpPr>
        <p:spPr>
          <a:xfrm>
            <a:off x="7152593" y="2625435"/>
            <a:ext cx="60279" cy="60279"/>
          </a:xfrm>
          <a:prstGeom prst="rect">
            <a:avLst/>
          </a:prstGeom>
          <a:solidFill>
            <a:srgbClr val="E3E2DA"/>
          </a:solidFill>
          <a:ln w="12700">
            <a:solidFill>
              <a:srgbClr val="E3E2DA"/>
            </a:solidFill>
            <a:prstDash val="solid"/>
          </a:ln>
        </p:spPr>
      </p:sp>
      <p:sp>
        <p:nvSpPr>
          <p:cNvPr id="305" name="Shape 303"/>
          <p:cNvSpPr/>
          <p:nvPr/>
        </p:nvSpPr>
        <p:spPr>
          <a:xfrm>
            <a:off x="7221311" y="2625435"/>
            <a:ext cx="60279" cy="60279"/>
          </a:xfrm>
          <a:prstGeom prst="rect">
            <a:avLst/>
          </a:prstGeom>
          <a:solidFill>
            <a:srgbClr val="E3E2DA"/>
          </a:solidFill>
          <a:ln w="12700">
            <a:solidFill>
              <a:srgbClr val="E3E2DA"/>
            </a:solidFill>
            <a:prstDash val="solid"/>
          </a:ln>
        </p:spPr>
      </p:sp>
      <p:sp>
        <p:nvSpPr>
          <p:cNvPr id="306" name="Shape 304"/>
          <p:cNvSpPr/>
          <p:nvPr/>
        </p:nvSpPr>
        <p:spPr>
          <a:xfrm>
            <a:off x="7290029" y="2625435"/>
            <a:ext cx="60279" cy="60279"/>
          </a:xfrm>
          <a:prstGeom prst="rect">
            <a:avLst/>
          </a:prstGeom>
          <a:solidFill>
            <a:srgbClr val="E3E2DA"/>
          </a:solidFill>
          <a:ln w="12700">
            <a:solidFill>
              <a:srgbClr val="E3E2DA"/>
            </a:solidFill>
            <a:prstDash val="solid"/>
          </a:ln>
        </p:spPr>
      </p:sp>
      <p:sp>
        <p:nvSpPr>
          <p:cNvPr id="307" name="Shape 305"/>
          <p:cNvSpPr/>
          <p:nvPr/>
        </p:nvSpPr>
        <p:spPr>
          <a:xfrm>
            <a:off x="6671564" y="2694153"/>
            <a:ext cx="60279" cy="60279"/>
          </a:xfrm>
          <a:prstGeom prst="rect">
            <a:avLst/>
          </a:prstGeom>
          <a:solidFill>
            <a:srgbClr val="E3E2DA"/>
          </a:solidFill>
          <a:ln w="12700">
            <a:solidFill>
              <a:srgbClr val="E3E2DA"/>
            </a:solidFill>
            <a:prstDash val="solid"/>
          </a:ln>
        </p:spPr>
      </p:sp>
      <p:sp>
        <p:nvSpPr>
          <p:cNvPr id="308" name="Shape 306"/>
          <p:cNvSpPr/>
          <p:nvPr/>
        </p:nvSpPr>
        <p:spPr>
          <a:xfrm>
            <a:off x="6740282" y="2694153"/>
            <a:ext cx="60279" cy="60279"/>
          </a:xfrm>
          <a:prstGeom prst="rect">
            <a:avLst/>
          </a:prstGeom>
          <a:solidFill>
            <a:srgbClr val="E3E2DA"/>
          </a:solidFill>
          <a:ln w="12700">
            <a:solidFill>
              <a:srgbClr val="E3E2DA"/>
            </a:solidFill>
            <a:prstDash val="solid"/>
          </a:ln>
        </p:spPr>
      </p:sp>
      <p:sp>
        <p:nvSpPr>
          <p:cNvPr id="309" name="Shape 307"/>
          <p:cNvSpPr/>
          <p:nvPr/>
        </p:nvSpPr>
        <p:spPr>
          <a:xfrm>
            <a:off x="6809001" y="2694153"/>
            <a:ext cx="60279" cy="60279"/>
          </a:xfrm>
          <a:prstGeom prst="rect">
            <a:avLst/>
          </a:prstGeom>
          <a:solidFill>
            <a:srgbClr val="E3E2DA"/>
          </a:solidFill>
          <a:ln w="12700">
            <a:solidFill>
              <a:srgbClr val="E3E2DA"/>
            </a:solidFill>
            <a:prstDash val="solid"/>
          </a:ln>
        </p:spPr>
      </p:sp>
      <p:sp>
        <p:nvSpPr>
          <p:cNvPr id="310" name="Shape 308"/>
          <p:cNvSpPr/>
          <p:nvPr/>
        </p:nvSpPr>
        <p:spPr>
          <a:xfrm>
            <a:off x="6877719" y="2694153"/>
            <a:ext cx="60279" cy="60279"/>
          </a:xfrm>
          <a:prstGeom prst="rect">
            <a:avLst/>
          </a:prstGeom>
          <a:solidFill>
            <a:srgbClr val="E3E2DA"/>
          </a:solidFill>
          <a:ln w="12700">
            <a:solidFill>
              <a:srgbClr val="E3E2DA"/>
            </a:solidFill>
            <a:prstDash val="solid"/>
          </a:ln>
        </p:spPr>
      </p:sp>
      <p:sp>
        <p:nvSpPr>
          <p:cNvPr id="311" name="Shape 309"/>
          <p:cNvSpPr/>
          <p:nvPr/>
        </p:nvSpPr>
        <p:spPr>
          <a:xfrm>
            <a:off x="6946438" y="2694153"/>
            <a:ext cx="60279" cy="60279"/>
          </a:xfrm>
          <a:prstGeom prst="rect">
            <a:avLst/>
          </a:prstGeom>
          <a:solidFill>
            <a:srgbClr val="E3E2DA"/>
          </a:solidFill>
          <a:ln w="12700">
            <a:solidFill>
              <a:srgbClr val="E3E2DA"/>
            </a:solidFill>
            <a:prstDash val="solid"/>
          </a:ln>
        </p:spPr>
      </p:sp>
      <p:sp>
        <p:nvSpPr>
          <p:cNvPr id="312" name="Shape 310"/>
          <p:cNvSpPr/>
          <p:nvPr/>
        </p:nvSpPr>
        <p:spPr>
          <a:xfrm>
            <a:off x="7015156" y="2694153"/>
            <a:ext cx="60279" cy="60279"/>
          </a:xfrm>
          <a:prstGeom prst="rect">
            <a:avLst/>
          </a:prstGeom>
          <a:solidFill>
            <a:srgbClr val="E3E2DA"/>
          </a:solidFill>
          <a:ln w="12700">
            <a:solidFill>
              <a:srgbClr val="E3E2DA"/>
            </a:solidFill>
            <a:prstDash val="solid"/>
          </a:ln>
        </p:spPr>
      </p:sp>
      <p:sp>
        <p:nvSpPr>
          <p:cNvPr id="313" name="Shape 311"/>
          <p:cNvSpPr/>
          <p:nvPr/>
        </p:nvSpPr>
        <p:spPr>
          <a:xfrm>
            <a:off x="7083874" y="2694153"/>
            <a:ext cx="60279" cy="60279"/>
          </a:xfrm>
          <a:prstGeom prst="rect">
            <a:avLst/>
          </a:prstGeom>
          <a:solidFill>
            <a:srgbClr val="E3E2DA"/>
          </a:solidFill>
          <a:ln w="12700">
            <a:solidFill>
              <a:srgbClr val="E3E2DA"/>
            </a:solidFill>
            <a:prstDash val="solid"/>
          </a:ln>
        </p:spPr>
      </p:sp>
      <p:sp>
        <p:nvSpPr>
          <p:cNvPr id="314" name="Shape 312"/>
          <p:cNvSpPr/>
          <p:nvPr/>
        </p:nvSpPr>
        <p:spPr>
          <a:xfrm>
            <a:off x="7152593" y="2694153"/>
            <a:ext cx="60279" cy="60279"/>
          </a:xfrm>
          <a:prstGeom prst="rect">
            <a:avLst/>
          </a:prstGeom>
          <a:solidFill>
            <a:srgbClr val="E3E2DA"/>
          </a:solidFill>
          <a:ln w="12700">
            <a:solidFill>
              <a:srgbClr val="E3E2DA"/>
            </a:solidFill>
            <a:prstDash val="solid"/>
          </a:ln>
        </p:spPr>
      </p:sp>
      <p:sp>
        <p:nvSpPr>
          <p:cNvPr id="315" name="Shape 313"/>
          <p:cNvSpPr/>
          <p:nvPr/>
        </p:nvSpPr>
        <p:spPr>
          <a:xfrm>
            <a:off x="7221311" y="2694153"/>
            <a:ext cx="60279" cy="60279"/>
          </a:xfrm>
          <a:prstGeom prst="rect">
            <a:avLst/>
          </a:prstGeom>
          <a:solidFill>
            <a:srgbClr val="E3E2DA"/>
          </a:solidFill>
          <a:ln w="12700">
            <a:solidFill>
              <a:srgbClr val="E3E2DA"/>
            </a:solidFill>
            <a:prstDash val="solid"/>
          </a:ln>
        </p:spPr>
      </p:sp>
      <p:sp>
        <p:nvSpPr>
          <p:cNvPr id="316" name="Shape 314"/>
          <p:cNvSpPr/>
          <p:nvPr/>
        </p:nvSpPr>
        <p:spPr>
          <a:xfrm>
            <a:off x="7290029" y="2694153"/>
            <a:ext cx="60279" cy="60279"/>
          </a:xfrm>
          <a:prstGeom prst="rect">
            <a:avLst/>
          </a:prstGeom>
          <a:solidFill>
            <a:srgbClr val="E3E2DA"/>
          </a:solidFill>
          <a:ln w="12700">
            <a:solidFill>
              <a:srgbClr val="E3E2DA"/>
            </a:solidFill>
            <a:prstDash val="solid"/>
          </a:ln>
        </p:spPr>
      </p:sp>
      <p:sp>
        <p:nvSpPr>
          <p:cNvPr id="317" name="Text 315"/>
          <p:cNvSpPr txBox="1"/>
          <p:nvPr/>
        </p:nvSpPr>
        <p:spPr>
          <a:xfrm>
            <a:off x="6671564" y="2836024"/>
            <a:ext cx="968553"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37.0%</a:t>
            </a:r>
            <a:endParaRPr lang="en-US" sz="2000" dirty="0"/>
          </a:p>
        </p:txBody>
      </p:sp>
      <p:sp>
        <p:nvSpPr>
          <p:cNvPr id="318" name="Text 316"/>
          <p:cNvSpPr txBox="1"/>
          <p:nvPr/>
        </p:nvSpPr>
        <p:spPr>
          <a:xfrm>
            <a:off x="6671564" y="3201784"/>
            <a:ext cx="877113"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traveled with children (37 of every 100)</a:t>
            </a:r>
            <a:endParaRPr lang="en-US" sz="1000" dirty="0"/>
          </a:p>
        </p:txBody>
      </p:sp>
      <p:sp>
        <p:nvSpPr>
          <p:cNvPr id="319" name="Text 317"/>
          <p:cNvSpPr txBox="1"/>
          <p:nvPr/>
        </p:nvSpPr>
        <p:spPr>
          <a:xfrm>
            <a:off x="8188757" y="1417320"/>
            <a:ext cx="345429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Orange County hotels fill most in July</a:t>
            </a:r>
            <a:endParaRPr lang="en-US" sz="1500" dirty="0"/>
          </a:p>
        </p:txBody>
      </p:sp>
      <p:sp>
        <p:nvSpPr>
          <p:cNvPr id="320" name="Text 318"/>
          <p:cNvSpPr txBox="1"/>
          <p:nvPr/>
        </p:nvSpPr>
        <p:spPr>
          <a:xfrm>
            <a:off x="8188757" y="1746504"/>
            <a:ext cx="345429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occupancy by month, 2023-2025 average · July highlighted</a:t>
            </a:r>
            <a:endParaRPr lang="en-US" sz="950" dirty="0"/>
          </a:p>
        </p:txBody>
      </p:sp>
      <p:sp>
        <p:nvSpPr>
          <p:cNvPr id="321" name="Shape 319"/>
          <p:cNvSpPr/>
          <p:nvPr/>
        </p:nvSpPr>
        <p:spPr>
          <a:xfrm>
            <a:off x="8231936" y="2075688"/>
            <a:ext cx="201501" cy="2194560"/>
          </a:xfrm>
          <a:prstGeom prst="rect">
            <a:avLst/>
          </a:prstGeom>
          <a:solidFill>
            <a:srgbClr val="F9F9F2"/>
          </a:solidFill>
          <a:ln w="12700">
            <a:solidFill>
              <a:srgbClr val="B4D9E3"/>
            </a:solidFill>
            <a:prstDash val="solid"/>
          </a:ln>
        </p:spPr>
      </p:sp>
      <p:sp>
        <p:nvSpPr>
          <p:cNvPr id="322" name="Shape 320"/>
          <p:cNvSpPr/>
          <p:nvPr/>
        </p:nvSpPr>
        <p:spPr>
          <a:xfrm>
            <a:off x="8231936" y="2927177"/>
            <a:ext cx="201501" cy="1343071"/>
          </a:xfrm>
          <a:prstGeom prst="rect">
            <a:avLst/>
          </a:prstGeom>
          <a:solidFill>
            <a:srgbClr val="B4D9E3"/>
          </a:solidFill>
          <a:ln w="12700">
            <a:solidFill>
              <a:srgbClr val="B4D9E3"/>
            </a:solidFill>
            <a:prstDash val="solid"/>
          </a:ln>
        </p:spPr>
      </p:sp>
      <p:sp>
        <p:nvSpPr>
          <p:cNvPr id="323" name="Text 321"/>
          <p:cNvSpPr txBox="1"/>
          <p:nvPr/>
        </p:nvSpPr>
        <p:spPr>
          <a:xfrm>
            <a:off x="8188757"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61.2%</a:t>
            </a:r>
            <a:endParaRPr lang="en-US" sz="650" dirty="0"/>
          </a:p>
        </p:txBody>
      </p:sp>
      <p:sp>
        <p:nvSpPr>
          <p:cNvPr id="324" name="Text 322"/>
          <p:cNvSpPr txBox="1"/>
          <p:nvPr/>
        </p:nvSpPr>
        <p:spPr>
          <a:xfrm>
            <a:off x="8188757"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JAN</a:t>
            </a:r>
            <a:endParaRPr lang="en-US" sz="650" dirty="0"/>
          </a:p>
        </p:txBody>
      </p:sp>
      <p:sp>
        <p:nvSpPr>
          <p:cNvPr id="325" name="Shape 323"/>
          <p:cNvSpPr/>
          <p:nvPr/>
        </p:nvSpPr>
        <p:spPr>
          <a:xfrm>
            <a:off x="8519794" y="2075688"/>
            <a:ext cx="201501" cy="2194560"/>
          </a:xfrm>
          <a:prstGeom prst="rect">
            <a:avLst/>
          </a:prstGeom>
          <a:solidFill>
            <a:srgbClr val="F9F9F2"/>
          </a:solidFill>
          <a:ln w="12700">
            <a:solidFill>
              <a:srgbClr val="B4D9E3"/>
            </a:solidFill>
            <a:prstDash val="solid"/>
          </a:ln>
        </p:spPr>
      </p:sp>
      <p:sp>
        <p:nvSpPr>
          <p:cNvPr id="326" name="Shape 324"/>
          <p:cNvSpPr/>
          <p:nvPr/>
        </p:nvSpPr>
        <p:spPr>
          <a:xfrm>
            <a:off x="8519794" y="2756002"/>
            <a:ext cx="201501" cy="1514246"/>
          </a:xfrm>
          <a:prstGeom prst="rect">
            <a:avLst/>
          </a:prstGeom>
          <a:solidFill>
            <a:srgbClr val="B4D9E3"/>
          </a:solidFill>
          <a:ln w="12700">
            <a:solidFill>
              <a:srgbClr val="B4D9E3"/>
            </a:solidFill>
            <a:prstDash val="solid"/>
          </a:ln>
        </p:spPr>
      </p:sp>
      <p:sp>
        <p:nvSpPr>
          <p:cNvPr id="327" name="Text 325"/>
          <p:cNvSpPr txBox="1"/>
          <p:nvPr/>
        </p:nvSpPr>
        <p:spPr>
          <a:xfrm>
            <a:off x="8476615"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69%</a:t>
            </a:r>
            <a:endParaRPr lang="en-US" sz="650" dirty="0"/>
          </a:p>
        </p:txBody>
      </p:sp>
      <p:sp>
        <p:nvSpPr>
          <p:cNvPr id="328" name="Text 326"/>
          <p:cNvSpPr txBox="1"/>
          <p:nvPr/>
        </p:nvSpPr>
        <p:spPr>
          <a:xfrm>
            <a:off x="8476615"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FEB</a:t>
            </a:r>
            <a:endParaRPr lang="en-US" sz="650" dirty="0"/>
          </a:p>
        </p:txBody>
      </p:sp>
      <p:sp>
        <p:nvSpPr>
          <p:cNvPr id="329" name="Shape 327"/>
          <p:cNvSpPr/>
          <p:nvPr/>
        </p:nvSpPr>
        <p:spPr>
          <a:xfrm>
            <a:off x="8807652" y="2075688"/>
            <a:ext cx="201501" cy="2194560"/>
          </a:xfrm>
          <a:prstGeom prst="rect">
            <a:avLst/>
          </a:prstGeom>
          <a:solidFill>
            <a:srgbClr val="F9F9F2"/>
          </a:solidFill>
          <a:ln w="12700">
            <a:solidFill>
              <a:srgbClr val="B4D9E3"/>
            </a:solidFill>
            <a:prstDash val="solid"/>
          </a:ln>
        </p:spPr>
      </p:sp>
      <p:sp>
        <p:nvSpPr>
          <p:cNvPr id="330" name="Shape 328"/>
          <p:cNvSpPr/>
          <p:nvPr/>
        </p:nvSpPr>
        <p:spPr>
          <a:xfrm>
            <a:off x="8807652" y="2648468"/>
            <a:ext cx="201501" cy="1621780"/>
          </a:xfrm>
          <a:prstGeom prst="rect">
            <a:avLst/>
          </a:prstGeom>
          <a:solidFill>
            <a:srgbClr val="B4D9E3"/>
          </a:solidFill>
          <a:ln w="12700">
            <a:solidFill>
              <a:srgbClr val="B4D9E3"/>
            </a:solidFill>
            <a:prstDash val="solid"/>
          </a:ln>
        </p:spPr>
      </p:sp>
      <p:sp>
        <p:nvSpPr>
          <p:cNvPr id="331" name="Text 329"/>
          <p:cNvSpPr txBox="1"/>
          <p:nvPr/>
        </p:nvSpPr>
        <p:spPr>
          <a:xfrm>
            <a:off x="8764473"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73.9%</a:t>
            </a:r>
            <a:endParaRPr lang="en-US" sz="650" dirty="0"/>
          </a:p>
        </p:txBody>
      </p:sp>
      <p:sp>
        <p:nvSpPr>
          <p:cNvPr id="332" name="Text 330"/>
          <p:cNvSpPr txBox="1"/>
          <p:nvPr/>
        </p:nvSpPr>
        <p:spPr>
          <a:xfrm>
            <a:off x="8764473"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MAR</a:t>
            </a:r>
            <a:endParaRPr lang="en-US" sz="650" dirty="0"/>
          </a:p>
        </p:txBody>
      </p:sp>
      <p:sp>
        <p:nvSpPr>
          <p:cNvPr id="333" name="Shape 331"/>
          <p:cNvSpPr/>
          <p:nvPr/>
        </p:nvSpPr>
        <p:spPr>
          <a:xfrm>
            <a:off x="9095510" y="2075688"/>
            <a:ext cx="201501" cy="2194560"/>
          </a:xfrm>
          <a:prstGeom prst="rect">
            <a:avLst/>
          </a:prstGeom>
          <a:solidFill>
            <a:srgbClr val="F9F9F2"/>
          </a:solidFill>
          <a:ln w="12700">
            <a:solidFill>
              <a:srgbClr val="B4D9E3"/>
            </a:solidFill>
            <a:prstDash val="solid"/>
          </a:ln>
        </p:spPr>
      </p:sp>
      <p:sp>
        <p:nvSpPr>
          <p:cNvPr id="334" name="Shape 332"/>
          <p:cNvSpPr/>
          <p:nvPr/>
        </p:nvSpPr>
        <p:spPr>
          <a:xfrm>
            <a:off x="9095510" y="2701138"/>
            <a:ext cx="201501" cy="1569110"/>
          </a:xfrm>
          <a:prstGeom prst="rect">
            <a:avLst/>
          </a:prstGeom>
          <a:solidFill>
            <a:srgbClr val="B4D9E3"/>
          </a:solidFill>
          <a:ln w="12700">
            <a:solidFill>
              <a:srgbClr val="B4D9E3"/>
            </a:solidFill>
            <a:prstDash val="solid"/>
          </a:ln>
        </p:spPr>
      </p:sp>
      <p:sp>
        <p:nvSpPr>
          <p:cNvPr id="335" name="Text 333"/>
          <p:cNvSpPr txBox="1"/>
          <p:nvPr/>
        </p:nvSpPr>
        <p:spPr>
          <a:xfrm>
            <a:off x="9052331"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71.5%</a:t>
            </a:r>
            <a:endParaRPr lang="en-US" sz="650" dirty="0"/>
          </a:p>
        </p:txBody>
      </p:sp>
      <p:sp>
        <p:nvSpPr>
          <p:cNvPr id="336" name="Text 334"/>
          <p:cNvSpPr txBox="1"/>
          <p:nvPr/>
        </p:nvSpPr>
        <p:spPr>
          <a:xfrm>
            <a:off x="9052331"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APR</a:t>
            </a:r>
            <a:endParaRPr lang="en-US" sz="650" dirty="0"/>
          </a:p>
        </p:txBody>
      </p:sp>
      <p:sp>
        <p:nvSpPr>
          <p:cNvPr id="337" name="Shape 335"/>
          <p:cNvSpPr/>
          <p:nvPr/>
        </p:nvSpPr>
        <p:spPr>
          <a:xfrm>
            <a:off x="9383368" y="2075688"/>
            <a:ext cx="201501" cy="2194560"/>
          </a:xfrm>
          <a:prstGeom prst="rect">
            <a:avLst/>
          </a:prstGeom>
          <a:solidFill>
            <a:srgbClr val="F9F9F2"/>
          </a:solidFill>
          <a:ln w="12700">
            <a:solidFill>
              <a:srgbClr val="B4D9E3"/>
            </a:solidFill>
            <a:prstDash val="solid"/>
          </a:ln>
        </p:spPr>
      </p:sp>
      <p:sp>
        <p:nvSpPr>
          <p:cNvPr id="338" name="Shape 336"/>
          <p:cNvSpPr/>
          <p:nvPr/>
        </p:nvSpPr>
        <p:spPr>
          <a:xfrm>
            <a:off x="9383368" y="2731861"/>
            <a:ext cx="201501" cy="1538387"/>
          </a:xfrm>
          <a:prstGeom prst="rect">
            <a:avLst/>
          </a:prstGeom>
          <a:solidFill>
            <a:srgbClr val="B4D9E3"/>
          </a:solidFill>
          <a:ln w="12700">
            <a:solidFill>
              <a:srgbClr val="B4D9E3"/>
            </a:solidFill>
            <a:prstDash val="solid"/>
          </a:ln>
        </p:spPr>
      </p:sp>
      <p:sp>
        <p:nvSpPr>
          <p:cNvPr id="339" name="Text 337"/>
          <p:cNvSpPr txBox="1"/>
          <p:nvPr/>
        </p:nvSpPr>
        <p:spPr>
          <a:xfrm>
            <a:off x="9340190"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70.1%</a:t>
            </a:r>
            <a:endParaRPr lang="en-US" sz="650" dirty="0"/>
          </a:p>
        </p:txBody>
      </p:sp>
      <p:sp>
        <p:nvSpPr>
          <p:cNvPr id="340" name="Text 338"/>
          <p:cNvSpPr txBox="1"/>
          <p:nvPr/>
        </p:nvSpPr>
        <p:spPr>
          <a:xfrm>
            <a:off x="9340190"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MAY</a:t>
            </a:r>
            <a:endParaRPr lang="en-US" sz="650" dirty="0"/>
          </a:p>
        </p:txBody>
      </p:sp>
      <p:sp>
        <p:nvSpPr>
          <p:cNvPr id="341" name="Shape 339"/>
          <p:cNvSpPr/>
          <p:nvPr/>
        </p:nvSpPr>
        <p:spPr>
          <a:xfrm>
            <a:off x="9671227" y="2075688"/>
            <a:ext cx="201501" cy="2194560"/>
          </a:xfrm>
          <a:prstGeom prst="rect">
            <a:avLst/>
          </a:prstGeom>
          <a:solidFill>
            <a:srgbClr val="F9F9F2"/>
          </a:solidFill>
          <a:ln w="12700">
            <a:solidFill>
              <a:srgbClr val="B4D9E3"/>
            </a:solidFill>
            <a:prstDash val="solid"/>
          </a:ln>
        </p:spPr>
      </p:sp>
      <p:sp>
        <p:nvSpPr>
          <p:cNvPr id="342" name="Shape 340"/>
          <p:cNvSpPr/>
          <p:nvPr/>
        </p:nvSpPr>
        <p:spPr>
          <a:xfrm>
            <a:off x="9671227" y="2593604"/>
            <a:ext cx="201501" cy="1676644"/>
          </a:xfrm>
          <a:prstGeom prst="rect">
            <a:avLst/>
          </a:prstGeom>
          <a:solidFill>
            <a:srgbClr val="B4D9E3"/>
          </a:solidFill>
          <a:ln w="12700">
            <a:solidFill>
              <a:srgbClr val="B4D9E3"/>
            </a:solidFill>
            <a:prstDash val="solid"/>
          </a:ln>
        </p:spPr>
      </p:sp>
      <p:sp>
        <p:nvSpPr>
          <p:cNvPr id="343" name="Text 341"/>
          <p:cNvSpPr txBox="1"/>
          <p:nvPr/>
        </p:nvSpPr>
        <p:spPr>
          <a:xfrm>
            <a:off x="9628048"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76.4%</a:t>
            </a:r>
            <a:endParaRPr lang="en-US" sz="650" dirty="0"/>
          </a:p>
        </p:txBody>
      </p:sp>
      <p:sp>
        <p:nvSpPr>
          <p:cNvPr id="344" name="Text 342"/>
          <p:cNvSpPr txBox="1"/>
          <p:nvPr/>
        </p:nvSpPr>
        <p:spPr>
          <a:xfrm>
            <a:off x="9628048"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JUN</a:t>
            </a:r>
            <a:endParaRPr lang="en-US" sz="650" dirty="0"/>
          </a:p>
        </p:txBody>
      </p:sp>
      <p:sp>
        <p:nvSpPr>
          <p:cNvPr id="345" name="Shape 343"/>
          <p:cNvSpPr/>
          <p:nvPr/>
        </p:nvSpPr>
        <p:spPr>
          <a:xfrm>
            <a:off x="9959085" y="2075688"/>
            <a:ext cx="201501" cy="2194560"/>
          </a:xfrm>
          <a:prstGeom prst="rect">
            <a:avLst/>
          </a:prstGeom>
          <a:solidFill>
            <a:srgbClr val="F9F9F2"/>
          </a:solidFill>
          <a:ln w="12700">
            <a:solidFill>
              <a:srgbClr val="B4D9E3"/>
            </a:solidFill>
            <a:prstDash val="solid"/>
          </a:ln>
        </p:spPr>
      </p:sp>
      <p:sp>
        <p:nvSpPr>
          <p:cNvPr id="346" name="Shape 344"/>
          <p:cNvSpPr/>
          <p:nvPr/>
        </p:nvSpPr>
        <p:spPr>
          <a:xfrm>
            <a:off x="9959085" y="2501433"/>
            <a:ext cx="201501" cy="1768815"/>
          </a:xfrm>
          <a:prstGeom prst="rect">
            <a:avLst/>
          </a:prstGeom>
          <a:solidFill>
            <a:srgbClr val="43A3A3"/>
          </a:solidFill>
          <a:ln w="12700">
            <a:solidFill>
              <a:srgbClr val="43A3A3"/>
            </a:solidFill>
            <a:prstDash val="solid"/>
          </a:ln>
        </p:spPr>
      </p:sp>
      <p:sp>
        <p:nvSpPr>
          <p:cNvPr id="347" name="Text 345"/>
          <p:cNvSpPr txBox="1"/>
          <p:nvPr/>
        </p:nvSpPr>
        <p:spPr>
          <a:xfrm>
            <a:off x="9915906"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80.6%</a:t>
            </a:r>
            <a:endParaRPr lang="en-US" sz="650" dirty="0"/>
          </a:p>
        </p:txBody>
      </p:sp>
      <p:sp>
        <p:nvSpPr>
          <p:cNvPr id="348" name="Text 346"/>
          <p:cNvSpPr txBox="1"/>
          <p:nvPr/>
        </p:nvSpPr>
        <p:spPr>
          <a:xfrm>
            <a:off x="9915906"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JUL</a:t>
            </a:r>
            <a:endParaRPr lang="en-US" sz="650" dirty="0"/>
          </a:p>
        </p:txBody>
      </p:sp>
      <p:sp>
        <p:nvSpPr>
          <p:cNvPr id="349" name="Shape 347"/>
          <p:cNvSpPr/>
          <p:nvPr/>
        </p:nvSpPr>
        <p:spPr>
          <a:xfrm>
            <a:off x="10246943" y="2075688"/>
            <a:ext cx="201501" cy="2194560"/>
          </a:xfrm>
          <a:prstGeom prst="rect">
            <a:avLst/>
          </a:prstGeom>
          <a:solidFill>
            <a:srgbClr val="F9F9F2"/>
          </a:solidFill>
          <a:ln w="12700">
            <a:solidFill>
              <a:srgbClr val="B4D9E3"/>
            </a:solidFill>
            <a:prstDash val="solid"/>
          </a:ln>
        </p:spPr>
      </p:sp>
      <p:sp>
        <p:nvSpPr>
          <p:cNvPr id="350" name="Shape 348"/>
          <p:cNvSpPr/>
          <p:nvPr/>
        </p:nvSpPr>
        <p:spPr>
          <a:xfrm>
            <a:off x="10246943" y="2666025"/>
            <a:ext cx="201501" cy="1604223"/>
          </a:xfrm>
          <a:prstGeom prst="rect">
            <a:avLst/>
          </a:prstGeom>
          <a:solidFill>
            <a:srgbClr val="B4D9E3"/>
          </a:solidFill>
          <a:ln w="12700">
            <a:solidFill>
              <a:srgbClr val="B4D9E3"/>
            </a:solidFill>
            <a:prstDash val="solid"/>
          </a:ln>
        </p:spPr>
      </p:sp>
      <p:sp>
        <p:nvSpPr>
          <p:cNvPr id="351" name="Text 349"/>
          <p:cNvSpPr txBox="1"/>
          <p:nvPr/>
        </p:nvSpPr>
        <p:spPr>
          <a:xfrm>
            <a:off x="10203764"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73.1%</a:t>
            </a:r>
            <a:endParaRPr lang="en-US" sz="650" dirty="0"/>
          </a:p>
        </p:txBody>
      </p:sp>
      <p:sp>
        <p:nvSpPr>
          <p:cNvPr id="352" name="Text 350"/>
          <p:cNvSpPr txBox="1"/>
          <p:nvPr/>
        </p:nvSpPr>
        <p:spPr>
          <a:xfrm>
            <a:off x="10203764"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AUG</a:t>
            </a:r>
            <a:endParaRPr lang="en-US" sz="650" dirty="0"/>
          </a:p>
        </p:txBody>
      </p:sp>
      <p:sp>
        <p:nvSpPr>
          <p:cNvPr id="353" name="Shape 351"/>
          <p:cNvSpPr/>
          <p:nvPr/>
        </p:nvSpPr>
        <p:spPr>
          <a:xfrm>
            <a:off x="10534801" y="2075688"/>
            <a:ext cx="201501" cy="2194560"/>
          </a:xfrm>
          <a:prstGeom prst="rect">
            <a:avLst/>
          </a:prstGeom>
          <a:solidFill>
            <a:srgbClr val="F9F9F2"/>
          </a:solidFill>
          <a:ln w="12700">
            <a:solidFill>
              <a:srgbClr val="B4D9E3"/>
            </a:solidFill>
            <a:prstDash val="solid"/>
          </a:ln>
        </p:spPr>
      </p:sp>
      <p:sp>
        <p:nvSpPr>
          <p:cNvPr id="354" name="Shape 352"/>
          <p:cNvSpPr/>
          <p:nvPr/>
        </p:nvSpPr>
        <p:spPr>
          <a:xfrm>
            <a:off x="10534801" y="2655052"/>
            <a:ext cx="201501" cy="1615196"/>
          </a:xfrm>
          <a:prstGeom prst="rect">
            <a:avLst/>
          </a:prstGeom>
          <a:solidFill>
            <a:srgbClr val="B4D9E3"/>
          </a:solidFill>
          <a:ln w="12700">
            <a:solidFill>
              <a:srgbClr val="B4D9E3"/>
            </a:solidFill>
            <a:prstDash val="solid"/>
          </a:ln>
        </p:spPr>
      </p:sp>
      <p:sp>
        <p:nvSpPr>
          <p:cNvPr id="355" name="Text 353"/>
          <p:cNvSpPr txBox="1"/>
          <p:nvPr/>
        </p:nvSpPr>
        <p:spPr>
          <a:xfrm>
            <a:off x="10491622"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73.6%</a:t>
            </a:r>
            <a:endParaRPr lang="en-US" sz="650" dirty="0"/>
          </a:p>
        </p:txBody>
      </p:sp>
      <p:sp>
        <p:nvSpPr>
          <p:cNvPr id="356" name="Text 354"/>
          <p:cNvSpPr txBox="1"/>
          <p:nvPr/>
        </p:nvSpPr>
        <p:spPr>
          <a:xfrm>
            <a:off x="10491622"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SEP</a:t>
            </a:r>
            <a:endParaRPr lang="en-US" sz="650" dirty="0"/>
          </a:p>
        </p:txBody>
      </p:sp>
      <p:sp>
        <p:nvSpPr>
          <p:cNvPr id="357" name="Shape 355"/>
          <p:cNvSpPr/>
          <p:nvPr/>
        </p:nvSpPr>
        <p:spPr>
          <a:xfrm>
            <a:off x="10822659" y="2075688"/>
            <a:ext cx="201501" cy="2194560"/>
          </a:xfrm>
          <a:prstGeom prst="rect">
            <a:avLst/>
          </a:prstGeom>
          <a:solidFill>
            <a:srgbClr val="F9F9F2"/>
          </a:solidFill>
          <a:ln w="12700">
            <a:solidFill>
              <a:srgbClr val="B4D9E3"/>
            </a:solidFill>
            <a:prstDash val="solid"/>
          </a:ln>
        </p:spPr>
      </p:sp>
      <p:sp>
        <p:nvSpPr>
          <p:cNvPr id="358" name="Shape 356"/>
          <p:cNvSpPr/>
          <p:nvPr/>
        </p:nvSpPr>
        <p:spPr>
          <a:xfrm>
            <a:off x="10822659" y="2622133"/>
            <a:ext cx="201501" cy="1648115"/>
          </a:xfrm>
          <a:prstGeom prst="rect">
            <a:avLst/>
          </a:prstGeom>
          <a:solidFill>
            <a:srgbClr val="B4D9E3"/>
          </a:solidFill>
          <a:ln w="12700">
            <a:solidFill>
              <a:srgbClr val="B4D9E3"/>
            </a:solidFill>
            <a:prstDash val="solid"/>
          </a:ln>
        </p:spPr>
      </p:sp>
      <p:sp>
        <p:nvSpPr>
          <p:cNvPr id="359" name="Text 357"/>
          <p:cNvSpPr txBox="1"/>
          <p:nvPr/>
        </p:nvSpPr>
        <p:spPr>
          <a:xfrm>
            <a:off x="10779481"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75.1%</a:t>
            </a:r>
            <a:endParaRPr lang="en-US" sz="650" dirty="0"/>
          </a:p>
        </p:txBody>
      </p:sp>
      <p:sp>
        <p:nvSpPr>
          <p:cNvPr id="360" name="Text 358"/>
          <p:cNvSpPr txBox="1"/>
          <p:nvPr/>
        </p:nvSpPr>
        <p:spPr>
          <a:xfrm>
            <a:off x="10779481"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OCT</a:t>
            </a:r>
            <a:endParaRPr lang="en-US" sz="650" dirty="0"/>
          </a:p>
        </p:txBody>
      </p:sp>
      <p:sp>
        <p:nvSpPr>
          <p:cNvPr id="361" name="Shape 359"/>
          <p:cNvSpPr/>
          <p:nvPr/>
        </p:nvSpPr>
        <p:spPr>
          <a:xfrm>
            <a:off x="11110518" y="2075688"/>
            <a:ext cx="201501" cy="2194560"/>
          </a:xfrm>
          <a:prstGeom prst="rect">
            <a:avLst/>
          </a:prstGeom>
          <a:solidFill>
            <a:srgbClr val="F9F9F2"/>
          </a:solidFill>
          <a:ln w="12700">
            <a:solidFill>
              <a:srgbClr val="B4D9E3"/>
            </a:solidFill>
            <a:prstDash val="solid"/>
          </a:ln>
        </p:spPr>
      </p:sp>
      <p:sp>
        <p:nvSpPr>
          <p:cNvPr id="362" name="Shape 360"/>
          <p:cNvSpPr/>
          <p:nvPr/>
        </p:nvSpPr>
        <p:spPr>
          <a:xfrm>
            <a:off x="11110518" y="2751612"/>
            <a:ext cx="201501" cy="1518636"/>
          </a:xfrm>
          <a:prstGeom prst="rect">
            <a:avLst/>
          </a:prstGeom>
          <a:solidFill>
            <a:srgbClr val="B4D9E3"/>
          </a:solidFill>
          <a:ln w="12700">
            <a:solidFill>
              <a:srgbClr val="B4D9E3"/>
            </a:solidFill>
            <a:prstDash val="solid"/>
          </a:ln>
        </p:spPr>
      </p:sp>
      <p:sp>
        <p:nvSpPr>
          <p:cNvPr id="363" name="Text 361"/>
          <p:cNvSpPr txBox="1"/>
          <p:nvPr/>
        </p:nvSpPr>
        <p:spPr>
          <a:xfrm>
            <a:off x="11067339"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69.2%</a:t>
            </a:r>
            <a:endParaRPr lang="en-US" sz="650" dirty="0"/>
          </a:p>
        </p:txBody>
      </p:sp>
      <p:sp>
        <p:nvSpPr>
          <p:cNvPr id="364" name="Text 362"/>
          <p:cNvSpPr txBox="1"/>
          <p:nvPr/>
        </p:nvSpPr>
        <p:spPr>
          <a:xfrm>
            <a:off x="11067339"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NOV</a:t>
            </a:r>
            <a:endParaRPr lang="en-US" sz="650" dirty="0"/>
          </a:p>
        </p:txBody>
      </p:sp>
      <p:sp>
        <p:nvSpPr>
          <p:cNvPr id="365" name="Shape 363"/>
          <p:cNvSpPr/>
          <p:nvPr/>
        </p:nvSpPr>
        <p:spPr>
          <a:xfrm>
            <a:off x="11398376" y="2075688"/>
            <a:ext cx="201501" cy="2194560"/>
          </a:xfrm>
          <a:prstGeom prst="rect">
            <a:avLst/>
          </a:prstGeom>
          <a:solidFill>
            <a:srgbClr val="F9F9F2"/>
          </a:solidFill>
          <a:ln w="12700">
            <a:solidFill>
              <a:srgbClr val="B4D9E3"/>
            </a:solidFill>
            <a:prstDash val="solid"/>
          </a:ln>
        </p:spPr>
      </p:sp>
      <p:sp>
        <p:nvSpPr>
          <p:cNvPr id="366" name="Shape 364"/>
          <p:cNvSpPr/>
          <p:nvPr/>
        </p:nvSpPr>
        <p:spPr>
          <a:xfrm>
            <a:off x="11398376" y="2758196"/>
            <a:ext cx="201501" cy="1512052"/>
          </a:xfrm>
          <a:prstGeom prst="rect">
            <a:avLst/>
          </a:prstGeom>
          <a:solidFill>
            <a:srgbClr val="B4D9E3"/>
          </a:solidFill>
          <a:ln w="12700">
            <a:solidFill>
              <a:srgbClr val="B4D9E3"/>
            </a:solidFill>
            <a:prstDash val="solid"/>
          </a:ln>
        </p:spPr>
      </p:sp>
      <p:sp>
        <p:nvSpPr>
          <p:cNvPr id="367" name="Text 365"/>
          <p:cNvSpPr txBox="1"/>
          <p:nvPr/>
        </p:nvSpPr>
        <p:spPr>
          <a:xfrm>
            <a:off x="11355197"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68.9%</a:t>
            </a:r>
            <a:endParaRPr lang="en-US" sz="650" dirty="0"/>
          </a:p>
        </p:txBody>
      </p:sp>
      <p:sp>
        <p:nvSpPr>
          <p:cNvPr id="368" name="Text 366"/>
          <p:cNvSpPr txBox="1"/>
          <p:nvPr/>
        </p:nvSpPr>
        <p:spPr>
          <a:xfrm>
            <a:off x="11355197"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DEC</a:t>
            </a:r>
            <a:endParaRPr lang="en-US" sz="650" dirty="0"/>
          </a:p>
        </p:txBody>
      </p:sp>
      <p:sp>
        <p:nvSpPr>
          <p:cNvPr id="36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domestic trips to Anaheim and Garden Grove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domestic trips by home metro area, Jan. 1, 2023-Aug. 31, 2026 · circle area shows share · the Los Angeles metro includes Orange County</a:t>
            </a:r>
            <a:endParaRPr lang="en-US" sz="1200" dirty="0"/>
          </a:p>
        </p:txBody>
      </p:sp>
      <p:pic>
        <p:nvPicPr>
          <p:cNvPr id="4" name="Image 0" descr="Where domestic trips to Anaheim and Garden Grove come from: Los Angeles–Long Beach–Anaheim 44.7%, Riverside–San Bernardino–Ontario 26.1%, San Diego–Chula Vista–Carlsbad 4.1%, Phoenix–Mesa–Chandler 2.3%, Las Vegas–Henderson–Paradise 1.9%, San Francisco–Oakland–Berkeley 1.3%">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44.7%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26.1%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4.1%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1.9%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1.3%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Anaheim and Garden Grove, Jan. 1, 2023-Aug. 31, 2026 (pulled Oct. 19,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visitors to Anaheim and Garden Grove, by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Visitors in calendar 2025, thousands · circle area shows visitors</a:t>
            </a:r>
            <a:endParaRPr lang="en-US" sz="1200" dirty="0"/>
          </a:p>
        </p:txBody>
      </p:sp>
      <p:pic>
        <p:nvPicPr>
          <p:cNvPr id="4" name="Image 0" descr="International visitors to Anaheim and Garden Grove, by home country: Mexico 766K, Canada 254K, United Kingdom 123K, Australia 10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766K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254K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123K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Vibe's requests and where each is answered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follow-up (Oct. 9, 2026) and ECA for OCVIBE (Oct. 19, 2026) · status as of Oct. 19, 2026</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731520"/>
                <a:gridCol w="1188720"/>
                <a:gridCol w="4206240"/>
                <a:gridCol w="2590495"/>
              </a:tblGrid>
              <a:tr h="73152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Request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Asked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Answer in brief</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Where in this app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3152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Q2 2026 Tourism Economics report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 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Answered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Anaheim Q2 2026: 6.74M visitors (+2.8%), $1.76B spending (+7.8%); Garden Grove 831,000 visitors, $200.4M.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 spending; Questions answered; library (Travel Forecast, 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3152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Anaheim, Garden Grove and Orange County reports with food and beverage job 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 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Answered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Food and beverage share of visitor-supported jobs: Anaheim 16.8%, Garden Grove 40.6%, Orange County 29.1% (2025).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Jobs and economy; library (six Tourism Economics 2025 reports)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3152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One more night study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 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Answered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One more night of Anaheim lodging spending: about $794M; each 1% of visitors adding a day: about $31.5M.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One more night; library (study and workbook)</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3152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Review of OC Vibe's white paper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 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Pending a draft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BI will check each figure against its source and return comments with source and 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Questions answered (OC Vibe requests)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3152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Orange County arrivals, origins, seasonality, visitor profile and hotels (five questions)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 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Answered, with named gaps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51.3M visitors (2025); 55.4% from Southern California (2019); July peak; 37.0% with children (2019); 60,224 rooms at 75.2% (2026 YTD).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Orange County tourism; library (CIC 2019 and 11 new files)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Tourism Economics, Economic Impact of Visitors 2025 (pub. Apr.-May 2026); Visit Anaheim BI, Extra Night study;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five questions and where each is answered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Sent by Entertainment + Culture Advisors for OCVIBE, Oct. 19, 2026 · every gap paired with a solution</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60"/>
                <a:gridCol w="2743200"/>
                <a:gridCol w="3474720"/>
                <a:gridCol w="1554480"/>
                <a:gridCol w="2041855"/>
              </a:tblGrid>
              <a:tr h="71323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What was asked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Answer in brief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Main source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Gap and solution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1. Visitor arrivals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came to Orange County each year from 2019 to 2025, and so far in 2026, split by domestic and international and by overnight and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in 2025 (29.2M day, 22.1M overnight; 47.9M domestic, 3.5M international); 50.21M in 2019 (CIC); Anaheim Jan.-June 2026 13.06M (+3.1%).</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 2025; CIC 2019; Tourism Economics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2020 and 2026 YTD not published; request them from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2. Origin markets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visitors come from, and can the Los Angeles-Long Beach-Anaheim area be split into Anaheim and outside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Southern California (2019); 44.7% of Anaheim and Garden Grove domestic trips from the Los Angeles-Long Beach-Anaheim metro (2023-2026).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2019;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 ZIP codes in Azira, so no Anaheim vs. outside-Anaheim split; a custom pull or survey would provide it.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3. Seasonality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does visitation change month by month?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occupancy peaks in July (80.6%) and is lowest in January (61.2%),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 monthly county visitor counts; hotel occupancy is the monthly measure.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4. Visitor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purpose of the trip, how long do visitors stay, how large is the travel party and how many travel with children?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81.2% leisure, 9.6% business, 7.6% special events; party of 2.8; 37.0% with children; overnight stay 4.2 nights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2019;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Latest county profile is 2019; a new survey would update it.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5. 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what are occupancy and average daily 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60,224 rooms (Sept. 2026); 75.2% occupancy, $221.67 ADR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None.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 Symphony | Tourism Economics (Azira), Anaheim and Garden Grove, Jan. 1, 2023-Aug. 31, 2026 (pulled Oct. 19,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1. Visitor arrivals to Orange County, 2009–2026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Millions · CIC Research 2009–2019 and Tourism Economics 2021–2025 are separate methods</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14400"/>
                <a:gridCol w="1188720"/>
                <a:gridCol w="1005840"/>
                <a:gridCol w="1005840"/>
                <a:gridCol w="1371600"/>
                <a:gridCol w="5608015"/>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Total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48.2M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9.1% (4.6M)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$5.92B (46.7% of 2019), Dean Runyan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3.5M (6.7%)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only: 13.06M visitors Jan.-June (+3.1%), 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(Figure 1, Table 3); Tourism Economics, Economic Impact of Visitors to Orange County, 2025 (pub. May 2026); Dean Runyan Associates for Visit California, The Economic Impact of Travel in California, 2025p (Apr. 2026), Orange County detail; Tourism Economics, Anaheim and Garden Grove Travel Forecast (Sept. 2026). 2009–2014 in the dashboard.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1. Orange County visitor spending, including 2020</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Dean Runyan Associates for Visit California · $ millions · spending, not visitor counts</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1097280"/>
                <a:gridCol w="1645920"/>
                <a:gridCol w="1463040"/>
                <a:gridCol w="1463040"/>
                <a:gridCol w="1645920"/>
              </a:tblGrid>
              <a:tr h="384048">
                <a:tc>
                  <a:txBody>
                    <a:bodyPr/>
                    <a:lstStyle/>
                    <a:p>
                      <a:pPr algn="l" indent="0" marL="0">
                        <a:buNone/>
                      </a:pPr>
                      <a:r>
                        <a:rPr lang="en-US" sz="1100" b="1" dirty="0">
                          <a:solidFill>
                            <a:srgbClr val="FFFFFF"/>
                          </a:solidFill>
                          <a:latin typeface="Proxima Nova" pitchFamily="34" charset="0"/>
                          <a:ea typeface="Proxima Nova" pitchFamily="34" charset="-122"/>
                          <a:cs typeface="Proxima Nova" pitchFamily="34" charset="-120"/>
                        </a:rPr>
                        <a:t>Year</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Visitor spending</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Day travel</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Day travel share</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Change vs. 2019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2019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$12,673.3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$1,974.9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15.6%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+0.0%</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2020</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$5,919.6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$599.8</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10.1%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A10009"/>
                          </a:solidFill>
                          <a:latin typeface="Proxima Nova" pitchFamily="34" charset="0"/>
                          <a:ea typeface="Proxima Nova" pitchFamily="34" charset="-122"/>
                          <a:cs typeface="Proxima Nova" pitchFamily="34" charset="-120"/>
                        </a:rPr>
                        <a:t>▼ -53.3%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$9,572.1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$1,075.6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11.2%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A10009"/>
                          </a:solidFill>
                          <a:latin typeface="Proxima Nova" pitchFamily="34" charset="0"/>
                          <a:ea typeface="Proxima Nova" pitchFamily="34" charset="-122"/>
                          <a:cs typeface="Proxima Nova" pitchFamily="34" charset="-120"/>
                        </a:rPr>
                        <a:t>▼ -24.5%</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$13,425.7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$1,645.7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+5.9%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$14,174.1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$1,714.4</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+11.8%</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2024</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$14,899.1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$1,802.6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+17.6%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2025p</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$15,394.2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$1,861.7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 +21.5%</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5" name="Text 2"/>
          <p:cNvSpPr txBox="1"/>
          <p:nvPr/>
        </p:nvSpPr>
        <p:spPr>
          <a:xfrm>
            <a:off x="8138160" y="1417320"/>
            <a:ext cx="3504895" cy="32004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visitor spending in 2020 fell to </a:t>
            </a:r>
            <a:pPr indent="0" marL="0">
              <a:buNone/>
            </a:pPr>
            <a:r>
              <a:rPr lang="en-US" sz="1200" b="1" dirty="0">
                <a:solidFill>
                  <a:srgbClr val="125C60"/>
                </a:solidFill>
                <a:latin typeface="Proxima Nova" pitchFamily="34" charset="0"/>
                <a:ea typeface="Proxima Nova" pitchFamily="34" charset="-122"/>
                <a:cs typeface="Proxima Nova" pitchFamily="34" charset="-120"/>
              </a:rPr>
              <a:t>46.7%</a:t>
            </a:r>
            <a:pPr indent="0" marL="0">
              <a:buNone/>
            </a:pPr>
            <a:r>
              <a:rPr lang="en-US" sz="1200" dirty="0">
                <a:solidFill>
                  <a:srgbClr val="231F20"/>
                </a:solidFill>
                <a:latin typeface="Proxima Nova" pitchFamily="34" charset="0"/>
                <a:ea typeface="Proxima Nova" pitchFamily="34" charset="-122"/>
                <a:cs typeface="Proxima Nova" pitchFamily="34" charset="-120"/>
              </a:rPr>
              <a:t> of its 2019 level and passed 2019 in 2022. In 2025p it was </a:t>
            </a:r>
            <a:pPr indent="0" marL="0">
              <a:buNone/>
            </a:pPr>
            <a:r>
              <a:rPr lang="en-US" sz="1200" b="1" dirty="0">
                <a:solidFill>
                  <a:srgbClr val="125C60"/>
                </a:solidFill>
                <a:latin typeface="Proxima Nova" pitchFamily="34" charset="0"/>
                <a:ea typeface="Proxima Nova" pitchFamily="34" charset="-122"/>
                <a:cs typeface="Proxima Nova" pitchFamily="34" charset="-120"/>
              </a:rPr>
              <a:t>21.5%</a:t>
            </a:r>
            <a:pPr indent="0" marL="0">
              <a:buNone/>
            </a:pPr>
            <a:r>
              <a:rPr lang="en-US" sz="1200" dirty="0">
                <a:solidFill>
                  <a:srgbClr val="231F20"/>
                </a:solidFill>
                <a:latin typeface="Proxima Nova" pitchFamily="34" charset="0"/>
                <a:ea typeface="Proxima Nova" pitchFamily="34" charset="-122"/>
                <a:cs typeface="Proxima Nova" pitchFamily="34" charset="-120"/>
              </a:rPr>
              <a:t> above 2019. Tourism Economics and CIC do not publish 2020 county visitor counts; this series fills the year.</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Dean Runyan Associates for Visit California, The Economic Impact of Travel in California, 2025p (Apr. 2026), Orange County detail, p. 67</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2. Where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2019 (CIC) · Anaheim and Garden Grove 2023–2026 (Azira) · LA metro includes Orange County</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920240"/>
                <a:gridCol w="1188720"/>
                <a:gridCol w="2743200"/>
                <a:gridCol w="914400"/>
              </a:tblGrid>
              <a:tr h="32918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Orange County origin, 2019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Anaheim and Garden Grove origin metro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Southern California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55.4%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 (includes Orange County)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44.7%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 metro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Phoenix</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Las Vegas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Slightly under 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San Francisco-Oakland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Northern California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Other western states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Rest of the 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Almost 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International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 (4.6M)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7498080" y="1417320"/>
          <a:ext cx="4144975" cy="914400"/>
        </p:xfrm>
        <a:graphic>
          <a:graphicData uri="http://schemas.openxmlformats.org/drawingml/2006/table">
            <a:tbl>
              <a:tblPr/>
              <a:tblGrid>
                <a:gridCol w="1097280"/>
                <a:gridCol w="822960"/>
                <a:gridCol w="1188720"/>
                <a:gridCol w="1036015"/>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International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Home TV market (DMA)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Share of domestic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Mexico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766K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Los Angeles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55.6%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Canada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Palm Springs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United Kingdom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123K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San Diego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Australia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104K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Phoenix</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New Zealand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Rest of world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865K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7498080" y="4206240"/>
            <a:ext cx="4144975"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No ZIP codes in Azira: the metro area cannot be split into Anaheim and outside Anaheim. Solution: a custom Symphony pull or a new visitor survey.</a:t>
            </a:r>
            <a:endParaRPr lang="en-US" sz="10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Tourism Economics, Anaheim and Garden Grove Travel Forecast (Sept. 2026); Symphony | Tourism Economics (Azira), Anaheim and Garden Grove, Jan. 1, 2023-Aug. 31, 2026 (pulled Oct. 19, 2026). Orange County 2019 international leaders: Mexico 848K, Canada 786K (CIC Research, Annual Profile of Visitors to Anaheim and Orange County, 2019 (for Visit Anaheim, Apr.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3. Seasonality: Orange County hotel occupancy by month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 of rooms sold · no monthly county visitor counts are published, so hotel occupancy is the measure</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8895"/>
                <a:gridCol w="822960"/>
                <a:gridCol w="822960"/>
                <a:gridCol w="822960"/>
                <a:gridCol w="822960"/>
                <a:gridCol w="822960"/>
                <a:gridCol w="822960"/>
                <a:gridCol w="822960"/>
                <a:gridCol w="822960"/>
                <a:gridCol w="822960"/>
                <a:gridCol w="822960"/>
                <a:gridCol w="822960"/>
                <a:gridCol w="822960"/>
              </a:tblGrid>
              <a:tr h="31089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Feb.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Apr.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Sept.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Nov.</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Dec.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2023-25 avg.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80.6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548640" y="4069080"/>
          <a:ext cx="11094415" cy="914400"/>
        </p:xfrm>
        <a:graphic>
          <a:graphicData uri="http://schemas.openxmlformats.org/drawingml/2006/table">
            <a:tbl>
              <a:tblPr/>
              <a:tblGrid>
                <a:gridCol w="1218895"/>
                <a:gridCol w="822960"/>
                <a:gridCol w="822960"/>
                <a:gridCol w="822960"/>
                <a:gridCol w="822960"/>
                <a:gridCol w="822960"/>
                <a:gridCol w="822960"/>
                <a:gridCol w="822960"/>
                <a:gridCol w="822960"/>
                <a:gridCol w="822960"/>
                <a:gridCol w="822960"/>
                <a:gridCol w="822960"/>
                <a:gridCol w="822960"/>
              </a:tblGrid>
              <a:tr h="31089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Feb.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Apr.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Sept.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Nov.</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Dec.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2023-25 avg.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Lower table: average daily rate. 2020–2021 in the dashboard.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4. Visitor profile: purpose, party size, children and stay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CIC Research, Orange County visitors by type of stay, 2019 · the latest county visitor profile</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79215"/>
                <a:gridCol w="1463040"/>
                <a:gridCol w="1463040"/>
                <a:gridCol w="1463040"/>
                <a:gridCol w="1463040"/>
                <a:gridCol w="1463040"/>
              </a:tblGrid>
              <a:tr h="29260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Hotel guests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Private home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All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Day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All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pleasure or visiting friends and relatives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business or convention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special events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Mean travel party size (people)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Children in the travel group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Mean nights stayed in 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age of visitors (years)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Arrived by air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in 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$121,900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$83,900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$110,100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$89,500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Southern California resident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International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First-time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12.40M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Table 3</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4. More recent visitor indicators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row names its geography and period · none is a full Orange County profile</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60320"/>
                <a:gridCol w="2377440"/>
                <a:gridCol w="3108960"/>
                <a:gridCol w="3047695"/>
              </a:tblGrid>
              <a:tr h="5029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 and period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visitors with children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2019 (hotel leisure groups 62.6%)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travel party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 people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2019 (hotel leisure groups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length of stay, domestic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1.28-1.46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by month,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length of stay,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$92.5K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domestic visitors, 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demand by segment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Transient 59.5%, group 13.3%, contract 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hotels, 12 months to Aug. 2026 (occupancy points)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segmentation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Trip purpose, domestic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Leisure 214.2M, business 40.8M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California,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 Visit California, California Travel Forecast data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CoStar, Orange County hotel segmentation (12 months to Aug. 2026); Tourism Economics for Visit California, California Travel Forecast data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5. Orange County hotel inventory, occupancy and ADR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 2026 is Jan.–Aug. · revenue per available room = occupancy x ADR</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63040"/>
                <a:gridCol w="2103120"/>
                <a:gridCol w="1828800"/>
                <a:gridCol w="1554480"/>
                <a:gridCol w="1645920"/>
                <a:gridCol w="2499055"/>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Rooms available a night (avg.)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Year-end inventory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ADR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Revenue per available room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58,633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59,172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$165.36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50,674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$135.76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56,940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61,354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57.1%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$169.58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$96.83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59,997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60,858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$202.31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$142.02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60,005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60,689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$211.11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$151.15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60,353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60,932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$207.75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$148.96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$209.68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 YTD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60,219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60,224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$221.67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$166.70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 forecast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n/a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n/a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$221.61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$168.20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2026 forecast: Tourism Economics for Visit California, State and Regional Lodging Forecast (Sept. 2026; CoStar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Compare and contrast: how the visitor sources differ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Why figures differ by source, and which to use</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54480"/>
                <a:gridCol w="1828800"/>
                <a:gridCol w="1737360"/>
                <a:gridCol w="1828800"/>
                <a:gridCol w="2194560"/>
                <a:gridCol w="1950415"/>
              </a:tblGrid>
              <a:tr h="6400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Use it for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profile,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2009-2019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Intercept survey, household panel, hotel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2019 baseline and visitor profile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spending, jobs, taxes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2021-2025 (county); 2019-2028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Anaheim; 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Economic model from spending, lodging and survey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Current 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Dean Runyan Associates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jobs, taxes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2015-2025p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California counties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Economic model for Visit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2019-2025 trend including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Azira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Trips, origins,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Origins and recent behavior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rooms, occupancy,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1987-Sept.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census and sample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capacity and seasonality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Tourism Economics, Economic Impact of Visitors to Orange County, 2025 (pub. May 2026); Dean Runyan Associates for Visit California, The Economic Impact of Travel in California, 2025p (Apr. 2026), Orange County detail; Symphony | Tourism Economics (Azira), Anaheim and Garden Grove, Jan. 1, 2023-Aug. 31, 2026 (pulled Oct. 19, 2026);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 Orange County 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 29.2M + overnight 22.1M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 Change in visitors, 2021-2025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51.3 / 39.0 - 1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3. Visitor spending vs.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$15,394.2M / $12,673.3M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Dean Runyan Associates for Visit California, The Economic Impact of Travel in California, 2025p (Apr. 2026), Orange County 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4. Anaheim visitors, Jan.-June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(6.32 + 6.74) / (6.12 + 6.55)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Anaheim and Garden Grove Travel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5. July occupancy, 2023-2025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(80.7 + 80.0 + 81.2) / 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 Revenue per available room,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75.2% x $221.67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$166.70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7. ADR change, 2019 to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$221.67 / $165.36 - 1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Dean Runyan Associates for Visit California, The Economic Impact of Travel in California, 2025p (Apr. 2026), Orange County detail; Tourism Economics, Anaheim and Garden Grove Travel Forecast (Sept. 2026);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100" b="1" dirty="0">
                <a:solidFill>
                  <a:srgbClr val="125C60"/>
                </a:solidFill>
                <a:latin typeface="Proxima Nova" pitchFamily="34" charset="0"/>
                <a:ea typeface="Proxima Nova" pitchFamily="34" charset="-122"/>
                <a:cs typeface="Proxima Nova" pitchFamily="34" charset="-120"/>
              </a:rPr>
              <a:t>51.3M</a:t>
            </a:r>
            <a:pPr indent="0" marL="0">
              <a:buNone/>
            </a:pPr>
            <a:r>
              <a:rPr lang="en-US" sz="110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29.2M</a:t>
            </a:r>
            <a:pPr indent="0" marL="0">
              <a:buNone/>
            </a:pPr>
            <a:r>
              <a:rPr lang="en-US" sz="1100" dirty="0">
                <a:solidFill>
                  <a:srgbClr val="231F20"/>
                </a:solidFill>
                <a:latin typeface="Proxima Nova" pitchFamily="34" charset="0"/>
                <a:ea typeface="Proxima Nova" pitchFamily="34" charset="-122"/>
                <a:cs typeface="Proxima Nova" pitchFamily="34" charset="-120"/>
              </a:rPr>
              <a:t> for the day and </a:t>
            </a:r>
            <a:pPr indent="0" marL="0">
              <a:buNone/>
            </a:pPr>
            <a:r>
              <a:rPr lang="en-US" sz="1100" b="1" dirty="0">
                <a:solidFill>
                  <a:srgbClr val="125C60"/>
                </a:solidFill>
                <a:latin typeface="Proxima Nova" pitchFamily="34" charset="0"/>
                <a:ea typeface="Proxima Nova" pitchFamily="34" charset="-122"/>
                <a:cs typeface="Proxima Nova" pitchFamily="34" charset="-120"/>
              </a:rPr>
              <a:t>22.1M</a:t>
            </a:r>
            <a:pPr indent="0" marL="0">
              <a:buNone/>
            </a:pPr>
            <a:r>
              <a:rPr lang="en-US" sz="1100" dirty="0">
                <a:solidFill>
                  <a:srgbClr val="231F20"/>
                </a:solidFill>
                <a:latin typeface="Proxima Nova" pitchFamily="34" charset="0"/>
                <a:ea typeface="Proxima Nova" pitchFamily="34" charset="-122"/>
                <a:cs typeface="Proxima Nova" pitchFamily="34" charset="-120"/>
              </a:rPr>
              <a:t>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93.3%</a:t>
            </a:r>
            <a:pPr indent="0" marL="0">
              <a:buNone/>
            </a:pPr>
            <a:r>
              <a:rPr lang="en-US" sz="1100" dirty="0">
                <a:solidFill>
                  <a:srgbClr val="231F20"/>
                </a:solidFill>
                <a:latin typeface="Proxima Nova" pitchFamily="34" charset="0"/>
                <a:ea typeface="Proxima Nova" pitchFamily="34" charset="-122"/>
                <a:cs typeface="Proxima Nova" pitchFamily="34" charset="-120"/>
              </a:rPr>
              <a:t> came from within the U.S. (Tourism Economics). Most come for leisure: in 2019, </a:t>
            </a:r>
            <a:pPr indent="0" marL="0">
              <a:buNone/>
            </a:pPr>
            <a:r>
              <a:rPr lang="en-US" sz="1100" b="1" dirty="0">
                <a:solidFill>
                  <a:srgbClr val="125C60"/>
                </a:solidFill>
                <a:latin typeface="Proxima Nova" pitchFamily="34" charset="0"/>
                <a:ea typeface="Proxima Nova" pitchFamily="34" charset="-122"/>
                <a:cs typeface="Proxima Nova" pitchFamily="34" charset="-120"/>
              </a:rPr>
              <a:t>81.2%</a:t>
            </a:r>
            <a:pPr indent="0" marL="0">
              <a:buNone/>
            </a:pPr>
            <a:r>
              <a:rPr lang="en-US" sz="1100" dirty="0">
                <a:solidFill>
                  <a:srgbClr val="231F20"/>
                </a:solidFill>
                <a:latin typeface="Proxima Nova" pitchFamily="34" charset="0"/>
                <a:ea typeface="Proxima Nova" pitchFamily="34" charset="-122"/>
                <a:cs typeface="Proxima Nova" pitchFamily="34" charset="-120"/>
              </a:rPr>
              <a:t> traveled for pleasure or to see friends and relatives, in parties of </a:t>
            </a:r>
            <a:pPr indent="0" marL="0">
              <a:buNone/>
            </a:pPr>
            <a:r>
              <a:rPr lang="en-US" sz="1100" b="1" dirty="0">
                <a:solidFill>
                  <a:srgbClr val="125C60"/>
                </a:solidFill>
                <a:latin typeface="Proxima Nova" pitchFamily="34" charset="0"/>
                <a:ea typeface="Proxima Nova" pitchFamily="34" charset="-122"/>
                <a:cs typeface="Proxima Nova" pitchFamily="34" charset="-120"/>
              </a:rPr>
              <a:t>2.8</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37.0%</a:t>
            </a:r>
            <a:pPr indent="0" marL="0">
              <a:buNone/>
            </a:pPr>
            <a:r>
              <a:rPr lang="en-US" sz="1100" dirty="0">
                <a:solidFill>
                  <a:srgbClr val="231F20"/>
                </a:solidFill>
                <a:latin typeface="Proxima Nova" pitchFamily="34" charset="0"/>
                <a:ea typeface="Proxima Nova" pitchFamily="34" charset="-122"/>
                <a:cs typeface="Proxima Nova" pitchFamily="34" charset="-120"/>
              </a:rPr>
              <a:t> brought children (CIC Research).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75.2%</a:t>
            </a:r>
            <a:pPr indent="0" marL="0">
              <a:buNone/>
            </a:pPr>
            <a:r>
              <a:rPr lang="en-US" sz="1100" dirty="0">
                <a:solidFill>
                  <a:srgbClr val="231F20"/>
                </a:solidFill>
                <a:latin typeface="Proxima Nova" pitchFamily="34" charset="0"/>
                <a:ea typeface="Proxima Nova" pitchFamily="34" charset="-122"/>
                <a:cs typeface="Proxima Nova" pitchFamily="34" charset="-120"/>
              </a:rPr>
              <a:t> of </a:t>
            </a:r>
            <a:pPr indent="0" marL="0">
              <a:buNone/>
            </a:pPr>
            <a:r>
              <a:rPr lang="en-US" sz="1100" b="1" dirty="0">
                <a:solidFill>
                  <a:srgbClr val="125C60"/>
                </a:solidFill>
                <a:latin typeface="Proxima Nova" pitchFamily="34" charset="0"/>
                <a:ea typeface="Proxima Nova" pitchFamily="34" charset="-122"/>
                <a:cs typeface="Proxima Nova" pitchFamily="34" charset="-120"/>
              </a:rPr>
              <a:t>60,224 rooms</a:t>
            </a:r>
            <a:pPr indent="0" marL="0">
              <a:buNone/>
            </a:pPr>
            <a:r>
              <a:rPr lang="en-US" sz="1100" dirty="0">
                <a:solidFill>
                  <a:srgbClr val="231F20"/>
                </a:solidFill>
                <a:latin typeface="Proxima Nova" pitchFamily="34" charset="0"/>
                <a:ea typeface="Proxima Nova" pitchFamily="34" charset="-122"/>
                <a:cs typeface="Proxima Nova" pitchFamily="34" charset="-120"/>
              </a:rPr>
              <a:t> at </a:t>
            </a:r>
            <a:pPr indent="0" marL="0">
              <a:buNone/>
            </a:pPr>
            <a:r>
              <a:rPr lang="en-US" sz="1100" b="1" dirty="0">
                <a:solidFill>
                  <a:srgbClr val="125C60"/>
                </a:solidFill>
                <a:latin typeface="Proxima Nova" pitchFamily="34" charset="0"/>
                <a:ea typeface="Proxima Nova" pitchFamily="34" charset="-122"/>
                <a:cs typeface="Proxima Nova" pitchFamily="34" charset="-120"/>
              </a:rPr>
              <a:t>$221.67</a:t>
            </a:r>
            <a:pPr indent="0" marL="0">
              <a:buNone/>
            </a:pPr>
            <a:r>
              <a:rPr lang="en-US" sz="1100" dirty="0">
                <a:solidFill>
                  <a:srgbClr val="231F20"/>
                </a:solidFill>
                <a:latin typeface="Proxima Nova" pitchFamily="34" charset="0"/>
                <a:ea typeface="Proxima Nova" pitchFamily="34" charset="-122"/>
                <a:cs typeface="Proxima Nova" pitchFamily="34" charset="-120"/>
              </a:rPr>
              <a:t> in Jan.-Aug. 2026, with July the busiest month (CoStar).</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A sized market: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51.3M</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county visitors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22.1M</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overnight visitors a year (2025).</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Family and leisure audiences dominate: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81.2%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leisure,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37.0%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 children, parties of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2.8</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(2019).</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60,224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county hotel rooms at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75.2%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occupancy (2026 YTD); January, December and February have the most room.</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A current Orange County visitor survey (purpose, party size, children, origins by ZIP) to replace the 2019 baseline.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Tourism Economics county estimates for 2019-2020 and 2026 year to date (to be requested from Tourism Economics).</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District 5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rounded from the measured share</a:t>
            </a:r>
            <a:endParaRPr lang="en-US" sz="950" dirty="0"/>
          </a:p>
        </p:txBody>
      </p:sp>
      <p:sp>
        <p:nvSpPr>
          <p:cNvPr id="6" name="Shape 4"/>
          <p:cNvSpPr/>
          <p:nvPr/>
        </p:nvSpPr>
        <p:spPr>
          <a:xfrm>
            <a:off x="548640" y="2075688"/>
            <a:ext cx="219456" cy="219456"/>
          </a:xfrm>
          <a:prstGeom prst="rect">
            <a:avLst/>
          </a:prstGeom>
          <a:solidFill>
            <a:srgbClr val="43A3A3"/>
          </a:solidFill>
          <a:ln w="12700">
            <a:solidFill>
              <a:srgbClr val="43A3A3"/>
            </a:solidFill>
            <a:prstDash val="solid"/>
          </a:ln>
        </p:spPr>
      </p:sp>
      <p:sp>
        <p:nvSpPr>
          <p:cNvPr id="7" name="Shape 5"/>
          <p:cNvSpPr/>
          <p:nvPr/>
        </p:nvSpPr>
        <p:spPr>
          <a:xfrm>
            <a:off x="798820" y="2075688"/>
            <a:ext cx="219456" cy="219456"/>
          </a:xfrm>
          <a:prstGeom prst="rect">
            <a:avLst/>
          </a:prstGeom>
          <a:solidFill>
            <a:srgbClr val="43A3A3"/>
          </a:solidFill>
          <a:ln w="12700">
            <a:solidFill>
              <a:srgbClr val="43A3A3"/>
            </a:solidFill>
            <a:prstDash val="solid"/>
          </a:ln>
        </p:spPr>
      </p:sp>
      <p:sp>
        <p:nvSpPr>
          <p:cNvPr id="8" name="Shape 6"/>
          <p:cNvSpPr/>
          <p:nvPr/>
        </p:nvSpPr>
        <p:spPr>
          <a:xfrm>
            <a:off x="1049000" y="2075688"/>
            <a:ext cx="219456" cy="219456"/>
          </a:xfrm>
          <a:prstGeom prst="rect">
            <a:avLst/>
          </a:prstGeom>
          <a:solidFill>
            <a:srgbClr val="43A3A3"/>
          </a:solidFill>
          <a:ln w="12700">
            <a:solidFill>
              <a:srgbClr val="43A3A3"/>
            </a:solidFill>
            <a:prstDash val="solid"/>
          </a:ln>
        </p:spPr>
      </p:sp>
      <p:sp>
        <p:nvSpPr>
          <p:cNvPr id="9" name="Shape 7"/>
          <p:cNvSpPr/>
          <p:nvPr/>
        </p:nvSpPr>
        <p:spPr>
          <a:xfrm>
            <a:off x="1299180" y="2075688"/>
            <a:ext cx="219456" cy="219456"/>
          </a:xfrm>
          <a:prstGeom prst="rect">
            <a:avLst/>
          </a:prstGeom>
          <a:solidFill>
            <a:srgbClr val="43A3A3"/>
          </a:solidFill>
          <a:ln w="12700">
            <a:solidFill>
              <a:srgbClr val="43A3A3"/>
            </a:solidFill>
            <a:prstDash val="solid"/>
          </a:ln>
        </p:spPr>
      </p:sp>
      <p:sp>
        <p:nvSpPr>
          <p:cNvPr id="10" name="Shape 8"/>
          <p:cNvSpPr/>
          <p:nvPr/>
        </p:nvSpPr>
        <p:spPr>
          <a:xfrm>
            <a:off x="1549359" y="2075688"/>
            <a:ext cx="219456" cy="219456"/>
          </a:xfrm>
          <a:prstGeom prst="rect">
            <a:avLst/>
          </a:prstGeom>
          <a:solidFill>
            <a:srgbClr val="43A3A3"/>
          </a:solidFill>
          <a:ln w="12700">
            <a:solidFill>
              <a:srgbClr val="43A3A3"/>
            </a:solidFill>
            <a:prstDash val="solid"/>
          </a:ln>
        </p:spPr>
      </p:sp>
      <p:sp>
        <p:nvSpPr>
          <p:cNvPr id="11" name="Shape 9"/>
          <p:cNvSpPr/>
          <p:nvPr/>
        </p:nvSpPr>
        <p:spPr>
          <a:xfrm>
            <a:off x="1799539" y="2075688"/>
            <a:ext cx="219456" cy="219456"/>
          </a:xfrm>
          <a:prstGeom prst="rect">
            <a:avLst/>
          </a:prstGeom>
          <a:solidFill>
            <a:srgbClr val="43A3A3"/>
          </a:solidFill>
          <a:ln w="12700">
            <a:solidFill>
              <a:srgbClr val="43A3A3"/>
            </a:solidFill>
            <a:prstDash val="solid"/>
          </a:ln>
        </p:spPr>
      </p:sp>
      <p:sp>
        <p:nvSpPr>
          <p:cNvPr id="12" name="Shape 10"/>
          <p:cNvSpPr/>
          <p:nvPr/>
        </p:nvSpPr>
        <p:spPr>
          <a:xfrm>
            <a:off x="2049719" y="2075688"/>
            <a:ext cx="219456" cy="219456"/>
          </a:xfrm>
          <a:prstGeom prst="rect">
            <a:avLst/>
          </a:prstGeom>
          <a:solidFill>
            <a:srgbClr val="43A3A3"/>
          </a:solidFill>
          <a:ln w="12700">
            <a:solidFill>
              <a:srgbClr val="43A3A3"/>
            </a:solidFill>
            <a:prstDash val="solid"/>
          </a:ln>
        </p:spPr>
      </p:sp>
      <p:sp>
        <p:nvSpPr>
          <p:cNvPr id="13" name="Shape 11"/>
          <p:cNvSpPr/>
          <p:nvPr/>
        </p:nvSpPr>
        <p:spPr>
          <a:xfrm>
            <a:off x="2299899" y="2075688"/>
            <a:ext cx="219456" cy="219456"/>
          </a:xfrm>
          <a:prstGeom prst="rect">
            <a:avLst/>
          </a:prstGeom>
          <a:solidFill>
            <a:srgbClr val="43A3A3"/>
          </a:solidFill>
          <a:ln w="12700">
            <a:solidFill>
              <a:srgbClr val="43A3A3"/>
            </a:solidFill>
            <a:prstDash val="solid"/>
          </a:ln>
        </p:spPr>
      </p:sp>
      <p:sp>
        <p:nvSpPr>
          <p:cNvPr id="14" name="Shape 12"/>
          <p:cNvSpPr/>
          <p:nvPr/>
        </p:nvSpPr>
        <p:spPr>
          <a:xfrm>
            <a:off x="2550079" y="2075688"/>
            <a:ext cx="219456" cy="219456"/>
          </a:xfrm>
          <a:prstGeom prst="rect">
            <a:avLst/>
          </a:prstGeom>
          <a:solidFill>
            <a:srgbClr val="43A3A3"/>
          </a:solidFill>
          <a:ln w="12700">
            <a:solidFill>
              <a:srgbClr val="43A3A3"/>
            </a:solidFill>
            <a:prstDash val="solid"/>
          </a:ln>
        </p:spPr>
      </p:sp>
      <p:sp>
        <p:nvSpPr>
          <p:cNvPr id="15" name="Shape 13"/>
          <p:cNvSpPr/>
          <p:nvPr/>
        </p:nvSpPr>
        <p:spPr>
          <a:xfrm>
            <a:off x="2800259" y="2075688"/>
            <a:ext cx="219456" cy="219456"/>
          </a:xfrm>
          <a:prstGeom prst="rect">
            <a:avLst/>
          </a:prstGeom>
          <a:solidFill>
            <a:srgbClr val="43A3A3"/>
          </a:solidFill>
          <a:ln w="12700">
            <a:solidFill>
              <a:srgbClr val="43A3A3"/>
            </a:solidFill>
            <a:prstDash val="solid"/>
          </a:ln>
        </p:spPr>
      </p:sp>
      <p:sp>
        <p:nvSpPr>
          <p:cNvPr id="16" name="Shape 14"/>
          <p:cNvSpPr/>
          <p:nvPr/>
        </p:nvSpPr>
        <p:spPr>
          <a:xfrm>
            <a:off x="548640" y="2325868"/>
            <a:ext cx="219456" cy="219456"/>
          </a:xfrm>
          <a:prstGeom prst="rect">
            <a:avLst/>
          </a:prstGeom>
          <a:solidFill>
            <a:srgbClr val="43A3A3"/>
          </a:solidFill>
          <a:ln w="12700">
            <a:solidFill>
              <a:srgbClr val="43A3A3"/>
            </a:solidFill>
            <a:prstDash val="solid"/>
          </a:ln>
        </p:spPr>
      </p:sp>
      <p:sp>
        <p:nvSpPr>
          <p:cNvPr id="17" name="Shape 15"/>
          <p:cNvSpPr/>
          <p:nvPr/>
        </p:nvSpPr>
        <p:spPr>
          <a:xfrm>
            <a:off x="798820" y="2325868"/>
            <a:ext cx="219456" cy="219456"/>
          </a:xfrm>
          <a:prstGeom prst="rect">
            <a:avLst/>
          </a:prstGeom>
          <a:solidFill>
            <a:srgbClr val="43A3A3"/>
          </a:solidFill>
          <a:ln w="12700">
            <a:solidFill>
              <a:srgbClr val="43A3A3"/>
            </a:solidFill>
            <a:prstDash val="solid"/>
          </a:ln>
        </p:spPr>
      </p:sp>
      <p:sp>
        <p:nvSpPr>
          <p:cNvPr id="18" name="Shape 16"/>
          <p:cNvSpPr/>
          <p:nvPr/>
        </p:nvSpPr>
        <p:spPr>
          <a:xfrm>
            <a:off x="1049000" y="2325868"/>
            <a:ext cx="219456" cy="219456"/>
          </a:xfrm>
          <a:prstGeom prst="rect">
            <a:avLst/>
          </a:prstGeom>
          <a:solidFill>
            <a:srgbClr val="43A3A3"/>
          </a:solidFill>
          <a:ln w="12700">
            <a:solidFill>
              <a:srgbClr val="43A3A3"/>
            </a:solidFill>
            <a:prstDash val="solid"/>
          </a:ln>
        </p:spPr>
      </p:sp>
      <p:sp>
        <p:nvSpPr>
          <p:cNvPr id="19" name="Shape 17"/>
          <p:cNvSpPr/>
          <p:nvPr/>
        </p:nvSpPr>
        <p:spPr>
          <a:xfrm>
            <a:off x="1299180" y="2325868"/>
            <a:ext cx="219456" cy="219456"/>
          </a:xfrm>
          <a:prstGeom prst="rect">
            <a:avLst/>
          </a:prstGeom>
          <a:solidFill>
            <a:srgbClr val="43A3A3"/>
          </a:solidFill>
          <a:ln w="12700">
            <a:solidFill>
              <a:srgbClr val="43A3A3"/>
            </a:solidFill>
            <a:prstDash val="solid"/>
          </a:ln>
        </p:spPr>
      </p:sp>
      <p:sp>
        <p:nvSpPr>
          <p:cNvPr id="20" name="Shape 18"/>
          <p:cNvSpPr/>
          <p:nvPr/>
        </p:nvSpPr>
        <p:spPr>
          <a:xfrm>
            <a:off x="1549359" y="2325868"/>
            <a:ext cx="219456" cy="219456"/>
          </a:xfrm>
          <a:prstGeom prst="rect">
            <a:avLst/>
          </a:prstGeom>
          <a:solidFill>
            <a:srgbClr val="43A3A3"/>
          </a:solidFill>
          <a:ln w="12700">
            <a:solidFill>
              <a:srgbClr val="43A3A3"/>
            </a:solidFill>
            <a:prstDash val="solid"/>
          </a:ln>
        </p:spPr>
      </p:sp>
      <p:sp>
        <p:nvSpPr>
          <p:cNvPr id="21" name="Shape 19"/>
          <p:cNvSpPr/>
          <p:nvPr/>
        </p:nvSpPr>
        <p:spPr>
          <a:xfrm>
            <a:off x="1799539" y="2325868"/>
            <a:ext cx="219456" cy="219456"/>
          </a:xfrm>
          <a:prstGeom prst="rect">
            <a:avLst/>
          </a:prstGeom>
          <a:solidFill>
            <a:srgbClr val="43A3A3"/>
          </a:solidFill>
          <a:ln w="12700">
            <a:solidFill>
              <a:srgbClr val="43A3A3"/>
            </a:solidFill>
            <a:prstDash val="solid"/>
          </a:ln>
        </p:spPr>
      </p:sp>
      <p:sp>
        <p:nvSpPr>
          <p:cNvPr id="22" name="Shape 20"/>
          <p:cNvSpPr/>
          <p:nvPr/>
        </p:nvSpPr>
        <p:spPr>
          <a:xfrm>
            <a:off x="2049719" y="2325868"/>
            <a:ext cx="219456" cy="219456"/>
          </a:xfrm>
          <a:prstGeom prst="rect">
            <a:avLst/>
          </a:prstGeom>
          <a:solidFill>
            <a:srgbClr val="43A3A3"/>
          </a:solidFill>
          <a:ln w="12700">
            <a:solidFill>
              <a:srgbClr val="43A3A3"/>
            </a:solidFill>
            <a:prstDash val="solid"/>
          </a:ln>
        </p:spPr>
      </p:sp>
      <p:sp>
        <p:nvSpPr>
          <p:cNvPr id="23" name="Shape 21"/>
          <p:cNvSpPr/>
          <p:nvPr/>
        </p:nvSpPr>
        <p:spPr>
          <a:xfrm>
            <a:off x="2299899" y="2325868"/>
            <a:ext cx="219456" cy="219456"/>
          </a:xfrm>
          <a:prstGeom prst="rect">
            <a:avLst/>
          </a:prstGeom>
          <a:solidFill>
            <a:srgbClr val="43A3A3"/>
          </a:solidFill>
          <a:ln w="12700">
            <a:solidFill>
              <a:srgbClr val="43A3A3"/>
            </a:solidFill>
            <a:prstDash val="solid"/>
          </a:ln>
        </p:spPr>
      </p:sp>
      <p:sp>
        <p:nvSpPr>
          <p:cNvPr id="24" name="Shape 22"/>
          <p:cNvSpPr/>
          <p:nvPr/>
        </p:nvSpPr>
        <p:spPr>
          <a:xfrm>
            <a:off x="2550079" y="2325868"/>
            <a:ext cx="219456" cy="219456"/>
          </a:xfrm>
          <a:prstGeom prst="rect">
            <a:avLst/>
          </a:prstGeom>
          <a:solidFill>
            <a:srgbClr val="43A3A3"/>
          </a:solidFill>
          <a:ln w="12700">
            <a:solidFill>
              <a:srgbClr val="43A3A3"/>
            </a:solidFill>
            <a:prstDash val="solid"/>
          </a:ln>
        </p:spPr>
      </p:sp>
      <p:sp>
        <p:nvSpPr>
          <p:cNvPr id="25" name="Shape 23"/>
          <p:cNvSpPr/>
          <p:nvPr/>
        </p:nvSpPr>
        <p:spPr>
          <a:xfrm>
            <a:off x="2800259" y="2325868"/>
            <a:ext cx="219456" cy="219456"/>
          </a:xfrm>
          <a:prstGeom prst="rect">
            <a:avLst/>
          </a:prstGeom>
          <a:solidFill>
            <a:srgbClr val="43A3A3"/>
          </a:solidFill>
          <a:ln w="12700">
            <a:solidFill>
              <a:srgbClr val="43A3A3"/>
            </a:solidFill>
            <a:prstDash val="solid"/>
          </a:ln>
        </p:spPr>
      </p:sp>
      <p:sp>
        <p:nvSpPr>
          <p:cNvPr id="26" name="Shape 24"/>
          <p:cNvSpPr/>
          <p:nvPr/>
        </p:nvSpPr>
        <p:spPr>
          <a:xfrm>
            <a:off x="548640" y="2576048"/>
            <a:ext cx="219456" cy="219456"/>
          </a:xfrm>
          <a:prstGeom prst="rect">
            <a:avLst/>
          </a:prstGeom>
          <a:solidFill>
            <a:srgbClr val="43A3A3"/>
          </a:solidFill>
          <a:ln w="12700">
            <a:solidFill>
              <a:srgbClr val="43A3A3"/>
            </a:solidFill>
            <a:prstDash val="solid"/>
          </a:ln>
        </p:spPr>
      </p:sp>
      <p:sp>
        <p:nvSpPr>
          <p:cNvPr id="27" name="Shape 25"/>
          <p:cNvSpPr/>
          <p:nvPr/>
        </p:nvSpPr>
        <p:spPr>
          <a:xfrm>
            <a:off x="798820" y="2576048"/>
            <a:ext cx="219456" cy="219456"/>
          </a:xfrm>
          <a:prstGeom prst="rect">
            <a:avLst/>
          </a:prstGeom>
          <a:solidFill>
            <a:srgbClr val="43A3A3"/>
          </a:solidFill>
          <a:ln w="12700">
            <a:solidFill>
              <a:srgbClr val="43A3A3"/>
            </a:solidFill>
            <a:prstDash val="solid"/>
          </a:ln>
        </p:spPr>
      </p:sp>
      <p:sp>
        <p:nvSpPr>
          <p:cNvPr id="28" name="Shape 26"/>
          <p:cNvSpPr/>
          <p:nvPr/>
        </p:nvSpPr>
        <p:spPr>
          <a:xfrm>
            <a:off x="1049000" y="2576048"/>
            <a:ext cx="219456" cy="219456"/>
          </a:xfrm>
          <a:prstGeom prst="rect">
            <a:avLst/>
          </a:prstGeom>
          <a:solidFill>
            <a:srgbClr val="43A3A3"/>
          </a:solidFill>
          <a:ln w="12700">
            <a:solidFill>
              <a:srgbClr val="43A3A3"/>
            </a:solidFill>
            <a:prstDash val="solid"/>
          </a:ln>
        </p:spPr>
      </p:sp>
      <p:sp>
        <p:nvSpPr>
          <p:cNvPr id="29" name="Shape 27"/>
          <p:cNvSpPr/>
          <p:nvPr/>
        </p:nvSpPr>
        <p:spPr>
          <a:xfrm>
            <a:off x="1299180" y="2576048"/>
            <a:ext cx="219456" cy="219456"/>
          </a:xfrm>
          <a:prstGeom prst="rect">
            <a:avLst/>
          </a:prstGeom>
          <a:solidFill>
            <a:srgbClr val="43A3A3"/>
          </a:solidFill>
          <a:ln w="12700">
            <a:solidFill>
              <a:srgbClr val="43A3A3"/>
            </a:solidFill>
            <a:prstDash val="solid"/>
          </a:ln>
        </p:spPr>
      </p:sp>
      <p:sp>
        <p:nvSpPr>
          <p:cNvPr id="30" name="Shape 28"/>
          <p:cNvSpPr/>
          <p:nvPr/>
        </p:nvSpPr>
        <p:spPr>
          <a:xfrm>
            <a:off x="1549359" y="2576048"/>
            <a:ext cx="219456" cy="219456"/>
          </a:xfrm>
          <a:prstGeom prst="rect">
            <a:avLst/>
          </a:prstGeom>
          <a:solidFill>
            <a:srgbClr val="43A3A3"/>
          </a:solidFill>
          <a:ln w="12700">
            <a:solidFill>
              <a:srgbClr val="43A3A3"/>
            </a:solidFill>
            <a:prstDash val="solid"/>
          </a:ln>
        </p:spPr>
      </p:sp>
      <p:sp>
        <p:nvSpPr>
          <p:cNvPr id="31" name="Shape 29"/>
          <p:cNvSpPr/>
          <p:nvPr/>
        </p:nvSpPr>
        <p:spPr>
          <a:xfrm>
            <a:off x="1799539" y="2576048"/>
            <a:ext cx="219456" cy="219456"/>
          </a:xfrm>
          <a:prstGeom prst="rect">
            <a:avLst/>
          </a:prstGeom>
          <a:solidFill>
            <a:srgbClr val="43A3A3"/>
          </a:solidFill>
          <a:ln w="12700">
            <a:solidFill>
              <a:srgbClr val="43A3A3"/>
            </a:solidFill>
            <a:prstDash val="solid"/>
          </a:ln>
        </p:spPr>
      </p:sp>
      <p:sp>
        <p:nvSpPr>
          <p:cNvPr id="32" name="Shape 30"/>
          <p:cNvSpPr/>
          <p:nvPr/>
        </p:nvSpPr>
        <p:spPr>
          <a:xfrm>
            <a:off x="2049719" y="2576048"/>
            <a:ext cx="219456" cy="219456"/>
          </a:xfrm>
          <a:prstGeom prst="rect">
            <a:avLst/>
          </a:prstGeom>
          <a:solidFill>
            <a:srgbClr val="43A3A3"/>
          </a:solidFill>
          <a:ln w="12700">
            <a:solidFill>
              <a:srgbClr val="43A3A3"/>
            </a:solidFill>
            <a:prstDash val="solid"/>
          </a:ln>
        </p:spPr>
      </p:sp>
      <p:sp>
        <p:nvSpPr>
          <p:cNvPr id="33" name="Shape 31"/>
          <p:cNvSpPr/>
          <p:nvPr/>
        </p:nvSpPr>
        <p:spPr>
          <a:xfrm>
            <a:off x="2299899" y="2576048"/>
            <a:ext cx="219456" cy="219456"/>
          </a:xfrm>
          <a:prstGeom prst="rect">
            <a:avLst/>
          </a:prstGeom>
          <a:solidFill>
            <a:srgbClr val="43A3A3"/>
          </a:solidFill>
          <a:ln w="12700">
            <a:solidFill>
              <a:srgbClr val="43A3A3"/>
            </a:solidFill>
            <a:prstDash val="solid"/>
          </a:ln>
        </p:spPr>
      </p:sp>
      <p:sp>
        <p:nvSpPr>
          <p:cNvPr id="34" name="Shape 32"/>
          <p:cNvSpPr/>
          <p:nvPr/>
        </p:nvSpPr>
        <p:spPr>
          <a:xfrm>
            <a:off x="2550079" y="2576048"/>
            <a:ext cx="219456" cy="219456"/>
          </a:xfrm>
          <a:prstGeom prst="rect">
            <a:avLst/>
          </a:prstGeom>
          <a:solidFill>
            <a:srgbClr val="43A3A3"/>
          </a:solidFill>
          <a:ln w="12700">
            <a:solidFill>
              <a:srgbClr val="43A3A3"/>
            </a:solidFill>
            <a:prstDash val="solid"/>
          </a:ln>
        </p:spPr>
      </p:sp>
      <p:sp>
        <p:nvSpPr>
          <p:cNvPr id="35" name="Shape 33"/>
          <p:cNvSpPr/>
          <p:nvPr/>
        </p:nvSpPr>
        <p:spPr>
          <a:xfrm>
            <a:off x="2800259" y="2576048"/>
            <a:ext cx="219456" cy="219456"/>
          </a:xfrm>
          <a:prstGeom prst="rect">
            <a:avLst/>
          </a:prstGeom>
          <a:solidFill>
            <a:srgbClr val="43A3A3"/>
          </a:solidFill>
          <a:ln w="12700">
            <a:solidFill>
              <a:srgbClr val="43A3A3"/>
            </a:solidFill>
            <a:prstDash val="solid"/>
          </a:ln>
        </p:spPr>
      </p:sp>
      <p:sp>
        <p:nvSpPr>
          <p:cNvPr id="36" name="Shape 34"/>
          <p:cNvSpPr/>
          <p:nvPr/>
        </p:nvSpPr>
        <p:spPr>
          <a:xfrm>
            <a:off x="548640" y="2826228"/>
            <a:ext cx="219456" cy="219456"/>
          </a:xfrm>
          <a:prstGeom prst="rect">
            <a:avLst/>
          </a:prstGeom>
          <a:solidFill>
            <a:srgbClr val="43A3A3"/>
          </a:solidFill>
          <a:ln w="12700">
            <a:solidFill>
              <a:srgbClr val="43A3A3"/>
            </a:solidFill>
            <a:prstDash val="solid"/>
          </a:ln>
        </p:spPr>
      </p:sp>
      <p:sp>
        <p:nvSpPr>
          <p:cNvPr id="37" name="Shape 35"/>
          <p:cNvSpPr/>
          <p:nvPr/>
        </p:nvSpPr>
        <p:spPr>
          <a:xfrm>
            <a:off x="798820" y="2826228"/>
            <a:ext cx="219456" cy="219456"/>
          </a:xfrm>
          <a:prstGeom prst="rect">
            <a:avLst/>
          </a:prstGeom>
          <a:solidFill>
            <a:srgbClr val="43A3A3"/>
          </a:solidFill>
          <a:ln w="12700">
            <a:solidFill>
              <a:srgbClr val="43A3A3"/>
            </a:solidFill>
            <a:prstDash val="solid"/>
          </a:ln>
        </p:spPr>
      </p:sp>
      <p:sp>
        <p:nvSpPr>
          <p:cNvPr id="38" name="Shape 36"/>
          <p:cNvSpPr/>
          <p:nvPr/>
        </p:nvSpPr>
        <p:spPr>
          <a:xfrm>
            <a:off x="1049000" y="2826228"/>
            <a:ext cx="219456" cy="219456"/>
          </a:xfrm>
          <a:prstGeom prst="rect">
            <a:avLst/>
          </a:prstGeom>
          <a:solidFill>
            <a:srgbClr val="43A3A3"/>
          </a:solidFill>
          <a:ln w="12700">
            <a:solidFill>
              <a:srgbClr val="43A3A3"/>
            </a:solidFill>
            <a:prstDash val="solid"/>
          </a:ln>
        </p:spPr>
      </p:sp>
      <p:sp>
        <p:nvSpPr>
          <p:cNvPr id="39" name="Shape 37"/>
          <p:cNvSpPr/>
          <p:nvPr/>
        </p:nvSpPr>
        <p:spPr>
          <a:xfrm>
            <a:off x="1299180" y="2826228"/>
            <a:ext cx="219456" cy="219456"/>
          </a:xfrm>
          <a:prstGeom prst="rect">
            <a:avLst/>
          </a:prstGeom>
          <a:solidFill>
            <a:srgbClr val="43A3A3"/>
          </a:solidFill>
          <a:ln w="12700">
            <a:solidFill>
              <a:srgbClr val="43A3A3"/>
            </a:solidFill>
            <a:prstDash val="solid"/>
          </a:ln>
        </p:spPr>
      </p:sp>
      <p:sp>
        <p:nvSpPr>
          <p:cNvPr id="40" name="Shape 38"/>
          <p:cNvSpPr/>
          <p:nvPr/>
        </p:nvSpPr>
        <p:spPr>
          <a:xfrm>
            <a:off x="1549359" y="2826228"/>
            <a:ext cx="219456" cy="219456"/>
          </a:xfrm>
          <a:prstGeom prst="rect">
            <a:avLst/>
          </a:prstGeom>
          <a:solidFill>
            <a:srgbClr val="43A3A3"/>
          </a:solidFill>
          <a:ln w="12700">
            <a:solidFill>
              <a:srgbClr val="43A3A3"/>
            </a:solidFill>
            <a:prstDash val="solid"/>
          </a:ln>
        </p:spPr>
      </p:sp>
      <p:sp>
        <p:nvSpPr>
          <p:cNvPr id="41" name="Shape 39"/>
          <p:cNvSpPr/>
          <p:nvPr/>
        </p:nvSpPr>
        <p:spPr>
          <a:xfrm>
            <a:off x="1799539" y="2826228"/>
            <a:ext cx="219456" cy="219456"/>
          </a:xfrm>
          <a:prstGeom prst="rect">
            <a:avLst/>
          </a:prstGeom>
          <a:solidFill>
            <a:srgbClr val="43A3A3"/>
          </a:solidFill>
          <a:ln w="12700">
            <a:solidFill>
              <a:srgbClr val="43A3A3"/>
            </a:solidFill>
            <a:prstDash val="solid"/>
          </a:ln>
        </p:spPr>
      </p:sp>
      <p:sp>
        <p:nvSpPr>
          <p:cNvPr id="42" name="Shape 40"/>
          <p:cNvSpPr/>
          <p:nvPr/>
        </p:nvSpPr>
        <p:spPr>
          <a:xfrm>
            <a:off x="2049719" y="2826228"/>
            <a:ext cx="219456" cy="219456"/>
          </a:xfrm>
          <a:prstGeom prst="rect">
            <a:avLst/>
          </a:prstGeom>
          <a:solidFill>
            <a:srgbClr val="43A3A3"/>
          </a:solidFill>
          <a:ln w="12700">
            <a:solidFill>
              <a:srgbClr val="43A3A3"/>
            </a:solidFill>
            <a:prstDash val="solid"/>
          </a:ln>
        </p:spPr>
      </p:sp>
      <p:sp>
        <p:nvSpPr>
          <p:cNvPr id="43" name="Shape 41"/>
          <p:cNvSpPr/>
          <p:nvPr/>
        </p:nvSpPr>
        <p:spPr>
          <a:xfrm>
            <a:off x="2299899" y="2826228"/>
            <a:ext cx="219456" cy="219456"/>
          </a:xfrm>
          <a:prstGeom prst="rect">
            <a:avLst/>
          </a:prstGeom>
          <a:solidFill>
            <a:srgbClr val="43A3A3"/>
          </a:solidFill>
          <a:ln w="12700">
            <a:solidFill>
              <a:srgbClr val="43A3A3"/>
            </a:solidFill>
            <a:prstDash val="solid"/>
          </a:ln>
        </p:spPr>
      </p:sp>
      <p:sp>
        <p:nvSpPr>
          <p:cNvPr id="44" name="Shape 42"/>
          <p:cNvSpPr/>
          <p:nvPr/>
        </p:nvSpPr>
        <p:spPr>
          <a:xfrm>
            <a:off x="2550079" y="2826228"/>
            <a:ext cx="219456" cy="219456"/>
          </a:xfrm>
          <a:prstGeom prst="rect">
            <a:avLst/>
          </a:prstGeom>
          <a:solidFill>
            <a:srgbClr val="43A3A3"/>
          </a:solidFill>
          <a:ln w="12700">
            <a:solidFill>
              <a:srgbClr val="43A3A3"/>
            </a:solidFill>
            <a:prstDash val="solid"/>
          </a:ln>
        </p:spPr>
      </p:sp>
      <p:sp>
        <p:nvSpPr>
          <p:cNvPr id="45" name="Shape 43"/>
          <p:cNvSpPr/>
          <p:nvPr/>
        </p:nvSpPr>
        <p:spPr>
          <a:xfrm>
            <a:off x="2800259" y="2826228"/>
            <a:ext cx="219456" cy="219456"/>
          </a:xfrm>
          <a:prstGeom prst="rect">
            <a:avLst/>
          </a:prstGeom>
          <a:solidFill>
            <a:srgbClr val="43A3A3"/>
          </a:solidFill>
          <a:ln w="12700">
            <a:solidFill>
              <a:srgbClr val="43A3A3"/>
            </a:solidFill>
            <a:prstDash val="solid"/>
          </a:ln>
        </p:spPr>
      </p:sp>
      <p:sp>
        <p:nvSpPr>
          <p:cNvPr id="46" name="Shape 44"/>
          <p:cNvSpPr/>
          <p:nvPr/>
        </p:nvSpPr>
        <p:spPr>
          <a:xfrm>
            <a:off x="548640" y="3076407"/>
            <a:ext cx="219456" cy="219456"/>
          </a:xfrm>
          <a:prstGeom prst="rect">
            <a:avLst/>
          </a:prstGeom>
          <a:solidFill>
            <a:srgbClr val="43A3A3"/>
          </a:solidFill>
          <a:ln w="12700">
            <a:solidFill>
              <a:srgbClr val="43A3A3"/>
            </a:solidFill>
            <a:prstDash val="solid"/>
          </a:ln>
        </p:spPr>
      </p:sp>
      <p:sp>
        <p:nvSpPr>
          <p:cNvPr id="47" name="Shape 45"/>
          <p:cNvSpPr/>
          <p:nvPr/>
        </p:nvSpPr>
        <p:spPr>
          <a:xfrm>
            <a:off x="798820" y="3076407"/>
            <a:ext cx="219456" cy="219456"/>
          </a:xfrm>
          <a:prstGeom prst="rect">
            <a:avLst/>
          </a:prstGeom>
          <a:solidFill>
            <a:srgbClr val="43A3A3"/>
          </a:solidFill>
          <a:ln w="12700">
            <a:solidFill>
              <a:srgbClr val="43A3A3"/>
            </a:solidFill>
            <a:prstDash val="solid"/>
          </a:ln>
        </p:spPr>
      </p:sp>
      <p:sp>
        <p:nvSpPr>
          <p:cNvPr id="48" name="Shape 46"/>
          <p:cNvSpPr/>
          <p:nvPr/>
        </p:nvSpPr>
        <p:spPr>
          <a:xfrm>
            <a:off x="1049000" y="3076407"/>
            <a:ext cx="219456" cy="219456"/>
          </a:xfrm>
          <a:prstGeom prst="rect">
            <a:avLst/>
          </a:prstGeom>
          <a:solidFill>
            <a:srgbClr val="43A3A3"/>
          </a:solidFill>
          <a:ln w="12700">
            <a:solidFill>
              <a:srgbClr val="43A3A3"/>
            </a:solidFill>
            <a:prstDash val="solid"/>
          </a:ln>
        </p:spPr>
      </p:sp>
      <p:sp>
        <p:nvSpPr>
          <p:cNvPr id="49" name="Shape 47"/>
          <p:cNvSpPr/>
          <p:nvPr/>
        </p:nvSpPr>
        <p:spPr>
          <a:xfrm>
            <a:off x="1299180" y="3076407"/>
            <a:ext cx="219456" cy="219456"/>
          </a:xfrm>
          <a:prstGeom prst="rect">
            <a:avLst/>
          </a:prstGeom>
          <a:solidFill>
            <a:srgbClr val="43A3A3"/>
          </a:solidFill>
          <a:ln w="12700">
            <a:solidFill>
              <a:srgbClr val="43A3A3"/>
            </a:solidFill>
            <a:prstDash val="solid"/>
          </a:ln>
        </p:spPr>
      </p:sp>
      <p:sp>
        <p:nvSpPr>
          <p:cNvPr id="50" name="Shape 48"/>
          <p:cNvSpPr/>
          <p:nvPr/>
        </p:nvSpPr>
        <p:spPr>
          <a:xfrm>
            <a:off x="1549359" y="3076407"/>
            <a:ext cx="219456" cy="219456"/>
          </a:xfrm>
          <a:prstGeom prst="rect">
            <a:avLst/>
          </a:prstGeom>
          <a:solidFill>
            <a:srgbClr val="43A3A3"/>
          </a:solidFill>
          <a:ln w="12700">
            <a:solidFill>
              <a:srgbClr val="43A3A3"/>
            </a:solidFill>
            <a:prstDash val="solid"/>
          </a:ln>
        </p:spPr>
      </p:sp>
      <p:sp>
        <p:nvSpPr>
          <p:cNvPr id="51" name="Shape 49"/>
          <p:cNvSpPr/>
          <p:nvPr/>
        </p:nvSpPr>
        <p:spPr>
          <a:xfrm>
            <a:off x="1799539" y="3076407"/>
            <a:ext cx="219456" cy="219456"/>
          </a:xfrm>
          <a:prstGeom prst="rect">
            <a:avLst/>
          </a:prstGeom>
          <a:solidFill>
            <a:srgbClr val="43A3A3"/>
          </a:solidFill>
          <a:ln w="12700">
            <a:solidFill>
              <a:srgbClr val="43A3A3"/>
            </a:solidFill>
            <a:prstDash val="solid"/>
          </a:ln>
        </p:spPr>
      </p:sp>
      <p:sp>
        <p:nvSpPr>
          <p:cNvPr id="52" name="Shape 50"/>
          <p:cNvSpPr/>
          <p:nvPr/>
        </p:nvSpPr>
        <p:spPr>
          <a:xfrm>
            <a:off x="2049719" y="3076407"/>
            <a:ext cx="219456" cy="219456"/>
          </a:xfrm>
          <a:prstGeom prst="rect">
            <a:avLst/>
          </a:prstGeom>
          <a:solidFill>
            <a:srgbClr val="43A3A3"/>
          </a:solidFill>
          <a:ln w="12700">
            <a:solidFill>
              <a:srgbClr val="43A3A3"/>
            </a:solidFill>
            <a:prstDash val="solid"/>
          </a:ln>
        </p:spPr>
      </p:sp>
      <p:sp>
        <p:nvSpPr>
          <p:cNvPr id="53" name="Shape 51"/>
          <p:cNvSpPr/>
          <p:nvPr/>
        </p:nvSpPr>
        <p:spPr>
          <a:xfrm>
            <a:off x="2299899" y="3076407"/>
            <a:ext cx="219456" cy="219456"/>
          </a:xfrm>
          <a:prstGeom prst="rect">
            <a:avLst/>
          </a:prstGeom>
          <a:solidFill>
            <a:srgbClr val="43A3A3"/>
          </a:solidFill>
          <a:ln w="12700">
            <a:solidFill>
              <a:srgbClr val="43A3A3"/>
            </a:solidFill>
            <a:prstDash val="solid"/>
          </a:ln>
        </p:spPr>
      </p:sp>
      <p:sp>
        <p:nvSpPr>
          <p:cNvPr id="54" name="Shape 52"/>
          <p:cNvSpPr/>
          <p:nvPr/>
        </p:nvSpPr>
        <p:spPr>
          <a:xfrm>
            <a:off x="2550079" y="3076407"/>
            <a:ext cx="219456" cy="219456"/>
          </a:xfrm>
          <a:prstGeom prst="rect">
            <a:avLst/>
          </a:prstGeom>
          <a:solidFill>
            <a:srgbClr val="43A3A3"/>
          </a:solidFill>
          <a:ln w="12700">
            <a:solidFill>
              <a:srgbClr val="43A3A3"/>
            </a:solidFill>
            <a:prstDash val="solid"/>
          </a:ln>
        </p:spPr>
      </p:sp>
      <p:sp>
        <p:nvSpPr>
          <p:cNvPr id="55" name="Shape 53"/>
          <p:cNvSpPr/>
          <p:nvPr/>
        </p:nvSpPr>
        <p:spPr>
          <a:xfrm>
            <a:off x="2800259" y="3076407"/>
            <a:ext cx="219456" cy="219456"/>
          </a:xfrm>
          <a:prstGeom prst="rect">
            <a:avLst/>
          </a:prstGeom>
          <a:solidFill>
            <a:srgbClr val="43A3A3"/>
          </a:solidFill>
          <a:ln w="12700">
            <a:solidFill>
              <a:srgbClr val="43A3A3"/>
            </a:solidFill>
            <a:prstDash val="solid"/>
          </a:ln>
        </p:spPr>
      </p:sp>
      <p:sp>
        <p:nvSpPr>
          <p:cNvPr id="56" name="Shape 54"/>
          <p:cNvSpPr/>
          <p:nvPr/>
        </p:nvSpPr>
        <p:spPr>
          <a:xfrm>
            <a:off x="548640" y="3326587"/>
            <a:ext cx="219456" cy="219456"/>
          </a:xfrm>
          <a:prstGeom prst="rect">
            <a:avLst/>
          </a:prstGeom>
          <a:solidFill>
            <a:srgbClr val="43A3A3"/>
          </a:solidFill>
          <a:ln w="12700">
            <a:solidFill>
              <a:srgbClr val="43A3A3"/>
            </a:solidFill>
            <a:prstDash val="solid"/>
          </a:ln>
        </p:spPr>
      </p:sp>
      <p:sp>
        <p:nvSpPr>
          <p:cNvPr id="57" name="Shape 55"/>
          <p:cNvSpPr/>
          <p:nvPr/>
        </p:nvSpPr>
        <p:spPr>
          <a:xfrm>
            <a:off x="798820" y="3326587"/>
            <a:ext cx="219456" cy="219456"/>
          </a:xfrm>
          <a:prstGeom prst="rect">
            <a:avLst/>
          </a:prstGeom>
          <a:solidFill>
            <a:srgbClr val="43A3A3"/>
          </a:solidFill>
          <a:ln w="12700">
            <a:solidFill>
              <a:srgbClr val="43A3A3"/>
            </a:solidFill>
            <a:prstDash val="solid"/>
          </a:ln>
        </p:spPr>
      </p:sp>
      <p:sp>
        <p:nvSpPr>
          <p:cNvPr id="58" name="Shape 56"/>
          <p:cNvSpPr/>
          <p:nvPr/>
        </p:nvSpPr>
        <p:spPr>
          <a:xfrm>
            <a:off x="1049000" y="3326587"/>
            <a:ext cx="219456" cy="219456"/>
          </a:xfrm>
          <a:prstGeom prst="rect">
            <a:avLst/>
          </a:prstGeom>
          <a:solidFill>
            <a:srgbClr val="43A3A3"/>
          </a:solidFill>
          <a:ln w="12700">
            <a:solidFill>
              <a:srgbClr val="43A3A3"/>
            </a:solidFill>
            <a:prstDash val="solid"/>
          </a:ln>
        </p:spPr>
      </p:sp>
      <p:sp>
        <p:nvSpPr>
          <p:cNvPr id="59" name="Shape 57"/>
          <p:cNvSpPr/>
          <p:nvPr/>
        </p:nvSpPr>
        <p:spPr>
          <a:xfrm>
            <a:off x="1299180" y="3326587"/>
            <a:ext cx="219456" cy="219456"/>
          </a:xfrm>
          <a:prstGeom prst="rect">
            <a:avLst/>
          </a:prstGeom>
          <a:solidFill>
            <a:srgbClr val="43A3A3"/>
          </a:solidFill>
          <a:ln w="12700">
            <a:solidFill>
              <a:srgbClr val="43A3A3"/>
            </a:solidFill>
            <a:prstDash val="solid"/>
          </a:ln>
        </p:spPr>
      </p:sp>
      <p:sp>
        <p:nvSpPr>
          <p:cNvPr id="60" name="Shape 58"/>
          <p:cNvSpPr/>
          <p:nvPr/>
        </p:nvSpPr>
        <p:spPr>
          <a:xfrm>
            <a:off x="1549359" y="3326587"/>
            <a:ext cx="219456" cy="219456"/>
          </a:xfrm>
          <a:prstGeom prst="rect">
            <a:avLst/>
          </a:prstGeom>
          <a:solidFill>
            <a:srgbClr val="43A3A3"/>
          </a:solidFill>
          <a:ln w="12700">
            <a:solidFill>
              <a:srgbClr val="43A3A3"/>
            </a:solidFill>
            <a:prstDash val="solid"/>
          </a:ln>
        </p:spPr>
      </p:sp>
      <p:sp>
        <p:nvSpPr>
          <p:cNvPr id="61" name="Shape 59"/>
          <p:cNvSpPr/>
          <p:nvPr/>
        </p:nvSpPr>
        <p:spPr>
          <a:xfrm>
            <a:off x="1799539" y="3326587"/>
            <a:ext cx="219456" cy="219456"/>
          </a:xfrm>
          <a:prstGeom prst="rect">
            <a:avLst/>
          </a:prstGeom>
          <a:solidFill>
            <a:srgbClr val="43A3A3"/>
          </a:solidFill>
          <a:ln w="12700">
            <a:solidFill>
              <a:srgbClr val="43A3A3"/>
            </a:solidFill>
            <a:prstDash val="solid"/>
          </a:ln>
        </p:spPr>
      </p:sp>
      <p:sp>
        <p:nvSpPr>
          <p:cNvPr id="62" name="Shape 60"/>
          <p:cNvSpPr/>
          <p:nvPr/>
        </p:nvSpPr>
        <p:spPr>
          <a:xfrm>
            <a:off x="2049719" y="3326587"/>
            <a:ext cx="219456" cy="219456"/>
          </a:xfrm>
          <a:prstGeom prst="rect">
            <a:avLst/>
          </a:prstGeom>
          <a:solidFill>
            <a:srgbClr val="43A3A3"/>
          </a:solidFill>
          <a:ln w="12700">
            <a:solidFill>
              <a:srgbClr val="43A3A3"/>
            </a:solidFill>
            <a:prstDash val="solid"/>
          </a:ln>
        </p:spPr>
      </p:sp>
      <p:sp>
        <p:nvSpPr>
          <p:cNvPr id="63" name="Shape 61"/>
          <p:cNvSpPr/>
          <p:nvPr/>
        </p:nvSpPr>
        <p:spPr>
          <a:xfrm>
            <a:off x="2299899" y="3326587"/>
            <a:ext cx="219456" cy="219456"/>
          </a:xfrm>
          <a:prstGeom prst="rect">
            <a:avLst/>
          </a:prstGeom>
          <a:solidFill>
            <a:srgbClr val="43A3A3"/>
          </a:solidFill>
          <a:ln w="12700">
            <a:solidFill>
              <a:srgbClr val="43A3A3"/>
            </a:solidFill>
            <a:prstDash val="solid"/>
          </a:ln>
        </p:spPr>
      </p:sp>
      <p:sp>
        <p:nvSpPr>
          <p:cNvPr id="64" name="Shape 62"/>
          <p:cNvSpPr/>
          <p:nvPr/>
        </p:nvSpPr>
        <p:spPr>
          <a:xfrm>
            <a:off x="2550079" y="3326587"/>
            <a:ext cx="219456" cy="219456"/>
          </a:xfrm>
          <a:prstGeom prst="rect">
            <a:avLst/>
          </a:prstGeom>
          <a:solidFill>
            <a:srgbClr val="43A3A3"/>
          </a:solidFill>
          <a:ln w="12700">
            <a:solidFill>
              <a:srgbClr val="43A3A3"/>
            </a:solidFill>
            <a:prstDash val="solid"/>
          </a:ln>
        </p:spPr>
      </p:sp>
      <p:sp>
        <p:nvSpPr>
          <p:cNvPr id="65" name="Shape 63"/>
          <p:cNvSpPr/>
          <p:nvPr/>
        </p:nvSpPr>
        <p:spPr>
          <a:xfrm>
            <a:off x="2800259" y="3326587"/>
            <a:ext cx="219456" cy="219456"/>
          </a:xfrm>
          <a:prstGeom prst="rect">
            <a:avLst/>
          </a:prstGeom>
          <a:solidFill>
            <a:srgbClr val="43A3A3"/>
          </a:solidFill>
          <a:ln w="12700">
            <a:solidFill>
              <a:srgbClr val="43A3A3"/>
            </a:solidFill>
            <a:prstDash val="solid"/>
          </a:ln>
        </p:spPr>
      </p:sp>
      <p:sp>
        <p:nvSpPr>
          <p:cNvPr id="66" name="Shape 64"/>
          <p:cNvSpPr/>
          <p:nvPr/>
        </p:nvSpPr>
        <p:spPr>
          <a:xfrm>
            <a:off x="548640" y="3576767"/>
            <a:ext cx="219456" cy="219456"/>
          </a:xfrm>
          <a:prstGeom prst="rect">
            <a:avLst/>
          </a:prstGeom>
          <a:solidFill>
            <a:srgbClr val="43A3A3"/>
          </a:solidFill>
          <a:ln w="12700">
            <a:solidFill>
              <a:srgbClr val="43A3A3"/>
            </a:solidFill>
            <a:prstDash val="solid"/>
          </a:ln>
        </p:spPr>
      </p:sp>
      <p:sp>
        <p:nvSpPr>
          <p:cNvPr id="67" name="Shape 65"/>
          <p:cNvSpPr/>
          <p:nvPr/>
        </p:nvSpPr>
        <p:spPr>
          <a:xfrm>
            <a:off x="798820" y="3576767"/>
            <a:ext cx="219456" cy="219456"/>
          </a:xfrm>
          <a:prstGeom prst="rect">
            <a:avLst/>
          </a:prstGeom>
          <a:solidFill>
            <a:srgbClr val="43A3A3"/>
          </a:solidFill>
          <a:ln w="12700">
            <a:solidFill>
              <a:srgbClr val="43A3A3"/>
            </a:solidFill>
            <a:prstDash val="solid"/>
          </a:ln>
        </p:spPr>
      </p:sp>
      <p:sp>
        <p:nvSpPr>
          <p:cNvPr id="68" name="Shape 66"/>
          <p:cNvSpPr/>
          <p:nvPr/>
        </p:nvSpPr>
        <p:spPr>
          <a:xfrm>
            <a:off x="1049000" y="3576767"/>
            <a:ext cx="219456" cy="219456"/>
          </a:xfrm>
          <a:prstGeom prst="rect">
            <a:avLst/>
          </a:prstGeom>
          <a:solidFill>
            <a:srgbClr val="43A3A3"/>
          </a:solidFill>
          <a:ln w="12700">
            <a:solidFill>
              <a:srgbClr val="43A3A3"/>
            </a:solidFill>
            <a:prstDash val="solid"/>
          </a:ln>
        </p:spPr>
      </p:sp>
      <p:sp>
        <p:nvSpPr>
          <p:cNvPr id="69" name="Shape 67"/>
          <p:cNvSpPr/>
          <p:nvPr/>
        </p:nvSpPr>
        <p:spPr>
          <a:xfrm>
            <a:off x="1299180" y="3576767"/>
            <a:ext cx="219456" cy="219456"/>
          </a:xfrm>
          <a:prstGeom prst="rect">
            <a:avLst/>
          </a:prstGeom>
          <a:solidFill>
            <a:srgbClr val="43A3A3"/>
          </a:solidFill>
          <a:ln w="12700">
            <a:solidFill>
              <a:srgbClr val="43A3A3"/>
            </a:solidFill>
            <a:prstDash val="solid"/>
          </a:ln>
        </p:spPr>
      </p:sp>
      <p:sp>
        <p:nvSpPr>
          <p:cNvPr id="70" name="Shape 68"/>
          <p:cNvSpPr/>
          <p:nvPr/>
        </p:nvSpPr>
        <p:spPr>
          <a:xfrm>
            <a:off x="1549359" y="3576767"/>
            <a:ext cx="219456" cy="219456"/>
          </a:xfrm>
          <a:prstGeom prst="rect">
            <a:avLst/>
          </a:prstGeom>
          <a:solidFill>
            <a:srgbClr val="43A3A3"/>
          </a:solidFill>
          <a:ln w="12700">
            <a:solidFill>
              <a:srgbClr val="43A3A3"/>
            </a:solidFill>
            <a:prstDash val="solid"/>
          </a:ln>
        </p:spPr>
      </p:sp>
      <p:sp>
        <p:nvSpPr>
          <p:cNvPr id="71" name="Shape 69"/>
          <p:cNvSpPr/>
          <p:nvPr/>
        </p:nvSpPr>
        <p:spPr>
          <a:xfrm>
            <a:off x="1799539" y="3576767"/>
            <a:ext cx="219456" cy="219456"/>
          </a:xfrm>
          <a:prstGeom prst="rect">
            <a:avLst/>
          </a:prstGeom>
          <a:solidFill>
            <a:srgbClr val="43A3A3"/>
          </a:solidFill>
          <a:ln w="12700">
            <a:solidFill>
              <a:srgbClr val="43A3A3"/>
            </a:solidFill>
            <a:prstDash val="solid"/>
          </a:ln>
        </p:spPr>
      </p:sp>
      <p:sp>
        <p:nvSpPr>
          <p:cNvPr id="72" name="Shape 70"/>
          <p:cNvSpPr/>
          <p:nvPr/>
        </p:nvSpPr>
        <p:spPr>
          <a:xfrm>
            <a:off x="2049719" y="3576767"/>
            <a:ext cx="219456" cy="219456"/>
          </a:xfrm>
          <a:prstGeom prst="rect">
            <a:avLst/>
          </a:prstGeom>
          <a:solidFill>
            <a:srgbClr val="43A3A3"/>
          </a:solidFill>
          <a:ln w="12700">
            <a:solidFill>
              <a:srgbClr val="43A3A3"/>
            </a:solidFill>
            <a:prstDash val="solid"/>
          </a:ln>
        </p:spPr>
      </p:sp>
      <p:sp>
        <p:nvSpPr>
          <p:cNvPr id="73" name="Shape 71"/>
          <p:cNvSpPr/>
          <p:nvPr/>
        </p:nvSpPr>
        <p:spPr>
          <a:xfrm>
            <a:off x="2299899" y="3576767"/>
            <a:ext cx="219456" cy="219456"/>
          </a:xfrm>
          <a:prstGeom prst="rect">
            <a:avLst/>
          </a:prstGeom>
          <a:solidFill>
            <a:srgbClr val="43A3A3"/>
          </a:solidFill>
          <a:ln w="12700">
            <a:solidFill>
              <a:srgbClr val="43A3A3"/>
            </a:solidFill>
            <a:prstDash val="solid"/>
          </a:ln>
        </p:spPr>
      </p:sp>
      <p:sp>
        <p:nvSpPr>
          <p:cNvPr id="74" name="Shape 72"/>
          <p:cNvSpPr/>
          <p:nvPr/>
        </p:nvSpPr>
        <p:spPr>
          <a:xfrm>
            <a:off x="2550079" y="3576767"/>
            <a:ext cx="219456" cy="219456"/>
          </a:xfrm>
          <a:prstGeom prst="rect">
            <a:avLst/>
          </a:prstGeom>
          <a:solidFill>
            <a:srgbClr val="43A3A3"/>
          </a:solidFill>
          <a:ln w="12700">
            <a:solidFill>
              <a:srgbClr val="43A3A3"/>
            </a:solidFill>
            <a:prstDash val="solid"/>
          </a:ln>
        </p:spPr>
      </p:sp>
      <p:sp>
        <p:nvSpPr>
          <p:cNvPr id="75" name="Shape 73"/>
          <p:cNvSpPr/>
          <p:nvPr/>
        </p:nvSpPr>
        <p:spPr>
          <a:xfrm>
            <a:off x="2800259" y="3576767"/>
            <a:ext cx="219456" cy="219456"/>
          </a:xfrm>
          <a:prstGeom prst="rect">
            <a:avLst/>
          </a:prstGeom>
          <a:solidFill>
            <a:srgbClr val="43A3A3"/>
          </a:solidFill>
          <a:ln w="12700">
            <a:solidFill>
              <a:srgbClr val="43A3A3"/>
            </a:solidFill>
            <a:prstDash val="solid"/>
          </a:ln>
        </p:spPr>
      </p:sp>
      <p:sp>
        <p:nvSpPr>
          <p:cNvPr id="76" name="Shape 74"/>
          <p:cNvSpPr/>
          <p:nvPr/>
        </p:nvSpPr>
        <p:spPr>
          <a:xfrm>
            <a:off x="548640" y="3826947"/>
            <a:ext cx="219456" cy="219456"/>
          </a:xfrm>
          <a:prstGeom prst="rect">
            <a:avLst/>
          </a:prstGeom>
          <a:solidFill>
            <a:srgbClr val="43A3A3"/>
          </a:solidFill>
          <a:ln w="12700">
            <a:solidFill>
              <a:srgbClr val="43A3A3"/>
            </a:solidFill>
            <a:prstDash val="solid"/>
          </a:ln>
        </p:spPr>
      </p:sp>
      <p:sp>
        <p:nvSpPr>
          <p:cNvPr id="77" name="Shape 75"/>
          <p:cNvSpPr/>
          <p:nvPr/>
        </p:nvSpPr>
        <p:spPr>
          <a:xfrm>
            <a:off x="798820" y="3826947"/>
            <a:ext cx="219456" cy="219456"/>
          </a:xfrm>
          <a:prstGeom prst="rect">
            <a:avLst/>
          </a:prstGeom>
          <a:solidFill>
            <a:srgbClr val="43A3A3"/>
          </a:solidFill>
          <a:ln w="12700">
            <a:solidFill>
              <a:srgbClr val="43A3A3"/>
            </a:solidFill>
            <a:prstDash val="solid"/>
          </a:ln>
        </p:spPr>
      </p:sp>
      <p:sp>
        <p:nvSpPr>
          <p:cNvPr id="78" name="Shape 76"/>
          <p:cNvSpPr/>
          <p:nvPr/>
        </p:nvSpPr>
        <p:spPr>
          <a:xfrm>
            <a:off x="1049000" y="3826947"/>
            <a:ext cx="219456" cy="219456"/>
          </a:xfrm>
          <a:prstGeom prst="rect">
            <a:avLst/>
          </a:prstGeom>
          <a:solidFill>
            <a:srgbClr val="43A3A3"/>
          </a:solidFill>
          <a:ln w="12700">
            <a:solidFill>
              <a:srgbClr val="43A3A3"/>
            </a:solidFill>
            <a:prstDash val="solid"/>
          </a:ln>
        </p:spPr>
      </p:sp>
      <p:sp>
        <p:nvSpPr>
          <p:cNvPr id="79" name="Shape 77"/>
          <p:cNvSpPr/>
          <p:nvPr/>
        </p:nvSpPr>
        <p:spPr>
          <a:xfrm>
            <a:off x="1299180" y="3826947"/>
            <a:ext cx="219456" cy="219456"/>
          </a:xfrm>
          <a:prstGeom prst="rect">
            <a:avLst/>
          </a:prstGeom>
          <a:solidFill>
            <a:srgbClr val="43A3A3"/>
          </a:solidFill>
          <a:ln w="12700">
            <a:solidFill>
              <a:srgbClr val="43A3A3"/>
            </a:solidFill>
            <a:prstDash val="solid"/>
          </a:ln>
        </p:spPr>
      </p:sp>
      <p:sp>
        <p:nvSpPr>
          <p:cNvPr id="80" name="Shape 78"/>
          <p:cNvSpPr/>
          <p:nvPr/>
        </p:nvSpPr>
        <p:spPr>
          <a:xfrm>
            <a:off x="1549359" y="3826947"/>
            <a:ext cx="219456" cy="219456"/>
          </a:xfrm>
          <a:prstGeom prst="rect">
            <a:avLst/>
          </a:prstGeom>
          <a:solidFill>
            <a:srgbClr val="43A3A3"/>
          </a:solidFill>
          <a:ln w="12700">
            <a:solidFill>
              <a:srgbClr val="43A3A3"/>
            </a:solidFill>
            <a:prstDash val="solid"/>
          </a:ln>
        </p:spPr>
      </p:sp>
      <p:sp>
        <p:nvSpPr>
          <p:cNvPr id="81" name="Shape 79"/>
          <p:cNvSpPr/>
          <p:nvPr/>
        </p:nvSpPr>
        <p:spPr>
          <a:xfrm>
            <a:off x="1799539" y="3826947"/>
            <a:ext cx="219456" cy="219456"/>
          </a:xfrm>
          <a:prstGeom prst="rect">
            <a:avLst/>
          </a:prstGeom>
          <a:solidFill>
            <a:srgbClr val="43A3A3"/>
          </a:solidFill>
          <a:ln w="12700">
            <a:solidFill>
              <a:srgbClr val="43A3A3"/>
            </a:solidFill>
            <a:prstDash val="solid"/>
          </a:ln>
        </p:spPr>
      </p:sp>
      <p:sp>
        <p:nvSpPr>
          <p:cNvPr id="82" name="Shape 80"/>
          <p:cNvSpPr/>
          <p:nvPr/>
        </p:nvSpPr>
        <p:spPr>
          <a:xfrm>
            <a:off x="2049719" y="3826947"/>
            <a:ext cx="219456" cy="219456"/>
          </a:xfrm>
          <a:prstGeom prst="rect">
            <a:avLst/>
          </a:prstGeom>
          <a:solidFill>
            <a:srgbClr val="43A3A3"/>
          </a:solidFill>
          <a:ln w="12700">
            <a:solidFill>
              <a:srgbClr val="43A3A3"/>
            </a:solidFill>
            <a:prstDash val="solid"/>
          </a:ln>
        </p:spPr>
      </p:sp>
      <p:sp>
        <p:nvSpPr>
          <p:cNvPr id="83" name="Shape 81"/>
          <p:cNvSpPr/>
          <p:nvPr/>
        </p:nvSpPr>
        <p:spPr>
          <a:xfrm>
            <a:off x="2299899" y="3826947"/>
            <a:ext cx="219456" cy="219456"/>
          </a:xfrm>
          <a:prstGeom prst="rect">
            <a:avLst/>
          </a:prstGeom>
          <a:solidFill>
            <a:srgbClr val="43A3A3"/>
          </a:solidFill>
          <a:ln w="12700">
            <a:solidFill>
              <a:srgbClr val="43A3A3"/>
            </a:solidFill>
            <a:prstDash val="solid"/>
          </a:ln>
        </p:spPr>
      </p:sp>
      <p:sp>
        <p:nvSpPr>
          <p:cNvPr id="84" name="Shape 82"/>
          <p:cNvSpPr/>
          <p:nvPr/>
        </p:nvSpPr>
        <p:spPr>
          <a:xfrm>
            <a:off x="2550079" y="3826947"/>
            <a:ext cx="219456" cy="219456"/>
          </a:xfrm>
          <a:prstGeom prst="rect">
            <a:avLst/>
          </a:prstGeom>
          <a:solidFill>
            <a:srgbClr val="43A3A3"/>
          </a:solidFill>
          <a:ln w="12700">
            <a:solidFill>
              <a:srgbClr val="43A3A3"/>
            </a:solidFill>
            <a:prstDash val="solid"/>
          </a:ln>
        </p:spPr>
      </p:sp>
      <p:sp>
        <p:nvSpPr>
          <p:cNvPr id="85" name="Shape 83"/>
          <p:cNvSpPr/>
          <p:nvPr/>
        </p:nvSpPr>
        <p:spPr>
          <a:xfrm>
            <a:off x="2800259" y="3826947"/>
            <a:ext cx="219456" cy="219456"/>
          </a:xfrm>
          <a:prstGeom prst="rect">
            <a:avLst/>
          </a:prstGeom>
          <a:solidFill>
            <a:srgbClr val="43A3A3"/>
          </a:solidFill>
          <a:ln w="12700">
            <a:solidFill>
              <a:srgbClr val="43A3A3"/>
            </a:solidFill>
            <a:prstDash val="solid"/>
          </a:ln>
        </p:spPr>
      </p:sp>
      <p:sp>
        <p:nvSpPr>
          <p:cNvPr id="86" name="Shape 84"/>
          <p:cNvSpPr/>
          <p:nvPr/>
        </p:nvSpPr>
        <p:spPr>
          <a:xfrm>
            <a:off x="548640" y="4077127"/>
            <a:ext cx="219456" cy="219456"/>
          </a:xfrm>
          <a:prstGeom prst="rect">
            <a:avLst/>
          </a:prstGeom>
          <a:solidFill>
            <a:srgbClr val="43A3A3"/>
          </a:solidFill>
          <a:ln w="12700">
            <a:solidFill>
              <a:srgbClr val="43A3A3"/>
            </a:solidFill>
            <a:prstDash val="solid"/>
          </a:ln>
        </p:spPr>
      </p:sp>
      <p:sp>
        <p:nvSpPr>
          <p:cNvPr id="87" name="Shape 85"/>
          <p:cNvSpPr/>
          <p:nvPr/>
        </p:nvSpPr>
        <p:spPr>
          <a:xfrm>
            <a:off x="798820" y="4077127"/>
            <a:ext cx="219456" cy="219456"/>
          </a:xfrm>
          <a:prstGeom prst="rect">
            <a:avLst/>
          </a:prstGeom>
          <a:solidFill>
            <a:srgbClr val="43A3A3"/>
          </a:solidFill>
          <a:ln w="12700">
            <a:solidFill>
              <a:srgbClr val="43A3A3"/>
            </a:solidFill>
            <a:prstDash val="solid"/>
          </a:ln>
        </p:spPr>
      </p:sp>
      <p:sp>
        <p:nvSpPr>
          <p:cNvPr id="88" name="Shape 86"/>
          <p:cNvSpPr/>
          <p:nvPr/>
        </p:nvSpPr>
        <p:spPr>
          <a:xfrm>
            <a:off x="1049000" y="4077127"/>
            <a:ext cx="219456" cy="219456"/>
          </a:xfrm>
          <a:prstGeom prst="rect">
            <a:avLst/>
          </a:prstGeom>
          <a:solidFill>
            <a:srgbClr val="43A3A3"/>
          </a:solidFill>
          <a:ln w="12700">
            <a:solidFill>
              <a:srgbClr val="43A3A3"/>
            </a:solidFill>
            <a:prstDash val="solid"/>
          </a:ln>
        </p:spPr>
      </p:sp>
      <p:sp>
        <p:nvSpPr>
          <p:cNvPr id="89" name="Shape 87"/>
          <p:cNvSpPr/>
          <p:nvPr/>
        </p:nvSpPr>
        <p:spPr>
          <a:xfrm>
            <a:off x="1299180" y="4077127"/>
            <a:ext cx="219456" cy="219456"/>
          </a:xfrm>
          <a:prstGeom prst="rect">
            <a:avLst/>
          </a:prstGeom>
          <a:solidFill>
            <a:srgbClr val="43A3A3"/>
          </a:solidFill>
          <a:ln w="12700">
            <a:solidFill>
              <a:srgbClr val="43A3A3"/>
            </a:solidFill>
            <a:prstDash val="solid"/>
          </a:ln>
        </p:spPr>
      </p:sp>
      <p:sp>
        <p:nvSpPr>
          <p:cNvPr id="90" name="Shape 88"/>
          <p:cNvSpPr/>
          <p:nvPr/>
        </p:nvSpPr>
        <p:spPr>
          <a:xfrm>
            <a:off x="1549359" y="4077127"/>
            <a:ext cx="219456" cy="219456"/>
          </a:xfrm>
          <a:prstGeom prst="rect">
            <a:avLst/>
          </a:prstGeom>
          <a:solidFill>
            <a:srgbClr val="43A3A3"/>
          </a:solidFill>
          <a:ln w="12700">
            <a:solidFill>
              <a:srgbClr val="43A3A3"/>
            </a:solidFill>
            <a:prstDash val="solid"/>
          </a:ln>
        </p:spPr>
      </p:sp>
      <p:sp>
        <p:nvSpPr>
          <p:cNvPr id="91" name="Shape 89"/>
          <p:cNvSpPr/>
          <p:nvPr/>
        </p:nvSpPr>
        <p:spPr>
          <a:xfrm>
            <a:off x="1799539" y="4077127"/>
            <a:ext cx="219456" cy="219456"/>
          </a:xfrm>
          <a:prstGeom prst="rect">
            <a:avLst/>
          </a:prstGeom>
          <a:solidFill>
            <a:srgbClr val="43A3A3"/>
          </a:solidFill>
          <a:ln w="12700">
            <a:solidFill>
              <a:srgbClr val="43A3A3"/>
            </a:solidFill>
            <a:prstDash val="solid"/>
          </a:ln>
        </p:spPr>
      </p:sp>
      <p:sp>
        <p:nvSpPr>
          <p:cNvPr id="92" name="Shape 90"/>
          <p:cNvSpPr/>
          <p:nvPr/>
        </p:nvSpPr>
        <p:spPr>
          <a:xfrm>
            <a:off x="2049719" y="4077127"/>
            <a:ext cx="219456" cy="219456"/>
          </a:xfrm>
          <a:prstGeom prst="rect">
            <a:avLst/>
          </a:prstGeom>
          <a:solidFill>
            <a:srgbClr val="E3E2DA"/>
          </a:solidFill>
          <a:ln w="12700">
            <a:solidFill>
              <a:srgbClr val="E3E2DA"/>
            </a:solidFill>
            <a:prstDash val="solid"/>
          </a:ln>
        </p:spPr>
      </p:sp>
      <p:sp>
        <p:nvSpPr>
          <p:cNvPr id="93" name="Shape 91"/>
          <p:cNvSpPr/>
          <p:nvPr/>
        </p:nvSpPr>
        <p:spPr>
          <a:xfrm>
            <a:off x="2299899" y="4077127"/>
            <a:ext cx="219456" cy="219456"/>
          </a:xfrm>
          <a:prstGeom prst="rect">
            <a:avLst/>
          </a:prstGeom>
          <a:solidFill>
            <a:srgbClr val="E3E2DA"/>
          </a:solidFill>
          <a:ln w="12700">
            <a:solidFill>
              <a:srgbClr val="E3E2DA"/>
            </a:solidFill>
            <a:prstDash val="solid"/>
          </a:ln>
        </p:spPr>
      </p:sp>
      <p:sp>
        <p:nvSpPr>
          <p:cNvPr id="94" name="Shape 92"/>
          <p:cNvSpPr/>
          <p:nvPr/>
        </p:nvSpPr>
        <p:spPr>
          <a:xfrm>
            <a:off x="2550079" y="4077127"/>
            <a:ext cx="219456" cy="219456"/>
          </a:xfrm>
          <a:prstGeom prst="rect">
            <a:avLst/>
          </a:prstGeom>
          <a:solidFill>
            <a:srgbClr val="E3E2DA"/>
          </a:solidFill>
          <a:ln w="12700">
            <a:solidFill>
              <a:srgbClr val="E3E2DA"/>
            </a:solidFill>
            <a:prstDash val="solid"/>
          </a:ln>
        </p:spPr>
      </p:sp>
      <p:sp>
        <p:nvSpPr>
          <p:cNvPr id="95" name="Shape 93"/>
          <p:cNvSpPr/>
          <p:nvPr/>
        </p:nvSpPr>
        <p:spPr>
          <a:xfrm>
            <a:off x="2800259" y="4077127"/>
            <a:ext cx="219456" cy="219456"/>
          </a:xfrm>
          <a:prstGeom prst="rect">
            <a:avLst/>
          </a:prstGeom>
          <a:solidFill>
            <a:srgbClr val="E3E2DA"/>
          </a:solidFill>
          <a:ln w="12700">
            <a:solidFill>
              <a:srgbClr val="E3E2DA"/>
            </a:solidFill>
            <a:prstDash val="solid"/>
          </a:ln>
        </p:spPr>
      </p:sp>
      <p:sp>
        <p:nvSpPr>
          <p:cNvPr id="96" name="Shape 94"/>
          <p:cNvSpPr/>
          <p:nvPr/>
        </p:nvSpPr>
        <p:spPr>
          <a:xfrm>
            <a:off x="548640" y="4327307"/>
            <a:ext cx="219456" cy="219456"/>
          </a:xfrm>
          <a:prstGeom prst="rect">
            <a:avLst/>
          </a:prstGeom>
          <a:solidFill>
            <a:srgbClr val="E3E2DA"/>
          </a:solidFill>
          <a:ln w="12700">
            <a:solidFill>
              <a:srgbClr val="E3E2DA"/>
            </a:solidFill>
            <a:prstDash val="solid"/>
          </a:ln>
        </p:spPr>
      </p:sp>
      <p:sp>
        <p:nvSpPr>
          <p:cNvPr id="97" name="Shape 95"/>
          <p:cNvSpPr/>
          <p:nvPr/>
        </p:nvSpPr>
        <p:spPr>
          <a:xfrm>
            <a:off x="798820" y="4327307"/>
            <a:ext cx="219456" cy="219456"/>
          </a:xfrm>
          <a:prstGeom prst="rect">
            <a:avLst/>
          </a:prstGeom>
          <a:solidFill>
            <a:srgbClr val="E3E2DA"/>
          </a:solidFill>
          <a:ln w="12700">
            <a:solidFill>
              <a:srgbClr val="E3E2DA"/>
            </a:solidFill>
            <a:prstDash val="solid"/>
          </a:ln>
        </p:spPr>
      </p:sp>
      <p:sp>
        <p:nvSpPr>
          <p:cNvPr id="98" name="Shape 96"/>
          <p:cNvSpPr/>
          <p:nvPr/>
        </p:nvSpPr>
        <p:spPr>
          <a:xfrm>
            <a:off x="1049000" y="4327307"/>
            <a:ext cx="219456" cy="219456"/>
          </a:xfrm>
          <a:prstGeom prst="rect">
            <a:avLst/>
          </a:prstGeom>
          <a:solidFill>
            <a:srgbClr val="E3E2DA"/>
          </a:solidFill>
          <a:ln w="12700">
            <a:solidFill>
              <a:srgbClr val="E3E2DA"/>
            </a:solidFill>
            <a:prstDash val="solid"/>
          </a:ln>
        </p:spPr>
      </p:sp>
      <p:sp>
        <p:nvSpPr>
          <p:cNvPr id="99" name="Shape 97"/>
          <p:cNvSpPr/>
          <p:nvPr/>
        </p:nvSpPr>
        <p:spPr>
          <a:xfrm>
            <a:off x="1299180" y="4327307"/>
            <a:ext cx="219456" cy="219456"/>
          </a:xfrm>
          <a:prstGeom prst="rect">
            <a:avLst/>
          </a:prstGeom>
          <a:solidFill>
            <a:srgbClr val="E3E2DA"/>
          </a:solidFill>
          <a:ln w="12700">
            <a:solidFill>
              <a:srgbClr val="E3E2DA"/>
            </a:solidFill>
            <a:prstDash val="solid"/>
          </a:ln>
        </p:spPr>
      </p:sp>
      <p:sp>
        <p:nvSpPr>
          <p:cNvPr id="100" name="Shape 98"/>
          <p:cNvSpPr/>
          <p:nvPr/>
        </p:nvSpPr>
        <p:spPr>
          <a:xfrm>
            <a:off x="1549359" y="4327307"/>
            <a:ext cx="219456" cy="219456"/>
          </a:xfrm>
          <a:prstGeom prst="rect">
            <a:avLst/>
          </a:prstGeom>
          <a:solidFill>
            <a:srgbClr val="E3E2DA"/>
          </a:solidFill>
          <a:ln w="12700">
            <a:solidFill>
              <a:srgbClr val="E3E2DA"/>
            </a:solidFill>
            <a:prstDash val="solid"/>
          </a:ln>
        </p:spPr>
      </p:sp>
      <p:sp>
        <p:nvSpPr>
          <p:cNvPr id="101" name="Shape 99"/>
          <p:cNvSpPr/>
          <p:nvPr/>
        </p:nvSpPr>
        <p:spPr>
          <a:xfrm>
            <a:off x="1799539" y="4327307"/>
            <a:ext cx="219456" cy="219456"/>
          </a:xfrm>
          <a:prstGeom prst="rect">
            <a:avLst/>
          </a:prstGeom>
          <a:solidFill>
            <a:srgbClr val="E3E2DA"/>
          </a:solidFill>
          <a:ln w="12700">
            <a:solidFill>
              <a:srgbClr val="E3E2DA"/>
            </a:solidFill>
            <a:prstDash val="solid"/>
          </a:ln>
        </p:spPr>
      </p:sp>
      <p:sp>
        <p:nvSpPr>
          <p:cNvPr id="102" name="Shape 100"/>
          <p:cNvSpPr/>
          <p:nvPr/>
        </p:nvSpPr>
        <p:spPr>
          <a:xfrm>
            <a:off x="2049719" y="4327307"/>
            <a:ext cx="219456" cy="219456"/>
          </a:xfrm>
          <a:prstGeom prst="rect">
            <a:avLst/>
          </a:prstGeom>
          <a:solidFill>
            <a:srgbClr val="E3E2DA"/>
          </a:solidFill>
          <a:ln w="12700">
            <a:solidFill>
              <a:srgbClr val="E3E2DA"/>
            </a:solidFill>
            <a:prstDash val="solid"/>
          </a:ln>
        </p:spPr>
      </p:sp>
      <p:sp>
        <p:nvSpPr>
          <p:cNvPr id="103" name="Shape 101"/>
          <p:cNvSpPr/>
          <p:nvPr/>
        </p:nvSpPr>
        <p:spPr>
          <a:xfrm>
            <a:off x="2299899" y="4327307"/>
            <a:ext cx="219456" cy="219456"/>
          </a:xfrm>
          <a:prstGeom prst="rect">
            <a:avLst/>
          </a:prstGeom>
          <a:solidFill>
            <a:srgbClr val="E3E2DA"/>
          </a:solidFill>
          <a:ln w="12700">
            <a:solidFill>
              <a:srgbClr val="E3E2DA"/>
            </a:solidFill>
            <a:prstDash val="solid"/>
          </a:ln>
        </p:spPr>
      </p:sp>
      <p:sp>
        <p:nvSpPr>
          <p:cNvPr id="104" name="Shape 102"/>
          <p:cNvSpPr/>
          <p:nvPr/>
        </p:nvSpPr>
        <p:spPr>
          <a:xfrm>
            <a:off x="2550079" y="4327307"/>
            <a:ext cx="219456" cy="219456"/>
          </a:xfrm>
          <a:prstGeom prst="rect">
            <a:avLst/>
          </a:prstGeom>
          <a:solidFill>
            <a:srgbClr val="E3E2DA"/>
          </a:solidFill>
          <a:ln w="12700">
            <a:solidFill>
              <a:srgbClr val="E3E2DA"/>
            </a:solidFill>
            <a:prstDash val="solid"/>
          </a:ln>
        </p:spPr>
      </p:sp>
      <p:sp>
        <p:nvSpPr>
          <p:cNvPr id="105" name="Shape 103"/>
          <p:cNvSpPr/>
          <p:nvPr/>
        </p:nvSpPr>
        <p:spPr>
          <a:xfrm>
            <a:off x="2800259" y="4327307"/>
            <a:ext cx="219456" cy="219456"/>
          </a:xfrm>
          <a:prstGeom prst="rect">
            <a:avLst/>
          </a:prstGeom>
          <a:solidFill>
            <a:srgbClr val="E3E2DA"/>
          </a:solidFill>
          <a:ln w="12700">
            <a:solidFill>
              <a:srgbClr val="E3E2DA"/>
            </a:solidFill>
            <a:prstDash val="solid"/>
          </a:ln>
        </p:spPr>
      </p:sp>
      <p:sp>
        <p:nvSpPr>
          <p:cNvPr id="106" name="Text 104"/>
          <p:cNvSpPr txBox="1"/>
          <p:nvPr/>
        </p:nvSpPr>
        <p:spPr>
          <a:xfrm>
            <a:off x="548640"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85.8%</a:t>
            </a:r>
            <a:endParaRPr lang="en-US" sz="2000" dirty="0"/>
          </a:p>
        </p:txBody>
      </p:sp>
      <p:sp>
        <p:nvSpPr>
          <p:cNvPr id="107" name="Text 105"/>
          <p:cNvSpPr txBox="1"/>
          <p:nvPr/>
        </p:nvSpPr>
        <p:spPr>
          <a:xfrm>
            <a:off x="548640"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stay overnight (86 of every 100)</a:t>
            </a:r>
            <a:endParaRPr lang="en-US" sz="1000" dirty="0"/>
          </a:p>
        </p:txBody>
      </p:sp>
      <p:sp>
        <p:nvSpPr>
          <p:cNvPr id="108" name="Shape 106"/>
          <p:cNvSpPr/>
          <p:nvPr/>
        </p:nvSpPr>
        <p:spPr>
          <a:xfrm>
            <a:off x="4246778" y="2075688"/>
            <a:ext cx="219456" cy="219456"/>
          </a:xfrm>
          <a:prstGeom prst="rect">
            <a:avLst/>
          </a:prstGeom>
          <a:solidFill>
            <a:srgbClr val="43A3A3"/>
          </a:solidFill>
          <a:ln w="12700">
            <a:solidFill>
              <a:srgbClr val="43A3A3"/>
            </a:solidFill>
            <a:prstDash val="solid"/>
          </a:ln>
        </p:spPr>
      </p:sp>
      <p:sp>
        <p:nvSpPr>
          <p:cNvPr id="109" name="Shape 107"/>
          <p:cNvSpPr/>
          <p:nvPr/>
        </p:nvSpPr>
        <p:spPr>
          <a:xfrm>
            <a:off x="4496958" y="2075688"/>
            <a:ext cx="219456" cy="219456"/>
          </a:xfrm>
          <a:prstGeom prst="rect">
            <a:avLst/>
          </a:prstGeom>
          <a:solidFill>
            <a:srgbClr val="43A3A3"/>
          </a:solidFill>
          <a:ln w="12700">
            <a:solidFill>
              <a:srgbClr val="43A3A3"/>
            </a:solidFill>
            <a:prstDash val="solid"/>
          </a:ln>
        </p:spPr>
      </p:sp>
      <p:sp>
        <p:nvSpPr>
          <p:cNvPr id="110" name="Shape 108"/>
          <p:cNvSpPr/>
          <p:nvPr/>
        </p:nvSpPr>
        <p:spPr>
          <a:xfrm>
            <a:off x="4747138" y="2075688"/>
            <a:ext cx="219456" cy="219456"/>
          </a:xfrm>
          <a:prstGeom prst="rect">
            <a:avLst/>
          </a:prstGeom>
          <a:solidFill>
            <a:srgbClr val="43A3A3"/>
          </a:solidFill>
          <a:ln w="12700">
            <a:solidFill>
              <a:srgbClr val="43A3A3"/>
            </a:solidFill>
            <a:prstDash val="solid"/>
          </a:ln>
        </p:spPr>
      </p:sp>
      <p:sp>
        <p:nvSpPr>
          <p:cNvPr id="111" name="Shape 109"/>
          <p:cNvSpPr/>
          <p:nvPr/>
        </p:nvSpPr>
        <p:spPr>
          <a:xfrm>
            <a:off x="4997318" y="2075688"/>
            <a:ext cx="219456" cy="219456"/>
          </a:xfrm>
          <a:prstGeom prst="rect">
            <a:avLst/>
          </a:prstGeom>
          <a:solidFill>
            <a:srgbClr val="43A3A3"/>
          </a:solidFill>
          <a:ln w="12700">
            <a:solidFill>
              <a:srgbClr val="43A3A3"/>
            </a:solidFill>
            <a:prstDash val="solid"/>
          </a:ln>
        </p:spPr>
      </p:sp>
      <p:sp>
        <p:nvSpPr>
          <p:cNvPr id="112" name="Shape 110"/>
          <p:cNvSpPr/>
          <p:nvPr/>
        </p:nvSpPr>
        <p:spPr>
          <a:xfrm>
            <a:off x="5247498" y="2075688"/>
            <a:ext cx="219456" cy="219456"/>
          </a:xfrm>
          <a:prstGeom prst="rect">
            <a:avLst/>
          </a:prstGeom>
          <a:solidFill>
            <a:srgbClr val="43A3A3"/>
          </a:solidFill>
          <a:ln w="12700">
            <a:solidFill>
              <a:srgbClr val="43A3A3"/>
            </a:solidFill>
            <a:prstDash val="solid"/>
          </a:ln>
        </p:spPr>
      </p:sp>
      <p:sp>
        <p:nvSpPr>
          <p:cNvPr id="113" name="Shape 111"/>
          <p:cNvSpPr/>
          <p:nvPr/>
        </p:nvSpPr>
        <p:spPr>
          <a:xfrm>
            <a:off x="5497678" y="2075688"/>
            <a:ext cx="219456" cy="219456"/>
          </a:xfrm>
          <a:prstGeom prst="rect">
            <a:avLst/>
          </a:prstGeom>
          <a:solidFill>
            <a:srgbClr val="43A3A3"/>
          </a:solidFill>
          <a:ln w="12700">
            <a:solidFill>
              <a:srgbClr val="43A3A3"/>
            </a:solidFill>
            <a:prstDash val="solid"/>
          </a:ln>
        </p:spPr>
      </p:sp>
      <p:sp>
        <p:nvSpPr>
          <p:cNvPr id="114" name="Shape 112"/>
          <p:cNvSpPr/>
          <p:nvPr/>
        </p:nvSpPr>
        <p:spPr>
          <a:xfrm>
            <a:off x="5747857" y="2075688"/>
            <a:ext cx="219456" cy="219456"/>
          </a:xfrm>
          <a:prstGeom prst="rect">
            <a:avLst/>
          </a:prstGeom>
          <a:solidFill>
            <a:srgbClr val="43A3A3"/>
          </a:solidFill>
          <a:ln w="12700">
            <a:solidFill>
              <a:srgbClr val="43A3A3"/>
            </a:solidFill>
            <a:prstDash val="solid"/>
          </a:ln>
        </p:spPr>
      </p:sp>
      <p:sp>
        <p:nvSpPr>
          <p:cNvPr id="115" name="Shape 113"/>
          <p:cNvSpPr/>
          <p:nvPr/>
        </p:nvSpPr>
        <p:spPr>
          <a:xfrm>
            <a:off x="5998037" y="2075688"/>
            <a:ext cx="219456" cy="219456"/>
          </a:xfrm>
          <a:prstGeom prst="rect">
            <a:avLst/>
          </a:prstGeom>
          <a:solidFill>
            <a:srgbClr val="43A3A3"/>
          </a:solidFill>
          <a:ln w="12700">
            <a:solidFill>
              <a:srgbClr val="43A3A3"/>
            </a:solidFill>
            <a:prstDash val="solid"/>
          </a:ln>
        </p:spPr>
      </p:sp>
      <p:sp>
        <p:nvSpPr>
          <p:cNvPr id="116" name="Shape 114"/>
          <p:cNvSpPr/>
          <p:nvPr/>
        </p:nvSpPr>
        <p:spPr>
          <a:xfrm>
            <a:off x="6248217" y="2075688"/>
            <a:ext cx="219456" cy="219456"/>
          </a:xfrm>
          <a:prstGeom prst="rect">
            <a:avLst/>
          </a:prstGeom>
          <a:solidFill>
            <a:srgbClr val="43A3A3"/>
          </a:solidFill>
          <a:ln w="12700">
            <a:solidFill>
              <a:srgbClr val="43A3A3"/>
            </a:solidFill>
            <a:prstDash val="solid"/>
          </a:ln>
        </p:spPr>
      </p:sp>
      <p:sp>
        <p:nvSpPr>
          <p:cNvPr id="117" name="Shape 115"/>
          <p:cNvSpPr/>
          <p:nvPr/>
        </p:nvSpPr>
        <p:spPr>
          <a:xfrm>
            <a:off x="6498397" y="2075688"/>
            <a:ext cx="219456" cy="219456"/>
          </a:xfrm>
          <a:prstGeom prst="rect">
            <a:avLst/>
          </a:prstGeom>
          <a:solidFill>
            <a:srgbClr val="43A3A3"/>
          </a:solidFill>
          <a:ln w="12700">
            <a:solidFill>
              <a:srgbClr val="43A3A3"/>
            </a:solidFill>
            <a:prstDash val="solid"/>
          </a:ln>
        </p:spPr>
      </p:sp>
      <p:sp>
        <p:nvSpPr>
          <p:cNvPr id="118" name="Shape 116"/>
          <p:cNvSpPr/>
          <p:nvPr/>
        </p:nvSpPr>
        <p:spPr>
          <a:xfrm>
            <a:off x="4246778" y="2325868"/>
            <a:ext cx="219456" cy="219456"/>
          </a:xfrm>
          <a:prstGeom prst="rect">
            <a:avLst/>
          </a:prstGeom>
          <a:solidFill>
            <a:srgbClr val="43A3A3"/>
          </a:solidFill>
          <a:ln w="12700">
            <a:solidFill>
              <a:srgbClr val="43A3A3"/>
            </a:solidFill>
            <a:prstDash val="solid"/>
          </a:ln>
        </p:spPr>
      </p:sp>
      <p:sp>
        <p:nvSpPr>
          <p:cNvPr id="119" name="Shape 117"/>
          <p:cNvSpPr/>
          <p:nvPr/>
        </p:nvSpPr>
        <p:spPr>
          <a:xfrm>
            <a:off x="4496958" y="2325868"/>
            <a:ext cx="219456" cy="219456"/>
          </a:xfrm>
          <a:prstGeom prst="rect">
            <a:avLst/>
          </a:prstGeom>
          <a:solidFill>
            <a:srgbClr val="43A3A3"/>
          </a:solidFill>
          <a:ln w="12700">
            <a:solidFill>
              <a:srgbClr val="43A3A3"/>
            </a:solidFill>
            <a:prstDash val="solid"/>
          </a:ln>
        </p:spPr>
      </p:sp>
      <p:sp>
        <p:nvSpPr>
          <p:cNvPr id="120" name="Shape 118"/>
          <p:cNvSpPr/>
          <p:nvPr/>
        </p:nvSpPr>
        <p:spPr>
          <a:xfrm>
            <a:off x="4747138" y="2325868"/>
            <a:ext cx="219456" cy="219456"/>
          </a:xfrm>
          <a:prstGeom prst="rect">
            <a:avLst/>
          </a:prstGeom>
          <a:solidFill>
            <a:srgbClr val="43A3A3"/>
          </a:solidFill>
          <a:ln w="12700">
            <a:solidFill>
              <a:srgbClr val="43A3A3"/>
            </a:solidFill>
            <a:prstDash val="solid"/>
          </a:ln>
        </p:spPr>
      </p:sp>
      <p:sp>
        <p:nvSpPr>
          <p:cNvPr id="121" name="Shape 119"/>
          <p:cNvSpPr/>
          <p:nvPr/>
        </p:nvSpPr>
        <p:spPr>
          <a:xfrm>
            <a:off x="4997318" y="2325868"/>
            <a:ext cx="219456" cy="219456"/>
          </a:xfrm>
          <a:prstGeom prst="rect">
            <a:avLst/>
          </a:prstGeom>
          <a:solidFill>
            <a:srgbClr val="43A3A3"/>
          </a:solidFill>
          <a:ln w="12700">
            <a:solidFill>
              <a:srgbClr val="43A3A3"/>
            </a:solidFill>
            <a:prstDash val="solid"/>
          </a:ln>
        </p:spPr>
      </p:sp>
      <p:sp>
        <p:nvSpPr>
          <p:cNvPr id="122" name="Shape 120"/>
          <p:cNvSpPr/>
          <p:nvPr/>
        </p:nvSpPr>
        <p:spPr>
          <a:xfrm>
            <a:off x="5247498" y="2325868"/>
            <a:ext cx="219456" cy="219456"/>
          </a:xfrm>
          <a:prstGeom prst="rect">
            <a:avLst/>
          </a:prstGeom>
          <a:solidFill>
            <a:srgbClr val="43A3A3"/>
          </a:solidFill>
          <a:ln w="12700">
            <a:solidFill>
              <a:srgbClr val="43A3A3"/>
            </a:solidFill>
            <a:prstDash val="solid"/>
          </a:ln>
        </p:spPr>
      </p:sp>
      <p:sp>
        <p:nvSpPr>
          <p:cNvPr id="123" name="Shape 121"/>
          <p:cNvSpPr/>
          <p:nvPr/>
        </p:nvSpPr>
        <p:spPr>
          <a:xfrm>
            <a:off x="5497678" y="2325868"/>
            <a:ext cx="219456" cy="219456"/>
          </a:xfrm>
          <a:prstGeom prst="rect">
            <a:avLst/>
          </a:prstGeom>
          <a:solidFill>
            <a:srgbClr val="43A3A3"/>
          </a:solidFill>
          <a:ln w="12700">
            <a:solidFill>
              <a:srgbClr val="43A3A3"/>
            </a:solidFill>
            <a:prstDash val="solid"/>
          </a:ln>
        </p:spPr>
      </p:sp>
      <p:sp>
        <p:nvSpPr>
          <p:cNvPr id="124" name="Shape 122"/>
          <p:cNvSpPr/>
          <p:nvPr/>
        </p:nvSpPr>
        <p:spPr>
          <a:xfrm>
            <a:off x="5747857" y="2325868"/>
            <a:ext cx="219456" cy="219456"/>
          </a:xfrm>
          <a:prstGeom prst="rect">
            <a:avLst/>
          </a:prstGeom>
          <a:solidFill>
            <a:srgbClr val="43A3A3"/>
          </a:solidFill>
          <a:ln w="12700">
            <a:solidFill>
              <a:srgbClr val="43A3A3"/>
            </a:solidFill>
            <a:prstDash val="solid"/>
          </a:ln>
        </p:spPr>
      </p:sp>
      <p:sp>
        <p:nvSpPr>
          <p:cNvPr id="125" name="Shape 123"/>
          <p:cNvSpPr/>
          <p:nvPr/>
        </p:nvSpPr>
        <p:spPr>
          <a:xfrm>
            <a:off x="5998037" y="2325868"/>
            <a:ext cx="219456" cy="219456"/>
          </a:xfrm>
          <a:prstGeom prst="rect">
            <a:avLst/>
          </a:prstGeom>
          <a:solidFill>
            <a:srgbClr val="43A3A3"/>
          </a:solidFill>
          <a:ln w="12700">
            <a:solidFill>
              <a:srgbClr val="43A3A3"/>
            </a:solidFill>
            <a:prstDash val="solid"/>
          </a:ln>
        </p:spPr>
      </p:sp>
      <p:sp>
        <p:nvSpPr>
          <p:cNvPr id="126" name="Shape 124"/>
          <p:cNvSpPr/>
          <p:nvPr/>
        </p:nvSpPr>
        <p:spPr>
          <a:xfrm>
            <a:off x="6248217" y="2325868"/>
            <a:ext cx="219456" cy="219456"/>
          </a:xfrm>
          <a:prstGeom prst="rect">
            <a:avLst/>
          </a:prstGeom>
          <a:solidFill>
            <a:srgbClr val="43A3A3"/>
          </a:solidFill>
          <a:ln w="12700">
            <a:solidFill>
              <a:srgbClr val="43A3A3"/>
            </a:solidFill>
            <a:prstDash val="solid"/>
          </a:ln>
        </p:spPr>
      </p:sp>
      <p:sp>
        <p:nvSpPr>
          <p:cNvPr id="127" name="Shape 125"/>
          <p:cNvSpPr/>
          <p:nvPr/>
        </p:nvSpPr>
        <p:spPr>
          <a:xfrm>
            <a:off x="6498397" y="2325868"/>
            <a:ext cx="219456" cy="219456"/>
          </a:xfrm>
          <a:prstGeom prst="rect">
            <a:avLst/>
          </a:prstGeom>
          <a:solidFill>
            <a:srgbClr val="43A3A3"/>
          </a:solidFill>
          <a:ln w="12700">
            <a:solidFill>
              <a:srgbClr val="43A3A3"/>
            </a:solidFill>
            <a:prstDash val="solid"/>
          </a:ln>
        </p:spPr>
      </p:sp>
      <p:sp>
        <p:nvSpPr>
          <p:cNvPr id="128" name="Shape 126"/>
          <p:cNvSpPr/>
          <p:nvPr/>
        </p:nvSpPr>
        <p:spPr>
          <a:xfrm>
            <a:off x="4246778" y="2576048"/>
            <a:ext cx="219456" cy="219456"/>
          </a:xfrm>
          <a:prstGeom prst="rect">
            <a:avLst/>
          </a:prstGeom>
          <a:solidFill>
            <a:srgbClr val="43A3A3"/>
          </a:solidFill>
          <a:ln w="12700">
            <a:solidFill>
              <a:srgbClr val="43A3A3"/>
            </a:solidFill>
            <a:prstDash val="solid"/>
          </a:ln>
        </p:spPr>
      </p:sp>
      <p:sp>
        <p:nvSpPr>
          <p:cNvPr id="129" name="Shape 127"/>
          <p:cNvSpPr/>
          <p:nvPr/>
        </p:nvSpPr>
        <p:spPr>
          <a:xfrm>
            <a:off x="4496958" y="2576048"/>
            <a:ext cx="219456" cy="219456"/>
          </a:xfrm>
          <a:prstGeom prst="rect">
            <a:avLst/>
          </a:prstGeom>
          <a:solidFill>
            <a:srgbClr val="43A3A3"/>
          </a:solidFill>
          <a:ln w="12700">
            <a:solidFill>
              <a:srgbClr val="43A3A3"/>
            </a:solidFill>
            <a:prstDash val="solid"/>
          </a:ln>
        </p:spPr>
      </p:sp>
      <p:sp>
        <p:nvSpPr>
          <p:cNvPr id="130" name="Shape 128"/>
          <p:cNvSpPr/>
          <p:nvPr/>
        </p:nvSpPr>
        <p:spPr>
          <a:xfrm>
            <a:off x="4747138" y="2576048"/>
            <a:ext cx="219456" cy="219456"/>
          </a:xfrm>
          <a:prstGeom prst="rect">
            <a:avLst/>
          </a:prstGeom>
          <a:solidFill>
            <a:srgbClr val="43A3A3"/>
          </a:solidFill>
          <a:ln w="12700">
            <a:solidFill>
              <a:srgbClr val="43A3A3"/>
            </a:solidFill>
            <a:prstDash val="solid"/>
          </a:ln>
        </p:spPr>
      </p:sp>
      <p:sp>
        <p:nvSpPr>
          <p:cNvPr id="131" name="Shape 129"/>
          <p:cNvSpPr/>
          <p:nvPr/>
        </p:nvSpPr>
        <p:spPr>
          <a:xfrm>
            <a:off x="4997318" y="2576048"/>
            <a:ext cx="219456" cy="219456"/>
          </a:xfrm>
          <a:prstGeom prst="rect">
            <a:avLst/>
          </a:prstGeom>
          <a:solidFill>
            <a:srgbClr val="43A3A3"/>
          </a:solidFill>
          <a:ln w="12700">
            <a:solidFill>
              <a:srgbClr val="43A3A3"/>
            </a:solidFill>
            <a:prstDash val="solid"/>
          </a:ln>
        </p:spPr>
      </p:sp>
      <p:sp>
        <p:nvSpPr>
          <p:cNvPr id="132" name="Shape 130"/>
          <p:cNvSpPr/>
          <p:nvPr/>
        </p:nvSpPr>
        <p:spPr>
          <a:xfrm>
            <a:off x="5247498" y="2576048"/>
            <a:ext cx="219456" cy="219456"/>
          </a:xfrm>
          <a:prstGeom prst="rect">
            <a:avLst/>
          </a:prstGeom>
          <a:solidFill>
            <a:srgbClr val="43A3A3"/>
          </a:solidFill>
          <a:ln w="12700">
            <a:solidFill>
              <a:srgbClr val="43A3A3"/>
            </a:solidFill>
            <a:prstDash val="solid"/>
          </a:ln>
        </p:spPr>
      </p:sp>
      <p:sp>
        <p:nvSpPr>
          <p:cNvPr id="133" name="Shape 131"/>
          <p:cNvSpPr/>
          <p:nvPr/>
        </p:nvSpPr>
        <p:spPr>
          <a:xfrm>
            <a:off x="5497678" y="2576048"/>
            <a:ext cx="219456" cy="219456"/>
          </a:xfrm>
          <a:prstGeom prst="rect">
            <a:avLst/>
          </a:prstGeom>
          <a:solidFill>
            <a:srgbClr val="43A3A3"/>
          </a:solidFill>
          <a:ln w="12700">
            <a:solidFill>
              <a:srgbClr val="43A3A3"/>
            </a:solidFill>
            <a:prstDash val="solid"/>
          </a:ln>
        </p:spPr>
      </p:sp>
      <p:sp>
        <p:nvSpPr>
          <p:cNvPr id="134" name="Shape 132"/>
          <p:cNvSpPr/>
          <p:nvPr/>
        </p:nvSpPr>
        <p:spPr>
          <a:xfrm>
            <a:off x="5747857" y="2576048"/>
            <a:ext cx="219456" cy="219456"/>
          </a:xfrm>
          <a:prstGeom prst="rect">
            <a:avLst/>
          </a:prstGeom>
          <a:solidFill>
            <a:srgbClr val="43A3A3"/>
          </a:solidFill>
          <a:ln w="12700">
            <a:solidFill>
              <a:srgbClr val="43A3A3"/>
            </a:solidFill>
            <a:prstDash val="solid"/>
          </a:ln>
        </p:spPr>
      </p:sp>
      <p:sp>
        <p:nvSpPr>
          <p:cNvPr id="135" name="Shape 133"/>
          <p:cNvSpPr/>
          <p:nvPr/>
        </p:nvSpPr>
        <p:spPr>
          <a:xfrm>
            <a:off x="5998037" y="2576048"/>
            <a:ext cx="219456" cy="219456"/>
          </a:xfrm>
          <a:prstGeom prst="rect">
            <a:avLst/>
          </a:prstGeom>
          <a:solidFill>
            <a:srgbClr val="43A3A3"/>
          </a:solidFill>
          <a:ln w="12700">
            <a:solidFill>
              <a:srgbClr val="43A3A3"/>
            </a:solidFill>
            <a:prstDash val="solid"/>
          </a:ln>
        </p:spPr>
      </p:sp>
      <p:sp>
        <p:nvSpPr>
          <p:cNvPr id="136" name="Shape 134"/>
          <p:cNvSpPr/>
          <p:nvPr/>
        </p:nvSpPr>
        <p:spPr>
          <a:xfrm>
            <a:off x="6248217" y="2576048"/>
            <a:ext cx="219456" cy="219456"/>
          </a:xfrm>
          <a:prstGeom prst="rect">
            <a:avLst/>
          </a:prstGeom>
          <a:solidFill>
            <a:srgbClr val="43A3A3"/>
          </a:solidFill>
          <a:ln w="12700">
            <a:solidFill>
              <a:srgbClr val="43A3A3"/>
            </a:solidFill>
            <a:prstDash val="solid"/>
          </a:ln>
        </p:spPr>
      </p:sp>
      <p:sp>
        <p:nvSpPr>
          <p:cNvPr id="137" name="Shape 135"/>
          <p:cNvSpPr/>
          <p:nvPr/>
        </p:nvSpPr>
        <p:spPr>
          <a:xfrm>
            <a:off x="6498397" y="2576048"/>
            <a:ext cx="219456" cy="219456"/>
          </a:xfrm>
          <a:prstGeom prst="rect">
            <a:avLst/>
          </a:prstGeom>
          <a:solidFill>
            <a:srgbClr val="43A3A3"/>
          </a:solidFill>
          <a:ln w="12700">
            <a:solidFill>
              <a:srgbClr val="43A3A3"/>
            </a:solidFill>
            <a:prstDash val="solid"/>
          </a:ln>
        </p:spPr>
      </p:sp>
      <p:sp>
        <p:nvSpPr>
          <p:cNvPr id="138" name="Shape 136"/>
          <p:cNvSpPr/>
          <p:nvPr/>
        </p:nvSpPr>
        <p:spPr>
          <a:xfrm>
            <a:off x="4246778" y="2826228"/>
            <a:ext cx="219456" cy="219456"/>
          </a:xfrm>
          <a:prstGeom prst="rect">
            <a:avLst/>
          </a:prstGeom>
          <a:solidFill>
            <a:srgbClr val="43A3A3"/>
          </a:solidFill>
          <a:ln w="12700">
            <a:solidFill>
              <a:srgbClr val="43A3A3"/>
            </a:solidFill>
            <a:prstDash val="solid"/>
          </a:ln>
        </p:spPr>
      </p:sp>
      <p:sp>
        <p:nvSpPr>
          <p:cNvPr id="139" name="Shape 137"/>
          <p:cNvSpPr/>
          <p:nvPr/>
        </p:nvSpPr>
        <p:spPr>
          <a:xfrm>
            <a:off x="4496958" y="2826228"/>
            <a:ext cx="219456" cy="219456"/>
          </a:xfrm>
          <a:prstGeom prst="rect">
            <a:avLst/>
          </a:prstGeom>
          <a:solidFill>
            <a:srgbClr val="43A3A3"/>
          </a:solidFill>
          <a:ln w="12700">
            <a:solidFill>
              <a:srgbClr val="43A3A3"/>
            </a:solidFill>
            <a:prstDash val="solid"/>
          </a:ln>
        </p:spPr>
      </p:sp>
      <p:sp>
        <p:nvSpPr>
          <p:cNvPr id="140" name="Shape 138"/>
          <p:cNvSpPr/>
          <p:nvPr/>
        </p:nvSpPr>
        <p:spPr>
          <a:xfrm>
            <a:off x="4747138" y="2826228"/>
            <a:ext cx="219456" cy="219456"/>
          </a:xfrm>
          <a:prstGeom prst="rect">
            <a:avLst/>
          </a:prstGeom>
          <a:solidFill>
            <a:srgbClr val="43A3A3"/>
          </a:solidFill>
          <a:ln w="12700">
            <a:solidFill>
              <a:srgbClr val="43A3A3"/>
            </a:solidFill>
            <a:prstDash val="solid"/>
          </a:ln>
        </p:spPr>
      </p:sp>
      <p:sp>
        <p:nvSpPr>
          <p:cNvPr id="141" name="Shape 139"/>
          <p:cNvSpPr/>
          <p:nvPr/>
        </p:nvSpPr>
        <p:spPr>
          <a:xfrm>
            <a:off x="4997318" y="2826228"/>
            <a:ext cx="219456" cy="219456"/>
          </a:xfrm>
          <a:prstGeom prst="rect">
            <a:avLst/>
          </a:prstGeom>
          <a:solidFill>
            <a:srgbClr val="43A3A3"/>
          </a:solidFill>
          <a:ln w="12700">
            <a:solidFill>
              <a:srgbClr val="43A3A3"/>
            </a:solidFill>
            <a:prstDash val="solid"/>
          </a:ln>
        </p:spPr>
      </p:sp>
      <p:sp>
        <p:nvSpPr>
          <p:cNvPr id="142" name="Shape 140"/>
          <p:cNvSpPr/>
          <p:nvPr/>
        </p:nvSpPr>
        <p:spPr>
          <a:xfrm>
            <a:off x="5247498" y="2826228"/>
            <a:ext cx="219456" cy="219456"/>
          </a:xfrm>
          <a:prstGeom prst="rect">
            <a:avLst/>
          </a:prstGeom>
          <a:solidFill>
            <a:srgbClr val="43A3A3"/>
          </a:solidFill>
          <a:ln w="12700">
            <a:solidFill>
              <a:srgbClr val="43A3A3"/>
            </a:solidFill>
            <a:prstDash val="solid"/>
          </a:ln>
        </p:spPr>
      </p:sp>
      <p:sp>
        <p:nvSpPr>
          <p:cNvPr id="143" name="Shape 141"/>
          <p:cNvSpPr/>
          <p:nvPr/>
        </p:nvSpPr>
        <p:spPr>
          <a:xfrm>
            <a:off x="5497678" y="2826228"/>
            <a:ext cx="219456" cy="219456"/>
          </a:xfrm>
          <a:prstGeom prst="rect">
            <a:avLst/>
          </a:prstGeom>
          <a:solidFill>
            <a:srgbClr val="43A3A3"/>
          </a:solidFill>
          <a:ln w="12700">
            <a:solidFill>
              <a:srgbClr val="43A3A3"/>
            </a:solidFill>
            <a:prstDash val="solid"/>
          </a:ln>
        </p:spPr>
      </p:sp>
      <p:sp>
        <p:nvSpPr>
          <p:cNvPr id="144" name="Shape 142"/>
          <p:cNvSpPr/>
          <p:nvPr/>
        </p:nvSpPr>
        <p:spPr>
          <a:xfrm>
            <a:off x="5747857" y="2826228"/>
            <a:ext cx="219456" cy="219456"/>
          </a:xfrm>
          <a:prstGeom prst="rect">
            <a:avLst/>
          </a:prstGeom>
          <a:solidFill>
            <a:srgbClr val="43A3A3"/>
          </a:solidFill>
          <a:ln w="12700">
            <a:solidFill>
              <a:srgbClr val="43A3A3"/>
            </a:solidFill>
            <a:prstDash val="solid"/>
          </a:ln>
        </p:spPr>
      </p:sp>
      <p:sp>
        <p:nvSpPr>
          <p:cNvPr id="145" name="Shape 143"/>
          <p:cNvSpPr/>
          <p:nvPr/>
        </p:nvSpPr>
        <p:spPr>
          <a:xfrm>
            <a:off x="5998037" y="2826228"/>
            <a:ext cx="219456" cy="219456"/>
          </a:xfrm>
          <a:prstGeom prst="rect">
            <a:avLst/>
          </a:prstGeom>
          <a:solidFill>
            <a:srgbClr val="43A3A3"/>
          </a:solidFill>
          <a:ln w="12700">
            <a:solidFill>
              <a:srgbClr val="43A3A3"/>
            </a:solidFill>
            <a:prstDash val="solid"/>
          </a:ln>
        </p:spPr>
      </p:sp>
      <p:sp>
        <p:nvSpPr>
          <p:cNvPr id="146" name="Shape 144"/>
          <p:cNvSpPr/>
          <p:nvPr/>
        </p:nvSpPr>
        <p:spPr>
          <a:xfrm>
            <a:off x="6248217" y="2826228"/>
            <a:ext cx="219456" cy="219456"/>
          </a:xfrm>
          <a:prstGeom prst="rect">
            <a:avLst/>
          </a:prstGeom>
          <a:solidFill>
            <a:srgbClr val="43A3A3"/>
          </a:solidFill>
          <a:ln w="12700">
            <a:solidFill>
              <a:srgbClr val="43A3A3"/>
            </a:solidFill>
            <a:prstDash val="solid"/>
          </a:ln>
        </p:spPr>
      </p:sp>
      <p:sp>
        <p:nvSpPr>
          <p:cNvPr id="147" name="Shape 145"/>
          <p:cNvSpPr/>
          <p:nvPr/>
        </p:nvSpPr>
        <p:spPr>
          <a:xfrm>
            <a:off x="6498397" y="2826228"/>
            <a:ext cx="219456" cy="219456"/>
          </a:xfrm>
          <a:prstGeom prst="rect">
            <a:avLst/>
          </a:prstGeom>
          <a:solidFill>
            <a:srgbClr val="43A3A3"/>
          </a:solidFill>
          <a:ln w="12700">
            <a:solidFill>
              <a:srgbClr val="43A3A3"/>
            </a:solidFill>
            <a:prstDash val="solid"/>
          </a:ln>
        </p:spPr>
      </p:sp>
      <p:sp>
        <p:nvSpPr>
          <p:cNvPr id="148" name="Shape 146"/>
          <p:cNvSpPr/>
          <p:nvPr/>
        </p:nvSpPr>
        <p:spPr>
          <a:xfrm>
            <a:off x="4246778" y="3076407"/>
            <a:ext cx="219456" cy="219456"/>
          </a:xfrm>
          <a:prstGeom prst="rect">
            <a:avLst/>
          </a:prstGeom>
          <a:solidFill>
            <a:srgbClr val="43A3A3"/>
          </a:solidFill>
          <a:ln w="12700">
            <a:solidFill>
              <a:srgbClr val="43A3A3"/>
            </a:solidFill>
            <a:prstDash val="solid"/>
          </a:ln>
        </p:spPr>
      </p:sp>
      <p:sp>
        <p:nvSpPr>
          <p:cNvPr id="149" name="Shape 147"/>
          <p:cNvSpPr/>
          <p:nvPr/>
        </p:nvSpPr>
        <p:spPr>
          <a:xfrm>
            <a:off x="4496958" y="3076407"/>
            <a:ext cx="219456" cy="219456"/>
          </a:xfrm>
          <a:prstGeom prst="rect">
            <a:avLst/>
          </a:prstGeom>
          <a:solidFill>
            <a:srgbClr val="43A3A3"/>
          </a:solidFill>
          <a:ln w="12700">
            <a:solidFill>
              <a:srgbClr val="43A3A3"/>
            </a:solidFill>
            <a:prstDash val="solid"/>
          </a:ln>
        </p:spPr>
      </p:sp>
      <p:sp>
        <p:nvSpPr>
          <p:cNvPr id="150" name="Shape 148"/>
          <p:cNvSpPr/>
          <p:nvPr/>
        </p:nvSpPr>
        <p:spPr>
          <a:xfrm>
            <a:off x="4747138" y="3076407"/>
            <a:ext cx="219456" cy="219456"/>
          </a:xfrm>
          <a:prstGeom prst="rect">
            <a:avLst/>
          </a:prstGeom>
          <a:solidFill>
            <a:srgbClr val="43A3A3"/>
          </a:solidFill>
          <a:ln w="12700">
            <a:solidFill>
              <a:srgbClr val="43A3A3"/>
            </a:solidFill>
            <a:prstDash val="solid"/>
          </a:ln>
        </p:spPr>
      </p:sp>
      <p:sp>
        <p:nvSpPr>
          <p:cNvPr id="151" name="Shape 149"/>
          <p:cNvSpPr/>
          <p:nvPr/>
        </p:nvSpPr>
        <p:spPr>
          <a:xfrm>
            <a:off x="4997318" y="3076407"/>
            <a:ext cx="219456" cy="219456"/>
          </a:xfrm>
          <a:prstGeom prst="rect">
            <a:avLst/>
          </a:prstGeom>
          <a:solidFill>
            <a:srgbClr val="43A3A3"/>
          </a:solidFill>
          <a:ln w="12700">
            <a:solidFill>
              <a:srgbClr val="43A3A3"/>
            </a:solidFill>
            <a:prstDash val="solid"/>
          </a:ln>
        </p:spPr>
      </p:sp>
      <p:sp>
        <p:nvSpPr>
          <p:cNvPr id="152" name="Shape 150"/>
          <p:cNvSpPr/>
          <p:nvPr/>
        </p:nvSpPr>
        <p:spPr>
          <a:xfrm>
            <a:off x="5247498" y="3076407"/>
            <a:ext cx="219456" cy="219456"/>
          </a:xfrm>
          <a:prstGeom prst="rect">
            <a:avLst/>
          </a:prstGeom>
          <a:solidFill>
            <a:srgbClr val="E3E2DA"/>
          </a:solidFill>
          <a:ln w="12700">
            <a:solidFill>
              <a:srgbClr val="E3E2DA"/>
            </a:solidFill>
            <a:prstDash val="solid"/>
          </a:ln>
        </p:spPr>
      </p:sp>
      <p:sp>
        <p:nvSpPr>
          <p:cNvPr id="153" name="Shape 151"/>
          <p:cNvSpPr/>
          <p:nvPr/>
        </p:nvSpPr>
        <p:spPr>
          <a:xfrm>
            <a:off x="5497678" y="3076407"/>
            <a:ext cx="219456" cy="219456"/>
          </a:xfrm>
          <a:prstGeom prst="rect">
            <a:avLst/>
          </a:prstGeom>
          <a:solidFill>
            <a:srgbClr val="E3E2DA"/>
          </a:solidFill>
          <a:ln w="12700">
            <a:solidFill>
              <a:srgbClr val="E3E2DA"/>
            </a:solidFill>
            <a:prstDash val="solid"/>
          </a:ln>
        </p:spPr>
      </p:sp>
      <p:sp>
        <p:nvSpPr>
          <p:cNvPr id="154" name="Shape 152"/>
          <p:cNvSpPr/>
          <p:nvPr/>
        </p:nvSpPr>
        <p:spPr>
          <a:xfrm>
            <a:off x="5747857" y="3076407"/>
            <a:ext cx="219456" cy="219456"/>
          </a:xfrm>
          <a:prstGeom prst="rect">
            <a:avLst/>
          </a:prstGeom>
          <a:solidFill>
            <a:srgbClr val="E3E2DA"/>
          </a:solidFill>
          <a:ln w="12700">
            <a:solidFill>
              <a:srgbClr val="E3E2DA"/>
            </a:solidFill>
            <a:prstDash val="solid"/>
          </a:ln>
        </p:spPr>
      </p:sp>
      <p:sp>
        <p:nvSpPr>
          <p:cNvPr id="155" name="Shape 153"/>
          <p:cNvSpPr/>
          <p:nvPr/>
        </p:nvSpPr>
        <p:spPr>
          <a:xfrm>
            <a:off x="5998037" y="3076407"/>
            <a:ext cx="219456" cy="219456"/>
          </a:xfrm>
          <a:prstGeom prst="rect">
            <a:avLst/>
          </a:prstGeom>
          <a:solidFill>
            <a:srgbClr val="E3E2DA"/>
          </a:solidFill>
          <a:ln w="12700">
            <a:solidFill>
              <a:srgbClr val="E3E2DA"/>
            </a:solidFill>
            <a:prstDash val="solid"/>
          </a:ln>
        </p:spPr>
      </p:sp>
      <p:sp>
        <p:nvSpPr>
          <p:cNvPr id="156" name="Shape 154"/>
          <p:cNvSpPr/>
          <p:nvPr/>
        </p:nvSpPr>
        <p:spPr>
          <a:xfrm>
            <a:off x="6248217" y="3076407"/>
            <a:ext cx="219456" cy="219456"/>
          </a:xfrm>
          <a:prstGeom prst="rect">
            <a:avLst/>
          </a:prstGeom>
          <a:solidFill>
            <a:srgbClr val="E3E2DA"/>
          </a:solidFill>
          <a:ln w="12700">
            <a:solidFill>
              <a:srgbClr val="E3E2DA"/>
            </a:solidFill>
            <a:prstDash val="solid"/>
          </a:ln>
        </p:spPr>
      </p:sp>
      <p:sp>
        <p:nvSpPr>
          <p:cNvPr id="157" name="Shape 155"/>
          <p:cNvSpPr/>
          <p:nvPr/>
        </p:nvSpPr>
        <p:spPr>
          <a:xfrm>
            <a:off x="6498397" y="3076407"/>
            <a:ext cx="219456" cy="219456"/>
          </a:xfrm>
          <a:prstGeom prst="rect">
            <a:avLst/>
          </a:prstGeom>
          <a:solidFill>
            <a:srgbClr val="E3E2DA"/>
          </a:solidFill>
          <a:ln w="12700">
            <a:solidFill>
              <a:srgbClr val="E3E2DA"/>
            </a:solidFill>
            <a:prstDash val="solid"/>
          </a:ln>
        </p:spPr>
      </p:sp>
      <p:sp>
        <p:nvSpPr>
          <p:cNvPr id="158" name="Shape 156"/>
          <p:cNvSpPr/>
          <p:nvPr/>
        </p:nvSpPr>
        <p:spPr>
          <a:xfrm>
            <a:off x="4246778" y="3326587"/>
            <a:ext cx="219456" cy="219456"/>
          </a:xfrm>
          <a:prstGeom prst="rect">
            <a:avLst/>
          </a:prstGeom>
          <a:solidFill>
            <a:srgbClr val="E3E2DA"/>
          </a:solidFill>
          <a:ln w="12700">
            <a:solidFill>
              <a:srgbClr val="E3E2DA"/>
            </a:solidFill>
            <a:prstDash val="solid"/>
          </a:ln>
        </p:spPr>
      </p:sp>
      <p:sp>
        <p:nvSpPr>
          <p:cNvPr id="159" name="Shape 157"/>
          <p:cNvSpPr/>
          <p:nvPr/>
        </p:nvSpPr>
        <p:spPr>
          <a:xfrm>
            <a:off x="4496958" y="3326587"/>
            <a:ext cx="219456" cy="219456"/>
          </a:xfrm>
          <a:prstGeom prst="rect">
            <a:avLst/>
          </a:prstGeom>
          <a:solidFill>
            <a:srgbClr val="E3E2DA"/>
          </a:solidFill>
          <a:ln w="12700">
            <a:solidFill>
              <a:srgbClr val="E3E2DA"/>
            </a:solidFill>
            <a:prstDash val="solid"/>
          </a:ln>
        </p:spPr>
      </p:sp>
      <p:sp>
        <p:nvSpPr>
          <p:cNvPr id="160" name="Shape 158"/>
          <p:cNvSpPr/>
          <p:nvPr/>
        </p:nvSpPr>
        <p:spPr>
          <a:xfrm>
            <a:off x="4747138" y="3326587"/>
            <a:ext cx="219456" cy="219456"/>
          </a:xfrm>
          <a:prstGeom prst="rect">
            <a:avLst/>
          </a:prstGeom>
          <a:solidFill>
            <a:srgbClr val="E3E2DA"/>
          </a:solidFill>
          <a:ln w="12700">
            <a:solidFill>
              <a:srgbClr val="E3E2DA"/>
            </a:solidFill>
            <a:prstDash val="solid"/>
          </a:ln>
        </p:spPr>
      </p:sp>
      <p:sp>
        <p:nvSpPr>
          <p:cNvPr id="161" name="Shape 159"/>
          <p:cNvSpPr/>
          <p:nvPr/>
        </p:nvSpPr>
        <p:spPr>
          <a:xfrm>
            <a:off x="4997318" y="3326587"/>
            <a:ext cx="219456" cy="219456"/>
          </a:xfrm>
          <a:prstGeom prst="rect">
            <a:avLst/>
          </a:prstGeom>
          <a:solidFill>
            <a:srgbClr val="E3E2DA"/>
          </a:solidFill>
          <a:ln w="12700">
            <a:solidFill>
              <a:srgbClr val="E3E2DA"/>
            </a:solidFill>
            <a:prstDash val="solid"/>
          </a:ln>
        </p:spPr>
      </p:sp>
      <p:sp>
        <p:nvSpPr>
          <p:cNvPr id="162" name="Shape 160"/>
          <p:cNvSpPr/>
          <p:nvPr/>
        </p:nvSpPr>
        <p:spPr>
          <a:xfrm>
            <a:off x="5247498" y="3326587"/>
            <a:ext cx="219456" cy="219456"/>
          </a:xfrm>
          <a:prstGeom prst="rect">
            <a:avLst/>
          </a:prstGeom>
          <a:solidFill>
            <a:srgbClr val="E3E2DA"/>
          </a:solidFill>
          <a:ln w="12700">
            <a:solidFill>
              <a:srgbClr val="E3E2DA"/>
            </a:solidFill>
            <a:prstDash val="solid"/>
          </a:ln>
        </p:spPr>
      </p:sp>
      <p:sp>
        <p:nvSpPr>
          <p:cNvPr id="163" name="Shape 161"/>
          <p:cNvSpPr/>
          <p:nvPr/>
        </p:nvSpPr>
        <p:spPr>
          <a:xfrm>
            <a:off x="5497678" y="3326587"/>
            <a:ext cx="219456" cy="219456"/>
          </a:xfrm>
          <a:prstGeom prst="rect">
            <a:avLst/>
          </a:prstGeom>
          <a:solidFill>
            <a:srgbClr val="E3E2DA"/>
          </a:solidFill>
          <a:ln w="12700">
            <a:solidFill>
              <a:srgbClr val="E3E2DA"/>
            </a:solidFill>
            <a:prstDash val="solid"/>
          </a:ln>
        </p:spPr>
      </p:sp>
      <p:sp>
        <p:nvSpPr>
          <p:cNvPr id="164" name="Shape 162"/>
          <p:cNvSpPr/>
          <p:nvPr/>
        </p:nvSpPr>
        <p:spPr>
          <a:xfrm>
            <a:off x="5747857" y="3326587"/>
            <a:ext cx="219456" cy="219456"/>
          </a:xfrm>
          <a:prstGeom prst="rect">
            <a:avLst/>
          </a:prstGeom>
          <a:solidFill>
            <a:srgbClr val="E3E2DA"/>
          </a:solidFill>
          <a:ln w="12700">
            <a:solidFill>
              <a:srgbClr val="E3E2DA"/>
            </a:solidFill>
            <a:prstDash val="solid"/>
          </a:ln>
        </p:spPr>
      </p:sp>
      <p:sp>
        <p:nvSpPr>
          <p:cNvPr id="165" name="Shape 163"/>
          <p:cNvSpPr/>
          <p:nvPr/>
        </p:nvSpPr>
        <p:spPr>
          <a:xfrm>
            <a:off x="5998037" y="3326587"/>
            <a:ext cx="219456" cy="219456"/>
          </a:xfrm>
          <a:prstGeom prst="rect">
            <a:avLst/>
          </a:prstGeom>
          <a:solidFill>
            <a:srgbClr val="E3E2DA"/>
          </a:solidFill>
          <a:ln w="12700">
            <a:solidFill>
              <a:srgbClr val="E3E2DA"/>
            </a:solidFill>
            <a:prstDash val="solid"/>
          </a:ln>
        </p:spPr>
      </p:sp>
      <p:sp>
        <p:nvSpPr>
          <p:cNvPr id="166" name="Shape 164"/>
          <p:cNvSpPr/>
          <p:nvPr/>
        </p:nvSpPr>
        <p:spPr>
          <a:xfrm>
            <a:off x="6248217" y="3326587"/>
            <a:ext cx="219456" cy="219456"/>
          </a:xfrm>
          <a:prstGeom prst="rect">
            <a:avLst/>
          </a:prstGeom>
          <a:solidFill>
            <a:srgbClr val="E3E2DA"/>
          </a:solidFill>
          <a:ln w="12700">
            <a:solidFill>
              <a:srgbClr val="E3E2DA"/>
            </a:solidFill>
            <a:prstDash val="solid"/>
          </a:ln>
        </p:spPr>
      </p:sp>
      <p:sp>
        <p:nvSpPr>
          <p:cNvPr id="167" name="Shape 165"/>
          <p:cNvSpPr/>
          <p:nvPr/>
        </p:nvSpPr>
        <p:spPr>
          <a:xfrm>
            <a:off x="6498397" y="3326587"/>
            <a:ext cx="219456" cy="219456"/>
          </a:xfrm>
          <a:prstGeom prst="rect">
            <a:avLst/>
          </a:prstGeom>
          <a:solidFill>
            <a:srgbClr val="E3E2DA"/>
          </a:solidFill>
          <a:ln w="12700">
            <a:solidFill>
              <a:srgbClr val="E3E2DA"/>
            </a:solidFill>
            <a:prstDash val="solid"/>
          </a:ln>
        </p:spPr>
      </p:sp>
      <p:sp>
        <p:nvSpPr>
          <p:cNvPr id="168" name="Shape 166"/>
          <p:cNvSpPr/>
          <p:nvPr/>
        </p:nvSpPr>
        <p:spPr>
          <a:xfrm>
            <a:off x="4246778" y="3576767"/>
            <a:ext cx="219456" cy="219456"/>
          </a:xfrm>
          <a:prstGeom prst="rect">
            <a:avLst/>
          </a:prstGeom>
          <a:solidFill>
            <a:srgbClr val="E3E2DA"/>
          </a:solidFill>
          <a:ln w="12700">
            <a:solidFill>
              <a:srgbClr val="E3E2DA"/>
            </a:solidFill>
            <a:prstDash val="solid"/>
          </a:ln>
        </p:spPr>
      </p:sp>
      <p:sp>
        <p:nvSpPr>
          <p:cNvPr id="169" name="Shape 167"/>
          <p:cNvSpPr/>
          <p:nvPr/>
        </p:nvSpPr>
        <p:spPr>
          <a:xfrm>
            <a:off x="4496958" y="3576767"/>
            <a:ext cx="219456" cy="219456"/>
          </a:xfrm>
          <a:prstGeom prst="rect">
            <a:avLst/>
          </a:prstGeom>
          <a:solidFill>
            <a:srgbClr val="E3E2DA"/>
          </a:solidFill>
          <a:ln w="12700">
            <a:solidFill>
              <a:srgbClr val="E3E2DA"/>
            </a:solidFill>
            <a:prstDash val="solid"/>
          </a:ln>
        </p:spPr>
      </p:sp>
      <p:sp>
        <p:nvSpPr>
          <p:cNvPr id="170" name="Shape 168"/>
          <p:cNvSpPr/>
          <p:nvPr/>
        </p:nvSpPr>
        <p:spPr>
          <a:xfrm>
            <a:off x="4747138" y="3576767"/>
            <a:ext cx="219456" cy="219456"/>
          </a:xfrm>
          <a:prstGeom prst="rect">
            <a:avLst/>
          </a:prstGeom>
          <a:solidFill>
            <a:srgbClr val="E3E2DA"/>
          </a:solidFill>
          <a:ln w="12700">
            <a:solidFill>
              <a:srgbClr val="E3E2DA"/>
            </a:solidFill>
            <a:prstDash val="solid"/>
          </a:ln>
        </p:spPr>
      </p:sp>
      <p:sp>
        <p:nvSpPr>
          <p:cNvPr id="171" name="Shape 169"/>
          <p:cNvSpPr/>
          <p:nvPr/>
        </p:nvSpPr>
        <p:spPr>
          <a:xfrm>
            <a:off x="4997318" y="3576767"/>
            <a:ext cx="219456" cy="219456"/>
          </a:xfrm>
          <a:prstGeom prst="rect">
            <a:avLst/>
          </a:prstGeom>
          <a:solidFill>
            <a:srgbClr val="E3E2DA"/>
          </a:solidFill>
          <a:ln w="12700">
            <a:solidFill>
              <a:srgbClr val="E3E2DA"/>
            </a:solidFill>
            <a:prstDash val="solid"/>
          </a:ln>
        </p:spPr>
      </p:sp>
      <p:sp>
        <p:nvSpPr>
          <p:cNvPr id="172" name="Shape 170"/>
          <p:cNvSpPr/>
          <p:nvPr/>
        </p:nvSpPr>
        <p:spPr>
          <a:xfrm>
            <a:off x="5247498" y="3576767"/>
            <a:ext cx="219456" cy="219456"/>
          </a:xfrm>
          <a:prstGeom prst="rect">
            <a:avLst/>
          </a:prstGeom>
          <a:solidFill>
            <a:srgbClr val="E3E2DA"/>
          </a:solidFill>
          <a:ln w="12700">
            <a:solidFill>
              <a:srgbClr val="E3E2DA"/>
            </a:solidFill>
            <a:prstDash val="solid"/>
          </a:ln>
        </p:spPr>
      </p:sp>
      <p:sp>
        <p:nvSpPr>
          <p:cNvPr id="173" name="Shape 171"/>
          <p:cNvSpPr/>
          <p:nvPr/>
        </p:nvSpPr>
        <p:spPr>
          <a:xfrm>
            <a:off x="5497678" y="3576767"/>
            <a:ext cx="219456" cy="219456"/>
          </a:xfrm>
          <a:prstGeom prst="rect">
            <a:avLst/>
          </a:prstGeom>
          <a:solidFill>
            <a:srgbClr val="E3E2DA"/>
          </a:solidFill>
          <a:ln w="12700">
            <a:solidFill>
              <a:srgbClr val="E3E2DA"/>
            </a:solidFill>
            <a:prstDash val="solid"/>
          </a:ln>
        </p:spPr>
      </p:sp>
      <p:sp>
        <p:nvSpPr>
          <p:cNvPr id="174" name="Shape 172"/>
          <p:cNvSpPr/>
          <p:nvPr/>
        </p:nvSpPr>
        <p:spPr>
          <a:xfrm>
            <a:off x="5747857" y="3576767"/>
            <a:ext cx="219456" cy="219456"/>
          </a:xfrm>
          <a:prstGeom prst="rect">
            <a:avLst/>
          </a:prstGeom>
          <a:solidFill>
            <a:srgbClr val="E3E2DA"/>
          </a:solidFill>
          <a:ln w="12700">
            <a:solidFill>
              <a:srgbClr val="E3E2DA"/>
            </a:solidFill>
            <a:prstDash val="solid"/>
          </a:ln>
        </p:spPr>
      </p:sp>
      <p:sp>
        <p:nvSpPr>
          <p:cNvPr id="175" name="Shape 173"/>
          <p:cNvSpPr/>
          <p:nvPr/>
        </p:nvSpPr>
        <p:spPr>
          <a:xfrm>
            <a:off x="5998037" y="3576767"/>
            <a:ext cx="219456" cy="219456"/>
          </a:xfrm>
          <a:prstGeom prst="rect">
            <a:avLst/>
          </a:prstGeom>
          <a:solidFill>
            <a:srgbClr val="E3E2DA"/>
          </a:solidFill>
          <a:ln w="12700">
            <a:solidFill>
              <a:srgbClr val="E3E2DA"/>
            </a:solidFill>
            <a:prstDash val="solid"/>
          </a:ln>
        </p:spPr>
      </p:sp>
      <p:sp>
        <p:nvSpPr>
          <p:cNvPr id="176" name="Shape 174"/>
          <p:cNvSpPr/>
          <p:nvPr/>
        </p:nvSpPr>
        <p:spPr>
          <a:xfrm>
            <a:off x="6248217" y="3576767"/>
            <a:ext cx="219456" cy="219456"/>
          </a:xfrm>
          <a:prstGeom prst="rect">
            <a:avLst/>
          </a:prstGeom>
          <a:solidFill>
            <a:srgbClr val="E3E2DA"/>
          </a:solidFill>
          <a:ln w="12700">
            <a:solidFill>
              <a:srgbClr val="E3E2DA"/>
            </a:solidFill>
            <a:prstDash val="solid"/>
          </a:ln>
        </p:spPr>
      </p:sp>
      <p:sp>
        <p:nvSpPr>
          <p:cNvPr id="177" name="Shape 175"/>
          <p:cNvSpPr/>
          <p:nvPr/>
        </p:nvSpPr>
        <p:spPr>
          <a:xfrm>
            <a:off x="6498397" y="3576767"/>
            <a:ext cx="219456" cy="219456"/>
          </a:xfrm>
          <a:prstGeom prst="rect">
            <a:avLst/>
          </a:prstGeom>
          <a:solidFill>
            <a:srgbClr val="E3E2DA"/>
          </a:solidFill>
          <a:ln w="12700">
            <a:solidFill>
              <a:srgbClr val="E3E2DA"/>
            </a:solidFill>
            <a:prstDash val="solid"/>
          </a:ln>
        </p:spPr>
      </p:sp>
      <p:sp>
        <p:nvSpPr>
          <p:cNvPr id="178" name="Shape 176"/>
          <p:cNvSpPr/>
          <p:nvPr/>
        </p:nvSpPr>
        <p:spPr>
          <a:xfrm>
            <a:off x="4246778" y="3826947"/>
            <a:ext cx="219456" cy="219456"/>
          </a:xfrm>
          <a:prstGeom prst="rect">
            <a:avLst/>
          </a:prstGeom>
          <a:solidFill>
            <a:srgbClr val="E3E2DA"/>
          </a:solidFill>
          <a:ln w="12700">
            <a:solidFill>
              <a:srgbClr val="E3E2DA"/>
            </a:solidFill>
            <a:prstDash val="solid"/>
          </a:ln>
        </p:spPr>
      </p:sp>
      <p:sp>
        <p:nvSpPr>
          <p:cNvPr id="179" name="Shape 177"/>
          <p:cNvSpPr/>
          <p:nvPr/>
        </p:nvSpPr>
        <p:spPr>
          <a:xfrm>
            <a:off x="4496958" y="3826947"/>
            <a:ext cx="219456" cy="219456"/>
          </a:xfrm>
          <a:prstGeom prst="rect">
            <a:avLst/>
          </a:prstGeom>
          <a:solidFill>
            <a:srgbClr val="E3E2DA"/>
          </a:solidFill>
          <a:ln w="12700">
            <a:solidFill>
              <a:srgbClr val="E3E2DA"/>
            </a:solidFill>
            <a:prstDash val="solid"/>
          </a:ln>
        </p:spPr>
      </p:sp>
      <p:sp>
        <p:nvSpPr>
          <p:cNvPr id="180" name="Shape 178"/>
          <p:cNvSpPr/>
          <p:nvPr/>
        </p:nvSpPr>
        <p:spPr>
          <a:xfrm>
            <a:off x="4747138" y="3826947"/>
            <a:ext cx="219456" cy="219456"/>
          </a:xfrm>
          <a:prstGeom prst="rect">
            <a:avLst/>
          </a:prstGeom>
          <a:solidFill>
            <a:srgbClr val="E3E2DA"/>
          </a:solidFill>
          <a:ln w="12700">
            <a:solidFill>
              <a:srgbClr val="E3E2DA"/>
            </a:solidFill>
            <a:prstDash val="solid"/>
          </a:ln>
        </p:spPr>
      </p:sp>
      <p:sp>
        <p:nvSpPr>
          <p:cNvPr id="181" name="Shape 179"/>
          <p:cNvSpPr/>
          <p:nvPr/>
        </p:nvSpPr>
        <p:spPr>
          <a:xfrm>
            <a:off x="4997318" y="3826947"/>
            <a:ext cx="219456" cy="219456"/>
          </a:xfrm>
          <a:prstGeom prst="rect">
            <a:avLst/>
          </a:prstGeom>
          <a:solidFill>
            <a:srgbClr val="E3E2DA"/>
          </a:solidFill>
          <a:ln w="12700">
            <a:solidFill>
              <a:srgbClr val="E3E2DA"/>
            </a:solidFill>
            <a:prstDash val="solid"/>
          </a:ln>
        </p:spPr>
      </p:sp>
      <p:sp>
        <p:nvSpPr>
          <p:cNvPr id="182" name="Shape 180"/>
          <p:cNvSpPr/>
          <p:nvPr/>
        </p:nvSpPr>
        <p:spPr>
          <a:xfrm>
            <a:off x="5247498" y="3826947"/>
            <a:ext cx="219456" cy="219456"/>
          </a:xfrm>
          <a:prstGeom prst="rect">
            <a:avLst/>
          </a:prstGeom>
          <a:solidFill>
            <a:srgbClr val="E3E2DA"/>
          </a:solidFill>
          <a:ln w="12700">
            <a:solidFill>
              <a:srgbClr val="E3E2DA"/>
            </a:solidFill>
            <a:prstDash val="solid"/>
          </a:ln>
        </p:spPr>
      </p:sp>
      <p:sp>
        <p:nvSpPr>
          <p:cNvPr id="183" name="Shape 181"/>
          <p:cNvSpPr/>
          <p:nvPr/>
        </p:nvSpPr>
        <p:spPr>
          <a:xfrm>
            <a:off x="5497678" y="3826947"/>
            <a:ext cx="219456" cy="219456"/>
          </a:xfrm>
          <a:prstGeom prst="rect">
            <a:avLst/>
          </a:prstGeom>
          <a:solidFill>
            <a:srgbClr val="E3E2DA"/>
          </a:solidFill>
          <a:ln w="12700">
            <a:solidFill>
              <a:srgbClr val="E3E2DA"/>
            </a:solidFill>
            <a:prstDash val="solid"/>
          </a:ln>
        </p:spPr>
      </p:sp>
      <p:sp>
        <p:nvSpPr>
          <p:cNvPr id="184" name="Shape 182"/>
          <p:cNvSpPr/>
          <p:nvPr/>
        </p:nvSpPr>
        <p:spPr>
          <a:xfrm>
            <a:off x="5747857" y="3826947"/>
            <a:ext cx="219456" cy="219456"/>
          </a:xfrm>
          <a:prstGeom prst="rect">
            <a:avLst/>
          </a:prstGeom>
          <a:solidFill>
            <a:srgbClr val="E3E2DA"/>
          </a:solidFill>
          <a:ln w="12700">
            <a:solidFill>
              <a:srgbClr val="E3E2DA"/>
            </a:solidFill>
            <a:prstDash val="solid"/>
          </a:ln>
        </p:spPr>
      </p:sp>
      <p:sp>
        <p:nvSpPr>
          <p:cNvPr id="185" name="Shape 183"/>
          <p:cNvSpPr/>
          <p:nvPr/>
        </p:nvSpPr>
        <p:spPr>
          <a:xfrm>
            <a:off x="5998037" y="3826947"/>
            <a:ext cx="219456" cy="219456"/>
          </a:xfrm>
          <a:prstGeom prst="rect">
            <a:avLst/>
          </a:prstGeom>
          <a:solidFill>
            <a:srgbClr val="E3E2DA"/>
          </a:solidFill>
          <a:ln w="12700">
            <a:solidFill>
              <a:srgbClr val="E3E2DA"/>
            </a:solidFill>
            <a:prstDash val="solid"/>
          </a:ln>
        </p:spPr>
      </p:sp>
      <p:sp>
        <p:nvSpPr>
          <p:cNvPr id="186" name="Shape 184"/>
          <p:cNvSpPr/>
          <p:nvPr/>
        </p:nvSpPr>
        <p:spPr>
          <a:xfrm>
            <a:off x="6248217" y="3826947"/>
            <a:ext cx="219456" cy="219456"/>
          </a:xfrm>
          <a:prstGeom prst="rect">
            <a:avLst/>
          </a:prstGeom>
          <a:solidFill>
            <a:srgbClr val="E3E2DA"/>
          </a:solidFill>
          <a:ln w="12700">
            <a:solidFill>
              <a:srgbClr val="E3E2DA"/>
            </a:solidFill>
            <a:prstDash val="solid"/>
          </a:ln>
        </p:spPr>
      </p:sp>
      <p:sp>
        <p:nvSpPr>
          <p:cNvPr id="187" name="Shape 185"/>
          <p:cNvSpPr/>
          <p:nvPr/>
        </p:nvSpPr>
        <p:spPr>
          <a:xfrm>
            <a:off x="6498397" y="3826947"/>
            <a:ext cx="219456" cy="219456"/>
          </a:xfrm>
          <a:prstGeom prst="rect">
            <a:avLst/>
          </a:prstGeom>
          <a:solidFill>
            <a:srgbClr val="E3E2DA"/>
          </a:solidFill>
          <a:ln w="12700">
            <a:solidFill>
              <a:srgbClr val="E3E2DA"/>
            </a:solidFill>
            <a:prstDash val="solid"/>
          </a:ln>
        </p:spPr>
      </p:sp>
      <p:sp>
        <p:nvSpPr>
          <p:cNvPr id="188" name="Shape 186"/>
          <p:cNvSpPr/>
          <p:nvPr/>
        </p:nvSpPr>
        <p:spPr>
          <a:xfrm>
            <a:off x="4246778" y="4077127"/>
            <a:ext cx="219456" cy="219456"/>
          </a:xfrm>
          <a:prstGeom prst="rect">
            <a:avLst/>
          </a:prstGeom>
          <a:solidFill>
            <a:srgbClr val="E3E2DA"/>
          </a:solidFill>
          <a:ln w="12700">
            <a:solidFill>
              <a:srgbClr val="E3E2DA"/>
            </a:solidFill>
            <a:prstDash val="solid"/>
          </a:ln>
        </p:spPr>
      </p:sp>
      <p:sp>
        <p:nvSpPr>
          <p:cNvPr id="189" name="Shape 187"/>
          <p:cNvSpPr/>
          <p:nvPr/>
        </p:nvSpPr>
        <p:spPr>
          <a:xfrm>
            <a:off x="4496958" y="4077127"/>
            <a:ext cx="219456" cy="219456"/>
          </a:xfrm>
          <a:prstGeom prst="rect">
            <a:avLst/>
          </a:prstGeom>
          <a:solidFill>
            <a:srgbClr val="E3E2DA"/>
          </a:solidFill>
          <a:ln w="12700">
            <a:solidFill>
              <a:srgbClr val="E3E2DA"/>
            </a:solidFill>
            <a:prstDash val="solid"/>
          </a:ln>
        </p:spPr>
      </p:sp>
      <p:sp>
        <p:nvSpPr>
          <p:cNvPr id="190" name="Shape 188"/>
          <p:cNvSpPr/>
          <p:nvPr/>
        </p:nvSpPr>
        <p:spPr>
          <a:xfrm>
            <a:off x="4747138" y="4077127"/>
            <a:ext cx="219456" cy="219456"/>
          </a:xfrm>
          <a:prstGeom prst="rect">
            <a:avLst/>
          </a:prstGeom>
          <a:solidFill>
            <a:srgbClr val="E3E2DA"/>
          </a:solidFill>
          <a:ln w="12700">
            <a:solidFill>
              <a:srgbClr val="E3E2DA"/>
            </a:solidFill>
            <a:prstDash val="solid"/>
          </a:ln>
        </p:spPr>
      </p:sp>
      <p:sp>
        <p:nvSpPr>
          <p:cNvPr id="191" name="Shape 189"/>
          <p:cNvSpPr/>
          <p:nvPr/>
        </p:nvSpPr>
        <p:spPr>
          <a:xfrm>
            <a:off x="4997318" y="4077127"/>
            <a:ext cx="219456" cy="219456"/>
          </a:xfrm>
          <a:prstGeom prst="rect">
            <a:avLst/>
          </a:prstGeom>
          <a:solidFill>
            <a:srgbClr val="E3E2DA"/>
          </a:solidFill>
          <a:ln w="12700">
            <a:solidFill>
              <a:srgbClr val="E3E2DA"/>
            </a:solidFill>
            <a:prstDash val="solid"/>
          </a:ln>
        </p:spPr>
      </p:sp>
      <p:sp>
        <p:nvSpPr>
          <p:cNvPr id="192" name="Shape 190"/>
          <p:cNvSpPr/>
          <p:nvPr/>
        </p:nvSpPr>
        <p:spPr>
          <a:xfrm>
            <a:off x="5247498" y="4077127"/>
            <a:ext cx="219456" cy="219456"/>
          </a:xfrm>
          <a:prstGeom prst="rect">
            <a:avLst/>
          </a:prstGeom>
          <a:solidFill>
            <a:srgbClr val="E3E2DA"/>
          </a:solidFill>
          <a:ln w="12700">
            <a:solidFill>
              <a:srgbClr val="E3E2DA"/>
            </a:solidFill>
            <a:prstDash val="solid"/>
          </a:ln>
        </p:spPr>
      </p:sp>
      <p:sp>
        <p:nvSpPr>
          <p:cNvPr id="193" name="Shape 191"/>
          <p:cNvSpPr/>
          <p:nvPr/>
        </p:nvSpPr>
        <p:spPr>
          <a:xfrm>
            <a:off x="5497678" y="4077127"/>
            <a:ext cx="219456" cy="219456"/>
          </a:xfrm>
          <a:prstGeom prst="rect">
            <a:avLst/>
          </a:prstGeom>
          <a:solidFill>
            <a:srgbClr val="E3E2DA"/>
          </a:solidFill>
          <a:ln w="12700">
            <a:solidFill>
              <a:srgbClr val="E3E2DA"/>
            </a:solidFill>
            <a:prstDash val="solid"/>
          </a:ln>
        </p:spPr>
      </p:sp>
      <p:sp>
        <p:nvSpPr>
          <p:cNvPr id="194" name="Shape 192"/>
          <p:cNvSpPr/>
          <p:nvPr/>
        </p:nvSpPr>
        <p:spPr>
          <a:xfrm>
            <a:off x="5747857" y="4077127"/>
            <a:ext cx="219456" cy="219456"/>
          </a:xfrm>
          <a:prstGeom prst="rect">
            <a:avLst/>
          </a:prstGeom>
          <a:solidFill>
            <a:srgbClr val="E3E2DA"/>
          </a:solidFill>
          <a:ln w="12700">
            <a:solidFill>
              <a:srgbClr val="E3E2DA"/>
            </a:solidFill>
            <a:prstDash val="solid"/>
          </a:ln>
        </p:spPr>
      </p:sp>
      <p:sp>
        <p:nvSpPr>
          <p:cNvPr id="195" name="Shape 193"/>
          <p:cNvSpPr/>
          <p:nvPr/>
        </p:nvSpPr>
        <p:spPr>
          <a:xfrm>
            <a:off x="5998037" y="4077127"/>
            <a:ext cx="219456" cy="219456"/>
          </a:xfrm>
          <a:prstGeom prst="rect">
            <a:avLst/>
          </a:prstGeom>
          <a:solidFill>
            <a:srgbClr val="E3E2DA"/>
          </a:solidFill>
          <a:ln w="12700">
            <a:solidFill>
              <a:srgbClr val="E3E2DA"/>
            </a:solidFill>
            <a:prstDash val="solid"/>
          </a:ln>
        </p:spPr>
      </p:sp>
      <p:sp>
        <p:nvSpPr>
          <p:cNvPr id="196" name="Shape 194"/>
          <p:cNvSpPr/>
          <p:nvPr/>
        </p:nvSpPr>
        <p:spPr>
          <a:xfrm>
            <a:off x="6248217" y="4077127"/>
            <a:ext cx="219456" cy="219456"/>
          </a:xfrm>
          <a:prstGeom prst="rect">
            <a:avLst/>
          </a:prstGeom>
          <a:solidFill>
            <a:srgbClr val="E3E2DA"/>
          </a:solidFill>
          <a:ln w="12700">
            <a:solidFill>
              <a:srgbClr val="E3E2DA"/>
            </a:solidFill>
            <a:prstDash val="solid"/>
          </a:ln>
        </p:spPr>
      </p:sp>
      <p:sp>
        <p:nvSpPr>
          <p:cNvPr id="197" name="Shape 195"/>
          <p:cNvSpPr/>
          <p:nvPr/>
        </p:nvSpPr>
        <p:spPr>
          <a:xfrm>
            <a:off x="6498397" y="4077127"/>
            <a:ext cx="219456" cy="219456"/>
          </a:xfrm>
          <a:prstGeom prst="rect">
            <a:avLst/>
          </a:prstGeom>
          <a:solidFill>
            <a:srgbClr val="E3E2DA"/>
          </a:solidFill>
          <a:ln w="12700">
            <a:solidFill>
              <a:srgbClr val="E3E2DA"/>
            </a:solidFill>
            <a:prstDash val="solid"/>
          </a:ln>
        </p:spPr>
      </p:sp>
      <p:sp>
        <p:nvSpPr>
          <p:cNvPr id="198" name="Shape 196"/>
          <p:cNvSpPr/>
          <p:nvPr/>
        </p:nvSpPr>
        <p:spPr>
          <a:xfrm>
            <a:off x="4246778" y="4327307"/>
            <a:ext cx="219456" cy="219456"/>
          </a:xfrm>
          <a:prstGeom prst="rect">
            <a:avLst/>
          </a:prstGeom>
          <a:solidFill>
            <a:srgbClr val="E3E2DA"/>
          </a:solidFill>
          <a:ln w="12700">
            <a:solidFill>
              <a:srgbClr val="E3E2DA"/>
            </a:solidFill>
            <a:prstDash val="solid"/>
          </a:ln>
        </p:spPr>
      </p:sp>
      <p:sp>
        <p:nvSpPr>
          <p:cNvPr id="199" name="Shape 197"/>
          <p:cNvSpPr/>
          <p:nvPr/>
        </p:nvSpPr>
        <p:spPr>
          <a:xfrm>
            <a:off x="4496958" y="4327307"/>
            <a:ext cx="219456" cy="219456"/>
          </a:xfrm>
          <a:prstGeom prst="rect">
            <a:avLst/>
          </a:prstGeom>
          <a:solidFill>
            <a:srgbClr val="E3E2DA"/>
          </a:solidFill>
          <a:ln w="12700">
            <a:solidFill>
              <a:srgbClr val="E3E2DA"/>
            </a:solidFill>
            <a:prstDash val="solid"/>
          </a:ln>
        </p:spPr>
      </p:sp>
      <p:sp>
        <p:nvSpPr>
          <p:cNvPr id="200" name="Shape 198"/>
          <p:cNvSpPr/>
          <p:nvPr/>
        </p:nvSpPr>
        <p:spPr>
          <a:xfrm>
            <a:off x="4747138" y="4327307"/>
            <a:ext cx="219456" cy="219456"/>
          </a:xfrm>
          <a:prstGeom prst="rect">
            <a:avLst/>
          </a:prstGeom>
          <a:solidFill>
            <a:srgbClr val="E3E2DA"/>
          </a:solidFill>
          <a:ln w="12700">
            <a:solidFill>
              <a:srgbClr val="E3E2DA"/>
            </a:solidFill>
            <a:prstDash val="solid"/>
          </a:ln>
        </p:spPr>
      </p:sp>
      <p:sp>
        <p:nvSpPr>
          <p:cNvPr id="201" name="Shape 199"/>
          <p:cNvSpPr/>
          <p:nvPr/>
        </p:nvSpPr>
        <p:spPr>
          <a:xfrm>
            <a:off x="4997318" y="4327307"/>
            <a:ext cx="219456" cy="219456"/>
          </a:xfrm>
          <a:prstGeom prst="rect">
            <a:avLst/>
          </a:prstGeom>
          <a:solidFill>
            <a:srgbClr val="E3E2DA"/>
          </a:solidFill>
          <a:ln w="12700">
            <a:solidFill>
              <a:srgbClr val="E3E2DA"/>
            </a:solidFill>
            <a:prstDash val="solid"/>
          </a:ln>
        </p:spPr>
      </p:sp>
      <p:sp>
        <p:nvSpPr>
          <p:cNvPr id="202" name="Shape 200"/>
          <p:cNvSpPr/>
          <p:nvPr/>
        </p:nvSpPr>
        <p:spPr>
          <a:xfrm>
            <a:off x="5247498" y="4327307"/>
            <a:ext cx="219456" cy="219456"/>
          </a:xfrm>
          <a:prstGeom prst="rect">
            <a:avLst/>
          </a:prstGeom>
          <a:solidFill>
            <a:srgbClr val="E3E2DA"/>
          </a:solidFill>
          <a:ln w="12700">
            <a:solidFill>
              <a:srgbClr val="E3E2DA"/>
            </a:solidFill>
            <a:prstDash val="solid"/>
          </a:ln>
        </p:spPr>
      </p:sp>
      <p:sp>
        <p:nvSpPr>
          <p:cNvPr id="203" name="Shape 201"/>
          <p:cNvSpPr/>
          <p:nvPr/>
        </p:nvSpPr>
        <p:spPr>
          <a:xfrm>
            <a:off x="5497678" y="4327307"/>
            <a:ext cx="219456" cy="219456"/>
          </a:xfrm>
          <a:prstGeom prst="rect">
            <a:avLst/>
          </a:prstGeom>
          <a:solidFill>
            <a:srgbClr val="E3E2DA"/>
          </a:solidFill>
          <a:ln w="12700">
            <a:solidFill>
              <a:srgbClr val="E3E2DA"/>
            </a:solidFill>
            <a:prstDash val="solid"/>
          </a:ln>
        </p:spPr>
      </p:sp>
      <p:sp>
        <p:nvSpPr>
          <p:cNvPr id="204" name="Shape 202"/>
          <p:cNvSpPr/>
          <p:nvPr/>
        </p:nvSpPr>
        <p:spPr>
          <a:xfrm>
            <a:off x="5747857" y="4327307"/>
            <a:ext cx="219456" cy="219456"/>
          </a:xfrm>
          <a:prstGeom prst="rect">
            <a:avLst/>
          </a:prstGeom>
          <a:solidFill>
            <a:srgbClr val="E3E2DA"/>
          </a:solidFill>
          <a:ln w="12700">
            <a:solidFill>
              <a:srgbClr val="E3E2DA"/>
            </a:solidFill>
            <a:prstDash val="solid"/>
          </a:ln>
        </p:spPr>
      </p:sp>
      <p:sp>
        <p:nvSpPr>
          <p:cNvPr id="205" name="Shape 203"/>
          <p:cNvSpPr/>
          <p:nvPr/>
        </p:nvSpPr>
        <p:spPr>
          <a:xfrm>
            <a:off x="5998037" y="4327307"/>
            <a:ext cx="219456" cy="219456"/>
          </a:xfrm>
          <a:prstGeom prst="rect">
            <a:avLst/>
          </a:prstGeom>
          <a:solidFill>
            <a:srgbClr val="E3E2DA"/>
          </a:solidFill>
          <a:ln w="12700">
            <a:solidFill>
              <a:srgbClr val="E3E2DA"/>
            </a:solidFill>
            <a:prstDash val="solid"/>
          </a:ln>
        </p:spPr>
      </p:sp>
      <p:sp>
        <p:nvSpPr>
          <p:cNvPr id="206" name="Shape 204"/>
          <p:cNvSpPr/>
          <p:nvPr/>
        </p:nvSpPr>
        <p:spPr>
          <a:xfrm>
            <a:off x="6248217" y="4327307"/>
            <a:ext cx="219456" cy="219456"/>
          </a:xfrm>
          <a:prstGeom prst="rect">
            <a:avLst/>
          </a:prstGeom>
          <a:solidFill>
            <a:srgbClr val="E3E2DA"/>
          </a:solidFill>
          <a:ln w="12700">
            <a:solidFill>
              <a:srgbClr val="E3E2DA"/>
            </a:solidFill>
            <a:prstDash val="solid"/>
          </a:ln>
        </p:spPr>
      </p:sp>
      <p:sp>
        <p:nvSpPr>
          <p:cNvPr id="207" name="Shape 205"/>
          <p:cNvSpPr/>
          <p:nvPr/>
        </p:nvSpPr>
        <p:spPr>
          <a:xfrm>
            <a:off x="6498397" y="4327307"/>
            <a:ext cx="219456" cy="219456"/>
          </a:xfrm>
          <a:prstGeom prst="rect">
            <a:avLst/>
          </a:prstGeom>
          <a:solidFill>
            <a:srgbClr val="E3E2DA"/>
          </a:solidFill>
          <a:ln w="12700">
            <a:solidFill>
              <a:srgbClr val="E3E2DA"/>
            </a:solidFill>
            <a:prstDash val="solid"/>
          </a:ln>
        </p:spPr>
      </p:sp>
      <p:sp>
        <p:nvSpPr>
          <p:cNvPr id="208" name="Text 206"/>
          <p:cNvSpPr txBox="1"/>
          <p:nvPr/>
        </p:nvSpPr>
        <p:spPr>
          <a:xfrm>
            <a:off x="4246778"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43.8%</a:t>
            </a:r>
            <a:endParaRPr lang="en-US" sz="2000" dirty="0"/>
          </a:p>
        </p:txBody>
      </p:sp>
      <p:sp>
        <p:nvSpPr>
          <p:cNvPr id="209" name="Text 207"/>
          <p:cNvSpPr txBox="1"/>
          <p:nvPr/>
        </p:nvSpPr>
        <p:spPr>
          <a:xfrm>
            <a:off x="4246778"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 (44 of every 100)</a:t>
            </a:r>
            <a:endParaRPr lang="en-US" sz="1000" dirty="0"/>
          </a:p>
        </p:txBody>
      </p:sp>
      <p:sp>
        <p:nvSpPr>
          <p:cNvPr id="210" name="Shape 208"/>
          <p:cNvSpPr/>
          <p:nvPr/>
        </p:nvSpPr>
        <p:spPr>
          <a:xfrm>
            <a:off x="7944917" y="2075688"/>
            <a:ext cx="219456" cy="219456"/>
          </a:xfrm>
          <a:prstGeom prst="rect">
            <a:avLst/>
          </a:prstGeom>
          <a:solidFill>
            <a:srgbClr val="43A3A3"/>
          </a:solidFill>
          <a:ln w="12700">
            <a:solidFill>
              <a:srgbClr val="43A3A3"/>
            </a:solidFill>
            <a:prstDash val="solid"/>
          </a:ln>
        </p:spPr>
      </p:sp>
      <p:sp>
        <p:nvSpPr>
          <p:cNvPr id="211" name="Shape 209"/>
          <p:cNvSpPr/>
          <p:nvPr/>
        </p:nvSpPr>
        <p:spPr>
          <a:xfrm>
            <a:off x="8195097" y="2075688"/>
            <a:ext cx="219456" cy="219456"/>
          </a:xfrm>
          <a:prstGeom prst="rect">
            <a:avLst/>
          </a:prstGeom>
          <a:solidFill>
            <a:srgbClr val="43A3A3"/>
          </a:solidFill>
          <a:ln w="12700">
            <a:solidFill>
              <a:srgbClr val="43A3A3"/>
            </a:solidFill>
            <a:prstDash val="solid"/>
          </a:ln>
        </p:spPr>
      </p:sp>
      <p:sp>
        <p:nvSpPr>
          <p:cNvPr id="212" name="Shape 210"/>
          <p:cNvSpPr/>
          <p:nvPr/>
        </p:nvSpPr>
        <p:spPr>
          <a:xfrm>
            <a:off x="8445276" y="2075688"/>
            <a:ext cx="219456" cy="219456"/>
          </a:xfrm>
          <a:prstGeom prst="rect">
            <a:avLst/>
          </a:prstGeom>
          <a:solidFill>
            <a:srgbClr val="43A3A3"/>
          </a:solidFill>
          <a:ln w="12700">
            <a:solidFill>
              <a:srgbClr val="43A3A3"/>
            </a:solidFill>
            <a:prstDash val="solid"/>
          </a:ln>
        </p:spPr>
      </p:sp>
      <p:sp>
        <p:nvSpPr>
          <p:cNvPr id="213" name="Shape 211"/>
          <p:cNvSpPr/>
          <p:nvPr/>
        </p:nvSpPr>
        <p:spPr>
          <a:xfrm>
            <a:off x="8695456" y="2075688"/>
            <a:ext cx="219456" cy="219456"/>
          </a:xfrm>
          <a:prstGeom prst="rect">
            <a:avLst/>
          </a:prstGeom>
          <a:solidFill>
            <a:srgbClr val="43A3A3"/>
          </a:solidFill>
          <a:ln w="12700">
            <a:solidFill>
              <a:srgbClr val="43A3A3"/>
            </a:solidFill>
            <a:prstDash val="solid"/>
          </a:ln>
        </p:spPr>
      </p:sp>
      <p:sp>
        <p:nvSpPr>
          <p:cNvPr id="214" name="Shape 212"/>
          <p:cNvSpPr/>
          <p:nvPr/>
        </p:nvSpPr>
        <p:spPr>
          <a:xfrm>
            <a:off x="8945636" y="2075688"/>
            <a:ext cx="219456" cy="219456"/>
          </a:xfrm>
          <a:prstGeom prst="rect">
            <a:avLst/>
          </a:prstGeom>
          <a:solidFill>
            <a:srgbClr val="43A3A3"/>
          </a:solidFill>
          <a:ln w="12700">
            <a:solidFill>
              <a:srgbClr val="43A3A3"/>
            </a:solidFill>
            <a:prstDash val="solid"/>
          </a:ln>
        </p:spPr>
      </p:sp>
      <p:sp>
        <p:nvSpPr>
          <p:cNvPr id="215" name="Shape 213"/>
          <p:cNvSpPr/>
          <p:nvPr/>
        </p:nvSpPr>
        <p:spPr>
          <a:xfrm>
            <a:off x="9195816" y="2075688"/>
            <a:ext cx="219456" cy="219456"/>
          </a:xfrm>
          <a:prstGeom prst="rect">
            <a:avLst/>
          </a:prstGeom>
          <a:solidFill>
            <a:srgbClr val="43A3A3"/>
          </a:solidFill>
          <a:ln w="12700">
            <a:solidFill>
              <a:srgbClr val="43A3A3"/>
            </a:solidFill>
            <a:prstDash val="solid"/>
          </a:ln>
        </p:spPr>
      </p:sp>
      <p:sp>
        <p:nvSpPr>
          <p:cNvPr id="216" name="Shape 214"/>
          <p:cNvSpPr/>
          <p:nvPr/>
        </p:nvSpPr>
        <p:spPr>
          <a:xfrm>
            <a:off x="9445996" y="2075688"/>
            <a:ext cx="219456" cy="219456"/>
          </a:xfrm>
          <a:prstGeom prst="rect">
            <a:avLst/>
          </a:prstGeom>
          <a:solidFill>
            <a:srgbClr val="43A3A3"/>
          </a:solidFill>
          <a:ln w="12700">
            <a:solidFill>
              <a:srgbClr val="43A3A3"/>
            </a:solidFill>
            <a:prstDash val="solid"/>
          </a:ln>
        </p:spPr>
      </p:sp>
      <p:sp>
        <p:nvSpPr>
          <p:cNvPr id="217" name="Shape 215"/>
          <p:cNvSpPr/>
          <p:nvPr/>
        </p:nvSpPr>
        <p:spPr>
          <a:xfrm>
            <a:off x="9696176" y="2075688"/>
            <a:ext cx="219456" cy="219456"/>
          </a:xfrm>
          <a:prstGeom prst="rect">
            <a:avLst/>
          </a:prstGeom>
          <a:solidFill>
            <a:srgbClr val="43A3A3"/>
          </a:solidFill>
          <a:ln w="12700">
            <a:solidFill>
              <a:srgbClr val="43A3A3"/>
            </a:solidFill>
            <a:prstDash val="solid"/>
          </a:ln>
        </p:spPr>
      </p:sp>
      <p:sp>
        <p:nvSpPr>
          <p:cNvPr id="218" name="Shape 216"/>
          <p:cNvSpPr/>
          <p:nvPr/>
        </p:nvSpPr>
        <p:spPr>
          <a:xfrm>
            <a:off x="9946356" y="2075688"/>
            <a:ext cx="219456" cy="219456"/>
          </a:xfrm>
          <a:prstGeom prst="rect">
            <a:avLst/>
          </a:prstGeom>
          <a:solidFill>
            <a:srgbClr val="43A3A3"/>
          </a:solidFill>
          <a:ln w="12700">
            <a:solidFill>
              <a:srgbClr val="43A3A3"/>
            </a:solidFill>
            <a:prstDash val="solid"/>
          </a:ln>
        </p:spPr>
      </p:sp>
      <p:sp>
        <p:nvSpPr>
          <p:cNvPr id="219" name="Shape 217"/>
          <p:cNvSpPr/>
          <p:nvPr/>
        </p:nvSpPr>
        <p:spPr>
          <a:xfrm>
            <a:off x="10196535" y="2075688"/>
            <a:ext cx="219456" cy="219456"/>
          </a:xfrm>
          <a:prstGeom prst="rect">
            <a:avLst/>
          </a:prstGeom>
          <a:solidFill>
            <a:srgbClr val="43A3A3"/>
          </a:solidFill>
          <a:ln w="12700">
            <a:solidFill>
              <a:srgbClr val="43A3A3"/>
            </a:solidFill>
            <a:prstDash val="solid"/>
          </a:ln>
        </p:spPr>
      </p:sp>
      <p:sp>
        <p:nvSpPr>
          <p:cNvPr id="220" name="Shape 218"/>
          <p:cNvSpPr/>
          <p:nvPr/>
        </p:nvSpPr>
        <p:spPr>
          <a:xfrm>
            <a:off x="7944917" y="2325868"/>
            <a:ext cx="219456" cy="219456"/>
          </a:xfrm>
          <a:prstGeom prst="rect">
            <a:avLst/>
          </a:prstGeom>
          <a:solidFill>
            <a:srgbClr val="43A3A3"/>
          </a:solidFill>
          <a:ln w="12700">
            <a:solidFill>
              <a:srgbClr val="43A3A3"/>
            </a:solidFill>
            <a:prstDash val="solid"/>
          </a:ln>
        </p:spPr>
      </p:sp>
      <p:sp>
        <p:nvSpPr>
          <p:cNvPr id="221" name="Shape 219"/>
          <p:cNvSpPr/>
          <p:nvPr/>
        </p:nvSpPr>
        <p:spPr>
          <a:xfrm>
            <a:off x="8195097" y="2325868"/>
            <a:ext cx="219456" cy="219456"/>
          </a:xfrm>
          <a:prstGeom prst="rect">
            <a:avLst/>
          </a:prstGeom>
          <a:solidFill>
            <a:srgbClr val="43A3A3"/>
          </a:solidFill>
          <a:ln w="12700">
            <a:solidFill>
              <a:srgbClr val="43A3A3"/>
            </a:solidFill>
            <a:prstDash val="solid"/>
          </a:ln>
        </p:spPr>
      </p:sp>
      <p:sp>
        <p:nvSpPr>
          <p:cNvPr id="222" name="Shape 220"/>
          <p:cNvSpPr/>
          <p:nvPr/>
        </p:nvSpPr>
        <p:spPr>
          <a:xfrm>
            <a:off x="8445276" y="2325868"/>
            <a:ext cx="219456" cy="219456"/>
          </a:xfrm>
          <a:prstGeom prst="rect">
            <a:avLst/>
          </a:prstGeom>
          <a:solidFill>
            <a:srgbClr val="43A3A3"/>
          </a:solidFill>
          <a:ln w="12700">
            <a:solidFill>
              <a:srgbClr val="43A3A3"/>
            </a:solidFill>
            <a:prstDash val="solid"/>
          </a:ln>
        </p:spPr>
      </p:sp>
      <p:sp>
        <p:nvSpPr>
          <p:cNvPr id="223" name="Shape 221"/>
          <p:cNvSpPr/>
          <p:nvPr/>
        </p:nvSpPr>
        <p:spPr>
          <a:xfrm>
            <a:off x="8695456" y="2325868"/>
            <a:ext cx="219456" cy="219456"/>
          </a:xfrm>
          <a:prstGeom prst="rect">
            <a:avLst/>
          </a:prstGeom>
          <a:solidFill>
            <a:srgbClr val="43A3A3"/>
          </a:solidFill>
          <a:ln w="12700">
            <a:solidFill>
              <a:srgbClr val="43A3A3"/>
            </a:solidFill>
            <a:prstDash val="solid"/>
          </a:ln>
        </p:spPr>
      </p:sp>
      <p:sp>
        <p:nvSpPr>
          <p:cNvPr id="224" name="Shape 222"/>
          <p:cNvSpPr/>
          <p:nvPr/>
        </p:nvSpPr>
        <p:spPr>
          <a:xfrm>
            <a:off x="8945636" y="2325868"/>
            <a:ext cx="219456" cy="219456"/>
          </a:xfrm>
          <a:prstGeom prst="rect">
            <a:avLst/>
          </a:prstGeom>
          <a:solidFill>
            <a:srgbClr val="43A3A3"/>
          </a:solidFill>
          <a:ln w="12700">
            <a:solidFill>
              <a:srgbClr val="43A3A3"/>
            </a:solidFill>
            <a:prstDash val="solid"/>
          </a:ln>
        </p:spPr>
      </p:sp>
      <p:sp>
        <p:nvSpPr>
          <p:cNvPr id="225" name="Shape 223"/>
          <p:cNvSpPr/>
          <p:nvPr/>
        </p:nvSpPr>
        <p:spPr>
          <a:xfrm>
            <a:off x="9195816" y="2325868"/>
            <a:ext cx="219456" cy="219456"/>
          </a:xfrm>
          <a:prstGeom prst="rect">
            <a:avLst/>
          </a:prstGeom>
          <a:solidFill>
            <a:srgbClr val="43A3A3"/>
          </a:solidFill>
          <a:ln w="12700">
            <a:solidFill>
              <a:srgbClr val="43A3A3"/>
            </a:solidFill>
            <a:prstDash val="solid"/>
          </a:ln>
        </p:spPr>
      </p:sp>
      <p:sp>
        <p:nvSpPr>
          <p:cNvPr id="226" name="Shape 224"/>
          <p:cNvSpPr/>
          <p:nvPr/>
        </p:nvSpPr>
        <p:spPr>
          <a:xfrm>
            <a:off x="9445996" y="2325868"/>
            <a:ext cx="219456" cy="219456"/>
          </a:xfrm>
          <a:prstGeom prst="rect">
            <a:avLst/>
          </a:prstGeom>
          <a:solidFill>
            <a:srgbClr val="43A3A3"/>
          </a:solidFill>
          <a:ln w="12700">
            <a:solidFill>
              <a:srgbClr val="43A3A3"/>
            </a:solidFill>
            <a:prstDash val="solid"/>
          </a:ln>
        </p:spPr>
      </p:sp>
      <p:sp>
        <p:nvSpPr>
          <p:cNvPr id="227" name="Shape 225"/>
          <p:cNvSpPr/>
          <p:nvPr/>
        </p:nvSpPr>
        <p:spPr>
          <a:xfrm>
            <a:off x="9696176" y="2325868"/>
            <a:ext cx="219456" cy="219456"/>
          </a:xfrm>
          <a:prstGeom prst="rect">
            <a:avLst/>
          </a:prstGeom>
          <a:solidFill>
            <a:srgbClr val="43A3A3"/>
          </a:solidFill>
          <a:ln w="12700">
            <a:solidFill>
              <a:srgbClr val="43A3A3"/>
            </a:solidFill>
            <a:prstDash val="solid"/>
          </a:ln>
        </p:spPr>
      </p:sp>
      <p:sp>
        <p:nvSpPr>
          <p:cNvPr id="228" name="Shape 226"/>
          <p:cNvSpPr/>
          <p:nvPr/>
        </p:nvSpPr>
        <p:spPr>
          <a:xfrm>
            <a:off x="9946356" y="2325868"/>
            <a:ext cx="219456" cy="219456"/>
          </a:xfrm>
          <a:prstGeom prst="rect">
            <a:avLst/>
          </a:prstGeom>
          <a:solidFill>
            <a:srgbClr val="43A3A3"/>
          </a:solidFill>
          <a:ln w="12700">
            <a:solidFill>
              <a:srgbClr val="43A3A3"/>
            </a:solidFill>
            <a:prstDash val="solid"/>
          </a:ln>
        </p:spPr>
      </p:sp>
      <p:sp>
        <p:nvSpPr>
          <p:cNvPr id="229" name="Shape 227"/>
          <p:cNvSpPr/>
          <p:nvPr/>
        </p:nvSpPr>
        <p:spPr>
          <a:xfrm>
            <a:off x="10196535" y="2325868"/>
            <a:ext cx="219456" cy="219456"/>
          </a:xfrm>
          <a:prstGeom prst="rect">
            <a:avLst/>
          </a:prstGeom>
          <a:solidFill>
            <a:srgbClr val="43A3A3"/>
          </a:solidFill>
          <a:ln w="12700">
            <a:solidFill>
              <a:srgbClr val="43A3A3"/>
            </a:solidFill>
            <a:prstDash val="solid"/>
          </a:ln>
        </p:spPr>
      </p:sp>
      <p:sp>
        <p:nvSpPr>
          <p:cNvPr id="230" name="Shape 228"/>
          <p:cNvSpPr/>
          <p:nvPr/>
        </p:nvSpPr>
        <p:spPr>
          <a:xfrm>
            <a:off x="7944917" y="2576048"/>
            <a:ext cx="219456" cy="219456"/>
          </a:xfrm>
          <a:prstGeom prst="rect">
            <a:avLst/>
          </a:prstGeom>
          <a:solidFill>
            <a:srgbClr val="43A3A3"/>
          </a:solidFill>
          <a:ln w="12700">
            <a:solidFill>
              <a:srgbClr val="43A3A3"/>
            </a:solidFill>
            <a:prstDash val="solid"/>
          </a:ln>
        </p:spPr>
      </p:sp>
      <p:sp>
        <p:nvSpPr>
          <p:cNvPr id="231" name="Shape 229"/>
          <p:cNvSpPr/>
          <p:nvPr/>
        </p:nvSpPr>
        <p:spPr>
          <a:xfrm>
            <a:off x="8195097" y="2576048"/>
            <a:ext cx="219456" cy="219456"/>
          </a:xfrm>
          <a:prstGeom prst="rect">
            <a:avLst/>
          </a:prstGeom>
          <a:solidFill>
            <a:srgbClr val="43A3A3"/>
          </a:solidFill>
          <a:ln w="12700">
            <a:solidFill>
              <a:srgbClr val="43A3A3"/>
            </a:solidFill>
            <a:prstDash val="solid"/>
          </a:ln>
        </p:spPr>
      </p:sp>
      <p:sp>
        <p:nvSpPr>
          <p:cNvPr id="232" name="Shape 230"/>
          <p:cNvSpPr/>
          <p:nvPr/>
        </p:nvSpPr>
        <p:spPr>
          <a:xfrm>
            <a:off x="8445276" y="2576048"/>
            <a:ext cx="219456" cy="219456"/>
          </a:xfrm>
          <a:prstGeom prst="rect">
            <a:avLst/>
          </a:prstGeom>
          <a:solidFill>
            <a:srgbClr val="43A3A3"/>
          </a:solidFill>
          <a:ln w="12700">
            <a:solidFill>
              <a:srgbClr val="43A3A3"/>
            </a:solidFill>
            <a:prstDash val="solid"/>
          </a:ln>
        </p:spPr>
      </p:sp>
      <p:sp>
        <p:nvSpPr>
          <p:cNvPr id="233" name="Shape 231"/>
          <p:cNvSpPr/>
          <p:nvPr/>
        </p:nvSpPr>
        <p:spPr>
          <a:xfrm>
            <a:off x="8695456" y="2576048"/>
            <a:ext cx="219456" cy="219456"/>
          </a:xfrm>
          <a:prstGeom prst="rect">
            <a:avLst/>
          </a:prstGeom>
          <a:solidFill>
            <a:srgbClr val="43A3A3"/>
          </a:solidFill>
          <a:ln w="12700">
            <a:solidFill>
              <a:srgbClr val="43A3A3"/>
            </a:solidFill>
            <a:prstDash val="solid"/>
          </a:ln>
        </p:spPr>
      </p:sp>
      <p:sp>
        <p:nvSpPr>
          <p:cNvPr id="234" name="Shape 232"/>
          <p:cNvSpPr/>
          <p:nvPr/>
        </p:nvSpPr>
        <p:spPr>
          <a:xfrm>
            <a:off x="8945636" y="2576048"/>
            <a:ext cx="219456" cy="219456"/>
          </a:xfrm>
          <a:prstGeom prst="rect">
            <a:avLst/>
          </a:prstGeom>
          <a:solidFill>
            <a:srgbClr val="43A3A3"/>
          </a:solidFill>
          <a:ln w="12700">
            <a:solidFill>
              <a:srgbClr val="43A3A3"/>
            </a:solidFill>
            <a:prstDash val="solid"/>
          </a:ln>
        </p:spPr>
      </p:sp>
      <p:sp>
        <p:nvSpPr>
          <p:cNvPr id="235" name="Shape 233"/>
          <p:cNvSpPr/>
          <p:nvPr/>
        </p:nvSpPr>
        <p:spPr>
          <a:xfrm>
            <a:off x="9195816" y="2576048"/>
            <a:ext cx="219456" cy="219456"/>
          </a:xfrm>
          <a:prstGeom prst="rect">
            <a:avLst/>
          </a:prstGeom>
          <a:solidFill>
            <a:srgbClr val="43A3A3"/>
          </a:solidFill>
          <a:ln w="12700">
            <a:solidFill>
              <a:srgbClr val="43A3A3"/>
            </a:solidFill>
            <a:prstDash val="solid"/>
          </a:ln>
        </p:spPr>
      </p:sp>
      <p:sp>
        <p:nvSpPr>
          <p:cNvPr id="236" name="Shape 234"/>
          <p:cNvSpPr/>
          <p:nvPr/>
        </p:nvSpPr>
        <p:spPr>
          <a:xfrm>
            <a:off x="9445996" y="2576048"/>
            <a:ext cx="219456" cy="219456"/>
          </a:xfrm>
          <a:prstGeom prst="rect">
            <a:avLst/>
          </a:prstGeom>
          <a:solidFill>
            <a:srgbClr val="43A3A3"/>
          </a:solidFill>
          <a:ln w="12700">
            <a:solidFill>
              <a:srgbClr val="43A3A3"/>
            </a:solidFill>
            <a:prstDash val="solid"/>
          </a:ln>
        </p:spPr>
      </p:sp>
      <p:sp>
        <p:nvSpPr>
          <p:cNvPr id="237" name="Shape 235"/>
          <p:cNvSpPr/>
          <p:nvPr/>
        </p:nvSpPr>
        <p:spPr>
          <a:xfrm>
            <a:off x="9696176" y="2576048"/>
            <a:ext cx="219456" cy="219456"/>
          </a:xfrm>
          <a:prstGeom prst="rect">
            <a:avLst/>
          </a:prstGeom>
          <a:solidFill>
            <a:srgbClr val="43A3A3"/>
          </a:solidFill>
          <a:ln w="12700">
            <a:solidFill>
              <a:srgbClr val="43A3A3"/>
            </a:solidFill>
            <a:prstDash val="solid"/>
          </a:ln>
        </p:spPr>
      </p:sp>
      <p:sp>
        <p:nvSpPr>
          <p:cNvPr id="238" name="Shape 236"/>
          <p:cNvSpPr/>
          <p:nvPr/>
        </p:nvSpPr>
        <p:spPr>
          <a:xfrm>
            <a:off x="9946356" y="2576048"/>
            <a:ext cx="219456" cy="219456"/>
          </a:xfrm>
          <a:prstGeom prst="rect">
            <a:avLst/>
          </a:prstGeom>
          <a:solidFill>
            <a:srgbClr val="43A3A3"/>
          </a:solidFill>
          <a:ln w="12700">
            <a:solidFill>
              <a:srgbClr val="43A3A3"/>
            </a:solidFill>
            <a:prstDash val="solid"/>
          </a:ln>
        </p:spPr>
      </p:sp>
      <p:sp>
        <p:nvSpPr>
          <p:cNvPr id="239" name="Shape 237"/>
          <p:cNvSpPr/>
          <p:nvPr/>
        </p:nvSpPr>
        <p:spPr>
          <a:xfrm>
            <a:off x="10196535" y="2576048"/>
            <a:ext cx="219456" cy="219456"/>
          </a:xfrm>
          <a:prstGeom prst="rect">
            <a:avLst/>
          </a:prstGeom>
          <a:solidFill>
            <a:srgbClr val="43A3A3"/>
          </a:solidFill>
          <a:ln w="12700">
            <a:solidFill>
              <a:srgbClr val="43A3A3"/>
            </a:solidFill>
            <a:prstDash val="solid"/>
          </a:ln>
        </p:spPr>
      </p:sp>
      <p:sp>
        <p:nvSpPr>
          <p:cNvPr id="240" name="Shape 238"/>
          <p:cNvSpPr/>
          <p:nvPr/>
        </p:nvSpPr>
        <p:spPr>
          <a:xfrm>
            <a:off x="7944917" y="2826228"/>
            <a:ext cx="219456" cy="219456"/>
          </a:xfrm>
          <a:prstGeom prst="rect">
            <a:avLst/>
          </a:prstGeom>
          <a:solidFill>
            <a:srgbClr val="43A3A3"/>
          </a:solidFill>
          <a:ln w="12700">
            <a:solidFill>
              <a:srgbClr val="43A3A3"/>
            </a:solidFill>
            <a:prstDash val="solid"/>
          </a:ln>
        </p:spPr>
      </p:sp>
      <p:sp>
        <p:nvSpPr>
          <p:cNvPr id="241" name="Shape 239"/>
          <p:cNvSpPr/>
          <p:nvPr/>
        </p:nvSpPr>
        <p:spPr>
          <a:xfrm>
            <a:off x="8195097" y="2826228"/>
            <a:ext cx="219456" cy="219456"/>
          </a:xfrm>
          <a:prstGeom prst="rect">
            <a:avLst/>
          </a:prstGeom>
          <a:solidFill>
            <a:srgbClr val="43A3A3"/>
          </a:solidFill>
          <a:ln w="12700">
            <a:solidFill>
              <a:srgbClr val="43A3A3"/>
            </a:solidFill>
            <a:prstDash val="solid"/>
          </a:ln>
        </p:spPr>
      </p:sp>
      <p:sp>
        <p:nvSpPr>
          <p:cNvPr id="242" name="Shape 240"/>
          <p:cNvSpPr/>
          <p:nvPr/>
        </p:nvSpPr>
        <p:spPr>
          <a:xfrm>
            <a:off x="8445276" y="2826228"/>
            <a:ext cx="219456" cy="219456"/>
          </a:xfrm>
          <a:prstGeom prst="rect">
            <a:avLst/>
          </a:prstGeom>
          <a:solidFill>
            <a:srgbClr val="43A3A3"/>
          </a:solidFill>
          <a:ln w="12700">
            <a:solidFill>
              <a:srgbClr val="43A3A3"/>
            </a:solidFill>
            <a:prstDash val="solid"/>
          </a:ln>
        </p:spPr>
      </p:sp>
      <p:sp>
        <p:nvSpPr>
          <p:cNvPr id="243" name="Shape 241"/>
          <p:cNvSpPr/>
          <p:nvPr/>
        </p:nvSpPr>
        <p:spPr>
          <a:xfrm>
            <a:off x="8695456" y="2826228"/>
            <a:ext cx="219456" cy="219456"/>
          </a:xfrm>
          <a:prstGeom prst="rect">
            <a:avLst/>
          </a:prstGeom>
          <a:solidFill>
            <a:srgbClr val="43A3A3"/>
          </a:solidFill>
          <a:ln w="12700">
            <a:solidFill>
              <a:srgbClr val="43A3A3"/>
            </a:solidFill>
            <a:prstDash val="solid"/>
          </a:ln>
        </p:spPr>
      </p:sp>
      <p:sp>
        <p:nvSpPr>
          <p:cNvPr id="244" name="Shape 242"/>
          <p:cNvSpPr/>
          <p:nvPr/>
        </p:nvSpPr>
        <p:spPr>
          <a:xfrm>
            <a:off x="8945636" y="2826228"/>
            <a:ext cx="219456" cy="219456"/>
          </a:xfrm>
          <a:prstGeom prst="rect">
            <a:avLst/>
          </a:prstGeom>
          <a:solidFill>
            <a:srgbClr val="43A3A3"/>
          </a:solidFill>
          <a:ln w="12700">
            <a:solidFill>
              <a:srgbClr val="43A3A3"/>
            </a:solidFill>
            <a:prstDash val="solid"/>
          </a:ln>
        </p:spPr>
      </p:sp>
      <p:sp>
        <p:nvSpPr>
          <p:cNvPr id="245" name="Shape 243"/>
          <p:cNvSpPr/>
          <p:nvPr/>
        </p:nvSpPr>
        <p:spPr>
          <a:xfrm>
            <a:off x="9195816" y="2826228"/>
            <a:ext cx="219456" cy="219456"/>
          </a:xfrm>
          <a:prstGeom prst="rect">
            <a:avLst/>
          </a:prstGeom>
          <a:solidFill>
            <a:srgbClr val="43A3A3"/>
          </a:solidFill>
          <a:ln w="12700">
            <a:solidFill>
              <a:srgbClr val="43A3A3"/>
            </a:solidFill>
            <a:prstDash val="solid"/>
          </a:ln>
        </p:spPr>
      </p:sp>
      <p:sp>
        <p:nvSpPr>
          <p:cNvPr id="246" name="Shape 244"/>
          <p:cNvSpPr/>
          <p:nvPr/>
        </p:nvSpPr>
        <p:spPr>
          <a:xfrm>
            <a:off x="9445996" y="2826228"/>
            <a:ext cx="219456" cy="219456"/>
          </a:xfrm>
          <a:prstGeom prst="rect">
            <a:avLst/>
          </a:prstGeom>
          <a:solidFill>
            <a:srgbClr val="43A3A3"/>
          </a:solidFill>
          <a:ln w="12700">
            <a:solidFill>
              <a:srgbClr val="43A3A3"/>
            </a:solidFill>
            <a:prstDash val="solid"/>
          </a:ln>
        </p:spPr>
      </p:sp>
      <p:sp>
        <p:nvSpPr>
          <p:cNvPr id="247" name="Shape 245"/>
          <p:cNvSpPr/>
          <p:nvPr/>
        </p:nvSpPr>
        <p:spPr>
          <a:xfrm>
            <a:off x="9696176" y="2826228"/>
            <a:ext cx="219456" cy="219456"/>
          </a:xfrm>
          <a:prstGeom prst="rect">
            <a:avLst/>
          </a:prstGeom>
          <a:solidFill>
            <a:srgbClr val="43A3A3"/>
          </a:solidFill>
          <a:ln w="12700">
            <a:solidFill>
              <a:srgbClr val="43A3A3"/>
            </a:solidFill>
            <a:prstDash val="solid"/>
          </a:ln>
        </p:spPr>
      </p:sp>
      <p:sp>
        <p:nvSpPr>
          <p:cNvPr id="248" name="Shape 246"/>
          <p:cNvSpPr/>
          <p:nvPr/>
        </p:nvSpPr>
        <p:spPr>
          <a:xfrm>
            <a:off x="9946356" y="2826228"/>
            <a:ext cx="219456" cy="219456"/>
          </a:xfrm>
          <a:prstGeom prst="rect">
            <a:avLst/>
          </a:prstGeom>
          <a:solidFill>
            <a:srgbClr val="43A3A3"/>
          </a:solidFill>
          <a:ln w="12700">
            <a:solidFill>
              <a:srgbClr val="43A3A3"/>
            </a:solidFill>
            <a:prstDash val="solid"/>
          </a:ln>
        </p:spPr>
      </p:sp>
      <p:sp>
        <p:nvSpPr>
          <p:cNvPr id="249" name="Shape 247"/>
          <p:cNvSpPr/>
          <p:nvPr/>
        </p:nvSpPr>
        <p:spPr>
          <a:xfrm>
            <a:off x="10196535" y="2826228"/>
            <a:ext cx="219456" cy="219456"/>
          </a:xfrm>
          <a:prstGeom prst="rect">
            <a:avLst/>
          </a:prstGeom>
          <a:solidFill>
            <a:srgbClr val="43A3A3"/>
          </a:solidFill>
          <a:ln w="12700">
            <a:solidFill>
              <a:srgbClr val="43A3A3"/>
            </a:solidFill>
            <a:prstDash val="solid"/>
          </a:ln>
        </p:spPr>
      </p:sp>
      <p:sp>
        <p:nvSpPr>
          <p:cNvPr id="250" name="Shape 248"/>
          <p:cNvSpPr/>
          <p:nvPr/>
        </p:nvSpPr>
        <p:spPr>
          <a:xfrm>
            <a:off x="7944917" y="3076407"/>
            <a:ext cx="219456" cy="219456"/>
          </a:xfrm>
          <a:prstGeom prst="rect">
            <a:avLst/>
          </a:prstGeom>
          <a:solidFill>
            <a:srgbClr val="43A3A3"/>
          </a:solidFill>
          <a:ln w="12700">
            <a:solidFill>
              <a:srgbClr val="43A3A3"/>
            </a:solidFill>
            <a:prstDash val="solid"/>
          </a:ln>
        </p:spPr>
      </p:sp>
      <p:sp>
        <p:nvSpPr>
          <p:cNvPr id="251" name="Shape 249"/>
          <p:cNvSpPr/>
          <p:nvPr/>
        </p:nvSpPr>
        <p:spPr>
          <a:xfrm>
            <a:off x="8195097" y="3076407"/>
            <a:ext cx="219456" cy="219456"/>
          </a:xfrm>
          <a:prstGeom prst="rect">
            <a:avLst/>
          </a:prstGeom>
          <a:solidFill>
            <a:srgbClr val="43A3A3"/>
          </a:solidFill>
          <a:ln w="12700">
            <a:solidFill>
              <a:srgbClr val="43A3A3"/>
            </a:solidFill>
            <a:prstDash val="solid"/>
          </a:ln>
        </p:spPr>
      </p:sp>
      <p:sp>
        <p:nvSpPr>
          <p:cNvPr id="252" name="Shape 250"/>
          <p:cNvSpPr/>
          <p:nvPr/>
        </p:nvSpPr>
        <p:spPr>
          <a:xfrm>
            <a:off x="8445276" y="3076407"/>
            <a:ext cx="219456" cy="219456"/>
          </a:xfrm>
          <a:prstGeom prst="rect">
            <a:avLst/>
          </a:prstGeom>
          <a:solidFill>
            <a:srgbClr val="43A3A3"/>
          </a:solidFill>
          <a:ln w="12700">
            <a:solidFill>
              <a:srgbClr val="43A3A3"/>
            </a:solidFill>
            <a:prstDash val="solid"/>
          </a:ln>
        </p:spPr>
      </p:sp>
      <p:sp>
        <p:nvSpPr>
          <p:cNvPr id="253" name="Shape 251"/>
          <p:cNvSpPr/>
          <p:nvPr/>
        </p:nvSpPr>
        <p:spPr>
          <a:xfrm>
            <a:off x="8695456" y="3076407"/>
            <a:ext cx="219456" cy="219456"/>
          </a:xfrm>
          <a:prstGeom prst="rect">
            <a:avLst/>
          </a:prstGeom>
          <a:solidFill>
            <a:srgbClr val="43A3A3"/>
          </a:solidFill>
          <a:ln w="12700">
            <a:solidFill>
              <a:srgbClr val="43A3A3"/>
            </a:solidFill>
            <a:prstDash val="solid"/>
          </a:ln>
        </p:spPr>
      </p:sp>
      <p:sp>
        <p:nvSpPr>
          <p:cNvPr id="254" name="Shape 252"/>
          <p:cNvSpPr/>
          <p:nvPr/>
        </p:nvSpPr>
        <p:spPr>
          <a:xfrm>
            <a:off x="8945636" y="3076407"/>
            <a:ext cx="219456" cy="219456"/>
          </a:xfrm>
          <a:prstGeom prst="rect">
            <a:avLst/>
          </a:prstGeom>
          <a:solidFill>
            <a:srgbClr val="E3E2DA"/>
          </a:solidFill>
          <a:ln w="12700">
            <a:solidFill>
              <a:srgbClr val="E3E2DA"/>
            </a:solidFill>
            <a:prstDash val="solid"/>
          </a:ln>
        </p:spPr>
      </p:sp>
      <p:sp>
        <p:nvSpPr>
          <p:cNvPr id="255" name="Shape 253"/>
          <p:cNvSpPr/>
          <p:nvPr/>
        </p:nvSpPr>
        <p:spPr>
          <a:xfrm>
            <a:off x="9195816" y="3076407"/>
            <a:ext cx="219456" cy="219456"/>
          </a:xfrm>
          <a:prstGeom prst="rect">
            <a:avLst/>
          </a:prstGeom>
          <a:solidFill>
            <a:srgbClr val="E3E2DA"/>
          </a:solidFill>
          <a:ln w="12700">
            <a:solidFill>
              <a:srgbClr val="E3E2DA"/>
            </a:solidFill>
            <a:prstDash val="solid"/>
          </a:ln>
        </p:spPr>
      </p:sp>
      <p:sp>
        <p:nvSpPr>
          <p:cNvPr id="256" name="Shape 254"/>
          <p:cNvSpPr/>
          <p:nvPr/>
        </p:nvSpPr>
        <p:spPr>
          <a:xfrm>
            <a:off x="9445996" y="3076407"/>
            <a:ext cx="219456" cy="219456"/>
          </a:xfrm>
          <a:prstGeom prst="rect">
            <a:avLst/>
          </a:prstGeom>
          <a:solidFill>
            <a:srgbClr val="E3E2DA"/>
          </a:solidFill>
          <a:ln w="12700">
            <a:solidFill>
              <a:srgbClr val="E3E2DA"/>
            </a:solidFill>
            <a:prstDash val="solid"/>
          </a:ln>
        </p:spPr>
      </p:sp>
      <p:sp>
        <p:nvSpPr>
          <p:cNvPr id="257" name="Shape 255"/>
          <p:cNvSpPr/>
          <p:nvPr/>
        </p:nvSpPr>
        <p:spPr>
          <a:xfrm>
            <a:off x="9696176" y="3076407"/>
            <a:ext cx="219456" cy="219456"/>
          </a:xfrm>
          <a:prstGeom prst="rect">
            <a:avLst/>
          </a:prstGeom>
          <a:solidFill>
            <a:srgbClr val="E3E2DA"/>
          </a:solidFill>
          <a:ln w="12700">
            <a:solidFill>
              <a:srgbClr val="E3E2DA"/>
            </a:solidFill>
            <a:prstDash val="solid"/>
          </a:ln>
        </p:spPr>
      </p:sp>
      <p:sp>
        <p:nvSpPr>
          <p:cNvPr id="258" name="Shape 256"/>
          <p:cNvSpPr/>
          <p:nvPr/>
        </p:nvSpPr>
        <p:spPr>
          <a:xfrm>
            <a:off x="9946356" y="3076407"/>
            <a:ext cx="219456" cy="219456"/>
          </a:xfrm>
          <a:prstGeom prst="rect">
            <a:avLst/>
          </a:prstGeom>
          <a:solidFill>
            <a:srgbClr val="E3E2DA"/>
          </a:solidFill>
          <a:ln w="12700">
            <a:solidFill>
              <a:srgbClr val="E3E2DA"/>
            </a:solidFill>
            <a:prstDash val="solid"/>
          </a:ln>
        </p:spPr>
      </p:sp>
      <p:sp>
        <p:nvSpPr>
          <p:cNvPr id="259" name="Shape 257"/>
          <p:cNvSpPr/>
          <p:nvPr/>
        </p:nvSpPr>
        <p:spPr>
          <a:xfrm>
            <a:off x="10196535" y="3076407"/>
            <a:ext cx="219456" cy="219456"/>
          </a:xfrm>
          <a:prstGeom prst="rect">
            <a:avLst/>
          </a:prstGeom>
          <a:solidFill>
            <a:srgbClr val="E3E2DA"/>
          </a:solidFill>
          <a:ln w="12700">
            <a:solidFill>
              <a:srgbClr val="E3E2DA"/>
            </a:solidFill>
            <a:prstDash val="solid"/>
          </a:ln>
        </p:spPr>
      </p:sp>
      <p:sp>
        <p:nvSpPr>
          <p:cNvPr id="260" name="Shape 258"/>
          <p:cNvSpPr/>
          <p:nvPr/>
        </p:nvSpPr>
        <p:spPr>
          <a:xfrm>
            <a:off x="7944917" y="3326587"/>
            <a:ext cx="219456" cy="219456"/>
          </a:xfrm>
          <a:prstGeom prst="rect">
            <a:avLst/>
          </a:prstGeom>
          <a:solidFill>
            <a:srgbClr val="E3E2DA"/>
          </a:solidFill>
          <a:ln w="12700">
            <a:solidFill>
              <a:srgbClr val="E3E2DA"/>
            </a:solidFill>
            <a:prstDash val="solid"/>
          </a:ln>
        </p:spPr>
      </p:sp>
      <p:sp>
        <p:nvSpPr>
          <p:cNvPr id="261" name="Shape 259"/>
          <p:cNvSpPr/>
          <p:nvPr/>
        </p:nvSpPr>
        <p:spPr>
          <a:xfrm>
            <a:off x="8195097" y="3326587"/>
            <a:ext cx="219456" cy="219456"/>
          </a:xfrm>
          <a:prstGeom prst="rect">
            <a:avLst/>
          </a:prstGeom>
          <a:solidFill>
            <a:srgbClr val="E3E2DA"/>
          </a:solidFill>
          <a:ln w="12700">
            <a:solidFill>
              <a:srgbClr val="E3E2DA"/>
            </a:solidFill>
            <a:prstDash val="solid"/>
          </a:ln>
        </p:spPr>
      </p:sp>
      <p:sp>
        <p:nvSpPr>
          <p:cNvPr id="262" name="Shape 260"/>
          <p:cNvSpPr/>
          <p:nvPr/>
        </p:nvSpPr>
        <p:spPr>
          <a:xfrm>
            <a:off x="8445276" y="3326587"/>
            <a:ext cx="219456" cy="219456"/>
          </a:xfrm>
          <a:prstGeom prst="rect">
            <a:avLst/>
          </a:prstGeom>
          <a:solidFill>
            <a:srgbClr val="E3E2DA"/>
          </a:solidFill>
          <a:ln w="12700">
            <a:solidFill>
              <a:srgbClr val="E3E2DA"/>
            </a:solidFill>
            <a:prstDash val="solid"/>
          </a:ln>
        </p:spPr>
      </p:sp>
      <p:sp>
        <p:nvSpPr>
          <p:cNvPr id="263" name="Shape 261"/>
          <p:cNvSpPr/>
          <p:nvPr/>
        </p:nvSpPr>
        <p:spPr>
          <a:xfrm>
            <a:off x="8695456" y="3326587"/>
            <a:ext cx="219456" cy="219456"/>
          </a:xfrm>
          <a:prstGeom prst="rect">
            <a:avLst/>
          </a:prstGeom>
          <a:solidFill>
            <a:srgbClr val="E3E2DA"/>
          </a:solidFill>
          <a:ln w="12700">
            <a:solidFill>
              <a:srgbClr val="E3E2DA"/>
            </a:solidFill>
            <a:prstDash val="solid"/>
          </a:ln>
        </p:spPr>
      </p:sp>
      <p:sp>
        <p:nvSpPr>
          <p:cNvPr id="264" name="Shape 262"/>
          <p:cNvSpPr/>
          <p:nvPr/>
        </p:nvSpPr>
        <p:spPr>
          <a:xfrm>
            <a:off x="8945636" y="3326587"/>
            <a:ext cx="219456" cy="219456"/>
          </a:xfrm>
          <a:prstGeom prst="rect">
            <a:avLst/>
          </a:prstGeom>
          <a:solidFill>
            <a:srgbClr val="E3E2DA"/>
          </a:solidFill>
          <a:ln w="12700">
            <a:solidFill>
              <a:srgbClr val="E3E2DA"/>
            </a:solidFill>
            <a:prstDash val="solid"/>
          </a:ln>
        </p:spPr>
      </p:sp>
      <p:sp>
        <p:nvSpPr>
          <p:cNvPr id="265" name="Shape 263"/>
          <p:cNvSpPr/>
          <p:nvPr/>
        </p:nvSpPr>
        <p:spPr>
          <a:xfrm>
            <a:off x="9195816" y="3326587"/>
            <a:ext cx="219456" cy="219456"/>
          </a:xfrm>
          <a:prstGeom prst="rect">
            <a:avLst/>
          </a:prstGeom>
          <a:solidFill>
            <a:srgbClr val="E3E2DA"/>
          </a:solidFill>
          <a:ln w="12700">
            <a:solidFill>
              <a:srgbClr val="E3E2DA"/>
            </a:solidFill>
            <a:prstDash val="solid"/>
          </a:ln>
        </p:spPr>
      </p:sp>
      <p:sp>
        <p:nvSpPr>
          <p:cNvPr id="266" name="Shape 264"/>
          <p:cNvSpPr/>
          <p:nvPr/>
        </p:nvSpPr>
        <p:spPr>
          <a:xfrm>
            <a:off x="9445996" y="3326587"/>
            <a:ext cx="219456" cy="219456"/>
          </a:xfrm>
          <a:prstGeom prst="rect">
            <a:avLst/>
          </a:prstGeom>
          <a:solidFill>
            <a:srgbClr val="E3E2DA"/>
          </a:solidFill>
          <a:ln w="12700">
            <a:solidFill>
              <a:srgbClr val="E3E2DA"/>
            </a:solidFill>
            <a:prstDash val="solid"/>
          </a:ln>
        </p:spPr>
      </p:sp>
      <p:sp>
        <p:nvSpPr>
          <p:cNvPr id="267" name="Shape 265"/>
          <p:cNvSpPr/>
          <p:nvPr/>
        </p:nvSpPr>
        <p:spPr>
          <a:xfrm>
            <a:off x="9696176" y="3326587"/>
            <a:ext cx="219456" cy="219456"/>
          </a:xfrm>
          <a:prstGeom prst="rect">
            <a:avLst/>
          </a:prstGeom>
          <a:solidFill>
            <a:srgbClr val="E3E2DA"/>
          </a:solidFill>
          <a:ln w="12700">
            <a:solidFill>
              <a:srgbClr val="E3E2DA"/>
            </a:solidFill>
            <a:prstDash val="solid"/>
          </a:ln>
        </p:spPr>
      </p:sp>
      <p:sp>
        <p:nvSpPr>
          <p:cNvPr id="268" name="Shape 266"/>
          <p:cNvSpPr/>
          <p:nvPr/>
        </p:nvSpPr>
        <p:spPr>
          <a:xfrm>
            <a:off x="9946356" y="3326587"/>
            <a:ext cx="219456" cy="219456"/>
          </a:xfrm>
          <a:prstGeom prst="rect">
            <a:avLst/>
          </a:prstGeom>
          <a:solidFill>
            <a:srgbClr val="E3E2DA"/>
          </a:solidFill>
          <a:ln w="12700">
            <a:solidFill>
              <a:srgbClr val="E3E2DA"/>
            </a:solidFill>
            <a:prstDash val="solid"/>
          </a:ln>
        </p:spPr>
      </p:sp>
      <p:sp>
        <p:nvSpPr>
          <p:cNvPr id="269" name="Shape 267"/>
          <p:cNvSpPr/>
          <p:nvPr/>
        </p:nvSpPr>
        <p:spPr>
          <a:xfrm>
            <a:off x="10196535" y="3326587"/>
            <a:ext cx="219456" cy="219456"/>
          </a:xfrm>
          <a:prstGeom prst="rect">
            <a:avLst/>
          </a:prstGeom>
          <a:solidFill>
            <a:srgbClr val="E3E2DA"/>
          </a:solidFill>
          <a:ln w="12700">
            <a:solidFill>
              <a:srgbClr val="E3E2DA"/>
            </a:solidFill>
            <a:prstDash val="solid"/>
          </a:ln>
        </p:spPr>
      </p:sp>
      <p:sp>
        <p:nvSpPr>
          <p:cNvPr id="270" name="Shape 268"/>
          <p:cNvSpPr/>
          <p:nvPr/>
        </p:nvSpPr>
        <p:spPr>
          <a:xfrm>
            <a:off x="7944917" y="3576767"/>
            <a:ext cx="219456" cy="219456"/>
          </a:xfrm>
          <a:prstGeom prst="rect">
            <a:avLst/>
          </a:prstGeom>
          <a:solidFill>
            <a:srgbClr val="E3E2DA"/>
          </a:solidFill>
          <a:ln w="12700">
            <a:solidFill>
              <a:srgbClr val="E3E2DA"/>
            </a:solidFill>
            <a:prstDash val="solid"/>
          </a:ln>
        </p:spPr>
      </p:sp>
      <p:sp>
        <p:nvSpPr>
          <p:cNvPr id="271" name="Shape 269"/>
          <p:cNvSpPr/>
          <p:nvPr/>
        </p:nvSpPr>
        <p:spPr>
          <a:xfrm>
            <a:off x="8195097" y="3576767"/>
            <a:ext cx="219456" cy="219456"/>
          </a:xfrm>
          <a:prstGeom prst="rect">
            <a:avLst/>
          </a:prstGeom>
          <a:solidFill>
            <a:srgbClr val="E3E2DA"/>
          </a:solidFill>
          <a:ln w="12700">
            <a:solidFill>
              <a:srgbClr val="E3E2DA"/>
            </a:solidFill>
            <a:prstDash val="solid"/>
          </a:ln>
        </p:spPr>
      </p:sp>
      <p:sp>
        <p:nvSpPr>
          <p:cNvPr id="272" name="Shape 270"/>
          <p:cNvSpPr/>
          <p:nvPr/>
        </p:nvSpPr>
        <p:spPr>
          <a:xfrm>
            <a:off x="8445276" y="3576767"/>
            <a:ext cx="219456" cy="219456"/>
          </a:xfrm>
          <a:prstGeom prst="rect">
            <a:avLst/>
          </a:prstGeom>
          <a:solidFill>
            <a:srgbClr val="E3E2DA"/>
          </a:solidFill>
          <a:ln w="12700">
            <a:solidFill>
              <a:srgbClr val="E3E2DA"/>
            </a:solidFill>
            <a:prstDash val="solid"/>
          </a:ln>
        </p:spPr>
      </p:sp>
      <p:sp>
        <p:nvSpPr>
          <p:cNvPr id="273" name="Shape 271"/>
          <p:cNvSpPr/>
          <p:nvPr/>
        </p:nvSpPr>
        <p:spPr>
          <a:xfrm>
            <a:off x="8695456" y="3576767"/>
            <a:ext cx="219456" cy="219456"/>
          </a:xfrm>
          <a:prstGeom prst="rect">
            <a:avLst/>
          </a:prstGeom>
          <a:solidFill>
            <a:srgbClr val="E3E2DA"/>
          </a:solidFill>
          <a:ln w="12700">
            <a:solidFill>
              <a:srgbClr val="E3E2DA"/>
            </a:solidFill>
            <a:prstDash val="solid"/>
          </a:ln>
        </p:spPr>
      </p:sp>
      <p:sp>
        <p:nvSpPr>
          <p:cNvPr id="274" name="Shape 272"/>
          <p:cNvSpPr/>
          <p:nvPr/>
        </p:nvSpPr>
        <p:spPr>
          <a:xfrm>
            <a:off x="8945636" y="3576767"/>
            <a:ext cx="219456" cy="219456"/>
          </a:xfrm>
          <a:prstGeom prst="rect">
            <a:avLst/>
          </a:prstGeom>
          <a:solidFill>
            <a:srgbClr val="E3E2DA"/>
          </a:solidFill>
          <a:ln w="12700">
            <a:solidFill>
              <a:srgbClr val="E3E2DA"/>
            </a:solidFill>
            <a:prstDash val="solid"/>
          </a:ln>
        </p:spPr>
      </p:sp>
      <p:sp>
        <p:nvSpPr>
          <p:cNvPr id="275" name="Shape 273"/>
          <p:cNvSpPr/>
          <p:nvPr/>
        </p:nvSpPr>
        <p:spPr>
          <a:xfrm>
            <a:off x="9195816" y="3576767"/>
            <a:ext cx="219456" cy="219456"/>
          </a:xfrm>
          <a:prstGeom prst="rect">
            <a:avLst/>
          </a:prstGeom>
          <a:solidFill>
            <a:srgbClr val="E3E2DA"/>
          </a:solidFill>
          <a:ln w="12700">
            <a:solidFill>
              <a:srgbClr val="E3E2DA"/>
            </a:solidFill>
            <a:prstDash val="solid"/>
          </a:ln>
        </p:spPr>
      </p:sp>
      <p:sp>
        <p:nvSpPr>
          <p:cNvPr id="276" name="Shape 274"/>
          <p:cNvSpPr/>
          <p:nvPr/>
        </p:nvSpPr>
        <p:spPr>
          <a:xfrm>
            <a:off x="9445996" y="3576767"/>
            <a:ext cx="219456" cy="219456"/>
          </a:xfrm>
          <a:prstGeom prst="rect">
            <a:avLst/>
          </a:prstGeom>
          <a:solidFill>
            <a:srgbClr val="E3E2DA"/>
          </a:solidFill>
          <a:ln w="12700">
            <a:solidFill>
              <a:srgbClr val="E3E2DA"/>
            </a:solidFill>
            <a:prstDash val="solid"/>
          </a:ln>
        </p:spPr>
      </p:sp>
      <p:sp>
        <p:nvSpPr>
          <p:cNvPr id="277" name="Shape 275"/>
          <p:cNvSpPr/>
          <p:nvPr/>
        </p:nvSpPr>
        <p:spPr>
          <a:xfrm>
            <a:off x="9696176" y="3576767"/>
            <a:ext cx="219456" cy="219456"/>
          </a:xfrm>
          <a:prstGeom prst="rect">
            <a:avLst/>
          </a:prstGeom>
          <a:solidFill>
            <a:srgbClr val="E3E2DA"/>
          </a:solidFill>
          <a:ln w="12700">
            <a:solidFill>
              <a:srgbClr val="E3E2DA"/>
            </a:solidFill>
            <a:prstDash val="solid"/>
          </a:ln>
        </p:spPr>
      </p:sp>
      <p:sp>
        <p:nvSpPr>
          <p:cNvPr id="278" name="Shape 276"/>
          <p:cNvSpPr/>
          <p:nvPr/>
        </p:nvSpPr>
        <p:spPr>
          <a:xfrm>
            <a:off x="9946356" y="3576767"/>
            <a:ext cx="219456" cy="219456"/>
          </a:xfrm>
          <a:prstGeom prst="rect">
            <a:avLst/>
          </a:prstGeom>
          <a:solidFill>
            <a:srgbClr val="E3E2DA"/>
          </a:solidFill>
          <a:ln w="12700">
            <a:solidFill>
              <a:srgbClr val="E3E2DA"/>
            </a:solidFill>
            <a:prstDash val="solid"/>
          </a:ln>
        </p:spPr>
      </p:sp>
      <p:sp>
        <p:nvSpPr>
          <p:cNvPr id="279" name="Shape 277"/>
          <p:cNvSpPr/>
          <p:nvPr/>
        </p:nvSpPr>
        <p:spPr>
          <a:xfrm>
            <a:off x="10196535" y="3576767"/>
            <a:ext cx="219456" cy="219456"/>
          </a:xfrm>
          <a:prstGeom prst="rect">
            <a:avLst/>
          </a:prstGeom>
          <a:solidFill>
            <a:srgbClr val="E3E2DA"/>
          </a:solidFill>
          <a:ln w="12700">
            <a:solidFill>
              <a:srgbClr val="E3E2DA"/>
            </a:solidFill>
            <a:prstDash val="solid"/>
          </a:ln>
        </p:spPr>
      </p:sp>
      <p:sp>
        <p:nvSpPr>
          <p:cNvPr id="280" name="Shape 278"/>
          <p:cNvSpPr/>
          <p:nvPr/>
        </p:nvSpPr>
        <p:spPr>
          <a:xfrm>
            <a:off x="7944917" y="3826947"/>
            <a:ext cx="219456" cy="219456"/>
          </a:xfrm>
          <a:prstGeom prst="rect">
            <a:avLst/>
          </a:prstGeom>
          <a:solidFill>
            <a:srgbClr val="E3E2DA"/>
          </a:solidFill>
          <a:ln w="12700">
            <a:solidFill>
              <a:srgbClr val="E3E2DA"/>
            </a:solidFill>
            <a:prstDash val="solid"/>
          </a:ln>
        </p:spPr>
      </p:sp>
      <p:sp>
        <p:nvSpPr>
          <p:cNvPr id="281" name="Shape 279"/>
          <p:cNvSpPr/>
          <p:nvPr/>
        </p:nvSpPr>
        <p:spPr>
          <a:xfrm>
            <a:off x="8195097" y="3826947"/>
            <a:ext cx="219456" cy="219456"/>
          </a:xfrm>
          <a:prstGeom prst="rect">
            <a:avLst/>
          </a:prstGeom>
          <a:solidFill>
            <a:srgbClr val="E3E2DA"/>
          </a:solidFill>
          <a:ln w="12700">
            <a:solidFill>
              <a:srgbClr val="E3E2DA"/>
            </a:solidFill>
            <a:prstDash val="solid"/>
          </a:ln>
        </p:spPr>
      </p:sp>
      <p:sp>
        <p:nvSpPr>
          <p:cNvPr id="282" name="Shape 280"/>
          <p:cNvSpPr/>
          <p:nvPr/>
        </p:nvSpPr>
        <p:spPr>
          <a:xfrm>
            <a:off x="8445276" y="3826947"/>
            <a:ext cx="219456" cy="219456"/>
          </a:xfrm>
          <a:prstGeom prst="rect">
            <a:avLst/>
          </a:prstGeom>
          <a:solidFill>
            <a:srgbClr val="E3E2DA"/>
          </a:solidFill>
          <a:ln w="12700">
            <a:solidFill>
              <a:srgbClr val="E3E2DA"/>
            </a:solidFill>
            <a:prstDash val="solid"/>
          </a:ln>
        </p:spPr>
      </p:sp>
      <p:sp>
        <p:nvSpPr>
          <p:cNvPr id="283" name="Shape 281"/>
          <p:cNvSpPr/>
          <p:nvPr/>
        </p:nvSpPr>
        <p:spPr>
          <a:xfrm>
            <a:off x="8695456" y="3826947"/>
            <a:ext cx="219456" cy="219456"/>
          </a:xfrm>
          <a:prstGeom prst="rect">
            <a:avLst/>
          </a:prstGeom>
          <a:solidFill>
            <a:srgbClr val="E3E2DA"/>
          </a:solidFill>
          <a:ln w="12700">
            <a:solidFill>
              <a:srgbClr val="E3E2DA"/>
            </a:solidFill>
            <a:prstDash val="solid"/>
          </a:ln>
        </p:spPr>
      </p:sp>
      <p:sp>
        <p:nvSpPr>
          <p:cNvPr id="284" name="Shape 282"/>
          <p:cNvSpPr/>
          <p:nvPr/>
        </p:nvSpPr>
        <p:spPr>
          <a:xfrm>
            <a:off x="8945636" y="3826947"/>
            <a:ext cx="219456" cy="219456"/>
          </a:xfrm>
          <a:prstGeom prst="rect">
            <a:avLst/>
          </a:prstGeom>
          <a:solidFill>
            <a:srgbClr val="E3E2DA"/>
          </a:solidFill>
          <a:ln w="12700">
            <a:solidFill>
              <a:srgbClr val="E3E2DA"/>
            </a:solidFill>
            <a:prstDash val="solid"/>
          </a:ln>
        </p:spPr>
      </p:sp>
      <p:sp>
        <p:nvSpPr>
          <p:cNvPr id="285" name="Shape 283"/>
          <p:cNvSpPr/>
          <p:nvPr/>
        </p:nvSpPr>
        <p:spPr>
          <a:xfrm>
            <a:off x="9195816" y="3826947"/>
            <a:ext cx="219456" cy="219456"/>
          </a:xfrm>
          <a:prstGeom prst="rect">
            <a:avLst/>
          </a:prstGeom>
          <a:solidFill>
            <a:srgbClr val="E3E2DA"/>
          </a:solidFill>
          <a:ln w="12700">
            <a:solidFill>
              <a:srgbClr val="E3E2DA"/>
            </a:solidFill>
            <a:prstDash val="solid"/>
          </a:ln>
        </p:spPr>
      </p:sp>
      <p:sp>
        <p:nvSpPr>
          <p:cNvPr id="286" name="Shape 284"/>
          <p:cNvSpPr/>
          <p:nvPr/>
        </p:nvSpPr>
        <p:spPr>
          <a:xfrm>
            <a:off x="9445996" y="3826947"/>
            <a:ext cx="219456" cy="219456"/>
          </a:xfrm>
          <a:prstGeom prst="rect">
            <a:avLst/>
          </a:prstGeom>
          <a:solidFill>
            <a:srgbClr val="E3E2DA"/>
          </a:solidFill>
          <a:ln w="12700">
            <a:solidFill>
              <a:srgbClr val="E3E2DA"/>
            </a:solidFill>
            <a:prstDash val="solid"/>
          </a:ln>
        </p:spPr>
      </p:sp>
      <p:sp>
        <p:nvSpPr>
          <p:cNvPr id="287" name="Shape 285"/>
          <p:cNvSpPr/>
          <p:nvPr/>
        </p:nvSpPr>
        <p:spPr>
          <a:xfrm>
            <a:off x="9696176" y="3826947"/>
            <a:ext cx="219456" cy="219456"/>
          </a:xfrm>
          <a:prstGeom prst="rect">
            <a:avLst/>
          </a:prstGeom>
          <a:solidFill>
            <a:srgbClr val="E3E2DA"/>
          </a:solidFill>
          <a:ln w="12700">
            <a:solidFill>
              <a:srgbClr val="E3E2DA"/>
            </a:solidFill>
            <a:prstDash val="solid"/>
          </a:ln>
        </p:spPr>
      </p:sp>
      <p:sp>
        <p:nvSpPr>
          <p:cNvPr id="288" name="Shape 286"/>
          <p:cNvSpPr/>
          <p:nvPr/>
        </p:nvSpPr>
        <p:spPr>
          <a:xfrm>
            <a:off x="9946356" y="3826947"/>
            <a:ext cx="219456" cy="219456"/>
          </a:xfrm>
          <a:prstGeom prst="rect">
            <a:avLst/>
          </a:prstGeom>
          <a:solidFill>
            <a:srgbClr val="E3E2DA"/>
          </a:solidFill>
          <a:ln w="12700">
            <a:solidFill>
              <a:srgbClr val="E3E2DA"/>
            </a:solidFill>
            <a:prstDash val="solid"/>
          </a:ln>
        </p:spPr>
      </p:sp>
      <p:sp>
        <p:nvSpPr>
          <p:cNvPr id="289" name="Shape 287"/>
          <p:cNvSpPr/>
          <p:nvPr/>
        </p:nvSpPr>
        <p:spPr>
          <a:xfrm>
            <a:off x="10196535" y="3826947"/>
            <a:ext cx="219456" cy="219456"/>
          </a:xfrm>
          <a:prstGeom prst="rect">
            <a:avLst/>
          </a:prstGeom>
          <a:solidFill>
            <a:srgbClr val="E3E2DA"/>
          </a:solidFill>
          <a:ln w="12700">
            <a:solidFill>
              <a:srgbClr val="E3E2DA"/>
            </a:solidFill>
            <a:prstDash val="solid"/>
          </a:ln>
        </p:spPr>
      </p:sp>
      <p:sp>
        <p:nvSpPr>
          <p:cNvPr id="290" name="Shape 288"/>
          <p:cNvSpPr/>
          <p:nvPr/>
        </p:nvSpPr>
        <p:spPr>
          <a:xfrm>
            <a:off x="7944917" y="4077127"/>
            <a:ext cx="219456" cy="219456"/>
          </a:xfrm>
          <a:prstGeom prst="rect">
            <a:avLst/>
          </a:prstGeom>
          <a:solidFill>
            <a:srgbClr val="E3E2DA"/>
          </a:solidFill>
          <a:ln w="12700">
            <a:solidFill>
              <a:srgbClr val="E3E2DA"/>
            </a:solidFill>
            <a:prstDash val="solid"/>
          </a:ln>
        </p:spPr>
      </p:sp>
      <p:sp>
        <p:nvSpPr>
          <p:cNvPr id="291" name="Shape 289"/>
          <p:cNvSpPr/>
          <p:nvPr/>
        </p:nvSpPr>
        <p:spPr>
          <a:xfrm>
            <a:off x="8195097" y="4077127"/>
            <a:ext cx="219456" cy="219456"/>
          </a:xfrm>
          <a:prstGeom prst="rect">
            <a:avLst/>
          </a:prstGeom>
          <a:solidFill>
            <a:srgbClr val="E3E2DA"/>
          </a:solidFill>
          <a:ln w="12700">
            <a:solidFill>
              <a:srgbClr val="E3E2DA"/>
            </a:solidFill>
            <a:prstDash val="solid"/>
          </a:ln>
        </p:spPr>
      </p:sp>
      <p:sp>
        <p:nvSpPr>
          <p:cNvPr id="292" name="Shape 290"/>
          <p:cNvSpPr/>
          <p:nvPr/>
        </p:nvSpPr>
        <p:spPr>
          <a:xfrm>
            <a:off x="8445276" y="4077127"/>
            <a:ext cx="219456" cy="219456"/>
          </a:xfrm>
          <a:prstGeom prst="rect">
            <a:avLst/>
          </a:prstGeom>
          <a:solidFill>
            <a:srgbClr val="E3E2DA"/>
          </a:solidFill>
          <a:ln w="12700">
            <a:solidFill>
              <a:srgbClr val="E3E2DA"/>
            </a:solidFill>
            <a:prstDash val="solid"/>
          </a:ln>
        </p:spPr>
      </p:sp>
      <p:sp>
        <p:nvSpPr>
          <p:cNvPr id="293" name="Shape 291"/>
          <p:cNvSpPr/>
          <p:nvPr/>
        </p:nvSpPr>
        <p:spPr>
          <a:xfrm>
            <a:off x="8695456" y="4077127"/>
            <a:ext cx="219456" cy="219456"/>
          </a:xfrm>
          <a:prstGeom prst="rect">
            <a:avLst/>
          </a:prstGeom>
          <a:solidFill>
            <a:srgbClr val="E3E2DA"/>
          </a:solidFill>
          <a:ln w="12700">
            <a:solidFill>
              <a:srgbClr val="E3E2DA"/>
            </a:solidFill>
            <a:prstDash val="solid"/>
          </a:ln>
        </p:spPr>
      </p:sp>
      <p:sp>
        <p:nvSpPr>
          <p:cNvPr id="294" name="Shape 292"/>
          <p:cNvSpPr/>
          <p:nvPr/>
        </p:nvSpPr>
        <p:spPr>
          <a:xfrm>
            <a:off x="8945636" y="4077127"/>
            <a:ext cx="219456" cy="219456"/>
          </a:xfrm>
          <a:prstGeom prst="rect">
            <a:avLst/>
          </a:prstGeom>
          <a:solidFill>
            <a:srgbClr val="E3E2DA"/>
          </a:solidFill>
          <a:ln w="12700">
            <a:solidFill>
              <a:srgbClr val="E3E2DA"/>
            </a:solidFill>
            <a:prstDash val="solid"/>
          </a:ln>
        </p:spPr>
      </p:sp>
      <p:sp>
        <p:nvSpPr>
          <p:cNvPr id="295" name="Shape 293"/>
          <p:cNvSpPr/>
          <p:nvPr/>
        </p:nvSpPr>
        <p:spPr>
          <a:xfrm>
            <a:off x="9195816" y="4077127"/>
            <a:ext cx="219456" cy="219456"/>
          </a:xfrm>
          <a:prstGeom prst="rect">
            <a:avLst/>
          </a:prstGeom>
          <a:solidFill>
            <a:srgbClr val="E3E2DA"/>
          </a:solidFill>
          <a:ln w="12700">
            <a:solidFill>
              <a:srgbClr val="E3E2DA"/>
            </a:solidFill>
            <a:prstDash val="solid"/>
          </a:ln>
        </p:spPr>
      </p:sp>
      <p:sp>
        <p:nvSpPr>
          <p:cNvPr id="296" name="Shape 294"/>
          <p:cNvSpPr/>
          <p:nvPr/>
        </p:nvSpPr>
        <p:spPr>
          <a:xfrm>
            <a:off x="9445996" y="4077127"/>
            <a:ext cx="219456" cy="219456"/>
          </a:xfrm>
          <a:prstGeom prst="rect">
            <a:avLst/>
          </a:prstGeom>
          <a:solidFill>
            <a:srgbClr val="E3E2DA"/>
          </a:solidFill>
          <a:ln w="12700">
            <a:solidFill>
              <a:srgbClr val="E3E2DA"/>
            </a:solidFill>
            <a:prstDash val="solid"/>
          </a:ln>
        </p:spPr>
      </p:sp>
      <p:sp>
        <p:nvSpPr>
          <p:cNvPr id="297" name="Shape 295"/>
          <p:cNvSpPr/>
          <p:nvPr/>
        </p:nvSpPr>
        <p:spPr>
          <a:xfrm>
            <a:off x="9696176" y="4077127"/>
            <a:ext cx="219456" cy="219456"/>
          </a:xfrm>
          <a:prstGeom prst="rect">
            <a:avLst/>
          </a:prstGeom>
          <a:solidFill>
            <a:srgbClr val="E3E2DA"/>
          </a:solidFill>
          <a:ln w="12700">
            <a:solidFill>
              <a:srgbClr val="E3E2DA"/>
            </a:solidFill>
            <a:prstDash val="solid"/>
          </a:ln>
        </p:spPr>
      </p:sp>
      <p:sp>
        <p:nvSpPr>
          <p:cNvPr id="298" name="Shape 296"/>
          <p:cNvSpPr/>
          <p:nvPr/>
        </p:nvSpPr>
        <p:spPr>
          <a:xfrm>
            <a:off x="9946356" y="4077127"/>
            <a:ext cx="219456" cy="219456"/>
          </a:xfrm>
          <a:prstGeom prst="rect">
            <a:avLst/>
          </a:prstGeom>
          <a:solidFill>
            <a:srgbClr val="E3E2DA"/>
          </a:solidFill>
          <a:ln w="12700">
            <a:solidFill>
              <a:srgbClr val="E3E2DA"/>
            </a:solidFill>
            <a:prstDash val="solid"/>
          </a:ln>
        </p:spPr>
      </p:sp>
      <p:sp>
        <p:nvSpPr>
          <p:cNvPr id="299" name="Shape 297"/>
          <p:cNvSpPr/>
          <p:nvPr/>
        </p:nvSpPr>
        <p:spPr>
          <a:xfrm>
            <a:off x="10196535" y="4077127"/>
            <a:ext cx="219456" cy="219456"/>
          </a:xfrm>
          <a:prstGeom prst="rect">
            <a:avLst/>
          </a:prstGeom>
          <a:solidFill>
            <a:srgbClr val="E3E2DA"/>
          </a:solidFill>
          <a:ln w="12700">
            <a:solidFill>
              <a:srgbClr val="E3E2DA"/>
            </a:solidFill>
            <a:prstDash val="solid"/>
          </a:ln>
        </p:spPr>
      </p:sp>
      <p:sp>
        <p:nvSpPr>
          <p:cNvPr id="300" name="Shape 298"/>
          <p:cNvSpPr/>
          <p:nvPr/>
        </p:nvSpPr>
        <p:spPr>
          <a:xfrm>
            <a:off x="7944917" y="4327307"/>
            <a:ext cx="219456" cy="219456"/>
          </a:xfrm>
          <a:prstGeom prst="rect">
            <a:avLst/>
          </a:prstGeom>
          <a:solidFill>
            <a:srgbClr val="E3E2DA"/>
          </a:solidFill>
          <a:ln w="12700">
            <a:solidFill>
              <a:srgbClr val="E3E2DA"/>
            </a:solidFill>
            <a:prstDash val="solid"/>
          </a:ln>
        </p:spPr>
      </p:sp>
      <p:sp>
        <p:nvSpPr>
          <p:cNvPr id="301" name="Shape 299"/>
          <p:cNvSpPr/>
          <p:nvPr/>
        </p:nvSpPr>
        <p:spPr>
          <a:xfrm>
            <a:off x="8195097" y="4327307"/>
            <a:ext cx="219456" cy="219456"/>
          </a:xfrm>
          <a:prstGeom prst="rect">
            <a:avLst/>
          </a:prstGeom>
          <a:solidFill>
            <a:srgbClr val="E3E2DA"/>
          </a:solidFill>
          <a:ln w="12700">
            <a:solidFill>
              <a:srgbClr val="E3E2DA"/>
            </a:solidFill>
            <a:prstDash val="solid"/>
          </a:ln>
        </p:spPr>
      </p:sp>
      <p:sp>
        <p:nvSpPr>
          <p:cNvPr id="302" name="Shape 300"/>
          <p:cNvSpPr/>
          <p:nvPr/>
        </p:nvSpPr>
        <p:spPr>
          <a:xfrm>
            <a:off x="8445276" y="4327307"/>
            <a:ext cx="219456" cy="219456"/>
          </a:xfrm>
          <a:prstGeom prst="rect">
            <a:avLst/>
          </a:prstGeom>
          <a:solidFill>
            <a:srgbClr val="E3E2DA"/>
          </a:solidFill>
          <a:ln w="12700">
            <a:solidFill>
              <a:srgbClr val="E3E2DA"/>
            </a:solidFill>
            <a:prstDash val="solid"/>
          </a:ln>
        </p:spPr>
      </p:sp>
      <p:sp>
        <p:nvSpPr>
          <p:cNvPr id="303" name="Shape 301"/>
          <p:cNvSpPr/>
          <p:nvPr/>
        </p:nvSpPr>
        <p:spPr>
          <a:xfrm>
            <a:off x="8695456" y="4327307"/>
            <a:ext cx="219456" cy="219456"/>
          </a:xfrm>
          <a:prstGeom prst="rect">
            <a:avLst/>
          </a:prstGeom>
          <a:solidFill>
            <a:srgbClr val="E3E2DA"/>
          </a:solidFill>
          <a:ln w="12700">
            <a:solidFill>
              <a:srgbClr val="E3E2DA"/>
            </a:solidFill>
            <a:prstDash val="solid"/>
          </a:ln>
        </p:spPr>
      </p:sp>
      <p:sp>
        <p:nvSpPr>
          <p:cNvPr id="304" name="Shape 302"/>
          <p:cNvSpPr/>
          <p:nvPr/>
        </p:nvSpPr>
        <p:spPr>
          <a:xfrm>
            <a:off x="8945636" y="4327307"/>
            <a:ext cx="219456" cy="219456"/>
          </a:xfrm>
          <a:prstGeom prst="rect">
            <a:avLst/>
          </a:prstGeom>
          <a:solidFill>
            <a:srgbClr val="E3E2DA"/>
          </a:solidFill>
          <a:ln w="12700">
            <a:solidFill>
              <a:srgbClr val="E3E2DA"/>
            </a:solidFill>
            <a:prstDash val="solid"/>
          </a:ln>
        </p:spPr>
      </p:sp>
      <p:sp>
        <p:nvSpPr>
          <p:cNvPr id="305" name="Shape 303"/>
          <p:cNvSpPr/>
          <p:nvPr/>
        </p:nvSpPr>
        <p:spPr>
          <a:xfrm>
            <a:off x="9195816" y="4327307"/>
            <a:ext cx="219456" cy="219456"/>
          </a:xfrm>
          <a:prstGeom prst="rect">
            <a:avLst/>
          </a:prstGeom>
          <a:solidFill>
            <a:srgbClr val="E3E2DA"/>
          </a:solidFill>
          <a:ln w="12700">
            <a:solidFill>
              <a:srgbClr val="E3E2DA"/>
            </a:solidFill>
            <a:prstDash val="solid"/>
          </a:ln>
        </p:spPr>
      </p:sp>
      <p:sp>
        <p:nvSpPr>
          <p:cNvPr id="306" name="Shape 304"/>
          <p:cNvSpPr/>
          <p:nvPr/>
        </p:nvSpPr>
        <p:spPr>
          <a:xfrm>
            <a:off x="9445996" y="4327307"/>
            <a:ext cx="219456" cy="219456"/>
          </a:xfrm>
          <a:prstGeom prst="rect">
            <a:avLst/>
          </a:prstGeom>
          <a:solidFill>
            <a:srgbClr val="E3E2DA"/>
          </a:solidFill>
          <a:ln w="12700">
            <a:solidFill>
              <a:srgbClr val="E3E2DA"/>
            </a:solidFill>
            <a:prstDash val="solid"/>
          </a:ln>
        </p:spPr>
      </p:sp>
      <p:sp>
        <p:nvSpPr>
          <p:cNvPr id="307" name="Shape 305"/>
          <p:cNvSpPr/>
          <p:nvPr/>
        </p:nvSpPr>
        <p:spPr>
          <a:xfrm>
            <a:off x="9696176" y="4327307"/>
            <a:ext cx="219456" cy="219456"/>
          </a:xfrm>
          <a:prstGeom prst="rect">
            <a:avLst/>
          </a:prstGeom>
          <a:solidFill>
            <a:srgbClr val="E3E2DA"/>
          </a:solidFill>
          <a:ln w="12700">
            <a:solidFill>
              <a:srgbClr val="E3E2DA"/>
            </a:solidFill>
            <a:prstDash val="solid"/>
          </a:ln>
        </p:spPr>
      </p:sp>
      <p:sp>
        <p:nvSpPr>
          <p:cNvPr id="308" name="Shape 306"/>
          <p:cNvSpPr/>
          <p:nvPr/>
        </p:nvSpPr>
        <p:spPr>
          <a:xfrm>
            <a:off x="9946356" y="4327307"/>
            <a:ext cx="219456" cy="219456"/>
          </a:xfrm>
          <a:prstGeom prst="rect">
            <a:avLst/>
          </a:prstGeom>
          <a:solidFill>
            <a:srgbClr val="E3E2DA"/>
          </a:solidFill>
          <a:ln w="12700">
            <a:solidFill>
              <a:srgbClr val="E3E2DA"/>
            </a:solidFill>
            <a:prstDash val="solid"/>
          </a:ln>
        </p:spPr>
      </p:sp>
      <p:sp>
        <p:nvSpPr>
          <p:cNvPr id="309" name="Shape 307"/>
          <p:cNvSpPr/>
          <p:nvPr/>
        </p:nvSpPr>
        <p:spPr>
          <a:xfrm>
            <a:off x="10196535" y="4327307"/>
            <a:ext cx="219456" cy="219456"/>
          </a:xfrm>
          <a:prstGeom prst="rect">
            <a:avLst/>
          </a:prstGeom>
          <a:solidFill>
            <a:srgbClr val="E3E2DA"/>
          </a:solidFill>
          <a:ln w="12700">
            <a:solidFill>
              <a:srgbClr val="E3E2DA"/>
            </a:solidFill>
            <a:prstDash val="solid"/>
          </a:ln>
        </p:spPr>
      </p:sp>
      <p:sp>
        <p:nvSpPr>
          <p:cNvPr id="310" name="Text 308"/>
          <p:cNvSpPr txBox="1"/>
          <p:nvPr/>
        </p:nvSpPr>
        <p:spPr>
          <a:xfrm>
            <a:off x="7944917"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44.0%</a:t>
            </a:r>
            <a:endParaRPr lang="en-US" sz="2000" dirty="0"/>
          </a:p>
        </p:txBody>
      </p:sp>
      <p:sp>
        <p:nvSpPr>
          <p:cNvPr id="311" name="Text 309"/>
          <p:cNvSpPr txBox="1"/>
          <p:nvPr/>
        </p:nvSpPr>
        <p:spPr>
          <a:xfrm>
            <a:off x="7944917"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 (44 of every 100)</a:t>
            </a:r>
            <a:endParaRPr lang="en-US" sz="1000" dirty="0"/>
          </a:p>
        </p:txBody>
      </p:sp>
      <p:sp>
        <p:nvSpPr>
          <p:cNvPr id="3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5's domestic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District 5 domestic visitors, by state (shading) and metro area (circles), Jan. 1–May 31, 2026</a:t>
            </a:r>
            <a:endParaRPr lang="en-US" sz="1200" dirty="0"/>
          </a:p>
        </p:txBody>
      </p:sp>
      <p:pic>
        <p:nvPicPr>
          <p:cNvPr id="4" name="Image 0" descr="Where District 5's domestic visitors come from: Los Angeles–Long Beach–Anaheim 23.6%, Riverside–San Bernardino–Ontario 22.6%, Washington–Arlington–Alexandria 3.6%, San Diego–Chula Vista–Carlsbad 3.2%, New York–Newark–Jersey City 2.0%, Bakersfield–Delano 1.5%, Phoenix–Mesa–Chandler 1.5%, Dallas–Fort Worth–Arlington 1.4%">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STATES</a:t>
            </a:r>
            <a:endParaRPr lang="en-US" sz="950" dirty="0"/>
          </a:p>
        </p:txBody>
      </p:sp>
      <p:sp>
        <p:nvSpPr>
          <p:cNvPr id="6" name="Shape 3"/>
          <p:cNvSpPr/>
          <p:nvPr/>
        </p:nvSpPr>
        <p:spPr>
          <a:xfrm>
            <a:off x="7918704" y="1728216"/>
            <a:ext cx="164592" cy="164592"/>
          </a:xfrm>
          <a:prstGeom prst="rect">
            <a:avLst/>
          </a:prstGeom>
          <a:solidFill>
            <a:srgbClr val="125C60"/>
          </a:solidFill>
          <a:ln w="6350">
            <a:solidFill>
              <a:srgbClr val="C9C6B8"/>
            </a:solidFill>
            <a:prstDash val="solid"/>
          </a:ln>
        </p:spPr>
      </p:sp>
      <p:sp>
        <p:nvSpPr>
          <p:cNvPr id="7" name="Text 4"/>
          <p:cNvSpPr txBox="1"/>
          <p:nvPr/>
        </p:nvSpPr>
        <p:spPr>
          <a:xfrm>
            <a:off x="8174736" y="169164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20% or more</a:t>
            </a:r>
            <a:endParaRPr lang="en-US" sz="1000" dirty="0"/>
          </a:p>
        </p:txBody>
      </p:sp>
      <p:sp>
        <p:nvSpPr>
          <p:cNvPr id="8" name="Shape 5"/>
          <p:cNvSpPr/>
          <p:nvPr/>
        </p:nvSpPr>
        <p:spPr>
          <a:xfrm>
            <a:off x="7918704" y="2002536"/>
            <a:ext cx="164592" cy="164592"/>
          </a:xfrm>
          <a:prstGeom prst="rect">
            <a:avLst/>
          </a:prstGeom>
          <a:solidFill>
            <a:srgbClr val="43A3A3"/>
          </a:solidFill>
          <a:ln w="6350">
            <a:solidFill>
              <a:srgbClr val="C9C6B8"/>
            </a:solidFill>
            <a:prstDash val="solid"/>
          </a:ln>
        </p:spPr>
      </p:sp>
      <p:sp>
        <p:nvSpPr>
          <p:cNvPr id="9" name="Text 6"/>
          <p:cNvSpPr txBox="1"/>
          <p:nvPr/>
        </p:nvSpPr>
        <p:spPr>
          <a:xfrm>
            <a:off x="8174736" y="196596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3% to 20%</a:t>
            </a:r>
            <a:endParaRPr lang="en-US" sz="1000" dirty="0"/>
          </a:p>
        </p:txBody>
      </p:sp>
      <p:sp>
        <p:nvSpPr>
          <p:cNvPr id="10" name="Shape 7"/>
          <p:cNvSpPr/>
          <p:nvPr/>
        </p:nvSpPr>
        <p:spPr>
          <a:xfrm>
            <a:off x="7918704" y="2276856"/>
            <a:ext cx="164592" cy="164592"/>
          </a:xfrm>
          <a:prstGeom prst="rect">
            <a:avLst/>
          </a:prstGeom>
          <a:solidFill>
            <a:srgbClr val="B4D9E3"/>
          </a:solidFill>
          <a:ln w="6350">
            <a:solidFill>
              <a:srgbClr val="C9C6B8"/>
            </a:solidFill>
            <a:prstDash val="solid"/>
          </a:ln>
        </p:spPr>
      </p:sp>
      <p:sp>
        <p:nvSpPr>
          <p:cNvPr id="11" name="Text 8"/>
          <p:cNvSpPr txBox="1"/>
          <p:nvPr/>
        </p:nvSpPr>
        <p:spPr>
          <a:xfrm>
            <a:off x="8174736" y="224028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Under 3%</a:t>
            </a:r>
            <a:endParaRPr lang="en-US" sz="1000" dirty="0"/>
          </a:p>
        </p:txBody>
      </p:sp>
      <p:sp>
        <p:nvSpPr>
          <p:cNvPr id="12" name="Shape 9"/>
          <p:cNvSpPr/>
          <p:nvPr/>
        </p:nvSpPr>
        <p:spPr>
          <a:xfrm>
            <a:off x="7918704" y="2551176"/>
            <a:ext cx="164592" cy="164592"/>
          </a:xfrm>
          <a:prstGeom prst="rect">
            <a:avLst/>
          </a:prstGeom>
          <a:solidFill>
            <a:srgbClr val="E9EBE4"/>
          </a:solidFill>
          <a:ln w="6350">
            <a:solidFill>
              <a:srgbClr val="C9C6B8"/>
            </a:solidFill>
            <a:prstDash val="solid"/>
          </a:ln>
        </p:spPr>
      </p:sp>
      <p:sp>
        <p:nvSpPr>
          <p:cNvPr id="13" name="Text 10"/>
          <p:cNvSpPr txBox="1"/>
          <p:nvPr/>
        </p:nvSpPr>
        <p:spPr>
          <a:xfrm>
            <a:off x="8174736" y="251460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Not in the top 11 states</a:t>
            </a:r>
            <a:endParaRPr lang="en-US" sz="1000" dirty="0"/>
          </a:p>
        </p:txBody>
      </p:sp>
      <p:sp>
        <p:nvSpPr>
          <p:cNvPr id="14" name="Text 11"/>
          <p:cNvSpPr txBox="1"/>
          <p:nvPr/>
        </p:nvSpPr>
        <p:spPr>
          <a:xfrm>
            <a:off x="7918704" y="292608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15" name="Text 12"/>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23.6%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16" name="Text 13"/>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22.6%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17" name="Text 14"/>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3.6%  </a:t>
            </a:r>
            <a:pPr indent="0" marL="0">
              <a:buNone/>
            </a:pPr>
            <a:r>
              <a:rPr lang="en-US" sz="1000" dirty="0">
                <a:solidFill>
                  <a:srgbClr val="231F20"/>
                </a:solidFill>
                <a:latin typeface="Proxima Nova" pitchFamily="34" charset="0"/>
                <a:ea typeface="Proxima Nova" pitchFamily="34" charset="-122"/>
                <a:cs typeface="Proxima Nova" pitchFamily="34" charset="-120"/>
              </a:rPr>
              <a:t>Washington–Arlington–Alexandria</a:t>
            </a:r>
            <a:endParaRPr lang="en-US" sz="1200" dirty="0"/>
          </a:p>
        </p:txBody>
      </p:sp>
      <p:sp>
        <p:nvSpPr>
          <p:cNvPr id="18" name="Text 15"/>
          <p:cNvSpPr txBox="1"/>
          <p:nvPr/>
        </p:nvSpPr>
        <p:spPr>
          <a:xfrm>
            <a:off x="7918704" y="412394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19" name="Text 16"/>
          <p:cNvSpPr txBox="1"/>
          <p:nvPr/>
        </p:nvSpPr>
        <p:spPr>
          <a:xfrm>
            <a:off x="7918704" y="442569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2.0%  </a:t>
            </a:r>
            <a:pPr indent="0" marL="0">
              <a:buNone/>
            </a:pPr>
            <a:r>
              <a:rPr lang="en-US" sz="1000" dirty="0">
                <a:solidFill>
                  <a:srgbClr val="231F20"/>
                </a:solidFill>
                <a:latin typeface="Proxima Nova" pitchFamily="34" charset="0"/>
                <a:ea typeface="Proxima Nova" pitchFamily="34" charset="-122"/>
                <a:cs typeface="Proxima Nova" pitchFamily="34" charset="-120"/>
              </a:rPr>
              <a:t>New York–Newark–Jersey City</a:t>
            </a:r>
            <a:endParaRPr lang="en-US" sz="1200" dirty="0"/>
          </a:p>
        </p:txBody>
      </p:sp>
      <p:sp>
        <p:nvSpPr>
          <p:cNvPr id="20" name="Text 17"/>
          <p:cNvSpPr txBox="1"/>
          <p:nvPr/>
        </p:nvSpPr>
        <p:spPr>
          <a:xfrm>
            <a:off x="7918704" y="472744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Bakersfield–Delano</a:t>
            </a:r>
            <a:endParaRPr lang="en-US" sz="1200" dirty="0"/>
          </a:p>
        </p:txBody>
      </p:sp>
      <p:sp>
        <p:nvSpPr>
          <p:cNvPr id="21" name="Text 18"/>
          <p:cNvSpPr txBox="1"/>
          <p:nvPr/>
        </p:nvSpPr>
        <p:spPr>
          <a:xfrm>
            <a:off x="7918704" y="502920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22" name="Text 19"/>
          <p:cNvSpPr txBox="1"/>
          <p:nvPr/>
        </p:nvSpPr>
        <p:spPr>
          <a:xfrm>
            <a:off x="7918704" y="533095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  </a:t>
            </a:r>
            <a:pPr indent="0" marL="0">
              <a:buNone/>
            </a:pPr>
            <a:r>
              <a:rPr lang="en-US" sz="1000" dirty="0">
                <a:solidFill>
                  <a:srgbClr val="231F20"/>
                </a:solidFill>
                <a:latin typeface="Proxima Nova" pitchFamily="34" charset="0"/>
                <a:ea typeface="Proxima Nova" pitchFamily="34" charset="-122"/>
                <a:cs typeface="Proxima Nova" pitchFamily="34" charset="-120"/>
              </a:rPr>
              <a:t>Dallas–Fort Worth–Arlington</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Geography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per visitor or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 is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$6.832B ÷ 26.5M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Garden Grove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$769.3M ÷ 3.24M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Orange County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$1.360T ÷ 2.46B trips (real 2025 dollars)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domestic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$1.185T ÷ 2.40B domestic trips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05"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57"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What one Anaheim visitor spends, itemized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per visitor, calendar 2025 · category spending ÷ 26.5M visitors</a:t>
            </a:r>
            <a:endParaRPr lang="en-US" sz="950" dirty="0"/>
          </a:p>
        </p:txBody>
      </p:sp>
      <p:sp>
        <p:nvSpPr>
          <p:cNvPr id="6" name="Shape 4"/>
          <p:cNvSpPr/>
          <p:nvPr/>
        </p:nvSpPr>
        <p:spPr>
          <a:xfrm>
            <a:off x="548640" y="2075688"/>
            <a:ext cx="6212873" cy="3520440"/>
          </a:xfrm>
          <a:prstGeom prst="rect">
            <a:avLst/>
          </a:prstGeom>
          <a:solidFill>
            <a:srgbClr val="FFFFFF"/>
          </a:solidFill>
          <a:ln w="12700">
            <a:solidFill>
              <a:srgbClr val="B4D9E3"/>
            </a:solidFill>
            <a:prstDash val="solid"/>
          </a:ln>
        </p:spPr>
      </p:sp>
      <p:sp>
        <p:nvSpPr>
          <p:cNvPr id="7" name="Text 5"/>
          <p:cNvSpPr txBox="1"/>
          <p:nvPr/>
        </p:nvSpPr>
        <p:spPr>
          <a:xfrm>
            <a:off x="685800" y="216712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Recreation and entertainment</a:t>
            </a:r>
            <a:endParaRPr lang="en-US" sz="1100" dirty="0"/>
          </a:p>
        </p:txBody>
      </p:sp>
      <p:sp>
        <p:nvSpPr>
          <p:cNvPr id="8" name="Text 6"/>
          <p:cNvSpPr txBox="1"/>
          <p:nvPr/>
        </p:nvSpPr>
        <p:spPr>
          <a:xfrm>
            <a:off x="5618513" y="216712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$87.58</a:t>
            </a:r>
            <a:endParaRPr lang="en-US" sz="1250" dirty="0"/>
          </a:p>
        </p:txBody>
      </p:sp>
      <p:sp>
        <p:nvSpPr>
          <p:cNvPr id="9" name="Shape 7"/>
          <p:cNvSpPr/>
          <p:nvPr/>
        </p:nvSpPr>
        <p:spPr>
          <a:xfrm>
            <a:off x="685800" y="2441448"/>
            <a:ext cx="2019108" cy="64008"/>
          </a:xfrm>
          <a:prstGeom prst="rect">
            <a:avLst/>
          </a:prstGeom>
          <a:solidFill>
            <a:srgbClr val="43A3A3"/>
          </a:solidFill>
          <a:ln w="12700">
            <a:solidFill>
              <a:srgbClr val="43A3A3"/>
            </a:solidFill>
            <a:prstDash val="solid"/>
          </a:ln>
        </p:spPr>
      </p:sp>
      <p:sp>
        <p:nvSpPr>
          <p:cNvPr id="10" name="Text 8"/>
          <p:cNvSpPr txBox="1"/>
          <p:nvPr/>
        </p:nvSpPr>
        <p:spPr>
          <a:xfrm>
            <a:off x="685800" y="251460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$2,321M ÷ 26.5M visitors · 34% of spending</a:t>
            </a:r>
            <a:endParaRPr lang="en-US" sz="750" dirty="0"/>
          </a:p>
        </p:txBody>
      </p:sp>
      <p:sp>
        <p:nvSpPr>
          <p:cNvPr id="11" name="Text 9"/>
          <p:cNvSpPr txBox="1"/>
          <p:nvPr/>
        </p:nvSpPr>
        <p:spPr>
          <a:xfrm>
            <a:off x="685800" y="271576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Lodging</a:t>
            </a:r>
            <a:endParaRPr lang="en-US" sz="1100" dirty="0"/>
          </a:p>
        </p:txBody>
      </p:sp>
      <p:sp>
        <p:nvSpPr>
          <p:cNvPr id="12" name="Text 10"/>
          <p:cNvSpPr txBox="1"/>
          <p:nvPr/>
        </p:nvSpPr>
        <p:spPr>
          <a:xfrm>
            <a:off x="5618513" y="271576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$65.06</a:t>
            </a:r>
            <a:endParaRPr lang="en-US" sz="1250" dirty="0"/>
          </a:p>
        </p:txBody>
      </p:sp>
      <p:sp>
        <p:nvSpPr>
          <p:cNvPr id="13" name="Shape 11"/>
          <p:cNvSpPr/>
          <p:nvPr/>
        </p:nvSpPr>
        <p:spPr>
          <a:xfrm>
            <a:off x="685800" y="2990088"/>
            <a:ext cx="1496515" cy="64008"/>
          </a:xfrm>
          <a:prstGeom prst="rect">
            <a:avLst/>
          </a:prstGeom>
          <a:solidFill>
            <a:srgbClr val="43A3A3"/>
          </a:solidFill>
          <a:ln w="12700">
            <a:solidFill>
              <a:srgbClr val="43A3A3"/>
            </a:solidFill>
            <a:prstDash val="solid"/>
          </a:ln>
        </p:spPr>
      </p:sp>
      <p:sp>
        <p:nvSpPr>
          <p:cNvPr id="14" name="Text 12"/>
          <p:cNvSpPr txBox="1"/>
          <p:nvPr/>
        </p:nvSpPr>
        <p:spPr>
          <a:xfrm>
            <a:off x="685800" y="306324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$1,724M ÷ 26.5M visitors · 25.2% of spending</a:t>
            </a:r>
            <a:endParaRPr lang="en-US" sz="750" dirty="0"/>
          </a:p>
        </p:txBody>
      </p:sp>
      <p:sp>
        <p:nvSpPr>
          <p:cNvPr id="15" name="Text 13"/>
          <p:cNvSpPr txBox="1"/>
          <p:nvPr/>
        </p:nvSpPr>
        <p:spPr>
          <a:xfrm>
            <a:off x="685800" y="326440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Retail</a:t>
            </a:r>
            <a:endParaRPr lang="en-US" sz="1100" dirty="0"/>
          </a:p>
        </p:txBody>
      </p:sp>
      <p:sp>
        <p:nvSpPr>
          <p:cNvPr id="16" name="Text 14"/>
          <p:cNvSpPr txBox="1"/>
          <p:nvPr/>
        </p:nvSpPr>
        <p:spPr>
          <a:xfrm>
            <a:off x="5618513" y="326440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$56.42</a:t>
            </a:r>
            <a:endParaRPr lang="en-US" sz="1250" dirty="0"/>
          </a:p>
        </p:txBody>
      </p:sp>
      <p:sp>
        <p:nvSpPr>
          <p:cNvPr id="17" name="Shape 15"/>
          <p:cNvSpPr/>
          <p:nvPr/>
        </p:nvSpPr>
        <p:spPr>
          <a:xfrm>
            <a:off x="685800" y="3538728"/>
            <a:ext cx="1300543" cy="64008"/>
          </a:xfrm>
          <a:prstGeom prst="rect">
            <a:avLst/>
          </a:prstGeom>
          <a:solidFill>
            <a:srgbClr val="43A3A3"/>
          </a:solidFill>
          <a:ln w="12700">
            <a:solidFill>
              <a:srgbClr val="43A3A3"/>
            </a:solidFill>
            <a:prstDash val="solid"/>
          </a:ln>
        </p:spPr>
      </p:sp>
      <p:sp>
        <p:nvSpPr>
          <p:cNvPr id="18" name="Text 16"/>
          <p:cNvSpPr txBox="1"/>
          <p:nvPr/>
        </p:nvSpPr>
        <p:spPr>
          <a:xfrm>
            <a:off x="685800" y="361188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$1,495M ÷ 26.5M visitors · 21.9% of spending</a:t>
            </a:r>
            <a:endParaRPr lang="en-US" sz="750" dirty="0"/>
          </a:p>
        </p:txBody>
      </p:sp>
      <p:sp>
        <p:nvSpPr>
          <p:cNvPr id="19" name="Text 17"/>
          <p:cNvSpPr txBox="1"/>
          <p:nvPr/>
        </p:nvSpPr>
        <p:spPr>
          <a:xfrm>
            <a:off x="685800" y="381304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Food and beverage</a:t>
            </a:r>
            <a:endParaRPr lang="en-US" sz="1100" dirty="0"/>
          </a:p>
        </p:txBody>
      </p:sp>
      <p:sp>
        <p:nvSpPr>
          <p:cNvPr id="20" name="Text 18"/>
          <p:cNvSpPr txBox="1"/>
          <p:nvPr/>
        </p:nvSpPr>
        <p:spPr>
          <a:xfrm>
            <a:off x="5618513" y="381304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$40.26</a:t>
            </a:r>
            <a:endParaRPr lang="en-US" sz="1250" dirty="0"/>
          </a:p>
        </p:txBody>
      </p:sp>
      <p:sp>
        <p:nvSpPr>
          <p:cNvPr id="21" name="Shape 19"/>
          <p:cNvSpPr/>
          <p:nvPr/>
        </p:nvSpPr>
        <p:spPr>
          <a:xfrm>
            <a:off x="685800" y="4087368"/>
            <a:ext cx="926414" cy="64008"/>
          </a:xfrm>
          <a:prstGeom prst="rect">
            <a:avLst/>
          </a:prstGeom>
          <a:solidFill>
            <a:srgbClr val="43A3A3"/>
          </a:solidFill>
          <a:ln w="12700">
            <a:solidFill>
              <a:srgbClr val="43A3A3"/>
            </a:solidFill>
            <a:prstDash val="solid"/>
          </a:ln>
        </p:spPr>
      </p:sp>
      <p:sp>
        <p:nvSpPr>
          <p:cNvPr id="22" name="Text 20"/>
          <p:cNvSpPr txBox="1"/>
          <p:nvPr/>
        </p:nvSpPr>
        <p:spPr>
          <a:xfrm>
            <a:off x="685800" y="416052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$1,067M ÷ 26.5M visitors · 15.6% of spending</a:t>
            </a:r>
            <a:endParaRPr lang="en-US" sz="750" dirty="0"/>
          </a:p>
        </p:txBody>
      </p:sp>
      <p:sp>
        <p:nvSpPr>
          <p:cNvPr id="23" name="Text 21"/>
          <p:cNvSpPr txBox="1"/>
          <p:nvPr/>
        </p:nvSpPr>
        <p:spPr>
          <a:xfrm>
            <a:off x="685800" y="436168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Transportation</a:t>
            </a:r>
            <a:endParaRPr lang="en-US" sz="1100" dirty="0"/>
          </a:p>
        </p:txBody>
      </p:sp>
      <p:sp>
        <p:nvSpPr>
          <p:cNvPr id="24" name="Text 22"/>
          <p:cNvSpPr txBox="1"/>
          <p:nvPr/>
        </p:nvSpPr>
        <p:spPr>
          <a:xfrm>
            <a:off x="5618513" y="436168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$8.45</a:t>
            </a:r>
            <a:endParaRPr lang="en-US" sz="1250" dirty="0"/>
          </a:p>
        </p:txBody>
      </p:sp>
      <p:sp>
        <p:nvSpPr>
          <p:cNvPr id="25" name="Shape 23"/>
          <p:cNvSpPr/>
          <p:nvPr/>
        </p:nvSpPr>
        <p:spPr>
          <a:xfrm>
            <a:off x="685800" y="4636008"/>
            <a:ext cx="195972" cy="64008"/>
          </a:xfrm>
          <a:prstGeom prst="rect">
            <a:avLst/>
          </a:prstGeom>
          <a:solidFill>
            <a:srgbClr val="43A3A3"/>
          </a:solidFill>
          <a:ln w="12700">
            <a:solidFill>
              <a:srgbClr val="43A3A3"/>
            </a:solidFill>
            <a:prstDash val="solid"/>
          </a:ln>
        </p:spPr>
      </p:sp>
      <p:sp>
        <p:nvSpPr>
          <p:cNvPr id="26" name="Text 24"/>
          <p:cNvSpPr txBox="1"/>
          <p:nvPr/>
        </p:nvSpPr>
        <p:spPr>
          <a:xfrm>
            <a:off x="685800" y="470916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$224M ÷ 26.5M visitors · 3.3% of spending</a:t>
            </a:r>
            <a:endParaRPr lang="en-US" sz="750" dirty="0"/>
          </a:p>
        </p:txBody>
      </p:sp>
      <p:sp>
        <p:nvSpPr>
          <p:cNvPr id="27" name="Shape 25"/>
          <p:cNvSpPr/>
          <p:nvPr/>
        </p:nvSpPr>
        <p:spPr>
          <a:xfrm>
            <a:off x="685800" y="4910328"/>
            <a:ext cx="5938553" cy="0"/>
          </a:xfrm>
          <a:prstGeom prst="line">
            <a:avLst/>
          </a:prstGeom>
          <a:noFill/>
          <a:ln w="19050">
            <a:solidFill>
              <a:srgbClr val="231F20"/>
            </a:solidFill>
            <a:prstDash val="solid"/>
          </a:ln>
        </p:spPr>
      </p:sp>
      <p:sp>
        <p:nvSpPr>
          <p:cNvPr id="28" name="Text 26"/>
          <p:cNvSpPr txBox="1"/>
          <p:nvPr/>
        </p:nvSpPr>
        <p:spPr>
          <a:xfrm>
            <a:off x="685800" y="4983480"/>
            <a:ext cx="4749833" cy="274320"/>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TOTAL PER VISITOR</a:t>
            </a:r>
            <a:endParaRPr lang="en-US" sz="1100" dirty="0"/>
          </a:p>
        </p:txBody>
      </p:sp>
      <p:sp>
        <p:nvSpPr>
          <p:cNvPr id="29" name="Text 27"/>
          <p:cNvSpPr txBox="1"/>
          <p:nvPr/>
        </p:nvSpPr>
        <p:spPr>
          <a:xfrm>
            <a:off x="5435633" y="4956048"/>
            <a:ext cx="1188720" cy="329184"/>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$257.77</a:t>
            </a:r>
            <a:endParaRPr lang="en-US" sz="1800" dirty="0"/>
          </a:p>
        </p:txBody>
      </p:sp>
      <p:sp>
        <p:nvSpPr>
          <p:cNvPr id="30" name="Text 28"/>
          <p:cNvSpPr txBox="1"/>
          <p:nvPr/>
        </p:nvSpPr>
        <p:spPr>
          <a:xfrm>
            <a:off x="685800" y="5294376"/>
            <a:ext cx="5938553" cy="274320"/>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$6,831M ÷ 26.5M; Tourism Economics' $6.832B total gives $258 (rounding)</a:t>
            </a:r>
            <a:endParaRPr lang="en-US" sz="750" dirty="0"/>
          </a:p>
        </p:txBody>
      </p:sp>
      <p:sp>
        <p:nvSpPr>
          <p:cNvPr id="31" name="Text 29"/>
          <p:cNvSpPr txBox="1"/>
          <p:nvPr/>
        </p:nvSpPr>
        <p:spPr>
          <a:xfrm>
            <a:off x="7127273" y="2075688"/>
            <a:ext cx="4515783"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Every $1 of visitor spending</a:t>
            </a:r>
            <a:endParaRPr lang="en-US" sz="1200" dirty="0"/>
          </a:p>
        </p:txBody>
      </p:sp>
      <p:sp>
        <p:nvSpPr>
          <p:cNvPr id="32" name="Shape 30"/>
          <p:cNvSpPr/>
          <p:nvPr/>
        </p:nvSpPr>
        <p:spPr>
          <a:xfrm>
            <a:off x="7127273" y="2441448"/>
            <a:ext cx="1535366" cy="411480"/>
          </a:xfrm>
          <a:prstGeom prst="rect">
            <a:avLst/>
          </a:prstGeom>
          <a:solidFill>
            <a:srgbClr val="125C60"/>
          </a:solidFill>
          <a:ln w="6350">
            <a:solidFill>
              <a:srgbClr val="FFFFFF"/>
            </a:solidFill>
            <a:prstDash val="solid"/>
          </a:ln>
        </p:spPr>
      </p:sp>
      <p:sp>
        <p:nvSpPr>
          <p:cNvPr id="33" name="Shape 31"/>
          <p:cNvSpPr/>
          <p:nvPr/>
        </p:nvSpPr>
        <p:spPr>
          <a:xfrm>
            <a:off x="8662639" y="2441448"/>
            <a:ext cx="1137977" cy="411480"/>
          </a:xfrm>
          <a:prstGeom prst="rect">
            <a:avLst/>
          </a:prstGeom>
          <a:solidFill>
            <a:srgbClr val="43A3A3"/>
          </a:solidFill>
          <a:ln w="6350">
            <a:solidFill>
              <a:srgbClr val="FFFFFF"/>
            </a:solidFill>
            <a:prstDash val="solid"/>
          </a:ln>
        </p:spPr>
      </p:sp>
      <p:sp>
        <p:nvSpPr>
          <p:cNvPr id="34" name="Shape 32"/>
          <p:cNvSpPr/>
          <p:nvPr/>
        </p:nvSpPr>
        <p:spPr>
          <a:xfrm>
            <a:off x="9800616" y="2441448"/>
            <a:ext cx="988956" cy="411480"/>
          </a:xfrm>
          <a:prstGeom prst="rect">
            <a:avLst/>
          </a:prstGeom>
          <a:solidFill>
            <a:srgbClr val="77C7C9"/>
          </a:solidFill>
          <a:ln w="6350">
            <a:solidFill>
              <a:srgbClr val="FFFFFF"/>
            </a:solidFill>
            <a:prstDash val="solid"/>
          </a:ln>
        </p:spPr>
      </p:sp>
      <p:sp>
        <p:nvSpPr>
          <p:cNvPr id="35" name="Shape 33"/>
          <p:cNvSpPr/>
          <p:nvPr/>
        </p:nvSpPr>
        <p:spPr>
          <a:xfrm>
            <a:off x="10789572" y="2441448"/>
            <a:ext cx="704462" cy="411480"/>
          </a:xfrm>
          <a:prstGeom prst="rect">
            <a:avLst/>
          </a:prstGeom>
          <a:solidFill>
            <a:srgbClr val="B4D9E3"/>
          </a:solidFill>
          <a:ln w="6350">
            <a:solidFill>
              <a:srgbClr val="FFFFFF"/>
            </a:solidFill>
            <a:prstDash val="solid"/>
          </a:ln>
        </p:spPr>
      </p:sp>
      <p:sp>
        <p:nvSpPr>
          <p:cNvPr id="36" name="Shape 34"/>
          <p:cNvSpPr/>
          <p:nvPr/>
        </p:nvSpPr>
        <p:spPr>
          <a:xfrm>
            <a:off x="11494034" y="2441448"/>
            <a:ext cx="149021" cy="411480"/>
          </a:xfrm>
          <a:prstGeom prst="rect">
            <a:avLst/>
          </a:prstGeom>
          <a:solidFill>
            <a:srgbClr val="C9C6B8"/>
          </a:solidFill>
          <a:ln w="6350">
            <a:solidFill>
              <a:srgbClr val="FFFFFF"/>
            </a:solidFill>
            <a:prstDash val="solid"/>
          </a:ln>
        </p:spPr>
      </p:sp>
      <p:sp>
        <p:nvSpPr>
          <p:cNvPr id="37" name="Shape 35"/>
          <p:cNvSpPr/>
          <p:nvPr/>
        </p:nvSpPr>
        <p:spPr>
          <a:xfrm>
            <a:off x="7127273" y="3108960"/>
            <a:ext cx="146304" cy="146304"/>
          </a:xfrm>
          <a:prstGeom prst="rect">
            <a:avLst/>
          </a:prstGeom>
          <a:solidFill>
            <a:srgbClr val="125C60"/>
          </a:solidFill>
          <a:ln w="12700">
            <a:solidFill>
              <a:srgbClr val="125C60"/>
            </a:solidFill>
            <a:prstDash val="solid"/>
          </a:ln>
        </p:spPr>
      </p:sp>
      <p:sp>
        <p:nvSpPr>
          <p:cNvPr id="38" name="Text 36"/>
          <p:cNvSpPr txBox="1"/>
          <p:nvPr/>
        </p:nvSpPr>
        <p:spPr>
          <a:xfrm>
            <a:off x="7355873" y="3035808"/>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34¢  </a:t>
            </a:r>
            <a:pPr indent="0" marL="0">
              <a:buNone/>
            </a:pPr>
            <a:r>
              <a:rPr lang="en-US" sz="1050" dirty="0">
                <a:solidFill>
                  <a:srgbClr val="231F20"/>
                </a:solidFill>
                <a:latin typeface="Proxima Nova" pitchFamily="34" charset="0"/>
                <a:ea typeface="Proxima Nova" pitchFamily="34" charset="-122"/>
                <a:cs typeface="Proxima Nova" pitchFamily="34" charset="-120"/>
              </a:rPr>
              <a:t>Recreation and entertainment (34%)</a:t>
            </a:r>
            <a:endParaRPr lang="en-US" sz="1400" dirty="0"/>
          </a:p>
        </p:txBody>
      </p:sp>
      <p:sp>
        <p:nvSpPr>
          <p:cNvPr id="39" name="Shape 37"/>
          <p:cNvSpPr/>
          <p:nvPr/>
        </p:nvSpPr>
        <p:spPr>
          <a:xfrm>
            <a:off x="7127273" y="3493008"/>
            <a:ext cx="146304" cy="146304"/>
          </a:xfrm>
          <a:prstGeom prst="rect">
            <a:avLst/>
          </a:prstGeom>
          <a:solidFill>
            <a:srgbClr val="43A3A3"/>
          </a:solidFill>
          <a:ln w="12700">
            <a:solidFill>
              <a:srgbClr val="43A3A3"/>
            </a:solidFill>
            <a:prstDash val="solid"/>
          </a:ln>
        </p:spPr>
      </p:sp>
      <p:sp>
        <p:nvSpPr>
          <p:cNvPr id="40" name="Text 38"/>
          <p:cNvSpPr txBox="1"/>
          <p:nvPr/>
        </p:nvSpPr>
        <p:spPr>
          <a:xfrm>
            <a:off x="7355873" y="3419856"/>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25¢  </a:t>
            </a:r>
            <a:pPr indent="0" marL="0">
              <a:buNone/>
            </a:pPr>
            <a:r>
              <a:rPr lang="en-US" sz="1050" dirty="0">
                <a:solidFill>
                  <a:srgbClr val="231F20"/>
                </a:solidFill>
                <a:latin typeface="Proxima Nova" pitchFamily="34" charset="0"/>
                <a:ea typeface="Proxima Nova" pitchFamily="34" charset="-122"/>
                <a:cs typeface="Proxima Nova" pitchFamily="34" charset="-120"/>
              </a:rPr>
              <a:t>Lodging (25.2%)</a:t>
            </a:r>
            <a:endParaRPr lang="en-US" sz="1400" dirty="0"/>
          </a:p>
        </p:txBody>
      </p:sp>
      <p:sp>
        <p:nvSpPr>
          <p:cNvPr id="41" name="Shape 39"/>
          <p:cNvSpPr/>
          <p:nvPr/>
        </p:nvSpPr>
        <p:spPr>
          <a:xfrm>
            <a:off x="7127273" y="3877056"/>
            <a:ext cx="146304" cy="146304"/>
          </a:xfrm>
          <a:prstGeom prst="rect">
            <a:avLst/>
          </a:prstGeom>
          <a:solidFill>
            <a:srgbClr val="77C7C9"/>
          </a:solidFill>
          <a:ln w="12700">
            <a:solidFill>
              <a:srgbClr val="77C7C9"/>
            </a:solidFill>
            <a:prstDash val="solid"/>
          </a:ln>
        </p:spPr>
      </p:sp>
      <p:sp>
        <p:nvSpPr>
          <p:cNvPr id="42" name="Text 40"/>
          <p:cNvSpPr txBox="1"/>
          <p:nvPr/>
        </p:nvSpPr>
        <p:spPr>
          <a:xfrm>
            <a:off x="7355873" y="3803904"/>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22¢  </a:t>
            </a:r>
            <a:pPr indent="0" marL="0">
              <a:buNone/>
            </a:pPr>
            <a:r>
              <a:rPr lang="en-US" sz="1050" dirty="0">
                <a:solidFill>
                  <a:srgbClr val="231F20"/>
                </a:solidFill>
                <a:latin typeface="Proxima Nova" pitchFamily="34" charset="0"/>
                <a:ea typeface="Proxima Nova" pitchFamily="34" charset="-122"/>
                <a:cs typeface="Proxima Nova" pitchFamily="34" charset="-120"/>
              </a:rPr>
              <a:t>Retail (21.9%)</a:t>
            </a:r>
            <a:endParaRPr lang="en-US" sz="1400" dirty="0"/>
          </a:p>
        </p:txBody>
      </p:sp>
      <p:sp>
        <p:nvSpPr>
          <p:cNvPr id="43" name="Shape 41"/>
          <p:cNvSpPr/>
          <p:nvPr/>
        </p:nvSpPr>
        <p:spPr>
          <a:xfrm>
            <a:off x="7127273" y="4261104"/>
            <a:ext cx="146304" cy="146304"/>
          </a:xfrm>
          <a:prstGeom prst="rect">
            <a:avLst/>
          </a:prstGeom>
          <a:solidFill>
            <a:srgbClr val="B4D9E3"/>
          </a:solidFill>
          <a:ln w="12700">
            <a:solidFill>
              <a:srgbClr val="B4D9E3"/>
            </a:solidFill>
            <a:prstDash val="solid"/>
          </a:ln>
        </p:spPr>
      </p:sp>
      <p:sp>
        <p:nvSpPr>
          <p:cNvPr id="44" name="Text 42"/>
          <p:cNvSpPr txBox="1"/>
          <p:nvPr/>
        </p:nvSpPr>
        <p:spPr>
          <a:xfrm>
            <a:off x="7355873" y="4187952"/>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16¢  </a:t>
            </a:r>
            <a:pPr indent="0" marL="0">
              <a:buNone/>
            </a:pPr>
            <a:r>
              <a:rPr lang="en-US" sz="1050" dirty="0">
                <a:solidFill>
                  <a:srgbClr val="231F20"/>
                </a:solidFill>
                <a:latin typeface="Proxima Nova" pitchFamily="34" charset="0"/>
                <a:ea typeface="Proxima Nova" pitchFamily="34" charset="-122"/>
                <a:cs typeface="Proxima Nova" pitchFamily="34" charset="-120"/>
              </a:rPr>
              <a:t>Food and beverage (15.6%)</a:t>
            </a:r>
            <a:endParaRPr lang="en-US" sz="1400" dirty="0"/>
          </a:p>
        </p:txBody>
      </p:sp>
      <p:sp>
        <p:nvSpPr>
          <p:cNvPr id="45" name="Shape 43"/>
          <p:cNvSpPr/>
          <p:nvPr/>
        </p:nvSpPr>
        <p:spPr>
          <a:xfrm>
            <a:off x="7127273" y="4645152"/>
            <a:ext cx="146304" cy="146304"/>
          </a:xfrm>
          <a:prstGeom prst="rect">
            <a:avLst/>
          </a:prstGeom>
          <a:solidFill>
            <a:srgbClr val="C9C6B8"/>
          </a:solidFill>
          <a:ln w="12700">
            <a:solidFill>
              <a:srgbClr val="C9C6B8"/>
            </a:solidFill>
            <a:prstDash val="solid"/>
          </a:ln>
        </p:spPr>
      </p:sp>
      <p:sp>
        <p:nvSpPr>
          <p:cNvPr id="46" name="Text 44"/>
          <p:cNvSpPr txBox="1"/>
          <p:nvPr/>
        </p:nvSpPr>
        <p:spPr>
          <a:xfrm>
            <a:off x="7355873" y="4572000"/>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  </a:t>
            </a:r>
            <a:pPr indent="0" marL="0">
              <a:buNone/>
            </a:pPr>
            <a:r>
              <a:rPr lang="en-US" sz="1050" dirty="0">
                <a:solidFill>
                  <a:srgbClr val="231F20"/>
                </a:solidFill>
                <a:latin typeface="Proxima Nova" pitchFamily="34" charset="0"/>
                <a:ea typeface="Proxima Nova" pitchFamily="34" charset="-122"/>
                <a:cs typeface="Proxima Nova" pitchFamily="34" charset="-120"/>
              </a:rPr>
              <a:t>Transportation (3.3%)</a:t>
            </a:r>
            <a:endParaRPr lang="en-US" sz="1400" dirty="0"/>
          </a:p>
        </p:txBody>
      </p:sp>
      <p:sp>
        <p:nvSpPr>
          <p:cNvPr id="4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visitor card spending in Anaheim comes from, by U.S. metro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 card spending by cardholder home metro, August 2026 · circle area shows spending</a:t>
            </a:r>
            <a:endParaRPr lang="en-US" sz="1200" dirty="0"/>
          </a:p>
        </p:txBody>
      </p:sp>
      <p:pic>
        <p:nvPicPr>
          <p:cNvPr id="4" name="Image 0" descr="Where visitor card spending in Anaheim comes from, by U.S. metro area: Los Angeles–Long Beach–Anaheim $307.3M (66.1% of total), Riverside–San Bernardino–Ontario $28.9M (6.2% of total), San Diego–Chula Vista–Carlsbad $10.5M (2.3% of total), San Francisco–Oakland–Berkeley $8.6M (1.9% of total), Seattle–Tacoma–Bellevue $5.4M (1.2% of total), Phoenix–Mesa–Chandler $4.9M (1.1% of total), Las Vegas–Henderson–Paradise $4.5M (1.0% of total), San Jose–Sunnyvale–Santa Clara $4.5M (1.0% of total)">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$307.3M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$28.9M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$10.5M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$8.6M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$5.4M  </a:t>
            </a:r>
            <a:pPr indent="0" marL="0">
              <a:buNone/>
            </a:pPr>
            <a:r>
              <a:rPr lang="en-US" sz="1000" dirty="0">
                <a:solidFill>
                  <a:srgbClr val="231F20"/>
                </a:solidFill>
                <a:latin typeface="Proxima Nova" pitchFamily="34" charset="0"/>
                <a:ea typeface="Proxima Nova" pitchFamily="34" charset="-122"/>
                <a:cs typeface="Proxima Nova" pitchFamily="34" charset="-120"/>
              </a:rPr>
              <a:t>Seattle–Tacoma–Bellevue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$4.9M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2" name="Text 9"/>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3" name="Text 10"/>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San Jose–Sunnyvale–Santa Clara</a:t>
            </a:r>
            <a:endParaRPr lang="en-US" sz="120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card spending, by visitor's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International visitor card spending in Anaheim, August 2026 · circle area shows spending</a:t>
            </a:r>
            <a:endParaRPr lang="en-US" sz="1200" dirty="0"/>
          </a:p>
        </p:txBody>
      </p:sp>
      <p:pic>
        <p:nvPicPr>
          <p:cNvPr id="4" name="Image 0" descr="International card spending, by visitor's home country: Mexico $5.2M, Canada $3.2M, Japan $2.4M, United Kingdom $1.4M, China (mainland) $797K, Australia $59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$5.2M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$3.2M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$2.4M  </a:t>
            </a:r>
            <a:pPr indent="0" marL="0">
              <a:buNone/>
            </a:pPr>
            <a:r>
              <a:rPr lang="en-US" sz="1000" dirty="0">
                <a:solidFill>
                  <a:srgbClr val="231F20"/>
                </a:solidFill>
                <a:latin typeface="Proxima Nova" pitchFamily="34" charset="0"/>
                <a:ea typeface="Proxima Nova" pitchFamily="34" charset="-122"/>
                <a:cs typeface="Proxima Nova" pitchFamily="34" charset="-120"/>
              </a:rPr>
              <a:t>Japan</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$1.4M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10" name="Text 7"/>
          <p:cNvSpPr txBox="1"/>
          <p:nvPr/>
        </p:nvSpPr>
        <p:spPr>
          <a:xfrm>
            <a:off x="8778240" y="2916936"/>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$797K  </a:t>
            </a:r>
            <a:pPr indent="0" marL="0">
              <a:buNone/>
            </a:pPr>
            <a:r>
              <a:rPr lang="en-US" sz="1000" dirty="0">
                <a:solidFill>
                  <a:srgbClr val="231F20"/>
                </a:solidFill>
                <a:latin typeface="Proxima Nova" pitchFamily="34" charset="0"/>
                <a:ea typeface="Proxima Nova" pitchFamily="34" charset="-122"/>
                <a:cs typeface="Proxima Nova" pitchFamily="34" charset="-120"/>
              </a:rPr>
              <a:t>China (mainland)</a:t>
            </a:r>
            <a:endParaRPr lang="en-US" sz="1200" dirty="0"/>
          </a:p>
        </p:txBody>
      </p:sp>
      <p:sp>
        <p:nvSpPr>
          <p:cNvPr id="11" name="Text 8"/>
          <p:cNvSpPr txBox="1"/>
          <p:nvPr/>
        </p:nvSpPr>
        <p:spPr>
          <a:xfrm>
            <a:off x="8778240" y="321868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$594K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21"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About one in three Anaheim jobs is supported by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figure is 10% of all jobs in Anaheim, 2025</a:t>
            </a:r>
            <a:endParaRPr lang="en-US" sz="950" dirty="0"/>
          </a:p>
        </p:txBody>
      </p:sp>
      <p:sp>
        <p:nvSpPr>
          <p:cNvPr id="6" name="Shape 4"/>
          <p:cNvSpPr/>
          <p:nvPr/>
        </p:nvSpPr>
        <p:spPr>
          <a:xfrm>
            <a:off x="690372" y="2075688"/>
            <a:ext cx="283464" cy="283464"/>
          </a:xfrm>
          <a:prstGeom prst="ellipse">
            <a:avLst/>
          </a:prstGeom>
          <a:solidFill>
            <a:srgbClr val="43A3A3"/>
          </a:solidFill>
          <a:ln w="12700">
            <a:solidFill>
              <a:srgbClr val="FFFFFF"/>
            </a:solidFill>
            <a:prstDash val="solid"/>
          </a:ln>
        </p:spPr>
      </p:sp>
      <p:sp>
        <p:nvSpPr>
          <p:cNvPr id="7" name="Shape 5"/>
          <p:cNvSpPr/>
          <p:nvPr/>
        </p:nvSpPr>
        <p:spPr>
          <a:xfrm>
            <a:off x="548640" y="2404506"/>
            <a:ext cx="566928" cy="907085"/>
          </a:xfrm>
          <a:prstGeom prst="roundRect">
            <a:avLst>
              <a:gd name="adj" fmla="val 19355"/>
            </a:avLst>
          </a:prstGeom>
          <a:solidFill>
            <a:srgbClr val="B4D9E3"/>
          </a:solidFill>
          <a:ln w="12700">
            <a:solidFill>
              <a:srgbClr val="FFFFFF"/>
            </a:solidFill>
            <a:prstDash val="solid"/>
          </a:ln>
        </p:spPr>
      </p:sp>
      <p:sp>
        <p:nvSpPr>
          <p:cNvPr id="8" name="Shape 6"/>
          <p:cNvSpPr/>
          <p:nvPr/>
        </p:nvSpPr>
        <p:spPr>
          <a:xfrm>
            <a:off x="548640" y="2404506"/>
            <a:ext cx="566928" cy="907085"/>
          </a:xfrm>
          <a:prstGeom prst="roundRect">
            <a:avLst>
              <a:gd name="adj" fmla="val 19355"/>
            </a:avLst>
          </a:prstGeom>
          <a:solidFill>
            <a:srgbClr val="43A3A3"/>
          </a:solidFill>
          <a:ln w="12700">
            <a:solidFill>
              <a:srgbClr val="FFFFFF"/>
            </a:solidFill>
            <a:prstDash val="solid"/>
          </a:ln>
        </p:spPr>
      </p:sp>
      <p:sp>
        <p:nvSpPr>
          <p:cNvPr id="9" name="Shape 7"/>
          <p:cNvSpPr/>
          <p:nvPr/>
        </p:nvSpPr>
        <p:spPr>
          <a:xfrm>
            <a:off x="1421892" y="2075688"/>
            <a:ext cx="283464" cy="283464"/>
          </a:xfrm>
          <a:prstGeom prst="ellipse">
            <a:avLst/>
          </a:prstGeom>
          <a:solidFill>
            <a:srgbClr val="43A3A3"/>
          </a:solidFill>
          <a:ln w="12700">
            <a:solidFill>
              <a:srgbClr val="FFFFFF"/>
            </a:solidFill>
            <a:prstDash val="solid"/>
          </a:ln>
        </p:spPr>
      </p:sp>
      <p:sp>
        <p:nvSpPr>
          <p:cNvPr id="10" name="Shape 8"/>
          <p:cNvSpPr/>
          <p:nvPr/>
        </p:nvSpPr>
        <p:spPr>
          <a:xfrm>
            <a:off x="1280160" y="2404506"/>
            <a:ext cx="566928" cy="907085"/>
          </a:xfrm>
          <a:prstGeom prst="roundRect">
            <a:avLst>
              <a:gd name="adj" fmla="val 19355"/>
            </a:avLst>
          </a:prstGeom>
          <a:solidFill>
            <a:srgbClr val="B4D9E3"/>
          </a:solidFill>
          <a:ln w="12700">
            <a:solidFill>
              <a:srgbClr val="FFFFFF"/>
            </a:solidFill>
            <a:prstDash val="solid"/>
          </a:ln>
        </p:spPr>
      </p:sp>
      <p:sp>
        <p:nvSpPr>
          <p:cNvPr id="11" name="Shape 9"/>
          <p:cNvSpPr/>
          <p:nvPr/>
        </p:nvSpPr>
        <p:spPr>
          <a:xfrm>
            <a:off x="1280160" y="2404506"/>
            <a:ext cx="566928" cy="907085"/>
          </a:xfrm>
          <a:prstGeom prst="roundRect">
            <a:avLst>
              <a:gd name="adj" fmla="val 19355"/>
            </a:avLst>
          </a:prstGeom>
          <a:solidFill>
            <a:srgbClr val="43A3A3"/>
          </a:solidFill>
          <a:ln w="12700">
            <a:solidFill>
              <a:srgbClr val="FFFFFF"/>
            </a:solidFill>
            <a:prstDash val="solid"/>
          </a:ln>
        </p:spPr>
      </p:sp>
      <p:sp>
        <p:nvSpPr>
          <p:cNvPr id="12" name="Shape 10"/>
          <p:cNvSpPr/>
          <p:nvPr/>
        </p:nvSpPr>
        <p:spPr>
          <a:xfrm>
            <a:off x="2153412" y="2075688"/>
            <a:ext cx="283464" cy="283464"/>
          </a:xfrm>
          <a:prstGeom prst="ellipse">
            <a:avLst/>
          </a:prstGeom>
          <a:solidFill>
            <a:srgbClr val="43A3A3"/>
          </a:solidFill>
          <a:ln w="12700">
            <a:solidFill>
              <a:srgbClr val="FFFFFF"/>
            </a:solidFill>
            <a:prstDash val="solid"/>
          </a:ln>
        </p:spPr>
      </p:sp>
      <p:sp>
        <p:nvSpPr>
          <p:cNvPr id="13" name="Shape 11"/>
          <p:cNvSpPr/>
          <p:nvPr/>
        </p:nvSpPr>
        <p:spPr>
          <a:xfrm>
            <a:off x="2011680" y="2404506"/>
            <a:ext cx="566928" cy="907085"/>
          </a:xfrm>
          <a:prstGeom prst="roundRect">
            <a:avLst>
              <a:gd name="adj" fmla="val 19355"/>
            </a:avLst>
          </a:prstGeom>
          <a:solidFill>
            <a:srgbClr val="B4D9E3"/>
          </a:solidFill>
          <a:ln w="12700">
            <a:solidFill>
              <a:srgbClr val="FFFFFF"/>
            </a:solidFill>
            <a:prstDash val="solid"/>
          </a:ln>
        </p:spPr>
      </p:sp>
      <p:sp>
        <p:nvSpPr>
          <p:cNvPr id="14" name="Shape 12"/>
          <p:cNvSpPr/>
          <p:nvPr/>
        </p:nvSpPr>
        <p:spPr>
          <a:xfrm>
            <a:off x="2011680" y="2404506"/>
            <a:ext cx="566928" cy="907085"/>
          </a:xfrm>
          <a:prstGeom prst="roundRect">
            <a:avLst>
              <a:gd name="adj" fmla="val 19355"/>
            </a:avLst>
          </a:prstGeom>
          <a:solidFill>
            <a:srgbClr val="43A3A3"/>
          </a:solidFill>
          <a:ln w="12700">
            <a:solidFill>
              <a:srgbClr val="FFFFFF"/>
            </a:solidFill>
            <a:prstDash val="solid"/>
          </a:ln>
        </p:spPr>
      </p:sp>
      <p:sp>
        <p:nvSpPr>
          <p:cNvPr id="15" name="Shape 13"/>
          <p:cNvSpPr/>
          <p:nvPr/>
        </p:nvSpPr>
        <p:spPr>
          <a:xfrm>
            <a:off x="2884932" y="2075688"/>
            <a:ext cx="283464" cy="283464"/>
          </a:xfrm>
          <a:prstGeom prst="ellipse">
            <a:avLst/>
          </a:prstGeom>
          <a:solidFill>
            <a:srgbClr val="B4D9E3"/>
          </a:solidFill>
          <a:ln w="12700">
            <a:solidFill>
              <a:srgbClr val="FFFFFF"/>
            </a:solidFill>
            <a:prstDash val="solid"/>
          </a:ln>
        </p:spPr>
      </p:sp>
      <p:sp>
        <p:nvSpPr>
          <p:cNvPr id="16" name="Shape 14"/>
          <p:cNvSpPr/>
          <p:nvPr/>
        </p:nvSpPr>
        <p:spPr>
          <a:xfrm>
            <a:off x="2743200" y="2404506"/>
            <a:ext cx="566928" cy="907085"/>
          </a:xfrm>
          <a:prstGeom prst="roundRect">
            <a:avLst>
              <a:gd name="adj" fmla="val 19355"/>
            </a:avLst>
          </a:prstGeom>
          <a:solidFill>
            <a:srgbClr val="B4D9E3"/>
          </a:solidFill>
          <a:ln w="12700">
            <a:solidFill>
              <a:srgbClr val="FFFFFF"/>
            </a:solidFill>
            <a:prstDash val="solid"/>
          </a:ln>
        </p:spPr>
      </p:sp>
      <p:sp>
        <p:nvSpPr>
          <p:cNvPr id="17" name="Shape 15"/>
          <p:cNvSpPr/>
          <p:nvPr/>
        </p:nvSpPr>
        <p:spPr>
          <a:xfrm>
            <a:off x="2743200" y="2404506"/>
            <a:ext cx="158740" cy="907085"/>
          </a:xfrm>
          <a:prstGeom prst="roundRect">
            <a:avLst>
              <a:gd name="adj" fmla="val 11521"/>
            </a:avLst>
          </a:prstGeom>
          <a:solidFill>
            <a:srgbClr val="43A3A3"/>
          </a:solidFill>
          <a:ln w="12700">
            <a:solidFill>
              <a:srgbClr val="FFFFFF"/>
            </a:solidFill>
            <a:prstDash val="solid"/>
          </a:ln>
        </p:spPr>
      </p:sp>
      <p:sp>
        <p:nvSpPr>
          <p:cNvPr id="18" name="Shape 16"/>
          <p:cNvSpPr/>
          <p:nvPr/>
        </p:nvSpPr>
        <p:spPr>
          <a:xfrm>
            <a:off x="3616452" y="2075688"/>
            <a:ext cx="283464" cy="283464"/>
          </a:xfrm>
          <a:prstGeom prst="ellipse">
            <a:avLst/>
          </a:prstGeom>
          <a:solidFill>
            <a:srgbClr val="B4D9E3"/>
          </a:solidFill>
          <a:ln w="12700">
            <a:solidFill>
              <a:srgbClr val="FFFFFF"/>
            </a:solidFill>
            <a:prstDash val="solid"/>
          </a:ln>
        </p:spPr>
      </p:sp>
      <p:sp>
        <p:nvSpPr>
          <p:cNvPr id="19" name="Shape 17"/>
          <p:cNvSpPr/>
          <p:nvPr/>
        </p:nvSpPr>
        <p:spPr>
          <a:xfrm>
            <a:off x="3474720" y="2404506"/>
            <a:ext cx="566928" cy="907085"/>
          </a:xfrm>
          <a:prstGeom prst="roundRect">
            <a:avLst>
              <a:gd name="adj" fmla="val 19355"/>
            </a:avLst>
          </a:prstGeom>
          <a:solidFill>
            <a:srgbClr val="B4D9E3"/>
          </a:solidFill>
          <a:ln w="12700">
            <a:solidFill>
              <a:srgbClr val="FFFFFF"/>
            </a:solidFill>
            <a:prstDash val="solid"/>
          </a:ln>
        </p:spPr>
      </p:sp>
      <p:sp>
        <p:nvSpPr>
          <p:cNvPr id="20" name="Shape 18"/>
          <p:cNvSpPr/>
          <p:nvPr/>
        </p:nvSpPr>
        <p:spPr>
          <a:xfrm>
            <a:off x="4347972" y="2075688"/>
            <a:ext cx="283464" cy="283464"/>
          </a:xfrm>
          <a:prstGeom prst="ellipse">
            <a:avLst/>
          </a:prstGeom>
          <a:solidFill>
            <a:srgbClr val="B4D9E3"/>
          </a:solidFill>
          <a:ln w="12700">
            <a:solidFill>
              <a:srgbClr val="FFFFFF"/>
            </a:solidFill>
            <a:prstDash val="solid"/>
          </a:ln>
        </p:spPr>
      </p:sp>
      <p:sp>
        <p:nvSpPr>
          <p:cNvPr id="21" name="Shape 19"/>
          <p:cNvSpPr/>
          <p:nvPr/>
        </p:nvSpPr>
        <p:spPr>
          <a:xfrm>
            <a:off x="4206240" y="2404506"/>
            <a:ext cx="566928" cy="907085"/>
          </a:xfrm>
          <a:prstGeom prst="roundRect">
            <a:avLst>
              <a:gd name="adj" fmla="val 19355"/>
            </a:avLst>
          </a:prstGeom>
          <a:solidFill>
            <a:srgbClr val="B4D9E3"/>
          </a:solidFill>
          <a:ln w="12700">
            <a:solidFill>
              <a:srgbClr val="FFFFFF"/>
            </a:solidFill>
            <a:prstDash val="solid"/>
          </a:ln>
        </p:spPr>
      </p:sp>
      <p:sp>
        <p:nvSpPr>
          <p:cNvPr id="22" name="Shape 20"/>
          <p:cNvSpPr/>
          <p:nvPr/>
        </p:nvSpPr>
        <p:spPr>
          <a:xfrm>
            <a:off x="5079492" y="2075688"/>
            <a:ext cx="283464" cy="283464"/>
          </a:xfrm>
          <a:prstGeom prst="ellipse">
            <a:avLst/>
          </a:prstGeom>
          <a:solidFill>
            <a:srgbClr val="B4D9E3"/>
          </a:solidFill>
          <a:ln w="12700">
            <a:solidFill>
              <a:srgbClr val="FFFFFF"/>
            </a:solidFill>
            <a:prstDash val="solid"/>
          </a:ln>
        </p:spPr>
      </p:sp>
      <p:sp>
        <p:nvSpPr>
          <p:cNvPr id="23" name="Shape 21"/>
          <p:cNvSpPr/>
          <p:nvPr/>
        </p:nvSpPr>
        <p:spPr>
          <a:xfrm>
            <a:off x="4937760" y="2404506"/>
            <a:ext cx="566928" cy="907085"/>
          </a:xfrm>
          <a:prstGeom prst="roundRect">
            <a:avLst>
              <a:gd name="adj" fmla="val 19355"/>
            </a:avLst>
          </a:prstGeom>
          <a:solidFill>
            <a:srgbClr val="B4D9E3"/>
          </a:solidFill>
          <a:ln w="12700">
            <a:solidFill>
              <a:srgbClr val="FFFFFF"/>
            </a:solidFill>
            <a:prstDash val="solid"/>
          </a:ln>
        </p:spPr>
      </p:sp>
      <p:sp>
        <p:nvSpPr>
          <p:cNvPr id="24" name="Shape 22"/>
          <p:cNvSpPr/>
          <p:nvPr/>
        </p:nvSpPr>
        <p:spPr>
          <a:xfrm>
            <a:off x="5811012" y="2075688"/>
            <a:ext cx="283464" cy="283464"/>
          </a:xfrm>
          <a:prstGeom prst="ellipse">
            <a:avLst/>
          </a:prstGeom>
          <a:solidFill>
            <a:srgbClr val="B4D9E3"/>
          </a:solidFill>
          <a:ln w="12700">
            <a:solidFill>
              <a:srgbClr val="FFFFFF"/>
            </a:solidFill>
            <a:prstDash val="solid"/>
          </a:ln>
        </p:spPr>
      </p:sp>
      <p:sp>
        <p:nvSpPr>
          <p:cNvPr id="25" name="Shape 23"/>
          <p:cNvSpPr/>
          <p:nvPr/>
        </p:nvSpPr>
        <p:spPr>
          <a:xfrm>
            <a:off x="5669280" y="2404506"/>
            <a:ext cx="566928" cy="907085"/>
          </a:xfrm>
          <a:prstGeom prst="roundRect">
            <a:avLst>
              <a:gd name="adj" fmla="val 19355"/>
            </a:avLst>
          </a:prstGeom>
          <a:solidFill>
            <a:srgbClr val="B4D9E3"/>
          </a:solidFill>
          <a:ln w="12700">
            <a:solidFill>
              <a:srgbClr val="FFFFFF"/>
            </a:solidFill>
            <a:prstDash val="solid"/>
          </a:ln>
        </p:spPr>
      </p:sp>
      <p:sp>
        <p:nvSpPr>
          <p:cNvPr id="26" name="Shape 24"/>
          <p:cNvSpPr/>
          <p:nvPr/>
        </p:nvSpPr>
        <p:spPr>
          <a:xfrm>
            <a:off x="6542532" y="2075688"/>
            <a:ext cx="283464" cy="283464"/>
          </a:xfrm>
          <a:prstGeom prst="ellipse">
            <a:avLst/>
          </a:prstGeom>
          <a:solidFill>
            <a:srgbClr val="B4D9E3"/>
          </a:solidFill>
          <a:ln w="12700">
            <a:solidFill>
              <a:srgbClr val="FFFFFF"/>
            </a:solidFill>
            <a:prstDash val="solid"/>
          </a:ln>
        </p:spPr>
      </p:sp>
      <p:sp>
        <p:nvSpPr>
          <p:cNvPr id="27" name="Shape 25"/>
          <p:cNvSpPr/>
          <p:nvPr/>
        </p:nvSpPr>
        <p:spPr>
          <a:xfrm>
            <a:off x="6400800" y="2404506"/>
            <a:ext cx="566928" cy="907085"/>
          </a:xfrm>
          <a:prstGeom prst="roundRect">
            <a:avLst>
              <a:gd name="adj" fmla="val 19355"/>
            </a:avLst>
          </a:prstGeom>
          <a:solidFill>
            <a:srgbClr val="B4D9E3"/>
          </a:solidFill>
          <a:ln w="12700">
            <a:solidFill>
              <a:srgbClr val="FFFFFF"/>
            </a:solidFill>
            <a:prstDash val="solid"/>
          </a:ln>
        </p:spPr>
      </p:sp>
      <p:sp>
        <p:nvSpPr>
          <p:cNvPr id="28" name="Shape 26"/>
          <p:cNvSpPr/>
          <p:nvPr/>
        </p:nvSpPr>
        <p:spPr>
          <a:xfrm>
            <a:off x="7274052" y="2075688"/>
            <a:ext cx="283464" cy="283464"/>
          </a:xfrm>
          <a:prstGeom prst="ellipse">
            <a:avLst/>
          </a:prstGeom>
          <a:solidFill>
            <a:srgbClr val="B4D9E3"/>
          </a:solidFill>
          <a:ln w="12700">
            <a:solidFill>
              <a:srgbClr val="FFFFFF"/>
            </a:solidFill>
            <a:prstDash val="solid"/>
          </a:ln>
        </p:spPr>
      </p:sp>
      <p:sp>
        <p:nvSpPr>
          <p:cNvPr id="29" name="Shape 27"/>
          <p:cNvSpPr/>
          <p:nvPr/>
        </p:nvSpPr>
        <p:spPr>
          <a:xfrm>
            <a:off x="7132320" y="2404506"/>
            <a:ext cx="566928" cy="907085"/>
          </a:xfrm>
          <a:prstGeom prst="roundRect">
            <a:avLst>
              <a:gd name="adj" fmla="val 19355"/>
            </a:avLst>
          </a:prstGeom>
          <a:solidFill>
            <a:srgbClr val="B4D9E3"/>
          </a:solidFill>
          <a:ln w="12700">
            <a:solidFill>
              <a:srgbClr val="FFFFFF"/>
            </a:solidFill>
            <a:prstDash val="solid"/>
          </a:ln>
        </p:spPr>
      </p:sp>
      <p:sp>
        <p:nvSpPr>
          <p:cNvPr id="30" name="Text 28"/>
          <p:cNvSpPr txBox="1"/>
          <p:nvPr/>
        </p:nvSpPr>
        <p:spPr>
          <a:xfrm>
            <a:off x="8046720" y="2075688"/>
            <a:ext cx="3596335" cy="640080"/>
          </a:xfrm>
          <a:prstGeom prst="rect">
            <a:avLst/>
          </a:prstGeom>
          <a:noFill/>
          <a:ln/>
        </p:spPr>
        <p:txBody>
          <a:bodyPr wrap="square" lIns="0" tIns="0" rIns="0" bIns="0" rtlCol="0" anchor="ctr"/>
          <a:lstStyle/>
          <a:p>
            <a:pPr indent="0" marL="0">
              <a:buNone/>
            </a:pPr>
            <a:r>
              <a:rPr lang="en-US" sz="3600" b="1" i="1" dirty="0">
                <a:solidFill>
                  <a:srgbClr val="125C60"/>
                </a:solidFill>
                <a:latin typeface="Proxima Nova" pitchFamily="34" charset="0"/>
                <a:ea typeface="Proxima Nova" pitchFamily="34" charset="-122"/>
                <a:cs typeface="Proxima Nova" pitchFamily="34" charset="-120"/>
              </a:rPr>
              <a:t>32.8%</a:t>
            </a:r>
            <a:endParaRPr lang="en-US" sz="3600" dirty="0"/>
          </a:p>
        </p:txBody>
      </p:sp>
      <p:sp>
        <p:nvSpPr>
          <p:cNvPr id="31" name="Text 29"/>
          <p:cNvSpPr txBox="1"/>
          <p:nvPr/>
        </p:nvSpPr>
        <p:spPr>
          <a:xfrm>
            <a:off x="8046720" y="2761488"/>
            <a:ext cx="3596335" cy="731520"/>
          </a:xfrm>
          <a:prstGeom prst="rect">
            <a:avLst/>
          </a:prstGeom>
          <a:noFill/>
          <a:ln/>
        </p:spPr>
        <p:txBody>
          <a:bodyPr wrap="square" lIns="0" tIns="0" rIns="0" bIns="0" rtlCol="0" anchor="t"/>
          <a:lstStyle/>
          <a:p>
            <a:pPr indent="0" marL="0">
              <a:buNone/>
            </a:pPr>
            <a:r>
              <a:rPr lang="en-US" sz="1200" b="1" dirty="0">
                <a:solidFill>
                  <a:srgbClr val="231F20"/>
                </a:solidFill>
                <a:latin typeface="Proxima Nova" pitchFamily="34" charset="0"/>
                <a:ea typeface="Proxima Nova" pitchFamily="34" charset="-122"/>
                <a:cs typeface="Proxima Nova" pitchFamily="34" charset="-120"/>
              </a:rPr>
              <a:t>of all Anaheim jobs: 67,817 jobs supported by visitor spending</a:t>
            </a:r>
            <a:endParaRPr lang="en-US" sz="1200" dirty="0"/>
          </a:p>
        </p:txBody>
      </p:sp>
      <p:sp>
        <p:nvSpPr>
          <p:cNvPr id="32" name="Shape 30"/>
          <p:cNvSpPr/>
          <p:nvPr/>
        </p:nvSpPr>
        <p:spPr>
          <a:xfrm>
            <a:off x="548640" y="3474720"/>
            <a:ext cx="11094415" cy="45720"/>
          </a:xfrm>
          <a:prstGeom prst="rect">
            <a:avLst/>
          </a:prstGeom>
          <a:solidFill>
            <a:srgbClr val="125C60"/>
          </a:solidFill>
          <a:ln w="12700">
            <a:solidFill>
              <a:srgbClr val="125C60"/>
            </a:solidFill>
            <a:prstDash val="solid"/>
          </a:ln>
        </p:spPr>
      </p:sp>
      <p:sp>
        <p:nvSpPr>
          <p:cNvPr id="33" name="Text 31"/>
          <p:cNvSpPr txBox="1"/>
          <p:nvPr/>
        </p:nvSpPr>
        <p:spPr>
          <a:xfrm>
            <a:off x="548640" y="35661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4" name="Text 32"/>
          <p:cNvSpPr txBox="1"/>
          <p:nvPr/>
        </p:nvSpPr>
        <p:spPr>
          <a:xfrm>
            <a:off x="548640" y="382219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3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share as reported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33"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full Visit Anaheim hotels are, night by night</a:t>
            </a:r>
            <a:endParaRPr lang="en-US" sz="1500" dirty="0"/>
          </a:p>
        </p:txBody>
      </p:sp>
      <p:sp>
        <p:nvSpPr>
          <p:cNvPr id="5" name="Text 3"/>
          <p:cNvSpPr txBox="1"/>
          <p:nvPr/>
        </p:nvSpPr>
        <p:spPr>
          <a:xfrm>
            <a:off x="548640"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occupancy by night of the week, Jan. 1–Oct. 3, 2026 · Sunday and Monday highlighted</a:t>
            </a:r>
            <a:endParaRPr lang="en-US" sz="950" dirty="0"/>
          </a:p>
        </p:txBody>
      </p:sp>
      <p:sp>
        <p:nvSpPr>
          <p:cNvPr id="6" name="Shape 4"/>
          <p:cNvSpPr/>
          <p:nvPr/>
        </p:nvSpPr>
        <p:spPr>
          <a:xfrm>
            <a:off x="663590" y="2075688"/>
            <a:ext cx="536433" cy="2194560"/>
          </a:xfrm>
          <a:prstGeom prst="rect">
            <a:avLst/>
          </a:prstGeom>
          <a:solidFill>
            <a:srgbClr val="F9F9F2"/>
          </a:solidFill>
          <a:ln w="12700">
            <a:solidFill>
              <a:srgbClr val="B4D9E3"/>
            </a:solidFill>
            <a:prstDash val="solid"/>
          </a:ln>
        </p:spPr>
      </p:sp>
      <p:sp>
        <p:nvSpPr>
          <p:cNvPr id="7" name="Shape 5"/>
          <p:cNvSpPr/>
          <p:nvPr/>
        </p:nvSpPr>
        <p:spPr>
          <a:xfrm>
            <a:off x="663590" y="2720889"/>
            <a:ext cx="536433" cy="1549359"/>
          </a:xfrm>
          <a:prstGeom prst="rect">
            <a:avLst/>
          </a:prstGeom>
          <a:solidFill>
            <a:srgbClr val="43A3A3"/>
          </a:solidFill>
          <a:ln w="12700">
            <a:solidFill>
              <a:srgbClr val="43A3A3"/>
            </a:solidFill>
            <a:prstDash val="solid"/>
          </a:ln>
        </p:spPr>
      </p:sp>
      <p:sp>
        <p:nvSpPr>
          <p:cNvPr id="8" name="Text 6"/>
          <p:cNvSpPr txBox="1"/>
          <p:nvPr/>
        </p:nvSpPr>
        <p:spPr>
          <a:xfrm>
            <a:off x="54864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70.6%</a:t>
            </a:r>
            <a:endParaRPr lang="en-US" sz="1100" dirty="0"/>
          </a:p>
        </p:txBody>
      </p:sp>
      <p:sp>
        <p:nvSpPr>
          <p:cNvPr id="9" name="Text 7"/>
          <p:cNvSpPr txBox="1"/>
          <p:nvPr/>
        </p:nvSpPr>
        <p:spPr>
          <a:xfrm>
            <a:off x="54864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SUN</a:t>
            </a:r>
            <a:endParaRPr lang="en-US" sz="900" dirty="0"/>
          </a:p>
        </p:txBody>
      </p:sp>
      <p:sp>
        <p:nvSpPr>
          <p:cNvPr id="10" name="Shape 8"/>
          <p:cNvSpPr/>
          <p:nvPr/>
        </p:nvSpPr>
        <p:spPr>
          <a:xfrm>
            <a:off x="1429922" y="2075688"/>
            <a:ext cx="536433" cy="2194560"/>
          </a:xfrm>
          <a:prstGeom prst="rect">
            <a:avLst/>
          </a:prstGeom>
          <a:solidFill>
            <a:srgbClr val="F9F9F2"/>
          </a:solidFill>
          <a:ln w="12700">
            <a:solidFill>
              <a:srgbClr val="B4D9E3"/>
            </a:solidFill>
            <a:prstDash val="solid"/>
          </a:ln>
        </p:spPr>
      </p:sp>
      <p:sp>
        <p:nvSpPr>
          <p:cNvPr id="11" name="Shape 9"/>
          <p:cNvSpPr/>
          <p:nvPr/>
        </p:nvSpPr>
        <p:spPr>
          <a:xfrm>
            <a:off x="1429922" y="2723083"/>
            <a:ext cx="536433" cy="1547165"/>
          </a:xfrm>
          <a:prstGeom prst="rect">
            <a:avLst/>
          </a:prstGeom>
          <a:solidFill>
            <a:srgbClr val="43A3A3"/>
          </a:solidFill>
          <a:ln w="12700">
            <a:solidFill>
              <a:srgbClr val="43A3A3"/>
            </a:solidFill>
            <a:prstDash val="solid"/>
          </a:ln>
        </p:spPr>
      </p:sp>
      <p:sp>
        <p:nvSpPr>
          <p:cNvPr id="12" name="Text 10"/>
          <p:cNvSpPr txBox="1"/>
          <p:nvPr/>
        </p:nvSpPr>
        <p:spPr>
          <a:xfrm>
            <a:off x="131497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70.5%</a:t>
            </a:r>
            <a:endParaRPr lang="en-US" sz="1100" dirty="0"/>
          </a:p>
        </p:txBody>
      </p:sp>
      <p:sp>
        <p:nvSpPr>
          <p:cNvPr id="13" name="Text 11"/>
          <p:cNvSpPr txBox="1"/>
          <p:nvPr/>
        </p:nvSpPr>
        <p:spPr>
          <a:xfrm>
            <a:off x="131497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MON</a:t>
            </a:r>
            <a:endParaRPr lang="en-US" sz="900" dirty="0"/>
          </a:p>
        </p:txBody>
      </p:sp>
      <p:sp>
        <p:nvSpPr>
          <p:cNvPr id="14" name="Shape 12"/>
          <p:cNvSpPr/>
          <p:nvPr/>
        </p:nvSpPr>
        <p:spPr>
          <a:xfrm>
            <a:off x="2196255" y="2075688"/>
            <a:ext cx="536433" cy="2194560"/>
          </a:xfrm>
          <a:prstGeom prst="rect">
            <a:avLst/>
          </a:prstGeom>
          <a:solidFill>
            <a:srgbClr val="F9F9F2"/>
          </a:solidFill>
          <a:ln w="12700">
            <a:solidFill>
              <a:srgbClr val="B4D9E3"/>
            </a:solidFill>
            <a:prstDash val="solid"/>
          </a:ln>
        </p:spPr>
      </p:sp>
      <p:sp>
        <p:nvSpPr>
          <p:cNvPr id="15" name="Shape 13"/>
          <p:cNvSpPr/>
          <p:nvPr/>
        </p:nvSpPr>
        <p:spPr>
          <a:xfrm>
            <a:off x="2196255" y="2639690"/>
            <a:ext cx="536433" cy="1630558"/>
          </a:xfrm>
          <a:prstGeom prst="rect">
            <a:avLst/>
          </a:prstGeom>
          <a:solidFill>
            <a:srgbClr val="B4D9E3"/>
          </a:solidFill>
          <a:ln w="12700">
            <a:solidFill>
              <a:srgbClr val="B4D9E3"/>
            </a:solidFill>
            <a:prstDash val="solid"/>
          </a:ln>
        </p:spPr>
      </p:sp>
      <p:sp>
        <p:nvSpPr>
          <p:cNvPr id="16" name="Text 14"/>
          <p:cNvSpPr txBox="1"/>
          <p:nvPr/>
        </p:nvSpPr>
        <p:spPr>
          <a:xfrm>
            <a:off x="208130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74.3%</a:t>
            </a:r>
            <a:endParaRPr lang="en-US" sz="1100" dirty="0"/>
          </a:p>
        </p:txBody>
      </p:sp>
      <p:sp>
        <p:nvSpPr>
          <p:cNvPr id="17" name="Text 15"/>
          <p:cNvSpPr txBox="1"/>
          <p:nvPr/>
        </p:nvSpPr>
        <p:spPr>
          <a:xfrm>
            <a:off x="208130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TUE</a:t>
            </a:r>
            <a:endParaRPr lang="en-US" sz="900" dirty="0"/>
          </a:p>
        </p:txBody>
      </p:sp>
      <p:sp>
        <p:nvSpPr>
          <p:cNvPr id="18" name="Shape 16"/>
          <p:cNvSpPr/>
          <p:nvPr/>
        </p:nvSpPr>
        <p:spPr>
          <a:xfrm>
            <a:off x="2962587" y="2075688"/>
            <a:ext cx="536433" cy="2194560"/>
          </a:xfrm>
          <a:prstGeom prst="rect">
            <a:avLst/>
          </a:prstGeom>
          <a:solidFill>
            <a:srgbClr val="F9F9F2"/>
          </a:solidFill>
          <a:ln w="12700">
            <a:solidFill>
              <a:srgbClr val="B4D9E3"/>
            </a:solidFill>
            <a:prstDash val="solid"/>
          </a:ln>
        </p:spPr>
      </p:sp>
      <p:sp>
        <p:nvSpPr>
          <p:cNvPr id="19" name="Shape 17"/>
          <p:cNvSpPr/>
          <p:nvPr/>
        </p:nvSpPr>
        <p:spPr>
          <a:xfrm>
            <a:off x="2962587" y="2584826"/>
            <a:ext cx="536433" cy="1685422"/>
          </a:xfrm>
          <a:prstGeom prst="rect">
            <a:avLst/>
          </a:prstGeom>
          <a:solidFill>
            <a:srgbClr val="B4D9E3"/>
          </a:solidFill>
          <a:ln w="12700">
            <a:solidFill>
              <a:srgbClr val="B4D9E3"/>
            </a:solidFill>
            <a:prstDash val="solid"/>
          </a:ln>
        </p:spPr>
      </p:sp>
      <p:sp>
        <p:nvSpPr>
          <p:cNvPr id="20" name="Text 18"/>
          <p:cNvSpPr txBox="1"/>
          <p:nvPr/>
        </p:nvSpPr>
        <p:spPr>
          <a:xfrm>
            <a:off x="2847638"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76.8%</a:t>
            </a:r>
            <a:endParaRPr lang="en-US" sz="1100" dirty="0"/>
          </a:p>
        </p:txBody>
      </p:sp>
      <p:sp>
        <p:nvSpPr>
          <p:cNvPr id="21" name="Text 19"/>
          <p:cNvSpPr txBox="1"/>
          <p:nvPr/>
        </p:nvSpPr>
        <p:spPr>
          <a:xfrm>
            <a:off x="2847638"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WED</a:t>
            </a:r>
            <a:endParaRPr lang="en-US" sz="900" dirty="0"/>
          </a:p>
        </p:txBody>
      </p:sp>
      <p:sp>
        <p:nvSpPr>
          <p:cNvPr id="22" name="Shape 20"/>
          <p:cNvSpPr/>
          <p:nvPr/>
        </p:nvSpPr>
        <p:spPr>
          <a:xfrm>
            <a:off x="3728920" y="2075688"/>
            <a:ext cx="536433" cy="2194560"/>
          </a:xfrm>
          <a:prstGeom prst="rect">
            <a:avLst/>
          </a:prstGeom>
          <a:solidFill>
            <a:srgbClr val="F9F9F2"/>
          </a:solidFill>
          <a:ln w="12700">
            <a:solidFill>
              <a:srgbClr val="B4D9E3"/>
            </a:solidFill>
            <a:prstDash val="solid"/>
          </a:ln>
        </p:spPr>
      </p:sp>
      <p:sp>
        <p:nvSpPr>
          <p:cNvPr id="23" name="Shape 21"/>
          <p:cNvSpPr/>
          <p:nvPr/>
        </p:nvSpPr>
        <p:spPr>
          <a:xfrm>
            <a:off x="3728920" y="2510211"/>
            <a:ext cx="536433" cy="1760037"/>
          </a:xfrm>
          <a:prstGeom prst="rect">
            <a:avLst/>
          </a:prstGeom>
          <a:solidFill>
            <a:srgbClr val="B4D9E3"/>
          </a:solidFill>
          <a:ln w="12700">
            <a:solidFill>
              <a:srgbClr val="B4D9E3"/>
            </a:solidFill>
            <a:prstDash val="solid"/>
          </a:ln>
        </p:spPr>
      </p:sp>
      <p:sp>
        <p:nvSpPr>
          <p:cNvPr id="24" name="Text 22"/>
          <p:cNvSpPr txBox="1"/>
          <p:nvPr/>
        </p:nvSpPr>
        <p:spPr>
          <a:xfrm>
            <a:off x="361397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80.2%</a:t>
            </a:r>
            <a:endParaRPr lang="en-US" sz="1100" dirty="0"/>
          </a:p>
        </p:txBody>
      </p:sp>
      <p:sp>
        <p:nvSpPr>
          <p:cNvPr id="25" name="Text 23"/>
          <p:cNvSpPr txBox="1"/>
          <p:nvPr/>
        </p:nvSpPr>
        <p:spPr>
          <a:xfrm>
            <a:off x="361397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THU</a:t>
            </a:r>
            <a:endParaRPr lang="en-US" sz="900" dirty="0"/>
          </a:p>
        </p:txBody>
      </p:sp>
      <p:sp>
        <p:nvSpPr>
          <p:cNvPr id="26" name="Shape 24"/>
          <p:cNvSpPr/>
          <p:nvPr/>
        </p:nvSpPr>
        <p:spPr>
          <a:xfrm>
            <a:off x="4495252" y="2075688"/>
            <a:ext cx="536433" cy="2194560"/>
          </a:xfrm>
          <a:prstGeom prst="rect">
            <a:avLst/>
          </a:prstGeom>
          <a:solidFill>
            <a:srgbClr val="F9F9F2"/>
          </a:solidFill>
          <a:ln w="12700">
            <a:solidFill>
              <a:srgbClr val="B4D9E3"/>
            </a:solidFill>
            <a:prstDash val="solid"/>
          </a:ln>
        </p:spPr>
      </p:sp>
      <p:sp>
        <p:nvSpPr>
          <p:cNvPr id="27" name="Shape 25"/>
          <p:cNvSpPr/>
          <p:nvPr/>
        </p:nvSpPr>
        <p:spPr>
          <a:xfrm>
            <a:off x="4495252" y="2389510"/>
            <a:ext cx="536433" cy="1880738"/>
          </a:xfrm>
          <a:prstGeom prst="rect">
            <a:avLst/>
          </a:prstGeom>
          <a:solidFill>
            <a:srgbClr val="B4D9E3"/>
          </a:solidFill>
          <a:ln w="12700">
            <a:solidFill>
              <a:srgbClr val="B4D9E3"/>
            </a:solidFill>
            <a:prstDash val="solid"/>
          </a:ln>
        </p:spPr>
      </p:sp>
      <p:sp>
        <p:nvSpPr>
          <p:cNvPr id="28" name="Text 26"/>
          <p:cNvSpPr txBox="1"/>
          <p:nvPr/>
        </p:nvSpPr>
        <p:spPr>
          <a:xfrm>
            <a:off x="438030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85.7%</a:t>
            </a:r>
            <a:endParaRPr lang="en-US" sz="1100" dirty="0"/>
          </a:p>
        </p:txBody>
      </p:sp>
      <p:sp>
        <p:nvSpPr>
          <p:cNvPr id="29" name="Text 27"/>
          <p:cNvSpPr txBox="1"/>
          <p:nvPr/>
        </p:nvSpPr>
        <p:spPr>
          <a:xfrm>
            <a:off x="438030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FRI</a:t>
            </a:r>
            <a:endParaRPr lang="en-US" sz="900" dirty="0"/>
          </a:p>
        </p:txBody>
      </p:sp>
      <p:sp>
        <p:nvSpPr>
          <p:cNvPr id="30" name="Shape 28"/>
          <p:cNvSpPr/>
          <p:nvPr/>
        </p:nvSpPr>
        <p:spPr>
          <a:xfrm>
            <a:off x="5261585" y="2075688"/>
            <a:ext cx="536433" cy="2194560"/>
          </a:xfrm>
          <a:prstGeom prst="rect">
            <a:avLst/>
          </a:prstGeom>
          <a:solidFill>
            <a:srgbClr val="F9F9F2"/>
          </a:solidFill>
          <a:ln w="12700">
            <a:solidFill>
              <a:srgbClr val="B4D9E3"/>
            </a:solidFill>
            <a:prstDash val="solid"/>
          </a:ln>
        </p:spPr>
      </p:sp>
      <p:sp>
        <p:nvSpPr>
          <p:cNvPr id="31" name="Shape 29"/>
          <p:cNvSpPr/>
          <p:nvPr/>
        </p:nvSpPr>
        <p:spPr>
          <a:xfrm>
            <a:off x="5261585" y="2365370"/>
            <a:ext cx="536433" cy="1904878"/>
          </a:xfrm>
          <a:prstGeom prst="rect">
            <a:avLst/>
          </a:prstGeom>
          <a:solidFill>
            <a:srgbClr val="B4D9E3"/>
          </a:solidFill>
          <a:ln w="12700">
            <a:solidFill>
              <a:srgbClr val="B4D9E3"/>
            </a:solidFill>
            <a:prstDash val="solid"/>
          </a:ln>
        </p:spPr>
      </p:sp>
      <p:sp>
        <p:nvSpPr>
          <p:cNvPr id="32" name="Text 30"/>
          <p:cNvSpPr txBox="1"/>
          <p:nvPr/>
        </p:nvSpPr>
        <p:spPr>
          <a:xfrm>
            <a:off x="514663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86.8%</a:t>
            </a:r>
            <a:endParaRPr lang="en-US" sz="1100" dirty="0"/>
          </a:p>
        </p:txBody>
      </p:sp>
      <p:sp>
        <p:nvSpPr>
          <p:cNvPr id="33" name="Text 31"/>
          <p:cNvSpPr txBox="1"/>
          <p:nvPr/>
        </p:nvSpPr>
        <p:spPr>
          <a:xfrm>
            <a:off x="514663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SAT</a:t>
            </a:r>
            <a:endParaRPr lang="en-US" sz="900" dirty="0"/>
          </a:p>
        </p:txBody>
      </p:sp>
      <p:sp>
        <p:nvSpPr>
          <p:cNvPr id="34" name="Text 32"/>
          <p:cNvSpPr txBox="1"/>
          <p:nvPr/>
        </p:nvSpPr>
        <p:spPr>
          <a:xfrm>
            <a:off x="6278728"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New hotel supply is a sliver of the market</a:t>
            </a:r>
            <a:endParaRPr lang="en-US" sz="1500" dirty="0"/>
          </a:p>
        </p:txBody>
      </p:sp>
      <p:sp>
        <p:nvSpPr>
          <p:cNvPr id="35" name="Text 33"/>
          <p:cNvSpPr txBox="1"/>
          <p:nvPr/>
        </p:nvSpPr>
        <p:spPr>
          <a:xfrm>
            <a:off x="6278728"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Rooms under construction vs. existing rooms, Orange County</a:t>
            </a:r>
            <a:endParaRPr lang="en-US" sz="950" dirty="0"/>
          </a:p>
        </p:txBody>
      </p:sp>
      <p:sp>
        <p:nvSpPr>
          <p:cNvPr id="36" name="Shape 34"/>
          <p:cNvSpPr/>
          <p:nvPr/>
        </p:nvSpPr>
        <p:spPr>
          <a:xfrm>
            <a:off x="6278728" y="2167128"/>
            <a:ext cx="5364328" cy="731520"/>
          </a:xfrm>
          <a:prstGeom prst="rect">
            <a:avLst/>
          </a:prstGeom>
          <a:solidFill>
            <a:srgbClr val="B4D9E3"/>
          </a:solidFill>
          <a:ln w="12700">
            <a:solidFill>
              <a:srgbClr val="B4D9E3"/>
            </a:solidFill>
            <a:prstDash val="solid"/>
          </a:ln>
        </p:spPr>
      </p:sp>
      <p:sp>
        <p:nvSpPr>
          <p:cNvPr id="37" name="Shape 35"/>
          <p:cNvSpPr/>
          <p:nvPr/>
        </p:nvSpPr>
        <p:spPr>
          <a:xfrm>
            <a:off x="6278728" y="2167128"/>
            <a:ext cx="59008" cy="731520"/>
          </a:xfrm>
          <a:prstGeom prst="rect">
            <a:avLst/>
          </a:prstGeom>
          <a:solidFill>
            <a:srgbClr val="125C60"/>
          </a:solidFill>
          <a:ln w="12700">
            <a:solidFill>
              <a:srgbClr val="125C60"/>
            </a:solidFill>
            <a:prstDash val="solid"/>
          </a:ln>
        </p:spPr>
      </p:sp>
      <p:sp>
        <p:nvSpPr>
          <p:cNvPr id="38" name="Text 36"/>
          <p:cNvSpPr txBox="1"/>
          <p:nvPr/>
        </p:nvSpPr>
        <p:spPr>
          <a:xfrm>
            <a:off x="6278728" y="3035808"/>
            <a:ext cx="2682164"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668 </a:t>
            </a:r>
            <a:pPr indent="0" marL="0">
              <a:buNone/>
            </a:pPr>
            <a:r>
              <a:rPr lang="en-US" sz="1100" dirty="0">
                <a:solidFill>
                  <a:srgbClr val="231F20"/>
                </a:solidFill>
                <a:latin typeface="Proxima Nova" pitchFamily="34" charset="0"/>
                <a:ea typeface="Proxima Nova" pitchFamily="34" charset="-122"/>
                <a:cs typeface="Proxima Nova" pitchFamily="34" charset="-120"/>
              </a:rPr>
              <a:t>rooms under construction (1.1%)</a:t>
            </a:r>
            <a:endParaRPr lang="en-US" sz="1800" dirty="0"/>
          </a:p>
        </p:txBody>
      </p:sp>
      <p:sp>
        <p:nvSpPr>
          <p:cNvPr id="39" name="Text 37"/>
          <p:cNvSpPr txBox="1"/>
          <p:nvPr/>
        </p:nvSpPr>
        <p:spPr>
          <a:xfrm>
            <a:off x="8960891" y="3035808"/>
            <a:ext cx="2682164"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60,223 </a:t>
            </a:r>
            <a:pPr algn="r" indent="0" marL="0">
              <a:buNone/>
            </a:pPr>
            <a:r>
              <a:rPr lang="en-US" sz="1100" dirty="0">
                <a:solidFill>
                  <a:srgbClr val="231F20"/>
                </a:solidFill>
                <a:latin typeface="Proxima Nova" pitchFamily="34" charset="0"/>
                <a:ea typeface="Proxima Nova" pitchFamily="34" charset="-122"/>
                <a:cs typeface="Proxima Nova" pitchFamily="34" charset="-120"/>
              </a:rPr>
              <a:t>existing rooms</a:t>
            </a:r>
            <a:endParaRPr lang="en-US" sz="1800" dirty="0"/>
          </a:p>
        </p:txBody>
      </p:sp>
      <p:sp>
        <p:nvSpPr>
          <p:cNvPr id="40" name="Text 38"/>
          <p:cNvSpPr txBox="1"/>
          <p:nvPr/>
        </p:nvSpPr>
        <p:spPr>
          <a:xfrm>
            <a:off x="6278728" y="3538728"/>
            <a:ext cx="536432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668 ÷ 60,223 = 1.1%</a:t>
            </a:r>
            <a:endParaRPr lang="en-US" sz="950" dirty="0"/>
          </a:p>
        </p:txBody>
      </p:sp>
      <p:sp>
        <p:nvSpPr>
          <p:cNvPr id="41" name="Shape 39"/>
          <p:cNvSpPr/>
          <p:nvPr/>
        </p:nvSpPr>
        <p:spPr>
          <a:xfrm>
            <a:off x="548640" y="4937760"/>
            <a:ext cx="11094415" cy="45720"/>
          </a:xfrm>
          <a:prstGeom prst="rect">
            <a:avLst/>
          </a:prstGeom>
          <a:solidFill>
            <a:srgbClr val="125C60"/>
          </a:solidFill>
          <a:ln w="12700">
            <a:solidFill>
              <a:srgbClr val="125C60"/>
            </a:solidFill>
            <a:prstDash val="solid"/>
          </a:ln>
        </p:spPr>
      </p:sp>
      <p:sp>
        <p:nvSpPr>
          <p:cNvPr id="42" name="Text 40"/>
          <p:cNvSpPr txBox="1"/>
          <p:nvPr/>
        </p:nvSpPr>
        <p:spPr>
          <a:xfrm>
            <a:off x="548640" y="50292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43" name="Text 41"/>
          <p:cNvSpPr txBox="1"/>
          <p:nvPr/>
        </p:nvSpPr>
        <p:spPr>
          <a:xfrm>
            <a:off x="548640" y="5285232"/>
            <a:ext cx="11094415" cy="59436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4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CoStar (data through Aug. 2026; pulled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145"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217"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47"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Most Anaheim visitors come for the day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Day and overnight visitors, calendar 2025</a:t>
            </a:r>
            <a:endParaRPr lang="en-US" sz="950" dirty="0"/>
          </a:p>
        </p:txBody>
      </p:sp>
      <p:sp>
        <p:nvSpPr>
          <p:cNvPr id="6" name="Shape 4"/>
          <p:cNvSpPr/>
          <p:nvPr/>
        </p:nvSpPr>
        <p:spPr>
          <a:xfrm>
            <a:off x="548640" y="2167128"/>
            <a:ext cx="11094415" cy="731520"/>
          </a:xfrm>
          <a:prstGeom prst="rect">
            <a:avLst/>
          </a:prstGeom>
          <a:solidFill>
            <a:srgbClr val="B4D9E3"/>
          </a:solidFill>
          <a:ln w="12700">
            <a:solidFill>
              <a:srgbClr val="B4D9E3"/>
            </a:solidFill>
            <a:prstDash val="solid"/>
          </a:ln>
        </p:spPr>
      </p:sp>
      <p:sp>
        <p:nvSpPr>
          <p:cNvPr id="7" name="Shape 5"/>
          <p:cNvSpPr/>
          <p:nvPr/>
        </p:nvSpPr>
        <p:spPr>
          <a:xfrm>
            <a:off x="548640" y="2167128"/>
            <a:ext cx="3605685"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5547208"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8.6M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(32.5%)</a:t>
            </a:r>
            <a:endParaRPr lang="en-US" sz="1800" dirty="0"/>
          </a:p>
        </p:txBody>
      </p:sp>
      <p:sp>
        <p:nvSpPr>
          <p:cNvPr id="9" name="Text 7"/>
          <p:cNvSpPr txBox="1"/>
          <p:nvPr/>
        </p:nvSpPr>
        <p:spPr>
          <a:xfrm>
            <a:off x="6095848" y="3035808"/>
            <a:ext cx="5547208"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26.5M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(17.9M day visitors)</a:t>
            </a:r>
            <a:endParaRPr lang="en-US" sz="1800" dirty="0"/>
          </a:p>
        </p:txBody>
      </p:sp>
      <p:sp>
        <p:nvSpPr>
          <p:cNvPr id="10" name="Text 8"/>
          <p:cNvSpPr txBox="1"/>
          <p:nvPr/>
        </p:nvSpPr>
        <p:spPr>
          <a:xfrm>
            <a:off x="548640" y="3538728"/>
            <a:ext cx="11094415"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8.6M ÷ 26.5M = 32.5%; day visitors 17.9M ÷ 26.5M = 67.5%</a:t>
            </a:r>
            <a:endParaRPr lang="en-US" sz="950" dirty="0"/>
          </a:p>
        </p:txBody>
      </p:sp>
      <p:sp>
        <p:nvSpPr>
          <p:cNvPr id="11" name="Shape 9"/>
          <p:cNvSpPr/>
          <p:nvPr/>
        </p:nvSpPr>
        <p:spPr>
          <a:xfrm>
            <a:off x="548640" y="4023360"/>
            <a:ext cx="11094415" cy="45720"/>
          </a:xfrm>
          <a:prstGeom prst="rect">
            <a:avLst/>
          </a:prstGeom>
          <a:solidFill>
            <a:srgbClr val="125C60"/>
          </a:solidFill>
          <a:ln w="12700">
            <a:solidFill>
              <a:srgbClr val="125C60"/>
            </a:solidFill>
            <a:prstDash val="solid"/>
          </a:ln>
        </p:spPr>
      </p:sp>
      <p:sp>
        <p:nvSpPr>
          <p:cNvPr id="12" name="Text 10"/>
          <p:cNvSpPr txBox="1"/>
          <p:nvPr/>
        </p:nvSpPr>
        <p:spPr>
          <a:xfrm>
            <a:off x="548640" y="41148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13" name="Text 11"/>
          <p:cNvSpPr txBox="1"/>
          <p:nvPr/>
        </p:nvSpPr>
        <p:spPr>
          <a:xfrm>
            <a:off x="548640" y="437083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Visit Anaheim BI, Extra Night study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ARTIC departures: weekday OCTA bus trips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OCTA schedules, Aug. 9–Nov. 7, 2026 · beside OC Vibe at 2626 E. Katella Ave.</a:t>
            </a:r>
            <a:endParaRPr lang="en-US" sz="950" dirty="0"/>
          </a:p>
        </p:txBody>
      </p:sp>
      <p:sp>
        <p:nvSpPr>
          <p:cNvPr id="6" name="Shape 4"/>
          <p:cNvSpPr/>
          <p:nvPr/>
        </p:nvSpPr>
        <p:spPr>
          <a:xfrm>
            <a:off x="548640" y="2075688"/>
            <a:ext cx="11094415" cy="2148840"/>
          </a:xfrm>
          <a:prstGeom prst="roundRect">
            <a:avLst>
              <a:gd name="adj" fmla="val 2553"/>
            </a:avLst>
          </a:prstGeom>
          <a:solidFill>
            <a:srgbClr val="125C60"/>
          </a:solidFill>
          <a:ln w="12700">
            <a:solidFill>
              <a:srgbClr val="125C60"/>
            </a:solidFill>
            <a:prstDash val="solid"/>
          </a:ln>
        </p:spPr>
      </p:sp>
      <p:sp>
        <p:nvSpPr>
          <p:cNvPr id="7" name="Text 5"/>
          <p:cNvSpPr txBox="1"/>
          <p:nvPr/>
        </p:nvSpPr>
        <p:spPr>
          <a:xfrm>
            <a:off x="7315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ROUTE</a:t>
            </a:r>
            <a:endParaRPr lang="en-US" sz="900" dirty="0"/>
          </a:p>
        </p:txBody>
      </p:sp>
      <p:sp>
        <p:nvSpPr>
          <p:cNvPr id="8" name="Text 6"/>
          <p:cNvSpPr txBox="1"/>
          <p:nvPr/>
        </p:nvSpPr>
        <p:spPr>
          <a:xfrm>
            <a:off x="16459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CORRIDOR</a:t>
            </a:r>
            <a:endParaRPr lang="en-US" sz="900" dirty="0"/>
          </a:p>
        </p:txBody>
      </p:sp>
      <p:sp>
        <p:nvSpPr>
          <p:cNvPr id="9" name="Text 7"/>
          <p:cNvSpPr txBox="1"/>
          <p:nvPr/>
        </p:nvSpPr>
        <p:spPr>
          <a:xfrm>
            <a:off x="7427177"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WEEKDAY TRIPS</a:t>
            </a:r>
            <a:endParaRPr lang="en-US" sz="900" dirty="0"/>
          </a:p>
        </p:txBody>
      </p:sp>
      <p:sp>
        <p:nvSpPr>
          <p:cNvPr id="10" name="Shape 8"/>
          <p:cNvSpPr/>
          <p:nvPr/>
        </p:nvSpPr>
        <p:spPr>
          <a:xfrm>
            <a:off x="731520" y="2532888"/>
            <a:ext cx="685800" cy="310896"/>
          </a:xfrm>
          <a:prstGeom prst="roundRect">
            <a:avLst>
              <a:gd name="adj" fmla="val 11765"/>
            </a:avLst>
          </a:prstGeom>
          <a:solidFill>
            <a:srgbClr val="43A3A3"/>
          </a:solidFill>
          <a:ln w="12700">
            <a:solidFill>
              <a:srgbClr val="FFFFFF"/>
            </a:solidFill>
            <a:prstDash val="solid"/>
          </a:ln>
        </p:spPr>
      </p:sp>
      <p:sp>
        <p:nvSpPr>
          <p:cNvPr id="11" name="Text 9"/>
          <p:cNvSpPr txBox="1"/>
          <p:nvPr/>
        </p:nvSpPr>
        <p:spPr>
          <a:xfrm>
            <a:off x="731520" y="253288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50</a:t>
            </a:r>
            <a:endParaRPr lang="en-US" sz="1300" dirty="0"/>
          </a:p>
        </p:txBody>
      </p:sp>
      <p:sp>
        <p:nvSpPr>
          <p:cNvPr id="12" name="Text 10"/>
          <p:cNvSpPr txBox="1"/>
          <p:nvPr/>
        </p:nvSpPr>
        <p:spPr>
          <a:xfrm>
            <a:off x="1645920" y="253288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Long Beach–Orange via Katella Ave</a:t>
            </a:r>
            <a:endParaRPr lang="en-US" sz="1100" dirty="0"/>
          </a:p>
        </p:txBody>
      </p:sp>
      <p:sp>
        <p:nvSpPr>
          <p:cNvPr id="13" name="Shape 11"/>
          <p:cNvSpPr/>
          <p:nvPr/>
        </p:nvSpPr>
        <p:spPr>
          <a:xfrm>
            <a:off x="7427177" y="2642616"/>
            <a:ext cx="3263063" cy="91440"/>
          </a:xfrm>
          <a:prstGeom prst="rect">
            <a:avLst/>
          </a:prstGeom>
          <a:solidFill>
            <a:srgbClr val="B4D9E3"/>
          </a:solidFill>
          <a:ln w="12700">
            <a:solidFill>
              <a:srgbClr val="B4D9E3"/>
            </a:solidFill>
            <a:prstDash val="solid"/>
          </a:ln>
        </p:spPr>
      </p:sp>
      <p:sp>
        <p:nvSpPr>
          <p:cNvPr id="14" name="Text 12"/>
          <p:cNvSpPr txBox="1"/>
          <p:nvPr/>
        </p:nvSpPr>
        <p:spPr>
          <a:xfrm>
            <a:off x="10820095" y="253288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100</a:t>
            </a:r>
            <a:endParaRPr lang="en-US" sz="1400" dirty="0"/>
          </a:p>
        </p:txBody>
      </p:sp>
      <p:sp>
        <p:nvSpPr>
          <p:cNvPr id="15" name="Shape 13"/>
          <p:cNvSpPr/>
          <p:nvPr/>
        </p:nvSpPr>
        <p:spPr>
          <a:xfrm>
            <a:off x="731520" y="2944368"/>
            <a:ext cx="685800" cy="310896"/>
          </a:xfrm>
          <a:prstGeom prst="roundRect">
            <a:avLst>
              <a:gd name="adj" fmla="val 11765"/>
            </a:avLst>
          </a:prstGeom>
          <a:solidFill>
            <a:srgbClr val="43A3A3"/>
          </a:solidFill>
          <a:ln w="12700">
            <a:solidFill>
              <a:srgbClr val="FFFFFF"/>
            </a:solidFill>
            <a:prstDash val="solid"/>
          </a:ln>
        </p:spPr>
      </p:sp>
      <p:sp>
        <p:nvSpPr>
          <p:cNvPr id="16" name="Text 14"/>
          <p:cNvSpPr txBox="1"/>
          <p:nvPr/>
        </p:nvSpPr>
        <p:spPr>
          <a:xfrm>
            <a:off x="731520" y="294436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53</a:t>
            </a:r>
            <a:endParaRPr lang="en-US" sz="1300" dirty="0"/>
          </a:p>
        </p:txBody>
      </p:sp>
      <p:sp>
        <p:nvSpPr>
          <p:cNvPr id="17" name="Text 15"/>
          <p:cNvSpPr txBox="1"/>
          <p:nvPr/>
        </p:nvSpPr>
        <p:spPr>
          <a:xfrm>
            <a:off x="1645920" y="294436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Anaheim–Irvine via Main St</a:t>
            </a:r>
            <a:endParaRPr lang="en-US" sz="1100" dirty="0"/>
          </a:p>
        </p:txBody>
      </p:sp>
      <p:sp>
        <p:nvSpPr>
          <p:cNvPr id="18" name="Shape 16"/>
          <p:cNvSpPr/>
          <p:nvPr/>
        </p:nvSpPr>
        <p:spPr>
          <a:xfrm>
            <a:off x="7427177" y="3054096"/>
            <a:ext cx="3328325" cy="91440"/>
          </a:xfrm>
          <a:prstGeom prst="rect">
            <a:avLst/>
          </a:prstGeom>
          <a:solidFill>
            <a:srgbClr val="B4D9E3"/>
          </a:solidFill>
          <a:ln w="12700">
            <a:solidFill>
              <a:srgbClr val="B4D9E3"/>
            </a:solidFill>
            <a:prstDash val="solid"/>
          </a:ln>
        </p:spPr>
      </p:sp>
      <p:sp>
        <p:nvSpPr>
          <p:cNvPr id="19" name="Text 17"/>
          <p:cNvSpPr txBox="1"/>
          <p:nvPr/>
        </p:nvSpPr>
        <p:spPr>
          <a:xfrm>
            <a:off x="10820095" y="294436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102</a:t>
            </a:r>
            <a:endParaRPr lang="en-US" sz="1400" dirty="0"/>
          </a:p>
        </p:txBody>
      </p:sp>
      <p:sp>
        <p:nvSpPr>
          <p:cNvPr id="20" name="Shape 18"/>
          <p:cNvSpPr/>
          <p:nvPr/>
        </p:nvSpPr>
        <p:spPr>
          <a:xfrm>
            <a:off x="731520" y="3355848"/>
            <a:ext cx="685800" cy="310896"/>
          </a:xfrm>
          <a:prstGeom prst="roundRect">
            <a:avLst>
              <a:gd name="adj" fmla="val 11765"/>
            </a:avLst>
          </a:prstGeom>
          <a:solidFill>
            <a:srgbClr val="43A3A3"/>
          </a:solidFill>
          <a:ln w="12700">
            <a:solidFill>
              <a:srgbClr val="FFFFFF"/>
            </a:solidFill>
            <a:prstDash val="solid"/>
          </a:ln>
        </p:spPr>
      </p:sp>
      <p:sp>
        <p:nvSpPr>
          <p:cNvPr id="21" name="Text 19"/>
          <p:cNvSpPr txBox="1"/>
          <p:nvPr/>
        </p:nvSpPr>
        <p:spPr>
          <a:xfrm>
            <a:off x="731520" y="335584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553</a:t>
            </a:r>
            <a:endParaRPr lang="en-US" sz="1300" dirty="0"/>
          </a:p>
        </p:txBody>
      </p:sp>
      <p:sp>
        <p:nvSpPr>
          <p:cNvPr id="22" name="Text 20"/>
          <p:cNvSpPr txBox="1"/>
          <p:nvPr/>
        </p:nvSpPr>
        <p:spPr>
          <a:xfrm>
            <a:off x="1645920" y="335584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Rapid Anaheim–Costa Mesa via Katella/Main</a:t>
            </a:r>
            <a:endParaRPr lang="en-US" sz="1100" dirty="0"/>
          </a:p>
        </p:txBody>
      </p:sp>
      <p:sp>
        <p:nvSpPr>
          <p:cNvPr id="23" name="Shape 21"/>
          <p:cNvSpPr/>
          <p:nvPr/>
        </p:nvSpPr>
        <p:spPr>
          <a:xfrm>
            <a:off x="7427177" y="3465576"/>
            <a:ext cx="2447297" cy="91440"/>
          </a:xfrm>
          <a:prstGeom prst="rect">
            <a:avLst/>
          </a:prstGeom>
          <a:solidFill>
            <a:srgbClr val="B4D9E3"/>
          </a:solidFill>
          <a:ln w="12700">
            <a:solidFill>
              <a:srgbClr val="B4D9E3"/>
            </a:solidFill>
            <a:prstDash val="solid"/>
          </a:ln>
        </p:spPr>
      </p:sp>
      <p:sp>
        <p:nvSpPr>
          <p:cNvPr id="24" name="Text 22"/>
          <p:cNvSpPr txBox="1"/>
          <p:nvPr/>
        </p:nvSpPr>
        <p:spPr>
          <a:xfrm>
            <a:off x="10820095" y="335584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75</a:t>
            </a:r>
            <a:endParaRPr lang="en-US" sz="1400" dirty="0"/>
          </a:p>
        </p:txBody>
      </p:sp>
      <p:sp>
        <p:nvSpPr>
          <p:cNvPr id="25" name="Shape 23"/>
          <p:cNvSpPr/>
          <p:nvPr/>
        </p:nvSpPr>
        <p:spPr>
          <a:xfrm>
            <a:off x="731520" y="3767328"/>
            <a:ext cx="685800" cy="310896"/>
          </a:xfrm>
          <a:prstGeom prst="roundRect">
            <a:avLst>
              <a:gd name="adj" fmla="val 11765"/>
            </a:avLst>
          </a:prstGeom>
          <a:solidFill>
            <a:srgbClr val="FFFFFF"/>
          </a:solidFill>
          <a:ln w="12700">
            <a:solidFill>
              <a:srgbClr val="FFFFFF"/>
            </a:solidFill>
            <a:prstDash val="solid"/>
          </a:ln>
        </p:spPr>
      </p:sp>
      <p:sp>
        <p:nvSpPr>
          <p:cNvPr id="26" name="Text 24"/>
          <p:cNvSpPr txBox="1"/>
          <p:nvPr/>
        </p:nvSpPr>
        <p:spPr>
          <a:xfrm>
            <a:off x="731520" y="3767328"/>
            <a:ext cx="685800" cy="310896"/>
          </a:xfrm>
          <a:prstGeom prst="rect">
            <a:avLst/>
          </a:prstGeom>
          <a:noFill/>
          <a:ln/>
        </p:spPr>
        <p:txBody>
          <a:bodyPr wrap="square" lIns="0" tIns="0" rIns="0" bIns="0" rtlCol="0" anchor="ctr"/>
          <a:lstStyle/>
          <a:p>
            <a:pPr algn="ctr" indent="0" marL="0">
              <a:buNone/>
            </a:pPr>
            <a:r>
              <a:rPr lang="en-US" sz="1300" b="1" dirty="0">
                <a:solidFill>
                  <a:srgbClr val="125C60"/>
                </a:solidFill>
                <a:latin typeface="Proxima Nova" pitchFamily="34" charset="0"/>
                <a:ea typeface="Proxima Nova" pitchFamily="34" charset="-122"/>
                <a:cs typeface="Proxima Nova" pitchFamily="34" charset="-120"/>
              </a:rPr>
              <a:t>All</a:t>
            </a:r>
            <a:endParaRPr lang="en-US" sz="1300" dirty="0"/>
          </a:p>
        </p:txBody>
      </p:sp>
      <p:sp>
        <p:nvSpPr>
          <p:cNvPr id="27" name="Text 25"/>
          <p:cNvSpPr txBox="1"/>
          <p:nvPr/>
        </p:nvSpPr>
        <p:spPr>
          <a:xfrm>
            <a:off x="1645920" y="376732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All routes (100 + 102 + 75)</a:t>
            </a:r>
            <a:endParaRPr lang="en-US" sz="1100" dirty="0"/>
          </a:p>
        </p:txBody>
      </p:sp>
      <p:sp>
        <p:nvSpPr>
          <p:cNvPr id="28" name="Text 26"/>
          <p:cNvSpPr txBox="1"/>
          <p:nvPr/>
        </p:nvSpPr>
        <p:spPr>
          <a:xfrm>
            <a:off x="10820095" y="376732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277</a:t>
            </a:r>
            <a:endParaRPr lang="en-US" sz="1400" dirty="0"/>
          </a:p>
        </p:txBody>
      </p:sp>
      <p:sp>
        <p:nvSpPr>
          <p:cNvPr id="29" name="Shape 27"/>
          <p:cNvSpPr/>
          <p:nvPr/>
        </p:nvSpPr>
        <p:spPr>
          <a:xfrm>
            <a:off x="548640" y="4361688"/>
            <a:ext cx="3576218" cy="777240"/>
          </a:xfrm>
          <a:prstGeom prst="rect">
            <a:avLst/>
          </a:prstGeom>
          <a:solidFill>
            <a:srgbClr val="FFFFFF"/>
          </a:solidFill>
          <a:ln w="12700">
            <a:solidFill>
              <a:srgbClr val="B4D9E3"/>
            </a:solidFill>
            <a:prstDash val="solid"/>
          </a:ln>
        </p:spPr>
      </p:sp>
      <p:sp>
        <p:nvSpPr>
          <p:cNvPr id="30" name="Text 28"/>
          <p:cNvSpPr txBox="1"/>
          <p:nvPr/>
        </p:nvSpPr>
        <p:spPr>
          <a:xfrm>
            <a:off x="658368"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11</a:t>
            </a:r>
            <a:endParaRPr lang="en-US" sz="1800" dirty="0"/>
          </a:p>
        </p:txBody>
      </p:sp>
      <p:sp>
        <p:nvSpPr>
          <p:cNvPr id="31" name="Text 29"/>
          <p:cNvSpPr txBox="1"/>
          <p:nvPr/>
        </p:nvSpPr>
        <p:spPr>
          <a:xfrm>
            <a:off x="658368"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weekday buses leave after 10 p.m.</a:t>
            </a:r>
            <a:endParaRPr lang="en-US" sz="950" dirty="0"/>
          </a:p>
        </p:txBody>
      </p:sp>
      <p:sp>
        <p:nvSpPr>
          <p:cNvPr id="32" name="Shape 30"/>
          <p:cNvSpPr/>
          <p:nvPr/>
        </p:nvSpPr>
        <p:spPr>
          <a:xfrm>
            <a:off x="4307738" y="4361688"/>
            <a:ext cx="3576218" cy="777240"/>
          </a:xfrm>
          <a:prstGeom prst="rect">
            <a:avLst/>
          </a:prstGeom>
          <a:solidFill>
            <a:srgbClr val="FFFFFF"/>
          </a:solidFill>
          <a:ln w="12700">
            <a:solidFill>
              <a:srgbClr val="B4D9E3"/>
            </a:solidFill>
            <a:prstDash val="solid"/>
          </a:ln>
        </p:spPr>
      </p:sp>
      <p:sp>
        <p:nvSpPr>
          <p:cNvPr id="33" name="Text 31"/>
          <p:cNvSpPr txBox="1"/>
          <p:nvPr/>
        </p:nvSpPr>
        <p:spPr>
          <a:xfrm>
            <a:off x="4417466"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275,000</a:t>
            </a:r>
            <a:endParaRPr lang="en-US" sz="1800" dirty="0"/>
          </a:p>
        </p:txBody>
      </p:sp>
      <p:sp>
        <p:nvSpPr>
          <p:cNvPr id="34" name="Text 32"/>
          <p:cNvSpPr txBox="1"/>
          <p:nvPr/>
        </p:nvSpPr>
        <p:spPr>
          <a:xfrm>
            <a:off x="4417466"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vehicles a weekday on SR-57 (Caltrans 2024)</a:t>
            </a:r>
            <a:endParaRPr lang="en-US" sz="950" dirty="0"/>
          </a:p>
        </p:txBody>
      </p:sp>
      <p:sp>
        <p:nvSpPr>
          <p:cNvPr id="35" name="Shape 33"/>
          <p:cNvSpPr/>
          <p:nvPr/>
        </p:nvSpPr>
        <p:spPr>
          <a:xfrm>
            <a:off x="8066837" y="4361688"/>
            <a:ext cx="3576218" cy="777240"/>
          </a:xfrm>
          <a:prstGeom prst="rect">
            <a:avLst/>
          </a:prstGeom>
          <a:solidFill>
            <a:srgbClr val="FFFFFF"/>
          </a:solidFill>
          <a:ln w="12700">
            <a:solidFill>
              <a:srgbClr val="B4D9E3"/>
            </a:solidFill>
            <a:prstDash val="solid"/>
          </a:ln>
        </p:spPr>
      </p:sp>
      <p:sp>
        <p:nvSpPr>
          <p:cNvPr id="36" name="Text 34"/>
          <p:cNvSpPr txBox="1"/>
          <p:nvPr/>
        </p:nvSpPr>
        <p:spPr>
          <a:xfrm>
            <a:off x="8176565"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191,153</a:t>
            </a:r>
            <a:endParaRPr lang="en-US" sz="1800" dirty="0"/>
          </a:p>
        </p:txBody>
      </p:sp>
      <p:sp>
        <p:nvSpPr>
          <p:cNvPr id="37" name="Text 35"/>
          <p:cNvSpPr txBox="1"/>
          <p:nvPr/>
        </p:nvSpPr>
        <p:spPr>
          <a:xfrm>
            <a:off x="8176565"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Amtrak passengers at Anaheim, 2024</a:t>
            </a:r>
            <a:endParaRPr lang="en-US" sz="950" dirty="0"/>
          </a:p>
        </p:txBody>
      </p:sp>
      <p:sp>
        <p:nvSpPr>
          <p:cNvPr id="3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(Aug. 9–Nov. 7, 2026); OCTA Traffic Flow Map (Aug. 2026); Amtrak ANA fact sheet (2024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77"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79"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81"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85"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travel to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From ad impressions to visits in Anaheim</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 Anaheim paid media, ad exposures Jan. 1–Aug. 31, 2026</a:t>
            </a:r>
            <a:endParaRPr lang="en-US" sz="950" dirty="0"/>
          </a:p>
        </p:txBody>
      </p:sp>
      <p:sp>
        <p:nvSpPr>
          <p:cNvPr id="6" name="Shape 4"/>
          <p:cNvSpPr/>
          <p:nvPr/>
        </p:nvSpPr>
        <p:spPr>
          <a:xfrm flipV="1">
            <a:off x="1103361" y="2075688"/>
            <a:ext cx="9984974" cy="822960"/>
          </a:xfrm>
          <a:prstGeom prst="trapezoid">
            <a:avLst/>
          </a:prstGeom>
          <a:solidFill>
            <a:srgbClr val="B4D9E3"/>
          </a:solidFill>
          <a:ln w="12700">
            <a:solidFill>
              <a:srgbClr val="FFFFFF"/>
            </a:solidFill>
            <a:prstDash val="solid"/>
          </a:ln>
        </p:spPr>
      </p:sp>
      <p:sp>
        <p:nvSpPr>
          <p:cNvPr id="7" name="Text 5"/>
          <p:cNvSpPr txBox="1"/>
          <p:nvPr/>
        </p:nvSpPr>
        <p:spPr>
          <a:xfrm>
            <a:off x="1103361" y="2148840"/>
            <a:ext cx="9984974"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1103361" y="2551176"/>
            <a:ext cx="9984974"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Shape 7"/>
          <p:cNvSpPr/>
          <p:nvPr/>
        </p:nvSpPr>
        <p:spPr>
          <a:xfrm flipV="1">
            <a:off x="3322244" y="2990088"/>
            <a:ext cx="5547208" cy="822960"/>
          </a:xfrm>
          <a:prstGeom prst="trapezoid">
            <a:avLst/>
          </a:prstGeom>
          <a:solidFill>
            <a:srgbClr val="43A3A3"/>
          </a:solidFill>
          <a:ln w="12700">
            <a:solidFill>
              <a:srgbClr val="FFFFFF"/>
            </a:solidFill>
            <a:prstDash val="solid"/>
          </a:ln>
        </p:spPr>
      </p:sp>
      <p:sp>
        <p:nvSpPr>
          <p:cNvPr id="10" name="Text 8"/>
          <p:cNvSpPr txBox="1"/>
          <p:nvPr/>
        </p:nvSpPr>
        <p:spPr>
          <a:xfrm>
            <a:off x="3322244" y="3063240"/>
            <a:ext cx="5547208"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368,416</a:t>
            </a:r>
            <a:endParaRPr lang="en-US" sz="2200" dirty="0"/>
          </a:p>
        </p:txBody>
      </p:sp>
      <p:sp>
        <p:nvSpPr>
          <p:cNvPr id="11" name="Text 9"/>
          <p:cNvSpPr txBox="1"/>
          <p:nvPr/>
        </p:nvSpPr>
        <p:spPr>
          <a:xfrm>
            <a:off x="3322244" y="3465576"/>
            <a:ext cx="5547208"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observed visits (first visit 3+ days after exposure)</a:t>
            </a:r>
            <a:endParaRPr lang="en-US" sz="1000" dirty="0"/>
          </a:p>
        </p:txBody>
      </p:sp>
      <p:sp>
        <p:nvSpPr>
          <p:cNvPr id="12" name="Shape 10"/>
          <p:cNvSpPr/>
          <p:nvPr/>
        </p:nvSpPr>
        <p:spPr>
          <a:xfrm>
            <a:off x="548640" y="4041648"/>
            <a:ext cx="5410048" cy="45720"/>
          </a:xfrm>
          <a:prstGeom prst="rect">
            <a:avLst/>
          </a:prstGeom>
          <a:solidFill>
            <a:srgbClr val="125C60"/>
          </a:solidFill>
          <a:ln w="12700">
            <a:solidFill>
              <a:srgbClr val="125C60"/>
            </a:solidFill>
            <a:prstDash val="solid"/>
          </a:ln>
        </p:spPr>
      </p:sp>
      <p:sp>
        <p:nvSpPr>
          <p:cNvPr id="13" name="Text 11"/>
          <p:cNvSpPr txBox="1"/>
          <p:nvPr/>
        </p:nvSpPr>
        <p:spPr>
          <a:xfrm>
            <a:off x="548640"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11.9</a:t>
            </a:r>
            <a:endParaRPr lang="en-US" sz="2000" dirty="0"/>
          </a:p>
        </p:txBody>
      </p:sp>
      <p:sp>
        <p:nvSpPr>
          <p:cNvPr id="14" name="Text 12"/>
          <p:cNvSpPr txBox="1"/>
          <p:nvPr/>
        </p:nvSpPr>
        <p:spPr>
          <a:xfrm>
            <a:off x="548640"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all campaigns</a:t>
            </a:r>
            <a:endParaRPr lang="en-US" sz="1050" dirty="0"/>
          </a:p>
        </p:txBody>
      </p:sp>
      <p:sp>
        <p:nvSpPr>
          <p:cNvPr id="15" name="Text 13"/>
          <p:cNvSpPr txBox="1"/>
          <p:nvPr/>
        </p:nvSpPr>
        <p:spPr>
          <a:xfrm>
            <a:off x="548640"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368,416 ÷ 31.0M × 1,000</a:t>
            </a:r>
            <a:endParaRPr lang="en-US" sz="900" dirty="0"/>
          </a:p>
        </p:txBody>
      </p:sp>
      <p:sp>
        <p:nvSpPr>
          <p:cNvPr id="16" name="Shape 14"/>
          <p:cNvSpPr/>
          <p:nvPr/>
        </p:nvSpPr>
        <p:spPr>
          <a:xfrm>
            <a:off x="6233008" y="4041648"/>
            <a:ext cx="5410048" cy="45720"/>
          </a:xfrm>
          <a:prstGeom prst="rect">
            <a:avLst/>
          </a:prstGeom>
          <a:solidFill>
            <a:srgbClr val="125C60"/>
          </a:solidFill>
          <a:ln w="12700">
            <a:solidFill>
              <a:srgbClr val="125C60"/>
            </a:solidFill>
            <a:prstDash val="solid"/>
          </a:ln>
        </p:spPr>
      </p:sp>
      <p:sp>
        <p:nvSpPr>
          <p:cNvPr id="17" name="Text 15"/>
          <p:cNvSpPr txBox="1"/>
          <p:nvPr/>
        </p:nvSpPr>
        <p:spPr>
          <a:xfrm>
            <a:off x="6233008"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34.4</a:t>
            </a:r>
            <a:endParaRPr lang="en-US" sz="2000" dirty="0"/>
          </a:p>
        </p:txBody>
      </p:sp>
      <p:sp>
        <p:nvSpPr>
          <p:cNvPr id="18" name="Text 16"/>
          <p:cNvSpPr txBox="1"/>
          <p:nvPr/>
        </p:nvSpPr>
        <p:spPr>
          <a:xfrm>
            <a:off x="6233008"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50" dirty="0"/>
          </a:p>
        </p:txBody>
      </p:sp>
      <p:sp>
        <p:nvSpPr>
          <p:cNvPr id="19" name="Text 17"/>
          <p:cNvSpPr txBox="1"/>
          <p:nvPr/>
        </p:nvSpPr>
        <p:spPr>
          <a:xfrm>
            <a:off x="6233008"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2.9× the all-campaign rate: 34.4 ÷ 11.9</a:t>
            </a:r>
            <a:endParaRPr lang="en-US" sz="900" dirty="0"/>
          </a:p>
        </p:txBody>
      </p:sp>
      <p:sp>
        <p:nvSpPr>
          <p:cNvPr id="2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Anaheim vs. the U.S. and the year ahead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Market Intelligence Reports, Jan.–Sept. 2026</a:t>
            </a:r>
            <a:endParaRPr lang="en-US" sz="950" dirty="0"/>
          </a:p>
        </p:txBody>
      </p:sp>
      <p:sp>
        <p:nvSpPr>
          <p:cNvPr id="6" name="Text 4"/>
          <p:cNvSpPr txBox="1"/>
          <p:nvPr/>
        </p:nvSpPr>
        <p:spPr>
          <a:xfrm>
            <a:off x="548640" y="207568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Hotel revenue per room, Q2 2026</a:t>
            </a:r>
            <a:endParaRPr lang="en-US" sz="1200" dirty="0"/>
          </a:p>
        </p:txBody>
      </p:sp>
      <p:sp>
        <p:nvSpPr>
          <p:cNvPr id="7" name="Shape 5"/>
          <p:cNvSpPr/>
          <p:nvPr/>
        </p:nvSpPr>
        <p:spPr>
          <a:xfrm>
            <a:off x="3474720" y="2121408"/>
            <a:ext cx="8168335" cy="329184"/>
          </a:xfrm>
          <a:prstGeom prst="rect">
            <a:avLst/>
          </a:prstGeom>
          <a:solidFill>
            <a:srgbClr val="F9F9F2"/>
          </a:solidFill>
          <a:ln w="12700">
            <a:solidFill>
              <a:srgbClr val="F9F9F2"/>
            </a:solidFill>
            <a:prstDash val="solid"/>
          </a:ln>
        </p:spPr>
      </p:sp>
      <p:sp>
        <p:nvSpPr>
          <p:cNvPr id="8" name="Shape 6"/>
          <p:cNvSpPr/>
          <p:nvPr/>
        </p:nvSpPr>
        <p:spPr>
          <a:xfrm>
            <a:off x="3474720" y="2121408"/>
            <a:ext cx="5477589" cy="329184"/>
          </a:xfrm>
          <a:prstGeom prst="rect">
            <a:avLst/>
          </a:prstGeom>
          <a:solidFill>
            <a:srgbClr val="43A3A3"/>
          </a:solidFill>
          <a:ln w="12700">
            <a:solidFill>
              <a:srgbClr val="43A3A3"/>
            </a:solidFill>
            <a:prstDash val="solid"/>
          </a:ln>
        </p:spPr>
      </p:sp>
      <p:sp>
        <p:nvSpPr>
          <p:cNvPr id="9" name="Text 7"/>
          <p:cNvSpPr txBox="1"/>
          <p:nvPr/>
        </p:nvSpPr>
        <p:spPr>
          <a:xfrm>
            <a:off x="3566160" y="212140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a:t>
            </a:r>
            <a:pPr indent="0" marL="0">
              <a:buNone/>
            </a:pPr>
            <a:r>
              <a:rPr lang="en-US" sz="1100" b="1" dirty="0">
                <a:solidFill>
                  <a:srgbClr val="231F20"/>
                </a:solidFill>
                <a:latin typeface="Proxima Nova" pitchFamily="34" charset="0"/>
                <a:ea typeface="Proxima Nova" pitchFamily="34" charset="-122"/>
                <a:cs typeface="Proxima Nova" pitchFamily="34" charset="-120"/>
              </a:rPr>
              <a:t>+11.4%</a:t>
            </a:r>
            <a:endParaRPr lang="en-US" sz="1050" dirty="0"/>
          </a:p>
        </p:txBody>
      </p:sp>
      <p:sp>
        <p:nvSpPr>
          <p:cNvPr id="10" name="Shape 8"/>
          <p:cNvSpPr/>
          <p:nvPr/>
        </p:nvSpPr>
        <p:spPr>
          <a:xfrm>
            <a:off x="3474720" y="2505456"/>
            <a:ext cx="8168335" cy="329184"/>
          </a:xfrm>
          <a:prstGeom prst="rect">
            <a:avLst/>
          </a:prstGeom>
          <a:solidFill>
            <a:srgbClr val="F9F9F2"/>
          </a:solidFill>
          <a:ln w="12700">
            <a:solidFill>
              <a:srgbClr val="F9F9F2"/>
            </a:solidFill>
            <a:prstDash val="solid"/>
          </a:ln>
        </p:spPr>
      </p:sp>
      <p:sp>
        <p:nvSpPr>
          <p:cNvPr id="11" name="Shape 9"/>
          <p:cNvSpPr/>
          <p:nvPr/>
        </p:nvSpPr>
        <p:spPr>
          <a:xfrm>
            <a:off x="3474720" y="2505456"/>
            <a:ext cx="2738795" cy="329184"/>
          </a:xfrm>
          <a:prstGeom prst="rect">
            <a:avLst/>
          </a:prstGeom>
          <a:solidFill>
            <a:srgbClr val="B4D9E3"/>
          </a:solidFill>
          <a:ln w="12700">
            <a:solidFill>
              <a:srgbClr val="B4D9E3"/>
            </a:solidFill>
            <a:prstDash val="solid"/>
          </a:ln>
        </p:spPr>
      </p:sp>
      <p:sp>
        <p:nvSpPr>
          <p:cNvPr id="12" name="Text 10"/>
          <p:cNvSpPr txBox="1"/>
          <p:nvPr/>
        </p:nvSpPr>
        <p:spPr>
          <a:xfrm>
            <a:off x="3566160" y="250545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U.S. </a:t>
            </a:r>
            <a:pPr indent="0" marL="0">
              <a:buNone/>
            </a:pPr>
            <a:r>
              <a:rPr lang="en-US" sz="1100" b="1" dirty="0">
                <a:solidFill>
                  <a:srgbClr val="231F20"/>
                </a:solidFill>
                <a:latin typeface="Proxima Nova" pitchFamily="34" charset="0"/>
                <a:ea typeface="Proxima Nova" pitchFamily="34" charset="-122"/>
                <a:cs typeface="Proxima Nova" pitchFamily="34" charset="-120"/>
              </a:rPr>
              <a:t>+5.7%</a:t>
            </a:r>
            <a:endParaRPr lang="en-US" sz="1050" dirty="0"/>
          </a:p>
        </p:txBody>
      </p:sp>
      <p:sp>
        <p:nvSpPr>
          <p:cNvPr id="13" name="Text 11"/>
          <p:cNvSpPr txBox="1"/>
          <p:nvPr/>
        </p:nvSpPr>
        <p:spPr>
          <a:xfrm>
            <a:off x="548640" y="312724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Convention room nights on the books</a:t>
            </a:r>
            <a:endParaRPr lang="en-US" sz="1200" dirty="0"/>
          </a:p>
        </p:txBody>
      </p:sp>
      <p:sp>
        <p:nvSpPr>
          <p:cNvPr id="14" name="Shape 12"/>
          <p:cNvSpPr/>
          <p:nvPr/>
        </p:nvSpPr>
        <p:spPr>
          <a:xfrm>
            <a:off x="3474720" y="3172968"/>
            <a:ext cx="8168335" cy="329184"/>
          </a:xfrm>
          <a:prstGeom prst="rect">
            <a:avLst/>
          </a:prstGeom>
          <a:solidFill>
            <a:srgbClr val="F9F9F2"/>
          </a:solidFill>
          <a:ln w="12700">
            <a:solidFill>
              <a:srgbClr val="F9F9F2"/>
            </a:solidFill>
            <a:prstDash val="solid"/>
          </a:ln>
        </p:spPr>
      </p:sp>
      <p:sp>
        <p:nvSpPr>
          <p:cNvPr id="15" name="Shape 13"/>
          <p:cNvSpPr/>
          <p:nvPr/>
        </p:nvSpPr>
        <p:spPr>
          <a:xfrm>
            <a:off x="3474720" y="3172968"/>
            <a:ext cx="8168335" cy="329184"/>
          </a:xfrm>
          <a:prstGeom prst="rect">
            <a:avLst/>
          </a:prstGeom>
          <a:solidFill>
            <a:srgbClr val="43A3A3"/>
          </a:solidFill>
          <a:ln w="12700">
            <a:solidFill>
              <a:srgbClr val="43A3A3"/>
            </a:solidFill>
            <a:prstDash val="solid"/>
          </a:ln>
        </p:spPr>
      </p:sp>
      <p:sp>
        <p:nvSpPr>
          <p:cNvPr id="16" name="Text 14"/>
          <p:cNvSpPr txBox="1"/>
          <p:nvPr/>
        </p:nvSpPr>
        <p:spPr>
          <a:xfrm>
            <a:off x="3566160" y="317296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2027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+17%</a:t>
            </a:r>
            <a:endParaRPr lang="en-US" sz="1050" dirty="0"/>
          </a:p>
        </p:txBody>
      </p:sp>
      <p:sp>
        <p:nvSpPr>
          <p:cNvPr id="17" name="Shape 15"/>
          <p:cNvSpPr/>
          <p:nvPr/>
        </p:nvSpPr>
        <p:spPr>
          <a:xfrm>
            <a:off x="3474720" y="3557016"/>
            <a:ext cx="8168335" cy="329184"/>
          </a:xfrm>
          <a:prstGeom prst="rect">
            <a:avLst/>
          </a:prstGeom>
          <a:solidFill>
            <a:srgbClr val="F9F9F2"/>
          </a:solidFill>
          <a:ln w="12700">
            <a:solidFill>
              <a:srgbClr val="F9F9F2"/>
            </a:solidFill>
            <a:prstDash val="solid"/>
          </a:ln>
        </p:spPr>
      </p:sp>
      <p:sp>
        <p:nvSpPr>
          <p:cNvPr id="18" name="Shape 16"/>
          <p:cNvSpPr/>
          <p:nvPr/>
        </p:nvSpPr>
        <p:spPr>
          <a:xfrm>
            <a:off x="3474720" y="3557016"/>
            <a:ext cx="5765884" cy="329184"/>
          </a:xfrm>
          <a:prstGeom prst="rect">
            <a:avLst/>
          </a:prstGeom>
          <a:solidFill>
            <a:srgbClr val="B4D9E3"/>
          </a:solidFill>
          <a:ln w="12700">
            <a:solidFill>
              <a:srgbClr val="B4D9E3"/>
            </a:solidFill>
            <a:prstDash val="solid"/>
          </a:ln>
        </p:spPr>
      </p:sp>
      <p:sp>
        <p:nvSpPr>
          <p:cNvPr id="19" name="Text 17"/>
          <p:cNvSpPr txBox="1"/>
          <p:nvPr/>
        </p:nvSpPr>
        <p:spPr>
          <a:xfrm>
            <a:off x="3566160" y="355701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2026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+12%</a:t>
            </a:r>
            <a:endParaRPr lang="en-US" sz="1050" dirty="0"/>
          </a:p>
        </p:txBody>
      </p:sp>
      <p:sp>
        <p:nvSpPr>
          <p:cNvPr id="20" name="Text 18"/>
          <p:cNvSpPr txBox="1"/>
          <p:nvPr/>
        </p:nvSpPr>
        <p:spPr>
          <a:xfrm>
            <a:off x="548640" y="417880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Costs, a year</a:t>
            </a:r>
            <a:endParaRPr lang="en-US" sz="1200" dirty="0"/>
          </a:p>
        </p:txBody>
      </p:sp>
      <p:sp>
        <p:nvSpPr>
          <p:cNvPr id="21" name="Shape 19"/>
          <p:cNvSpPr/>
          <p:nvPr/>
        </p:nvSpPr>
        <p:spPr>
          <a:xfrm>
            <a:off x="3474720" y="4224528"/>
            <a:ext cx="8168335" cy="329184"/>
          </a:xfrm>
          <a:prstGeom prst="rect">
            <a:avLst/>
          </a:prstGeom>
          <a:solidFill>
            <a:srgbClr val="F9F9F2"/>
          </a:solidFill>
          <a:ln w="12700">
            <a:solidFill>
              <a:srgbClr val="F9F9F2"/>
            </a:solidFill>
            <a:prstDash val="solid"/>
          </a:ln>
        </p:spPr>
      </p:sp>
      <p:sp>
        <p:nvSpPr>
          <p:cNvPr id="22" name="Shape 20"/>
          <p:cNvSpPr/>
          <p:nvPr/>
        </p:nvSpPr>
        <p:spPr>
          <a:xfrm>
            <a:off x="3474720" y="4224528"/>
            <a:ext cx="2882942" cy="329184"/>
          </a:xfrm>
          <a:prstGeom prst="rect">
            <a:avLst/>
          </a:prstGeom>
          <a:solidFill>
            <a:srgbClr val="43A3A3"/>
          </a:solidFill>
          <a:ln w="12700">
            <a:solidFill>
              <a:srgbClr val="43A3A3"/>
            </a:solidFill>
            <a:prstDash val="solid"/>
          </a:ln>
        </p:spPr>
      </p:sp>
      <p:sp>
        <p:nvSpPr>
          <p:cNvPr id="23" name="Text 21"/>
          <p:cNvSpPr txBox="1"/>
          <p:nvPr/>
        </p:nvSpPr>
        <p:spPr>
          <a:xfrm>
            <a:off x="3566160" y="422452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Hotel labor (about) </a:t>
            </a:r>
            <a:pPr indent="0" marL="0">
              <a:buNone/>
            </a:pPr>
            <a:r>
              <a:rPr lang="en-US" sz="1100" b="1" dirty="0">
                <a:solidFill>
                  <a:srgbClr val="231F20"/>
                </a:solidFill>
                <a:latin typeface="Proxima Nova" pitchFamily="34" charset="0"/>
                <a:ea typeface="Proxima Nova" pitchFamily="34" charset="-122"/>
                <a:cs typeface="Proxima Nova" pitchFamily="34" charset="-120"/>
              </a:rPr>
              <a:t>+6%</a:t>
            </a:r>
            <a:endParaRPr lang="en-US" sz="1050" dirty="0"/>
          </a:p>
        </p:txBody>
      </p:sp>
      <p:sp>
        <p:nvSpPr>
          <p:cNvPr id="24" name="Shape 22"/>
          <p:cNvSpPr/>
          <p:nvPr/>
        </p:nvSpPr>
        <p:spPr>
          <a:xfrm>
            <a:off x="3474720" y="4608576"/>
            <a:ext cx="8168335" cy="329184"/>
          </a:xfrm>
          <a:prstGeom prst="rect">
            <a:avLst/>
          </a:prstGeom>
          <a:solidFill>
            <a:srgbClr val="F9F9F2"/>
          </a:solidFill>
          <a:ln w="12700">
            <a:solidFill>
              <a:srgbClr val="F9F9F2"/>
            </a:solidFill>
            <a:prstDash val="solid"/>
          </a:ln>
        </p:spPr>
      </p:sp>
      <p:sp>
        <p:nvSpPr>
          <p:cNvPr id="25" name="Shape 23"/>
          <p:cNvSpPr/>
          <p:nvPr/>
        </p:nvSpPr>
        <p:spPr>
          <a:xfrm>
            <a:off x="3474720" y="4608576"/>
            <a:ext cx="1537569" cy="329184"/>
          </a:xfrm>
          <a:prstGeom prst="rect">
            <a:avLst/>
          </a:prstGeom>
          <a:solidFill>
            <a:srgbClr val="B4D9E3"/>
          </a:solidFill>
          <a:ln w="12700">
            <a:solidFill>
              <a:srgbClr val="B4D9E3"/>
            </a:solidFill>
            <a:prstDash val="solid"/>
          </a:ln>
        </p:spPr>
      </p:sp>
      <p:sp>
        <p:nvSpPr>
          <p:cNvPr id="26" name="Text 24"/>
          <p:cNvSpPr txBox="1"/>
          <p:nvPr/>
        </p:nvSpPr>
        <p:spPr>
          <a:xfrm>
            <a:off x="3566160" y="460857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prices </a:t>
            </a:r>
            <a:pPr indent="0" marL="0">
              <a:buNone/>
            </a:pPr>
            <a:r>
              <a:rPr lang="en-US" sz="1100" b="1" dirty="0">
                <a:solidFill>
                  <a:srgbClr val="231F20"/>
                </a:solidFill>
                <a:latin typeface="Proxima Nova" pitchFamily="34" charset="0"/>
                <a:ea typeface="Proxima Nova" pitchFamily="34" charset="-122"/>
                <a:cs typeface="Proxima Nova" pitchFamily="34" charset="-120"/>
              </a:rPr>
              <a:t>+3.2%</a:t>
            </a:r>
            <a:endParaRPr lang="en-US" sz="105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211"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tourism</a:t>
            </a:r>
            <a:endParaRPr lang="en-US" sz="1300" dirty="0"/>
          </a:p>
        </p:txBody>
      </p:sp>
      <p:graphicFrame>
        <p:nvGraphicFramePr>
          <p:cNvPr id="22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Orange County visitors rose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39.0M</a:t>
                      </a:r>
                      <a:pPr algn="l" indent="0" marL="0">
                        <a:buNone/>
                      </a:pPr>
                      <a:r>
                        <a:rPr lang="en-US" sz="750" dirty="0">
                          <a:solidFill>
                            <a:srgbClr val="231F20"/>
                          </a:solidFill>
                          <a:latin typeface="Proxima Nova" pitchFamily="34" charset="0"/>
                          <a:ea typeface="Proxima Nova" pitchFamily="34" charset="-122"/>
                          <a:cs typeface="Proxima Nova" pitchFamily="34" charset="-120"/>
                        </a:rPr>
                        <a:t> (2021) to </a:t>
                      </a:r>
                      <a:pPr algn="l" indent="0" marL="0">
                        <a:buNone/>
                      </a:pPr>
                      <a:r>
                        <a:rPr lang="en-US" sz="750" b="1" dirty="0">
                          <a:solidFill>
                            <a:srgbClr val="125C60"/>
                          </a:solidFill>
                          <a:latin typeface="Proxima Nova" pitchFamily="34" charset="0"/>
                          <a:ea typeface="Proxima Nova" pitchFamily="34" charset="-122"/>
                          <a:cs typeface="Proxima Nova" pitchFamily="34" charset="-120"/>
                        </a:rPr>
                        <a:t>51.3M</a:t>
                      </a:r>
                      <a:pPr algn="l" indent="0" marL="0">
                        <a:buNone/>
                      </a:pPr>
                      <a:r>
                        <a:rPr lang="en-US" sz="750" dirty="0">
                          <a:solidFill>
                            <a:srgbClr val="231F20"/>
                          </a:solidFill>
                          <a:latin typeface="Proxima Nova" pitchFamily="34" charset="0"/>
                          <a:ea typeface="Proxima Nova" pitchFamily="34" charset="-122"/>
                          <a:cs typeface="Proxima Nova" pitchFamily="34" charset="-120"/>
                        </a:rPr>
                        <a:t> (2025),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a:t>
                      </a:r>
                      <a:pPr algn="l" indent="0" marL="0">
                        <a:buNone/>
                      </a:pPr>
                      <a:r>
                        <a:rPr lang="en-US" sz="750" dirty="0">
                          <a:solidFill>
                            <a:srgbClr val="231F20"/>
                          </a:solidFill>
                          <a:latin typeface="Proxima Nova" pitchFamily="34" charset="0"/>
                          <a:ea typeface="Proxima Nova" pitchFamily="34" charset="-122"/>
                          <a:cs typeface="Proxima Nova" pitchFamily="34" charset="-120"/>
                        </a:rPr>
                        <a:t>; visitor spending in 2025p was </a:t>
                      </a:r>
                      <a:pPr algn="l" indent="0" marL="0">
                        <a:buNone/>
                      </a:pPr>
                      <a:r>
                        <a:rPr lang="en-US" sz="750" b="1" dirty="0">
                          <a:solidFill>
                            <a:srgbClr val="125C60"/>
                          </a:solidFill>
                          <a:latin typeface="Proxima Nova" pitchFamily="34" charset="0"/>
                          <a:ea typeface="Proxima Nova" pitchFamily="34" charset="-122"/>
                          <a:cs typeface="Proxima Nova" pitchFamily="34" charset="-120"/>
                        </a:rPr>
                        <a:t>21.5%</a:t>
                      </a:r>
                      <a:pPr algn="l" indent="0" marL="0">
                        <a:buNone/>
                      </a:pPr>
                      <a:r>
                        <a:rPr lang="en-US" sz="750" dirty="0">
                          <a:solidFill>
                            <a:srgbClr val="231F20"/>
                          </a:solidFill>
                          <a:latin typeface="Proxima Nova" pitchFamily="34" charset="0"/>
                          <a:ea typeface="Proxima Nova" pitchFamily="34" charset="-122"/>
                          <a:cs typeface="Proxima Nova" pitchFamily="34" charset="-120"/>
                        </a:rPr>
                        <a:t> above 2019.</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January (</a:t>
                      </a:r>
                      <a:pPr algn="l" indent="0" marL="0">
                        <a:buNone/>
                      </a:pPr>
                      <a:r>
                        <a:rPr lang="en-US" sz="750" b="1" dirty="0">
                          <a:solidFill>
                            <a:srgbClr val="125C60"/>
                          </a:solidFill>
                          <a:latin typeface="Proxima Nova" pitchFamily="34" charset="0"/>
                          <a:ea typeface="Proxima Nova" pitchFamily="34" charset="-122"/>
                          <a:cs typeface="Proxima Nova" pitchFamily="34" charset="-120"/>
                        </a:rPr>
                        <a:t>61.2%</a:t>
                      </a:r>
                      <a:pPr algn="l" indent="0" marL="0">
                        <a:buNone/>
                      </a:pPr>
                      <a:r>
                        <a:rPr lang="en-US" sz="750" dirty="0">
                          <a:solidFill>
                            <a:srgbClr val="231F20"/>
                          </a:solidFill>
                          <a:latin typeface="Proxima Nova" pitchFamily="34" charset="0"/>
                          <a:ea typeface="Proxima Nova" pitchFamily="34" charset="-122"/>
                          <a:cs typeface="Proxima Nova" pitchFamily="34" charset="-120"/>
                        </a:rPr>
                        <a:t>), December (</a:t>
                      </a:r>
                      <a:pPr algn="l" indent="0" marL="0">
                        <a:buNone/>
                      </a:pPr>
                      <a:r>
                        <a:rPr lang="en-US" sz="750" b="1" dirty="0">
                          <a:solidFill>
                            <a:srgbClr val="125C60"/>
                          </a:solidFill>
                          <a:latin typeface="Proxima Nova" pitchFamily="34" charset="0"/>
                          <a:ea typeface="Proxima Nova" pitchFamily="34" charset="-122"/>
                          <a:cs typeface="Proxima Nova" pitchFamily="34" charset="-120"/>
                        </a:rPr>
                        <a:t>68.9%</a:t>
                      </a:r>
                      <a:pPr algn="l" indent="0" marL="0">
                        <a:buNone/>
                      </a:pPr>
                      <a:r>
                        <a:rPr lang="en-US" sz="750" dirty="0">
                          <a:solidFill>
                            <a:srgbClr val="231F20"/>
                          </a:solidFill>
                          <a:latin typeface="Proxima Nova" pitchFamily="34" charset="0"/>
                          <a:ea typeface="Proxima Nova" pitchFamily="34" charset="-122"/>
                          <a:cs typeface="Proxima Nova" pitchFamily="34" charset="-120"/>
                        </a:rPr>
                        <a:t>) and February (</a:t>
                      </a:r>
                      <a:pPr algn="l" indent="0" marL="0">
                        <a:buNone/>
                      </a:pPr>
                      <a:r>
                        <a:rPr lang="en-US" sz="750" b="1" dirty="0">
                          <a:solidFill>
                            <a:srgbClr val="125C60"/>
                          </a:solidFill>
                          <a:latin typeface="Proxima Nova" pitchFamily="34" charset="0"/>
                          <a:ea typeface="Proxima Nova" pitchFamily="34" charset="-122"/>
                          <a:cs typeface="Proxima Nova" pitchFamily="34" charset="-120"/>
                        </a:rPr>
                        <a:t>69.0%</a:t>
                      </a:r>
                      <a:pPr algn="l" indent="0" marL="0">
                        <a:buNone/>
                      </a:pPr>
                      <a:r>
                        <a:rPr lang="en-US" sz="750" dirty="0">
                          <a:solidFill>
                            <a:srgbClr val="231F20"/>
                          </a:solidFill>
                          <a:latin typeface="Proxima Nova" pitchFamily="34" charset="0"/>
                          <a:ea typeface="Proxima Nova" pitchFamily="34" charset="-122"/>
                          <a:cs typeface="Proxima Nova" pitchFamily="34" charset="-120"/>
                        </a:rPr>
                        <a:t>) are the most open hotel months (2023-2025 averages).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OC Vibe events that draw overnight guests in those months and share dates with Visit Anaheim for hotel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2019 CIC profile answers purpose, party size and children for both Orange County and Anaheim.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it now as the labeled 2019 baseline in ECA's study; it is in the Reports and data library.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Orange County visitor count is published for 2020 or 2026 year to date, and the two visitor series use different methods.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Request 2019-2020 and 2026 county estimates from Tourism Economics; until they arrive, show Anaheim's Jan.-June 2026 count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and county hotel data as the current read.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Los Angeles-Long Beach-Anaheim metro area includes Orange County, so 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44.7%</a:t>
                      </a:r>
                      <a:pPr algn="l" indent="0" marL="0">
                        <a:buNone/>
                      </a:pPr>
                      <a:r>
                        <a:rPr lang="en-US" sz="750" dirty="0">
                          <a:solidFill>
                            <a:srgbClr val="231F20"/>
                          </a:solidFill>
                          <a:latin typeface="Proxima Nova" pitchFamily="34" charset="0"/>
                          <a:ea typeface="Proxima Nova" pitchFamily="34" charset="-122"/>
                          <a:cs typeface="Proxima Nova" pitchFamily="34" charset="-120"/>
                        </a:rPr>
                        <a:t> share mixes local and Los Angeles County trips; Azira has no ZIP codes.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metro-level shares with that note; a county or ZIP origin split would require a custom pull from Symphony or a new survey.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length of stay and distance shares shifted in 2026 (trips under 50 miles rose to </a:t>
                      </a:r>
                      <a:pPr algn="l" indent="0" marL="0">
                        <a:buNone/>
                      </a:pPr>
                      <a:r>
                        <a:rPr lang="en-US" sz="750" b="1" dirty="0">
                          <a:solidFill>
                            <a:srgbClr val="125C60"/>
                          </a:solidFill>
                          <a:latin typeface="Proxima Nova" pitchFamily="34" charset="0"/>
                          <a:ea typeface="Proxima Nova" pitchFamily="34" charset="-122"/>
                          <a:cs typeface="Proxima Nova" pitchFamily="34" charset="-120"/>
                        </a:rPr>
                        <a:t>73.9%-83.4%</a:t>
                      </a:r>
                      <a:pPr algn="l" indent="0" marL="0">
                        <a:buNone/>
                      </a:pPr>
                      <a:r>
                        <a:rPr lang="en-US" sz="750" dirty="0">
                          <a:solidFill>
                            <a:srgbClr val="231F20"/>
                          </a:solidFill>
                          <a:latin typeface="Proxima Nova" pitchFamily="34" charset="0"/>
                          <a:ea typeface="Proxima Nova" pitchFamily="34" charset="-122"/>
                          <a:cs typeface="Proxima Nova" pitchFamily="34" charset="-120"/>
                        </a:rPr>
                        <a:t>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59%-66%</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Treat 2026 Azira trends as a method change until Symphony confirms; compare within 2026 only.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Orange County tourism: Tourism Economics, Economic Impact of Visitors to Orange County, 2025 (pub. May 2026); Dean Runyan Associates for Visit California, The Economic Impact of Travel in California, 2025p (Apr. 2026), Orange County detail;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22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Who visits: Azira via Symphony (District 5, Jan. 1–May 31, 2026; domestic visitors, Aug. 2026); Azira via Symphony (District 5, Jan. 1–May 31, 2026; domestic visitors, Aug. 2026); Visa Destination Insights via Symphony (Aug. 2026 vs. Aug. 2025) | Visitor spending: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225"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Jobs and economy: Tourism Economics, Economic Impact 2025 (pub. Apr.–May 2026); Tourism Economics, Economic Impact 2025 (pub. Apr.–May 2026); City of Anaheim OCVibe page (2026); OCVIBE fact sheet (Apr. 2024) | Hotel market: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22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One more night: Visit Anaheim BI, Extra Night study (2025 inputs; recalculated Oct. 12, 2026); Tourism Economics, Economic Impact 2025 (pub. Apr.–May 2026) | Getting here: Amtrak ANA fact sheet (2024 data; pub. Oct. 27, 2025); Metrolink FY26 Q2 (Oct.–Dec. 2025); OCTA Traffic Flow Map (pub. Aug. 2026) and bus schedules (Aug. 9–Nov. 7,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22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Marketing reach: Azira media attribution via Symphony (ad exposures Jan. 1–Aug. 31, 2026) |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Research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2019; visitor volume 2009-2019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The Economic Impact of Travel in California,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2015-2025p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Impacts by Assembly District,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Forecast data,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2019-2030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State and Regional Lodging Forecast,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2013-2029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Travel Indicators,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8,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Resident Sentiment on Travel and Tourism, 2022-2025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 (Omnitrak)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2022-2025 survey waves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Mar. 24,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length of stay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distance share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metro area (MSA),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TV market (DMA),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international average length of stay,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client preliminary by Tourism Economics;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full files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Spring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Values read from the published forecast tables;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the U.S. Travel Industry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(Dean Runyan Associates)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6,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Primary report reviewed; preliminary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CIC Research for Visit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2019 (volume 2009-2019)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2020; found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latest edition found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Dean Runyan Associates for 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Travel Impacts by Assembly District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2015-2025p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preliminary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market monthly and segmentation tables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1987-Sept.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Licensed export; summary figures only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and International Visitors views (Anaheim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 2023-Aug.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2026; confirmed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Geography and period confirmed with BI; 2026 method shift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Travel Indicators (Aug. 2026); Resident Sentiment 2025; Travel and Lodging Forecasts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2013-2030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Mar.-Oct.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files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Average spend compares per-visitor values (Tourism Economics) with per-trip values (U.S. Travel Association, in 2025 dollars); compare direction, not exact levels.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Visitor transportation shares differ by source: Visit California counts visitor air fares and statewide ground travel; Tourism Economics' city figures count spending inside the city (Anaheim has no commercial airport).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 California's Orange County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$17.1B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direct travel spending, 2025p) uses a different method from Tourism Economics'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$17.99B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 spending); use one source at a time.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Orange County visitor counts come from two methods (CIC Research 2009-2019; Tourism Economics 2021-2025) and are shown as separate series; 2020 and 2026 year to date are not published for the county.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Azira files cover Anaheim and Garden Grove, not Orange County, and carry no ZIP codes; 2026 length of stay and distance shares reflect a likely method change.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The latest Orange County visitor profile (trip purpose, party size, children) is CIC Research's 2019 study.</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each source updates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19, 2026 · Next scheduled update Jan. 15, 2027</a:t>
            </a:r>
            <a:endParaRPr lang="en-US" sz="12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2377440"/>
                <a:gridCol w="2514600"/>
                <a:gridCol w="3090672"/>
              </a:tblGrid>
              <a:tr h="43891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Source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often it publishes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In this edition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At each quarterly update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Anaheim Travel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with the newest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Economic Impact of Visitors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Annual (spring)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Calendar 2025 (pub.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when the new year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LARC Market Intelligence Reports; quarterly forecasts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 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and forecast added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STR daily data (Visit Anaheim hotel sets)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1 to Oct. 3,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export pulled through the latest 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CoStar reports and export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Through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reports and export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Azira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period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Visa Destination Insights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OCTA, Amtrak, Metrolink</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When a new schedule or fact sheet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to Nov. 2026; 2018 to 2024; FY26 Q2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Updated only if a new one is out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Datafy, U.S. BTS, California transit snapshots, City and OC Vibe public sources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As released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See the source register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Kept at their dated values until a new release is received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Visit Anaheim BI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Planned data sources (not in this edition)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Planned for a more complete view of OC Vibe visitors · not in this edition</a:t>
            </a:r>
            <a:endParaRPr lang="en-US" sz="1200" dirty="0"/>
          </a:p>
        </p:txBody>
      </p:sp>
      <p:graphicFrame>
        <p:nvGraphicFramePr>
          <p:cNvPr id="1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468880"/>
                <a:gridCol w="2651760"/>
                <a:gridCol w="3502152"/>
                <a:gridCol w="2468880"/>
              </a:tblGrid>
              <a:tr h="7772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What it would add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How it would tie in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Status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Ticketmaster ticketing data, Honda Center (from OC Vibe)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Tickets sold by event and ticket-buyer home ZIP code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Shows how far event audiences travel; matched to STR nights and Visa spending on event dates; feeds Who visits and Hotel market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request from OC Vibe through a data-sharing agreement;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Placer.ai foot-traffic data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Visits, visitor home areas, dwell time and repeat visits at OC Vibe venues and the OC Vibe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Compared with Azira for District 5; tracks the OC Vibe area as venues open; feeds Who visits and Getting here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source; license holder to be confirmed;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Text 2"/>
          <p:cNvSpPr txBox="1"/>
          <p:nvPr/>
        </p:nvSpPr>
        <p:spPr>
          <a:xfrm>
            <a:off x="548640" y="4114800"/>
            <a:ext cx="11094415" cy="82296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No figures from these sources appear until the data is received, checked and cleared for sharing. Each is added at the next quarterly update after it arrives. Ticketing and foot-traffic data are licensed or partner data: the report would show summaries only.</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data plan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available a night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Annual available room nights / days in the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21,400,998 / 365 = 58,633 (Orange County,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Seasonality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 in 2023 + 2024 + 2025) / 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(80.7 + 80.0 + 81.2) / 3 = 80.6% (July)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Year-to-date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This year's months / same months last year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13.06M / 12.67M - 1 = +3.1% (Anaheim, Jan.-June)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DMA (designated market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TV market defined by Nielsen; used for media planning and origin reporting.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MSA (metropolitan statistical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federal metro-area definition; Los Angeles-Long Beach-Anaheim includes Los Angeles and Orange counties.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scheduled refresh of this report on the 15th of January, April, July and October, after Tourism Economics' quarterly forecast. Only figures with a new published value change. Next scheduled update: Jan. 15,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Transient, group and contract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rooms sold to individual travelers, to groups of 10+ rooms, and under long-term contracts (for example, airline crews).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Travel party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people traveling together on one trip, counted per group.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VFR (visiting friends or relatives)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trip whose main purpose is to see friends or family; often combined with pleasure in surveys.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Year to date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From Jan. 1 to the latest month with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 because Tourism Economics, the core of the report, delivers quarterly; weekly and monthly sources (STR, CoStar, Visa, Azira) are pulled at the same time so all figures share one as-of date. Each quarter, BI finds the newest file from each source, replaces only figures with a new published or measured value (with the new period and publication date), checks every number against its source, and republishes the dashboard, deck and data tables. Sources with nothing new keep their dated figures.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quarterly refresh runbook (Oct. 13, 2026; cadence confirmed Oct. 14,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 profile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2,686 intercept interviews at 36 Orange County locations plus an internet panel of 2,087 households; 4,040 visitor groups.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model (2021-2025) and CIC estimates (2009-2019) are separate series; not combined.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 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Seasonality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monthly hotel occupancy and ADR used as the monthly measure; 2023-2025 average by month.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136</Slides>
  <Notes>136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136</vt:i4>
      </vt:variant>
    </vt:vector>
  </HeadingPairs>
  <TitlesOfParts>
    <vt:vector size="1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2026-10-19T20:40:52Z</dcterms:created>
  <dcterms:modified xsi:type="dcterms:W3CDTF">2026-10-19T20:40:52Z</dcterms:modified>
</cp:coreProperties>
</file>