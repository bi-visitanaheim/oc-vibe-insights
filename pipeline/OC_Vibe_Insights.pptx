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5.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7.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8.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9.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10.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charts/chart11.xml" ContentType="application/vnd.openxmlformats-officedocument.drawingml.chart+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12.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4bc7b6-b3bc-f007-4875-077b8f600d1f}">
          <p14:sldIdLst>
            <p14:sldId id="256"/>
            <p14:sldId id="257"/>
            <p14:sldId id="258"/>
            <p14:sldId id="259"/>
            <p14:sldId id="260"/>
          </p14:sldIdLst>
        </p14:section>
        <p14:section name="Anaheim and OC Vibe today" id="{92d9e5da-04ae-1db2-5806-b122d7f87fd7}">
          <p14:sldIdLst>
            <p14:sldId id="261"/>
            <p14:sldId id="262"/>
            <p14:sldId id="263"/>
            <p14:sldId id="264"/>
            <p14:sldId id="265"/>
            <p14:sldId id="266"/>
            <p14:sldId id="267"/>
            <p14:sldId id="268"/>
            <p14:sldId id="269"/>
            <p14:sldId id="270"/>
            <p14:sldId id="271"/>
          </p14:sldIdLst>
        </p14:section>
        <p14:section name="Who visits" id="{42e7f0e6-b802-a391-6948-4b0bd3197546}">
          <p14:sldIdLst>
            <p14:sldId id="272"/>
            <p14:sldId id="273"/>
            <p14:sldId id="274"/>
            <p14:sldId id="275"/>
            <p14:sldId id="276"/>
            <p14:sldId id="277"/>
            <p14:sldId id="278"/>
          </p14:sldIdLst>
        </p14:section>
        <p14:section name="Visitor spending" id="{5dd1d105-e9fb-90cf-1dc8-0b30f48954ea}">
          <p14:sldIdLst>
            <p14:sldId id="279"/>
            <p14:sldId id="280"/>
            <p14:sldId id="281"/>
            <p14:sldId id="282"/>
            <p14:sldId id="283"/>
            <p14:sldId id="284"/>
            <p14:sldId id="285"/>
          </p14:sldIdLst>
        </p14:section>
        <p14:section name="Jobs and economy" id="{b7cb1814-ae84-2da9-79e9-a8c51564f8ab}">
          <p14:sldIdLst>
            <p14:sldId id="286"/>
            <p14:sldId id="287"/>
            <p14:sldId id="288"/>
            <p14:sldId id="289"/>
            <p14:sldId id="290"/>
          </p14:sldIdLst>
        </p14:section>
        <p14:section name="Hotel market" id="{c76774c9-d08a-8e11-2759-7195d03f490e}">
          <p14:sldIdLst>
            <p14:sldId id="291"/>
            <p14:sldId id="292"/>
            <p14:sldId id="293"/>
            <p14:sldId id="294"/>
            <p14:sldId id="295"/>
            <p14:sldId id="296"/>
            <p14:sldId id="297"/>
            <p14:sldId id="298"/>
            <p14:sldId id="299"/>
          </p14:sldIdLst>
        </p14:section>
        <p14:section name="One more night" id="{4ecc36f0-a674-d3cb-51b3-22e076221b0e}">
          <p14:sldIdLst>
            <p14:sldId id="300"/>
            <p14:sldId id="301"/>
            <p14:sldId id="302"/>
            <p14:sldId id="303"/>
            <p14:sldId id="304"/>
            <p14:sldId id="305"/>
            <p14:sldId id="306"/>
          </p14:sldIdLst>
        </p14:section>
        <p14:section name="Getting here" id="{55f81e87-b46e-3c9b-5c8f-802a0a15b75d}">
          <p14:sldIdLst>
            <p14:sldId id="307"/>
            <p14:sldId id="308"/>
            <p14:sldId id="309"/>
            <p14:sldId id="310"/>
            <p14:sldId id="311"/>
            <p14:sldId id="312"/>
            <p14:sldId id="313"/>
            <p14:sldId id="314"/>
            <p14:sldId id="315"/>
            <p14:sldId id="316"/>
            <p14:sldId id="317"/>
            <p14:sldId id="318"/>
          </p14:sldIdLst>
        </p14:section>
        <p14:section name="Marketing reach" id="{5db481da-c6e5-dec7-44f4-f312113c47e3}">
          <p14:sldIdLst>
            <p14:sldId id="319"/>
            <p14:sldId id="320"/>
            <p14:sldId id="321"/>
            <p14:sldId id="322"/>
            <p14:sldId id="323"/>
            <p14:sldId id="324"/>
          </p14:sldIdLst>
        </p14:section>
        <p14:section name="Market outlook" id="{c283438d-6161-2fc1-853c-2e6801eba5b1}">
          <p14:sldIdLst>
            <p14:sldId id="325"/>
            <p14:sldId id="326"/>
            <p14:sldId id="327"/>
            <p14:sldId id="328"/>
            <p14:sldId id="329"/>
            <p14:sldId id="330"/>
            <p14:sldId id="331"/>
            <p14:sldId id="332"/>
          </p14:sldIdLst>
        </p14:section>
        <p14:section name="Compare and contrast" id="{c6ec2eb6-0c7b-46f5-c258-41cfece45a67}">
          <p14:sldIdLst>
            <p14:sldId id="333"/>
            <p14:sldId id="334"/>
            <p14:sldId id="335"/>
            <p14:sldId id="336"/>
            <p14:sldId id="337"/>
          </p14:sldIdLst>
        </p14:section>
        <p14:section name="Next steps" id="{800b40e0-0537-7e09-951d-740931819738}">
          <p14:sldIdLst>
            <p14:sldId id="338"/>
            <p14:sldId id="339"/>
            <p14:sldId id="340"/>
            <p14:sldId id="341"/>
            <p14:sldId id="342"/>
            <p14:sldId id="343"/>
            <p14:sldId id="344"/>
          </p14:sldIdLst>
        </p14:section>
        <p14:section name="Appendix" id="{4ce6b8d8-7c0f-3f04-9a69-9bbf4cb1fdbb}">
          <p14:sldIdLst>
            <p14:sldId id="345"/>
            <p14:sldId id="346"/>
            <p14:sldId id="347"/>
            <p14:sldId id="348"/>
            <p14:sldId id="34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The baseline counts visitors; the next question is who they are. Origin, overnight share and first-time share show which audiences the OC Vibe area already reaches.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82296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The baseline counts visitors; the next question is who they are. Origin, overnight share and first-time share show which audiences the OC Vibe area already reaches.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Appendix: The appendix defines every term, method and formula used above, so each figure can be traced, repeated and defended.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International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$464.6M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$446.6M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Change vs. Aug. 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Cards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143.8K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card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Average transaction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visit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5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5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Visitor spending: Tourism Economics, Travel Forecast (pub. Sept. 2026; data to Aug. 31, 2026); Visa Destination Insights via Symphony (Aug. 2026 vs. Aug. 2025) | Jobs and economy: Tourism Economics, Economic Impact 2025 (pub. Apr.–May 2026); Tourism Economics, Economic Impact 2025 (pub. Apr.–May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6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Hotel market: CoStar reports and export (data through Aug. 2026; pulled Oct. 12, 2026); STR daily data, Visit Anaheim hotel sets (Jan. 1–Oct. 3, 2026)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6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Marketing reach: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Draft – Not for Distribution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redistribution needs LARC consent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licensed to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0233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theme/theme1.xml><?xml version="1.0" encoding="utf-8"?>
<a:theme xmlns:a="http://schemas.openxmlformats.org/drawingml/2006/main" name="Visit Anaheim Escapism">
  <a:themeElements>
    <a:clrScheme name="Visit Anaheim Escapism">
      <a:dk1>
        <a:srgbClr val="231F20"/>
      </a:dk1>
      <a:lt1>
        <a:srgbClr val="FFFFFF"/>
      </a:lt1>
      <a:dk2>
        <a:srgbClr val="125C60"/>
      </a:dk2>
      <a:lt2>
        <a:srgbClr val="F9F9F2"/>
      </a:lt2>
      <a:accent1>
        <a:srgbClr val="43A3A3"/>
      </a:accent1>
      <a:accent2>
        <a:srgbClr val="77C7C9"/>
      </a:accent2>
      <a:accent3>
        <a:srgbClr val="B4D9E3"/>
      </a:accent3>
      <a:accent4>
        <a:srgbClr val="125C60"/>
      </a:accent4>
      <a:accent5>
        <a:srgbClr val="A10009"/>
      </a:accent5>
      <a:accent6>
        <a:srgbClr val="FF000C"/>
      </a:accent6>
      <a:hlink>
        <a:srgbClr val="125C60"/>
      </a:hlink>
      <a:folHlink>
        <a:srgbClr val="125C60"/>
      </a:folHlink>
    </a:clrScheme>
    <a:fontScheme name="Visit Anaheim Escapism">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2026-10-13T23:10:02Z</dcterms:created>
  <dcterms:modified xsi:type="dcterms:W3CDTF">2026-10-13T23:10:02Z</dcterms:modified>
</cp:coreProperties>
</file>