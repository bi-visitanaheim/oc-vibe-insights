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7689e08-ef6e-e38d-adca-d09d79a90192}">
          <p14:sldIdLst>
            <p14:sldId id="256"/>
            <p14:sldId id="257"/>
            <p14:sldId id="258"/>
          </p14:sldIdLst>
        </p14:section>
        <p14:section name="The four core questions" id="{9513a00e-110b-6874-2496-100ad620c874}">
          <p14:sldIdLst>
            <p14:sldId id="259"/>
            <p14:sldId id="260"/>
            <p14:sldId id="261"/>
            <p14:sldId id="262"/>
            <p14:sldId id="263"/>
            <p14:sldId id="264"/>
            <p14:sldId id="265"/>
            <p14:sldId id="266"/>
          </p14:sldIdLst>
        </p14:section>
        <p14:section name="More questions answered" id="{0e7221c1-8102-1420-6d38-a78bfd8ea6b3}">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Sources and files" id="{c3beb789-0607-1d0c-63af-9c919f29c3fe}">
          <p14:sldIdLst>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47" Type="http://schemas.openxmlformats.org/officeDocument/2006/relationships/customXml" Target="../customXml/item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customXml" Target="../customXml/item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customXml" Target="../customXml/item2.xml"/><Relationship Id="rId20" Type="http://schemas.openxmlformats.org/officeDocument/2006/relationships/slide" Target="slides/slide19.xml"/><Relationship Id="rId41" Type="http://schemas.openxmlformats.org/officeDocument/2006/relationships/presProps" Target="presProp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visitors, millions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43A3A3"/>
              </a:solidFill>
              <a:effectLst/>
            </c:spPr>
          </c:dPt>
          <c:cat>
            <c:multiLvlStrRef>
              <c:f>Sheet1!$A$2:$A$5</c:f>
              <c:multiLvlStrCache>
                <c:ptCount val="4"/>
                <c:lvl>
                  <c:pt idx="0">
                    <c:v>2019 (CIC)</c:v>
                  </c:pt>
                  <c:pt idx="1">
                    <c:v>2023 (TE)</c:v>
                  </c:pt>
                  <c:pt idx="2">
                    <c:v>2024 (TE)</c:v>
                  </c:pt>
                  <c:pt idx="3">
                    <c:v>2025 (TE)</c:v>
                  </c:pt>
                </c:lvl>
              </c:multiLvlStrCache>
            </c:multiLvlStrRef>
          </c:cat>
          <c:val>
            <c:numRef>
              <c:f>Sheet1!$B$2:$B$5</c:f>
              <c:numCache>
                <c:formatCode>General</c:formatCode>
                <c:ptCount val="4"/>
                <c:pt idx="0">
                  <c:v>50.21</c:v>
                </c:pt>
                <c:pt idx="1">
                  <c:v>49.6</c:v>
                </c:pt>
                <c:pt idx="2">
                  <c:v>50.7</c:v>
                </c:pt>
                <c:pt idx="3">
                  <c:v>51.3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domestic trips by home metro area, Anaheim and Garden Grove</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Los Angeles-Long Beach-Anaheim</c:v>
                  </c:pt>
                  <c:pt idx="1">
                    <c:v>Riverside-San Bernardino-Ontario</c:v>
                  </c:pt>
                  <c:pt idx="2">
                    <c:v>San Diego-Chula Vista-Carlsbad</c:v>
                  </c:pt>
                  <c:pt idx="3">
                    <c:v>Phoenix</c:v>
                  </c:pt>
                  <c:pt idx="4">
                    <c:v>Las Vegas</c:v>
                  </c:pt>
                </c:lvl>
              </c:multiLvlStrCache>
            </c:multiLvlStrRef>
          </c:cat>
          <c:val>
            <c:numRef>
              <c:f>Sheet1!$B$2:$B$6</c:f>
              <c:numCache>
                <c:formatCode>General</c:formatCode>
                <c:ptCount val="5"/>
                <c:pt idx="0">
                  <c:v>44.7</c:v>
                </c:pt>
                <c:pt idx="1">
                  <c:v>26.1</c:v>
                </c:pt>
                <c:pt idx="2">
                  <c:v>4.1</c:v>
                </c:pt>
                <c:pt idx="3">
                  <c:v>2.3</c:v>
                </c:pt>
                <c:pt idx="4">
                  <c:v>1.9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hotel occupancy by month, 2023-2025 average</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cat>
            <c:multiLvlStrRef>
              <c:f>Sheet1!$A$2:$A$13</c:f>
              <c:multiLvlStrCache>
                <c:ptCount val="12"/>
                <c:lvl>
                  <c:pt idx="0">
                    <c:v>Jan.</c:v>
                  </c:pt>
                  <c:pt idx="1">
                    <c:v>Feb.</c:v>
                  </c:pt>
                  <c:pt idx="2">
                    <c:v>Mar.</c:v>
                  </c:pt>
                  <c:pt idx="3">
                    <c:v>Apr.</c:v>
                  </c:pt>
                  <c:pt idx="4">
                    <c:v>May</c:v>
                  </c:pt>
                  <c:pt idx="5">
                    <c:v>June</c:v>
                  </c:pt>
                  <c:pt idx="6">
                    <c:v>July</c:v>
                  </c:pt>
                  <c:pt idx="7">
                    <c:v>Aug.</c:v>
                  </c:pt>
                  <c:pt idx="8">
                    <c:v>Sept.</c:v>
                  </c:pt>
                  <c:pt idx="9">
                    <c:v>Oct.</c:v>
                  </c:pt>
                  <c:pt idx="10">
                    <c:v>Nov.</c:v>
                  </c:pt>
                  <c:pt idx="11">
                    <c:v>Dec.</c:v>
                  </c:pt>
                </c:lvl>
              </c:multiLvlStrCache>
            </c:multiLvlStrRef>
          </c:cat>
          <c:val>
            <c:numRef>
              <c:f>Sheet1!$B$2:$B$13</c:f>
              <c:numCache>
                <c:formatCode>General</c:formatCode>
                <c:ptCount val="12"/>
                <c:pt idx="0">
                  <c:v>61.2</c:v>
                </c:pt>
                <c:pt idx="1">
                  <c:v>69</c:v>
                </c:pt>
                <c:pt idx="2">
                  <c:v>73.9</c:v>
                </c:pt>
                <c:pt idx="3">
                  <c:v>71.5</c:v>
                </c:pt>
                <c:pt idx="4">
                  <c:v>70.1</c:v>
                </c:pt>
                <c:pt idx="5">
                  <c:v>76.4</c:v>
                </c:pt>
                <c:pt idx="6">
                  <c:v>80.6</c:v>
                </c:pt>
                <c:pt idx="7">
                  <c:v>73.1</c:v>
                </c:pt>
                <c:pt idx="8">
                  <c:v>73.6</c:v>
                </c:pt>
                <c:pt idx="9">
                  <c:v>75.1</c:v>
                </c:pt>
                <c:pt idx="10">
                  <c:v>69.2</c:v>
                </c:pt>
                <c:pt idx="11">
                  <c:v>68.9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Main purpose of trip, Orange County visitors, 2019</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Pleasure or VFR</c:v>
                  </c:pt>
                  <c:pt idx="1">
                    <c:v>Business or convention</c:v>
                  </c:pt>
                  <c:pt idx="2">
                    <c:v>Special events</c:v>
                  </c:pt>
                  <c:pt idx="3">
                    <c:v>Other</c:v>
                  </c:pt>
                </c:lvl>
              </c:multiLvlStrCache>
            </c:multiLvlStrRef>
          </c:cat>
          <c:val>
            <c:numRef>
              <c:f>Sheet1!$B$2:$B$5</c:f>
              <c:numCache>
                <c:formatCode>General</c:formatCode>
                <c:ptCount val="4"/>
                <c:pt idx="0">
                  <c:v>81.2</c:v>
                </c:pt>
                <c:pt idx="1">
                  <c:v>9.6</c:v>
                </c:pt>
                <c:pt idx="2">
                  <c:v>7.6</c:v>
                </c:pt>
                <c:pt idx="3">
                  <c:v>1.6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Orange County hotel occupancy</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43A3A3"/>
              </a:solidFill>
              <a:effectLst/>
            </c:spPr>
          </c:dPt>
          <c:cat>
            <c:multiLvlStrRef>
              <c:f>Sheet1!$A$2:$A$9</c:f>
              <c:multiLvlStrCache>
                <c:ptCount val="8"/>
                <c:lvl>
                  <c:pt idx="0">
                    <c:v>2019</c:v>
                  </c:pt>
                  <c:pt idx="1">
                    <c:v>2020</c:v>
                  </c:pt>
                  <c:pt idx="2">
                    <c:v>2021</c:v>
                  </c:pt>
                  <c:pt idx="3">
                    <c:v>2022</c:v>
                  </c:pt>
                  <c:pt idx="4">
                    <c:v>2023</c:v>
                  </c:pt>
                  <c:pt idx="5">
                    <c:v>2024</c:v>
                  </c:pt>
                  <c:pt idx="6">
                    <c:v>2025</c:v>
                  </c:pt>
                  <c:pt idx="7">
                    <c:v>2026 YTD</c:v>
                  </c:pt>
                </c:lvl>
              </c:multiLvlStrCache>
            </c:multiLvlStrRef>
          </c:cat>
          <c:val>
            <c:numRef>
              <c:f>Sheet1!$B$2:$B$9</c:f>
              <c:numCache>
                <c:formatCode>General</c:formatCode>
                <c:ptCount val="8"/>
                <c:pt idx="0">
                  <c:v>77.4</c:v>
                </c:pt>
                <c:pt idx="1">
                  <c:v>44</c:v>
                </c:pt>
                <c:pt idx="2">
                  <c:v>57.1</c:v>
                </c:pt>
                <c:pt idx="3">
                  <c:v>70.2</c:v>
                </c:pt>
                <c:pt idx="4">
                  <c:v>71.6</c:v>
                </c:pt>
                <c:pt idx="5">
                  <c:v>71.7</c:v>
                </c:pt>
                <c:pt idx="6">
                  <c:v>72.3</c:v>
                </c:pt>
                <c:pt idx="7">
                  <c:v>75.2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Growth in visitor or travel spending, 2025 vs. 2024</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California</c:v>
                  </c:pt>
                  <c:pt idx="3">
                    <c:v>U.S. (after inflation)</c:v>
                  </c:pt>
                </c:lvl>
              </c:multiLvlStrCache>
            </c:multiLvlStrRef>
          </c:cat>
          <c:val>
            <c:numRef>
              <c:f>Sheet1!$B$2:$B$5</c:f>
              <c:numCache>
                <c:formatCode>General</c:formatCode>
                <c:ptCount val="4"/>
                <c:pt idx="0">
                  <c:v>3.1</c:v>
                </c:pt>
                <c:pt idx="1">
                  <c:v>3.4</c:v>
                </c:pt>
                <c:pt idx="2">
                  <c:v>1.7</c:v>
                </c:pt>
                <c:pt idx="3">
                  <c:v>1.4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by quarter ($B)</c:v>
                </c:pt>
              </c:strCache>
            </c:strRef>
          </c:tx>
          <c:spPr>
            <a:solidFill>
              <a:srgbClr val="B4D9E3"/>
            </a:solidFill>
            <a:effectLst/>
          </c:spPr>
          <c:invertIfNegative val="0"/>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cat>
            <c:multiLvlStrRef>
              <c:f>Sheet1!$A$2:$A$7</c:f>
              <c:multiLvlStrCache>
                <c:ptCount val="6"/>
                <c:lvl>
                  <c:pt idx="0">
                    <c:v>Q1 2025</c:v>
                  </c:pt>
                  <c:pt idx="1">
                    <c:v>Q2 2025</c:v>
                  </c:pt>
                  <c:pt idx="2">
                    <c:v>Q3 2025</c:v>
                  </c:pt>
                  <c:pt idx="3">
                    <c:v>Q4 2025</c:v>
                  </c:pt>
                  <c:pt idx="4">
                    <c:v>Q1 2026</c:v>
                  </c:pt>
                  <c:pt idx="5">
                    <c:v>Q2 2026</c:v>
                  </c:pt>
                </c:lvl>
              </c:multiLvlStrCache>
            </c:multiLvlStrRef>
          </c:cat>
          <c:val>
            <c:numRef>
              <c:f>Sheet1!$B$2:$B$7</c:f>
              <c:numCache>
                <c:formatCode>General</c:formatCode>
                <c:ptCount val="6"/>
                <c:pt idx="0">
                  <c:v>1.61</c:v>
                </c:pt>
                <c:pt idx="1">
                  <c:v>1.63</c:v>
                </c:pt>
                <c:pt idx="2">
                  <c:v>1.71</c:v>
                </c:pt>
                <c:pt idx="3">
                  <c:v>1.87</c:v>
                </c:pt>
                <c:pt idx="4">
                  <c:v>1.72</c:v>
                </c:pt>
                <c:pt idx="5">
                  <c:v>1.76</c:v>
                </c:pt>
              </c:numCache>
            </c:numRef>
          </c:val>
        </c:ser>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Recreation</c:v>
                </c:pt>
              </c:strCache>
            </c:strRef>
          </c:tx>
          <c:spPr>
            <a:solidFill>
              <a:srgbClr val="125C60"/>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Sheet1!$B$2:$B$4</c:f>
              <c:numCache>
                <c:formatCode>General</c:formatCode>
                <c:ptCount val="3"/>
                <c:pt idx="0">
                  <c:v>34</c:v>
                </c:pt>
                <c:pt idx="1">
                  <c:v>22</c:v>
                </c:pt>
                <c:pt idx="2">
                  <c:v>13.1</c:v>
                </c:pt>
              </c:numCache>
            </c:numRef>
          </c:val>
        </c:ser>
        <c:ser>
          <c:idx val="1"/>
          <c:order val="1"/>
          <c:tx>
            <c:strRef>
              <c:f>Sheet1!$C$1</c:f>
              <c:strCache>
                <c:ptCount val="1"/>
                <c:pt idx="0">
                  <c:v>Lodging</c:v>
                </c:pt>
              </c:strCache>
            </c:strRef>
          </c:tx>
          <c:spPr>
            <a:solidFill>
              <a:srgbClr val="43A3A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Sheet1!$C$2:$C$4</c:f>
              <c:numCache>
                <c:formatCode>General</c:formatCode>
                <c:ptCount val="3"/>
                <c:pt idx="0">
                  <c:v>25.2</c:v>
                </c:pt>
                <c:pt idx="1">
                  <c:v>25.9</c:v>
                </c:pt>
                <c:pt idx="2">
                  <c:v>25</c:v>
                </c:pt>
              </c:numCache>
            </c:numRef>
          </c:val>
        </c:ser>
        <c:ser>
          <c:idx val="2"/>
          <c:order val="2"/>
          <c:tx>
            <c:strRef>
              <c:f>Sheet1!$D$1</c:f>
              <c:strCache>
                <c:ptCount val="1"/>
                <c:pt idx="0">
                  <c:v>Retail</c:v>
                </c:pt>
              </c:strCache>
            </c:strRef>
          </c:tx>
          <c:spPr>
            <a:solidFill>
              <a:srgbClr val="77C7C9"/>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Sheet1!$D$2:$D$4</c:f>
              <c:numCache>
                <c:formatCode>General</c:formatCode>
                <c:ptCount val="3"/>
                <c:pt idx="0">
                  <c:v>21.9</c:v>
                </c:pt>
                <c:pt idx="1">
                  <c:v>20.5</c:v>
                </c:pt>
                <c:pt idx="2">
                  <c:v>12.4</c:v>
                </c:pt>
              </c:numCache>
            </c:numRef>
          </c:val>
        </c:ser>
        <c:ser>
          <c:idx val="3"/>
          <c:order val="3"/>
          <c:tx>
            <c:strRef>
              <c:f>Sheet1!$E$1</c:f>
              <c:strCache>
                <c:ptCount val="1"/>
                <c:pt idx="0">
                  <c:v>Food and beverage</c:v>
                </c:pt>
              </c:strCache>
            </c:strRef>
          </c:tx>
          <c:spPr>
            <a:solidFill>
              <a:srgbClr val="B4D9E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Sheet1!$E$2:$E$4</c:f>
              <c:numCache>
                <c:formatCode>General</c:formatCode>
                <c:ptCount val="3"/>
                <c:pt idx="0">
                  <c:v>15.6</c:v>
                </c:pt>
                <c:pt idx="1">
                  <c:v>27.6</c:v>
                </c:pt>
                <c:pt idx="2">
                  <c:v>31.5</c:v>
                </c:pt>
              </c:numCache>
            </c:numRef>
          </c:val>
        </c:ser>
        <c:ser>
          <c:idx val="4"/>
          <c:order val="4"/>
          <c:tx>
            <c:strRef>
              <c:f>Sheet1!$F$1</c:f>
              <c:strCache>
                <c:ptCount val="1"/>
                <c:pt idx="0">
                  <c:v>Transportation</c:v>
                </c:pt>
              </c:strCache>
            </c:strRef>
          </c:tx>
          <c:spPr>
            <a:solidFill>
              <a:srgbClr val="E8E6DC"/>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Sheet1!$F$2:$F$4</c:f>
              <c:numCache>
                <c:formatCode>General</c:formatCode>
                <c:ptCount val="3"/>
                <c:pt idx="0">
                  <c:v>3.3</c:v>
                </c:pt>
                <c:pt idx="1">
                  <c:v>3.9</c:v>
                </c:pt>
                <c:pt idx="2">
                  <c:v>17.9</c:v>
                </c:pt>
              </c:numCache>
            </c:numRef>
          </c:val>
        </c:ser>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latin typeface="Proxima Nova"/>
              <a:cs typeface="Proxima Nova"/>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all jobs supported by visitors,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32.8</c:v>
                </c:pt>
                <c:pt idx="1">
                  <c:v>11.8</c:v>
                </c:pt>
                <c:pt idx="2">
                  <c:v>7.4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Orange County</c:v>
                  </c:pt>
                  <c:pt idx="2">
                    <c:v>Garden Grove</c:v>
                  </c:pt>
                </c:lvl>
              </c:multiLvlStrCache>
            </c:multiLvlStrRef>
          </c:cat>
          <c:val>
            <c:numRef>
              <c:f>Sheet1!$B$2:$B$4</c:f>
              <c:numCache>
                <c:formatCode>General</c:formatCode>
                <c:ptCount val="3"/>
                <c:pt idx="0">
                  <c:v>16.8</c:v>
                </c:pt>
                <c:pt idx="1">
                  <c:v>29.1</c:v>
                </c:pt>
                <c:pt idx="2">
                  <c:v>40.6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economic impact of visitors, 2025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1.09</c:v>
                </c:pt>
                <c:pt idx="1">
                  <c:v>10.42</c:v>
                </c:pt>
                <c:pt idx="2">
                  <c:v>30.67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State and local taxes from visitors, 2025 ($M)</c:v>
                </c:pt>
              </c:strCache>
            </c:strRef>
          </c:tx>
          <c:spPr>
            <a:solidFill>
              <a:srgbClr val="B4D9E3"/>
            </a:solidFill>
            <a:effectLst/>
          </c:spPr>
          <c:invertIfNegative val="0"/>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83.6</c:v>
                </c:pt>
                <c:pt idx="1">
                  <c:v>970</c:v>
                </c:pt>
                <c:pt idx="2">
                  <c:v>3094</c:v>
                </c:pt>
              </c:numCache>
            </c:numRef>
          </c:val>
        </c:ser>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hotel occupancy by night, 2026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70.6</c:v>
                </c:pt>
                <c:pt idx="1">
                  <c:v>70.5</c:v>
                </c:pt>
                <c:pt idx="2">
                  <c:v>74.3</c:v>
                </c:pt>
                <c:pt idx="3">
                  <c:v>76.8</c:v>
                </c:pt>
                <c:pt idx="4">
                  <c:v>80.2</c:v>
                </c:pt>
                <c:pt idx="5">
                  <c:v>85.7</c:v>
                </c:pt>
                <c:pt idx="6">
                  <c:v>86.8</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How Orange County workers commute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Drove alone</c:v>
                  </c:pt>
                  <c:pt idx="1">
                    <c:v>Worked from home</c:v>
                  </c:pt>
                  <c:pt idx="2">
                    <c:v>Carpooled</c:v>
                  </c:pt>
                  <c:pt idx="3">
                    <c:v>Walked</c:v>
                  </c:pt>
                  <c:pt idx="4">
                    <c:v>Public transportation</c:v>
                  </c:pt>
                </c:lvl>
              </c:multiLvlStrCache>
            </c:multiLvlStrRef>
          </c:cat>
          <c:val>
            <c:numRef>
              <c:f>Sheet1!$B$2:$B$6</c:f>
              <c:numCache>
                <c:formatCode>General</c:formatCode>
                <c:ptCount val="5"/>
                <c:pt idx="0">
                  <c:v>67.5</c:v>
                </c:pt>
                <c:pt idx="1">
                  <c:v>18.5</c:v>
                </c:pt>
                <c:pt idx="2">
                  <c:v>8.9</c:v>
                </c:pt>
                <c:pt idx="3">
                  <c:v>1.7</c:v>
                </c:pt>
                <c:pt idx="4">
                  <c:v>1.2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Average domestic airfare, U.S. ($)</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352</c:v>
                </c:pt>
                <c:pt idx="1">
                  <c:v>292</c:v>
                </c:pt>
                <c:pt idx="2">
                  <c:v>307</c:v>
                </c:pt>
                <c:pt idx="3">
                  <c:v>378</c:v>
                </c:pt>
                <c:pt idx="4">
                  <c:v>382</c:v>
                </c:pt>
                <c:pt idx="5">
                  <c:v>384</c:v>
                </c:pt>
                <c:pt idx="6">
                  <c:v>387</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that include each cluster, 2024 (%)</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75.8</c:v>
                </c:pt>
                <c:pt idx="1">
                  <c:v>74.4</c:v>
                </c:pt>
                <c:pt idx="2">
                  <c:v>65.8</c:v>
                </c:pt>
                <c:pt idx="3">
                  <c:v>51.1</c:v>
                </c:pt>
                <c:pt idx="4">
                  <c:v>28.7</c:v>
                </c:pt>
                <c:pt idx="5">
                  <c:v>5.2</c:v>
                </c:pt>
                <c:pt idx="6">
                  <c:v>3.4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states for District 5 visitors (% of unique domestic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California</c:v>
                  </c:pt>
                  <c:pt idx="1">
                    <c:v>Texas</c:v>
                  </c:pt>
                  <c:pt idx="2">
                    <c:v>Virginia</c:v>
                  </c:pt>
                  <c:pt idx="3">
                    <c:v>Florida</c:v>
                  </c:pt>
                  <c:pt idx="4">
                    <c:v>Arizona</c:v>
                  </c:pt>
                  <c:pt idx="5">
                    <c:v>New York</c:v>
                  </c:pt>
                </c:lvl>
              </c:multiLvlStrCache>
            </c:multiLvlStrRef>
          </c:cat>
          <c:val>
            <c:numRef>
              <c:f>Sheet1!$B$2:$B$7</c:f>
              <c:numCache>
                <c:formatCode>General</c:formatCode>
                <c:ptCount val="6"/>
                <c:pt idx="0">
                  <c:v>56</c:v>
                </c:pt>
                <c:pt idx="1">
                  <c:v>4.5</c:v>
                </c:pt>
                <c:pt idx="2">
                  <c:v>4.2</c:v>
                </c:pt>
                <c:pt idx="3">
                  <c:v>3.7</c:v>
                </c:pt>
                <c:pt idx="4">
                  <c:v>2.4</c:v>
                </c:pt>
                <c:pt idx="5">
                  <c:v>2.2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Visits per 1,000 impressions by vendor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Basis DSP (Adgenuity)</c:v>
                  </c:pt>
                  <c:pt idx="1">
                    <c:v>Epsilon</c:v>
                  </c:pt>
                  <c:pt idx="2">
                    <c:v>TripAdvisor</c:v>
                  </c:pt>
                  <c:pt idx="3">
                    <c:v>Travelzoo</c:v>
                  </c:pt>
                  <c:pt idx="4">
                    <c:v>Expedia</c:v>
                  </c:pt>
                  <c:pt idx="5">
                    <c:v>Priceline</c:v>
                  </c:pt>
                  <c:pt idx="6">
                    <c:v>Klaviyo</c:v>
                  </c:pt>
                </c:lvl>
              </c:multiLvlStrCache>
            </c:multiLvlStrRef>
          </c:cat>
          <c:val>
            <c:numRef>
              <c:f>Sheet1!$B$2:$B$8</c:f>
              <c:numCache>
                <c:formatCode>General</c:formatCode>
                <c:ptCount val="7"/>
                <c:pt idx="0">
                  <c:v>13.8</c:v>
                </c:pt>
                <c:pt idx="1">
                  <c:v>13.9</c:v>
                </c:pt>
                <c:pt idx="2">
                  <c:v>13.4</c:v>
                </c:pt>
                <c:pt idx="3">
                  <c:v>9.3</c:v>
                </c:pt>
                <c:pt idx="4">
                  <c:v>24.7</c:v>
                </c:pt>
                <c:pt idx="5">
                  <c:v>5.7</c:v>
                </c:pt>
                <c:pt idx="6">
                  <c:v>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Hotel occupancy by Orange County submarket, 12 months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Disneyland</c:v>
                  </c:pt>
                  <c:pt idx="1">
                    <c:v>Newport Beach/Dana Point</c:v>
                  </c:pt>
                  <c:pt idx="2">
                    <c:v>Santa Ana/Costa Mesa</c:v>
                  </c:pt>
                  <c:pt idx="3">
                    <c:v>Anaheim (outside Disneyland submarket)</c:v>
                  </c:pt>
                  <c:pt idx="4">
                    <c:v>Orange County Northwest/Fullerton</c:v>
                  </c:pt>
                </c:lvl>
              </c:multiLvlStrCache>
            </c:multiLvlStrRef>
          </c:cat>
          <c:val>
            <c:numRef>
              <c:f>Sheet1!$B$2:$B$6</c:f>
              <c:numCache>
                <c:formatCode>General</c:formatCode>
                <c:ptCount val="5"/>
                <c:pt idx="0">
                  <c:v>78.4</c:v>
                </c:pt>
                <c:pt idx="1">
                  <c:v>70.8</c:v>
                </c:pt>
                <c:pt idx="2">
                  <c:v>72.7</c:v>
                </c:pt>
                <c:pt idx="3">
                  <c:v>71.6</c:v>
                </c:pt>
                <c:pt idx="4">
                  <c:v>70.4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actual and forecast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2022</c:v>
                  </c:pt>
                  <c:pt idx="1">
                    <c:v>2023</c:v>
                  </c:pt>
                  <c:pt idx="2">
                    <c:v>2024</c:v>
                  </c:pt>
                  <c:pt idx="3">
                    <c:v>2025</c:v>
                  </c:pt>
                  <c:pt idx="4">
                    <c:v>2026F</c:v>
                  </c:pt>
                  <c:pt idx="5">
                    <c:v>2027F</c:v>
                  </c:pt>
                  <c:pt idx="6">
                    <c:v>2028F</c:v>
                  </c:pt>
                </c:lvl>
              </c:multiLvlStrCache>
            </c:multiLvlStrRef>
          </c:cat>
          <c:val>
            <c:numRef>
              <c:f>Sheet1!$B$2:$B$8</c:f>
              <c:numCache>
                <c:formatCode>General</c:formatCode>
                <c:ptCount val="7"/>
                <c:pt idx="0">
                  <c:v>6</c:v>
                </c:pt>
                <c:pt idx="1">
                  <c:v>6.5</c:v>
                </c:pt>
                <c:pt idx="2">
                  <c:v>6.6</c:v>
                </c:pt>
                <c:pt idx="3">
                  <c:v>6.8</c:v>
                </c:pt>
                <c:pt idx="4">
                  <c:v>7.2</c:v>
                </c:pt>
                <c:pt idx="5">
                  <c:v>7.4</c:v>
                </c:pt>
                <c:pt idx="6">
                  <c:v>7.7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County drew 51.3M visitors in 2025: 29.2M day and 22.1M overnight; 47.9M domestic and 3.5M international (Tourism Economics). CIC Research counted 50.21M in 2019 with a different method. No 2026 year-to-date count is published for the county; Anaheim drew 13.1M in Jan.-June 2026,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half (55.4%) of Orange County visitors in 2019 lived in Southern California: Los Angeles metro 26%, Riverside/San Bernardino 19% and San Diego 6%; 9.1% were international (CIC). Location data for Anaheim and Garden Grove (Jan. 2023-Aug. 2026) shows 44.7% of domestic trips from the Los Angeles-Long Beach-Anaheim metro area, which includes Orange County.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July. Orange County hotels averaged 80.6% occupancy in July across 2023-2025 vs. 61.2% in January, the low month (CoStar). In 2026, July reached 82.6%. Monthly visitor counts are not published for the county, so hotel occupancy is the monthly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2019, 81.2% of Orange County visitors came for pleasure or to see friends and relatives, 9.6% for business or conventions and 7.6% for special events. The average travel party was 2.8 people, 37.0% had children with them, and overnight visitors stayed 4.2 nights (CIC). It is the latest county visitor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County had 60,224 hotel rooms in Sept. 2026. Hotels filled 75.2% of rooms at $221.67 a night in Jan.-Aug. 2026, up from 72.3% and $209.68 in 2025 and 77.4% and $165.36 in 2019 (CoStar).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Anaheim visitor spending rose 3.1% in 2025 and 7.8% in Q2 2026. Orange County grew 3.4%, California 1.7% and the U.S. 1.4%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Anaheim welcomed 6.74M visitors in Q2 2026 (+2.8%), who spent $1.76B (+7.8%). Overnight visits rose 4.5% and day visits 2.1%; hotel rates were nearly 9% higher. Garden Grove: 831,000 visitors (+3.4%), $200.4M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takes the largest share (34.0%), then lodging (25.2%), retail (21.9%), food and beverage (15.6%) and transportation (3.3%). Countywide, food and beverage leads (27.6%). Statewide, food service and lodging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supported 67,817 Anaheim jobs in 2025, about one in three. Countywide the total was 178,164 (one in 14), statewide 1.17 million direct travel jobs, and nationally more than 15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16.8% in Anaheim (11,366 of 67,817), 40.6% in Garden Grove and 29.1% countywide. Statewide, accommodation and food service together hold 55.3% of direct travel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$10.4B in Anaheim in 2025 (visitor spending $6.83B plus $3.6B in supplier and worker spending), $1.1B in Garden Grove and $30.7B countywide. Nationally, travel generated $3.0 trillion in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generated $0.97B in state and local taxes in Anaheim in 2025, $3.09B countywide, $13.6B statewide and $92B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$31.5M in Anaheim visitor spending: 26.5M visitors × 1% × $118.71 per visitor-day. On the hotel side, each point of Sunday–Monday occupancy is about 22,200 room nights and $5.1M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by car: 74.0% of domestic trips to Anaheim and Garden Grove start within 50 miles, and SR-57 beside OC Vibe carries about 275,000 vehicles a weekday. ARTIC adds 277 weekday bus trips, Amtrak (191,153 passengers in 2024) and Metrolink.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Gasoline averaged $4.09 a gallon on the West Coast in 2025 vs. $3.10 nationally. The average U.S. domestic airfare was $387 (+9.9% since 2019), and driving cost $0.82 a mile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of Anaheim visitor days in 2024 included the OC Vibe area, before the new venues open (Datafy). Disneyland was in 74.4% and meeting services in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Southern California dominates: Los Angeles and Riverside metros are 46.2% of District 5 visitors. By card spending, the leading fly-in metros are Seattle, Phoenix, Las Vegas, Orlando and New York; internationally, Mexico, Canada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From January through August 2026, paid media produced 31.0M measurable impressions and 368,416 observed visits (11.9 per 1,000 impressions), arriving about 39 days after seeing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Resort-area hotels filled 78.4% of rooms at $255 a night over the past 12 months (CoStar Disneyland submarket); countywide 74.0% at $218. Anaheim hotel revenue per room rose 11.4% in Q2 2026, about twice the U.S.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forecasts Anaheim visitors rising to 27.6M and spending to $7.7B by 2028. LARC forecasts Anaheim hotel revenue per room of $162.18 in 2026 (+7.0%). Nationally, trips are forecast to grow 2.0%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Questions answered: Anaheim, Orange County and U.S.</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Average spend, one more night, transportation impact and District 5, each with a short answer, a visual, the method and the reports behind it.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Companion to the OC Vibe Insights app and report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visitors come to Orange County, and how many stay overnight?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200" b="1" dirty="0">
                <a:solidFill>
                  <a:srgbClr val="125C60"/>
                </a:solidFill>
                <a:latin typeface="Proxima Nova" pitchFamily="34" charset="0"/>
                <a:ea typeface="Proxima Nova" pitchFamily="34" charset="-122"/>
                <a:cs typeface="Proxima Nova" pitchFamily="34" charset="-120"/>
              </a:rPr>
              <a:t>51.3M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29.2M</a:t>
            </a:r>
            <a:pPr indent="0" marL="0">
              <a:buNone/>
            </a:pPr>
            <a:r>
              <a:rPr lang="en-US" sz="1200" dirty="0">
                <a:solidFill>
                  <a:srgbClr val="231F20"/>
                </a:solidFill>
                <a:latin typeface="Proxima Nova" pitchFamily="34" charset="0"/>
                <a:ea typeface="Proxima Nova" pitchFamily="34" charset="-122"/>
                <a:cs typeface="Proxima Nova" pitchFamily="34" charset="-120"/>
              </a:rPr>
              <a:t> day and </a:t>
            </a:r>
            <a:pPr indent="0" marL="0">
              <a:buNone/>
            </a:pPr>
            <a:r>
              <a:rPr lang="en-US" sz="1200" b="1" dirty="0">
                <a:solidFill>
                  <a:srgbClr val="125C60"/>
                </a:solidFill>
                <a:latin typeface="Proxima Nova" pitchFamily="34" charset="0"/>
                <a:ea typeface="Proxima Nova" pitchFamily="34" charset="-122"/>
                <a:cs typeface="Proxima Nova" pitchFamily="34" charset="-120"/>
              </a:rPr>
              <a:t>22.1M</a:t>
            </a:r>
            <a:pPr indent="0" marL="0">
              <a:buNone/>
            </a:pPr>
            <a:r>
              <a:rPr lang="en-US" sz="1200" dirty="0">
                <a:solidFill>
                  <a:srgbClr val="231F20"/>
                </a:solidFill>
                <a:latin typeface="Proxima Nova" pitchFamily="34" charset="0"/>
                <a:ea typeface="Proxima Nova" pitchFamily="34" charset="-122"/>
                <a:cs typeface="Proxima Nova" pitchFamily="34" charset="-120"/>
              </a:rPr>
              <a:t> overnight; </a:t>
            </a:r>
            <a:pPr indent="0" marL="0">
              <a:buNone/>
            </a:pPr>
            <a:r>
              <a:rPr lang="en-US" sz="1200" b="1" dirty="0">
                <a:solidFill>
                  <a:srgbClr val="125C60"/>
                </a:solidFill>
                <a:latin typeface="Proxima Nova" pitchFamily="34" charset="0"/>
                <a:ea typeface="Proxima Nova" pitchFamily="34" charset="-122"/>
                <a:cs typeface="Proxima Nova" pitchFamily="34" charset="-120"/>
              </a:rPr>
              <a:t>47.9M</a:t>
            </a:r>
            <a:pPr indent="0" marL="0">
              <a:buNone/>
            </a:pPr>
            <a:r>
              <a:rPr lang="en-US" sz="1200" dirty="0">
                <a:solidFill>
                  <a:srgbClr val="231F20"/>
                </a:solidFill>
                <a:latin typeface="Proxima Nova" pitchFamily="34" charset="0"/>
                <a:ea typeface="Proxima Nova" pitchFamily="34" charset="-122"/>
                <a:cs typeface="Proxima Nova" pitchFamily="34" charset="-120"/>
              </a:rPr>
              <a:t> domestic and </a:t>
            </a:r>
            <a:pPr indent="0" marL="0">
              <a:buNone/>
            </a:pPr>
            <a:r>
              <a:rPr lang="en-US" sz="1200" b="1" dirty="0">
                <a:solidFill>
                  <a:srgbClr val="125C60"/>
                </a:solidFill>
                <a:latin typeface="Proxima Nova" pitchFamily="34" charset="0"/>
                <a:ea typeface="Proxima Nova" pitchFamily="34" charset="-122"/>
                <a:cs typeface="Proxima Nova" pitchFamily="34" charset="-120"/>
              </a:rPr>
              <a:t>3.5M</a:t>
            </a:r>
            <a:pPr indent="0" marL="0">
              <a:buNone/>
            </a:pPr>
            <a:r>
              <a:rPr lang="en-US" sz="1200" dirty="0">
                <a:solidFill>
                  <a:srgbClr val="231F20"/>
                </a:solidFill>
                <a:latin typeface="Proxima Nova" pitchFamily="34" charset="0"/>
                <a:ea typeface="Proxima Nova" pitchFamily="34" charset="-122"/>
                <a:cs typeface="Proxima Nova" pitchFamily="34" charset="-120"/>
              </a:rPr>
              <a:t> international (Tourism Economics). CIC Research counted </a:t>
            </a:r>
            <a:pPr indent="0" marL="0">
              <a:buNone/>
            </a:pPr>
            <a:r>
              <a:rPr lang="en-US" sz="1200" b="1" dirty="0">
                <a:solidFill>
                  <a:srgbClr val="125C60"/>
                </a:solidFill>
                <a:latin typeface="Proxima Nova" pitchFamily="34" charset="0"/>
                <a:ea typeface="Proxima Nova" pitchFamily="34" charset="-122"/>
                <a:cs typeface="Proxima Nova" pitchFamily="34" charset="-120"/>
              </a:rPr>
              <a:t>50.21M</a:t>
            </a:r>
            <a:pPr indent="0" marL="0">
              <a:buNone/>
            </a:pPr>
            <a:r>
              <a:rPr lang="en-US" sz="1200" dirty="0">
                <a:solidFill>
                  <a:srgbClr val="231F20"/>
                </a:solidFill>
                <a:latin typeface="Proxima Nova" pitchFamily="34" charset="0"/>
                <a:ea typeface="Proxima Nova" pitchFamily="34" charset="-122"/>
                <a:cs typeface="Proxima Nova" pitchFamily="34" charset="-120"/>
              </a:rPr>
              <a:t> in 2019 with a different method. No 2026 year-to-date count is published for the county; Anaheim drew </a:t>
            </a:r>
            <a:pPr indent="0" marL="0">
              <a:buNone/>
            </a:pPr>
            <a:r>
              <a:rPr lang="en-US" sz="1200" b="1" dirty="0">
                <a:solidFill>
                  <a:srgbClr val="125C60"/>
                </a:solidFill>
                <a:latin typeface="Proxima Nova" pitchFamily="34" charset="0"/>
                <a:ea typeface="Proxima Nova" pitchFamily="34" charset="-122"/>
                <a:cs typeface="Proxima Nova" pitchFamily="34" charset="-120"/>
              </a:rPr>
              <a:t>13.1M</a:t>
            </a:r>
            <a:pPr indent="0" marL="0">
              <a:buNone/>
            </a:pPr>
            <a:r>
              <a:rPr lang="en-US" sz="1200" dirty="0">
                <a:solidFill>
                  <a:srgbClr val="231F20"/>
                </a:solidFill>
                <a:latin typeface="Proxima Nova" pitchFamily="34" charset="0"/>
                <a:ea typeface="Proxima Nova" pitchFamily="34" charset="-122"/>
                <a:cs typeface="Proxima Nova" pitchFamily="34" charset="-120"/>
              </a:rPr>
              <a:t> in Jan.-June 2026,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51.3M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Day 29.2M + overnight 22.1M; domestic 47.9M (93.3%), international 3.5M (6.7%)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50.21M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 28.73M + overnight 21.48M; international 9.1% (4.6M)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Not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fell to $5.92B, 46.7% of 2019 (Dean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Jan.-June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Q1 6.32M + Q2 6.74M vs. 12.67M in Jan.-June 2025 (+3.1%)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271.4M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255.0M domestic, 16.4M international (2019: 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visitors, millions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counts visitors who stay overnight or travel more than 50 miles. CIC Research estimated 2019 volume from visitor intercept surveys, a household panel and hotel data. Day + overnight = total.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(2009-2019) and Tourism Economics (2021-2025) use different methods; compare each series within itself. Tourism Economics has not published Orange County visitors for 2019-2020 or a 2026 year-to-date count; both are on the request list for Tourism Economics.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Dean Runyan Associates for Visit California, The Economic Impact of Travel in California, 2025p (Apr. 2026), Orange County detail; Tourism Economics, Anaheim and Garden Grove Travel Forecast (Sept. 2026); Tourism Economics for Visit California, California Travel Forecast data (Sept. 2026). Files in the app library: Economic Impact of Visitors to Orange County, 2025; Annual Profile of Visitors to Anaheim and Orange County, 2019; The Economic Impact of Travel in California, 2025p;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Orange County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More than half (</a:t>
            </a:r>
            <a:pPr indent="0" marL="0">
              <a:buNone/>
            </a:pPr>
            <a:r>
              <a:rPr lang="en-US" sz="1200" b="1" dirty="0">
                <a:solidFill>
                  <a:srgbClr val="125C60"/>
                </a:solidFill>
                <a:latin typeface="Proxima Nova" pitchFamily="34" charset="0"/>
                <a:ea typeface="Proxima Nova" pitchFamily="34" charset="-122"/>
                <a:cs typeface="Proxima Nova" pitchFamily="34" charset="-120"/>
              </a:rPr>
              <a:t>55.4%</a:t>
            </a:r>
            <a:pPr indent="0" marL="0">
              <a:buNone/>
            </a:pPr>
            <a:r>
              <a:rPr lang="en-US" sz="1200" dirty="0">
                <a:solidFill>
                  <a:srgbClr val="231F20"/>
                </a:solidFill>
                <a:latin typeface="Proxima Nova" pitchFamily="34" charset="0"/>
                <a:ea typeface="Proxima Nova" pitchFamily="34" charset="-122"/>
                <a:cs typeface="Proxima Nova" pitchFamily="34" charset="-120"/>
              </a:rPr>
              <a:t>) of Orange County visitors in 2019 lived in Southern California: Los Angeles metro </a:t>
            </a:r>
            <a:pPr indent="0" marL="0">
              <a:buNone/>
            </a:pPr>
            <a:r>
              <a:rPr lang="en-US" sz="1200" b="1" dirty="0">
                <a:solidFill>
                  <a:srgbClr val="125C60"/>
                </a:solidFill>
                <a:latin typeface="Proxima Nova" pitchFamily="34" charset="0"/>
                <a:ea typeface="Proxima Nova" pitchFamily="34" charset="-122"/>
                <a:cs typeface="Proxima Nova" pitchFamily="34" charset="-120"/>
              </a:rPr>
              <a:t>26%</a:t>
            </a:r>
            <a:pPr indent="0" marL="0">
              <a:buNone/>
            </a:pPr>
            <a:r>
              <a:rPr lang="en-US" sz="1200" dirty="0">
                <a:solidFill>
                  <a:srgbClr val="231F20"/>
                </a:solidFill>
                <a:latin typeface="Proxima Nova" pitchFamily="34" charset="0"/>
                <a:ea typeface="Proxima Nova" pitchFamily="34" charset="-122"/>
                <a:cs typeface="Proxima Nova" pitchFamily="34" charset="-120"/>
              </a:rPr>
              <a:t>, Riverside/San Bernardino </a:t>
            </a:r>
            <a:pPr indent="0" marL="0">
              <a:buNone/>
            </a:pPr>
            <a:r>
              <a:rPr lang="en-US" sz="1200" b="1" dirty="0">
                <a:solidFill>
                  <a:srgbClr val="125C60"/>
                </a:solidFill>
                <a:latin typeface="Proxima Nova" pitchFamily="34" charset="0"/>
                <a:ea typeface="Proxima Nova" pitchFamily="34" charset="-122"/>
                <a:cs typeface="Proxima Nova" pitchFamily="34" charset="-120"/>
              </a:rPr>
              <a:t>19%</a:t>
            </a:r>
            <a:pPr indent="0" marL="0">
              <a:buNone/>
            </a:pPr>
            <a:r>
              <a:rPr lang="en-US" sz="1200" dirty="0">
                <a:solidFill>
                  <a:srgbClr val="231F20"/>
                </a:solidFill>
                <a:latin typeface="Proxima Nova" pitchFamily="34" charset="0"/>
                <a:ea typeface="Proxima Nova" pitchFamily="34" charset="-122"/>
                <a:cs typeface="Proxima Nova" pitchFamily="34" charset="-120"/>
              </a:rPr>
              <a:t> and San Diego </a:t>
            </a:r>
            <a:pPr indent="0" marL="0">
              <a:buNone/>
            </a:pPr>
            <a:r>
              <a:rPr lang="en-US" sz="1200" b="1" dirty="0">
                <a:solidFill>
                  <a:srgbClr val="125C60"/>
                </a:solidFill>
                <a:latin typeface="Proxima Nova" pitchFamily="34" charset="0"/>
                <a:ea typeface="Proxima Nova" pitchFamily="34" charset="-122"/>
                <a:cs typeface="Proxima Nova" pitchFamily="34" charset="-120"/>
              </a:rPr>
              <a:t>6%</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9.1%</a:t>
            </a:r>
            <a:pPr indent="0" marL="0">
              <a:buNone/>
            </a:pPr>
            <a:r>
              <a:rPr lang="en-US" sz="1200" dirty="0">
                <a:solidFill>
                  <a:srgbClr val="231F20"/>
                </a:solidFill>
                <a:latin typeface="Proxima Nova" pitchFamily="34" charset="0"/>
                <a:ea typeface="Proxima Nova" pitchFamily="34" charset="-122"/>
                <a:cs typeface="Proxima Nova" pitchFamily="34" charset="-120"/>
              </a:rPr>
              <a:t> were international (CIC). Location data for Anaheim and Garden Grove (Jan. 2023-Aug. 2026) shows </a:t>
            </a:r>
            <a:pPr indent="0" marL="0">
              <a:buNone/>
            </a:pPr>
            <a:r>
              <a:rPr lang="en-US" sz="1200" b="1" dirty="0">
                <a:solidFill>
                  <a:srgbClr val="125C60"/>
                </a:solidFill>
                <a:latin typeface="Proxima Nova" pitchFamily="34" charset="0"/>
                <a:ea typeface="Proxima Nova" pitchFamily="34" charset="-122"/>
                <a:cs typeface="Proxima Nova" pitchFamily="34" charset="-120"/>
              </a:rPr>
              <a:t>44.7%</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from the Los Angeles-Long Beach-Anaheim metro area, which includes Orange County.</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55.4% Southern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 26%, Riverside/San Bernardino 19%, San Diego 6%; international 9.1% (Mexico 848K, Canada 786K)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44.7% Los Angeles-Long Beach-Anaheim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Riverside-San Bernardino-Ontario 26.1%, San Diego 4.1%, Phoenix 2.3% (share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Canada 254K, U.K. 123K, Australia 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domestic trips by home metro area, Anaheim and Garden Grove</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visitor survey, share of all visitors. Azira: mobile location data, share of domestic trips to Anaheim and Garden Grove by home metro area.</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Los Angeles-Long Beach-Anaheim metro area includes all of Orange County. Azira does not provide ZIP codes, so it cannot be split into Anaheim and outside Anaheim.</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Travel Forecast (Sept. 2026). Files in the app library: Annual Profile of Visitors to Anaheim and Orange County, 2019; Azira origin share by metro area (MSA), Anaheim and Garden Grove; Azira origin share by TV market (DMA), Anaheim and Garden Grove;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is Orange County busiest?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July. Orange County hotels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80.6%</a:t>
            </a:r>
            <a:pPr indent="0" marL="0">
              <a:buNone/>
            </a:pPr>
            <a:r>
              <a:rPr lang="en-US" sz="1200" dirty="0">
                <a:solidFill>
                  <a:srgbClr val="231F20"/>
                </a:solidFill>
                <a:latin typeface="Proxima Nova" pitchFamily="34" charset="0"/>
                <a:ea typeface="Proxima Nova" pitchFamily="34" charset="-122"/>
                <a:cs typeface="Proxima Nova" pitchFamily="34" charset="-120"/>
              </a:rPr>
              <a:t> occupancy in July across 2023-2025 vs. </a:t>
            </a:r>
            <a:pPr indent="0" marL="0">
              <a:buNone/>
            </a:pPr>
            <a:r>
              <a:rPr lang="en-US" sz="1200" b="1" dirty="0">
                <a:solidFill>
                  <a:srgbClr val="125C60"/>
                </a:solidFill>
                <a:latin typeface="Proxima Nova" pitchFamily="34" charset="0"/>
                <a:ea typeface="Proxima Nova" pitchFamily="34" charset="-122"/>
                <a:cs typeface="Proxima Nova" pitchFamily="34" charset="-120"/>
              </a:rPr>
              <a:t>61.2%</a:t>
            </a:r>
            <a:pPr indent="0" marL="0">
              <a:buNone/>
            </a:pPr>
            <a:r>
              <a:rPr lang="en-US" sz="1200" dirty="0">
                <a:solidFill>
                  <a:srgbClr val="231F20"/>
                </a:solidFill>
                <a:latin typeface="Proxima Nova" pitchFamily="34" charset="0"/>
                <a:ea typeface="Proxima Nova" pitchFamily="34" charset="-122"/>
                <a:cs typeface="Proxima Nova" pitchFamily="34" charset="-120"/>
              </a:rPr>
              <a:t> in January, the low month (CoStar). In 2026, July reached </a:t>
            </a:r>
            <a:pPr indent="0" marL="0">
              <a:buNone/>
            </a:pPr>
            <a:r>
              <a:rPr lang="en-US" sz="1200" b="1" dirty="0">
                <a:solidFill>
                  <a:srgbClr val="125C60"/>
                </a:solidFill>
                <a:latin typeface="Proxima Nova" pitchFamily="34" charset="0"/>
                <a:ea typeface="Proxima Nova" pitchFamily="34" charset="-122"/>
                <a:cs typeface="Proxima Nova" pitchFamily="34" charset="-120"/>
              </a:rPr>
              <a:t>82.6%</a:t>
            </a:r>
            <a:pPr indent="0" marL="0">
              <a:buNone/>
            </a:pPr>
            <a:r>
              <a:rPr lang="en-US" sz="1200" dirty="0">
                <a:solidFill>
                  <a:srgbClr val="231F20"/>
                </a:solidFill>
                <a:latin typeface="Proxima Nova" pitchFamily="34" charset="0"/>
                <a:ea typeface="Proxima Nova" pitchFamily="34" charset="-122"/>
                <a:cs typeface="Proxima Nova" pitchFamily="34" charset="-120"/>
              </a:rPr>
              <a:t>. Monthly visitor counts are not published for the county, so hotel occupancy is the monthly measure.</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July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Average of 2023 80.7%, 2024 80.0%, 2025 81.2%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January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of 2023 58.4%, 2024 61.7%, 2025 63.6%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hotels, June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Second-highest month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hotel occupancy by month, 2023-2025 average</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Average of the three most recent full years: (2023 + 2024 + 2025) / 3 for each month.</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Hotel occupancy measures overnight guests only; day visitors (</a:t>
            </a:r>
            <a:pPr indent="0" marL="0">
              <a:buNone/>
            </a:pPr>
            <a:r>
              <a:rPr lang="en-US" sz="900" b="1" dirty="0">
                <a:solidFill>
                  <a:srgbClr val="125C60"/>
                </a:solidFill>
                <a:latin typeface="Proxima Nova" pitchFamily="34" charset="0"/>
                <a:ea typeface="Proxima Nova" pitchFamily="34" charset="-122"/>
                <a:cs typeface="Proxima Nova" pitchFamily="34" charset="-120"/>
              </a:rPr>
              <a:t>57%</a:t>
            </a:r>
            <a:pPr indent="0" marL="0">
              <a:buNone/>
            </a:pPr>
            <a:r>
              <a:rPr lang="en-US" sz="900" dirty="0">
                <a:solidFill>
                  <a:srgbClr val="231F20"/>
                </a:solidFill>
                <a:latin typeface="Proxima Nova" pitchFamily="34" charset="0"/>
                <a:ea typeface="Proxima Nova" pitchFamily="34" charset="-122"/>
                <a:cs typeface="Proxima Nova" pitchFamily="34" charset="-120"/>
              </a:rPr>
              <a:t> of county visitors in 2025) are not in it.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Files in the app library: Orange County hospitality market report; State and Regional Lodging Forecast,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Why do people visit Orange County, and who travels with them?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2019, </a:t>
            </a:r>
            <a:pPr indent="0" marL="0">
              <a:buNone/>
            </a:pPr>
            <a:r>
              <a:rPr lang="en-US" sz="1200" b="1" dirty="0">
                <a:solidFill>
                  <a:srgbClr val="125C60"/>
                </a:solidFill>
                <a:latin typeface="Proxima Nova" pitchFamily="34" charset="0"/>
                <a:ea typeface="Proxima Nova" pitchFamily="34" charset="-122"/>
                <a:cs typeface="Proxima Nova" pitchFamily="34" charset="-120"/>
              </a:rPr>
              <a:t>81.2%</a:t>
            </a:r>
            <a:pPr indent="0" marL="0">
              <a:buNone/>
            </a:pPr>
            <a:r>
              <a:rPr lang="en-US" sz="1200" dirty="0">
                <a:solidFill>
                  <a:srgbClr val="231F20"/>
                </a:solidFill>
                <a:latin typeface="Proxima Nova" pitchFamily="34" charset="0"/>
                <a:ea typeface="Proxima Nova" pitchFamily="34" charset="-122"/>
                <a:cs typeface="Proxima Nova" pitchFamily="34" charset="-120"/>
              </a:rPr>
              <a:t> of Orange County visitors came for pleasure or to see friends and relatives, </a:t>
            </a:r>
            <a:pPr indent="0" marL="0">
              <a:buNone/>
            </a:pPr>
            <a:r>
              <a:rPr lang="en-US" sz="1200" b="1" dirty="0">
                <a:solidFill>
                  <a:srgbClr val="125C60"/>
                </a:solidFill>
                <a:latin typeface="Proxima Nova" pitchFamily="34" charset="0"/>
                <a:ea typeface="Proxima Nova" pitchFamily="34" charset="-122"/>
                <a:cs typeface="Proxima Nova" pitchFamily="34" charset="-120"/>
              </a:rPr>
              <a:t>9.6%</a:t>
            </a:r>
            <a:pPr indent="0" marL="0">
              <a:buNone/>
            </a:pPr>
            <a:r>
              <a:rPr lang="en-US" sz="1200" dirty="0">
                <a:solidFill>
                  <a:srgbClr val="231F20"/>
                </a:solidFill>
                <a:latin typeface="Proxima Nova" pitchFamily="34" charset="0"/>
                <a:ea typeface="Proxima Nova" pitchFamily="34" charset="-122"/>
                <a:cs typeface="Proxima Nova" pitchFamily="34" charset="-120"/>
              </a:rPr>
              <a:t> for business or conventions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7.6%</a:t>
            </a:r>
            <a:pPr indent="0" marL="0">
              <a:buNone/>
            </a:pPr>
            <a:r>
              <a:rPr lang="en-US" sz="1200" dirty="0">
                <a:solidFill>
                  <a:srgbClr val="231F20"/>
                </a:solidFill>
                <a:latin typeface="Proxima Nova" pitchFamily="34" charset="0"/>
                <a:ea typeface="Proxima Nova" pitchFamily="34" charset="-122"/>
                <a:cs typeface="Proxima Nova" pitchFamily="34" charset="-120"/>
              </a:rPr>
              <a:t> for special events. The average travel party was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people, </a:t>
            </a:r>
            <a:pPr indent="0" marL="0">
              <a:buNone/>
            </a:pPr>
            <a:r>
              <a:rPr lang="en-US" sz="1200" b="1" dirty="0">
                <a:solidFill>
                  <a:srgbClr val="125C60"/>
                </a:solidFill>
                <a:latin typeface="Proxima Nova" pitchFamily="34" charset="0"/>
                <a:ea typeface="Proxima Nova" pitchFamily="34" charset="-122"/>
                <a:cs typeface="Proxima Nova" pitchFamily="34" charset="-120"/>
              </a:rPr>
              <a:t>37.0%</a:t>
            </a:r>
            <a:pPr indent="0" marL="0">
              <a:buNone/>
            </a:pPr>
            <a:r>
              <a:rPr lang="en-US" sz="1200" dirty="0">
                <a:solidFill>
                  <a:srgbClr val="231F20"/>
                </a:solidFill>
                <a:latin typeface="Proxima Nova" pitchFamily="34" charset="0"/>
                <a:ea typeface="Proxima Nova" pitchFamily="34" charset="-122"/>
                <a:cs typeface="Proxima Nova" pitchFamily="34" charset="-120"/>
              </a:rPr>
              <a:t> had children with them, and overnight visitors stayed </a:t>
            </a:r>
            <a:pPr indent="0" marL="0">
              <a:buNone/>
            </a:pPr>
            <a:r>
              <a:rPr lang="en-US" sz="1200" b="1" dirty="0">
                <a:solidFill>
                  <a:srgbClr val="125C60"/>
                </a:solidFill>
                <a:latin typeface="Proxima Nova" pitchFamily="34" charset="0"/>
                <a:ea typeface="Proxima Nova" pitchFamily="34" charset="-122"/>
                <a:cs typeface="Proxima Nova" pitchFamily="34" charset="-120"/>
              </a:rPr>
              <a:t>4.2 nights</a:t>
            </a:r>
            <a:pPr indent="0" marL="0">
              <a:buNone/>
            </a:pPr>
            <a:r>
              <a:rPr lang="en-US" sz="1200" dirty="0">
                <a:solidFill>
                  <a:srgbClr val="231F20"/>
                </a:solidFill>
                <a:latin typeface="Proxima Nova" pitchFamily="34" charset="0"/>
                <a:ea typeface="Proxima Nova" pitchFamily="34" charset="-122"/>
                <a:cs typeface="Proxima Nova" pitchFamily="34" charset="-120"/>
              </a:rPr>
              <a:t> (CIC). It is the latest county visitor profile.</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all visitors,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Party of 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37.0% with children; 81.2% pleasure or VFR; 1.8 nights average (day visitors count as 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hotel guests,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Party of 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28.7% with children; 29.0% business or convention; 3.8 nights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all visitors,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Party of 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42.0% with children; 78.3% pleasure or VFR; 9.7% special events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1.28-1.46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length of stay by month, Jan.-Aug. 2026; international 4.99 days (2023-2026)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Main purpose of trip, Orange County visitors, 2019</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CIC Research surveyed </a:t>
            </a:r>
            <a:pPr indent="0" marL="0">
              <a:buNone/>
            </a:pPr>
            <a:r>
              <a:rPr lang="en-US" sz="900" b="1" dirty="0">
                <a:solidFill>
                  <a:srgbClr val="125C60"/>
                </a:solidFill>
                <a:latin typeface="Proxima Nova" pitchFamily="34" charset="0"/>
                <a:ea typeface="Proxima Nova" pitchFamily="34" charset="-122"/>
                <a:cs typeface="Proxima Nova" pitchFamily="34" charset="-120"/>
              </a:rPr>
              <a:t>4,040</a:t>
            </a:r>
            <a:pPr indent="0" marL="0">
              <a:buNone/>
            </a:pPr>
            <a:r>
              <a:rPr lang="en-US" sz="900" dirty="0">
                <a:solidFill>
                  <a:srgbClr val="231F20"/>
                </a:solidFill>
                <a:latin typeface="Proxima Nova" pitchFamily="34" charset="0"/>
                <a:ea typeface="Proxima Nova" pitchFamily="34" charset="-122"/>
                <a:cs typeface="Proxima Nova" pitchFamily="34" charset="-120"/>
              </a:rPr>
              <a:t> visitor groups in 2019 (</a:t>
            </a:r>
            <a:pPr indent="0" marL="0">
              <a:buNone/>
            </a:pPr>
            <a:r>
              <a:rPr lang="en-US" sz="900" b="1" dirty="0">
                <a:solidFill>
                  <a:srgbClr val="125C60"/>
                </a:solidFill>
                <a:latin typeface="Proxima Nova" pitchFamily="34" charset="0"/>
                <a:ea typeface="Proxima Nova" pitchFamily="34" charset="-122"/>
                <a:cs typeface="Proxima Nova" pitchFamily="34" charset="-120"/>
              </a:rPr>
              <a:t>2,686</a:t>
            </a:r>
            <a:pPr indent="0" marL="0">
              <a:buNone/>
            </a:pPr>
            <a:r>
              <a:rPr lang="en-US" sz="900" dirty="0">
                <a:solidFill>
                  <a:srgbClr val="231F20"/>
                </a:solidFill>
                <a:latin typeface="Proxima Nova" pitchFamily="34" charset="0"/>
                <a:ea typeface="Proxima Nova" pitchFamily="34" charset="-122"/>
                <a:cs typeface="Proxima Nova" pitchFamily="34" charset="-120"/>
              </a:rPr>
              <a:t> intercepts at 36 Orange County locations plus a panel of </a:t>
            </a:r>
            <a:pPr indent="0" marL="0">
              <a:buNone/>
            </a:pPr>
            <a:r>
              <a:rPr lang="en-US" sz="900" b="1" dirty="0">
                <a:solidFill>
                  <a:srgbClr val="125C60"/>
                </a:solidFill>
                <a:latin typeface="Proxima Nova" pitchFamily="34" charset="0"/>
                <a:ea typeface="Proxima Nova" pitchFamily="34" charset="-122"/>
                <a:cs typeface="Proxima Nova" pitchFamily="34" charset="-120"/>
              </a:rPr>
              <a:t>2,087</a:t>
            </a:r>
            <a:pPr indent="0" marL="0">
              <a:buNone/>
            </a:pPr>
            <a:r>
              <a:rPr lang="en-US" sz="900" dirty="0">
                <a:solidFill>
                  <a:srgbClr val="231F20"/>
                </a:solidFill>
                <a:latin typeface="Proxima Nova" pitchFamily="34" charset="0"/>
                <a:ea typeface="Proxima Nova" pitchFamily="34" charset="-122"/>
                <a:cs typeface="Proxima Nova" pitchFamily="34" charset="-120"/>
              </a:rPr>
              <a:t> households).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2019 profile predates the pandemic; no newer Orange County visitor survey was found (SharePoint and Visit California sources searched Oct. 19, 2026). A new survey would update purpose, party size and children.</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Files in the app library: Annual Profile of Visitors to Anaheim and Orange County, 2019; Azira length of stay trend, Anaheim and Garden Grove; Azira international average length of stay, Anaheim and Garden Grove; Monthly Travel Indicators,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hotel rooms does Orange County have, and how full are they?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Orange County tourism statistics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had </a:t>
            </a:r>
            <a:pPr indent="0" marL="0">
              <a:buNone/>
            </a:pPr>
            <a:r>
              <a:rPr lang="en-US" sz="1200" b="1" dirty="0">
                <a:solidFill>
                  <a:srgbClr val="125C60"/>
                </a:solidFill>
                <a:latin typeface="Proxima Nova" pitchFamily="34" charset="0"/>
                <a:ea typeface="Proxima Nova" pitchFamily="34" charset="-122"/>
                <a:cs typeface="Proxima Nova" pitchFamily="34" charset="-120"/>
              </a:rPr>
              <a:t>60,224</a:t>
            </a:r>
            <a:pPr indent="0" marL="0">
              <a:buNone/>
            </a:pPr>
            <a:r>
              <a:rPr lang="en-US" sz="1200" dirty="0">
                <a:solidFill>
                  <a:srgbClr val="231F20"/>
                </a:solidFill>
                <a:latin typeface="Proxima Nova" pitchFamily="34" charset="0"/>
                <a:ea typeface="Proxima Nova" pitchFamily="34" charset="-122"/>
                <a:cs typeface="Proxima Nova" pitchFamily="34" charset="-120"/>
              </a:rPr>
              <a:t> hotel rooms in Sept. 2026.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75.2%</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$221.67</a:t>
            </a:r>
            <a:pPr indent="0" marL="0">
              <a:buNone/>
            </a:pPr>
            <a:r>
              <a:rPr lang="en-US" sz="1200" dirty="0">
                <a:solidFill>
                  <a:srgbClr val="231F20"/>
                </a:solidFill>
                <a:latin typeface="Proxima Nova" pitchFamily="34" charset="0"/>
                <a:ea typeface="Proxima Nova" pitchFamily="34" charset="-122"/>
                <a:cs typeface="Proxima Nova" pitchFamily="34" charset="-120"/>
              </a:rPr>
              <a:t> a night in Jan.-Aug. 2026, up from </a:t>
            </a:r>
            <a:pPr indent="0" marL="0">
              <a:buNone/>
            </a:pPr>
            <a:r>
              <a:rPr lang="en-US" sz="1200" b="1" dirty="0">
                <a:solidFill>
                  <a:srgbClr val="125C60"/>
                </a:solidFill>
                <a:latin typeface="Proxima Nova" pitchFamily="34" charset="0"/>
                <a:ea typeface="Proxima Nova" pitchFamily="34" charset="-122"/>
                <a:cs typeface="Proxima Nova" pitchFamily="34" charset="-120"/>
              </a:rPr>
              <a:t>72.3%</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$209.68</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77.4%</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$165.36</a:t>
            </a:r>
            <a:pPr indent="0" marL="0">
              <a:buNone/>
            </a:pPr>
            <a:r>
              <a:rPr lang="en-US" sz="1200" dirty="0">
                <a:solidFill>
                  <a:srgbClr val="231F20"/>
                </a:solidFill>
                <a:latin typeface="Proxima Nova" pitchFamily="34" charset="0"/>
                <a:ea typeface="Proxima Nova" pitchFamily="34" charset="-122"/>
                <a:cs typeface="Proxima Nova" pitchFamily="34" charset="-120"/>
              </a:rPr>
              <a:t> in 2019 (CoStar).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2026 YTD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75.2% · $221.67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Revenue per available room $166.70 (75.2% x $221.67)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72.3% · $209.68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60,547 rooms available a night on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77.4% · $165.36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58,633 rooms available a night on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75.9% · $221.61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lodging forecast for Visit California (CoStar basis)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hotel occupancy</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Rooms available a night = annual available room nights / days in the year. Revenue per available room = occupancy x ADR.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data is licensed; summary figures are shared, raw exports are not.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Tourism Economics for Visit California, State and Regional Lodging Forecast (Sept. 2026; CoStar data). Files in the app library: Orange County hospitality market report; Disneyland hospitality submarket report; State and Regional Lodging Forecast,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Is visitor spending growing?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Anaheim visitor spending rose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Orange County grew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California </a:t>
            </a:r>
            <a:pPr indent="0" marL="0">
              <a:buNone/>
            </a:pPr>
            <a:r>
              <a:rPr lang="en-US" sz="1200" b="1" dirty="0">
                <a:solidFill>
                  <a:srgbClr val="125C60"/>
                </a:solidFill>
                <a:latin typeface="Proxima Nova" pitchFamily="34" charset="0"/>
                <a:ea typeface="Proxima Nova" pitchFamily="34" charset="-122"/>
                <a:cs typeface="Proxima Nova" pitchFamily="34" charset="-120"/>
              </a:rPr>
              <a:t>1.7%</a:t>
            </a:r>
            <a:pPr indent="0" marL="0">
              <a:buNone/>
            </a:pPr>
            <a:r>
              <a:rPr lang="en-US" sz="1200" dirty="0">
                <a:solidFill>
                  <a:srgbClr val="231F20"/>
                </a:solidFill>
                <a:latin typeface="Proxima Nova" pitchFamily="34" charset="0"/>
                <a:ea typeface="Proxima Nova" pitchFamily="34" charset="-122"/>
                <a:cs typeface="Proxima Nova" pitchFamily="34" charset="-120"/>
              </a:rPr>
              <a:t> and the U.S. </a:t>
            </a:r>
            <a:pPr indent="0" marL="0">
              <a:buNone/>
            </a:pPr>
            <a:r>
              <a:rPr lang="en-US" sz="1200" b="1" dirty="0">
                <a:solidFill>
                  <a:srgbClr val="125C60"/>
                </a:solidFill>
                <a:latin typeface="Proxima Nova" pitchFamily="34" charset="0"/>
                <a:ea typeface="Proxima Nova" pitchFamily="34" charset="-122"/>
                <a:cs typeface="Proxima Nova" pitchFamily="34" charset="-120"/>
              </a:rPr>
              <a:t>1.4%</a:t>
            </a:r>
            <a:pPr indent="0" marL="0">
              <a:buNone/>
            </a:pPr>
            <a:r>
              <a:rPr lang="en-US" sz="1200" dirty="0">
                <a:solidFill>
                  <a:srgbClr val="231F20"/>
                </a:solidFill>
                <a:latin typeface="Proxima Nova" pitchFamily="34" charset="0"/>
                <a:ea typeface="Proxima Nova" pitchFamily="34" charset="-122"/>
                <a:cs typeface="Proxima Nova" pitchFamily="34" charset="-120"/>
              </a:rPr>
              <a:t> after inflation.</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$6.626B to $6.832B (2024 to 2025); Q2 2026 +7.8%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$17.40B to $17.99B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$156.2B to $158.9B direct travel spending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$1.341T to $1.360T (2024 to 2025,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Growth in visitor or travel spending, 2025 vs. 2024</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Growth = this year ÷ last year − 1. Anaheim, Orange County and California are in current dollars; the U.S. series is adjusted for inflation, so it reads lower.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forecasts Anaheim visitor spending of </a:t>
            </a:r>
            <a:pPr indent="0" marL="0">
              <a:buNone/>
            </a:pPr>
            <a:r>
              <a:rPr lang="en-US" sz="900" b="1" dirty="0">
                <a:solidFill>
                  <a:srgbClr val="125C60"/>
                </a:solidFill>
                <a:latin typeface="Proxima Nova" pitchFamily="34" charset="0"/>
                <a:ea typeface="Proxima Nova" pitchFamily="34" charset="-122"/>
                <a:cs typeface="Proxima Nova" pitchFamily="34" charset="-120"/>
              </a:rPr>
              <a:t>$7.2B</a:t>
            </a:r>
            <a:pPr indent="0" marL="0">
              <a:buNone/>
            </a:pPr>
            <a:r>
              <a:rPr lang="en-US" sz="900" dirty="0">
                <a:solidFill>
                  <a:srgbClr val="231F20"/>
                </a:solidFill>
                <a:latin typeface="Proxima Nova" pitchFamily="34" charset="0"/>
                <a:ea typeface="Proxima Nova" pitchFamily="34" charset="-122"/>
                <a:cs typeface="Proxima Nova" pitchFamily="34" charset="-120"/>
              </a:rPr>
              <a:t> in 2026 (</a:t>
            </a:r>
            <a:pPr indent="0" marL="0">
              <a:buNone/>
            </a:pPr>
            <a:r>
              <a:rPr lang="en-US" sz="900" b="1" dirty="0">
                <a:solidFill>
                  <a:srgbClr val="125C60"/>
                </a:solidFill>
                <a:latin typeface="Proxima Nova" pitchFamily="34" charset="0"/>
                <a:ea typeface="Proxima Nova" pitchFamily="34" charset="-122"/>
                <a:cs typeface="Proxima Nova" pitchFamily="34" charset="-120"/>
              </a:rPr>
              <a:t>+5.6%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Tourism Economics, Anaheim and Garden Grove Travel Forecast (Sept. 2026); Tourism Economics, Economic Impact of Visitors 2025 (pub. Apr.–May 2026); Visit California, The Economic Impact of Travel in California, 2025p (Dean Runyan Associates, Apr. 6, 2026); U.S. Travel Association and Tourism Economics, Travel Forecast, Spring 2026 (real 2025 dollars). Files in the app library: Economic Impact of Visitors to Anaheim,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did the latest quarterly Tourism Economics report (Q2 2026) show?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200" b="1" dirty="0">
                <a:solidFill>
                  <a:srgbClr val="125C60"/>
                </a:solidFill>
                <a:latin typeface="Proxima Nova" pitchFamily="34" charset="0"/>
                <a:ea typeface="Proxima Nova" pitchFamily="34" charset="-122"/>
                <a:cs typeface="Proxima Nova" pitchFamily="34" charset="-120"/>
              </a:rPr>
              <a:t>6.74M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Q2 2026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who spent </a:t>
            </a:r>
            <a:pPr indent="0" marL="0">
              <a:buNone/>
            </a:pPr>
            <a:r>
              <a:rPr lang="en-US" sz="1200" b="1" dirty="0">
                <a:solidFill>
                  <a:srgbClr val="125C60"/>
                </a:solidFill>
                <a:latin typeface="Proxima Nova" pitchFamily="34" charset="0"/>
                <a:ea typeface="Proxima Nova" pitchFamily="34" charset="-122"/>
                <a:cs typeface="Proxima Nova" pitchFamily="34" charset="-120"/>
              </a:rPr>
              <a:t>$1.76B</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Overnight visits rose </a:t>
            </a:r>
            <a:pPr indent="0" marL="0">
              <a:buNone/>
            </a:pPr>
            <a:r>
              <a:rPr lang="en-US" sz="1200" b="1" dirty="0">
                <a:solidFill>
                  <a:srgbClr val="125C60"/>
                </a:solidFill>
                <a:latin typeface="Proxima Nova" pitchFamily="34" charset="0"/>
                <a:ea typeface="Proxima Nova" pitchFamily="34" charset="-122"/>
                <a:cs typeface="Proxima Nova" pitchFamily="34" charset="-120"/>
              </a:rPr>
              <a:t>4.5%</a:t>
            </a:r>
            <a:pPr indent="0" marL="0">
              <a:buNone/>
            </a:pPr>
            <a:r>
              <a:rPr lang="en-US" sz="1200" dirty="0">
                <a:solidFill>
                  <a:srgbClr val="231F20"/>
                </a:solidFill>
                <a:latin typeface="Proxima Nova" pitchFamily="34" charset="0"/>
                <a:ea typeface="Proxima Nova" pitchFamily="34" charset="-122"/>
                <a:cs typeface="Proxima Nova" pitchFamily="34" charset="-120"/>
              </a:rPr>
              <a:t> and day visits </a:t>
            </a:r>
            <a:pPr indent="0" marL="0">
              <a:buNone/>
            </a:pPr>
            <a:r>
              <a:rPr lang="en-US" sz="1200" b="1" dirty="0">
                <a:solidFill>
                  <a:srgbClr val="125C60"/>
                </a:solidFill>
                <a:latin typeface="Proxima Nova" pitchFamily="34" charset="0"/>
                <a:ea typeface="Proxima Nova" pitchFamily="34" charset="-122"/>
                <a:cs typeface="Proxima Nova" pitchFamily="34" charset="-120"/>
              </a:rPr>
              <a:t>2.1%</a:t>
            </a:r>
            <a:pPr indent="0" marL="0">
              <a:buNone/>
            </a:pPr>
            <a:r>
              <a:rPr lang="en-US" sz="1200" dirty="0">
                <a:solidFill>
                  <a:srgbClr val="231F20"/>
                </a:solidFill>
                <a:latin typeface="Proxima Nova" pitchFamily="34" charset="0"/>
                <a:ea typeface="Proxima Nova" pitchFamily="34" charset="-122"/>
                <a:cs typeface="Proxima Nova" pitchFamily="34" charset="-120"/>
              </a:rPr>
              <a:t>; hotel rates were nearly </a:t>
            </a:r>
            <a:pPr indent="0" marL="0">
              <a:buNone/>
            </a:pPr>
            <a:r>
              <a:rPr lang="en-US" sz="1200" b="1" dirty="0">
                <a:solidFill>
                  <a:srgbClr val="125C60"/>
                </a:solidFill>
                <a:latin typeface="Proxima Nova" pitchFamily="34" charset="0"/>
                <a:ea typeface="Proxima Nova" pitchFamily="34" charset="-122"/>
                <a:cs typeface="Proxima Nova" pitchFamily="34" charset="-120"/>
              </a:rPr>
              <a:t>9%</a:t>
            </a:r>
            <a:pPr indent="0" marL="0">
              <a:buNone/>
            </a:pPr>
            <a:r>
              <a:rPr lang="en-US" sz="1200" dirty="0">
                <a:solidFill>
                  <a:srgbClr val="231F20"/>
                </a:solidFill>
                <a:latin typeface="Proxima Nova" pitchFamily="34" charset="0"/>
                <a:ea typeface="Proxima Nova" pitchFamily="34" charset="-122"/>
                <a:cs typeface="Proxima Nova" pitchFamily="34" charset="-120"/>
              </a:rPr>
              <a:t> higher. Garden Grove: </a:t>
            </a:r>
            <a:pPr indent="0" marL="0">
              <a:buNone/>
            </a:pPr>
            <a:r>
              <a:rPr lang="en-US" sz="1200" b="1" dirty="0">
                <a:solidFill>
                  <a:srgbClr val="125C60"/>
                </a:solidFill>
                <a:latin typeface="Proxima Nova" pitchFamily="34" charset="0"/>
                <a:ea typeface="Proxima Nova" pitchFamily="34" charset="-122"/>
                <a:cs typeface="Proxima Nova" pitchFamily="34" charset="-120"/>
              </a:rPr>
              <a:t>831,000 visitors</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$200.4M</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6.74M visitors · $1.76B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+2.8% visitors · +7.8% spending; first half 13.1M visitors, $3.5B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831,000 visitors · $200.4M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 visitors · +7.1%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visitors in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 spending $2.79B (+1.8%); Mexico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Steady, with risks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expects a prolonged Federal Reserve pause; risks include an equity correction and layoffs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by quarter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Quarterly visits and spending are Tourism Economics measurements in its Travel Forecast. Change is vs. the same quarter a year earlier.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quarterly results are in the Travel Forecast (Sept. 2026). The annual Economic Impact reports cover calendar 2025; both are in the library.</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Files in the app library: Anaheim and Garden Grove Travel Forecast, Sept. 2026 (Q2 2026 results); Anaheim and Garden Grove Travel Forecast, June 2026 (Q1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visitor dollars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Anaheim, recreation takes the largest share (</a:t>
            </a:r>
            <a:pPr indent="0" marL="0">
              <a:buNone/>
            </a:pPr>
            <a:r>
              <a:rPr lang="en-US" sz="1200" b="1" dirty="0">
                <a:solidFill>
                  <a:srgbClr val="125C60"/>
                </a:solidFill>
                <a:latin typeface="Proxima Nova" pitchFamily="34" charset="0"/>
                <a:ea typeface="Proxima Nova" pitchFamily="34" charset="-122"/>
                <a:cs typeface="Proxima Nova" pitchFamily="34" charset="-120"/>
              </a:rPr>
              <a:t>34.0%</a:t>
            </a:r>
            <a:pPr indent="0" marL="0">
              <a:buNone/>
            </a:pPr>
            <a:r>
              <a:rPr lang="en-US" sz="1200" dirty="0">
                <a:solidFill>
                  <a:srgbClr val="231F20"/>
                </a:solidFill>
                <a:latin typeface="Proxima Nova" pitchFamily="34" charset="0"/>
                <a:ea typeface="Proxima Nova" pitchFamily="34" charset="-122"/>
                <a:cs typeface="Proxima Nova" pitchFamily="34" charset="-120"/>
              </a:rPr>
              <a:t>), then lodging (</a:t>
            </a:r>
            <a:pPr indent="0" marL="0">
              <a:buNone/>
            </a:pPr>
            <a:r>
              <a:rPr lang="en-US" sz="1200" b="1" dirty="0">
                <a:solidFill>
                  <a:srgbClr val="125C60"/>
                </a:solidFill>
                <a:latin typeface="Proxima Nova" pitchFamily="34" charset="0"/>
                <a:ea typeface="Proxima Nova" pitchFamily="34" charset="-122"/>
                <a:cs typeface="Proxima Nova" pitchFamily="34" charset="-120"/>
              </a:rPr>
              <a:t>25.2%</a:t>
            </a:r>
            <a:pPr indent="0" marL="0">
              <a:buNone/>
            </a:pPr>
            <a:r>
              <a:rPr lang="en-US" sz="1200" dirty="0">
                <a:solidFill>
                  <a:srgbClr val="231F20"/>
                </a:solidFill>
                <a:latin typeface="Proxima Nova" pitchFamily="34" charset="0"/>
                <a:ea typeface="Proxima Nova" pitchFamily="34" charset="-122"/>
                <a:cs typeface="Proxima Nova" pitchFamily="34" charset="-120"/>
              </a:rPr>
              <a:t>), retail (</a:t>
            </a:r>
            <a:pPr indent="0" marL="0">
              <a:buNone/>
            </a:pPr>
            <a:r>
              <a:rPr lang="en-US" sz="1200" b="1" dirty="0">
                <a:solidFill>
                  <a:srgbClr val="125C60"/>
                </a:solidFill>
                <a:latin typeface="Proxima Nova" pitchFamily="34" charset="0"/>
                <a:ea typeface="Proxima Nova" pitchFamily="34" charset="-122"/>
                <a:cs typeface="Proxima Nova" pitchFamily="34" charset="-120"/>
              </a:rPr>
              <a:t>21.9%</a:t>
            </a:r>
            <a:pPr indent="0" marL="0">
              <a:buNone/>
            </a:pPr>
            <a:r>
              <a:rPr lang="en-US" sz="1200" dirty="0">
                <a:solidFill>
                  <a:srgbClr val="231F20"/>
                </a:solidFill>
                <a:latin typeface="Proxima Nova" pitchFamily="34" charset="0"/>
                <a:ea typeface="Proxima Nova" pitchFamily="34" charset="-122"/>
                <a:cs typeface="Proxima Nova" pitchFamily="34" charset="-120"/>
              </a:rPr>
              <a:t>), food and beverage (</a:t>
            </a:r>
            <a:pPr indent="0" marL="0">
              <a:buNone/>
            </a:pPr>
            <a:r>
              <a:rPr lang="en-US" sz="1200" b="1" dirty="0">
                <a:solidFill>
                  <a:srgbClr val="125C60"/>
                </a:solidFill>
                <a:latin typeface="Proxima Nova" pitchFamily="34" charset="0"/>
                <a:ea typeface="Proxima Nova" pitchFamily="34" charset="-122"/>
                <a:cs typeface="Proxima Nova" pitchFamily="34" charset="-120"/>
              </a:rPr>
              <a:t>15.6%</a:t>
            </a:r>
            <a:pPr indent="0" marL="0">
              <a:buNone/>
            </a:pPr>
            <a:r>
              <a:rPr lang="en-US" sz="1200" dirty="0">
                <a:solidFill>
                  <a:srgbClr val="231F20"/>
                </a:solidFill>
                <a:latin typeface="Proxima Nova" pitchFamily="34" charset="0"/>
                <a:ea typeface="Proxima Nova" pitchFamily="34" charset="-122"/>
                <a:cs typeface="Proxima Nova" pitchFamily="34" charset="-120"/>
              </a:rPr>
              <a:t>) and transportation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food and beverage leads (</a:t>
            </a:r>
            <a:pPr indent="0" marL="0">
              <a:buNone/>
            </a:pPr>
            <a:r>
              <a:rPr lang="en-US" sz="1200" b="1" dirty="0">
                <a:solidFill>
                  <a:srgbClr val="125C60"/>
                </a:solidFill>
                <a:latin typeface="Proxima Nova" pitchFamily="34" charset="0"/>
                <a:ea typeface="Proxima Nova" pitchFamily="34" charset="-122"/>
                <a:cs typeface="Proxima Nova" pitchFamily="34" charset="-120"/>
              </a:rPr>
              <a:t>27.6%</a:t>
            </a:r>
            <a:pPr indent="0" marL="0">
              <a:buNone/>
            </a:pPr>
            <a:r>
              <a:rPr lang="en-US" sz="1200" dirty="0">
                <a:solidFill>
                  <a:srgbClr val="231F20"/>
                </a:solidFill>
                <a:latin typeface="Proxima Nova" pitchFamily="34" charset="0"/>
                <a:ea typeface="Proxima Nova" pitchFamily="34" charset="-122"/>
                <a:cs typeface="Proxima Nova" pitchFamily="34" charset="-120"/>
              </a:rPr>
              <a:t>). Statewide, food service and lodging lead.</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Recreation 34.0%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25.2% · retail 21.9% · F&amp;B 15.6% · transportation 3.3% ($6.83B,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F&amp;B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Lodging 25.9% · recreation 22.0% · retail 20.5% · transportation 3.9% ($17.99B,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Food service 27.3%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Accommodations 25.0% · local transportation and gas 13.3% · arts and recreation 13.1% · retail 12.4% · visitor air 4.6% · food stores 4.2% ($140.8B,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Share of visitor spending by category, 2025</a:t>
            </a:r>
            <a:endParaRPr lang="en-US" sz="1200" dirty="0"/>
          </a:p>
        </p:txBody>
      </p:sp>
      <p:graphicFrame>
        <p:nvGraphicFramePr>
          <p:cNvPr id="8" name="chart" descr=""/>
          <p:cNvGraphicFramePr/>
          <p:nvPr/>
        </p:nvGraphicFramePr>
        <p:xfrm>
          <a:off x="7406640" y="1673352"/>
          <a:ext cx="4236415" cy="2167128"/>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category spending ÷ total visitor spending. California food and beverage combines food service (</a:t>
            </a:r>
            <a:pPr indent="0" marL="0">
              <a:buNone/>
            </a:pPr>
            <a:r>
              <a:rPr lang="en-US" sz="900" b="1" dirty="0">
                <a:solidFill>
                  <a:srgbClr val="125C60"/>
                </a:solidFill>
                <a:latin typeface="Proxima Nova" pitchFamily="34" charset="0"/>
                <a:ea typeface="Proxima Nova" pitchFamily="34" charset="-122"/>
                <a:cs typeface="Proxima Nova" pitchFamily="34" charset="-120"/>
              </a:rPr>
              <a:t>$38.5B</a:t>
            </a:r>
            <a:pPr indent="0" marL="0">
              <a:buNone/>
            </a:pPr>
            <a:r>
              <a:rPr lang="en-US" sz="900" dirty="0">
                <a:solidFill>
                  <a:srgbClr val="231F20"/>
                </a:solidFill>
                <a:latin typeface="Proxima Nova" pitchFamily="34" charset="0"/>
                <a:ea typeface="Proxima Nova" pitchFamily="34" charset="-122"/>
                <a:cs typeface="Proxima Nova" pitchFamily="34" charset="-120"/>
              </a:rPr>
              <a:t>) and food stores (</a:t>
            </a:r>
            <a:pPr indent="0" marL="0">
              <a:buNone/>
            </a:pPr>
            <a:r>
              <a:rPr lang="en-US" sz="900" b="1" dirty="0">
                <a:solidFill>
                  <a:srgbClr val="125C60"/>
                </a:solidFill>
                <a:latin typeface="Proxima Nova" pitchFamily="34" charset="0"/>
                <a:ea typeface="Proxima Nova" pitchFamily="34" charset="-122"/>
                <a:cs typeface="Proxima Nova" pitchFamily="34" charset="-120"/>
              </a:rPr>
              <a:t>$5.9B</a:t>
            </a:r>
            <a:pPr indent="0" marL="0">
              <a:buNone/>
            </a:pPr>
            <a:r>
              <a:rPr lang="en-US" sz="900" dirty="0">
                <a:solidFill>
                  <a:srgbClr val="231F20"/>
                </a:solidFill>
                <a:latin typeface="Proxima Nova" pitchFamily="34" charset="0"/>
                <a:ea typeface="Proxima Nova" pitchFamily="34" charset="-122"/>
                <a:cs typeface="Proxima Nova" pitchFamily="34" charset="-120"/>
              </a:rPr>
              <a:t>); transportation combines local transportation and gas (</a:t>
            </a:r>
            <a:pPr indent="0" marL="0">
              <a:buNone/>
            </a:pPr>
            <a:r>
              <a:rPr lang="en-US" sz="900" b="1" dirty="0">
                <a:solidFill>
                  <a:srgbClr val="125C60"/>
                </a:solidFill>
                <a:latin typeface="Proxima Nova" pitchFamily="34" charset="0"/>
                <a:ea typeface="Proxima Nova" pitchFamily="34" charset="-122"/>
                <a:cs typeface="Proxima Nova" pitchFamily="34" charset="-120"/>
              </a:rPr>
              <a:t>$18.7B</a:t>
            </a:r>
            <a:pPr indent="0" marL="0">
              <a:buNone/>
            </a:pPr>
            <a:r>
              <a:rPr lang="en-US" sz="900" dirty="0">
                <a:solidFill>
                  <a:srgbClr val="231F20"/>
                </a:solidFill>
                <a:latin typeface="Proxima Nova" pitchFamily="34" charset="0"/>
                <a:ea typeface="Proxima Nova" pitchFamily="34" charset="-122"/>
                <a:cs typeface="Proxima Nova" pitchFamily="34" charset="-120"/>
              </a:rPr>
              <a:t>) and visitor air (</a:t>
            </a:r>
            <a:pPr indent="0" marL="0">
              <a:buNone/>
            </a:pPr>
            <a:r>
              <a:rPr lang="en-US" sz="900" b="1" dirty="0">
                <a:solidFill>
                  <a:srgbClr val="125C60"/>
                </a:solidFill>
                <a:latin typeface="Proxima Nova" pitchFamily="34" charset="0"/>
                <a:ea typeface="Proxima Nova" pitchFamily="34" charset="-122"/>
                <a:cs typeface="Proxima Nova" pitchFamily="34" charset="-120"/>
              </a:rPr>
              <a:t>$6.5B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Category definitions differ by source: Tourism Economics' city and county figures count spending inside the area and include little air travel; Visit California includes visitor air fares.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jobs does the visitor economy support?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Anaheim jobs in 2025, about one in three. Countywide the total was </a:t>
            </a:r>
            <a:pPr indent="0" marL="0">
              <a:buNone/>
            </a:pPr>
            <a:r>
              <a:rPr lang="en-US" sz="1200" b="1" dirty="0">
                <a:solidFill>
                  <a:srgbClr val="125C60"/>
                </a:solidFill>
                <a:latin typeface="Proxima Nova" pitchFamily="34" charset="0"/>
                <a:ea typeface="Proxima Nova" pitchFamily="34" charset="-122"/>
                <a:cs typeface="Proxima Nova" pitchFamily="34" charset="-120"/>
              </a:rPr>
              <a:t>178,164</a:t>
            </a:r>
            <a:pPr indent="0" marL="0">
              <a:buNone/>
            </a:pPr>
            <a:r>
              <a:rPr lang="en-US" sz="1200" dirty="0">
                <a:solidFill>
                  <a:srgbClr val="231F20"/>
                </a:solidFill>
                <a:latin typeface="Proxima Nova" pitchFamily="34" charset="0"/>
                <a:ea typeface="Proxima Nova" pitchFamily="34" charset="-122"/>
                <a:cs typeface="Proxima Nova" pitchFamily="34" charset="-120"/>
              </a:rPr>
              <a:t> (one in 14), statewide </a:t>
            </a:r>
            <a:pPr indent="0" marL="0">
              <a:buNone/>
            </a:pPr>
            <a:r>
              <a:rPr lang="en-US" sz="12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1200" dirty="0">
                <a:solidFill>
                  <a:srgbClr val="231F20"/>
                </a:solidFill>
                <a:latin typeface="Proxima Nova" pitchFamily="34" charset="0"/>
                <a:ea typeface="Proxima Nova" pitchFamily="34" charset="-122"/>
                <a:cs typeface="Proxima Nova" pitchFamily="34" charset="-120"/>
              </a:rPr>
              <a:t> direct travel jobs, and nationally more than </a:t>
            </a:r>
            <a:pPr indent="0" marL="0">
              <a:buNone/>
            </a:pPr>
            <a:r>
              <a:rPr lang="en-US" sz="1200" b="1" dirty="0">
                <a:solidFill>
                  <a:srgbClr val="125C60"/>
                </a:solidFill>
                <a:latin typeface="Proxima Nova" pitchFamily="34" charset="0"/>
                <a:ea typeface="Proxima Nova" pitchFamily="34" charset="-122"/>
                <a:cs typeface="Proxima Nova" pitchFamily="34" charset="-120"/>
              </a:rPr>
              <a:t>15 million</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67,817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32.8% of all jobs; 47,925 direct + 19,892 indirect and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6,694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11.8% of all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178,164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 of all jobs; 125,511 direct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1,167,470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Direct travel-generated jobs only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all jobs supported by visitors,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totals add direct jobs (in businesses visitors buy from) to indirect (suppliers) and induced (workers' spending) jobs. Visit California's </a:t>
            </a:r>
            <a:pPr indent="0" marL="0">
              <a:buNone/>
            </a:pPr>
            <a:r>
              <a:rPr lang="en-US" sz="9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900" dirty="0">
                <a:solidFill>
                  <a:srgbClr val="231F20"/>
                </a:solidFill>
                <a:latin typeface="Proxima Nova" pitchFamily="34" charset="0"/>
                <a:ea typeface="Proxima Nova" pitchFamily="34" charset="-122"/>
                <a:cs typeface="Proxima Nova" pitchFamily="34" charset="-120"/>
              </a:rPr>
              <a:t> counts direct jobs only.</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Jobs are full- and part-time, including proprietors, so they are not full-time equivalents.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share of visitor-supported jobs are in food and beverage?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16.8%</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a:t>
            </a:r>
            <a:pPr indent="0" marL="0">
              <a:buNone/>
            </a:pPr>
            <a:r>
              <a:rPr lang="en-US" sz="1200" b="1" dirty="0">
                <a:solidFill>
                  <a:srgbClr val="125C60"/>
                </a:solidFill>
                <a:latin typeface="Proxima Nova" pitchFamily="34" charset="0"/>
                <a:ea typeface="Proxima Nova" pitchFamily="34" charset="-122"/>
                <a:cs typeface="Proxima Nova" pitchFamily="34" charset="-120"/>
              </a:rPr>
              <a:t>11,366</a:t>
            </a:r>
            <a:pPr indent="0" marL="0">
              <a:buNone/>
            </a:pPr>
            <a:r>
              <a:rPr lang="en-US" sz="1200" dirty="0">
                <a:solidFill>
                  <a:srgbClr val="231F20"/>
                </a:solidFill>
                <a:latin typeface="Proxima Nova" pitchFamily="34" charset="0"/>
                <a:ea typeface="Proxima Nova" pitchFamily="34" charset="-122"/>
                <a:cs typeface="Proxima Nova" pitchFamily="34" charset="-120"/>
              </a:rPr>
              <a:t> of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40.6%</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29.1%</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Statewide, accommodation and food service together hold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of direct travel jobs.</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11,366 ÷ 67,817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2,721 ÷ 6,694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29.1%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51,892 ÷ 178,164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 and food service, 645,300 ÷ 1,167,500 direct jobs (combined category)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food and beverage jobs (direct, indirect and induced) ÷ all visitor-supported jobs, from each Tourism Economics regional report.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In Anaheim, recreation and entertainment holds the most visitor-supported jobs (</a:t>
            </a:r>
            <a:pPr indent="0" marL="0">
              <a:buNone/>
            </a:pPr>
            <a:r>
              <a:rPr lang="en-US" sz="900" b="1" dirty="0">
                <a:solidFill>
                  <a:srgbClr val="125C60"/>
                </a:solidFill>
                <a:latin typeface="Proxima Nova" pitchFamily="34" charset="0"/>
                <a:ea typeface="Proxima Nova" pitchFamily="34" charset="-122"/>
                <a:cs typeface="Proxima Nova" pitchFamily="34" charset="-120"/>
              </a:rPr>
              <a:t>28,970</a:t>
            </a:r>
            <a:pPr indent="0" marL="0">
              <a:buNone/>
            </a:pPr>
            <a:r>
              <a:rPr lang="en-US" sz="900" dirty="0">
                <a:solidFill>
                  <a:srgbClr val="231F20"/>
                </a:solidFill>
                <a:latin typeface="Proxima Nova" pitchFamily="34" charset="0"/>
                <a:ea typeface="Proxima Nova" pitchFamily="34" charset="-122"/>
                <a:cs typeface="Proxima Nova" pitchFamily="34" charset="-120"/>
              </a:rPr>
              <a:t>). California's figure combines lodging with food service.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Garden Grove,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total economic impact of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$10.4B</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in 2025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plus </a:t>
            </a:r>
            <a:pPr indent="0" marL="0">
              <a:buNone/>
            </a:pPr>
            <a:r>
              <a:rPr lang="en-US" sz="1200" b="1" dirty="0">
                <a:solidFill>
                  <a:srgbClr val="125C60"/>
                </a:solidFill>
                <a:latin typeface="Proxima Nova" pitchFamily="34" charset="0"/>
                <a:ea typeface="Proxima Nova" pitchFamily="34" charset="-122"/>
                <a:cs typeface="Proxima Nova" pitchFamily="34" charset="-120"/>
              </a:rPr>
              <a:t>$3.6B</a:t>
            </a:r>
            <a:pPr indent="0" marL="0">
              <a:buNone/>
            </a:pPr>
            <a:r>
              <a:rPr lang="en-US" sz="1200" dirty="0">
                <a:solidFill>
                  <a:srgbClr val="231F20"/>
                </a:solidFill>
                <a:latin typeface="Proxima Nova" pitchFamily="34" charset="0"/>
                <a:ea typeface="Proxima Nova" pitchFamily="34" charset="-122"/>
                <a:cs typeface="Proxima Nova" pitchFamily="34" charset="-120"/>
              </a:rPr>
              <a:t> in supplier and worker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$1.1B</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$30.7B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Nationally, travel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$3.0</a:t>
            </a:r>
            <a:pPr indent="0" marL="0">
              <a:buNone/>
            </a:pPr>
            <a:r>
              <a:rPr lang="en-US" sz="1200" dirty="0">
                <a:solidFill>
                  <a:srgbClr val="231F20"/>
                </a:solidFill>
                <a:latin typeface="Proxima Nova" pitchFamily="34" charset="0"/>
                <a:ea typeface="Proxima Nova" pitchFamily="34" charset="-122"/>
                <a:cs typeface="Proxima Nova" pitchFamily="34" charset="-120"/>
              </a:rPr>
              <a:t> trillion in output.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$10.42B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direct + $1.460B indirect + $2.130B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$127.7M + $191.1M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$30.67B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$17.993B + $6.253B + $6.426B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output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Total economic impact of visitors, 2025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Total impact = direct visitor spending + indirect (supply chain) + induced (spending of income earned), from Tourism Economics' input-output model.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region is modeled on its own, so city totals are not additive with the county total.</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tax revenue do visitors generate?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$0.97B</a:t>
            </a:r>
            <a:pPr indent="0" marL="0">
              <a:buNone/>
            </a:pPr>
            <a:r>
              <a:rPr lang="en-US" sz="1200" dirty="0">
                <a:solidFill>
                  <a:srgbClr val="231F20"/>
                </a:solidFill>
                <a:latin typeface="Proxima Nova" pitchFamily="34" charset="0"/>
                <a:ea typeface="Proxima Nova" pitchFamily="34" charset="-122"/>
                <a:cs typeface="Proxima Nova" pitchFamily="34" charset="-120"/>
              </a:rPr>
              <a:t> in state and local taxes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$3.09B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$13.6B</a:t>
            </a:r>
            <a:pPr indent="0" marL="0">
              <a:buNone/>
            </a:pPr>
            <a:r>
              <a:rPr lang="en-US" sz="1200" dirty="0">
                <a:solidFill>
                  <a:srgbClr val="231F20"/>
                </a:solidFill>
                <a:latin typeface="Proxima Nova" pitchFamily="34" charset="0"/>
                <a:ea typeface="Proxima Nova" pitchFamily="34" charset="-122"/>
                <a:cs typeface="Proxima Nova" pitchFamily="34" charset="-120"/>
              </a:rPr>
              <a:t> statewide and </a:t>
            </a:r>
            <a:pPr indent="0" marL="0">
              <a:buNone/>
            </a:pPr>
            <a:r>
              <a:rPr lang="en-US" sz="1200" b="1" dirty="0">
                <a:solidFill>
                  <a:srgbClr val="125C60"/>
                </a:solidFill>
                <a:latin typeface="Proxima Nova" pitchFamily="34" charset="0"/>
                <a:ea typeface="Proxima Nova" pitchFamily="34" charset="-122"/>
                <a:cs typeface="Proxima Nova" pitchFamily="34" charset="-120"/>
              </a:rPr>
              <a:t>$92B</a:t>
            </a:r>
            <a:pPr indent="0" marL="0">
              <a:buNone/>
            </a:pPr>
            <a:r>
              <a:rPr lang="en-US" sz="1200" dirty="0">
                <a:solidFill>
                  <a:srgbClr val="231F20"/>
                </a:solidFill>
                <a:latin typeface="Proxima Nova" pitchFamily="34" charset="0"/>
                <a:ea typeface="Proxima Nova" pitchFamily="34" charset="-122"/>
                <a:cs typeface="Proxima Nova" pitchFamily="34" charset="-120"/>
              </a:rPr>
              <a:t> nationally.</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$970M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Includes $351M sales, $218M property and $234M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$30.1M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$557M lodging taxes; $2,857 per household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$7.2B + state $6.5B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$92B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State and local taxes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State and local taxes from visitors, 2025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estimates taxes generated by visitor spending and the activity it supports; components are listed in each one-pager.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Statewide local and state taxes add to </a:t>
            </a:r>
            <a:pPr indent="0" marL="0">
              <a:buNone/>
            </a:pPr>
            <a:r>
              <a:rPr lang="en-US" sz="900" b="1" dirty="0">
                <a:solidFill>
                  <a:srgbClr val="125C60"/>
                </a:solidFill>
                <a:latin typeface="Proxima Nova" pitchFamily="34" charset="0"/>
                <a:ea typeface="Proxima Nova" pitchFamily="34" charset="-122"/>
                <a:cs typeface="Proxima Nova" pitchFamily="34" charset="-120"/>
              </a:rPr>
              <a:t>$13.7B</a:t>
            </a:r>
            <a:pPr indent="0" marL="0">
              <a:buNone/>
            </a:pPr>
            <a:r>
              <a:rPr lang="en-US" sz="900" dirty="0">
                <a:solidFill>
                  <a:srgbClr val="231F20"/>
                </a:solidFill>
                <a:latin typeface="Proxima Nova" pitchFamily="34" charset="0"/>
                <a:ea typeface="Proxima Nova" pitchFamily="34" charset="-122"/>
                <a:cs typeface="Proxima Nova" pitchFamily="34" charset="-120"/>
              </a:rPr>
              <a:t> because of rounding; the report states </a:t>
            </a:r>
            <a:pPr indent="0" marL="0">
              <a:buNone/>
            </a:pPr>
            <a:r>
              <a:rPr lang="en-US" sz="900" b="1" dirty="0">
                <a:solidFill>
                  <a:srgbClr val="125C60"/>
                </a:solidFill>
                <a:latin typeface="Proxima Nova" pitchFamily="34" charset="0"/>
                <a:ea typeface="Proxima Nova" pitchFamily="34" charset="-122"/>
                <a:cs typeface="Proxima Nova" pitchFamily="34" charset="-120"/>
              </a:rPr>
              <a:t>$13.6B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one-pagers, 2025: Orange County, Anaheim and Garden Grove;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each 1% of visitors staying a day longer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$31.5M</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 </a:t>
            </a:r>
            <a:pPr indent="0" marL="0">
              <a:buNone/>
            </a:pPr>
            <a:r>
              <a:rPr lang="en-US" sz="1200" b="1" dirty="0">
                <a:solidFill>
                  <a:srgbClr val="125C60"/>
                </a:solidFill>
                <a:latin typeface="Proxima Nova" pitchFamily="34" charset="0"/>
                <a:ea typeface="Proxima Nova" pitchFamily="34" charset="-122"/>
                <a:cs typeface="Proxima Nova" pitchFamily="34" charset="-120"/>
              </a:rPr>
              <a:t>1%</a:t>
            </a:r>
            <a:pPr indent="0" marL="0">
              <a:buNone/>
            </a:pPr>
            <a:r>
              <a:rPr lang="en-US" sz="1200" dirty="0">
                <a:solidFill>
                  <a:srgbClr val="231F20"/>
                </a:solidFill>
                <a:latin typeface="Proxima Nova" pitchFamily="34" charset="0"/>
                <a:ea typeface="Proxima Nova" pitchFamily="34" charset="-122"/>
                <a:cs typeface="Proxima Nova" pitchFamily="34" charset="-120"/>
              </a:rPr>
              <a:t> × </a:t>
            </a:r>
            <a:pPr indent="0" marL="0">
              <a:buNone/>
            </a:pPr>
            <a:r>
              <a:rPr lang="en-US" sz="1200" b="1" dirty="0">
                <a:solidFill>
                  <a:srgbClr val="125C60"/>
                </a:solidFill>
                <a:latin typeface="Proxima Nova" pitchFamily="34" charset="0"/>
                <a:ea typeface="Proxima Nova" pitchFamily="34" charset="-122"/>
                <a:cs typeface="Proxima Nova" pitchFamily="34" charset="-120"/>
              </a:rPr>
              <a:t>$118.71</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visitor-day. On the hotel side, each point of Sunday–Monday occupancy is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$5.1M</a:t>
            </a:r>
            <a:pPr indent="0" marL="0">
              <a:buNone/>
            </a:pPr>
            <a:r>
              <a:rPr lang="en-US" sz="1200" dirty="0">
                <a:solidFill>
                  <a:srgbClr val="231F20"/>
                </a:solidFill>
                <a:latin typeface="Proxima Nova" pitchFamily="34" charset="0"/>
                <a:ea typeface="Proxima Nova" pitchFamily="34" charset="-122"/>
                <a:cs typeface="Proxima Nova" pitchFamily="34" charset="-120"/>
              </a:rPr>
              <a:t> a year.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26.5M × 1% × $118.71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Sunday–Monday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22,200 room nights · $5.1M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21,318 rooms × 1% × 104 nights × $230 average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the gap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15.7 points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Sunday–Monday 70.6% vs. Friday–Saturday 86.2% occupancy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hotel occupancy by night, 2026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 per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visitors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spending per visitor-day. Value per occupancy point = rooms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Sunday and Monday nights in a year (104) × average Sunday–Monday rate.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Arithmetic on 2025 and 2026 source data; it is not a forecast of what OC Vibe will add.</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 Tourism Economics, Economic Impact of Visitors 2025 (pub. Apr.–May 2026); STR daily data (Jan. 1–Oct. 3, 2026). Files in the app library: One more night study (Extra Night Calculation); STR daily hotel data, Visit Anaheim hotel sets; Economic Impact of Visitors to Anaheim,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do people get to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Mostly by car: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to Anaheim and Garden Grove start within 50 miles, and SR-57 beside OC Vibe carries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00" dirty="0">
                <a:solidFill>
                  <a:srgbClr val="231F20"/>
                </a:solidFill>
                <a:latin typeface="Proxima Nova" pitchFamily="34" charset="0"/>
                <a:ea typeface="Proxima Nova" pitchFamily="34" charset="-122"/>
                <a:cs typeface="Proxima Nova" pitchFamily="34" charset="-120"/>
              </a:rPr>
              <a:t> a weekday. ARTIC adds 277 weekday bus trips, Amtrak (</a:t>
            </a:r>
            <a:pPr indent="0" marL="0">
              <a:buNone/>
            </a:pPr>
            <a:r>
              <a:rPr lang="en-US" sz="1200" b="1" dirty="0">
                <a:solidFill>
                  <a:srgbClr val="125C60"/>
                </a:solidFill>
                <a:latin typeface="Proxima Nova" pitchFamily="34" charset="0"/>
                <a:ea typeface="Proxima Nova" pitchFamily="34" charset="-122"/>
                <a:cs typeface="Proxima Nova" pitchFamily="34" charset="-120"/>
              </a:rPr>
              <a:t>191,153</a:t>
            </a:r>
            <a:pPr indent="0" marL="0">
              <a:buNone/>
            </a:pPr>
            <a:r>
              <a:rPr lang="en-US" sz="1200" dirty="0">
                <a:solidFill>
                  <a:srgbClr val="231F20"/>
                </a:solidFill>
                <a:latin typeface="Proxima Nova" pitchFamily="34" charset="0"/>
                <a:ea typeface="Proxima Nova" pitchFamily="34" charset="-122"/>
                <a:cs typeface="Proxima Nova" pitchFamily="34" charset="-120"/>
              </a:rPr>
              <a:t> passengers in 2024) and Metrolink.</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275,000 vehicles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SR-57, Ball Rd to Katella Ave (Caltrans 2024 count)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277 weekday bus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Routes 50, 53 and 553; Saturday 182, Sunday 181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at 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191,153 Amtrak passengers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 Metrolink Orange County Line 5,116 weekday riders (FY26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67.5% drive alone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1,057,284 of 1,565,842 workers; public transportation 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How Orange County workers commute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Bus trips are counted from OCTA's schedule files (every trip stopping at ARTIC on a weekday). Commute shares = workers by mode ÷ all workers 16 and over.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Metrolink figures are line totals, not ARTIC boardings. Traffic counts for arterials date from 2021 to 2024.</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2026 Traffic Flow Map (Aug. 2026); OCTA schedules (Aug. 9–Nov. 7, 2026); Rail Passengers Association; Metrolink; U.S. BTS County Transportation Profile. Files in the app library: 2026 Traffic Flow Map; OCTA bus schedules (GTFS feed); Amtrak service in Anaheim, CA (ANA); Metrolink fact sheet, FY2025-26 Q2; County Transportation Profile: Orange County, CA; Domestic visitors to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it cost to travel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Gasoline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$4.09</a:t>
            </a:r>
            <a:pPr indent="0" marL="0">
              <a:buNone/>
            </a:pPr>
            <a:r>
              <a:rPr lang="en-US" sz="1200" dirty="0">
                <a:solidFill>
                  <a:srgbClr val="231F20"/>
                </a:solidFill>
                <a:latin typeface="Proxima Nova" pitchFamily="34" charset="0"/>
                <a:ea typeface="Proxima Nova" pitchFamily="34" charset="-122"/>
                <a:cs typeface="Proxima Nova" pitchFamily="34" charset="-120"/>
              </a:rPr>
              <a:t> a gallon on the West Coast in 2025 vs. </a:t>
            </a:r>
            <a:pPr indent="0" marL="0">
              <a:buNone/>
            </a:pPr>
            <a:r>
              <a:rPr lang="en-US" sz="1200" b="1" dirty="0">
                <a:solidFill>
                  <a:srgbClr val="125C60"/>
                </a:solidFill>
                <a:latin typeface="Proxima Nova" pitchFamily="34" charset="0"/>
                <a:ea typeface="Proxima Nova" pitchFamily="34" charset="-122"/>
                <a:cs typeface="Proxima Nova" pitchFamily="34" charset="-120"/>
              </a:rPr>
              <a:t>$3.10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The average U.S. domestic airfare was </a:t>
            </a:r>
            <a:pPr indent="0" marL="0">
              <a:buNone/>
            </a:pPr>
            <a:r>
              <a:rPr lang="en-US" sz="1200" b="1" dirty="0">
                <a:solidFill>
                  <a:srgbClr val="125C60"/>
                </a:solidFill>
                <a:latin typeface="Proxima Nova" pitchFamily="34" charset="0"/>
                <a:ea typeface="Proxima Nova" pitchFamily="34" charset="-122"/>
                <a:cs typeface="Proxima Nova" pitchFamily="34" charset="-120"/>
              </a:rPr>
              <a:t>$387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+9.9%</a:t>
            </a:r>
            <a:pPr indent="0" marL="0">
              <a:buNone/>
            </a:pPr>
            <a:r>
              <a:rPr lang="en-US" sz="1200" dirty="0">
                <a:solidFill>
                  <a:srgbClr val="231F20"/>
                </a:solidFill>
                <a:latin typeface="Proxima Nova" pitchFamily="34" charset="0"/>
                <a:ea typeface="Proxima Nova" pitchFamily="34" charset="-122"/>
                <a:cs typeface="Proxima Nova" pitchFamily="34" charset="-120"/>
              </a:rPr>
              <a:t> since 2019), and driving cost </a:t>
            </a:r>
            <a:pPr indent="0" marL="0">
              <a:buNone/>
            </a:pPr>
            <a:r>
              <a:rPr lang="en-US" sz="1200" b="1" dirty="0">
                <a:solidFill>
                  <a:srgbClr val="125C60"/>
                </a:solidFill>
                <a:latin typeface="Proxima Nova" pitchFamily="34" charset="0"/>
                <a:ea typeface="Proxima Nova" pitchFamily="34" charset="-122"/>
                <a:cs typeface="Proxima Nova" pitchFamily="34" charset="-120"/>
              </a:rPr>
              <a:t>$0.82</a:t>
            </a:r>
            <a:pPr indent="0" marL="0">
              <a:buNone/>
            </a:pPr>
            <a:r>
              <a:rPr lang="en-US" sz="1200" dirty="0">
                <a:solidFill>
                  <a:srgbClr val="231F20"/>
                </a:solidFill>
                <a:latin typeface="Proxima Nova" pitchFamily="34" charset="0"/>
                <a:ea typeface="Proxima Nova" pitchFamily="34" charset="-122"/>
                <a:cs typeface="Proxima Nova" pitchFamily="34" charset="-120"/>
              </a:rPr>
              <a:t> a mile in 2024.</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West Coast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$4.09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 above the U.S. average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Regular gasoline, 2025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airfare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average, 2025; $352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driving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$0.82 a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total cost, 2024; $0.62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Average domestic airfare, U.S.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Values as published by BTS in current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National averages; Orange County fares and prices can differ.</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Transportation Economic Trends, Table 3.1; U.S. BTS, Table 3.1; U.S. BTS, Table 3.4; U.S. BTS, Table 6.6. Files in the app library: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Anaheim visitor activity already includes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in 2024 included the OC Vibe area, before the new venues open (Datafy). Disneyland was in </a:t>
            </a:r>
            <a:pPr indent="0" marL="0">
              <a:buNone/>
            </a:pPr>
            <a:r>
              <a:rPr lang="en-US" sz="1200" b="1" dirty="0">
                <a:solidFill>
                  <a:srgbClr val="125C60"/>
                </a:solidFill>
                <a:latin typeface="Proxima Nova" pitchFamily="34" charset="0"/>
                <a:ea typeface="Proxima Nova" pitchFamily="34" charset="-122"/>
                <a:cs typeface="Proxima Nova" pitchFamily="34" charset="-120"/>
              </a:rPr>
              <a:t>74.4%</a:t>
            </a:r>
            <a:pPr indent="0" marL="0">
              <a:buNone/>
            </a:pPr>
            <a:r>
              <a:rPr lang="en-US" sz="1200" dirty="0">
                <a:solidFill>
                  <a:srgbClr val="231F20"/>
                </a:solidFill>
                <a:latin typeface="Proxima Nova" pitchFamily="34" charset="0"/>
                <a:ea typeface="Proxima Nova" pitchFamily="34" charset="-122"/>
                <a:cs typeface="Proxima Nova" pitchFamily="34" charset="-120"/>
              </a:rPr>
              <a:t> and meeting services in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Share of Anaheim visitor days (visitors 50+ miles; employees excluded)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Share of Anaheim visitor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79.2%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Repeat 49.6% · 6+ day stays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that include each cluster, 2024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 assigns each visitor day to the clusters a device visited; a day can include several clusters, so shares add to more than </a:t>
            </a:r>
            <a:pPr indent="0" marL="0">
              <a:buNone/>
            </a:pPr>
            <a:r>
              <a:rPr lang="en-US" sz="900" b="1" dirty="0">
                <a:solidFill>
                  <a:srgbClr val="125C60"/>
                </a:solidFill>
                <a:latin typeface="Proxima Nova" pitchFamily="34" charset="0"/>
                <a:ea typeface="Proxima Nova" pitchFamily="34" charset="-122"/>
                <a:cs typeface="Proxima Nova" pitchFamily="34" charset="-120"/>
              </a:rPr>
              <a:t>100%</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Datafy's calendar 2025 export (in the library) uses a different basis and is not yet used here; it will be reconciled at the next quarterly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(calendar 2024). Files in the app library: Datafy tables export, Anaheim, calendar 2025; District 5 visitor profile (POI Analysis).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markets bring visitors and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Southern California dominates: Los Angeles and Riverside metros are </a:t>
            </a:r>
            <a:pPr indent="0" marL="0">
              <a:buNone/>
            </a:pPr>
            <a:r>
              <a:rPr lang="en-US" sz="1200" b="1" dirty="0">
                <a:solidFill>
                  <a:srgbClr val="125C60"/>
                </a:solidFill>
                <a:latin typeface="Proxima Nova" pitchFamily="34" charset="0"/>
                <a:ea typeface="Proxima Nova" pitchFamily="34" charset="-122"/>
                <a:cs typeface="Proxima Nova" pitchFamily="34" charset="-120"/>
              </a:rPr>
              <a:t>46.2%</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By card spending, the leading fly-in metros are Seattle, Phoenix, Las Vegas, Orlando and New York; internationally, Mexico, Canada and Japan.</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56.0%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Texas 4.5% · Virginia 4.2% · Florida 3.7% · Arizona 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card spending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Los Angeles metro 66.1%; Seattle $5.4M, Phoenix $4.9M, Las Vegas $4.5M, Orlando $3.4M, New York $3.3M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card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$5.2M, Canada $3.2M, Japan $2.4M, United Kingdom $1.4M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Mexico 819,078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states for District 5 visitors (% of unique domestic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Origins are home locations of devices (Azira) or cardholder home metros (Visa). </a:t>
            </a:r>
            <a:pPr indent="0" marL="0">
              <a:buNone/>
            </a:pPr>
            <a:r>
              <a:rPr lang="en-US" sz="900" b="1" dirty="0">
                <a:solidFill>
                  <a:srgbClr val="125C60"/>
                </a:solidFill>
                <a:latin typeface="Proxima Nova" pitchFamily="34" charset="0"/>
                <a:ea typeface="Proxima Nova" pitchFamily="34" charset="-122"/>
                <a:cs typeface="Proxima Nova" pitchFamily="34" charset="-120"/>
              </a:rPr>
              <a:t>46.2%</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23.6%</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22.6%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Visa covers Visa cards only, and its geography set needs confirmation; use it for ranking markets, not totals.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Visa Destination Insights via Symphony; Tourism Economics, Anaheim and Garden Grove Travel Forecast (Sept. 2026). Files in the app library: District 5 visitor profile (POI Analysis); Visitor card spending by visitor type; International card activity;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Does Visit Anaheim's marketing bring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From January through August 2026, paid media produced </a:t>
            </a:r>
            <a:pPr indent="0" marL="0">
              <a:buNone/>
            </a:pPr>
            <a:r>
              <a:rPr lang="en-US" sz="1200" b="1" dirty="0">
                <a:solidFill>
                  <a:srgbClr val="125C60"/>
                </a:solidFill>
                <a:latin typeface="Proxima Nova" pitchFamily="34" charset="0"/>
                <a:ea typeface="Proxima Nova" pitchFamily="34" charset="-122"/>
                <a:cs typeface="Proxima Nova" pitchFamily="34" charset="-120"/>
              </a:rPr>
              <a:t>31.0M</a:t>
            </a:r>
            <a:pPr indent="0" marL="0">
              <a:buNone/>
            </a:pPr>
            <a:r>
              <a:rPr lang="en-US" sz="12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368,416</a:t>
            </a:r>
            <a:pPr indent="0" marL="0">
              <a:buNone/>
            </a:pPr>
            <a:r>
              <a:rPr lang="en-US" sz="1200" dirty="0">
                <a:solidFill>
                  <a:srgbClr val="231F20"/>
                </a:solidFill>
                <a:latin typeface="Proxima Nova" pitchFamily="34" charset="0"/>
                <a:ea typeface="Proxima Nova" pitchFamily="34" charset="-122"/>
                <a:cs typeface="Proxima Nova" pitchFamily="34" charset="-120"/>
              </a:rPr>
              <a:t> observed visits (</a:t>
            </a:r>
            <a:pPr indent="0" marL="0">
              <a:buNone/>
            </a:pPr>
            <a:r>
              <a:rPr lang="en-US" sz="1200" b="1" dirty="0">
                <a:solidFill>
                  <a:srgbClr val="125C60"/>
                </a:solidFill>
                <a:latin typeface="Proxima Nova" pitchFamily="34" charset="0"/>
                <a:ea typeface="Proxima Nova" pitchFamily="34" charset="-122"/>
                <a:cs typeface="Proxima Nova" pitchFamily="34" charset="-120"/>
              </a:rPr>
              <a:t>11.9</a:t>
            </a:r>
            <a:pPr indent="0" marL="0">
              <a:buNone/>
            </a:pPr>
            <a:r>
              <a:rPr lang="en-US" sz="1200" dirty="0">
                <a:solidFill>
                  <a:srgbClr val="231F20"/>
                </a:solidFill>
                <a:latin typeface="Proxima Nova" pitchFamily="34" charset="0"/>
                <a:ea typeface="Proxima Nova" pitchFamily="34" charset="-122"/>
                <a:cs typeface="Proxima Nova" pitchFamily="34" charset="-120"/>
              </a:rPr>
              <a:t> per </a:t>
            </a:r>
            <a:pPr indent="0" marL="0">
              <a:buNone/>
            </a:pPr>
            <a:r>
              <a:rPr lang="en-US" sz="1200" b="1" dirty="0">
                <a:solidFill>
                  <a:srgbClr val="125C60"/>
                </a:solidFill>
                <a:latin typeface="Proxima Nova" pitchFamily="34" charset="0"/>
                <a:ea typeface="Proxima Nova" pitchFamily="34" charset="-122"/>
                <a:cs typeface="Proxima Nova" pitchFamily="34" charset="-120"/>
              </a:rPr>
              <a:t>1,000</a:t>
            </a:r>
            <a:pPr indent="0" marL="0">
              <a:buNone/>
            </a:pPr>
            <a:r>
              <a:rPr lang="en-US" sz="1200" dirty="0">
                <a:solidFill>
                  <a:srgbClr val="231F20"/>
                </a:solidFill>
                <a:latin typeface="Proxima Nova" pitchFamily="34" charset="0"/>
                <a:ea typeface="Proxima Nova" pitchFamily="34" charset="-122"/>
                <a:cs typeface="Proxima Nova" pitchFamily="34" charset="-120"/>
              </a:rPr>
              <a:t> impressions), arriving about </a:t>
            </a:r>
            <a:pPr indent="0" marL="0">
              <a:buNone/>
            </a:pPr>
            <a:r>
              <a:rPr lang="en-US" sz="1200" b="1" dirty="0">
                <a:solidFill>
                  <a:srgbClr val="125C60"/>
                </a:solidFill>
                <a:latin typeface="Proxima Nova" pitchFamily="34" charset="0"/>
                <a:ea typeface="Proxima Nova" pitchFamily="34" charset="-122"/>
                <a:cs typeface="Proxima Nova" pitchFamily="34" charset="-120"/>
              </a:rPr>
              <a:t>39 days</a:t>
            </a:r>
            <a:pPr indent="0" marL="0">
              <a:buNone/>
            </a:pPr>
            <a:r>
              <a:rPr lang="en-US" sz="1200" dirty="0">
                <a:solidFill>
                  <a:srgbClr val="231F20"/>
                </a:solidFill>
                <a:latin typeface="Proxima Nova" pitchFamily="34" charset="0"/>
                <a:ea typeface="Proxima Nova" pitchFamily="34" charset="-122"/>
                <a:cs typeface="Proxima Nova" pitchFamily="34" charset="-120"/>
              </a:rPr>
              <a:t> after seeing an ad.</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All campaigns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368,416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31,011,072 impressions · visit rate 1.19%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Best campaign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34.4 per 1,000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Luxury campaign, Basis DSP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Top vendor by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183,900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Basis DSP (13.3M impressions)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Visits per 1,000 impressions by vendor</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Visits per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impressions = observed visits ÷ measurable impressions ×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Only the first visit after exposure counts, with at least </a:t>
            </a:r>
            <a:pPr indent="0" marL="0">
              <a:buNone/>
            </a:pPr>
            <a:r>
              <a:rPr lang="en-US" sz="900" b="1" dirty="0">
                <a:solidFill>
                  <a:srgbClr val="125C60"/>
                </a:solidFill>
                <a:latin typeface="Proxima Nova" pitchFamily="34" charset="0"/>
                <a:ea typeface="Proxima Nova" pitchFamily="34" charset="-122"/>
                <a:cs typeface="Proxima Nova" pitchFamily="34" charset="-120"/>
              </a:rPr>
              <a:t>3 days</a:t>
            </a:r>
            <a:pPr indent="0" marL="0">
              <a:buNone/>
            </a:pPr>
            <a:r>
              <a:rPr lang="en-US" sz="900" dirty="0">
                <a:solidFill>
                  <a:srgbClr val="231F20"/>
                </a:solidFill>
                <a:latin typeface="Proxima Nova" pitchFamily="34" charset="0"/>
                <a:ea typeface="Proxima Nova" pitchFamily="34" charset="-122"/>
                <a:cs typeface="Proxima Nova" pitchFamily="34" charset="-120"/>
              </a:rPr>
              <a:t> from exposure to visit.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Observed visits are a sample-based measure, not total visitors caused by ads.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attribution via Symphony (Jan. 1–Aug. 31, 2026); Azira attribution via Symphony. Files in the app library: Media attribution summary.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are hotels performing?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Resort-area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78.4%</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$255</a:t>
            </a:r>
            <a:pPr indent="0" marL="0">
              <a:buNone/>
            </a:pPr>
            <a:r>
              <a:rPr lang="en-US" sz="1200" dirty="0">
                <a:solidFill>
                  <a:srgbClr val="231F20"/>
                </a:solidFill>
                <a:latin typeface="Proxima Nova" pitchFamily="34" charset="0"/>
                <a:ea typeface="Proxima Nova" pitchFamily="34" charset="-122"/>
                <a:cs typeface="Proxima Nova" pitchFamily="34" charset="-120"/>
              </a:rPr>
              <a:t> a night over the past 12 months (CoStar Disneyland submarket);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at </a:t>
            </a:r>
            <a:pPr indent="0" marL="0">
              <a:buNone/>
            </a:pPr>
            <a:r>
              <a:rPr lang="en-US" sz="1200" b="1" dirty="0">
                <a:solidFill>
                  <a:srgbClr val="125C60"/>
                </a:solidFill>
                <a:latin typeface="Proxima Nova" pitchFamily="34" charset="0"/>
                <a:ea typeface="Proxima Nova" pitchFamily="34" charset="-122"/>
                <a:cs typeface="Proxima Nova" pitchFamily="34" charset="-120"/>
              </a:rPr>
              <a:t>$218</a:t>
            </a:r>
            <a:pPr indent="0" marL="0">
              <a:buNone/>
            </a:pPr>
            <a:r>
              <a:rPr lang="en-US" sz="1200" dirty="0">
                <a:solidFill>
                  <a:srgbClr val="231F20"/>
                </a:solidFill>
                <a:latin typeface="Proxima Nova" pitchFamily="34" charset="0"/>
                <a:ea typeface="Proxima Nova" pitchFamily="34" charset="-122"/>
                <a:cs typeface="Proxima Nova" pitchFamily="34" charset="-120"/>
              </a:rPr>
              <a:t>. Anaheim hotel revenue per room rose </a:t>
            </a:r>
            <a:pPr indent="0" marL="0">
              <a:buNone/>
            </a:pPr>
            <a:r>
              <a:rPr lang="en-US" sz="1200" b="1" dirty="0">
                <a:solidFill>
                  <a:srgbClr val="125C60"/>
                </a:solidFill>
                <a:latin typeface="Proxima Nova" pitchFamily="34" charset="0"/>
                <a:ea typeface="Proxima Nova" pitchFamily="34" charset="-122"/>
                <a:cs typeface="Proxima Nova" pitchFamily="34" charset="-120"/>
              </a:rPr>
              <a:t>11.4%</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about twice the U.S. (</a:t>
            </a:r>
            <a:pPr indent="0" marL="0">
              <a:buNone/>
            </a:pPr>
            <a:r>
              <a:rPr lang="en-US" sz="1200" b="1" dirty="0">
                <a:solidFill>
                  <a:srgbClr val="125C60"/>
                </a:solidFill>
                <a:latin typeface="Proxima Nova" pitchFamily="34" charset="0"/>
                <a:ea typeface="Proxima Nova" pitchFamily="34" charset="-122"/>
                <a:cs typeface="Proxima Nova" pitchFamily="34" charset="-120"/>
              </a:rPr>
              <a:t>+5.7%</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 submarket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78.4% · $255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RevPAR $199.78 (+7.9%); 21,213 rooms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74.0% · $218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RevPAR $162 (+6.9%); 60,223 rooms; 668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market vs.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+11.4% vs. +5.7%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Revenue per available room,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occupancy by Orange County submarket, 12 months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Occupancy = rooms sold ÷ rooms available; ADR = room revenue ÷ rooms sold; RevPAR = room revenue ÷ rooms available.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STR and LARC use different hotel sets; compare trends, not levels.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(through Aug. 2026); LARC Market Intelligence Report (Sept. 2026). Files in the app library: Orange County hospitality market report; Disneyland hospitality submarket report; Anaheim Market Intelligence Report, Sept. 2026; STR daily hotel data, Visit Anaheim hotel sets.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outlook to 2028?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forecasts Anaheim visitors rising to </a:t>
            </a:r>
            <a:pPr indent="0" marL="0">
              <a:buNone/>
            </a:pPr>
            <a:r>
              <a:rPr lang="en-US" sz="1200" b="1" dirty="0">
                <a:solidFill>
                  <a:srgbClr val="125C60"/>
                </a:solidFill>
                <a:latin typeface="Proxima Nova" pitchFamily="34" charset="0"/>
                <a:ea typeface="Proxima Nova" pitchFamily="34" charset="-122"/>
                <a:cs typeface="Proxima Nova" pitchFamily="34" charset="-120"/>
              </a:rPr>
              <a:t>27.6M</a:t>
            </a:r>
            <a:pPr indent="0" marL="0">
              <a:buNone/>
            </a:pPr>
            <a:r>
              <a:rPr lang="en-US" sz="1200" dirty="0">
                <a:solidFill>
                  <a:srgbClr val="231F20"/>
                </a:solidFill>
                <a:latin typeface="Proxima Nova" pitchFamily="34" charset="0"/>
                <a:ea typeface="Proxima Nova" pitchFamily="34" charset="-122"/>
                <a:cs typeface="Proxima Nova" pitchFamily="34" charset="-120"/>
              </a:rPr>
              <a:t> and spending to </a:t>
            </a:r>
            <a:pPr indent="0" marL="0">
              <a:buNone/>
            </a:pPr>
            <a:r>
              <a:rPr lang="en-US" sz="1200" b="1" dirty="0">
                <a:solidFill>
                  <a:srgbClr val="125C60"/>
                </a:solidFill>
                <a:latin typeface="Proxima Nova" pitchFamily="34" charset="0"/>
                <a:ea typeface="Proxima Nova" pitchFamily="34" charset="-122"/>
                <a:cs typeface="Proxima Nova" pitchFamily="34" charset="-120"/>
              </a:rPr>
              <a:t>$7.7B</a:t>
            </a:r>
            <a:pPr indent="0" marL="0">
              <a:buNone/>
            </a:pPr>
            <a:r>
              <a:rPr lang="en-US" sz="1200" dirty="0">
                <a:solidFill>
                  <a:srgbClr val="231F20"/>
                </a:solidFill>
                <a:latin typeface="Proxima Nova" pitchFamily="34" charset="0"/>
                <a:ea typeface="Proxima Nova" pitchFamily="34" charset="-122"/>
                <a:cs typeface="Proxima Nova" pitchFamily="34" charset="-120"/>
              </a:rPr>
              <a:t> by 2028. LARC forecasts Anaheim hotel revenue per room of </a:t>
            </a:r>
            <a:pPr indent="0" marL="0">
              <a:buNone/>
            </a:pPr>
            <a:r>
              <a:rPr lang="en-US" sz="1200" b="1" dirty="0">
                <a:solidFill>
                  <a:srgbClr val="125C60"/>
                </a:solidFill>
                <a:latin typeface="Proxima Nova" pitchFamily="34" charset="0"/>
                <a:ea typeface="Proxima Nova" pitchFamily="34" charset="-122"/>
                <a:cs typeface="Proxima Nova" pitchFamily="34" charset="-120"/>
              </a:rPr>
              <a:t>$162.18</a:t>
            </a:r>
            <a:pPr indent="0" marL="0">
              <a:buNone/>
            </a:pPr>
            <a:r>
              <a:rPr lang="en-US" sz="1200" dirty="0">
                <a:solidFill>
                  <a:srgbClr val="231F20"/>
                </a:solidFill>
                <a:latin typeface="Proxima Nova" pitchFamily="34" charset="0"/>
                <a:ea typeface="Proxima Nova" pitchFamily="34" charset="-122"/>
                <a:cs typeface="Proxima Nova" pitchFamily="34" charset="-120"/>
              </a:rPr>
              <a:t> in 2026 (</a:t>
            </a:r>
            <a:pPr indent="0" marL="0">
              <a:buNone/>
            </a:pPr>
            <a:r>
              <a:rPr lang="en-US" sz="1200" b="1" dirty="0">
                <a:solidFill>
                  <a:srgbClr val="125C60"/>
                </a:solidFill>
                <a:latin typeface="Proxima Nova" pitchFamily="34" charset="0"/>
                <a:ea typeface="Proxima Nova" pitchFamily="34" charset="-122"/>
                <a:cs typeface="Proxima Nova" pitchFamily="34" charset="-120"/>
              </a:rPr>
              <a:t>+7.0%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trips are forecast to grow </a:t>
            </a:r>
            <a:pPr indent="0" marL="0">
              <a:buNone/>
            </a:pPr>
            <a:r>
              <a:rPr lang="en-US" sz="1200" b="1" dirty="0">
                <a:solidFill>
                  <a:srgbClr val="125C60"/>
                </a:solidFill>
                <a:latin typeface="Proxima Nova" pitchFamily="34" charset="0"/>
                <a:ea typeface="Proxima Nova" pitchFamily="34" charset="-122"/>
                <a:cs typeface="Proxima Nova" pitchFamily="34" charset="-120"/>
              </a:rPr>
              <a:t>2.0%</a:t>
            </a:r>
            <a:pPr indent="0" marL="0">
              <a:buNone/>
            </a:pPr>
            <a:r>
              <a:rPr lang="en-US" sz="1200" dirty="0">
                <a:solidFill>
                  <a:srgbClr val="231F20"/>
                </a:solidFill>
                <a:latin typeface="Proxima Nova" pitchFamily="34" charset="0"/>
                <a:ea typeface="Proxima Nova" pitchFamily="34" charset="-122"/>
                <a:cs typeface="Proxima Nova" pitchFamily="34" charset="-120"/>
              </a:rPr>
              <a:t> in 2026.</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27.0M (2026) · 27.6M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Spending $7.2B (2026) · $7.7B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$162.18 RevPAR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Occupancy 73.9%, ADR $219.53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2.51B trips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$1.374T (real 2025 dollars); international arrivals 70.6M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actual and forecast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as published by Tourism Economics (Sept. 2026), LARC (Sept. 2026) and the U.S. Travel Association (Spring 2026).</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change with each edition; the June edition had </a:t>
            </a:r>
            <a:pPr indent="0" marL="0">
              <a:buNone/>
            </a:pPr>
            <a:r>
              <a:rPr lang="en-US" sz="900" b="1" dirty="0">
                <a:solidFill>
                  <a:srgbClr val="125C60"/>
                </a:solidFill>
                <a:latin typeface="Proxima Nova" pitchFamily="34" charset="0"/>
                <a:ea typeface="Proxima Nova" pitchFamily="34" charset="-122"/>
                <a:cs typeface="Proxima Nova" pitchFamily="34" charset="-120"/>
              </a:rPr>
              <a:t>27.1M</a:t>
            </a:r>
            <a:pPr indent="0" marL="0">
              <a:buNone/>
            </a:pPr>
            <a:r>
              <a:rPr lang="en-US" sz="900" dirty="0">
                <a:solidFill>
                  <a:srgbClr val="231F20"/>
                </a:solidFill>
                <a:latin typeface="Proxima Nova" pitchFamily="34" charset="0"/>
                <a:ea typeface="Proxima Nova" pitchFamily="34" charset="-122"/>
                <a:cs typeface="Proxima Nova" pitchFamily="34" charset="-120"/>
              </a:rPr>
              <a:t> visitors for 2026.</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LARC (Sept. 2026); U.S. Travel Association and Tourism Economics, Travel Forecast, Spring 2026 (real 2025 dollars). Files in the app library: Anaheim and Garden Grove Travel Forecast, Sept. 2026 (Q2 2026 results); Anaheim and Garden Grove Travel Forecast, June 2026 (Q1 2026 results); Anaheim Market Intelligence Report, Sept. 2026; Hotel forecasts combined, 3Q 2026 edition.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Tourism Economics counts a visitor as anyone who stays overnight or travels more than 50 miles; each region is modeled on its own, so city and county totals do not add.</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Location data (Azira, Datafy) and card data (Visa) describe visitor mix and rank markets; they are not visitor counts. Compare within each source.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2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AB5A0B4-59A0-4667-A98A-08B868BB2324}"/>
</file>

<file path=customXml/itemProps2.xml><?xml version="1.0" encoding="utf-8"?>
<ds:datastoreItem xmlns:ds="http://schemas.openxmlformats.org/officeDocument/2006/customXml" ds:itemID="{3DF87B01-4F83-44C6-85DE-831E4320780F}"/>
</file>

<file path=customXml/itemProps3.xml><?xml version="1.0" encoding="utf-8"?>
<ds:datastoreItem xmlns:ds="http://schemas.openxmlformats.org/officeDocument/2006/customXml" ds:itemID="{0AD2642A-0803-437F-B79F-77261A898ABF}"/>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 Questions answered</dc:title>
  <dc:subject>PptxGenJS Presentation</dc:subject>
  <dc:creator>Visit Anaheim Business Intelligence</dc:creator>
  <cp:lastModifiedBy>Visit Anaheim Business Intelligence</cp:lastModifiedBy>
  <cp:revision>1</cp:revision>
  <dcterms:created xsi:type="dcterms:W3CDTF">2026-10-19T19:36:21Z</dcterms:created>
  <dcterms:modified xsi:type="dcterms:W3CDTF">2026-10-19T19:36:21Z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0x010100B0FC4979223D3F4F8ACA1256696572B0</vt:lpwstr>
  </property>
</Properties>
</file>