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6.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charts/chart7.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8.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charts/chart9.xml" ContentType="application/vnd.openxmlformats-officedocument.drawingml.chart+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charts/chart10.xml" ContentType="application/vnd.openxmlformats-officedocument.drawingml.chart+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charts/chart11.xml" ContentType="application/vnd.openxmlformats-officedocument.drawingml.chart+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charts/chart12.xml" ContentType="application/vnd.openxmlformats-officedocument.drawingml.chart+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3.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charts/chart14.xml" ContentType="application/vnd.openxmlformats-officedocument.drawingml.chart+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charts/chart15.xml" ContentType="application/vnd.openxmlformats-officedocument.drawingml.chart+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6.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Lst>
  <p:notesMasterIdLst>
    <p:notesMasterId r:id="rId1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61e90b0-bcfd-1e5a-a927-a98a3ffc1262}">
          <p14:sldIdLst>
            <p14:sldId id="256"/>
            <p14:sldId id="257"/>
            <p14:sldId id="258"/>
            <p14:sldId id="259"/>
            <p14:sldId id="260"/>
            <p14:sldId id="261"/>
            <p14:sldId id="262"/>
          </p14:sldIdLst>
        </p14:section>
        <p14:section name="Questions answered" id="{f2038c01-6a15-e0ea-68dd-9d31c6e8e627}">
          <p14:sldIdLst>
            <p14:sldId id="263"/>
            <p14:sldId id="264"/>
            <p14:sldId id="265"/>
            <p14:sldId id="266"/>
            <p14:sldId id="267"/>
            <p14:sldId id="268"/>
            <p14:sldId id="269"/>
            <p14:sldId id="270"/>
            <p14:sldId id="271"/>
            <p14:sldId id="272"/>
          </p14:sldIdLst>
        </p14:section>
        <p14:section name="Anaheim and OC Vibe today" id="{10c623f1-1323-0ee3-bf18-def5811ff9ef}">
          <p14:sldIdLst>
            <p14:sldId id="273"/>
            <p14:sldId id="274"/>
            <p14:sldId id="275"/>
            <p14:sldId id="276"/>
            <p14:sldId id="277"/>
            <p14:sldId id="278"/>
            <p14:sldId id="279"/>
            <p14:sldId id="280"/>
            <p14:sldId id="281"/>
            <p14:sldId id="282"/>
            <p14:sldId id="283"/>
          </p14:sldIdLst>
        </p14:section>
        <p14:section name="Orange County tourism" id="{3916668f-9c00-bff5-614f-a4d871ea1f21}">
          <p14:sldIdLst>
            <p14:sldId id="284"/>
            <p14:sldId id="285"/>
            <p14:sldId id="286"/>
            <p14:sldId id="287"/>
            <p14:sldId id="288"/>
            <p14:sldId id="289"/>
            <p14:sldId id="290"/>
            <p14:sldId id="291"/>
            <p14:sldId id="292"/>
            <p14:sldId id="293"/>
            <p14:sldId id="294"/>
            <p14:sldId id="295"/>
            <p14:sldId id="296"/>
            <p14:sldId id="297"/>
            <p14:sldId id="298"/>
            <p14:sldId id="299"/>
            <p14:sldId id="300"/>
          </p14:sldIdLst>
        </p14:section>
        <p14:section name="Who visits" id="{2c70065a-8b8a-59dd-f6ca-d1b7c1dcf720}">
          <p14:sldIdLst>
            <p14:sldId id="301"/>
            <p14:sldId id="302"/>
            <p14:sldId id="303"/>
            <p14:sldId id="304"/>
            <p14:sldId id="305"/>
            <p14:sldId id="306"/>
            <p14:sldId id="307"/>
            <p14:sldId id="308"/>
          </p14:sldIdLst>
        </p14:section>
        <p14:section name="Visitor spending" id="{346940d2-7169-3411-a18c-7b4a9d8b4b86}">
          <p14:sldIdLst>
            <p14:sldId id="309"/>
            <p14:sldId id="310"/>
            <p14:sldId id="311"/>
            <p14:sldId id="312"/>
            <p14:sldId id="313"/>
            <p14:sldId id="314"/>
            <p14:sldId id="315"/>
            <p14:sldId id="316"/>
            <p14:sldId id="317"/>
          </p14:sldIdLst>
        </p14:section>
        <p14:section name="Jobs and economy" id="{0aac2cc4-d41d-dd61-65d3-d644a58827c5}">
          <p14:sldIdLst>
            <p14:sldId id="318"/>
            <p14:sldId id="319"/>
            <p14:sldId id="320"/>
            <p14:sldId id="321"/>
            <p14:sldId id="322"/>
          </p14:sldIdLst>
        </p14:section>
        <p14:section name="Hotel market" id="{b45dce86-3d41-560f-12fc-8fbfd82739f4}">
          <p14:sldIdLst>
            <p14:sldId id="323"/>
            <p14:sldId id="324"/>
            <p14:sldId id="325"/>
            <p14:sldId id="326"/>
            <p14:sldId id="327"/>
            <p14:sldId id="328"/>
            <p14:sldId id="329"/>
            <p14:sldId id="330"/>
            <p14:sldId id="331"/>
          </p14:sldIdLst>
        </p14:section>
        <p14:section name="One more night" id="{4f46d3be-8b12-2698-5da2-946f0a1d8706}">
          <p14:sldIdLst>
            <p14:sldId id="332"/>
            <p14:sldId id="333"/>
            <p14:sldId id="334"/>
            <p14:sldId id="335"/>
            <p14:sldId id="336"/>
            <p14:sldId id="337"/>
            <p14:sldId id="338"/>
          </p14:sldIdLst>
        </p14:section>
        <p14:section name="Getting here" id="{38d3e47e-b506-ccb4-5d16-70cb02a13fe3}">
          <p14:sldIdLst>
            <p14:sldId id="339"/>
            <p14:sldId id="340"/>
            <p14:sldId id="341"/>
            <p14:sldId id="342"/>
            <p14:sldId id="343"/>
            <p14:sldId id="344"/>
            <p14:sldId id="345"/>
            <p14:sldId id="346"/>
            <p14:sldId id="347"/>
            <p14:sldId id="348"/>
            <p14:sldId id="349"/>
            <p14:sldId id="350"/>
          </p14:sldIdLst>
        </p14:section>
        <p14:section name="Marketing reach" id="{1fbb90f5-6307-6e9d-daec-bcc25c91136b}">
          <p14:sldIdLst>
            <p14:sldId id="351"/>
            <p14:sldId id="352"/>
            <p14:sldId id="353"/>
            <p14:sldId id="354"/>
            <p14:sldId id="355"/>
            <p14:sldId id="356"/>
          </p14:sldIdLst>
        </p14:section>
        <p14:section name="Market outlook" id="{d091700e-565d-3670-68d7-dc070f4a0c85}">
          <p14:sldIdLst>
            <p14:sldId id="357"/>
            <p14:sldId id="358"/>
            <p14:sldId id="359"/>
            <p14:sldId id="360"/>
            <p14:sldId id="361"/>
            <p14:sldId id="362"/>
            <p14:sldId id="363"/>
            <p14:sldId id="364"/>
          </p14:sldIdLst>
        </p14:section>
        <p14:section name="Compare and contrast" id="{380c6e12-c141-c911-49d1-8520e8cf64e9}">
          <p14:sldIdLst>
            <p14:sldId id="365"/>
            <p14:sldId id="366"/>
            <p14:sldId id="367"/>
            <p14:sldId id="368"/>
            <p14:sldId id="369"/>
          </p14:sldIdLst>
        </p14:section>
        <p14:section name="Reports and data library" id="{c166fcb3-bb98-1879-dd1d-f4430b698e8a}">
          <p14:sldIdLst>
            <p14:sldId id="370"/>
            <p14:sldId id="371"/>
            <p14:sldId id="372"/>
            <p14:sldId id="373"/>
            <p14:sldId id="374"/>
            <p14:sldId id="375"/>
          </p14:sldIdLst>
        </p14:section>
        <p14:section name="Next steps" id="{c8a30986-4913-0bb1-9ed1-cf106dcbd854}">
          <p14:sldIdLst>
            <p14:sldId id="376"/>
            <p14:sldId id="377"/>
            <p14:sldId id="378"/>
            <p14:sldId id="379"/>
            <p14:sldId id="380"/>
            <p14:sldId id="381"/>
            <p14:sldId id="382"/>
            <p14:sldId id="383"/>
            <p14:sldId id="384"/>
            <p14:sldId id="385"/>
          </p14:sldIdLst>
        </p14:section>
        <p14:section name="Appendix" id="{3a19ff96-8fcb-7fc2-198e-1a96685bd255}">
          <p14:sldIdLst>
            <p14:sldId id="386"/>
            <p14:sldId id="387"/>
            <p14:sldId id="388"/>
            <p14:sldId id="389"/>
            <p14:sldId id="390"/>
            <p14:sldId id="3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notesMaster" Target="notesMasters/notesMaster1.xml"/><Relationship Id="rId139" Type="http://schemas.openxmlformats.org/officeDocument/2006/relationships/presProps" Target="presProps.xml"/><Relationship Id="rId140" Type="http://schemas.openxmlformats.org/officeDocument/2006/relationships/viewProps" Target="viewProps.xml"/><Relationship Id="rId141" Type="http://schemas.openxmlformats.org/officeDocument/2006/relationships/theme" Target="theme/theme1.xml"/><Relationship Id="rId1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Spending per visitor or trip, 2025</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Garden Grove</c:v>
                  </c:pt>
                  <c:pt idx="1">
                    <c:v>Anaheim</c:v>
                  </c:pt>
                  <c:pt idx="2">
                    <c:v>Orange County</c:v>
                  </c:pt>
                  <c:pt idx="3">
                    <c:v>U.S. (per trip)</c:v>
                  </c:pt>
                </c:lvl>
              </c:multiLvlStrCache>
            </c:multiLvlStrRef>
          </c:cat>
          <c:val>
            <c:numRef>
              <c:f>Sheet1!$B$2:$B$5</c:f>
              <c:numCache>
                <c:formatCode>General</c:formatCode>
                <c:ptCount val="4"/>
                <c:pt idx="0">
                  <c:v>237</c:v>
                </c:pt>
                <c:pt idx="1">
                  <c:v>258</c:v>
                </c:pt>
                <c:pt idx="2">
                  <c:v>350</c:v>
                </c:pt>
                <c:pt idx="3">
                  <c:v>553</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One more night or day in Anaheim, three ways ($M)</c:v>
                </c:pt>
              </c:strCache>
            </c:strRef>
          </c:tx>
          <c:spPr>
            <a:solidFill>
              <a:srgbClr val="43A3A3"/>
            </a:solidFill>
            <a:effectLst/>
          </c:spPr>
          <c:invertIfNegative val="0"/>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Lodging only</c:v>
                  </c:pt>
                  <c:pt idx="1">
                    <c:v>Overnight visitors, all spending</c:v>
                  </c:pt>
                  <c:pt idx="2">
                    <c:v>Every visitor, all spending</c:v>
                  </c:pt>
                </c:lvl>
              </c:multiLvlStrCache>
            </c:multiLvlStrRef>
          </c:cat>
          <c:val>
            <c:numRef>
              <c:f>Sheet1!$B$2:$B$4</c:f>
              <c:numCache>
                <c:formatCode>General</c:formatCode>
                <c:ptCount val="3"/>
                <c:pt idx="0">
                  <c:v>794</c:v>
                </c:pt>
                <c:pt idx="1">
                  <c:v>1021</c:v>
                </c:pt>
                <c:pt idx="2">
                  <c:v>3146</c:v>
                </c:pt>
              </c:numCache>
            </c:numRef>
          </c:val>
        </c:ser>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Visitor transportation spending, share of all visitor spending, 2025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Garden Grove</c:v>
                  </c:pt>
                  <c:pt idx="3">
                    <c:v>California</c:v>
                  </c:pt>
                </c:lvl>
              </c:multiLvlStrCache>
            </c:multiLvlStrRef>
          </c:cat>
          <c:val>
            <c:numRef>
              <c:f>Sheet1!$B$2:$B$5</c:f>
              <c:numCache>
                <c:formatCode>General</c:formatCode>
                <c:ptCount val="4"/>
                <c:pt idx="0">
                  <c:v>3.3</c:v>
                </c:pt>
                <c:pt idx="1">
                  <c:v>3.9</c:v>
                </c:pt>
                <c:pt idx="2">
                  <c:v>6.1</c:v>
                </c:pt>
                <c:pt idx="3">
                  <c:v>17.9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origin metros for District 5 visitors (% of unique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Los Angeles–Long Beach–Anaheim</c:v>
                  </c:pt>
                  <c:pt idx="1">
                    <c:v>Riverside–San Bernardino–Ontario</c:v>
                  </c:pt>
                  <c:pt idx="2">
                    <c:v>Washington–Arlington–Alexandria</c:v>
                  </c:pt>
                  <c:pt idx="3">
                    <c:v>San Diego–Chula Vista–Carlsbad</c:v>
                  </c:pt>
                  <c:pt idx="4">
                    <c:v>New York–Newark–Jersey City</c:v>
                  </c:pt>
                  <c:pt idx="5">
                    <c:v>Phoenix–Mesa–Chandler</c:v>
                  </c:pt>
                </c:lvl>
              </c:multiLvlStrCache>
            </c:multiLvlStrRef>
          </c:cat>
          <c:val>
            <c:numRef>
              <c:f>Sheet1!$B$2:$B$7</c:f>
              <c:numCache>
                <c:formatCode>General</c:formatCode>
                <c:ptCount val="6"/>
                <c:pt idx="0">
                  <c:v>23.6</c:v>
                </c:pt>
                <c:pt idx="1">
                  <c:v>22.6</c:v>
                </c:pt>
                <c:pt idx="2">
                  <c:v>3.6</c:v>
                </c:pt>
                <c:pt idx="3">
                  <c:v>3.2</c:v>
                </c:pt>
                <c:pt idx="4">
                  <c:v>2</c:v>
                </c:pt>
                <c:pt idx="5">
                  <c:v>1.5</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visitor spending,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Recreation and entertainment</c:v>
                  </c:pt>
                  <c:pt idx="1">
                    <c:v>Lodging</c:v>
                  </c:pt>
                  <c:pt idx="2">
                    <c:v>Retail</c:v>
                  </c:pt>
                  <c:pt idx="3">
                    <c:v>Food and beverage</c:v>
                  </c:pt>
                  <c:pt idx="4">
                    <c:v>Transportation</c:v>
                  </c:pt>
                </c:lvl>
              </c:multiLvlStrCache>
            </c:multiLvlStrRef>
          </c:cat>
          <c:val>
            <c:numRef>
              <c:f>Sheet1!$B$2:$B$6</c:f>
              <c:numCache>
                <c:formatCode>General</c:formatCode>
                <c:ptCount val="5"/>
                <c:pt idx="0">
                  <c:v>34</c:v>
                </c:pt>
                <c:pt idx="1">
                  <c:v>25.2</c:v>
                </c:pt>
                <c:pt idx="2">
                  <c:v>21.9</c:v>
                </c:pt>
                <c:pt idx="3">
                  <c:v>15.6</c:v>
                </c:pt>
                <c:pt idx="4">
                  <c:v>3.3</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Also visited (share of District 5 visitors)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cat>
            <c:multiLvlStrRef>
              <c:f>Sheet1!$A$2:$A$9</c:f>
              <c:multiLvlStrCache>
                <c:ptCount val="8"/>
                <c:lvl>
                  <c:pt idx="0">
                    <c:v>District 3</c:v>
                  </c:pt>
                  <c:pt idx="1">
                    <c:v>District 6</c:v>
                  </c:pt>
                  <c:pt idx="2">
                    <c:v>District 4</c:v>
                  </c:pt>
                  <c:pt idx="3">
                    <c:v>District 2</c:v>
                  </c:pt>
                  <c:pt idx="4">
                    <c:v>Anaheim Resort</c:v>
                  </c:pt>
                  <c:pt idx="5">
                    <c:v>District 1</c:v>
                  </c:pt>
                  <c:pt idx="6">
                    <c:v>Disneyland Resort</c:v>
                  </c:pt>
                  <c:pt idx="7">
                    <c:v>Disney California Adventure</c:v>
                  </c:pt>
                </c:lvl>
              </c:multiLvlStrCache>
            </c:multiLvlStrRef>
          </c:cat>
          <c:val>
            <c:numRef>
              <c:f>Sheet1!$B$2:$B$9</c:f>
              <c:numCache>
                <c:formatCode>General</c:formatCode>
                <c:ptCount val="8"/>
                <c:pt idx="0">
                  <c:v>0.27899999999999997</c:v>
                </c:pt>
                <c:pt idx="1">
                  <c:v>0.192</c:v>
                </c:pt>
                <c:pt idx="2">
                  <c:v>0.184</c:v>
                </c:pt>
                <c:pt idx="3">
                  <c:v>0.172</c:v>
                </c:pt>
                <c:pt idx="4">
                  <c:v>0.13699999999999998</c:v>
                </c:pt>
                <c:pt idx="5">
                  <c:v>0.09</c:v>
                </c:pt>
                <c:pt idx="6">
                  <c:v>0.084</c:v>
                </c:pt>
                <c:pt idx="7">
                  <c:v>0.055</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including each cluster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0.758</c:v>
                </c:pt>
                <c:pt idx="1">
                  <c:v>0.7440000000000001</c:v>
                </c:pt>
                <c:pt idx="2">
                  <c:v>0.6579999999999999</c:v>
                </c:pt>
                <c:pt idx="3">
                  <c:v>0.511</c:v>
                </c:pt>
                <c:pt idx="4">
                  <c:v>0.287</c:v>
                </c:pt>
                <c:pt idx="5">
                  <c:v>0.052000000000000005</c:v>
                </c:pt>
                <c:pt idx="6">
                  <c:v>0.034</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43A3A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Sheet1!$B$2:$B$11</c:f>
              <c:numCache>
                <c:formatCode>General</c:formatCode>
                <c:ptCount val="10"/>
                <c:pt idx="0">
                  <c:v>223</c:v>
                </c:pt>
                <c:pt idx="1">
                  <c:v>208</c:v>
                </c:pt>
                <c:pt idx="2">
                  <c:v>225</c:v>
                </c:pt>
                <c:pt idx="3">
                  <c:v>242</c:v>
                </c:pt>
                <c:pt idx="4">
                  <c:v>251</c:v>
                </c:pt>
                <c:pt idx="5">
                  <c:v>252</c:v>
                </c:pt>
                <c:pt idx="6">
                  <c:v>258</c:v>
                </c:pt>
                <c:pt idx="7">
                  <c:v>0</c:v>
                </c:pt>
                <c:pt idx="8">
                  <c:v>0</c:v>
                </c:pt>
                <c:pt idx="9">
                  <c:v>0</c:v>
                </c:pt>
              </c:numCache>
            </c:numRef>
          </c:val>
        </c:ser>
        <c:ser>
          <c:idx val="1"/>
          <c:order val="1"/>
          <c:tx>
            <c:strRef>
              <c:f>Sheet1!$C$1</c:f>
              <c:strCache>
                <c:ptCount val="1"/>
                <c:pt idx="0">
                  <c:v>Forecast</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Sheet1!$C$2:$C$11</c:f>
              <c:numCache>
                <c:formatCode>General</c:formatCode>
                <c:ptCount val="10"/>
                <c:pt idx="0">
                  <c:v>0</c:v>
                </c:pt>
                <c:pt idx="1">
                  <c:v>0</c:v>
                </c:pt>
                <c:pt idx="2">
                  <c:v>0</c:v>
                </c:pt>
                <c:pt idx="3">
                  <c:v>0</c:v>
                </c:pt>
                <c:pt idx="4">
                  <c:v>0</c:v>
                </c:pt>
                <c:pt idx="5">
                  <c:v>0</c:v>
                </c:pt>
                <c:pt idx="6">
                  <c:v>0</c:v>
                </c:pt>
                <c:pt idx="7">
                  <c:v>267</c:v>
                </c:pt>
                <c:pt idx="8">
                  <c:v>271</c:v>
                </c:pt>
                <c:pt idx="9">
                  <c:v>279</c:v>
                </c:pt>
              </c:numCache>
            </c:numRef>
          </c:val>
        </c:ser>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31F20"/>
              </a:solidFil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0.16759809487296695</c:v>
                </c:pt>
                <c:pt idx="1">
                  <c:v>0.40648341798625637</c:v>
                </c:pt>
                <c:pt idx="2">
                  <c:v>0.2912597382187198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past 12 months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Newport Beach/Dana Point</c:v>
                  </c:pt>
                  <c:pt idx="1">
                    <c:v>Disneyland</c:v>
                  </c:pt>
                  <c:pt idx="2">
                    <c:v>Santa Ana/Costa Mesa</c:v>
                  </c:pt>
                  <c:pt idx="3">
                    <c:v>Anaheim</c:v>
                  </c:pt>
                  <c:pt idx="4">
                    <c:v>Orange County Northwest/Fullerton</c:v>
                  </c:pt>
                  <c:pt idx="5">
                    <c:v>Orange County</c:v>
                  </c:pt>
                </c:lvl>
              </c:multiLvlStrCache>
            </c:multiLvlStrRef>
          </c:cat>
          <c:val>
            <c:numRef>
              <c:f>Sheet1!$B$2:$B$7</c:f>
              <c:numCache>
                <c:formatCode>General</c:formatCode>
                <c:ptCount val="6"/>
                <c:pt idx="0">
                  <c:v>212.21</c:v>
                </c:pt>
                <c:pt idx="1">
                  <c:v>199.78</c:v>
                </c:pt>
                <c:pt idx="2">
                  <c:v>126.13</c:v>
                </c:pt>
                <c:pt idx="3">
                  <c:v>93.14</c:v>
                </c:pt>
                <c:pt idx="4">
                  <c:v>92.81</c:v>
                </c:pt>
                <c:pt idx="5">
                  <c:v>162</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Sunday and Monday nights run 16 points below Friday and Saturday</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0.7064807052003736</c:v>
                </c:pt>
                <c:pt idx="1">
                  <c:v>0.7052530720770355</c:v>
                </c:pt>
                <c:pt idx="2">
                  <c:v>0.7427291912699991</c:v>
                </c:pt>
                <c:pt idx="3">
                  <c:v>0.7679880802094587</c:v>
                </c:pt>
                <c:pt idx="4">
                  <c:v>0.8018566849415845</c:v>
                </c:pt>
                <c:pt idx="5">
                  <c:v>0.8568872924809107</c:v>
                </c:pt>
                <c:pt idx="6">
                  <c:v>0.86789610322876</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Added spending by scenario ($ billions, estimates)</c:v>
                </c:pt>
              </c:strCache>
            </c:strRef>
          </c:tx>
          <c:spPr>
            <a:solidFill>
              <a:srgbClr val="43A3A3"/>
            </a:solidFill>
            <a:effectLst/>
          </c:spPr>
          <c:invertIfNegative val="0"/>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Lodging only (headline)</c:v>
                  </c:pt>
                  <c:pt idx="1">
                    <c:v>Overnight visitors, all spending</c:v>
                  </c:pt>
                  <c:pt idx="2">
                    <c:v>Half a day, all visitors</c:v>
                  </c:pt>
                  <c:pt idx="3">
                    <c:v>Full day, all visitors</c:v>
                  </c:pt>
                </c:lvl>
              </c:multiLvlStrCache>
            </c:multiLvlStrRef>
          </c:cat>
          <c:val>
            <c:numRef>
              <c:f>Sheet1!$B$2:$B$5</c:f>
              <c:numCache>
                <c:formatCode>General</c:formatCode>
                <c:ptCount val="4"/>
                <c:pt idx="0">
                  <c:v>0.7938488271068637</c:v>
                </c:pt>
                <c:pt idx="1">
                  <c:v>1.0209417897480453</c:v>
                </c:pt>
                <c:pt idx="2">
                  <c:v>1.5729626411815814</c:v>
                </c:pt>
                <c:pt idx="3">
                  <c:v>3.1459252823631627</c:v>
                </c:pt>
              </c:numCache>
            </c:numRef>
          </c:val>
        </c:ser>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Room nights by event year (thousands)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dPt>
            <c:idx val="12"/>
            <c:invertIfNegative val="0"/>
            <c:bubble3D val="0"/>
            <c:spPr>
              <a:solidFill>
                <a:srgbClr val="B4D9E3"/>
              </a:solidFill>
              <a:effectLst/>
            </c:spPr>
          </c:dPt>
          <c:cat>
            <c:multiLvlStrRef>
              <c:f>Sheet1!$A$2:$A$14</c:f>
              <c:multiLvlStrCache>
                <c:ptCount val="13"/>
                <c:lvl>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lvl>
              </c:multiLvlStrCache>
            </c:multiLvlStrRef>
          </c:cat>
          <c:val>
            <c:numRef>
              <c:f>Sheet1!$B$2:$B$14</c:f>
              <c:numCache>
                <c:formatCode>General</c:formatCode>
                <c:ptCount val="13"/>
                <c:pt idx="0">
                  <c:v>260.199</c:v>
                </c:pt>
                <c:pt idx="1">
                  <c:v>327.558</c:v>
                </c:pt>
                <c:pt idx="2">
                  <c:v>502.401</c:v>
                </c:pt>
                <c:pt idx="3">
                  <c:v>369.827</c:v>
                </c:pt>
                <c:pt idx="4">
                  <c:v>460.566</c:v>
                </c:pt>
                <c:pt idx="5">
                  <c:v>401.201</c:v>
                </c:pt>
                <c:pt idx="6">
                  <c:v>299.178</c:v>
                </c:pt>
                <c:pt idx="7">
                  <c:v>286.883</c:v>
                </c:pt>
                <c:pt idx="8">
                  <c:v>213.374</c:v>
                </c:pt>
                <c:pt idx="9">
                  <c:v>105.951</c:v>
                </c:pt>
                <c:pt idx="10">
                  <c:v>66.361</c:v>
                </c:pt>
                <c:pt idx="11">
                  <c:v>167.194</c:v>
                </c:pt>
                <c:pt idx="12">
                  <c:v>125.163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Passengers</c:v>
                </c:pt>
              </c:strCache>
            </c:strRef>
          </c:tx>
          <c:spPr>
            <a:solidFill>
              <a:srgbClr val="43A3A3"/>
            </a:solidFill>
            <a:ln w="38100" cap="flat">
              <a:solidFill>
                <a:srgbClr val="43A3A3"/>
              </a:solidFill>
              <a:prstDash val="solid"/>
              <a:round/>
            </a:ln>
            <a:effectLst/>
          </c:spPr>
          <c:invertIfNegative val="0"/>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Sheet1!$A$2:$A$16</c:f>
              <c:multiLvlStrCache>
                <c:ptCount val="15"/>
                <c:lvl>
                  <c:pt idx="0">
                    <c:v>2003</c:v>
                  </c:pt>
                  <c:pt idx="1">
                    <c:v>2004</c:v>
                  </c:pt>
                  <c:pt idx="2">
                    <c:v>2005</c:v>
                  </c:pt>
                  <c:pt idx="3">
                    <c:v>2006</c:v>
                  </c:pt>
                  <c:pt idx="4">
                    <c:v>2007</c:v>
                  </c:pt>
                  <c:pt idx="5">
                    <c:v>2008</c:v>
                  </c:pt>
                  <c:pt idx="6">
                    <c:v>2009</c:v>
                  </c:pt>
                  <c:pt idx="7">
                    <c:v>2010</c:v>
                  </c:pt>
                  <c:pt idx="8">
                    <c:v>2011</c:v>
                  </c:pt>
                  <c:pt idx="9">
                    <c:v>2012</c:v>
                  </c:pt>
                  <c:pt idx="10">
                    <c:v>2013</c:v>
                  </c:pt>
                  <c:pt idx="11">
                    <c:v>2014</c:v>
                  </c:pt>
                  <c:pt idx="12">
                    <c:v>2015</c:v>
                  </c:pt>
                  <c:pt idx="13">
                    <c:v>2016</c:v>
                  </c:pt>
                  <c:pt idx="14">
                    <c:v>2017</c:v>
                  </c:pt>
                </c:lvl>
              </c:multiLvlStrCache>
            </c:multiLvlStrRef>
          </c:cat>
          <c:val>
            <c:numRef>
              <c:f>Sheet1!$B$2:$B$16</c:f>
              <c:numCache>
                <c:formatCode>General</c:formatCode>
                <c:ptCount val="15"/>
                <c:pt idx="0">
                  <c:v>66.4</c:v>
                </c:pt>
                <c:pt idx="1">
                  <c:v>69</c:v>
                </c:pt>
                <c:pt idx="2">
                  <c:v>68.9</c:v>
                </c:pt>
                <c:pt idx="3">
                  <c:v>69.5</c:v>
                </c:pt>
                <c:pt idx="4">
                  <c:v>70.7</c:v>
                </c:pt>
                <c:pt idx="5">
                  <c:v>67.5</c:v>
                </c:pt>
                <c:pt idx="6">
                  <c:v>67.2</c:v>
                </c:pt>
                <c:pt idx="7">
                  <c:v>56.3</c:v>
                </c:pt>
                <c:pt idx="8">
                  <c:v>54.3</c:v>
                </c:pt>
                <c:pt idx="9">
                  <c:v>55.8</c:v>
                </c:pt>
                <c:pt idx="10">
                  <c:v>54.3</c:v>
                </c:pt>
                <c:pt idx="11">
                  <c:v>52.4</c:v>
                </c:pt>
                <c:pt idx="12">
                  <c:v>50.9</c:v>
                </c:pt>
                <c:pt idx="13">
                  <c:v>47.2</c:v>
                </c:pt>
                <c:pt idx="14">
                  <c:v>43.8</c:v>
                </c:pt>
              </c:numCache>
            </c:numRef>
          </c:val>
          <c:smooth val="0"/>
        </c:ser>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change vs. last year</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Anaheim, Q2 2026</c:v>
                  </c:pt>
                  <c:pt idx="1">
                    <c:v>Anaheim, Q1 2026</c:v>
                  </c:pt>
                  <c:pt idx="2">
                    <c:v>Anaheim, 2026 forecast</c:v>
                  </c:pt>
                  <c:pt idx="3">
                    <c:v>U.S., Q2 2026</c:v>
                  </c:pt>
                  <c:pt idx="4">
                    <c:v>U.S., 2026 forecast</c:v>
                  </c:pt>
                </c:lvl>
              </c:multiLvlStrCache>
            </c:multiLvlStrRef>
          </c:cat>
          <c:val>
            <c:numRef>
              <c:f>Sheet1!$B$2:$B$6</c:f>
              <c:numCache>
                <c:formatCode>General</c:formatCode>
                <c:ptCount val="5"/>
                <c:pt idx="0">
                  <c:v>0.114</c:v>
                </c:pt>
                <c:pt idx="1">
                  <c:v>0.106</c:v>
                </c:pt>
                <c:pt idx="2">
                  <c:v>0.07</c:v>
                </c:pt>
                <c:pt idx="3">
                  <c:v>0.057</c:v>
                </c:pt>
                <c:pt idx="4">
                  <c:v>0.051</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2027 events</c:v>
                </c:pt>
              </c:strCache>
            </c:strRef>
          </c:tx>
          <c:spPr>
            <a:solidFill>
              <a:srgbClr val="43A3A3"/>
            </a:solidFill>
            <a:ln w="38100" cap="flat">
              <a:solidFill>
                <a:srgbClr val="43A3A3"/>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Sheet1!$B$2:$B$6</c:f>
              <c:numCache>
                <c:formatCode>General</c:formatCode>
                <c:ptCount val="5"/>
                <c:pt idx="0">
                  <c:v>2</c:v>
                </c:pt>
                <c:pt idx="1">
                  <c:v>16</c:v>
                </c:pt>
                <c:pt idx="2">
                  <c:v>16</c:v>
                </c:pt>
                <c:pt idx="3">
                  <c:v>17</c:v>
                </c:pt>
                <c:pt idx="4">
                  <c:v>17</c:v>
                </c:pt>
              </c:numCache>
            </c:numRef>
          </c:val>
          <c:smooth val="0"/>
        </c:ser>
        <c:ser>
          <c:idx val="1"/>
          <c:order val="1"/>
          <c:tx>
            <c:strRef>
              <c:f>Sheet1!$C$1</c:f>
              <c:strCache>
                <c:ptCount val="1"/>
                <c:pt idx="0">
                  <c:v>2026 events</c:v>
                </c:pt>
              </c:strCache>
            </c:strRef>
          </c:tx>
          <c:spPr>
            <a:solidFill>
              <a:srgbClr val="77C7C9"/>
            </a:solidFill>
            <a:ln w="38100" cap="flat">
              <a:solidFill>
                <a:srgbClr val="77C7C9"/>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77C7C9"/>
              </a:solidFill>
              <a:ln w="9525" cap="flat">
                <a:solidFill>
                  <a:srgbClr val="77C7C9"/>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Sheet1!$C$2:$C$6</c:f>
              <c:numCache>
                <c:formatCode>General</c:formatCode>
                <c:ptCount val="5"/>
                <c:pt idx="0">
                  <c:v>22</c:v>
                </c:pt>
                <c:pt idx="1">
                  <c:v>16</c:v>
                </c:pt>
                <c:pt idx="2">
                  <c:v>16</c:v>
                </c:pt>
                <c:pt idx="3">
                  <c:v>12</c:v>
                </c:pt>
                <c:pt idx="4">
                  <c:v>12</c:v>
                </c:pt>
              </c:numCache>
            </c:numRef>
          </c:val>
          <c:smooth val="0"/>
        </c:ser>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Prepared by Visit Anaheim Business Intelligence for OC Vibe (BIREPORTS-966).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 Anaheim Business Intelligence updates OC Vibe Insights each quarter, on the 15th of January, April, July and October, after Tourism Economics delivers its quarterly Anaheim Travel Forecast. The data was last updated Oct. 19, 2026; the next scheduled update is Jan. 15,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Anaheim visitor spent about $258 in 2025. Countywide, the average was $350 per visitor, and across the U.S. travel spending came to about $553 per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per visitor (Tourism Economics) or per trip (U.S. Travel Association). Calculation shown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Anaheim visitor stayed one more night, lodging spending would rise about $794M. Counting all spending, one more day for overnight visitors is worth about $1.02B, and one more day for every visitor about $3.15B (the study's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inputs. Weighted average stay blends domestic and international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spent $224M on transportation in Anaheim in 2025 (3.3% of spending), supporting 2,080 jobs in transportation and gas stations. Countywide: $707M and 6,141 jobs. Statewide, visitors spent $25.2B on local transportation, gas and air (17.9% of visitor 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 transportation spending and the jobs, business sales and labor income it supports in transportation and gas stations (direct + indirect +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 of District 5 visitors stay overnight and 43.8% are first-time visitors (Jan.–May 2026). Their median household income is $85.7K, above the $79.9K for all Anaheim and Garden Grove visitors and the $85.4K U.S. household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domestic unique visitors, Jan.–May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Anaheim and OC Vibe today: Anaheim sits inside a larger county market. The next section sizes Orange County: arrivals, origins, seasonality, visitor profile and hotels.
The five questions, as sent by Entertainment + Culture Advisors on Oct. 19, 2026: (1) How many visitors came to Orange County each year from 2019 to 2025, and so far in 2026, split by domestic and international and by overnight and day? (2) Where do visitors come from, and can the Los Angeles-Long Beach-Anaheim area be split into Anaheim and outside Anaheim? (3) How does visitation change month by month? (4) What is the purpose of the trip, how long do visitors stay, how large is the travel party and how many travel with children? (5) How many hotel rooms does Orange County have, and what are occupancy and average daily rate?
Two visitor series exist and are kept apart: CIC Research for Visit Anaheim (2009-2019, survey-based) and Tourism Economics (2021-2025, model-based). CIC counted 50.21M visitors in 2019; Tourism Economics counted 51.3M in 2025. Neither publishes 2020 for the county; Dean Runyan Associates shows county visitor spending fell to 46.7% of its 2019 level that year.
Origins can be shown at the metro-area level. The Los Angeles-Long Beach-Anaheim metro area includes all of Orange County, and Azira does not supply ZIP codes, so a split between Anaheim and the rest of the metro area is not available from current sources.
Monthly visitor counts are not published for Orange County. Hotel occupancy is the monthly measure: July averaged 80.6% and January 61.2% over 2023-2025 (CoStar).
The most recent Orange County visitor profile is CIC Research's 2019 study; no newer county survey was found in Visit Anaheim's SharePoint or in Visit California's research (searched Oct. 19,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questions, as sent by Entertainment + Culture Advisors on Oct. 19, 2026: (1) How many visitors came to Orange County each year from 2019 to 2025, and so far in 2026, split by domestic and international and by overnight and day? (2) Where do visitors come from, and can the Los Angeles-Long Beach-Anaheim area be split into Anaheim and outside Anaheim? (3) How does visitation change month by month? (4) What is the purpose of the trip, how long do visitors stay, how large is the travel party and how many travel with children? (5) How many hotel rooms does Orange County have, and what are occupancy and average daily rate?
Two visitor series exist and are kept apart: CIC Research for Visit Anaheim (2009-2019, survey-based) and Tourism Economics (2021-2025, model-based). CIC counted 50.21M visitors in 2019; Tourism Economics counted 51.3M in 2025. Neither publishes 2020 for the county; Dean Runyan Associates shows county visitor spending fell to 46.7% of its 2019 level that year.
Origins can be shown at the metro-area level. The Los Angeles-Long Beach-Anaheim metro area includes all of Orange County, and Azira does not supply ZIP codes, so a split between Anaheim and the rest of the metro area is not available from current sources.
Monthly visitor counts are not published for Orange County. Hotel occupancy is the monthly measure: July averaged 80.6% and January 61.2% over 2023-2025 (CoStar).
The most recent Orange County visitor profile is CIC Research's 2019 study; no newer county survey was found in Visit Anaheim's SharePoint or in Visit California's research (searched Oct. 19,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Orange County tourism: With the county market sized, the next question is who visits the OC Vibe area itself.
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markets: beyond Southern California, the largest visitor spending comes from San Francisco, Seattle, Phoenix, Las Vegas, San Jose, Sacramento, Orlando, New York and Detroit, and internationally from Mexico ($5.2M), Canada and Japan (Visa, Aug. 2026). These are fly-in markets where OC Vibe events can justify a longer trip.
International visitors spent $5.4M on restaurants and dining in August 2026, but that was down 19.1% from a year earlier, while retail rose 9.3% (Visa). Dining is OC Vibe's biggest category and the one to watch with international guests.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Who visits: Knowing who visits leads to what each visitor is worth. Spending per visitor converts audience size into economic value.
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Visitor spending: Spending is the input; jobs and tax revenue are the outcome. The next section traces how visitor dollars move through the Anaheim and Orange County economy.
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Jobs and economy: Lodging is one of the largest categories of visitor spending ($1.724B in 2025), so hotel capacity comes next: how full Anaheim hotels are, at what rate, and on which nights rooms are open.
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Sunday and Monday are the open nights: Visit Anaheim hotels ran 70.6% occupancy on those nights in 2026 vs. 86.2% on Fridays and Saturdays (STR). Each point OC Vibe adds on Sunday and Monday nights is about 22,200 room nights and $5.1M in room revenue a year.
The rest of Anaheim (CoStar's Anaheim submarket) averages $130 a night vs. $255 in the resort area. Where OC Vibe's hotels price between those two will drive their revenue more than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Hotel market: Open rooms on Sunday and Monday nights point to the most direct lever, longer stays. The next section measures what one more night per visitor is worth.
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nights and attendees as booked; 2026 onward are future events on the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One more night: Longer stays depend on how easily visitors arrive and leave, especially after evening events. The next section examines road, bus and rail access to the OC Vibe area.
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Rail already brings visitors to OC Vibe's front door: 191,153 Amtrak passengers used the Anaheim station at ARTIC in 2024 (79% of the 2018 level), mostly on trips under 100 miles from San Diego and Los Angeles. 15.6 million people live within 50 miles of the station.
Metrolink's Orange County Line carries 5,116 weekday riders and is growing (+4%), and 55% of Metrolink trips are not commutes. Weekend ridership is down, so event-night rail service is a gap to raise with Metrolink and OCTA.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Getting here: Access determines who can come; marketing influences who chooses to. The next section shows how paid media converts into measured visits.
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Marketing reach: With audience, value, capacity, access and reach measured, the last section looks at the market conditions OC Vibe will open into.
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4.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eg"/><Relationship Id="rId2" Type="http://schemas.openxmlformats.org/officeDocument/2006/relationships/slideLayout" Target="../slideLayouts/slideLayout4.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Visitor insights for OC Vibe</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How Anaheim visitors spend, stay, travel and choose where to go, and what the market outlook means for OC Vibe. Anaheim, Orange County and U.S.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Updated quarterly; next update Jan. 15, 2027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market is growing into OC Vibe's 2027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Main announcement · Visit Anaheim Business Intelligence · data through Sept. 2026</a:t>
            </a:r>
            <a:endParaRPr lang="en-US" sz="1200" dirty="0"/>
          </a:p>
        </p:txBody>
      </p:sp>
      <p:sp>
        <p:nvSpPr>
          <p:cNvPr id="5" name="Text 2"/>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300" b="1"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3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300" b="1" dirty="0">
                <a:solidFill>
                  <a:srgbClr val="231F20"/>
                </a:solidFill>
                <a:latin typeface="Proxima Nova" pitchFamily="34" charset="0"/>
                <a:ea typeface="Proxima Nova" pitchFamily="34" charset="-122"/>
                <a:cs typeface="Proxima Nova" pitchFamily="34" charset="-120"/>
              </a:rPr>
              <a:t> in Q2 2026 (</a:t>
            </a:r>
            <a:pPr indent="0" marL="0">
              <a:buNone/>
            </a:pPr>
            <a:r>
              <a:rPr lang="en-US" sz="1300" b="1" dirty="0">
                <a:solidFill>
                  <a:srgbClr val="125C60"/>
                </a:solidFill>
                <a:latin typeface="Proxima Nova" pitchFamily="34" charset="0"/>
                <a:ea typeface="Proxima Nova" pitchFamily="34" charset="-122"/>
                <a:cs typeface="Proxima Nova" pitchFamily="34" charset="-120"/>
              </a:rPr>
              <a:t>+7.8%</a:t>
            </a:r>
            <a:pPr indent="0" marL="0">
              <a:buNone/>
            </a:pPr>
            <a:r>
              <a:rPr lang="en-US" sz="1300" b="1" dirty="0">
                <a:solidFill>
                  <a:srgbClr val="231F20"/>
                </a:solidFill>
                <a:latin typeface="Proxima Nova" pitchFamily="34" charset="0"/>
                <a:ea typeface="Proxima Nova" pitchFamily="34" charset="-122"/>
                <a:cs typeface="Proxima Nova" pitchFamily="34" charset="-120"/>
              </a:rPr>
              <a:t>), hotel revenue per room rose </a:t>
            </a:r>
            <a:pPr indent="0" marL="0">
              <a:buNone/>
            </a:pPr>
            <a:r>
              <a:rPr lang="en-US" sz="1300" b="1" dirty="0">
                <a:solidFill>
                  <a:srgbClr val="125C60"/>
                </a:solidFill>
                <a:latin typeface="Proxima Nova" pitchFamily="34" charset="0"/>
                <a:ea typeface="Proxima Nova" pitchFamily="34" charset="-122"/>
                <a:cs typeface="Proxima Nova" pitchFamily="34" charset="-120"/>
              </a:rPr>
              <a:t>11.4%</a:t>
            </a:r>
            <a:pPr indent="0" marL="0">
              <a:buNone/>
            </a:pPr>
            <a:r>
              <a:rPr lang="en-US" sz="1300" b="1" dirty="0">
                <a:solidFill>
                  <a:srgbClr val="231F20"/>
                </a:solidFill>
                <a:latin typeface="Proxima Nova" pitchFamily="34" charset="0"/>
                <a:ea typeface="Proxima Nova" pitchFamily="34" charset="-122"/>
                <a:cs typeface="Proxima Nova" pitchFamily="34" charset="-120"/>
              </a:rPr>
              <a:t>, and Convention Center room nights for 2027 are pacing </a:t>
            </a:r>
            <a:pPr indent="0" marL="0">
              <a:buNone/>
            </a:pPr>
            <a:r>
              <a:rPr lang="en-US" sz="1300" b="1" dirty="0">
                <a:solidFill>
                  <a:srgbClr val="125C60"/>
                </a:solidFill>
                <a:latin typeface="Proxima Nova" pitchFamily="34" charset="0"/>
                <a:ea typeface="Proxima Nova" pitchFamily="34" charset="-122"/>
                <a:cs typeface="Proxima Nova" pitchFamily="34" charset="-120"/>
              </a:rPr>
              <a:t>17%</a:t>
            </a:r>
            <a:pPr indent="0" marL="0">
              <a:buNone/>
            </a:pPr>
            <a:r>
              <a:rPr lang="en-US" sz="1300" b="1" dirty="0">
                <a:solidFill>
                  <a:srgbClr val="231F20"/>
                </a:solidFill>
                <a:latin typeface="Proxima Nova" pitchFamily="34" charset="0"/>
                <a:ea typeface="Proxima Nova" pitchFamily="34" charset="-122"/>
                <a:cs typeface="Proxima Nova" pitchFamily="34" charset="-120"/>
              </a:rPr>
              <a:t> ahead.</a:t>
            </a:r>
            <a:endParaRPr lang="en-US" sz="1300" dirty="0"/>
          </a:p>
        </p:txBody>
      </p:sp>
      <p:sp>
        <p:nvSpPr>
          <p:cNvPr id="6" name="kpi-card-0"/>
          <p:cNvSpPr/>
          <p:nvPr/>
        </p:nvSpPr>
        <p:spPr>
          <a:xfrm>
            <a:off x="548640" y="1920240"/>
            <a:ext cx="2650160" cy="1234440"/>
          </a:xfrm>
          <a:prstGeom prst="roundRect">
            <a:avLst>
              <a:gd name="adj" fmla="val 5926"/>
            </a:avLst>
          </a:prstGeom>
          <a:solidFill>
            <a:srgbClr val="FFFFFF"/>
          </a:solidFill>
          <a:ln w="12700">
            <a:solidFill>
              <a:srgbClr val="B4D9E3"/>
            </a:solidFill>
            <a:prstDash val="solid"/>
          </a:ln>
        </p:spPr>
      </p:sp>
      <p:sp>
        <p:nvSpPr>
          <p:cNvPr id="7" name="Text 4"/>
          <p:cNvSpPr txBox="1"/>
          <p:nvPr/>
        </p:nvSpPr>
        <p:spPr>
          <a:xfrm>
            <a:off x="713232"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TOURISM ECONOMICS (SEPT. 2026)</a:t>
            </a:r>
            <a:endParaRPr lang="en-US" sz="900" dirty="0"/>
          </a:p>
        </p:txBody>
      </p:sp>
      <p:sp>
        <p:nvSpPr>
          <p:cNvPr id="8" name="Text 5"/>
          <p:cNvSpPr txBox="1"/>
          <p:nvPr/>
        </p:nvSpPr>
        <p:spPr>
          <a:xfrm>
            <a:off x="713232"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visitor spending, Q2 2026 (+7.8%)</a:t>
            </a:r>
            <a:endParaRPr lang="en-US" sz="1050" dirty="0"/>
          </a:p>
        </p:txBody>
      </p:sp>
      <p:sp>
        <p:nvSpPr>
          <p:cNvPr id="9" name="Text 6"/>
          <p:cNvSpPr txBox="1"/>
          <p:nvPr/>
        </p:nvSpPr>
        <p:spPr>
          <a:xfrm>
            <a:off x="713232"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$1.76B</a:t>
            </a:r>
            <a:endParaRPr lang="en-US" sz="2400" dirty="0"/>
          </a:p>
        </p:txBody>
      </p:sp>
      <p:sp>
        <p:nvSpPr>
          <p:cNvPr id="10" name="Text 7"/>
          <p:cNvSpPr txBox="1"/>
          <p:nvPr/>
        </p:nvSpPr>
        <p:spPr>
          <a:xfrm>
            <a:off x="713232" y="3090672"/>
            <a:ext cx="2320976" cy="-27432"/>
          </a:xfrm>
          <a:prstGeom prst="rect">
            <a:avLst/>
          </a:prstGeom>
          <a:noFill/>
          <a:ln/>
        </p:spPr>
        <p:txBody>
          <a:bodyPr wrap="square" lIns="0" tIns="0" rIns="0" bIns="0" rtlCol="0" anchor="t"/>
          <a:lstStyle/>
          <a:p>
            <a:pPr indent="0" marL="0">
              <a:buNone/>
            </a:pPr>
            <a:endParaRPr lang="en-US" sz="1000" dirty="0"/>
          </a:p>
        </p:txBody>
      </p:sp>
      <p:sp>
        <p:nvSpPr>
          <p:cNvPr id="11" name="kpi-card-1"/>
          <p:cNvSpPr/>
          <p:nvPr/>
        </p:nvSpPr>
        <p:spPr>
          <a:xfrm>
            <a:off x="3363392" y="1920240"/>
            <a:ext cx="2650160" cy="1234440"/>
          </a:xfrm>
          <a:prstGeom prst="roundRect">
            <a:avLst>
              <a:gd name="adj" fmla="val 5926"/>
            </a:avLst>
          </a:prstGeom>
          <a:solidFill>
            <a:srgbClr val="FFFFFF"/>
          </a:solidFill>
          <a:ln w="12700">
            <a:solidFill>
              <a:srgbClr val="B4D9E3"/>
            </a:solidFill>
            <a:prstDash val="solid"/>
          </a:ln>
        </p:spPr>
      </p:sp>
      <p:sp>
        <p:nvSpPr>
          <p:cNvPr id="12" name="Text 9"/>
          <p:cNvSpPr txBox="1"/>
          <p:nvPr/>
        </p:nvSpPr>
        <p:spPr>
          <a:xfrm>
            <a:off x="3527984"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3" name="Text 10"/>
          <p:cNvSpPr txBox="1"/>
          <p:nvPr/>
        </p:nvSpPr>
        <p:spPr>
          <a:xfrm>
            <a:off x="3527984"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hotel revenue per room, Q2 2026</a:t>
            </a:r>
            <a:endParaRPr lang="en-US" sz="1050" dirty="0"/>
          </a:p>
        </p:txBody>
      </p:sp>
      <p:sp>
        <p:nvSpPr>
          <p:cNvPr id="14" name="Text 11"/>
          <p:cNvSpPr txBox="1"/>
          <p:nvPr/>
        </p:nvSpPr>
        <p:spPr>
          <a:xfrm>
            <a:off x="3527984"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15" name="Text 12"/>
          <p:cNvSpPr txBox="1"/>
          <p:nvPr/>
        </p:nvSpPr>
        <p:spPr>
          <a:xfrm>
            <a:off x="3527984" y="3090672"/>
            <a:ext cx="2320976" cy="-27432"/>
          </a:xfrm>
          <a:prstGeom prst="rect">
            <a:avLst/>
          </a:prstGeom>
          <a:noFill/>
          <a:ln/>
        </p:spPr>
        <p:txBody>
          <a:bodyPr wrap="square" lIns="0" tIns="0" rIns="0" bIns="0" rtlCol="0" anchor="t"/>
          <a:lstStyle/>
          <a:p>
            <a:pPr indent="0" marL="0">
              <a:buNone/>
            </a:pPr>
            <a:endParaRPr lang="en-US" sz="1000" dirty="0"/>
          </a:p>
        </p:txBody>
      </p:sp>
      <p:sp>
        <p:nvSpPr>
          <p:cNvPr id="16" name="kpi-card-2"/>
          <p:cNvSpPr/>
          <p:nvPr/>
        </p:nvSpPr>
        <p:spPr>
          <a:xfrm>
            <a:off x="6178144" y="1920240"/>
            <a:ext cx="2650160" cy="1234440"/>
          </a:xfrm>
          <a:prstGeom prst="roundRect">
            <a:avLst>
              <a:gd name="adj" fmla="val 5926"/>
            </a:avLst>
          </a:prstGeom>
          <a:solidFill>
            <a:srgbClr val="FFFFFF"/>
          </a:solidFill>
          <a:ln w="12700">
            <a:solidFill>
              <a:srgbClr val="B4D9E3"/>
            </a:solidFill>
            <a:prstDash val="solid"/>
          </a:ln>
        </p:spPr>
      </p:sp>
      <p:sp>
        <p:nvSpPr>
          <p:cNvPr id="17" name="Text 14"/>
          <p:cNvSpPr txBox="1"/>
          <p:nvPr/>
        </p:nvSpPr>
        <p:spPr>
          <a:xfrm>
            <a:off x="6342736"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8" name="Text 15"/>
          <p:cNvSpPr txBox="1"/>
          <p:nvPr/>
        </p:nvSpPr>
        <p:spPr>
          <a:xfrm>
            <a:off x="6342736"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50" dirty="0"/>
          </a:p>
        </p:txBody>
      </p:sp>
      <p:sp>
        <p:nvSpPr>
          <p:cNvPr id="19" name="Text 16"/>
          <p:cNvSpPr txBox="1"/>
          <p:nvPr/>
        </p:nvSpPr>
        <p:spPr>
          <a:xfrm>
            <a:off x="6342736"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a:t>
            </a:r>
            <a:endParaRPr lang="en-US" sz="2400" dirty="0"/>
          </a:p>
        </p:txBody>
      </p:sp>
      <p:sp>
        <p:nvSpPr>
          <p:cNvPr id="20" name="Text 17"/>
          <p:cNvSpPr txBox="1"/>
          <p:nvPr/>
        </p:nvSpPr>
        <p:spPr>
          <a:xfrm>
            <a:off x="6342736" y="3090672"/>
            <a:ext cx="2320976" cy="-27432"/>
          </a:xfrm>
          <a:prstGeom prst="rect">
            <a:avLst/>
          </a:prstGeom>
          <a:noFill/>
          <a:ln/>
        </p:spPr>
        <p:txBody>
          <a:bodyPr wrap="square" lIns="0" tIns="0" rIns="0" bIns="0" rtlCol="0" anchor="t"/>
          <a:lstStyle/>
          <a:p>
            <a:pPr indent="0" marL="0">
              <a:buNone/>
            </a:pPr>
            <a:endParaRPr lang="en-US" sz="1000" dirty="0"/>
          </a:p>
        </p:txBody>
      </p:sp>
      <p:sp>
        <p:nvSpPr>
          <p:cNvPr id="21" name="kpi-card-3"/>
          <p:cNvSpPr/>
          <p:nvPr/>
        </p:nvSpPr>
        <p:spPr>
          <a:xfrm>
            <a:off x="8992895" y="1920240"/>
            <a:ext cx="2650160" cy="1234440"/>
          </a:xfrm>
          <a:prstGeom prst="roundRect">
            <a:avLst>
              <a:gd name="adj" fmla="val 5926"/>
            </a:avLst>
          </a:prstGeom>
          <a:solidFill>
            <a:srgbClr val="FFFFFF"/>
          </a:solidFill>
          <a:ln w="12700">
            <a:solidFill>
              <a:srgbClr val="B4D9E3"/>
            </a:solidFill>
            <a:prstDash val="solid"/>
          </a:ln>
        </p:spPr>
      </p:sp>
      <p:sp>
        <p:nvSpPr>
          <p:cNvPr id="22" name="Text 19"/>
          <p:cNvSpPr txBox="1"/>
          <p:nvPr/>
        </p:nvSpPr>
        <p:spPr>
          <a:xfrm>
            <a:off x="9157487"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DATAFY (2024)</a:t>
            </a:r>
            <a:endParaRPr lang="en-US" sz="900" dirty="0"/>
          </a:p>
        </p:txBody>
      </p:sp>
      <p:sp>
        <p:nvSpPr>
          <p:cNvPr id="23" name="Text 20"/>
          <p:cNvSpPr txBox="1"/>
          <p:nvPr/>
        </p:nvSpPr>
        <p:spPr>
          <a:xfrm>
            <a:off x="9157487"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50" dirty="0"/>
          </a:p>
        </p:txBody>
      </p:sp>
      <p:sp>
        <p:nvSpPr>
          <p:cNvPr id="24" name="Text 21"/>
          <p:cNvSpPr txBox="1"/>
          <p:nvPr/>
        </p:nvSpPr>
        <p:spPr>
          <a:xfrm>
            <a:off x="9157487"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5.2%</a:t>
            </a:r>
            <a:endParaRPr lang="en-US" sz="2400" dirty="0"/>
          </a:p>
        </p:txBody>
      </p:sp>
      <p:sp>
        <p:nvSpPr>
          <p:cNvPr id="25" name="Text 22"/>
          <p:cNvSpPr txBox="1"/>
          <p:nvPr/>
        </p:nvSpPr>
        <p:spPr>
          <a:xfrm>
            <a:off x="9157487" y="3090672"/>
            <a:ext cx="2320976" cy="-27432"/>
          </a:xfrm>
          <a:prstGeom prst="rect">
            <a:avLst/>
          </a:prstGeom>
          <a:noFill/>
          <a:ln/>
        </p:spPr>
        <p:txBody>
          <a:bodyPr wrap="square" lIns="0" tIns="0" rIns="0" bIns="0" rtlCol="0" anchor="t"/>
          <a:lstStyle/>
          <a:p>
            <a:pPr indent="0" marL="0">
              <a:buNone/>
            </a:pPr>
            <a:endParaRPr lang="en-US" sz="1000" dirty="0"/>
          </a:p>
        </p:txBody>
      </p:sp>
      <p:sp>
        <p:nvSpPr>
          <p:cNvPr id="26" name="Text 23"/>
          <p:cNvSpPr txBox="1"/>
          <p:nvPr/>
        </p:nvSpPr>
        <p:spPr>
          <a:xfrm>
            <a:off x="548640" y="3291840"/>
            <a:ext cx="11094415" cy="2651760"/>
          </a:xfrm>
          <a:prstGeom prst="rect">
            <a:avLst/>
          </a:prstGeom>
          <a:noFill/>
          <a:ln/>
        </p:spPr>
        <p:txBody>
          <a:bodyPr wrap="square" lIns="0" tIns="0" rIns="0" bIns="0" rtlCol="0" anchor="t"/>
          <a:lstStyle/>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ANAHEIM, Calif. (Oct. 13, 2026): Anaheim's visitor economy is expanding ahead of OC Vibe's first openings in early 2027, Visit Anaheim Business Intelligence reported. Visitors spent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$1.76 billion</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the second quarter of 2026, up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from a year earlier (Tourism Economics, Sept. 2026), and hotel revenue per available room rose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11.4%</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(LARC, Sept.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The OC Vibe area already accounts for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Anaheim visitor days (Datafy, 2024). In District 5,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85.8%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visitors stay overnight and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43.8%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are first-time visitors (Azira, Jan.–May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Hotels have room on weeknights. Visit Anaheim's hotels ran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70.6%</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full on Sunday–Monday nights in 2026 vs.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86.2%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on Friday–Saturday, and Jan., May, Aug. and Sept. weeknights had the most open rooms (STR, Jan.–Sept. 2026). Each point of Sunday–Monday occupancy is worth about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room revenue a year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21,318 rooms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1 point × 104 Sunday and Monday nights a year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22,171 room nights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$229.90</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average Sunday–Monday rate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Main announcement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Groups, access and what the report covers</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Groups are a growing source of weekday guests. Convention Center room nights for 2027 are pacing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17%</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ahead (LARC, Sept. 2026), and Disney's D23 evening showcases drew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36,000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guests to Honda Center over three nights alongside the Convention Center expo (BizBash, Sept. 2026).</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Most visitors drive: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74.0%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of domestic trips start within 50 miles, and SR-57 beside the district carries about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275,000 vehicles</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 weekday (Azira, Aug. 2026; OCTA, Aug. 2026). ARTIC adds 277 weekday bus trips, Amtrak and Metrolink, but only 11 buses leave after 10 p.m.</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The full report covers Anaheim and the OC Vibe area today, visitor spending, jobs, one more night, getting here, who visits, marketing reach, hotels and the market outlook, with the source and date for every figure.</a:t>
            </a:r>
            <a:endParaRPr lang="en-US" sz="13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Summary of findings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finding with its source and date</a:t>
            </a:r>
            <a:endParaRPr lang="en-US" sz="1200" dirty="0"/>
          </a:p>
        </p:txBody>
      </p:sp>
      <p:sp>
        <p:nvSpPr>
          <p:cNvPr id="4" name="Text 2"/>
          <p:cNvSpPr txBox="1"/>
          <p:nvPr/>
        </p:nvSpPr>
        <p:spPr>
          <a:xfrm>
            <a:off x="548640" y="1417320"/>
            <a:ext cx="11094415" cy="4572000"/>
          </a:xfrm>
          <a:prstGeom prst="rect">
            <a:avLst/>
          </a:prstGeom>
          <a:noFill/>
          <a:ln/>
        </p:spPr>
        <p:txBody>
          <a:bodyPr wrap="square" lIns="0" tIns="0" rIns="0" bIns="0" rtlCol="0" anchor="t"/>
          <a:lstStyle/>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Anaheim's visitor economy: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2025 and supported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Tourism Economics forecasts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for 2026. These are City of Anaheim totals; the OC Vibe area accounted for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in 2024. (Source: Tourism Economics, Economic Impact of Visitors (calendar 2025; pub. 2026); Tourism Economics, Anaheim Travel Forecast (Sept.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Orange County market: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51.3M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in 2025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22.1M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93.3%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domestic);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55.4%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from Southern California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37.0%</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traveling with children (2019);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60,224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hotel rooms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$221.67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ADR in Jan.-Aug. 2026, with July the peak month. (Source: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Getting to OC Vibe: SR-57 beside the district carries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weekday; ARTIC has 277 weekday bus trips but only 11 leave after 10 p.m.; the City lists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planned parking spaces. (Source: OCTA Traffic Flow Map (pub. Aug. 2026) and bus schedules (Aug. 9–Nov. 7, 2026); City of Anaheim OCVibe page (2026); OCVIBE fact sheet (Apr.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Visitors spend more each trip: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Anaheim visitor in 2025, forecast to reach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by 2028; Q2 2026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(Source: Tourism Economics, Economic Impact 2025 (pub. Apr.–May 2026); Tourism Economics, Travel Forecast (pub. Sept. 2026; data to Aug. 31,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The visitor economy supports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Anaheim jobs (one in three); food and beverage is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them,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29.1%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countywide. (Source: Tourism Economics, Economic Impact 2025 (pub. Apr.–May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 million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lodging spending, and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 billion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counting all spending by overnight visitors.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$1.724B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2025 lodging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-day average stay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day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Visit Anaheim BI, Extra Night study (2025 inputs; recalculated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OC Vibe sits on one of the county's busiest corridors (SR-57,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day) next to ARTIC's 277 weekday bus trips; a resort–ARTIC transit link is under study for 2028. (Source: OCTA Traffic Flow Map (pub. Aug. 2026) and bus schedules (Aug. 9–Nov. 7,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District 5 visitors are mostly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and Southern Californian, and Datafy already measures OC Vibe in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(Source: Azira via Symphony (District 5, Jan. 1–May 31, 2026; domestic visitors, Aug.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Resort-area hotels fill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rooms (CoStar Disneyland submarket, the highest in the county), and only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are under construction countywide, so new hotel supply is scarce. (Source: CoStar reports and export (data through Aug. 2026; pulled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 hotels are outpacing the U.S. (Q2 revenue per room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conventions are pacing ahead, and the 2028 Olympics come to Anaheim; inflation and labor costs are the main headwinds. (Source: LARC Market Intelligence Reports (Jan.–Sept.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Hotels near OC Vibe have room on Sunday and Monday nights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Friday–Saturday, STR 2026), and visitor card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August 2026 (Visa); rail at ARTIC carried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Amtrak passengers in 2024. (Calculation: (Sunday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Monday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70.5%</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Saturday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STR daily data, Visit Anaheim hotel sets (Jan. 1–Oct. 3, 2026); Visa Destination Insights via Symphony (Aug. 2026 vs. Aug. 2025); Amtrak ANA fact sheet (2024 data; pub. Oct. 27, 2025); Metrolink FY26 Q2 (Oct.–Dec. 2025))</a:t>
            </a:r>
            <a:endParaRPr lang="en-US" sz="10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Sources and dates are shown with each finding; full source register on the Sources slides.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Key takeaways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headline number from each section, with its period</a:t>
            </a:r>
            <a:endParaRPr lang="en-US" sz="1200" dirty="0"/>
          </a:p>
        </p:txBody>
      </p:sp>
      <p:sp>
        <p:nvSpPr>
          <p:cNvPr id="4" name="Shape 2"/>
          <p:cNvSpPr/>
          <p:nvPr/>
        </p:nvSpPr>
        <p:spPr>
          <a:xfrm>
            <a:off x="548640" y="1371600"/>
            <a:ext cx="3588410" cy="1417320"/>
          </a:xfrm>
          <a:prstGeom prst="rect">
            <a:avLst/>
          </a:prstGeom>
          <a:solidFill>
            <a:srgbClr val="FFFFFF"/>
          </a:solidFill>
          <a:ln w="12700">
            <a:solidFill>
              <a:srgbClr val="B4D9E3"/>
            </a:solidFill>
            <a:prstDash val="solid"/>
          </a:ln>
        </p:spPr>
      </p:sp>
      <p:sp>
        <p:nvSpPr>
          <p:cNvPr id="5" name="Shape 3"/>
          <p:cNvSpPr/>
          <p:nvPr/>
        </p:nvSpPr>
        <p:spPr>
          <a:xfrm>
            <a:off x="548640" y="1371600"/>
            <a:ext cx="3588410" cy="54864"/>
          </a:xfrm>
          <a:prstGeom prst="rect">
            <a:avLst/>
          </a:prstGeom>
          <a:solidFill>
            <a:srgbClr val="43A3A3"/>
          </a:solidFill>
          <a:ln w="12700">
            <a:solidFill>
              <a:srgbClr val="43A3A3"/>
            </a:solidFill>
            <a:prstDash val="solid"/>
          </a:ln>
        </p:spPr>
      </p:sp>
      <p:sp>
        <p:nvSpPr>
          <p:cNvPr id="6" name="Text 4"/>
          <p:cNvSpPr txBox="1"/>
          <p:nvPr/>
        </p:nvSpPr>
        <p:spPr>
          <a:xfrm>
            <a:off x="658368"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AND OC VIBE TODAY</a:t>
            </a:r>
            <a:endParaRPr lang="en-US" sz="850" dirty="0"/>
          </a:p>
        </p:txBody>
      </p:sp>
      <p:sp>
        <p:nvSpPr>
          <p:cNvPr id="7" name="Text 5"/>
          <p:cNvSpPr txBox="1"/>
          <p:nvPr/>
        </p:nvSpPr>
        <p:spPr>
          <a:xfrm>
            <a:off x="658368"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$6.83B</a:t>
            </a:r>
            <a:endParaRPr lang="en-US" sz="2400" dirty="0"/>
          </a:p>
        </p:txBody>
      </p:sp>
      <p:sp>
        <p:nvSpPr>
          <p:cNvPr id="8" name="Text 6"/>
          <p:cNvSpPr txBox="1"/>
          <p:nvPr/>
        </p:nvSpPr>
        <p:spPr>
          <a:xfrm>
            <a:off x="2423160"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visitor spending, 2025 (Tourism Economics)</a:t>
            </a:r>
            <a:endParaRPr lang="en-US" sz="950" dirty="0"/>
          </a:p>
        </p:txBody>
      </p:sp>
      <p:sp>
        <p:nvSpPr>
          <p:cNvPr id="9" name="Text 7"/>
          <p:cNvSpPr txBox="1"/>
          <p:nvPr/>
        </p:nvSpPr>
        <p:spPr>
          <a:xfrm>
            <a:off x="658368"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000" b="1" dirty="0">
                <a:solidFill>
                  <a:srgbClr val="125C60"/>
                </a:solidFill>
                <a:latin typeface="Proxima Nova" pitchFamily="34" charset="0"/>
                <a:ea typeface="Proxima Nova" pitchFamily="34" charset="-122"/>
                <a:cs typeface="Proxima Nova" pitchFamily="34" charset="-120"/>
              </a:rPr>
              <a:t>26.5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who spent </a:t>
            </a:r>
            <a:pPr indent="0" marL="0">
              <a:buNone/>
            </a:pPr>
            <a:r>
              <a:rPr lang="en-US" sz="1000" b="1" dirty="0">
                <a:solidFill>
                  <a:srgbClr val="125C60"/>
                </a:solidFill>
                <a:latin typeface="Proxima Nova" pitchFamily="34" charset="0"/>
                <a:ea typeface="Proxima Nova" pitchFamily="34" charset="-122"/>
                <a:cs typeface="Proxima Nova" pitchFamily="34" charset="-120"/>
              </a:rPr>
              <a:t>$6.83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2025</a:t>
            </a:r>
            <a:endParaRPr lang="en-US" sz="1000" dirty="0"/>
          </a:p>
        </p:txBody>
      </p:sp>
      <p:sp>
        <p:nvSpPr>
          <p:cNvPr id="10" name="Shape 8"/>
          <p:cNvSpPr/>
          <p:nvPr/>
        </p:nvSpPr>
        <p:spPr>
          <a:xfrm>
            <a:off x="4301642" y="1371600"/>
            <a:ext cx="3588410" cy="1417320"/>
          </a:xfrm>
          <a:prstGeom prst="rect">
            <a:avLst/>
          </a:prstGeom>
          <a:solidFill>
            <a:srgbClr val="FFFFFF"/>
          </a:solidFill>
          <a:ln w="12700">
            <a:solidFill>
              <a:srgbClr val="B4D9E3"/>
            </a:solidFill>
            <a:prstDash val="solid"/>
          </a:ln>
        </p:spPr>
      </p:sp>
      <p:sp>
        <p:nvSpPr>
          <p:cNvPr id="11" name="Shape 9"/>
          <p:cNvSpPr/>
          <p:nvPr/>
        </p:nvSpPr>
        <p:spPr>
          <a:xfrm>
            <a:off x="4301642" y="1371600"/>
            <a:ext cx="3588410" cy="54864"/>
          </a:xfrm>
          <a:prstGeom prst="rect">
            <a:avLst/>
          </a:prstGeom>
          <a:solidFill>
            <a:srgbClr val="43A3A3"/>
          </a:solidFill>
          <a:ln w="12700">
            <a:solidFill>
              <a:srgbClr val="43A3A3"/>
            </a:solidFill>
            <a:prstDash val="solid"/>
          </a:ln>
        </p:spPr>
      </p:sp>
      <p:sp>
        <p:nvSpPr>
          <p:cNvPr id="12" name="Text 10"/>
          <p:cNvSpPr txBox="1"/>
          <p:nvPr/>
        </p:nvSpPr>
        <p:spPr>
          <a:xfrm>
            <a:off x="4411370"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TOURISM</a:t>
            </a:r>
            <a:endParaRPr lang="en-US" sz="850" dirty="0"/>
          </a:p>
        </p:txBody>
      </p:sp>
      <p:sp>
        <p:nvSpPr>
          <p:cNvPr id="13" name="Text 11"/>
          <p:cNvSpPr txBox="1"/>
          <p:nvPr/>
        </p:nvSpPr>
        <p:spPr>
          <a:xfrm>
            <a:off x="4411370"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51.3M</a:t>
            </a:r>
            <a:endParaRPr lang="en-US" sz="2400" dirty="0"/>
          </a:p>
        </p:txBody>
      </p:sp>
      <p:sp>
        <p:nvSpPr>
          <p:cNvPr id="14" name="Text 12"/>
          <p:cNvSpPr txBox="1"/>
          <p:nvPr/>
        </p:nvSpPr>
        <p:spPr>
          <a:xfrm>
            <a:off x="6176162"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visitors, 2025 (Tourism Economics)</a:t>
            </a:r>
            <a:endParaRPr lang="en-US" sz="950" dirty="0"/>
          </a:p>
        </p:txBody>
      </p:sp>
      <p:sp>
        <p:nvSpPr>
          <p:cNvPr id="15" name="Text 13"/>
          <p:cNvSpPr txBox="1"/>
          <p:nvPr/>
        </p:nvSpPr>
        <p:spPr>
          <a:xfrm>
            <a:off x="4411370"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draws </a:t>
            </a:r>
            <a:pPr indent="0" marL="0">
              <a:buNone/>
            </a:pPr>
            <a:r>
              <a:rPr lang="en-US" sz="1000" b="1" dirty="0">
                <a:solidFill>
                  <a:srgbClr val="125C60"/>
                </a:solidFill>
                <a:latin typeface="Proxima Nova" pitchFamily="34" charset="0"/>
                <a:ea typeface="Proxima Nova" pitchFamily="34" charset="-122"/>
                <a:cs typeface="Proxima Nova" pitchFamily="34" charset="-120"/>
              </a:rPr>
              <a:t>51.3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a year;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75%</a:t>
            </a:r>
            <a:pPr indent="0" marL="0">
              <a:buNone/>
            </a:pPr>
            <a:r>
              <a:rPr lang="en-US" sz="1000" dirty="0">
                <a:solidFill>
                  <a:srgbClr val="231F20"/>
                </a:solidFill>
                <a:latin typeface="Proxima Nova" pitchFamily="34" charset="0"/>
                <a:ea typeface="Proxima Nova" pitchFamily="34" charset="-122"/>
                <a:cs typeface="Proxima Nova" pitchFamily="34" charset="-120"/>
              </a:rPr>
              <a:t> of rooms in 2026</a:t>
            </a:r>
            <a:endParaRPr lang="en-US" sz="1000" dirty="0"/>
          </a:p>
        </p:txBody>
      </p:sp>
      <p:sp>
        <p:nvSpPr>
          <p:cNvPr id="16" name="Shape 14"/>
          <p:cNvSpPr/>
          <p:nvPr/>
        </p:nvSpPr>
        <p:spPr>
          <a:xfrm>
            <a:off x="8054645" y="1371600"/>
            <a:ext cx="3588410" cy="1417320"/>
          </a:xfrm>
          <a:prstGeom prst="rect">
            <a:avLst/>
          </a:prstGeom>
          <a:solidFill>
            <a:srgbClr val="FFFFFF"/>
          </a:solidFill>
          <a:ln w="12700">
            <a:solidFill>
              <a:srgbClr val="B4D9E3"/>
            </a:solidFill>
            <a:prstDash val="solid"/>
          </a:ln>
        </p:spPr>
      </p:sp>
      <p:sp>
        <p:nvSpPr>
          <p:cNvPr id="17" name="Shape 15"/>
          <p:cNvSpPr/>
          <p:nvPr/>
        </p:nvSpPr>
        <p:spPr>
          <a:xfrm>
            <a:off x="8054645" y="1371600"/>
            <a:ext cx="3588410" cy="54864"/>
          </a:xfrm>
          <a:prstGeom prst="rect">
            <a:avLst/>
          </a:prstGeom>
          <a:solidFill>
            <a:srgbClr val="43A3A3"/>
          </a:solidFill>
          <a:ln w="12700">
            <a:solidFill>
              <a:srgbClr val="43A3A3"/>
            </a:solidFill>
            <a:prstDash val="solid"/>
          </a:ln>
        </p:spPr>
      </p:sp>
      <p:sp>
        <p:nvSpPr>
          <p:cNvPr id="18" name="Text 16"/>
          <p:cNvSpPr txBox="1"/>
          <p:nvPr/>
        </p:nvSpPr>
        <p:spPr>
          <a:xfrm>
            <a:off x="8164373"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WHO VISITS</a:t>
            </a:r>
            <a:endParaRPr lang="en-US" sz="850" dirty="0"/>
          </a:p>
        </p:txBody>
      </p:sp>
      <p:sp>
        <p:nvSpPr>
          <p:cNvPr id="19" name="Text 17"/>
          <p:cNvSpPr txBox="1"/>
          <p:nvPr/>
        </p:nvSpPr>
        <p:spPr>
          <a:xfrm>
            <a:off x="8164373"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20" name="Text 18"/>
          <p:cNvSpPr txBox="1"/>
          <p:nvPr/>
        </p:nvSpPr>
        <p:spPr>
          <a:xfrm>
            <a:off x="9929165"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of District 5 visitors stay overnight</a:t>
            </a:r>
            <a:endParaRPr lang="en-US" sz="950" dirty="0"/>
          </a:p>
        </p:txBody>
      </p:sp>
      <p:sp>
        <p:nvSpPr>
          <p:cNvPr id="21" name="Text 19"/>
          <p:cNvSpPr txBox="1"/>
          <p:nvPr/>
        </p:nvSpPr>
        <p:spPr>
          <a:xfrm>
            <a:off x="8164373"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Most District 5 visitors stay overnight, and </a:t>
            </a:r>
            <a:pPr indent="0" marL="0">
              <a:buNone/>
            </a:pPr>
            <a:r>
              <a:rPr lang="en-US" sz="1000" b="1" dirty="0">
                <a:solidFill>
                  <a:srgbClr val="125C60"/>
                </a:solidFill>
                <a:latin typeface="Proxima Nova" pitchFamily="34" charset="0"/>
                <a:ea typeface="Proxima Nova" pitchFamily="34" charset="-122"/>
                <a:cs typeface="Proxima Nova" pitchFamily="34" charset="-120"/>
              </a:rPr>
              <a:t>44%</a:t>
            </a:r>
            <a:pPr indent="0" marL="0">
              <a:buNone/>
            </a:pPr>
            <a:r>
              <a:rPr lang="en-US" sz="1000" dirty="0">
                <a:solidFill>
                  <a:srgbClr val="231F20"/>
                </a:solidFill>
                <a:latin typeface="Proxima Nova" pitchFamily="34" charset="0"/>
                <a:ea typeface="Proxima Nova" pitchFamily="34" charset="-122"/>
                <a:cs typeface="Proxima Nova" pitchFamily="34" charset="-120"/>
              </a:rPr>
              <a:t> are new</a:t>
            </a:r>
            <a:endParaRPr lang="en-US" sz="1000" dirty="0"/>
          </a:p>
        </p:txBody>
      </p:sp>
      <p:sp>
        <p:nvSpPr>
          <p:cNvPr id="22" name="Shape 20"/>
          <p:cNvSpPr/>
          <p:nvPr/>
        </p:nvSpPr>
        <p:spPr>
          <a:xfrm>
            <a:off x="548640" y="2880360"/>
            <a:ext cx="3588410" cy="1417320"/>
          </a:xfrm>
          <a:prstGeom prst="rect">
            <a:avLst/>
          </a:prstGeom>
          <a:solidFill>
            <a:srgbClr val="FFFFFF"/>
          </a:solidFill>
          <a:ln w="12700">
            <a:solidFill>
              <a:srgbClr val="B4D9E3"/>
            </a:solidFill>
            <a:prstDash val="solid"/>
          </a:ln>
        </p:spPr>
      </p:sp>
      <p:sp>
        <p:nvSpPr>
          <p:cNvPr id="23" name="Shape 21"/>
          <p:cNvSpPr/>
          <p:nvPr/>
        </p:nvSpPr>
        <p:spPr>
          <a:xfrm>
            <a:off x="548640" y="2880360"/>
            <a:ext cx="3588410" cy="54864"/>
          </a:xfrm>
          <a:prstGeom prst="rect">
            <a:avLst/>
          </a:prstGeom>
          <a:solidFill>
            <a:srgbClr val="43A3A3"/>
          </a:solidFill>
          <a:ln w="12700">
            <a:solidFill>
              <a:srgbClr val="43A3A3"/>
            </a:solidFill>
            <a:prstDash val="solid"/>
          </a:ln>
        </p:spPr>
      </p:sp>
      <p:sp>
        <p:nvSpPr>
          <p:cNvPr id="24" name="Text 22"/>
          <p:cNvSpPr txBox="1"/>
          <p:nvPr/>
        </p:nvSpPr>
        <p:spPr>
          <a:xfrm>
            <a:off x="658368"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SPENDING</a:t>
            </a:r>
            <a:endParaRPr lang="en-US" sz="850" dirty="0"/>
          </a:p>
        </p:txBody>
      </p:sp>
      <p:sp>
        <p:nvSpPr>
          <p:cNvPr id="25" name="Text 23"/>
          <p:cNvSpPr txBox="1"/>
          <p:nvPr/>
        </p:nvSpPr>
        <p:spPr>
          <a:xfrm>
            <a:off x="658368"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$258</a:t>
            </a:r>
            <a:endParaRPr lang="en-US" sz="2400" dirty="0"/>
          </a:p>
        </p:txBody>
      </p:sp>
      <p:sp>
        <p:nvSpPr>
          <p:cNvPr id="26" name="Text 24"/>
          <p:cNvSpPr txBox="1"/>
          <p:nvPr/>
        </p:nvSpPr>
        <p:spPr>
          <a:xfrm>
            <a:off x="2423160"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spent per Anaheim visitor, 2025</a:t>
            </a:r>
            <a:endParaRPr lang="en-US" sz="950" dirty="0"/>
          </a:p>
        </p:txBody>
      </p:sp>
      <p:sp>
        <p:nvSpPr>
          <p:cNvPr id="27" name="Text 25"/>
          <p:cNvSpPr txBox="1"/>
          <p:nvPr/>
        </p:nvSpPr>
        <p:spPr>
          <a:xfrm>
            <a:off x="658368"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visitors spent </a:t>
            </a:r>
            <a:pPr indent="0" marL="0">
              <a:buNone/>
            </a:pPr>
            <a:r>
              <a:rPr lang="en-US" sz="10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the second quarter, up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endParaRPr lang="en-US" sz="1000" dirty="0"/>
          </a:p>
        </p:txBody>
      </p:sp>
      <p:sp>
        <p:nvSpPr>
          <p:cNvPr id="28" name="Shape 26"/>
          <p:cNvSpPr/>
          <p:nvPr/>
        </p:nvSpPr>
        <p:spPr>
          <a:xfrm>
            <a:off x="4301642" y="2880360"/>
            <a:ext cx="3588410" cy="1417320"/>
          </a:xfrm>
          <a:prstGeom prst="rect">
            <a:avLst/>
          </a:prstGeom>
          <a:solidFill>
            <a:srgbClr val="FFFFFF"/>
          </a:solidFill>
          <a:ln w="12700">
            <a:solidFill>
              <a:srgbClr val="B4D9E3"/>
            </a:solidFill>
            <a:prstDash val="solid"/>
          </a:ln>
        </p:spPr>
      </p:sp>
      <p:sp>
        <p:nvSpPr>
          <p:cNvPr id="29" name="Shape 27"/>
          <p:cNvSpPr/>
          <p:nvPr/>
        </p:nvSpPr>
        <p:spPr>
          <a:xfrm>
            <a:off x="4301642" y="2880360"/>
            <a:ext cx="3588410" cy="54864"/>
          </a:xfrm>
          <a:prstGeom prst="rect">
            <a:avLst/>
          </a:prstGeom>
          <a:solidFill>
            <a:srgbClr val="43A3A3"/>
          </a:solidFill>
          <a:ln w="12700">
            <a:solidFill>
              <a:srgbClr val="43A3A3"/>
            </a:solidFill>
            <a:prstDash val="solid"/>
          </a:ln>
        </p:spPr>
      </p:sp>
      <p:sp>
        <p:nvSpPr>
          <p:cNvPr id="30" name="Text 28"/>
          <p:cNvSpPr txBox="1"/>
          <p:nvPr/>
        </p:nvSpPr>
        <p:spPr>
          <a:xfrm>
            <a:off x="4411370"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JOBS AND ECONOMY</a:t>
            </a:r>
            <a:endParaRPr lang="en-US" sz="850" dirty="0"/>
          </a:p>
        </p:txBody>
      </p:sp>
      <p:sp>
        <p:nvSpPr>
          <p:cNvPr id="31" name="Text 29"/>
          <p:cNvSpPr txBox="1"/>
          <p:nvPr/>
        </p:nvSpPr>
        <p:spPr>
          <a:xfrm>
            <a:off x="4411370"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67,817</a:t>
            </a:r>
            <a:endParaRPr lang="en-US" sz="2400" dirty="0"/>
          </a:p>
        </p:txBody>
      </p:sp>
      <p:sp>
        <p:nvSpPr>
          <p:cNvPr id="32" name="Text 30"/>
          <p:cNvSpPr txBox="1"/>
          <p:nvPr/>
        </p:nvSpPr>
        <p:spPr>
          <a:xfrm>
            <a:off x="6176162"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jobs supported, 2025</a:t>
            </a:r>
            <a:endParaRPr lang="en-US" sz="950" dirty="0"/>
          </a:p>
        </p:txBody>
      </p:sp>
      <p:sp>
        <p:nvSpPr>
          <p:cNvPr id="33" name="Text 31"/>
          <p:cNvSpPr txBox="1"/>
          <p:nvPr/>
        </p:nvSpPr>
        <p:spPr>
          <a:xfrm>
            <a:off x="4411370"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000" b="1" dirty="0">
                <a:solidFill>
                  <a:srgbClr val="125C60"/>
                </a:solidFill>
                <a:latin typeface="Proxima Nova" pitchFamily="34" charset="0"/>
                <a:ea typeface="Proxima Nova" pitchFamily="34" charset="-122"/>
                <a:cs typeface="Proxima Nova" pitchFamily="34" charset="-120"/>
              </a:rPr>
              <a:t>67,817</a:t>
            </a:r>
            <a:pPr indent="0" marL="0">
              <a:buNone/>
            </a:pPr>
            <a:r>
              <a:rPr lang="en-US" sz="1000" dirty="0">
                <a:solidFill>
                  <a:srgbClr val="231F20"/>
                </a:solidFill>
                <a:latin typeface="Proxima Nova" pitchFamily="34" charset="0"/>
                <a:ea typeface="Proxima Nova" pitchFamily="34" charset="-122"/>
                <a:cs typeface="Proxima Nova" pitchFamily="34" charset="-120"/>
              </a:rPr>
              <a:t> Anaheim jobs in 2025, one in three</a:t>
            </a:r>
            <a:endParaRPr lang="en-US" sz="1000" dirty="0"/>
          </a:p>
        </p:txBody>
      </p:sp>
      <p:sp>
        <p:nvSpPr>
          <p:cNvPr id="34" name="Shape 32"/>
          <p:cNvSpPr/>
          <p:nvPr/>
        </p:nvSpPr>
        <p:spPr>
          <a:xfrm>
            <a:off x="8054645" y="2880360"/>
            <a:ext cx="3588410" cy="1417320"/>
          </a:xfrm>
          <a:prstGeom prst="rect">
            <a:avLst/>
          </a:prstGeom>
          <a:solidFill>
            <a:srgbClr val="FFFFFF"/>
          </a:solidFill>
          <a:ln w="12700">
            <a:solidFill>
              <a:srgbClr val="B4D9E3"/>
            </a:solidFill>
            <a:prstDash val="solid"/>
          </a:ln>
        </p:spPr>
      </p:sp>
      <p:sp>
        <p:nvSpPr>
          <p:cNvPr id="35" name="Shape 33"/>
          <p:cNvSpPr/>
          <p:nvPr/>
        </p:nvSpPr>
        <p:spPr>
          <a:xfrm>
            <a:off x="8054645" y="2880360"/>
            <a:ext cx="3588410" cy="54864"/>
          </a:xfrm>
          <a:prstGeom prst="rect">
            <a:avLst/>
          </a:prstGeom>
          <a:solidFill>
            <a:srgbClr val="43A3A3"/>
          </a:solidFill>
          <a:ln w="12700">
            <a:solidFill>
              <a:srgbClr val="43A3A3"/>
            </a:solidFill>
            <a:prstDash val="solid"/>
          </a:ln>
        </p:spPr>
      </p:sp>
      <p:sp>
        <p:nvSpPr>
          <p:cNvPr id="36" name="Text 34"/>
          <p:cNvSpPr txBox="1"/>
          <p:nvPr/>
        </p:nvSpPr>
        <p:spPr>
          <a:xfrm>
            <a:off x="8164373"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HOTEL MARKET</a:t>
            </a:r>
            <a:endParaRPr lang="en-US" sz="850" dirty="0"/>
          </a:p>
        </p:txBody>
      </p:sp>
      <p:sp>
        <p:nvSpPr>
          <p:cNvPr id="37" name="Text 35"/>
          <p:cNvSpPr txBox="1"/>
          <p:nvPr/>
        </p:nvSpPr>
        <p:spPr>
          <a:xfrm>
            <a:off x="8164373"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78.4%</a:t>
            </a:r>
            <a:endParaRPr lang="en-US" sz="2400" dirty="0"/>
          </a:p>
        </p:txBody>
      </p:sp>
      <p:sp>
        <p:nvSpPr>
          <p:cNvPr id="38" name="Text 36"/>
          <p:cNvSpPr txBox="1"/>
          <p:nvPr/>
        </p:nvSpPr>
        <p:spPr>
          <a:xfrm>
            <a:off x="9929165"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hotel occupancy, past 12 months</a:t>
            </a:r>
            <a:endParaRPr lang="en-US" sz="950" dirty="0"/>
          </a:p>
        </p:txBody>
      </p:sp>
      <p:sp>
        <p:nvSpPr>
          <p:cNvPr id="39" name="Text 37"/>
          <p:cNvSpPr txBox="1"/>
          <p:nvPr/>
        </p:nvSpPr>
        <p:spPr>
          <a:xfrm>
            <a:off x="8164373"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pPr indent="0" marL="0">
              <a:buNone/>
            </a:pPr>
            <a:r>
              <a:rPr lang="en-US" sz="1000" dirty="0">
                <a:solidFill>
                  <a:srgbClr val="231F20"/>
                </a:solidFill>
                <a:latin typeface="Proxima Nova" pitchFamily="34" charset="0"/>
                <a:ea typeface="Proxima Nova" pitchFamily="34" charset="-122"/>
                <a:cs typeface="Proxima Nova" pitchFamily="34" charset="-120"/>
              </a:rPr>
              <a:t> of rooms while new supply stays scarce</a:t>
            </a:r>
            <a:endParaRPr lang="en-US" sz="1000" dirty="0"/>
          </a:p>
        </p:txBody>
      </p:sp>
      <p:sp>
        <p:nvSpPr>
          <p:cNvPr id="40" name="Shape 38"/>
          <p:cNvSpPr/>
          <p:nvPr/>
        </p:nvSpPr>
        <p:spPr>
          <a:xfrm>
            <a:off x="548640" y="4389120"/>
            <a:ext cx="3588410" cy="1417320"/>
          </a:xfrm>
          <a:prstGeom prst="rect">
            <a:avLst/>
          </a:prstGeom>
          <a:solidFill>
            <a:srgbClr val="FFFFFF"/>
          </a:solidFill>
          <a:ln w="12700">
            <a:solidFill>
              <a:srgbClr val="B4D9E3"/>
            </a:solidFill>
            <a:prstDash val="solid"/>
          </a:ln>
        </p:spPr>
      </p:sp>
      <p:sp>
        <p:nvSpPr>
          <p:cNvPr id="41" name="Shape 39"/>
          <p:cNvSpPr/>
          <p:nvPr/>
        </p:nvSpPr>
        <p:spPr>
          <a:xfrm>
            <a:off x="548640" y="4389120"/>
            <a:ext cx="3588410" cy="54864"/>
          </a:xfrm>
          <a:prstGeom prst="rect">
            <a:avLst/>
          </a:prstGeom>
          <a:solidFill>
            <a:srgbClr val="43A3A3"/>
          </a:solidFill>
          <a:ln w="12700">
            <a:solidFill>
              <a:srgbClr val="43A3A3"/>
            </a:solidFill>
            <a:prstDash val="solid"/>
          </a:ln>
        </p:spPr>
      </p:sp>
      <p:sp>
        <p:nvSpPr>
          <p:cNvPr id="42" name="Text 40"/>
          <p:cNvSpPr txBox="1"/>
          <p:nvPr/>
        </p:nvSpPr>
        <p:spPr>
          <a:xfrm>
            <a:off x="658368"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a:t>
            </a:r>
            <a:endParaRPr lang="en-US" sz="850" dirty="0"/>
          </a:p>
        </p:txBody>
      </p:sp>
      <p:sp>
        <p:nvSpPr>
          <p:cNvPr id="43" name="Text 41"/>
          <p:cNvSpPr txBox="1"/>
          <p:nvPr/>
        </p:nvSpPr>
        <p:spPr>
          <a:xfrm>
            <a:off x="658368"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$794M</a:t>
            </a:r>
            <a:endParaRPr lang="en-US" sz="2400" dirty="0"/>
          </a:p>
        </p:txBody>
      </p:sp>
      <p:sp>
        <p:nvSpPr>
          <p:cNvPr id="44" name="Text 42"/>
          <p:cNvSpPr txBox="1"/>
          <p:nvPr/>
        </p:nvSpPr>
        <p:spPr>
          <a:xfrm>
            <a:off x="2423160"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 spending</a:t>
            </a:r>
            <a:endParaRPr lang="en-US" sz="950" dirty="0"/>
          </a:p>
        </p:txBody>
      </p:sp>
      <p:sp>
        <p:nvSpPr>
          <p:cNvPr id="45" name="Text 43"/>
          <p:cNvSpPr txBox="1"/>
          <p:nvPr/>
        </p:nvSpPr>
        <p:spPr>
          <a:xfrm>
            <a:off x="658368"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indent="0" marL="0">
              <a:buNone/>
            </a:pPr>
            <a:r>
              <a:rPr lang="en-US" sz="100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000" dirty="0">
                <a:solidFill>
                  <a:srgbClr val="231F20"/>
                </a:solidFill>
                <a:latin typeface="Proxima Nova" pitchFamily="34" charset="0"/>
                <a:ea typeface="Proxima Nova" pitchFamily="34" charset="-122"/>
                <a:cs typeface="Proxima Nova" pitchFamily="34" charset="-120"/>
              </a:rPr>
              <a:t> in lodging</a:t>
            </a:r>
            <a:endParaRPr lang="en-US" sz="1000" dirty="0"/>
          </a:p>
        </p:txBody>
      </p:sp>
      <p:sp>
        <p:nvSpPr>
          <p:cNvPr id="46" name="Shape 44"/>
          <p:cNvSpPr/>
          <p:nvPr/>
        </p:nvSpPr>
        <p:spPr>
          <a:xfrm>
            <a:off x="4301642" y="4389120"/>
            <a:ext cx="3588410" cy="1417320"/>
          </a:xfrm>
          <a:prstGeom prst="rect">
            <a:avLst/>
          </a:prstGeom>
          <a:solidFill>
            <a:srgbClr val="FFFFFF"/>
          </a:solidFill>
          <a:ln w="12700">
            <a:solidFill>
              <a:srgbClr val="B4D9E3"/>
            </a:solidFill>
            <a:prstDash val="solid"/>
          </a:ln>
        </p:spPr>
      </p:sp>
      <p:sp>
        <p:nvSpPr>
          <p:cNvPr id="47" name="Shape 45"/>
          <p:cNvSpPr/>
          <p:nvPr/>
        </p:nvSpPr>
        <p:spPr>
          <a:xfrm>
            <a:off x="4301642" y="4389120"/>
            <a:ext cx="3588410" cy="54864"/>
          </a:xfrm>
          <a:prstGeom prst="rect">
            <a:avLst/>
          </a:prstGeom>
          <a:solidFill>
            <a:srgbClr val="43A3A3"/>
          </a:solidFill>
          <a:ln w="12700">
            <a:solidFill>
              <a:srgbClr val="43A3A3"/>
            </a:solidFill>
            <a:prstDash val="solid"/>
          </a:ln>
        </p:spPr>
      </p:sp>
      <p:sp>
        <p:nvSpPr>
          <p:cNvPr id="48" name="Text 46"/>
          <p:cNvSpPr txBox="1"/>
          <p:nvPr/>
        </p:nvSpPr>
        <p:spPr>
          <a:xfrm>
            <a:off x="4411370"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GETTING HERE</a:t>
            </a:r>
            <a:endParaRPr lang="en-US" sz="850" dirty="0"/>
          </a:p>
        </p:txBody>
      </p:sp>
      <p:sp>
        <p:nvSpPr>
          <p:cNvPr id="49" name="Text 47"/>
          <p:cNvSpPr txBox="1"/>
          <p:nvPr/>
        </p:nvSpPr>
        <p:spPr>
          <a:xfrm>
            <a:off x="4411370"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275K</a:t>
            </a:r>
            <a:endParaRPr lang="en-US" sz="2400" dirty="0"/>
          </a:p>
        </p:txBody>
      </p:sp>
      <p:sp>
        <p:nvSpPr>
          <p:cNvPr id="50" name="Text 48"/>
          <p:cNvSpPr txBox="1"/>
          <p:nvPr/>
        </p:nvSpPr>
        <p:spPr>
          <a:xfrm>
            <a:off x="6176162"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vehicles a day on SR-57 at OC Vibe</a:t>
            </a:r>
            <a:endParaRPr lang="en-US" sz="950" dirty="0"/>
          </a:p>
        </p:txBody>
      </p:sp>
      <p:sp>
        <p:nvSpPr>
          <p:cNvPr id="51" name="Text 49"/>
          <p:cNvSpPr txBox="1"/>
          <p:nvPr/>
        </p:nvSpPr>
        <p:spPr>
          <a:xfrm>
            <a:off x="4411370" y="5175504"/>
            <a:ext cx="3368954" cy="566928"/>
          </a:xfrm>
          <a:prstGeom prst="rect">
            <a:avLst/>
          </a:prstGeom>
          <a:noFill/>
          <a:ln/>
        </p:spPr>
        <p:txBody>
          <a:bodyPr wrap="square" lIns="0" tIns="0" rIns="0" bIns="0" rtlCol="0" anchor="t">
            <a:normAutofit/>
          </a:bodyPr>
          <a:lstStyle/>
          <a:p>
            <a:pPr indent="0" marL="0">
              <a:buNone/>
            </a:pPr>
            <a:r>
              <a:rPr lang="en-US" sz="10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000" dirty="0">
                <a:solidFill>
                  <a:srgbClr val="231F20"/>
                </a:solidFill>
                <a:latin typeface="Proxima Nova" pitchFamily="34" charset="0"/>
                <a:ea typeface="Proxima Nova" pitchFamily="34" charset="-122"/>
                <a:cs typeface="Proxima Nova" pitchFamily="34" charset="-120"/>
              </a:rPr>
              <a:t> a day pass OC Vibe on SR-57</a:t>
            </a:r>
            <a:endParaRPr lang="en-US" sz="1000" dirty="0"/>
          </a:p>
        </p:txBody>
      </p:sp>
      <p:sp>
        <p:nvSpPr>
          <p:cNvPr id="52" name="Shape 50"/>
          <p:cNvSpPr/>
          <p:nvPr/>
        </p:nvSpPr>
        <p:spPr>
          <a:xfrm>
            <a:off x="8054645" y="4389120"/>
            <a:ext cx="3588410" cy="1417320"/>
          </a:xfrm>
          <a:prstGeom prst="rect">
            <a:avLst/>
          </a:prstGeom>
          <a:solidFill>
            <a:srgbClr val="FFFFFF"/>
          </a:solidFill>
          <a:ln w="12700">
            <a:solidFill>
              <a:srgbClr val="B4D9E3"/>
            </a:solidFill>
            <a:prstDash val="solid"/>
          </a:ln>
        </p:spPr>
      </p:sp>
      <p:sp>
        <p:nvSpPr>
          <p:cNvPr id="53" name="Shape 51"/>
          <p:cNvSpPr/>
          <p:nvPr/>
        </p:nvSpPr>
        <p:spPr>
          <a:xfrm>
            <a:off x="8054645" y="4389120"/>
            <a:ext cx="3588410" cy="54864"/>
          </a:xfrm>
          <a:prstGeom prst="rect">
            <a:avLst/>
          </a:prstGeom>
          <a:solidFill>
            <a:srgbClr val="43A3A3"/>
          </a:solidFill>
          <a:ln w="12700">
            <a:solidFill>
              <a:srgbClr val="43A3A3"/>
            </a:solidFill>
            <a:prstDash val="solid"/>
          </a:ln>
        </p:spPr>
      </p:sp>
      <p:sp>
        <p:nvSpPr>
          <p:cNvPr id="54" name="Text 52"/>
          <p:cNvSpPr txBox="1"/>
          <p:nvPr/>
        </p:nvSpPr>
        <p:spPr>
          <a:xfrm>
            <a:off x="8164373"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MARKETING REACH</a:t>
            </a:r>
            <a:endParaRPr lang="en-US" sz="850" dirty="0"/>
          </a:p>
        </p:txBody>
      </p:sp>
      <p:sp>
        <p:nvSpPr>
          <p:cNvPr id="55" name="Text 53"/>
          <p:cNvSpPr txBox="1"/>
          <p:nvPr/>
        </p:nvSpPr>
        <p:spPr>
          <a:xfrm>
            <a:off x="8164373"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368,416</a:t>
            </a:r>
            <a:endParaRPr lang="en-US" sz="2400" dirty="0"/>
          </a:p>
        </p:txBody>
      </p:sp>
      <p:sp>
        <p:nvSpPr>
          <p:cNvPr id="56" name="Text 54"/>
          <p:cNvSpPr txBox="1"/>
          <p:nvPr/>
        </p:nvSpPr>
        <p:spPr>
          <a:xfrm>
            <a:off x="9929165"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observed visits after ad exposure</a:t>
            </a:r>
            <a:endParaRPr lang="en-US" sz="950" dirty="0"/>
          </a:p>
        </p:txBody>
      </p:sp>
      <p:sp>
        <p:nvSpPr>
          <p:cNvPr id="57" name="Text 55"/>
          <p:cNvSpPr txBox="1"/>
          <p:nvPr/>
        </p:nvSpPr>
        <p:spPr>
          <a:xfrm>
            <a:off x="8164373"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 Anaheim marketing drove </a:t>
            </a:r>
            <a:pPr indent="0" marL="0">
              <a:buNone/>
            </a:pPr>
            <a:r>
              <a:rPr lang="en-US" sz="1000" b="1" dirty="0">
                <a:solidFill>
                  <a:srgbClr val="125C60"/>
                </a:solidFill>
                <a:latin typeface="Proxima Nova" pitchFamily="34" charset="0"/>
                <a:ea typeface="Proxima Nova" pitchFamily="34" charset="-122"/>
                <a:cs typeface="Proxima Nova" pitchFamily="34" charset="-120"/>
              </a:rPr>
              <a:t>368,416</a:t>
            </a:r>
            <a:pPr indent="0" marL="0">
              <a:buNone/>
            </a:pPr>
            <a:r>
              <a:rPr lang="en-US" sz="1000" dirty="0">
                <a:solidFill>
                  <a:srgbClr val="231F20"/>
                </a:solidFill>
                <a:latin typeface="Proxima Nova" pitchFamily="34" charset="0"/>
                <a:ea typeface="Proxima Nova" pitchFamily="34" charset="-122"/>
                <a:cs typeface="Proxima Nova" pitchFamily="34" charset="-120"/>
              </a:rPr>
              <a:t> observed visits this year</a:t>
            </a:r>
            <a:endParaRPr lang="en-US" sz="1000" dirty="0"/>
          </a:p>
        </p:txBody>
      </p:sp>
      <p:sp>
        <p:nvSpPr>
          <p:cNvPr id="58" name="Shape 56"/>
          <p:cNvSpPr/>
          <p:nvPr/>
        </p:nvSpPr>
        <p:spPr>
          <a:xfrm>
            <a:off x="548640" y="5897880"/>
            <a:ext cx="3588410" cy="1417320"/>
          </a:xfrm>
          <a:prstGeom prst="rect">
            <a:avLst/>
          </a:prstGeom>
          <a:solidFill>
            <a:srgbClr val="FFFFFF"/>
          </a:solidFill>
          <a:ln w="12700">
            <a:solidFill>
              <a:srgbClr val="B4D9E3"/>
            </a:solidFill>
            <a:prstDash val="solid"/>
          </a:ln>
        </p:spPr>
      </p:sp>
      <p:sp>
        <p:nvSpPr>
          <p:cNvPr id="59" name="Shape 57"/>
          <p:cNvSpPr/>
          <p:nvPr/>
        </p:nvSpPr>
        <p:spPr>
          <a:xfrm>
            <a:off x="548640" y="5897880"/>
            <a:ext cx="3588410" cy="54864"/>
          </a:xfrm>
          <a:prstGeom prst="rect">
            <a:avLst/>
          </a:prstGeom>
          <a:solidFill>
            <a:srgbClr val="43A3A3"/>
          </a:solidFill>
          <a:ln w="12700">
            <a:solidFill>
              <a:srgbClr val="43A3A3"/>
            </a:solidFill>
            <a:prstDash val="solid"/>
          </a:ln>
        </p:spPr>
      </p:sp>
      <p:sp>
        <p:nvSpPr>
          <p:cNvPr id="60" name="Text 58"/>
          <p:cNvSpPr txBox="1"/>
          <p:nvPr/>
        </p:nvSpPr>
        <p:spPr>
          <a:xfrm>
            <a:off x="658368" y="598932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 OUTLOOK</a:t>
            </a:r>
            <a:endParaRPr lang="en-US" sz="850" dirty="0"/>
          </a:p>
        </p:txBody>
      </p:sp>
      <p:sp>
        <p:nvSpPr>
          <p:cNvPr id="61" name="Text 59"/>
          <p:cNvSpPr txBox="1"/>
          <p:nvPr/>
        </p:nvSpPr>
        <p:spPr>
          <a:xfrm>
            <a:off x="658368" y="619048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62" name="Text 60"/>
          <p:cNvSpPr txBox="1"/>
          <p:nvPr/>
        </p:nvSpPr>
        <p:spPr>
          <a:xfrm>
            <a:off x="2423160" y="620877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hotel revenue per room, Q2 2026</a:t>
            </a:r>
            <a:endParaRPr lang="en-US" sz="950" dirty="0"/>
          </a:p>
        </p:txBody>
      </p:sp>
      <p:sp>
        <p:nvSpPr>
          <p:cNvPr id="63" name="Text 61"/>
          <p:cNvSpPr txBox="1"/>
          <p:nvPr/>
        </p:nvSpPr>
        <p:spPr>
          <a:xfrm>
            <a:off x="658368" y="668426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hotel revenue per room up </a:t>
            </a:r>
            <a:pPr indent="0" marL="0">
              <a:buNone/>
            </a:pPr>
            <a:r>
              <a:rPr lang="en-US" sz="1000" b="1" dirty="0">
                <a:solidFill>
                  <a:srgbClr val="125C60"/>
                </a:solidFill>
                <a:latin typeface="Proxima Nova" pitchFamily="34" charset="0"/>
                <a:ea typeface="Proxima Nova" pitchFamily="34" charset="-122"/>
                <a:cs typeface="Proxima Nova" pitchFamily="34" charset="-120"/>
              </a:rPr>
              <a:t>11.4%</a:t>
            </a:r>
            <a:pPr indent="0" marL="0">
              <a:buNone/>
            </a:pPr>
            <a:r>
              <a:rPr lang="en-US" sz="1000" dirty="0">
                <a:solidFill>
                  <a:srgbClr val="231F20"/>
                </a:solidFill>
                <a:latin typeface="Proxima Nova" pitchFamily="34" charset="0"/>
                <a:ea typeface="Proxima Nova" pitchFamily="34" charset="-122"/>
                <a:cs typeface="Proxima Nova" pitchFamily="34" charset="-120"/>
              </a:rPr>
              <a:t> as OC Vibe nears opening</a:t>
            </a:r>
            <a:endParaRPr lang="en-US" sz="1000" dirty="0"/>
          </a:p>
        </p:txBody>
      </p:sp>
      <p:sp>
        <p:nvSpPr>
          <p:cNvPr id="6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Each figure with its source and period on its section slides. Visit Anaheim Business Intelligence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reads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section is a news report (lede, why it matters, the details) followed by analysis · sections in reading order</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749040"/>
                <a:gridCol w="5513832"/>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Section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The question it answers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Why the next section follows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OC Vibe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Where do Anaheim's visitor economy and the OC Vibe area stand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tourism: Anaheim sits inside a larger county market. The next section sizes Orange County: arrivals, origins, seasonality, visitor profile and hotels.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tourism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many visitors come to Orange County, from where and when, who are they, and what hotel capacity serves them?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With the county market sized, the next question is who visits the OC Vibe area itself.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Who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District 5 and the OC Vibe area, and where do they come from?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Knowing who visits leads to what each visitor is worth. Spending per visitor converts audience size into economic 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much does each visitor spend, and how is that changing?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and economy: Spending is the input; jobs and tax revenue are the outcome. The next section traces how visitor dollars move through the Anaheim and Orange County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Jobs and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does the visitor economy support in Anaheim, Garden Grove and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market: Lodging is one of the largest categories of visitor spending ($1.724B in 2025), so hotel capacity comes next: how full Anaheim hotels are, at what rate, and on which nights rooms are open.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Hotel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are hotels around OC Vibe performing, and is there room for more?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One more night: Open rooms on Sunday and Monday nights point to the most direct lever, longer stays. The next section measures what one more night per visitor is worth.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One more 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is one more night per visitor worth to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Getting here: Longer stays depend on how easily visitors arrive and leave, especially after evening events. The next section examines road, bus and rail access to the 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Getting here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do people get to OC Vibe, and what transportation changes are coming?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Marketing reach: Access determines who can come; marketing influences who chooses to. The next section shows how paid media converts into measured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Marketing reach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Does Visit Anaheim's marketing bring visitors who can reach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 outlook: With audience, value, capacity, access and reach measured, the last section looks at the market conditions OC Vibe will open into.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in the hotel and market outlook will affect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Reports and data library: Every report and data file behind these sections can be opened or downloaded in the library; the Appendix and Sources follow.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13, 2026). Facts only; no editorial or opinion content.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is updated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19, 2026 · Next scheduled update Jan. 15, 2027</a:t>
            </a:r>
            <a:endParaRPr lang="en-US" sz="1200" dirty="0"/>
          </a:p>
        </p:txBody>
      </p:sp>
      <p:sp>
        <p:nvSpPr>
          <p:cNvPr id="5" name="Text 2"/>
          <p:cNvSpPr txBox="1"/>
          <p:nvPr/>
        </p:nvSpPr>
        <p:spPr>
          <a:xfrm>
            <a:off x="548640" y="1325880"/>
            <a:ext cx="11094415" cy="566928"/>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 Anaheim Business Intelligence updates OC Vibe Insights each quarter, on the 15th of January, April, July and October, after Tourism Economics delivers its quarterly Anaheim Travel Forecast. The data was last updated Oct. 19, 2026; the next scheduled update is Jan. 15, 2027.</a:t>
            </a:r>
            <a:endParaRPr lang="en-US" sz="1200" dirty="0"/>
          </a:p>
        </p:txBody>
      </p:sp>
      <p:sp>
        <p:nvSpPr>
          <p:cNvPr id="6" name="update-card-0"/>
          <p:cNvSpPr/>
          <p:nvPr/>
        </p:nvSpPr>
        <p:spPr>
          <a:xfrm>
            <a:off x="548640" y="1965960"/>
            <a:ext cx="3588410" cy="1920240"/>
          </a:xfrm>
          <a:prstGeom prst="rect">
            <a:avLst/>
          </a:prstGeom>
          <a:solidFill>
            <a:srgbClr val="FFFFFF"/>
          </a:solidFill>
          <a:ln w="12700">
            <a:solidFill>
              <a:srgbClr val="B4D9E3"/>
            </a:solidFill>
            <a:prstDash val="solid"/>
          </a:ln>
        </p:spPr>
      </p:sp>
      <p:sp>
        <p:nvSpPr>
          <p:cNvPr id="7" name="Shape 4"/>
          <p:cNvSpPr/>
          <p:nvPr/>
        </p:nvSpPr>
        <p:spPr>
          <a:xfrm>
            <a:off x="548640" y="1965960"/>
            <a:ext cx="3588410" cy="64008"/>
          </a:xfrm>
          <a:prstGeom prst="rect">
            <a:avLst/>
          </a:prstGeom>
          <a:solidFill>
            <a:srgbClr val="43A3A3"/>
          </a:solidFill>
          <a:ln w="12700">
            <a:solidFill>
              <a:srgbClr val="43A3A3"/>
            </a:solidFill>
            <a:prstDash val="solid"/>
          </a:ln>
        </p:spPr>
      </p:sp>
      <p:sp>
        <p:nvSpPr>
          <p:cNvPr id="8" name="Text 5"/>
          <p:cNvSpPr txBox="1"/>
          <p:nvPr/>
        </p:nvSpPr>
        <p:spPr>
          <a:xfrm>
            <a:off x="685800"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9" name="Text 6"/>
          <p:cNvSpPr txBox="1"/>
          <p:nvPr/>
        </p:nvSpPr>
        <p:spPr>
          <a:xfrm>
            <a:off x="685800"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Visit Anaheim BI</a:t>
            </a:r>
            <a:endParaRPr lang="en-US" sz="2000" dirty="0"/>
          </a:p>
        </p:txBody>
      </p:sp>
      <p:sp>
        <p:nvSpPr>
          <p:cNvPr id="10" name="Text 7"/>
          <p:cNvSpPr txBox="1"/>
          <p:nvPr/>
        </p:nvSpPr>
        <p:spPr>
          <a:xfrm>
            <a:off x="685800"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Business Intelligence team</a:t>
            </a:r>
            <a:endParaRPr lang="en-US" sz="1000" dirty="0"/>
          </a:p>
        </p:txBody>
      </p:sp>
      <p:sp>
        <p:nvSpPr>
          <p:cNvPr id="11" name="Text 8"/>
          <p:cNvSpPr txBox="1"/>
          <p:nvPr/>
        </p:nvSpPr>
        <p:spPr>
          <a:xfrm>
            <a:off x="685800"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Prepares each update and checks every figure against its source before it is published. Questions go to bi@visitanaheim.org.</a:t>
            </a:r>
            <a:endParaRPr lang="en-US" sz="900" dirty="0"/>
          </a:p>
        </p:txBody>
      </p:sp>
      <p:sp>
        <p:nvSpPr>
          <p:cNvPr id="12" name="Text 9"/>
          <p:cNvSpPr txBox="1"/>
          <p:nvPr/>
        </p:nvSpPr>
        <p:spPr>
          <a:xfrm>
            <a:off x="685800"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13" name="update-card-1"/>
          <p:cNvSpPr/>
          <p:nvPr/>
        </p:nvSpPr>
        <p:spPr>
          <a:xfrm>
            <a:off x="4301642" y="1965960"/>
            <a:ext cx="3588410" cy="1920240"/>
          </a:xfrm>
          <a:prstGeom prst="rect">
            <a:avLst/>
          </a:prstGeom>
          <a:solidFill>
            <a:srgbClr val="FFFFFF"/>
          </a:solidFill>
          <a:ln w="12700">
            <a:solidFill>
              <a:srgbClr val="B4D9E3"/>
            </a:solidFill>
            <a:prstDash val="solid"/>
          </a:ln>
        </p:spPr>
      </p:sp>
      <p:sp>
        <p:nvSpPr>
          <p:cNvPr id="14" name="Shape 11"/>
          <p:cNvSpPr/>
          <p:nvPr/>
        </p:nvSpPr>
        <p:spPr>
          <a:xfrm>
            <a:off x="4301642" y="1965960"/>
            <a:ext cx="3588410" cy="64008"/>
          </a:xfrm>
          <a:prstGeom prst="rect">
            <a:avLst/>
          </a:prstGeom>
          <a:solidFill>
            <a:srgbClr val="43A3A3"/>
          </a:solidFill>
          <a:ln w="12700">
            <a:solidFill>
              <a:srgbClr val="43A3A3"/>
            </a:solidFill>
            <a:prstDash val="solid"/>
          </a:ln>
        </p:spPr>
      </p:sp>
      <p:sp>
        <p:nvSpPr>
          <p:cNvPr id="15" name="Text 12"/>
          <p:cNvSpPr txBox="1"/>
          <p:nvPr/>
        </p:nvSpPr>
        <p:spPr>
          <a:xfrm>
            <a:off x="4438802"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6" name="Text 13"/>
          <p:cNvSpPr txBox="1"/>
          <p:nvPr/>
        </p:nvSpPr>
        <p:spPr>
          <a:xfrm>
            <a:off x="4438802"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Changed figures only</a:t>
            </a:r>
            <a:endParaRPr lang="en-US" sz="2000" dirty="0"/>
          </a:p>
        </p:txBody>
      </p:sp>
      <p:sp>
        <p:nvSpPr>
          <p:cNvPr id="17" name="Text 14"/>
          <p:cNvSpPr txBox="1"/>
          <p:nvPr/>
        </p:nvSpPr>
        <p:spPr>
          <a:xfrm>
            <a:off x="4438802"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New published or measured values</a:t>
            </a:r>
            <a:endParaRPr lang="en-US" sz="1000" dirty="0"/>
          </a:p>
        </p:txBody>
      </p:sp>
      <p:sp>
        <p:nvSpPr>
          <p:cNvPr id="18" name="Text 15"/>
          <p:cNvSpPr txBox="1"/>
          <p:nvPr/>
        </p:nvSpPr>
        <p:spPr>
          <a:xfrm>
            <a:off x="4438802"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replaces only figures that have a new published or measured value, with the new period and publication date, and rewrites any sentence that cites them. A source with nothing new keeps its current, dated figures; no figure is estimated to fill a gap.</a:t>
            </a:r>
            <a:endParaRPr lang="en-US" sz="900" dirty="0"/>
          </a:p>
        </p:txBody>
      </p:sp>
      <p:sp>
        <p:nvSpPr>
          <p:cNvPr id="19" name="Text 16"/>
          <p:cNvSpPr txBox="1"/>
          <p:nvPr/>
        </p:nvSpPr>
        <p:spPr>
          <a:xfrm>
            <a:off x="4438802"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0" name="update-card-2"/>
          <p:cNvSpPr/>
          <p:nvPr/>
        </p:nvSpPr>
        <p:spPr>
          <a:xfrm>
            <a:off x="8054645" y="1965960"/>
            <a:ext cx="3588410" cy="1920240"/>
          </a:xfrm>
          <a:prstGeom prst="rect">
            <a:avLst/>
          </a:prstGeom>
          <a:solidFill>
            <a:srgbClr val="FFFFFF"/>
          </a:solidFill>
          <a:ln w="12700">
            <a:solidFill>
              <a:srgbClr val="B4D9E3"/>
            </a:solidFill>
            <a:prstDash val="solid"/>
          </a:ln>
        </p:spPr>
      </p:sp>
      <p:sp>
        <p:nvSpPr>
          <p:cNvPr id="21" name="Shape 18"/>
          <p:cNvSpPr/>
          <p:nvPr/>
        </p:nvSpPr>
        <p:spPr>
          <a:xfrm>
            <a:off x="8054645" y="1965960"/>
            <a:ext cx="3588410" cy="64008"/>
          </a:xfrm>
          <a:prstGeom prst="rect">
            <a:avLst/>
          </a:prstGeom>
          <a:solidFill>
            <a:srgbClr val="43A3A3"/>
          </a:solidFill>
          <a:ln w="12700">
            <a:solidFill>
              <a:srgbClr val="43A3A3"/>
            </a:solidFill>
            <a:prstDash val="solid"/>
          </a:ln>
        </p:spPr>
      </p:sp>
      <p:sp>
        <p:nvSpPr>
          <p:cNvPr id="22" name="Text 19"/>
          <p:cNvSpPr txBox="1"/>
          <p:nvPr/>
        </p:nvSpPr>
        <p:spPr>
          <a:xfrm>
            <a:off x="8191805"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3" name="Text 20"/>
          <p:cNvSpPr txBox="1"/>
          <p:nvPr/>
        </p:nvSpPr>
        <p:spPr>
          <a:xfrm>
            <a:off x="8191805"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Quarterly</a:t>
            </a:r>
            <a:endParaRPr lang="en-US" sz="2000" dirty="0"/>
          </a:p>
        </p:txBody>
      </p:sp>
      <p:sp>
        <p:nvSpPr>
          <p:cNvPr id="24" name="Text 21"/>
          <p:cNvSpPr txBox="1"/>
          <p:nvPr/>
        </p:nvSpPr>
        <p:spPr>
          <a:xfrm>
            <a:off x="8191805"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15th of Jan., April, July and Oct.</a:t>
            </a:r>
            <a:endParaRPr lang="en-US" sz="1000" dirty="0"/>
          </a:p>
        </p:txBody>
      </p:sp>
      <p:sp>
        <p:nvSpPr>
          <p:cNvPr id="25" name="Text 22"/>
          <p:cNvSpPr txBox="1"/>
          <p:nvPr/>
        </p:nvSpPr>
        <p:spPr>
          <a:xfrm>
            <a:off x="8191805"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Updates run on a fixed schedule at about 9 a.m. Pacific. Data last updated Oct. 19, 2026; next scheduled update Jan. 15, 2027.</a:t>
            </a:r>
            <a:endParaRPr lang="en-US" sz="900" dirty="0"/>
          </a:p>
        </p:txBody>
      </p:sp>
      <p:sp>
        <p:nvSpPr>
          <p:cNvPr id="26" name="Text 23"/>
          <p:cNvSpPr txBox="1"/>
          <p:nvPr/>
        </p:nvSpPr>
        <p:spPr>
          <a:xfrm>
            <a:off x="8191805"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7" name="update-card-3"/>
          <p:cNvSpPr/>
          <p:nvPr/>
        </p:nvSpPr>
        <p:spPr>
          <a:xfrm>
            <a:off x="548640" y="3977640"/>
            <a:ext cx="3588410" cy="1920240"/>
          </a:xfrm>
          <a:prstGeom prst="rect">
            <a:avLst/>
          </a:prstGeom>
          <a:solidFill>
            <a:srgbClr val="FFFFFF"/>
          </a:solidFill>
          <a:ln w="12700">
            <a:solidFill>
              <a:srgbClr val="B4D9E3"/>
            </a:solidFill>
            <a:prstDash val="solid"/>
          </a:ln>
        </p:spPr>
      </p:sp>
      <p:sp>
        <p:nvSpPr>
          <p:cNvPr id="28" name="Shape 25"/>
          <p:cNvSpPr/>
          <p:nvPr/>
        </p:nvSpPr>
        <p:spPr>
          <a:xfrm>
            <a:off x="548640" y="3977640"/>
            <a:ext cx="3588410" cy="64008"/>
          </a:xfrm>
          <a:prstGeom prst="rect">
            <a:avLst/>
          </a:prstGeom>
          <a:solidFill>
            <a:srgbClr val="43A3A3"/>
          </a:solidFill>
          <a:ln w="12700">
            <a:solidFill>
              <a:srgbClr val="43A3A3"/>
            </a:solidFill>
            <a:prstDash val="solid"/>
          </a:ln>
        </p:spPr>
      </p:sp>
      <p:sp>
        <p:nvSpPr>
          <p:cNvPr id="29" name="Text 26"/>
          <p:cNvSpPr txBox="1"/>
          <p:nvPr/>
        </p:nvSpPr>
        <p:spPr>
          <a:xfrm>
            <a:off x="685800"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30" name="Text 27"/>
          <p:cNvSpPr txBox="1"/>
          <p:nvPr/>
        </p:nvSpPr>
        <p:spPr>
          <a:xfrm>
            <a:off x="685800"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 formats</a:t>
            </a:r>
            <a:endParaRPr lang="en-US" sz="2000" dirty="0"/>
          </a:p>
        </p:txBody>
      </p:sp>
      <p:sp>
        <p:nvSpPr>
          <p:cNvPr id="31" name="Text 28"/>
          <p:cNvSpPr txBox="1"/>
          <p:nvPr/>
        </p:nvSpPr>
        <p:spPr>
          <a:xfrm>
            <a:off x="685800"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Dashboard, deck and data tables</a:t>
            </a:r>
            <a:endParaRPr lang="en-US" sz="1000" dirty="0"/>
          </a:p>
        </p:txBody>
      </p:sp>
      <p:sp>
        <p:nvSpPr>
          <p:cNvPr id="32" name="Text 29"/>
          <p:cNvSpPr txBox="1"/>
          <p:nvPr/>
        </p:nvSpPr>
        <p:spPr>
          <a:xfrm>
            <a:off x="685800"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is published to the dashboard (oc-vibe-insights.vercel.app and the claude.ai dashboard), the downloadable PowerPoint deck and the data tables (Excel and CSV).</a:t>
            </a:r>
            <a:endParaRPr lang="en-US" sz="900" dirty="0"/>
          </a:p>
        </p:txBody>
      </p:sp>
      <p:sp>
        <p:nvSpPr>
          <p:cNvPr id="33" name="Text 30"/>
          <p:cNvSpPr txBox="1"/>
          <p:nvPr/>
        </p:nvSpPr>
        <p:spPr>
          <a:xfrm>
            <a:off x="685800"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34" name="update-card-4"/>
          <p:cNvSpPr/>
          <p:nvPr/>
        </p:nvSpPr>
        <p:spPr>
          <a:xfrm>
            <a:off x="4301642" y="3977640"/>
            <a:ext cx="3588410" cy="1920240"/>
          </a:xfrm>
          <a:prstGeom prst="rect">
            <a:avLst/>
          </a:prstGeom>
          <a:solidFill>
            <a:srgbClr val="FFFFFF"/>
          </a:solidFill>
          <a:ln w="12700">
            <a:solidFill>
              <a:srgbClr val="B4D9E3"/>
            </a:solidFill>
            <a:prstDash val="solid"/>
          </a:ln>
        </p:spPr>
      </p:sp>
      <p:sp>
        <p:nvSpPr>
          <p:cNvPr id="35" name="Shape 32"/>
          <p:cNvSpPr/>
          <p:nvPr/>
        </p:nvSpPr>
        <p:spPr>
          <a:xfrm>
            <a:off x="4301642" y="3977640"/>
            <a:ext cx="3588410" cy="64008"/>
          </a:xfrm>
          <a:prstGeom prst="rect">
            <a:avLst/>
          </a:prstGeom>
          <a:solidFill>
            <a:srgbClr val="43A3A3"/>
          </a:solidFill>
          <a:ln w="12700">
            <a:solidFill>
              <a:srgbClr val="43A3A3"/>
            </a:solidFill>
            <a:prstDash val="solid"/>
          </a:ln>
        </p:spPr>
      </p:sp>
      <p:sp>
        <p:nvSpPr>
          <p:cNvPr id="36" name="Text 33"/>
          <p:cNvSpPr txBox="1"/>
          <p:nvPr/>
        </p:nvSpPr>
        <p:spPr>
          <a:xfrm>
            <a:off x="4438802"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7" name="Text 34"/>
          <p:cNvSpPr txBox="1"/>
          <p:nvPr/>
        </p:nvSpPr>
        <p:spPr>
          <a:xfrm>
            <a:off x="4438802"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Every quarter</a:t>
            </a:r>
            <a:endParaRPr lang="en-US" sz="2000" dirty="0"/>
          </a:p>
        </p:txBody>
      </p:sp>
      <p:sp>
        <p:nvSpPr>
          <p:cNvPr id="38" name="Text 35"/>
          <p:cNvSpPr txBox="1"/>
          <p:nvPr/>
        </p:nvSpPr>
        <p:spPr>
          <a:xfrm>
            <a:off x="4438802"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forecast cycle</a:t>
            </a:r>
            <a:endParaRPr lang="en-US" sz="1000" dirty="0"/>
          </a:p>
        </p:txBody>
      </p:sp>
      <p:sp>
        <p:nvSpPr>
          <p:cNvPr id="39" name="Text 36"/>
          <p:cNvSpPr txBox="1"/>
          <p:nvPr/>
        </p:nvSpPr>
        <p:spPr>
          <a:xfrm>
            <a:off x="4438802"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data is the core of this report (Anaheim's visitor volume, spending and forecast), and its Anaheim Travel Forecast arrives each quarter. STR, CoStar and Visa are available weekly or monthly and Azira monthly; they are pulled at the same time, so every figure in an edition shares one as-of date.</a:t>
            </a:r>
            <a:endParaRPr lang="en-US" sz="900" dirty="0"/>
          </a:p>
        </p:txBody>
      </p:sp>
      <p:sp>
        <p:nvSpPr>
          <p:cNvPr id="40" name="Text 37"/>
          <p:cNvSpPr txBox="1"/>
          <p:nvPr/>
        </p:nvSpPr>
        <p:spPr>
          <a:xfrm>
            <a:off x="4438802"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(quarterly); Visit Anaheim BI, quarterly refresh runbook (Oct. 13, 2026; cadence confirmed Oct. 14, 2026)</a:t>
            </a:r>
            <a:endParaRPr lang="en-US" sz="700" dirty="0"/>
          </a:p>
        </p:txBody>
      </p:sp>
      <p:sp>
        <p:nvSpPr>
          <p:cNvPr id="41" name="update-card-5"/>
          <p:cNvSpPr/>
          <p:nvPr/>
        </p:nvSpPr>
        <p:spPr>
          <a:xfrm>
            <a:off x="8054645" y="3977640"/>
            <a:ext cx="3588410" cy="1920240"/>
          </a:xfrm>
          <a:prstGeom prst="rect">
            <a:avLst/>
          </a:prstGeom>
          <a:solidFill>
            <a:srgbClr val="FFFFFF"/>
          </a:solidFill>
          <a:ln w="12700">
            <a:solidFill>
              <a:srgbClr val="B4D9E3"/>
            </a:solidFill>
            <a:prstDash val="solid"/>
          </a:ln>
        </p:spPr>
      </p:sp>
      <p:sp>
        <p:nvSpPr>
          <p:cNvPr id="42" name="Shape 39"/>
          <p:cNvSpPr/>
          <p:nvPr/>
        </p:nvSpPr>
        <p:spPr>
          <a:xfrm>
            <a:off x="8054645" y="3977640"/>
            <a:ext cx="3588410" cy="64008"/>
          </a:xfrm>
          <a:prstGeom prst="rect">
            <a:avLst/>
          </a:prstGeom>
          <a:solidFill>
            <a:srgbClr val="43A3A3"/>
          </a:solidFill>
          <a:ln w="12700">
            <a:solidFill>
              <a:srgbClr val="43A3A3"/>
            </a:solidFill>
            <a:prstDash val="solid"/>
          </a:ln>
        </p:spPr>
      </p:sp>
      <p:sp>
        <p:nvSpPr>
          <p:cNvPr id="43" name="Text 40"/>
          <p:cNvSpPr txBox="1"/>
          <p:nvPr/>
        </p:nvSpPr>
        <p:spPr>
          <a:xfrm>
            <a:off x="8191805"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4" name="Text 41"/>
          <p:cNvSpPr txBox="1"/>
          <p:nvPr/>
        </p:nvSpPr>
        <p:spPr>
          <a:xfrm>
            <a:off x="8191805"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 steps</a:t>
            </a:r>
            <a:endParaRPr lang="en-US" sz="2000" dirty="0"/>
          </a:p>
        </p:txBody>
      </p:sp>
      <p:sp>
        <p:nvSpPr>
          <p:cNvPr id="45" name="Text 42"/>
          <p:cNvSpPr txBox="1"/>
          <p:nvPr/>
        </p:nvSpPr>
        <p:spPr>
          <a:xfrm>
            <a:off x="8191805"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Find, update, check, publish</a:t>
            </a:r>
            <a:endParaRPr lang="en-US" sz="1000" dirty="0"/>
          </a:p>
        </p:txBody>
      </p:sp>
      <p:sp>
        <p:nvSpPr>
          <p:cNvPr id="46" name="Text 43"/>
          <p:cNvSpPr txBox="1"/>
          <p:nvPr/>
        </p:nvSpPr>
        <p:spPr>
          <a:xfrm>
            <a:off x="8191805"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Find the newest file from each source; update only changed figures and the sentences that cite them; check every number against its table and source; republish the dashboard, deck and data tables with the new dates.</a:t>
            </a:r>
            <a:endParaRPr lang="en-US" sz="900" dirty="0"/>
          </a:p>
        </p:txBody>
      </p:sp>
      <p:sp>
        <p:nvSpPr>
          <p:cNvPr id="47" name="Text 44"/>
          <p:cNvSpPr txBox="1"/>
          <p:nvPr/>
        </p:nvSpPr>
        <p:spPr>
          <a:xfrm>
            <a:off x="8191805"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4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Contact: bi@visitanaheim.org.</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Questions answered: the four core questions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Anaheim, Orange County and U.S. · each answer has a summary, a visual, the method and the files to read more</a:t>
            </a:r>
            <a:endParaRPr lang="en-US" sz="1200" dirty="0"/>
          </a:p>
        </p:txBody>
      </p:sp>
      <p:sp>
        <p:nvSpPr>
          <p:cNvPr id="4" name="kpi-card-0"/>
          <p:cNvSpPr/>
          <p:nvPr/>
        </p:nvSpPr>
        <p:spPr>
          <a:xfrm>
            <a:off x="548640" y="1463040"/>
            <a:ext cx="2650160" cy="2194560"/>
          </a:xfrm>
          <a:prstGeom prst="roundRect">
            <a:avLst>
              <a:gd name="adj" fmla="val 3333"/>
            </a:avLst>
          </a:prstGeom>
          <a:solidFill>
            <a:srgbClr val="FFFFFF"/>
          </a:solidFill>
          <a:ln w="12700">
            <a:solidFill>
              <a:srgbClr val="B4D9E3"/>
            </a:solidFill>
            <a:prstDash val="solid"/>
          </a:ln>
        </p:spPr>
      </p:sp>
      <p:sp>
        <p:nvSpPr>
          <p:cNvPr id="5"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SPENDING</a:t>
            </a:r>
            <a:endParaRPr lang="en-US" sz="900" dirty="0"/>
          </a:p>
        </p:txBody>
      </p:sp>
      <p:sp>
        <p:nvSpPr>
          <p:cNvPr id="6"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per Anaheim visitor, 2025</a:t>
            </a:r>
            <a:endParaRPr lang="en-US" sz="1050" dirty="0"/>
          </a:p>
        </p:txBody>
      </p:sp>
      <p:sp>
        <p:nvSpPr>
          <p:cNvPr id="7"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$258</a:t>
            </a:r>
            <a:endParaRPr lang="en-US" sz="2600" dirty="0"/>
          </a:p>
        </p:txBody>
      </p:sp>
      <p:sp>
        <p:nvSpPr>
          <p:cNvPr id="8" name="Text 6"/>
          <p:cNvSpPr txBox="1"/>
          <p:nvPr/>
        </p:nvSpPr>
        <p:spPr>
          <a:xfrm>
            <a:off x="713232"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does the average visitor spend?</a:t>
            </a:r>
            <a:endParaRPr lang="en-US" sz="1000" dirty="0"/>
          </a:p>
        </p:txBody>
      </p:sp>
      <p:sp>
        <p:nvSpPr>
          <p:cNvPr id="9" name="kpi-card-1"/>
          <p:cNvSpPr/>
          <p:nvPr/>
        </p:nvSpPr>
        <p:spPr>
          <a:xfrm>
            <a:off x="3363392" y="1463040"/>
            <a:ext cx="2650160" cy="2194560"/>
          </a:xfrm>
          <a:prstGeom prst="roundRect">
            <a:avLst>
              <a:gd name="adj" fmla="val 3333"/>
            </a:avLst>
          </a:prstGeom>
          <a:solidFill>
            <a:srgbClr val="FFFFFF"/>
          </a:solidFill>
          <a:ln w="12700">
            <a:solidFill>
              <a:srgbClr val="B4D9E3"/>
            </a:solidFill>
            <a:prstDash val="solid"/>
          </a:ln>
        </p:spPr>
      </p:sp>
      <p:sp>
        <p:nvSpPr>
          <p:cNvPr id="10"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ONE MORE NIGHT</a:t>
            </a:r>
            <a:endParaRPr lang="en-US" sz="900" dirty="0"/>
          </a:p>
        </p:txBody>
      </p:sp>
      <p:sp>
        <p:nvSpPr>
          <p:cNvPr id="11"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 more night of Anaheim lodging spending</a:t>
            </a:r>
            <a:endParaRPr lang="en-US" sz="1050" dirty="0"/>
          </a:p>
        </p:txBody>
      </p:sp>
      <p:sp>
        <p:nvSpPr>
          <p:cNvPr id="12"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$794M</a:t>
            </a:r>
            <a:endParaRPr lang="en-US" sz="2600" dirty="0"/>
          </a:p>
        </p:txBody>
      </p:sp>
      <p:sp>
        <p:nvSpPr>
          <p:cNvPr id="13" name="Text 11"/>
          <p:cNvSpPr txBox="1"/>
          <p:nvPr/>
        </p:nvSpPr>
        <p:spPr>
          <a:xfrm>
            <a:off x="3527984"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one more night per visitor worth?</a:t>
            </a:r>
            <a:endParaRPr lang="en-US" sz="1000" dirty="0"/>
          </a:p>
        </p:txBody>
      </p:sp>
      <p:sp>
        <p:nvSpPr>
          <p:cNvPr id="14" name="kpi-card-2"/>
          <p:cNvSpPr/>
          <p:nvPr/>
        </p:nvSpPr>
        <p:spPr>
          <a:xfrm>
            <a:off x="6178144" y="1463040"/>
            <a:ext cx="2650160" cy="2194560"/>
          </a:xfrm>
          <a:prstGeom prst="roundRect">
            <a:avLst>
              <a:gd name="adj" fmla="val 3333"/>
            </a:avLst>
          </a:prstGeom>
          <a:solidFill>
            <a:srgbClr val="FFFFFF"/>
          </a:solidFill>
          <a:ln w="12700">
            <a:solidFill>
              <a:srgbClr val="B4D9E3"/>
            </a:solidFill>
            <a:prstDash val="solid"/>
          </a:ln>
        </p:spPr>
      </p:sp>
      <p:sp>
        <p:nvSpPr>
          <p:cNvPr id="15"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TRANSPORTATION</a:t>
            </a:r>
            <a:endParaRPr lang="en-US" sz="900" dirty="0"/>
          </a:p>
        </p:txBody>
      </p:sp>
      <p:sp>
        <p:nvSpPr>
          <p:cNvPr id="16"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transportation and gas station jobs supported by visitors, 2025</a:t>
            </a:r>
            <a:endParaRPr lang="en-US" sz="1050" dirty="0"/>
          </a:p>
        </p:txBody>
      </p:sp>
      <p:sp>
        <p:nvSpPr>
          <p:cNvPr id="17"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2,080</a:t>
            </a:r>
            <a:endParaRPr lang="en-US" sz="2600" dirty="0"/>
          </a:p>
        </p:txBody>
      </p:sp>
      <p:sp>
        <p:nvSpPr>
          <p:cNvPr id="18" name="Text 16"/>
          <p:cNvSpPr txBox="1"/>
          <p:nvPr/>
        </p:nvSpPr>
        <p:spPr>
          <a:xfrm>
            <a:off x="6342736"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1000" dirty="0"/>
          </a:p>
        </p:txBody>
      </p:sp>
      <p:sp>
        <p:nvSpPr>
          <p:cNvPr id="19" name="kpi-card-3"/>
          <p:cNvSpPr/>
          <p:nvPr/>
        </p:nvSpPr>
        <p:spPr>
          <a:xfrm>
            <a:off x="8992895" y="1463040"/>
            <a:ext cx="2650160" cy="2194560"/>
          </a:xfrm>
          <a:prstGeom prst="roundRect">
            <a:avLst>
              <a:gd name="adj" fmla="val 3333"/>
            </a:avLst>
          </a:prstGeom>
          <a:solidFill>
            <a:srgbClr val="FFFFFF"/>
          </a:solidFill>
          <a:ln w="12700">
            <a:solidFill>
              <a:srgbClr val="B4D9E3"/>
            </a:solidFill>
            <a:prstDash val="solid"/>
          </a:ln>
        </p:spPr>
      </p:sp>
      <p:sp>
        <p:nvSpPr>
          <p:cNvPr id="20"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 AND WHO VISITS</a:t>
            </a:r>
            <a:endParaRPr lang="en-US" sz="900" dirty="0"/>
          </a:p>
        </p:txBody>
      </p:sp>
      <p:sp>
        <p:nvSpPr>
          <p:cNvPr id="21"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of District 5 visitors stay overnight</a:t>
            </a:r>
            <a:endParaRPr lang="en-US" sz="1050" dirty="0"/>
          </a:p>
        </p:txBody>
      </p:sp>
      <p:sp>
        <p:nvSpPr>
          <p:cNvPr id="22"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85.8%</a:t>
            </a:r>
            <a:endParaRPr lang="en-US" sz="2600" dirty="0"/>
          </a:p>
        </p:txBody>
      </p:sp>
      <p:sp>
        <p:nvSpPr>
          <p:cNvPr id="23" name="Text 21"/>
          <p:cNvSpPr txBox="1"/>
          <p:nvPr/>
        </p:nvSpPr>
        <p:spPr>
          <a:xfrm>
            <a:off x="9157487"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4415" cy="914400"/>
        </p:xfrm>
        <a:graphic>
          <a:graphicData uri="http://schemas.openxmlformats.org/drawingml/2006/table">
            <a:tbl>
              <a:tblPr/>
              <a:tblGrid>
                <a:gridCol w="3108960"/>
                <a:gridCol w="7985455"/>
              </a:tblGrid>
              <a:tr h="45720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Question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Short answer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does the average visitor spend?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Anaheim visitor spent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$258</a:t>
                      </a:r>
                      <a:pPr algn="l" indent="0" marL="0">
                        <a:buNone/>
                      </a:pPr>
                      <a:r>
                        <a:rPr lang="en-US" sz="900" dirty="0">
                          <a:solidFill>
                            <a:srgbClr val="231F20"/>
                          </a:solidFill>
                          <a:latin typeface="Proxima Nova" pitchFamily="34" charset="0"/>
                          <a:ea typeface="Proxima Nova" pitchFamily="34" charset="-122"/>
                          <a:cs typeface="Proxima Nova" pitchFamily="34" charset="-120"/>
                        </a:rPr>
                        <a:t> in 2025. Countywide, the average was </a:t>
                      </a:r>
                      <a:pPr algn="l" indent="0" marL="0">
                        <a:buNone/>
                      </a:pPr>
                      <a:r>
                        <a:rPr lang="en-US" sz="900" b="1" dirty="0">
                          <a:solidFill>
                            <a:srgbClr val="125C60"/>
                          </a:solidFill>
                          <a:latin typeface="Proxima Nova" pitchFamily="34" charset="0"/>
                          <a:ea typeface="Proxima Nova" pitchFamily="34" charset="-122"/>
                          <a:cs typeface="Proxima Nova" pitchFamily="34" charset="-120"/>
                        </a:rPr>
                        <a:t>$350</a:t>
                      </a:r>
                      <a:pPr algn="l" indent="0" marL="0">
                        <a:buNone/>
                      </a:pPr>
                      <a:r>
                        <a:rPr lang="en-US" sz="9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$553</a:t>
                      </a:r>
                      <a:pPr algn="l" indent="0" marL="0">
                        <a:buNone/>
                      </a:pPr>
                      <a:r>
                        <a:rPr lang="en-US" sz="900" dirty="0">
                          <a:solidFill>
                            <a:srgbClr val="231F20"/>
                          </a:solidFill>
                          <a:latin typeface="Proxima Nova" pitchFamily="34" charset="0"/>
                          <a:ea typeface="Proxima Nova" pitchFamily="34" charset="-122"/>
                          <a:cs typeface="Proxima Nova" pitchFamily="34" charset="-120"/>
                        </a:rPr>
                        <a:t> per trip.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one more night per visitor worth?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$794M</a:t>
                      </a:r>
                      <a:pPr algn="l" indent="0" marL="0">
                        <a:buNone/>
                      </a:pPr>
                      <a:r>
                        <a:rPr lang="en-US" sz="9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$1.02B</a:t>
                      </a:r>
                      <a:pPr algn="l" indent="0" marL="0">
                        <a:buNone/>
                      </a:pPr>
                      <a:r>
                        <a:rPr lang="en-US" sz="900" dirty="0">
                          <a:solidFill>
                            <a:srgbClr val="231F20"/>
                          </a:solidFill>
                          <a:latin typeface="Proxima Nova" pitchFamily="34" charset="0"/>
                          <a:ea typeface="Proxima Nova" pitchFamily="34" charset="-122"/>
                          <a:cs typeface="Proxima Nova" pitchFamily="34" charset="-120"/>
                        </a:rPr>
                        <a:t>, and one more day for every visitor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$3.15B</a:t>
                      </a:r>
                      <a:pPr algn="l" indent="0" marL="0">
                        <a:buNone/>
                      </a:pPr>
                      <a:r>
                        <a:rPr lang="en-US" sz="900" dirty="0">
                          <a:solidFill>
                            <a:srgbClr val="231F20"/>
                          </a:solidFill>
                          <a:latin typeface="Proxima Nova" pitchFamily="34" charset="0"/>
                          <a:ea typeface="Proxima Nova" pitchFamily="34" charset="-122"/>
                          <a:cs typeface="Proxima Nova" pitchFamily="34" charset="-120"/>
                        </a:rPr>
                        <a:t> (the study's upper bound).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$224M</a:t>
                      </a:r>
                      <a:pPr algn="l" indent="0" marL="0">
                        <a:buNone/>
                      </a:pPr>
                      <a:r>
                        <a:rPr lang="en-US" sz="900" dirty="0">
                          <a:solidFill>
                            <a:srgbClr val="231F20"/>
                          </a:solidFill>
                          <a:latin typeface="Proxima Nova" pitchFamily="34" charset="0"/>
                          <a:ea typeface="Proxima Nova" pitchFamily="34" charset="-122"/>
                          <a:cs typeface="Proxima Nova" pitchFamily="34" charset="-120"/>
                        </a:rPr>
                        <a:t> on transportation in Anaheim in 2025 (</a:t>
                      </a:r>
                      <a:pPr algn="l" indent="0" marL="0">
                        <a:buNone/>
                      </a:pPr>
                      <a:r>
                        <a:rPr lang="en-US" sz="900" b="1" dirty="0">
                          <a:solidFill>
                            <a:srgbClr val="125C60"/>
                          </a:solidFill>
                          <a:latin typeface="Proxima Nova" pitchFamily="34" charset="0"/>
                          <a:ea typeface="Proxima Nova" pitchFamily="34" charset="-122"/>
                          <a:cs typeface="Proxima Nova" pitchFamily="34" charset="-120"/>
                        </a:rPr>
                        <a:t>3.3%</a:t>
                      </a:r>
                      <a:pPr algn="l" indent="0" marL="0">
                        <a:buNone/>
                      </a:pPr>
                      <a:r>
                        <a:rPr lang="en-US" sz="900" dirty="0">
                          <a:solidFill>
                            <a:srgbClr val="231F20"/>
                          </a:solidFill>
                          <a:latin typeface="Proxima Nova" pitchFamily="34" charset="0"/>
                          <a:ea typeface="Proxima Nova" pitchFamily="34" charset="-122"/>
                          <a:cs typeface="Proxima Nova" pitchFamily="34" charset="-120"/>
                        </a:rPr>
                        <a:t> of spending), supporting </a:t>
                      </a:r>
                      <a:pPr algn="l" indent="0" marL="0">
                        <a:buNone/>
                      </a:pPr>
                      <a:r>
                        <a:rPr lang="en-US" sz="900" b="1" dirty="0">
                          <a:solidFill>
                            <a:srgbClr val="125C60"/>
                          </a:solidFill>
                          <a:latin typeface="Proxima Nova" pitchFamily="34" charset="0"/>
                          <a:ea typeface="Proxima Nova" pitchFamily="34" charset="-122"/>
                          <a:cs typeface="Proxima Nova" pitchFamily="34" charset="-120"/>
                        </a:rPr>
                        <a:t>2,080 jobs</a:t>
                      </a:r>
                      <a:pPr algn="l" indent="0" marL="0">
                        <a:buNone/>
                      </a:pPr>
                      <a:r>
                        <a:rPr lang="en-US" sz="900" dirty="0">
                          <a:solidFill>
                            <a:srgbClr val="231F20"/>
                          </a:solidFill>
                          <a:latin typeface="Proxima Nova" pitchFamily="34" charset="0"/>
                          <a:ea typeface="Proxima Nova" pitchFamily="34" charset="-122"/>
                          <a:cs typeface="Proxima Nova" pitchFamily="34" charset="-120"/>
                        </a:rPr>
                        <a:t> in transportation and gas stations. Countywide: </a:t>
                      </a:r>
                      <a:pPr algn="l" indent="0" marL="0">
                        <a:buNone/>
                      </a:pPr>
                      <a:r>
                        <a:rPr lang="en-US" sz="900" b="1" dirty="0">
                          <a:solidFill>
                            <a:srgbClr val="125C60"/>
                          </a:solidFill>
                          <a:latin typeface="Proxima Nova" pitchFamily="34" charset="0"/>
                          <a:ea typeface="Proxima Nova" pitchFamily="34" charset="-122"/>
                          <a:cs typeface="Proxima Nova" pitchFamily="34" charset="-120"/>
                        </a:rPr>
                        <a:t>$707M</a:t>
                      </a:r>
                      <a:pPr algn="l" indent="0" marL="0">
                        <a:buNone/>
                      </a:pPr>
                      <a:r>
                        <a:rPr lang="en-US" sz="900" dirty="0">
                          <a:solidFill>
                            <a:srgbClr val="231F20"/>
                          </a:solidFill>
                          <a:latin typeface="Proxima Nova" pitchFamily="34" charset="0"/>
                          <a:ea typeface="Proxima Nova" pitchFamily="34" charset="-122"/>
                          <a:cs typeface="Proxima Nova" pitchFamily="34" charset="-120"/>
                        </a:rPr>
                        <a: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6,141 jobs</a:t>
                      </a:r>
                      <a:pPr algn="l" indent="0" marL="0">
                        <a:buNone/>
                      </a:pPr>
                      <a:r>
                        <a:rPr lang="en-US" sz="900" dirty="0">
                          <a:solidFill>
                            <a:srgbClr val="231F20"/>
                          </a:solidFill>
                          <a:latin typeface="Proxima Nova" pitchFamily="34" charset="0"/>
                          <a:ea typeface="Proxima Nova" pitchFamily="34" charset="-122"/>
                          <a:cs typeface="Proxima Nova" pitchFamily="34" charset="-120"/>
                        </a:rPr>
                        <a:t>. Statewide, 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$25.2B</a:t>
                      </a:r>
                      <a:pPr algn="l" indent="0" marL="0">
                        <a:buNone/>
                      </a:pPr>
                      <a:r>
                        <a:rPr lang="en-US" sz="900" dirty="0">
                          <a:solidFill>
                            <a:srgbClr val="231F20"/>
                          </a:solidFill>
                          <a:latin typeface="Proxima Nova" pitchFamily="34" charset="0"/>
                          <a:ea typeface="Proxima Nova" pitchFamily="34" charset="-122"/>
                          <a:cs typeface="Proxima Nova" pitchFamily="34" charset="-120"/>
                        </a:rPr>
                        <a:t> on local transportation, gas and air (</a:t>
                      </a:r>
                      <a:pPr algn="l" indent="0" marL="0">
                        <a:buNone/>
                      </a:pPr>
                      <a:r>
                        <a:rPr lang="en-US" sz="900" b="1" dirty="0">
                          <a:solidFill>
                            <a:srgbClr val="125C60"/>
                          </a:solidFill>
                          <a:latin typeface="Proxima Nova" pitchFamily="34" charset="0"/>
                          <a:ea typeface="Proxima Nova" pitchFamily="34" charset="-122"/>
                          <a:cs typeface="Proxima Nova" pitchFamily="34" charset="-120"/>
                        </a:rPr>
                        <a:t>17.9%</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 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b="1" dirty="0">
                          <a:solidFill>
                            <a:srgbClr val="125C60"/>
                          </a:solidFill>
                          <a:latin typeface="Proxima Nova" pitchFamily="34" charset="0"/>
                          <a:ea typeface="Proxima Nova" pitchFamily="34" charset="-122"/>
                          <a:cs typeface="Proxima Nova" pitchFamily="34" charset="-120"/>
                        </a:rPr>
                        <a:t>85.8%</a:t>
                      </a:r>
                      <a:pPr algn="l" indent="0" marL="0">
                        <a:buNone/>
                      </a:pPr>
                      <a:r>
                        <a:rPr lang="en-US" sz="900" dirty="0">
                          <a:solidFill>
                            <a:srgbClr val="231F20"/>
                          </a:solidFill>
                          <a:latin typeface="Proxima Nova" pitchFamily="34" charset="0"/>
                          <a:ea typeface="Proxima Nova" pitchFamily="34" charset="-122"/>
                          <a:cs typeface="Proxima Nova" pitchFamily="34" charset="-120"/>
                        </a:rPr>
                        <a:t> of District 5 visitors stay overnight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43.8%</a:t>
                      </a:r>
                      <a:pPr algn="l" indent="0" marL="0">
                        <a:buNone/>
                      </a:pPr>
                      <a:r>
                        <a:rPr lang="en-US" sz="9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$85.7K</a:t>
                      </a:r>
                      <a:pPr algn="l" indent="0" marL="0">
                        <a:buNone/>
                      </a:pPr>
                      <a:r>
                        <a:rPr lang="en-US" sz="900" dirty="0">
                          <a:solidFill>
                            <a:srgbClr val="231F20"/>
                          </a:solidFill>
                          <a:latin typeface="Proxima Nova" pitchFamily="34" charset="0"/>
                          <a:ea typeface="Proxima Nova" pitchFamily="34" charset="-122"/>
                          <a:cs typeface="Proxima Nova" pitchFamily="34" charset="-120"/>
                        </a:rPr>
                        <a:t>, above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$79.9K</a:t>
                      </a:r>
                      <a:pPr algn="l" indent="0" marL="0">
                        <a:buNone/>
                      </a:pPr>
                      <a:r>
                        <a:rPr lang="en-US" sz="900" dirty="0">
                          <a:solidFill>
                            <a:srgbClr val="231F20"/>
                          </a:solidFill>
                          <a:latin typeface="Proxima Nova" pitchFamily="34" charset="0"/>
                          <a:ea typeface="Proxima Nova" pitchFamily="34" charset="-122"/>
                          <a:cs typeface="Proxima Nova" pitchFamily="34" charset="-120"/>
                        </a:rPr>
                        <a:t> for all Anaheim and Garden Grove visitors and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$85.4K</a:t>
                      </a:r>
                      <a:pPr algn="l" indent="0" marL="0">
                        <a:buNone/>
                      </a:pPr>
                      <a:r>
                        <a:rPr lang="en-US" sz="900" dirty="0">
                          <a:solidFill>
                            <a:srgbClr val="231F20"/>
                          </a:solidFill>
                          <a:latin typeface="Proxima Nova" pitchFamily="34" charset="0"/>
                          <a:ea typeface="Proxima Nova" pitchFamily="34" charset="-122"/>
                          <a:cs typeface="Proxima Nova" pitchFamily="34" charset="-120"/>
                        </a:rPr>
                        <a:t> U.S. household median.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 sources on each question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the average visitor spend?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200" b="1" dirty="0">
                <a:solidFill>
                  <a:srgbClr val="125C60"/>
                </a:solidFill>
                <a:latin typeface="Proxima Nova" pitchFamily="34" charset="0"/>
                <a:ea typeface="Proxima Nova" pitchFamily="34" charset="-122"/>
                <a:cs typeface="Proxima Nova" pitchFamily="34" charset="-120"/>
              </a:rPr>
              <a:t>$258</a:t>
            </a:r>
            <a:pPr indent="0" marL="0">
              <a:buNone/>
            </a:pPr>
            <a:r>
              <a:rPr lang="en-US" sz="1200" dirty="0">
                <a:solidFill>
                  <a:srgbClr val="231F20"/>
                </a:solidFill>
                <a:latin typeface="Proxima Nova" pitchFamily="34" charset="0"/>
                <a:ea typeface="Proxima Nova" pitchFamily="34" charset="-122"/>
                <a:cs typeface="Proxima Nova" pitchFamily="34" charset="-120"/>
              </a:rPr>
              <a:t> in 2025. Countywide, the average was </a:t>
            </a:r>
            <a:pPr indent="0" marL="0">
              <a:buNone/>
            </a:pPr>
            <a:r>
              <a:rPr lang="en-US" sz="1200" b="1" dirty="0">
                <a:solidFill>
                  <a:srgbClr val="125C60"/>
                </a:solidFill>
                <a:latin typeface="Proxima Nova" pitchFamily="34" charset="0"/>
                <a:ea typeface="Proxima Nova" pitchFamily="34" charset="-122"/>
                <a:cs typeface="Proxima Nova" pitchFamily="34" charset="-120"/>
              </a:rPr>
              <a:t>$350</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per trip.</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 26.5M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$237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3.24M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$350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by Tourism Economics; day visitors $58, overnight $737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 per trip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$1.360T ÷ 2.46B trips (2025, real 2025 dollars); domestic $494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or trip,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Files in the app library: Economic Impact of Visitors to Anaheim, 2025; Economic Impact of Visitors to Garden Grove,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Average spend: Anaheim, Orange County, California and U.S.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does the average visitor spend?</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2011680"/>
                <a:gridCol w="5120640"/>
                <a:gridCol w="158465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 per visitor or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it is calculated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$769.3M ÷ 3.24M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$1.360T ÷ 2.46B trips (real 2025 dollars)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domestic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$1.185T ÷ 2.40B domestic trips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one more night per visitor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200" b="1" dirty="0">
                <a:solidFill>
                  <a:srgbClr val="125C60"/>
                </a:solidFill>
                <a:latin typeface="Proxima Nova" pitchFamily="34" charset="0"/>
                <a:ea typeface="Proxima Nova" pitchFamily="34" charset="-122"/>
                <a:cs typeface="Proxima Nova" pitchFamily="34" charset="-120"/>
              </a:rPr>
              <a:t>$794M</a:t>
            </a:r>
            <a:pPr indent="0" marL="0">
              <a:buNone/>
            </a:pPr>
            <a:r>
              <a:rPr lang="en-US" sz="12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indent="0" marL="0">
              <a:buNone/>
            </a:pPr>
            <a:r>
              <a:rPr lang="en-US" sz="1200" b="1" dirty="0">
                <a:solidFill>
                  <a:srgbClr val="125C60"/>
                </a:solidFill>
                <a:latin typeface="Proxima Nova" pitchFamily="34" charset="0"/>
                <a:ea typeface="Proxima Nova" pitchFamily="34" charset="-122"/>
                <a:cs typeface="Proxima Nova" pitchFamily="34" charset="-120"/>
              </a:rPr>
              <a:t>$1.02B</a:t>
            </a:r>
            <a:pPr indent="0" marL="0">
              <a:buNone/>
            </a:pPr>
            <a:r>
              <a:rPr lang="en-US" sz="1200" dirty="0">
                <a:solidFill>
                  <a:srgbClr val="231F20"/>
                </a:solidFill>
                <a:latin typeface="Proxima Nova" pitchFamily="34" charset="0"/>
                <a:ea typeface="Proxima Nova" pitchFamily="34" charset="-122"/>
                <a:cs typeface="Proxima Nova" pitchFamily="34" charset="-120"/>
              </a:rPr>
              <a:t>, and one more day for every visitor 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$3.15B</a:t>
            </a:r>
            <a:pPr indent="0" marL="0">
              <a:buNone/>
            </a:pPr>
            <a:r>
              <a:rPr lang="en-US" sz="1200" dirty="0">
                <a:solidFill>
                  <a:srgbClr val="231F20"/>
                </a:solidFill>
                <a:latin typeface="Proxima Nova" pitchFamily="34" charset="0"/>
                <a:ea typeface="Proxima Nova" pitchFamily="34" charset="-122"/>
                <a:cs typeface="Proxima Nova" pitchFamily="34" charset="-120"/>
              </a:rPr>
              <a:t> (the study's upper bound).</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lodging (headline)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$794M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$1.724B lodging spending ÷ 2.17-day weighted average stay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overnight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8.6M overnight visitors × $118.71 per visitor-day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every visitor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$6.832B ÷ 2.17 days; total with the extra day $9.98B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$737 vs. $58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per overnight visitor vs. per day visitor (2025), 12.7 times as much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 or day in Anaheim, three ways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Extra Night study; Tourism Economics, Economic Impact of Visitors 2025 (pub. Apr.–May 2026); Visit Anaheim BI calculation; Visit Anaheim Extra Night study; Tourism Economics, Economic Impact of Visitors 2025 (pub. Apr.–May 2026). Files in the app library: One more night study (Extra Night Calculation); One more night workbook (TID Request data);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one-more-night estimate is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one more night per visitor worth?</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2194560"/>
                <a:gridCol w="560801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Calculation deck and TID Request workbook (2025 Tourism Economics and Azira inputs; recalculated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economic impact of visitor transportation?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$224M</a:t>
            </a:r>
            <a:pPr indent="0" marL="0">
              <a:buNone/>
            </a:pPr>
            <a:r>
              <a:rPr lang="en-US" sz="1200" dirty="0">
                <a:solidFill>
                  <a:srgbClr val="231F20"/>
                </a:solidFill>
                <a:latin typeface="Proxima Nova" pitchFamily="34" charset="0"/>
                <a:ea typeface="Proxima Nova" pitchFamily="34" charset="-122"/>
                <a:cs typeface="Proxima Nova" pitchFamily="34" charset="-120"/>
              </a:rPr>
              <a:t> on transportation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of spending), supporting </a:t>
            </a:r>
            <a:pPr indent="0" marL="0">
              <a:buNone/>
            </a:pPr>
            <a:r>
              <a:rPr lang="en-US" sz="1200" b="1" dirty="0">
                <a:solidFill>
                  <a:srgbClr val="125C60"/>
                </a:solidFill>
                <a:latin typeface="Proxima Nova" pitchFamily="34" charset="0"/>
                <a:ea typeface="Proxima Nova" pitchFamily="34" charset="-122"/>
                <a:cs typeface="Proxima Nova" pitchFamily="34" charset="-120"/>
              </a:rPr>
              <a:t>2,080 jobs</a:t>
            </a:r>
            <a:pPr indent="0" marL="0">
              <a:buNone/>
            </a:pPr>
            <a:r>
              <a:rPr lang="en-US" sz="1200" dirty="0">
                <a:solidFill>
                  <a:srgbClr val="231F20"/>
                </a:solidFill>
                <a:latin typeface="Proxima Nova" pitchFamily="34" charset="0"/>
                <a:ea typeface="Proxima Nova" pitchFamily="34" charset="-122"/>
                <a:cs typeface="Proxima Nova" pitchFamily="34" charset="-120"/>
              </a:rPr>
              <a:t> in transportation and gas stations.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$707M</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6,141 jobs</a:t>
            </a:r>
            <a:pPr indent="0" marL="0">
              <a:buNone/>
            </a:pPr>
            <a:r>
              <a:rPr lang="en-US" sz="1200" dirty="0">
                <a:solidFill>
                  <a:srgbClr val="231F20"/>
                </a:solidFill>
                <a:latin typeface="Proxima Nova" pitchFamily="34" charset="0"/>
                <a:ea typeface="Proxima Nova" pitchFamily="34" charset="-122"/>
                <a:cs typeface="Proxima Nova" pitchFamily="34" charset="-120"/>
              </a:rPr>
              <a:t>. Statewide, 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$25.2B</a:t>
            </a:r>
            <a:pPr indent="0" marL="0">
              <a:buNone/>
            </a:pPr>
            <a:r>
              <a:rPr lang="en-US" sz="1200" dirty="0">
                <a:solidFill>
                  <a:srgbClr val="231F20"/>
                </a:solidFill>
                <a:latin typeface="Proxima Nova" pitchFamily="34" charset="0"/>
                <a:ea typeface="Proxima Nova" pitchFamily="34" charset="-122"/>
                <a:cs typeface="Proxima Nova" pitchFamily="34" charset="-120"/>
              </a:rPr>
              <a:t> on local transportation, gas and air (</a:t>
            </a:r>
            <a:pPr indent="0" marL="0">
              <a:buNone/>
            </a:pPr>
            <a:r>
              <a:rPr lang="en-US" sz="1200" b="1" dirty="0">
                <a:solidFill>
                  <a:srgbClr val="125C60"/>
                </a:solidFill>
                <a:latin typeface="Proxima Nova" pitchFamily="34" charset="0"/>
                <a:ea typeface="Proxima Nova" pitchFamily="34" charset="-122"/>
                <a:cs typeface="Proxima Nova" pitchFamily="34" charset="-120"/>
              </a:rPr>
              <a:t>17.9%</a:t>
            </a:r>
            <a:pPr indent="0" marL="0">
              <a:buNone/>
            </a:pPr>
            <a:r>
              <a:rPr lang="en-US" sz="1200" dirty="0">
                <a:solidFill>
                  <a:srgbClr val="231F20"/>
                </a:solidFill>
                <a:latin typeface="Proxima Nova" pitchFamily="34" charset="0"/>
                <a:ea typeface="Proxima Nova" pitchFamily="34" charset="-122"/>
                <a:cs typeface="Proxima Nova" pitchFamily="34" charset="-120"/>
              </a:rPr>
              <a:t> of visitor spending).</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$224M · 2,080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3.3% of spending; business sales $298M (other transport $159M + gas stations $139M); labor income $45M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$46.9M · 326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 of spending; business sales $51.8M; labor income $7.0M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$707M · 6,141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3.9% of spending; business sales $973M (other transport $496M + gas $349M + air $128M); labor income $143M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$25.2B · 73,100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transportation and gas $18.7B + visitor air $6.5B; direct jobs: ground 46,900 + air 26,200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costs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vs. $4.09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Gasoline per gallon, U.S. vs. West Coast (2025); average domestic airfare $387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transportation spending, share of all visitor spending, 2025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Bureau of Transportation Statistics, Transportation Economic Trends. Files in the app library: Economic Impact of Visitors to Anaheim, 2025; Economic Impact of Visitors to Garden Grove, 2025; Economic Impact of Visitors to Orange County, 2025;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Economic impact of visitor transportation,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the economic impact of visitor transportation?</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1849069"/>
                <a:gridCol w="1849069"/>
                <a:gridCol w="1849069"/>
                <a:gridCol w="1849069"/>
                <a:gridCol w="1849069"/>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Visitor transportation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 of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Business sales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Labor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$45M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California (direct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(industry tables: other transport, gas stations, air transport); Visit California, The Economic Impact of Travel in California, 2025p (Dean Runyan Associates, Apr. 6, 2026)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visits District 5, where OC Vibe is being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85.8%</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200" b="1" dirty="0">
                <a:solidFill>
                  <a:srgbClr val="125C60"/>
                </a:solidFill>
                <a:latin typeface="Proxima Nova" pitchFamily="34" charset="0"/>
                <a:ea typeface="Proxima Nova" pitchFamily="34" charset="-122"/>
                <a:cs typeface="Proxima Nova" pitchFamily="34" charset="-120"/>
              </a:rPr>
              <a:t>43.8%</a:t>
            </a:r>
            <a:pPr indent="0" marL="0">
              <a:buNone/>
            </a:pPr>
            <a:r>
              <a:rPr lang="en-US" sz="12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indent="0" marL="0">
              <a:buNone/>
            </a:pPr>
            <a:r>
              <a:rPr lang="en-US" sz="1200" b="1" dirty="0">
                <a:solidFill>
                  <a:srgbClr val="125C60"/>
                </a:solidFill>
                <a:latin typeface="Proxima Nova" pitchFamily="34" charset="0"/>
                <a:ea typeface="Proxima Nova" pitchFamily="34" charset="-122"/>
                <a:cs typeface="Proxima Nova" pitchFamily="34" charset="-120"/>
              </a:rPr>
              <a:t>$85.7K</a:t>
            </a:r>
            <a:pPr indent="0" marL="0">
              <a:buNone/>
            </a:pPr>
            <a:r>
              <a:rPr lang="en-US" sz="1200" dirty="0">
                <a:solidFill>
                  <a:srgbClr val="231F20"/>
                </a:solidFill>
                <a:latin typeface="Proxima Nova" pitchFamily="34" charset="0"/>
                <a:ea typeface="Proxima Nova" pitchFamily="34" charset="-122"/>
                <a:cs typeface="Proxima Nova" pitchFamily="34" charset="-120"/>
              </a:rPr>
              <a:t>, above the </a:t>
            </a:r>
            <a:pPr indent="0" marL="0">
              <a:buNone/>
            </a:pPr>
            <a:r>
              <a:rPr lang="en-US" sz="1200" b="1" dirty="0">
                <a:solidFill>
                  <a:srgbClr val="125C60"/>
                </a:solidFill>
                <a:latin typeface="Proxima Nova" pitchFamily="34" charset="0"/>
                <a:ea typeface="Proxima Nova" pitchFamily="34" charset="-122"/>
                <a:cs typeface="Proxima Nova" pitchFamily="34" charset="-120"/>
              </a:rPr>
              <a:t>$79.9K</a:t>
            </a:r>
            <a:pPr indent="0" marL="0">
              <a:buNone/>
            </a:pPr>
            <a:r>
              <a:rPr lang="en-US" sz="1200" dirty="0">
                <a:solidFill>
                  <a:srgbClr val="231F20"/>
                </a:solidFill>
                <a:latin typeface="Proxima Nova" pitchFamily="34" charset="0"/>
                <a:ea typeface="Proxima Nova" pitchFamily="34" charset="-122"/>
                <a:cs typeface="Proxima Nova" pitchFamily="34" charset="-120"/>
              </a:rPr>
              <a:t> for all Anaheim and Garden Grove visitors and the </a:t>
            </a:r>
            <a:pPr indent="0" marL="0">
              <a:buNone/>
            </a:pPr>
            <a:r>
              <a:rPr lang="en-US" sz="1200" b="1" dirty="0">
                <a:solidFill>
                  <a:srgbClr val="125C60"/>
                </a:solidFill>
                <a:latin typeface="Proxima Nova" pitchFamily="34" charset="0"/>
                <a:ea typeface="Proxima Nova" pitchFamily="34" charset="-122"/>
                <a:cs typeface="Proxima Nova" pitchFamily="34" charset="-120"/>
              </a:rPr>
              <a:t>$85.4K</a:t>
            </a:r>
            <a:pPr indent="0" marL="0">
              <a:buNone/>
            </a:pPr>
            <a:r>
              <a:rPr lang="en-US" sz="1200" dirty="0">
                <a:solidFill>
                  <a:srgbClr val="231F20"/>
                </a:solidFill>
                <a:latin typeface="Proxima Nova" pitchFamily="34" charset="0"/>
                <a:ea typeface="Proxima Nova" pitchFamily="34" charset="-122"/>
                <a:cs typeface="Proxima Nova" pitchFamily="34" charset="-120"/>
              </a:rPr>
              <a:t> U.S. household median.</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85.8%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43.8% new · median income $85.7K · 56.0% from California · sample 1,003,735 devices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81.7%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82.5% repeat · 1.3-day stay · median income $79.9K · 93.3% of trips from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$121.9K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 of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origin metros for District 5 visitors (% of unique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Azira via Symphony (Aug. 2026); Oxford Economics via CoStar (Oct. 12, 2026). Files in the app library: District 5 visitor profile (POI Analysis); Domestic visitors to Anaheim and Garden Grove; Orange County hospitality market report.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Who visits District 5, where OC Vibe is being built?</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547208"/>
                <a:gridCol w="5547208"/>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Every question answered in this report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Find the slide or open the app: Questions answered</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572000"/>
                <a:gridCol w="4510735"/>
              </a:tblGrid>
              <a:tr h="21031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Headline answer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OC Vibe requests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has OC Vibe asked for, and where is each answered?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 of 8 requests answered in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visitors come to Orange County, and how many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51.3M Orange County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Orange County visitors come from?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55.4% of Orange County visitors from Southern California,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When is Orange County busiest?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80.6% July hotel occupancy, 2023-2025 average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Why do people visit Orange County, and who travels with them?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37.0% of Orange County visitors traveled with children,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hotel rooms does Orange County have, and how full are they?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75.2% Orange County hotel occupancy,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the average visitor spend?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$258 per Anaheim visitor,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Is visitor spending growing?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 Anaheim visitor spending, Q2 2026 vs. Q2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did the latest quarterly Tourism Economics report (Q2 2026) show?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$1.76B Anaheim visitor spending, Q2 2026 (+7.8%)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 dollars go?</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34.0% of Anaheim visitor spending goes to recreation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jobs does the visitor economy support?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67,817 Anaheim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share of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29.1% of Orange County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total economic impact of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$10.4B Anaheim total economic impact,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tax revenue do visitors generate?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$970M Anaheim state and local taxes from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one more night per visitor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$794M one more night of Anaheim lodging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each 1% of visitors staying a day longer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$31.5M per 1% of Anaheim visitors adding a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2,080 Anaheim transportation and gas station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 people get to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275,000 vehicles a weekday on SR-57 beside OC Vibe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it cost to travel here?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$4.09 West Coast gasoline per gallon,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85.8% of District 5 visitors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Anaheim visitor activity already includes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5.2% of Anaheim visitor days included the OC Vibe area,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Which markets bring visitors and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46.2% of District 5 visitors come from the Los Angeles and Riverside metros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Does Visit Anaheim's marketing bring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368,416 observed visits after ad exposure,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are hotels performing?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78.4% Disneyland submarket hotel occupancy, 12 months to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outlook to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$7.7B Anaheim visitor spending forecast,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can I get the full reports and data behind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57 source files to view or download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often is this updated, and what is coming next?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Quarterly next updates Jan. 15, Apr. 15, July 15 and Oct. 15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welcomed 26.5 million visitors who spent $6.83 billion in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Anaheim and OC Vibe today · Tourism Economics: 2025 results (pub. 2026) and 2026 forecast (Sept. 2026) · Datafy 2024 · Azira Jan.–May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in Anaheim,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each (</a:t>
            </a:r>
            <a:pPr indent="0" marL="0">
              <a:buNone/>
            </a:pPr>
            <a:r>
              <a:rPr lang="en-US" sz="1350" b="1" dirty="0">
                <a:solidFill>
                  <a:srgbClr val="125C60"/>
                </a:solidFill>
                <a:latin typeface="Proxima Nova" pitchFamily="34" charset="0"/>
                <a:ea typeface="Proxima Nova" pitchFamily="34" charset="-122"/>
                <a:cs typeface="Proxima Nova" pitchFamily="34" charset="-120"/>
              </a:rPr>
              <a:t>$6.832B</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 jobs</a:t>
            </a:r>
            <a:pPr indent="0" marL="0">
              <a:buNone/>
            </a:pPr>
            <a:r>
              <a:rPr lang="en-US" sz="135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27.0M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t>
            </a:r>
            <a:pPr indent="0" marL="0">
              <a:buNone/>
            </a:pPr>
            <a:r>
              <a:rPr lang="en-US" sz="1350" b="1" dirty="0">
                <a:solidFill>
                  <a:srgbClr val="125C60"/>
                </a:solidFill>
                <a:latin typeface="Proxima Nova" pitchFamily="34" charset="0"/>
                <a:ea typeface="Proxima Nova" pitchFamily="34" charset="-122"/>
                <a:cs typeface="Proxima Nova" pitchFamily="34" charset="-120"/>
              </a:rPr>
              <a:t>+1.9%</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$7.2B</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+5.6%</a:t>
            </a:r>
            <a:pPr indent="0" marL="0">
              <a:buNone/>
            </a:pPr>
            <a:r>
              <a:rPr lang="en-US" sz="135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the City of Anaheim (travelling 50+ miles or staying overnight) and visitors to District 5, where OC Vibe is being built.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t>
            </a:r>
            <a:pPr indent="0" marL="0">
              <a:buNone/>
            </a:pPr>
            <a:r>
              <a:rPr lang="en-US" sz="950" b="1" dirty="0">
                <a:solidFill>
                  <a:srgbClr val="125C60"/>
                </a:solidFill>
                <a:latin typeface="Proxima Nova" pitchFamily="34" charset="0"/>
                <a:ea typeface="Proxima Nova" pitchFamily="34" charset="-122"/>
                <a:cs typeface="Proxima Nova" pitchFamily="34" charset="-120"/>
              </a:rPr>
              <a:t>26.5M</a:t>
            </a:r>
            <a:pPr indent="0" marL="0">
              <a:buNone/>
            </a:pPr>
            <a:r>
              <a:rPr lang="en-US" sz="950" dirty="0">
                <a:solidFill>
                  <a:srgbClr val="231F20"/>
                </a:solidFill>
                <a:latin typeface="Proxima Nova" pitchFamily="34" charset="0"/>
                <a:ea typeface="Proxima Nova" pitchFamily="34" charset="-122"/>
                <a:cs typeface="Proxima Nova" pitchFamily="34" charset="-120"/>
              </a:rPr>
              <a:t>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$6.83B</a:t>
            </a:r>
            <a:pPr indent="0" marL="0">
              <a:buNone/>
            </a:pPr>
            <a:r>
              <a:rPr lang="en-US" sz="950" dirty="0">
                <a:solidFill>
                  <a:srgbClr val="231F20"/>
                </a:solidFill>
                <a:latin typeface="Proxima Nova" pitchFamily="34" charset="0"/>
                <a:ea typeface="Proxima Nova" pitchFamily="34" charset="-122"/>
                <a:cs typeface="Proxima Nova" pitchFamily="34" charset="-120"/>
              </a:rPr>
              <a:t>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state and local taxes in 2025; Tourism Economics forecasts </a:t>
            </a:r>
            <a:pPr indent="0" marL="0">
              <a:buNone/>
            </a:pPr>
            <a:r>
              <a:rPr lang="en-US" sz="950" b="1" dirty="0">
                <a:solidFill>
                  <a:srgbClr val="125C60"/>
                </a:solidFill>
                <a:latin typeface="Proxima Nova" pitchFamily="34" charset="0"/>
                <a:ea typeface="Proxima Nova" pitchFamily="34" charset="-122"/>
                <a:cs typeface="Proxima Nova" pitchFamily="34" charset="-120"/>
              </a:rPr>
              <a:t>27.0M</a:t>
            </a:r>
            <a:pPr indent="0" marL="0">
              <a:buNone/>
            </a:pPr>
            <a:r>
              <a:rPr lang="en-US" sz="950" dirty="0">
                <a:solidFill>
                  <a:srgbClr val="231F20"/>
                </a:solidFill>
                <a:latin typeface="Proxima Nova" pitchFamily="34" charset="0"/>
                <a:ea typeface="Proxima Nova" pitchFamily="34" charset="-122"/>
                <a:cs typeface="Proxima Nova" pitchFamily="34" charset="-120"/>
              </a:rPr>
              <a:t> visitors and </a:t>
            </a:r>
            <a:pPr indent="0" marL="0">
              <a:buNone/>
            </a:pPr>
            <a:r>
              <a:rPr lang="en-US" sz="950" b="1" dirty="0">
                <a:solidFill>
                  <a:srgbClr val="125C60"/>
                </a:solidFill>
                <a:latin typeface="Proxima Nova" pitchFamily="34" charset="0"/>
                <a:ea typeface="Proxima Nova" pitchFamily="34" charset="-122"/>
                <a:cs typeface="Proxima Nova" pitchFamily="34" charset="-120"/>
              </a:rPr>
              <a:t>$7.2B</a:t>
            </a:r>
            <a:pPr indent="0" marL="0">
              <a:buNone/>
            </a:pPr>
            <a:r>
              <a:rPr lang="en-US" sz="950" dirty="0">
                <a:solidFill>
                  <a:srgbClr val="231F20"/>
                </a:solidFill>
                <a:latin typeface="Proxima Nova" pitchFamily="34" charset="0"/>
                <a:ea typeface="Proxima Nova" pitchFamily="34" charset="-122"/>
                <a:cs typeface="Proxima Nova" pitchFamily="34" charset="-120"/>
              </a:rPr>
              <a:t> in 2026. OC Vibe area: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measured year · forecast year</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(measured, published 2026); 2026 forecast published Sept. 2026; Datafy calendar 2024; Azira Jan.–May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District 5</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OC Vibe area, beside Honda Center and ARTIC</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the OC Vibe area around Honda Center and ARTIC in Council District 5.</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OCVIBE and City of Anaheim public releases (2024–2026)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first OC Vibe venues open</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 measured baseline before OC Vibe's venues open in 2027, so OC Vibe's own results can be compared with it later.</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Datafy and Azira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and spending models for Anaheim; Datafy and Azira mobile location data for the area; no Visit Anaheim BI assumptions.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Datafy Anaheim visitor report (calendar 2024); Azira via Symphony (District 5, Jan. 1–May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26.5 million visitors move through Anaheim's economy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calendar 2025 · each link shows its calculation</a:t>
            </a:r>
            <a:endParaRPr lang="en-US" sz="950" dirty="0"/>
          </a:p>
        </p:txBody>
      </p:sp>
      <p:sp>
        <p:nvSpPr>
          <p:cNvPr id="6" name="Shape 4"/>
          <p:cNvSpPr/>
          <p:nvPr/>
        </p:nvSpPr>
        <p:spPr>
          <a:xfrm>
            <a:off x="548640" y="2075688"/>
            <a:ext cx="1523939" cy="2011680"/>
          </a:xfrm>
          <a:prstGeom prst="roundRect">
            <a:avLst>
              <a:gd name="adj" fmla="val 3600"/>
            </a:avLst>
          </a:prstGeom>
          <a:solidFill>
            <a:srgbClr val="F9F9F2"/>
          </a:solidFill>
          <a:ln w="12700">
            <a:solidFill>
              <a:srgbClr val="B4D9E3"/>
            </a:solidFill>
            <a:prstDash val="solid"/>
          </a:ln>
        </p:spPr>
      </p:sp>
      <p:sp>
        <p:nvSpPr>
          <p:cNvPr id="7" name="Shape 5"/>
          <p:cNvSpPr/>
          <p:nvPr/>
        </p:nvSpPr>
        <p:spPr>
          <a:xfrm>
            <a:off x="548640" y="2075688"/>
            <a:ext cx="1523939" cy="64008"/>
          </a:xfrm>
          <a:prstGeom prst="rect">
            <a:avLst/>
          </a:prstGeom>
          <a:solidFill>
            <a:srgbClr val="125C60"/>
          </a:solidFill>
          <a:ln w="12700">
            <a:solidFill>
              <a:srgbClr val="125C60"/>
            </a:solidFill>
            <a:prstDash val="solid"/>
          </a:ln>
        </p:spPr>
      </p:sp>
      <p:sp>
        <p:nvSpPr>
          <p:cNvPr id="8" name="Text 6"/>
          <p:cNvSpPr txBox="1"/>
          <p:nvPr/>
        </p:nvSpPr>
        <p:spPr>
          <a:xfrm>
            <a:off x="658368"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26.5M</a:t>
            </a:r>
            <a:endParaRPr lang="en-US" sz="2500" dirty="0"/>
          </a:p>
        </p:txBody>
      </p:sp>
      <p:sp>
        <p:nvSpPr>
          <p:cNvPr id="9" name="Text 7"/>
          <p:cNvSpPr txBox="1"/>
          <p:nvPr/>
        </p:nvSpPr>
        <p:spPr>
          <a:xfrm>
            <a:off x="658368"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visitors</a:t>
            </a:r>
            <a:endParaRPr lang="en-US" sz="1200" dirty="0"/>
          </a:p>
        </p:txBody>
      </p:sp>
      <p:sp>
        <p:nvSpPr>
          <p:cNvPr id="10" name="Shape 8"/>
          <p:cNvSpPr/>
          <p:nvPr/>
        </p:nvSpPr>
        <p:spPr>
          <a:xfrm>
            <a:off x="2145731" y="2761488"/>
            <a:ext cx="722376" cy="0"/>
          </a:xfrm>
          <a:prstGeom prst="line">
            <a:avLst/>
          </a:prstGeom>
          <a:noFill/>
          <a:ln w="38100">
            <a:solidFill>
              <a:srgbClr val="43A3A3"/>
            </a:solidFill>
            <a:prstDash val="solid"/>
            <a:tailEnd type="triangle"/>
          </a:ln>
        </p:spPr>
      </p:sp>
      <p:sp>
        <p:nvSpPr>
          <p:cNvPr id="11" name="Text 9"/>
          <p:cNvSpPr txBox="1"/>
          <p:nvPr/>
        </p:nvSpPr>
        <p:spPr>
          <a:xfrm>
            <a:off x="2090867"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$258 each: $6.832B ÷ 26.5M</a:t>
            </a:r>
            <a:endParaRPr lang="en-US" sz="850" dirty="0"/>
          </a:p>
        </p:txBody>
      </p:sp>
      <p:sp>
        <p:nvSpPr>
          <p:cNvPr id="12" name="Shape 10"/>
          <p:cNvSpPr/>
          <p:nvPr/>
        </p:nvSpPr>
        <p:spPr>
          <a:xfrm>
            <a:off x="2941259" y="2075688"/>
            <a:ext cx="1523939" cy="2011680"/>
          </a:xfrm>
          <a:prstGeom prst="roundRect">
            <a:avLst>
              <a:gd name="adj" fmla="val 3600"/>
            </a:avLst>
          </a:prstGeom>
          <a:solidFill>
            <a:srgbClr val="F9F9F2"/>
          </a:solidFill>
          <a:ln w="12700">
            <a:solidFill>
              <a:srgbClr val="B4D9E3"/>
            </a:solidFill>
            <a:prstDash val="solid"/>
          </a:ln>
        </p:spPr>
      </p:sp>
      <p:sp>
        <p:nvSpPr>
          <p:cNvPr id="13" name="Shape 11"/>
          <p:cNvSpPr/>
          <p:nvPr/>
        </p:nvSpPr>
        <p:spPr>
          <a:xfrm>
            <a:off x="2941259" y="2075688"/>
            <a:ext cx="1523939" cy="64008"/>
          </a:xfrm>
          <a:prstGeom prst="rect">
            <a:avLst/>
          </a:prstGeom>
          <a:solidFill>
            <a:srgbClr val="125C60"/>
          </a:solidFill>
          <a:ln w="12700">
            <a:solidFill>
              <a:srgbClr val="125C60"/>
            </a:solidFill>
            <a:prstDash val="solid"/>
          </a:ln>
        </p:spPr>
      </p:sp>
      <p:sp>
        <p:nvSpPr>
          <p:cNvPr id="14" name="Text 12"/>
          <p:cNvSpPr txBox="1"/>
          <p:nvPr/>
        </p:nvSpPr>
        <p:spPr>
          <a:xfrm>
            <a:off x="3050987"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$6.83B</a:t>
            </a:r>
            <a:endParaRPr lang="en-US" sz="2500" dirty="0"/>
          </a:p>
        </p:txBody>
      </p:sp>
      <p:sp>
        <p:nvSpPr>
          <p:cNvPr id="15" name="Text 13"/>
          <p:cNvSpPr txBox="1"/>
          <p:nvPr/>
        </p:nvSpPr>
        <p:spPr>
          <a:xfrm>
            <a:off x="3050987"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 spending</a:t>
            </a:r>
            <a:endParaRPr lang="en-US" sz="1200" dirty="0"/>
          </a:p>
        </p:txBody>
      </p:sp>
      <p:sp>
        <p:nvSpPr>
          <p:cNvPr id="16" name="Shape 14"/>
          <p:cNvSpPr/>
          <p:nvPr/>
        </p:nvSpPr>
        <p:spPr>
          <a:xfrm>
            <a:off x="4538350" y="2761488"/>
            <a:ext cx="722376" cy="0"/>
          </a:xfrm>
          <a:prstGeom prst="line">
            <a:avLst/>
          </a:prstGeom>
          <a:noFill/>
          <a:ln w="38100">
            <a:solidFill>
              <a:srgbClr val="43A3A3"/>
            </a:solidFill>
            <a:prstDash val="solid"/>
            <a:tailEnd type="triangle"/>
          </a:ln>
        </p:spPr>
      </p:sp>
      <p:sp>
        <p:nvSpPr>
          <p:cNvPr id="17" name="Text 15"/>
          <p:cNvSpPr txBox="1"/>
          <p:nvPr/>
        </p:nvSpPr>
        <p:spPr>
          <a:xfrm>
            <a:off x="4483486"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×1.53: $10.42B ÷ $6.832B</a:t>
            </a:r>
            <a:endParaRPr lang="en-US" sz="850" dirty="0"/>
          </a:p>
        </p:txBody>
      </p:sp>
      <p:sp>
        <p:nvSpPr>
          <p:cNvPr id="18" name="Shape 16"/>
          <p:cNvSpPr/>
          <p:nvPr/>
        </p:nvSpPr>
        <p:spPr>
          <a:xfrm>
            <a:off x="5333878" y="2075688"/>
            <a:ext cx="1523939" cy="2011680"/>
          </a:xfrm>
          <a:prstGeom prst="roundRect">
            <a:avLst>
              <a:gd name="adj" fmla="val 3600"/>
            </a:avLst>
          </a:prstGeom>
          <a:solidFill>
            <a:srgbClr val="F9F9F2"/>
          </a:solidFill>
          <a:ln w="12700">
            <a:solidFill>
              <a:srgbClr val="B4D9E3"/>
            </a:solidFill>
            <a:prstDash val="solid"/>
          </a:ln>
        </p:spPr>
      </p:sp>
      <p:sp>
        <p:nvSpPr>
          <p:cNvPr id="19" name="Shape 17"/>
          <p:cNvSpPr/>
          <p:nvPr/>
        </p:nvSpPr>
        <p:spPr>
          <a:xfrm>
            <a:off x="5333878" y="2075688"/>
            <a:ext cx="1523939" cy="64008"/>
          </a:xfrm>
          <a:prstGeom prst="rect">
            <a:avLst/>
          </a:prstGeom>
          <a:solidFill>
            <a:srgbClr val="125C60"/>
          </a:solidFill>
          <a:ln w="12700">
            <a:solidFill>
              <a:srgbClr val="125C60"/>
            </a:solidFill>
            <a:prstDash val="solid"/>
          </a:ln>
        </p:spPr>
      </p:sp>
      <p:sp>
        <p:nvSpPr>
          <p:cNvPr id="20" name="Text 18"/>
          <p:cNvSpPr txBox="1"/>
          <p:nvPr/>
        </p:nvSpPr>
        <p:spPr>
          <a:xfrm>
            <a:off x="5443606"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$10.42B</a:t>
            </a:r>
            <a:endParaRPr lang="en-US" sz="2500" dirty="0"/>
          </a:p>
        </p:txBody>
      </p:sp>
      <p:sp>
        <p:nvSpPr>
          <p:cNvPr id="21" name="Text 19"/>
          <p:cNvSpPr txBox="1"/>
          <p:nvPr/>
        </p:nvSpPr>
        <p:spPr>
          <a:xfrm>
            <a:off x="5443606"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total economic impact</a:t>
            </a:r>
            <a:endParaRPr lang="en-US" sz="1200" dirty="0"/>
          </a:p>
        </p:txBody>
      </p:sp>
      <p:sp>
        <p:nvSpPr>
          <p:cNvPr id="22" name="Shape 20"/>
          <p:cNvSpPr/>
          <p:nvPr/>
        </p:nvSpPr>
        <p:spPr>
          <a:xfrm>
            <a:off x="6930969" y="2761488"/>
            <a:ext cx="722376" cy="0"/>
          </a:xfrm>
          <a:prstGeom prst="line">
            <a:avLst/>
          </a:prstGeom>
          <a:noFill/>
          <a:ln w="38100">
            <a:solidFill>
              <a:srgbClr val="43A3A3"/>
            </a:solidFill>
            <a:prstDash val="solid"/>
            <a:tailEnd type="triangle"/>
          </a:ln>
        </p:spPr>
      </p:sp>
      <p:sp>
        <p:nvSpPr>
          <p:cNvPr id="23" name="Text 21"/>
          <p:cNvSpPr txBox="1"/>
          <p:nvPr/>
        </p:nvSpPr>
        <p:spPr>
          <a:xfrm>
            <a:off x="6876105"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9.9 jobs per $1M: 67,817 ÷ 6,832</a:t>
            </a:r>
            <a:endParaRPr lang="en-US" sz="850" dirty="0"/>
          </a:p>
        </p:txBody>
      </p:sp>
      <p:sp>
        <p:nvSpPr>
          <p:cNvPr id="24" name="Shape 22"/>
          <p:cNvSpPr/>
          <p:nvPr/>
        </p:nvSpPr>
        <p:spPr>
          <a:xfrm>
            <a:off x="7726497" y="2075688"/>
            <a:ext cx="1523939" cy="2011680"/>
          </a:xfrm>
          <a:prstGeom prst="roundRect">
            <a:avLst>
              <a:gd name="adj" fmla="val 3600"/>
            </a:avLst>
          </a:prstGeom>
          <a:solidFill>
            <a:srgbClr val="F9F9F2"/>
          </a:solidFill>
          <a:ln w="12700">
            <a:solidFill>
              <a:srgbClr val="B4D9E3"/>
            </a:solidFill>
            <a:prstDash val="solid"/>
          </a:ln>
        </p:spPr>
      </p:sp>
      <p:sp>
        <p:nvSpPr>
          <p:cNvPr id="25" name="Shape 23"/>
          <p:cNvSpPr/>
          <p:nvPr/>
        </p:nvSpPr>
        <p:spPr>
          <a:xfrm>
            <a:off x="7726497" y="2075688"/>
            <a:ext cx="1523939" cy="64008"/>
          </a:xfrm>
          <a:prstGeom prst="rect">
            <a:avLst/>
          </a:prstGeom>
          <a:solidFill>
            <a:srgbClr val="125C60"/>
          </a:solidFill>
          <a:ln w="12700">
            <a:solidFill>
              <a:srgbClr val="125C60"/>
            </a:solidFill>
            <a:prstDash val="solid"/>
          </a:ln>
        </p:spPr>
      </p:sp>
      <p:sp>
        <p:nvSpPr>
          <p:cNvPr id="26" name="Text 24"/>
          <p:cNvSpPr txBox="1"/>
          <p:nvPr/>
        </p:nvSpPr>
        <p:spPr>
          <a:xfrm>
            <a:off x="7836225"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67,817</a:t>
            </a:r>
            <a:endParaRPr lang="en-US" sz="2500" dirty="0"/>
          </a:p>
        </p:txBody>
      </p:sp>
      <p:sp>
        <p:nvSpPr>
          <p:cNvPr id="27" name="Text 25"/>
          <p:cNvSpPr txBox="1"/>
          <p:nvPr/>
        </p:nvSpPr>
        <p:spPr>
          <a:xfrm>
            <a:off x="7836225"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jobs supported (32.8% of all Anaheim jobs)</a:t>
            </a:r>
            <a:endParaRPr lang="en-US" sz="1200" dirty="0"/>
          </a:p>
        </p:txBody>
      </p:sp>
      <p:sp>
        <p:nvSpPr>
          <p:cNvPr id="28" name="Shape 26"/>
          <p:cNvSpPr/>
          <p:nvPr/>
        </p:nvSpPr>
        <p:spPr>
          <a:xfrm>
            <a:off x="9323588" y="2761488"/>
            <a:ext cx="722376" cy="0"/>
          </a:xfrm>
          <a:prstGeom prst="line">
            <a:avLst/>
          </a:prstGeom>
          <a:noFill/>
          <a:ln w="38100">
            <a:solidFill>
              <a:srgbClr val="43A3A3"/>
            </a:solidFill>
            <a:prstDash val="solid"/>
            <a:tailEnd type="triangle"/>
          </a:ln>
        </p:spPr>
      </p:sp>
      <p:sp>
        <p:nvSpPr>
          <p:cNvPr id="29" name="Text 27"/>
          <p:cNvSpPr txBox="1"/>
          <p:nvPr/>
        </p:nvSpPr>
        <p:spPr>
          <a:xfrm>
            <a:off x="9268724"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$142K per $1M: $970M ÷ 6,832</a:t>
            </a:r>
            <a:endParaRPr lang="en-US" sz="850" dirty="0"/>
          </a:p>
        </p:txBody>
      </p:sp>
      <p:sp>
        <p:nvSpPr>
          <p:cNvPr id="30" name="Shape 28"/>
          <p:cNvSpPr/>
          <p:nvPr/>
        </p:nvSpPr>
        <p:spPr>
          <a:xfrm>
            <a:off x="10119116" y="2075688"/>
            <a:ext cx="1523939" cy="2011680"/>
          </a:xfrm>
          <a:prstGeom prst="roundRect">
            <a:avLst>
              <a:gd name="adj" fmla="val 3600"/>
            </a:avLst>
          </a:prstGeom>
          <a:solidFill>
            <a:srgbClr val="F9F9F2"/>
          </a:solidFill>
          <a:ln w="12700">
            <a:solidFill>
              <a:srgbClr val="B4D9E3"/>
            </a:solidFill>
            <a:prstDash val="solid"/>
          </a:ln>
        </p:spPr>
      </p:sp>
      <p:sp>
        <p:nvSpPr>
          <p:cNvPr id="31" name="Shape 29"/>
          <p:cNvSpPr/>
          <p:nvPr/>
        </p:nvSpPr>
        <p:spPr>
          <a:xfrm>
            <a:off x="10119116" y="2075688"/>
            <a:ext cx="1523939" cy="64008"/>
          </a:xfrm>
          <a:prstGeom prst="rect">
            <a:avLst/>
          </a:prstGeom>
          <a:solidFill>
            <a:srgbClr val="125C60"/>
          </a:solidFill>
          <a:ln w="12700">
            <a:solidFill>
              <a:srgbClr val="125C60"/>
            </a:solidFill>
            <a:prstDash val="solid"/>
          </a:ln>
        </p:spPr>
      </p:sp>
      <p:sp>
        <p:nvSpPr>
          <p:cNvPr id="32" name="Text 30"/>
          <p:cNvSpPr txBox="1"/>
          <p:nvPr/>
        </p:nvSpPr>
        <p:spPr>
          <a:xfrm>
            <a:off x="10228844"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$970M</a:t>
            </a:r>
            <a:endParaRPr lang="en-US" sz="2500" dirty="0"/>
          </a:p>
        </p:txBody>
      </p:sp>
      <p:sp>
        <p:nvSpPr>
          <p:cNvPr id="33" name="Text 31"/>
          <p:cNvSpPr txBox="1"/>
          <p:nvPr/>
        </p:nvSpPr>
        <p:spPr>
          <a:xfrm>
            <a:off x="10228844"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state and local taxes</a:t>
            </a:r>
            <a:endParaRPr lang="en-US" sz="1200" dirty="0"/>
          </a:p>
        </p:txBody>
      </p:sp>
      <p:sp>
        <p:nvSpPr>
          <p:cNvPr id="34" name="Shape 32"/>
          <p:cNvSpPr/>
          <p:nvPr/>
        </p:nvSpPr>
        <p:spPr>
          <a:xfrm>
            <a:off x="548640" y="4389120"/>
            <a:ext cx="11094415" cy="45720"/>
          </a:xfrm>
          <a:prstGeom prst="rect">
            <a:avLst/>
          </a:prstGeom>
          <a:solidFill>
            <a:srgbClr val="125C60"/>
          </a:solidFill>
          <a:ln w="12700">
            <a:solidFill>
              <a:srgbClr val="125C60"/>
            </a:solidFill>
            <a:prstDash val="solid"/>
          </a:ln>
        </p:spPr>
      </p:sp>
      <p:sp>
        <p:nvSpPr>
          <p:cNvPr id="35" name="Text 33"/>
          <p:cNvSpPr txBox="1"/>
          <p:nvPr/>
        </p:nvSpPr>
        <p:spPr>
          <a:xfrm>
            <a:off x="548640" y="44805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6" name="Text 34"/>
          <p:cNvSpPr txBox="1"/>
          <p:nvPr/>
        </p:nvSpPr>
        <p:spPr>
          <a:xfrm>
            <a:off x="548640" y="4736592"/>
            <a:ext cx="11094415" cy="114300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3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economy: 2025 results and 2026 forecast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only · 2025 measured (Tourism Economics, published 2026) · 2026 = Tourism Economics forecast (Sept. 2026)</a:t>
            </a:r>
            <a:endParaRPr lang="en-US" sz="1200" dirty="0"/>
          </a:p>
        </p:txBody>
      </p:sp>
      <p:sp>
        <p:nvSpPr>
          <p:cNvPr id="5" name="kpi-card-0"/>
          <p:cNvSpPr/>
          <p:nvPr/>
        </p:nvSpPr>
        <p:spPr>
          <a:xfrm>
            <a:off x="548640" y="141732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8" name="Text 5"/>
          <p:cNvSpPr txBox="1"/>
          <p:nvPr/>
        </p:nvSpPr>
        <p:spPr>
          <a:xfrm>
            <a:off x="713232"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9" name="Text 6"/>
          <p:cNvSpPr txBox="1"/>
          <p:nvPr/>
        </p:nvSpPr>
        <p:spPr>
          <a:xfrm>
            <a:off x="713232"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+0.8% vs. 2024 · 2026 forecast 27.0M</a:t>
            </a:r>
            <a:endParaRPr lang="en-US" sz="1000" dirty="0"/>
          </a:p>
        </p:txBody>
      </p:sp>
      <p:sp>
        <p:nvSpPr>
          <p:cNvPr id="10" name="kpi-card-1"/>
          <p:cNvSpPr/>
          <p:nvPr/>
        </p:nvSpPr>
        <p:spPr>
          <a:xfrm>
            <a:off x="3363392" y="141732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2" name="Text 9"/>
          <p:cNvSpPr txBox="1"/>
          <p:nvPr/>
        </p:nvSpPr>
        <p:spPr>
          <a:xfrm>
            <a:off x="3527984"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3527984"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4" name="Text 11"/>
          <p:cNvSpPr txBox="1"/>
          <p:nvPr/>
        </p:nvSpPr>
        <p:spPr>
          <a:xfrm>
            <a:off x="3527984"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vs. 2024 · 2026 forecast $7.2B</a:t>
            </a:r>
            <a:endParaRPr lang="en-US" sz="1000" dirty="0"/>
          </a:p>
        </p:txBody>
      </p:sp>
      <p:sp>
        <p:nvSpPr>
          <p:cNvPr id="15" name="kpi-card-2"/>
          <p:cNvSpPr/>
          <p:nvPr/>
        </p:nvSpPr>
        <p:spPr>
          <a:xfrm>
            <a:off x="6178144" y="141732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7" name="Text 14"/>
          <p:cNvSpPr txBox="1"/>
          <p:nvPr/>
        </p:nvSpPr>
        <p:spPr>
          <a:xfrm>
            <a:off x="6342736"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8" name="Text 15"/>
          <p:cNvSpPr txBox="1"/>
          <p:nvPr/>
        </p:nvSpPr>
        <p:spPr>
          <a:xfrm>
            <a:off x="6342736"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9" name="Text 16"/>
          <p:cNvSpPr txBox="1"/>
          <p:nvPr/>
        </p:nvSpPr>
        <p:spPr>
          <a:xfrm>
            <a:off x="6342736"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32.8% of all jobs · $10.4B total impact</a:t>
            </a:r>
            <a:endParaRPr lang="en-US" sz="1000" dirty="0"/>
          </a:p>
        </p:txBody>
      </p:sp>
      <p:sp>
        <p:nvSpPr>
          <p:cNvPr id="20" name="kpi-card-3"/>
          <p:cNvSpPr/>
          <p:nvPr/>
        </p:nvSpPr>
        <p:spPr>
          <a:xfrm>
            <a:off x="8992895" y="141732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OC VIBE AREA, 2024</a:t>
            </a:r>
            <a:endParaRPr lang="en-US" sz="900" dirty="0"/>
          </a:p>
        </p:txBody>
      </p:sp>
      <p:sp>
        <p:nvSpPr>
          <p:cNvPr id="22" name="Text 19"/>
          <p:cNvSpPr txBox="1"/>
          <p:nvPr/>
        </p:nvSpPr>
        <p:spPr>
          <a:xfrm>
            <a:off x="9157487"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3" name="Text 20"/>
          <p:cNvSpPr txBox="1"/>
          <p:nvPr/>
        </p:nvSpPr>
        <p:spPr>
          <a:xfrm>
            <a:off x="9157487"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9157487"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Measured before the new venues open</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2103120"/>
                <a:gridCol w="1417320"/>
                <a:gridCol w="1417320"/>
                <a:gridCol w="914400"/>
                <a:gridCol w="5239512"/>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2025 (measured)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$6.83B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$6.832B ÷ 26.5M = $258; $7.2B ÷ 27.0M = $267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$10.42B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(direct, indirect and induced)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Jobs supported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67,817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32.8% of all Anaheim jobs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Day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17.9M day visitors ÷ 26.5M visitors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published 2026); Tourism Economics, Anaheim Travel Forecast (Sept. 2026); Datafy (calendar 2024). City of Anaheim totals; not allocated to OC Vibe.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OC Vibe area today, before the new venues open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or published figures only · each with its period and source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560320"/>
                <a:gridCol w="1920240"/>
                <a:gridCol w="2679192"/>
              </a:tblGrid>
              <a:tr h="33832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Value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Period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Source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Calendar 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Datafy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visitors who stay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first-time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domestic visitors from outside California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Busiest day for District 5 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Saturday (15.9%)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Vehicles on SR-57 beside the district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275,000 a 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Caltrans 2024 count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 Traffic Flow Map (Aug.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Weekday OCTA bus trips stopping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277 (11 leave after 10 p.m.)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Schedules Aug.–Nov.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Amtrak passengers at Anaheim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191,153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Rail Passengers Association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Honda Center seats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LARC (Sept.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Concert hall capacity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5,000 (OCVIBE) / 5,613 (City)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Mar. 2026 /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OCVIBE release; City of 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hotel rooms at OC Vibe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550 (two 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12,369–12,823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(2024); Azira via Symphony (Jan.–May 2026); OCTA (2026); Rail Passengers Association (2024 data); LARC (Sept. 2026); OCVIBE (Mar. 2026); City of Anaheim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Anaheim visitor spending goes, by category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calendar 2025 · Tourism Economics (published 2026) · each share with its calculation</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011680"/>
                <a:gridCol w="1005840"/>
                <a:gridCol w="822960"/>
                <a:gridCol w="3108960"/>
              </a:tblGrid>
              <a:tr h="457200">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Category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Share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Recreation and 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$2,321M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Lodging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$1,495M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$1,495M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Food and beverage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$1,067M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$1,067M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Transportation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$6,831M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Sum of categories; Tourism Economics total $6,832M (difference is rounding)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chart-title"/>
          <p:cNvSpPr txBox="1"/>
          <p:nvPr/>
        </p:nvSpPr>
        <p:spPr>
          <a:xfrm>
            <a:off x="7772400" y="1463040"/>
            <a:ext cx="387065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visitor spending, 2025</a:t>
            </a:r>
            <a:endParaRPr lang="en-US" sz="1300" dirty="0"/>
          </a:p>
        </p:txBody>
      </p:sp>
      <p:graphicFrame>
        <p:nvGraphicFramePr>
          <p:cNvPr id="6" name="chart" descr=""/>
          <p:cNvGraphicFramePr/>
          <p:nvPr/>
        </p:nvGraphicFramePr>
        <p:xfrm>
          <a:off x="7772400" y="1828800"/>
          <a:ext cx="3870655" cy="3657600"/>
        </p:xfrm>
        <a:graphic xmlns:a="http://schemas.openxmlformats.org/drawingml/2006/main">
          <a:graphicData uri="http://schemas.openxmlformats.org/drawingml/2006/chart">
            <c:chart xmlns:c="http://schemas.openxmlformats.org/drawingml/2006/chart" r:id="rId1"/>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with today's baselines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baselines; OC Vibe adds its own results once its venues open</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share of Anaheim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5.2%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from 50+ miles at OC Vibe venues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from ticketing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ticketing (ZIP codes)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stay of visitors who visit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2.17 days (Anaheim,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Overnight share of OC Vibe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85.8% (District 5, Jan.–May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 occupancy and average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Market: 78.4% and $255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Sunday–Monday occupancy, Visit Anaheim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70.6% (STR,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(STR)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nights and hotel tax from OC Vibe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Opens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Share of OC Vibe visitors from outside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44% (District 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New markets, spending and access</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Visits from Visit Anaheim campaigns featuring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11.9 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Per campaign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from fly-in markets (outside Southern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Seattle, Phoenix, Las Vegas, Orlando, New York, Mexico, Canada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Anaheim and the OC Vibe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$464.6M in Aug. 2026 (citywide view)</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 via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at OC Vibe businesses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at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or card data; OC Vibe tenants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Event-day transit trips and late-night departures from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277 weekday bus trips; 11 leave after 10 p.m.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Traffic on SR-57 and Katella Ave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275,000 and 36,000 vehicles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191,153 Amtrak (2024); Metrolink line totals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Amtrak; Metrolink; 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Figures OC Vibe's developers and others have published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Shown as published; not produced or checked by Visit Anaheim BI</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926080"/>
                <a:gridCol w="4937760"/>
                <a:gridCol w="3227832"/>
              </a:tblGrid>
              <a:tr h="5486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Published by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Figures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Scope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OCVIBE fact sheet (Apr.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3,000+ ongoing jobs; about $10M a year in tax revenue to Anaheim; $255M in public benefits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office, residents, local patrons and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DTA analysis, cited by Visit Anaheim (June 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More than $400M a year in recurring economic impact; 3,300 permanent jobs; $2B one-time construction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earlier and larger program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OCVIBE fact sheet (Apr. 2024); Visit Anaheim article (June 24,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2026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$7.2B ÷ 27.0M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67,817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 Vibe area share of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Datafy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in Anaheim,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each (</a:t>
            </a:r>
            <a:pPr indent="0" marL="0">
              <a:buNone/>
            </a:pPr>
            <a:r>
              <a:rPr lang="en-US" sz="1100" b="1" dirty="0">
                <a:solidFill>
                  <a:srgbClr val="125C60"/>
                </a:solidFill>
                <a:latin typeface="Proxima Nova" pitchFamily="34" charset="0"/>
                <a:ea typeface="Proxima Nova" pitchFamily="34" charset="-122"/>
                <a:cs typeface="Proxima Nova" pitchFamily="34" charset="-120"/>
              </a:rPr>
              <a:t>$6.832B</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 jobs</a:t>
            </a:r>
            <a:pPr indent="0" marL="0">
              <a:buNone/>
            </a:pPr>
            <a:r>
              <a:rPr lang="en-US" sz="110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27.0M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t>
            </a:r>
            <a:pPr indent="0" marL="0">
              <a:buNone/>
            </a:pPr>
            <a:r>
              <a:rPr lang="en-US" sz="1100" b="1" dirty="0">
                <a:solidFill>
                  <a:srgbClr val="125C60"/>
                </a:solidFill>
                <a:latin typeface="Proxima Nova" pitchFamily="34" charset="0"/>
                <a:ea typeface="Proxima Nova" pitchFamily="34" charset="-122"/>
                <a:cs typeface="Proxima Nova" pitchFamily="34" charset="-120"/>
              </a:rPr>
              <a:t>+1.9%</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$7.2B</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+5.6%</a:t>
            </a:r>
            <a:pPr indent="0" marL="0">
              <a:buNone/>
            </a:pPr>
            <a:r>
              <a:rPr lang="en-US" sz="110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A measured baseline: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spending in 2025, with Tourism Economics forecasting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2026.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visitor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(2026 forecast)]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 the starting point for measuring growth.</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District 5 visitors are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first-time,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domestic visitors come from outside California.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Visitors spend most on recreation and entertainment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then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Recreation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$2,321M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$1,724M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$1,495M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$1,067M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total]</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Ticket-buyer ZIP codes from the first 2027 shows, to measure how many attendees travel 50+ miles.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Occupancy, rate and guest origin from OC Vibe's hotels once open (first hotel 2028), reported monthly.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confirmed concert hall capacity: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(OCVIBE, Mar. 2026)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5,613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(City of Anaheim, 2026).</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One shared scorecard built on today's baselines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days,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-day average stay,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refreshed quarterly with Visit Anaheim BI.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93.2%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domestic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international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(Tourism Economics; Azira)]</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 Orange County Business Journal (June 1, 2026); OCVIBE concert hall release, PR Newswire (Mar. 12,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draws 51.3 million visitors a year; hotels fill 75% of rooms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Orange County tourism · CIC Research 2009-2019; Tourism Economics 2021-2025; CoStar through Sept. 2026; Azira Jan. 2023-Aug.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19, 2026): </a:t>
            </a:r>
            <a:pPr indent="0" marL="0">
              <a:buNone/>
            </a:pPr>
            <a:r>
              <a:rPr lang="en-US" sz="1350" dirty="0">
                <a:solidFill>
                  <a:srgbClr val="231F20"/>
                </a:solidFill>
                <a:latin typeface="Proxima Nova" pitchFamily="34" charset="0"/>
                <a:ea typeface="Proxima Nova" pitchFamily="34" charset="-122"/>
                <a:cs typeface="Proxima Nova" pitchFamily="34" charset="-120"/>
              </a:rPr>
              <a:t>Orange County drew </a:t>
            </a:r>
            <a:pPr indent="0" marL="0">
              <a:buNone/>
            </a:pPr>
            <a:r>
              <a:rPr lang="en-US" sz="1350" b="1" dirty="0">
                <a:solidFill>
                  <a:srgbClr val="125C60"/>
                </a:solidFill>
                <a:latin typeface="Proxima Nova" pitchFamily="34" charset="0"/>
                <a:ea typeface="Proxima Nova" pitchFamily="34" charset="-122"/>
                <a:cs typeface="Proxima Nova" pitchFamily="34" charset="-120"/>
              </a:rPr>
              <a:t>51.3M</a:t>
            </a:r>
            <a:pPr indent="0" marL="0">
              <a:buNone/>
            </a:pPr>
            <a:r>
              <a:rPr lang="en-US" sz="135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29.2M</a:t>
            </a:r>
            <a:pPr indent="0" marL="0">
              <a:buNone/>
            </a:pPr>
            <a:r>
              <a:rPr lang="en-US" sz="1350" dirty="0">
                <a:solidFill>
                  <a:srgbClr val="231F20"/>
                </a:solidFill>
                <a:latin typeface="Proxima Nova" pitchFamily="34" charset="0"/>
                <a:ea typeface="Proxima Nova" pitchFamily="34" charset="-122"/>
                <a:cs typeface="Proxima Nova" pitchFamily="34" charset="-120"/>
              </a:rPr>
              <a:t> for the day and </a:t>
            </a:r>
            <a:pPr indent="0" marL="0">
              <a:buNone/>
            </a:pPr>
            <a:r>
              <a:rPr lang="en-US" sz="1350" b="1" dirty="0">
                <a:solidFill>
                  <a:srgbClr val="125C60"/>
                </a:solidFill>
                <a:latin typeface="Proxima Nova" pitchFamily="34" charset="0"/>
                <a:ea typeface="Proxima Nova" pitchFamily="34" charset="-122"/>
                <a:cs typeface="Proxima Nova" pitchFamily="34" charset="-120"/>
              </a:rPr>
              <a:t>22.1M</a:t>
            </a:r>
            <a:pPr indent="0" marL="0">
              <a:buNone/>
            </a:pPr>
            <a:r>
              <a:rPr lang="en-US" sz="1350" dirty="0">
                <a:solidFill>
                  <a:srgbClr val="231F20"/>
                </a:solidFill>
                <a:latin typeface="Proxima Nova" pitchFamily="34" charset="0"/>
                <a:ea typeface="Proxima Nova" pitchFamily="34" charset="-122"/>
                <a:cs typeface="Proxima Nova" pitchFamily="34" charset="-120"/>
              </a:rPr>
              <a:t>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93.3%</a:t>
            </a:r>
            <a:pPr indent="0" marL="0">
              <a:buNone/>
            </a:pPr>
            <a:r>
              <a:rPr lang="en-US" sz="1350" dirty="0">
                <a:solidFill>
                  <a:srgbClr val="231F20"/>
                </a:solidFill>
                <a:latin typeface="Proxima Nova" pitchFamily="34" charset="0"/>
                <a:ea typeface="Proxima Nova" pitchFamily="34" charset="-122"/>
                <a:cs typeface="Proxima Nova" pitchFamily="34" charset="-120"/>
              </a:rPr>
              <a:t> came from within the U.S. (Tourism Economics). Most come for leisure: in 2019, </a:t>
            </a:r>
            <a:pPr indent="0" marL="0">
              <a:buNone/>
            </a:pPr>
            <a:r>
              <a:rPr lang="en-US" sz="1350" b="1" dirty="0">
                <a:solidFill>
                  <a:srgbClr val="125C60"/>
                </a:solidFill>
                <a:latin typeface="Proxima Nova" pitchFamily="34" charset="0"/>
                <a:ea typeface="Proxima Nova" pitchFamily="34" charset="-122"/>
                <a:cs typeface="Proxima Nova" pitchFamily="34" charset="-120"/>
              </a:rPr>
              <a:t>81.2%</a:t>
            </a:r>
            <a:pPr indent="0" marL="0">
              <a:buNone/>
            </a:pPr>
            <a:r>
              <a:rPr lang="en-US" sz="1350" dirty="0">
                <a:solidFill>
                  <a:srgbClr val="231F20"/>
                </a:solidFill>
                <a:latin typeface="Proxima Nova" pitchFamily="34" charset="0"/>
                <a:ea typeface="Proxima Nova" pitchFamily="34" charset="-122"/>
                <a:cs typeface="Proxima Nova" pitchFamily="34" charset="-120"/>
              </a:rPr>
              <a:t> traveled for pleasure or to see friends and relatives, in parties of </a:t>
            </a:r>
            <a:pPr indent="0" marL="0">
              <a:buNone/>
            </a:pPr>
            <a:r>
              <a:rPr lang="en-US" sz="1350" b="1" dirty="0">
                <a:solidFill>
                  <a:srgbClr val="125C60"/>
                </a:solidFill>
                <a:latin typeface="Proxima Nova" pitchFamily="34" charset="0"/>
                <a:ea typeface="Proxima Nova" pitchFamily="34" charset="-122"/>
                <a:cs typeface="Proxima Nova" pitchFamily="34" charset="-120"/>
              </a:rPr>
              <a:t>2.8</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37.0%</a:t>
            </a:r>
            <a:pPr indent="0" marL="0">
              <a:buNone/>
            </a:pPr>
            <a:r>
              <a:rPr lang="en-US" sz="1350" dirty="0">
                <a:solidFill>
                  <a:srgbClr val="231F20"/>
                </a:solidFill>
                <a:latin typeface="Proxima Nova" pitchFamily="34" charset="0"/>
                <a:ea typeface="Proxima Nova" pitchFamily="34" charset="-122"/>
                <a:cs typeface="Proxima Nova" pitchFamily="34" charset="-120"/>
              </a:rPr>
              <a:t> brought children (CIC Research).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75.2%</a:t>
            </a:r>
            <a:pPr indent="0" marL="0">
              <a:buNone/>
            </a:pPr>
            <a:r>
              <a:rPr lang="en-US" sz="1350" dirty="0">
                <a:solidFill>
                  <a:srgbClr val="231F20"/>
                </a:solidFill>
                <a:latin typeface="Proxima Nova" pitchFamily="34" charset="0"/>
                <a:ea typeface="Proxima Nova" pitchFamily="34" charset="-122"/>
                <a:cs typeface="Proxima Nova" pitchFamily="34" charset="-120"/>
              </a:rPr>
              <a:t> of </a:t>
            </a:r>
            <a:pPr indent="0" marL="0">
              <a:buNone/>
            </a:pPr>
            <a:r>
              <a:rPr lang="en-US" sz="1350" b="1" dirty="0">
                <a:solidFill>
                  <a:srgbClr val="125C60"/>
                </a:solidFill>
                <a:latin typeface="Proxima Nova" pitchFamily="34" charset="0"/>
                <a:ea typeface="Proxima Nova" pitchFamily="34" charset="-122"/>
                <a:cs typeface="Proxima Nova" pitchFamily="34" charset="-120"/>
              </a:rPr>
              <a:t>60,224 rooms</a:t>
            </a:r>
            <a:pPr indent="0" marL="0">
              <a:buNone/>
            </a:pPr>
            <a:r>
              <a:rPr lang="en-US" sz="1350" dirty="0">
                <a:solidFill>
                  <a:srgbClr val="231F20"/>
                </a:solidFill>
                <a:latin typeface="Proxima Nova" pitchFamily="34" charset="0"/>
                <a:ea typeface="Proxima Nova" pitchFamily="34" charset="-122"/>
                <a:cs typeface="Proxima Nova" pitchFamily="34" charset="-120"/>
              </a:rPr>
              <a:t> at </a:t>
            </a:r>
            <a:pPr indent="0" marL="0">
              <a:buNone/>
            </a:pPr>
            <a:r>
              <a:rPr lang="en-US" sz="1350" b="1" dirty="0">
                <a:solidFill>
                  <a:srgbClr val="125C60"/>
                </a:solidFill>
                <a:latin typeface="Proxima Nova" pitchFamily="34" charset="0"/>
                <a:ea typeface="Proxima Nova" pitchFamily="34" charset="-122"/>
                <a:cs typeface="Proxima Nova" pitchFamily="34" charset="-120"/>
              </a:rPr>
              <a:t>$221.67</a:t>
            </a:r>
            <a:pPr indent="0" marL="0">
              <a:buNone/>
            </a:pPr>
            <a:r>
              <a:rPr lang="en-US" sz="1350" dirty="0">
                <a:solidFill>
                  <a:srgbClr val="231F20"/>
                </a:solidFill>
                <a:latin typeface="Proxima Nova" pitchFamily="34" charset="0"/>
                <a:ea typeface="Proxima Nova" pitchFamily="34" charset="-122"/>
                <a:cs typeface="Proxima Nova" pitchFamily="34" charset="-120"/>
              </a:rPr>
              <a:t> in Jan.-Aug. 2026, with July the busiest month (CoStar).</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Entertainment + Culture Advisors asked five questions for OCVIBE's market study. The answers come from five sources with different methods: Tourism Economics for current visitor volume (</a:t>
            </a:r>
            <a:pPr indent="0" marL="0">
              <a:buNone/>
            </a:pPr>
            <a:r>
              <a:rPr lang="en-US" sz="1250" b="1" dirty="0">
                <a:solidFill>
                  <a:srgbClr val="125C60"/>
                </a:solidFill>
                <a:latin typeface="Proxima Nova" pitchFamily="34" charset="0"/>
                <a:ea typeface="Proxima Nova" pitchFamily="34" charset="-122"/>
                <a:cs typeface="Proxima Nova" pitchFamily="34" charset="-120"/>
              </a:rPr>
              <a:t>51.3M</a:t>
            </a:r>
            <a:pPr indent="0" marL="0">
              <a:buNone/>
            </a:pPr>
            <a:r>
              <a:rPr lang="en-US" sz="1250" dirty="0">
                <a:solidFill>
                  <a:srgbClr val="231F20"/>
                </a:solidFill>
                <a:latin typeface="Proxima Nova" pitchFamily="34" charset="0"/>
                <a:ea typeface="Proxima Nova" pitchFamily="34" charset="-122"/>
                <a:cs typeface="Proxima Nova" pitchFamily="34" charset="-120"/>
              </a:rPr>
              <a:t> in 2025), CIC Research for the 2019 baseline and visitor profile, Azira for origins, and CoStar for hotel rooms and seasonality. Gaps are named with their solutions.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51.3M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2019 BASELINE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50.21M</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 (different method)</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HOTELS, JAN.-AUG. 2026</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Occupancy</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51.3M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Orange County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Orange County (staying overnight or traveling 50+ miles), the county's hotels, and ECA and OCVIBE as the requesters.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2019 visitors from Southern California</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51.3M</a:t>
            </a:r>
            <a:pPr indent="0" marL="0">
              <a:buNone/>
            </a:pPr>
            <a:r>
              <a:rPr lang="en-US" sz="95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950" b="1" dirty="0">
                <a:solidFill>
                  <a:srgbClr val="125C60"/>
                </a:solidFill>
                <a:latin typeface="Proxima Nova" pitchFamily="34" charset="0"/>
                <a:ea typeface="Proxima Nova" pitchFamily="34" charset="-122"/>
                <a:cs typeface="Proxima Nova" pitchFamily="34" charset="-120"/>
              </a:rPr>
              <a:t>29.2M</a:t>
            </a:r>
            <a:pPr indent="0" marL="0">
              <a:buNone/>
            </a:pPr>
            <a:r>
              <a:rPr lang="en-US" sz="950" dirty="0">
                <a:solidFill>
                  <a:srgbClr val="231F20"/>
                </a:solidFill>
                <a:latin typeface="Proxima Nova" pitchFamily="34" charset="0"/>
                <a:ea typeface="Proxima Nova" pitchFamily="34" charset="-122"/>
                <a:cs typeface="Proxima Nova" pitchFamily="34" charset="-120"/>
              </a:rPr>
              <a:t> day, </a:t>
            </a:r>
            <a:pPr indent="0" marL="0">
              <a:buNone/>
            </a:pPr>
            <a:r>
              <a:rPr lang="en-US" sz="950" b="1" dirty="0">
                <a:solidFill>
                  <a:srgbClr val="125C60"/>
                </a:solidFill>
                <a:latin typeface="Proxima Nova" pitchFamily="34" charset="0"/>
                <a:ea typeface="Proxima Nova" pitchFamily="34" charset="-122"/>
                <a:cs typeface="Proxima Nova" pitchFamily="34" charset="-120"/>
              </a:rPr>
              <a:t>22.1M</a:t>
            </a:r>
            <a:pPr indent="0" marL="0">
              <a:buNone/>
            </a:pPr>
            <a:r>
              <a:rPr lang="en-US" sz="950" dirty="0">
                <a:solidFill>
                  <a:srgbClr val="231F20"/>
                </a:solidFill>
                <a:latin typeface="Proxima Nova" pitchFamily="34" charset="0"/>
                <a:ea typeface="Proxima Nova" pitchFamily="34" charset="-122"/>
                <a:cs typeface="Proxima Nova" pitchFamily="34" charset="-120"/>
              </a:rPr>
              <a:t>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93.3%</a:t>
            </a:r>
            <a:pPr indent="0" marL="0">
              <a:buNone/>
            </a:pPr>
            <a:r>
              <a:rPr lang="en-US" sz="950" dirty="0">
                <a:solidFill>
                  <a:srgbClr val="231F20"/>
                </a:solidFill>
                <a:latin typeface="Proxima Nova" pitchFamily="34" charset="0"/>
                <a:ea typeface="Proxima Nova" pitchFamily="34" charset="-122"/>
                <a:cs typeface="Proxima Nova" pitchFamily="34" charset="-120"/>
              </a:rPr>
              <a:t> domestic); </a:t>
            </a:r>
            <a:pPr indent="0" marL="0">
              <a:buNone/>
            </a:pPr>
            <a:r>
              <a:rPr lang="en-US" sz="950" b="1" dirty="0">
                <a:solidFill>
                  <a:srgbClr val="125C60"/>
                </a:solidFill>
                <a:latin typeface="Proxima Nova" pitchFamily="34" charset="0"/>
                <a:ea typeface="Proxima Nova" pitchFamily="34" charset="-122"/>
                <a:cs typeface="Proxima Nova" pitchFamily="34" charset="-120"/>
              </a:rPr>
              <a:t>55.4%</a:t>
            </a:r>
            <a:pPr indent="0" marL="0">
              <a:buNone/>
            </a:pPr>
            <a:r>
              <a:rPr lang="en-US" sz="950" dirty="0">
                <a:solidFill>
                  <a:srgbClr val="231F20"/>
                </a:solidFill>
                <a:latin typeface="Proxima Nova" pitchFamily="34" charset="0"/>
                <a:ea typeface="Proxima Nova" pitchFamily="34" charset="-122"/>
                <a:cs typeface="Proxima Nova" pitchFamily="34" charset="-120"/>
              </a:rPr>
              <a:t> from Southern California (2019); July peak; </a:t>
            </a:r>
            <a:pPr indent="0" marL="0">
              <a:buNone/>
            </a:pPr>
            <a:r>
              <a:rPr lang="en-US" sz="950" b="1" dirty="0">
                <a:solidFill>
                  <a:srgbClr val="125C60"/>
                </a:solidFill>
                <a:latin typeface="Proxima Nova" pitchFamily="34" charset="0"/>
                <a:ea typeface="Proxima Nova" pitchFamily="34" charset="-122"/>
                <a:cs typeface="Proxima Nova" pitchFamily="34" charset="-120"/>
              </a:rPr>
              <a:t>81.2%</a:t>
            </a:r>
            <a:pPr indent="0" marL="0">
              <a:buNone/>
            </a:pPr>
            <a:r>
              <a:rPr lang="en-US" sz="950" dirty="0">
                <a:solidFill>
                  <a:srgbClr val="231F20"/>
                </a:solidFill>
                <a:latin typeface="Proxima Nova" pitchFamily="34" charset="0"/>
                <a:ea typeface="Proxima Nova" pitchFamily="34" charset="-122"/>
                <a:cs typeface="Proxima Nova" pitchFamily="34" charset="-120"/>
              </a:rPr>
              <a:t> leisure, party of </a:t>
            </a:r>
            <a:pPr indent="0" marL="0">
              <a:buNone/>
            </a:pPr>
            <a:r>
              <a:rPr lang="en-US" sz="950" b="1" dirty="0">
                <a:solidFill>
                  <a:srgbClr val="125C60"/>
                </a:solidFill>
                <a:latin typeface="Proxima Nova" pitchFamily="34" charset="0"/>
                <a:ea typeface="Proxima Nova" pitchFamily="34" charset="-122"/>
                <a:cs typeface="Proxima Nova" pitchFamily="34" charset="-120"/>
              </a:rPr>
              <a:t>2.8</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37.0%</a:t>
            </a:r>
            <a:pPr indent="0" marL="0">
              <a:buNone/>
            </a:pPr>
            <a:r>
              <a:rPr lang="en-US" sz="950" dirty="0">
                <a:solidFill>
                  <a:srgbClr val="231F20"/>
                </a:solidFill>
                <a:latin typeface="Proxima Nova" pitchFamily="34" charset="0"/>
                <a:ea typeface="Proxima Nova" pitchFamily="34" charset="-122"/>
                <a:cs typeface="Proxima Nova" pitchFamily="34" charset="-120"/>
              </a:rPr>
              <a:t> with children (2019); </a:t>
            </a:r>
            <a:pPr indent="0" marL="0">
              <a:buNone/>
            </a:pPr>
            <a:r>
              <a:rPr lang="en-US" sz="950" b="1" dirty="0">
                <a:solidFill>
                  <a:srgbClr val="125C60"/>
                </a:solidFill>
                <a:latin typeface="Proxima Nova" pitchFamily="34" charset="0"/>
                <a:ea typeface="Proxima Nova" pitchFamily="34" charset="-122"/>
                <a:cs typeface="Proxima Nova" pitchFamily="34" charset="-120"/>
              </a:rPr>
              <a:t>60,224</a:t>
            </a:r>
            <a:pPr indent="0" marL="0">
              <a:buNone/>
            </a:pPr>
            <a:r>
              <a:rPr lang="en-US" sz="950" dirty="0">
                <a:solidFill>
                  <a:srgbClr val="231F20"/>
                </a:solidFill>
                <a:latin typeface="Proxima Nova" pitchFamily="34" charset="0"/>
                <a:ea typeface="Proxima Nova" pitchFamily="34" charset="-122"/>
                <a:cs typeface="Proxima Nova" pitchFamily="34" charset="-120"/>
              </a:rPr>
              <a:t> hotel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75.2%</a:t>
            </a:r>
            <a:pPr indent="0" marL="0">
              <a:buNone/>
            </a:pPr>
            <a:r>
              <a:rPr lang="en-US" sz="950" dirty="0">
                <a:solidFill>
                  <a:srgbClr val="231F20"/>
                </a:solidFill>
                <a:latin typeface="Proxima Nova" pitchFamily="34" charset="0"/>
                <a:ea typeface="Proxima Nova" pitchFamily="34" charset="-122"/>
                <a:cs typeface="Proxima Nova" pitchFamily="34" charset="-120"/>
              </a:rPr>
              <a:t> occupancy and </a:t>
            </a:r>
            <a:pPr indent="0" marL="0">
              <a:buNone/>
            </a:pPr>
            <a:r>
              <a:rPr lang="en-US" sz="950" b="1" dirty="0">
                <a:solidFill>
                  <a:srgbClr val="125C60"/>
                </a:solidFill>
                <a:latin typeface="Proxima Nova" pitchFamily="34" charset="0"/>
                <a:ea typeface="Proxima Nova" pitchFamily="34" charset="-122"/>
                <a:cs typeface="Proxima Nova" pitchFamily="34" charset="-120"/>
              </a:rPr>
              <a:t>$221.67</a:t>
            </a:r>
            <a:pPr indent="0" marL="0">
              <a:buNone/>
            </a:pPr>
            <a:r>
              <a:rPr lang="en-US" sz="950" dirty="0">
                <a:solidFill>
                  <a:srgbClr val="231F20"/>
                </a:solidFill>
                <a:latin typeface="Proxima Nova" pitchFamily="34" charset="0"/>
                <a:ea typeface="Proxima Nova" pitchFamily="34" charset="-122"/>
                <a:cs typeface="Proxima Nova" pitchFamily="34" charset="-120"/>
              </a:rPr>
              <a:t> ADR (2026 YTD).</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80.6%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July hotel occupancy, 2023-2025 average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2009-2019 (CIC) and 2021-2025 (Tourism Economics); hotels Jan. 2019-Sept. 2026 (CoStar); Azira Jan. 1, 2023-Aug. 31, 2026. Assembled Oct. 19,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37.0%</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2019 visitors traveled with children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Orange County; Anaheim where the county figure is not published; Anaheim and Garden Grove for Azira location data.</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60,224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Orange County hotel rooms, Sept. 2026</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ECA's market study for OCVIBE needs a county baseline for audience size, origin, timing, visitor mix and lodging capacity.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75.2%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occupancy, Jan.-Aug. 2026</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Published figures from each source, kept as separate series; BI arithmetic shown for averages, revenue per available room and changes.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 Symphony | Tourism Economics (Azira), Anaheim and Garden Grove, Jan. 1, 2023-Aug. 31, 2026 (pulled Oct. 19,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infographics · every figure from this section, with its source and date</a:t>
            </a:r>
            <a:endParaRPr lang="en-US" sz="1200" dirty="0"/>
          </a:p>
        </p:txBody>
      </p:sp>
      <p:sp>
        <p:nvSpPr>
          <p:cNvPr id="4" name="Text 2"/>
          <p:cNvSpPr txBox="1"/>
          <p:nvPr/>
        </p:nvSpPr>
        <p:spPr>
          <a:xfrm>
            <a:off x="548640" y="1417320"/>
            <a:ext cx="345429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Four in ten Orange County visitors stay overnight</a:t>
            </a:r>
            <a:endParaRPr lang="en-US" sz="1500" dirty="0"/>
          </a:p>
        </p:txBody>
      </p:sp>
      <p:sp>
        <p:nvSpPr>
          <p:cNvPr id="5" name="Text 3"/>
          <p:cNvSpPr txBox="1"/>
          <p:nvPr/>
        </p:nvSpPr>
        <p:spPr>
          <a:xfrm>
            <a:off x="548640" y="1746504"/>
            <a:ext cx="345429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Overnight and day visitors, calendar 2025</a:t>
            </a:r>
            <a:endParaRPr lang="en-US" sz="950" dirty="0"/>
          </a:p>
        </p:txBody>
      </p:sp>
      <p:sp>
        <p:nvSpPr>
          <p:cNvPr id="6" name="Shape 4"/>
          <p:cNvSpPr/>
          <p:nvPr/>
        </p:nvSpPr>
        <p:spPr>
          <a:xfrm>
            <a:off x="548640" y="2167128"/>
            <a:ext cx="3454298" cy="731520"/>
          </a:xfrm>
          <a:prstGeom prst="rect">
            <a:avLst/>
          </a:prstGeom>
          <a:solidFill>
            <a:srgbClr val="B4D9E3"/>
          </a:solidFill>
          <a:ln w="12700">
            <a:solidFill>
              <a:srgbClr val="B4D9E3"/>
            </a:solidFill>
            <a:prstDash val="solid"/>
          </a:ln>
        </p:spPr>
      </p:sp>
      <p:sp>
        <p:nvSpPr>
          <p:cNvPr id="7" name="Shape 5"/>
          <p:cNvSpPr/>
          <p:nvPr/>
        </p:nvSpPr>
        <p:spPr>
          <a:xfrm>
            <a:off x="548640" y="2167128"/>
            <a:ext cx="1488803" cy="731520"/>
          </a:xfrm>
          <a:prstGeom prst="rect">
            <a:avLst/>
          </a:prstGeom>
          <a:solidFill>
            <a:srgbClr val="125C60"/>
          </a:solidFill>
          <a:ln w="12700">
            <a:solidFill>
              <a:srgbClr val="125C60"/>
            </a:solidFill>
            <a:prstDash val="solid"/>
          </a:ln>
        </p:spPr>
      </p:sp>
      <p:sp>
        <p:nvSpPr>
          <p:cNvPr id="8" name="Text 6"/>
          <p:cNvSpPr txBox="1"/>
          <p:nvPr/>
        </p:nvSpPr>
        <p:spPr>
          <a:xfrm>
            <a:off x="548640" y="3035808"/>
            <a:ext cx="1727149"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22.1M </a:t>
            </a:r>
            <a:pPr indent="0" marL="0">
              <a:buNone/>
            </a:pPr>
            <a:r>
              <a:rPr lang="en-US" sz="1100" dirty="0">
                <a:solidFill>
                  <a:srgbClr val="231F20"/>
                </a:solidFill>
                <a:latin typeface="Proxima Nova" pitchFamily="34" charset="0"/>
                <a:ea typeface="Proxima Nova" pitchFamily="34" charset="-122"/>
                <a:cs typeface="Proxima Nova" pitchFamily="34" charset="-120"/>
              </a:rPr>
              <a:t>overnight visitors (43.1%)</a:t>
            </a:r>
            <a:endParaRPr lang="en-US" sz="1800" dirty="0"/>
          </a:p>
        </p:txBody>
      </p:sp>
      <p:sp>
        <p:nvSpPr>
          <p:cNvPr id="9" name="Text 7"/>
          <p:cNvSpPr txBox="1"/>
          <p:nvPr/>
        </p:nvSpPr>
        <p:spPr>
          <a:xfrm>
            <a:off x="2275789" y="3035808"/>
            <a:ext cx="1727149"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51.3M </a:t>
            </a:r>
            <a:pPr algn="r" indent="0" marL="0">
              <a:buNone/>
            </a:pPr>
            <a:r>
              <a:rPr lang="en-US" sz="1100" dirty="0">
                <a:solidFill>
                  <a:srgbClr val="231F20"/>
                </a:solidFill>
                <a:latin typeface="Proxima Nova" pitchFamily="34" charset="0"/>
                <a:ea typeface="Proxima Nova" pitchFamily="34" charset="-122"/>
                <a:cs typeface="Proxima Nova" pitchFamily="34" charset="-120"/>
              </a:rPr>
              <a:t>all visitors (29.2M day visitors)</a:t>
            </a:r>
            <a:endParaRPr lang="en-US" sz="1800" dirty="0"/>
          </a:p>
        </p:txBody>
      </p:sp>
      <p:sp>
        <p:nvSpPr>
          <p:cNvPr id="10" name="Text 8"/>
          <p:cNvSpPr txBox="1"/>
          <p:nvPr/>
        </p:nvSpPr>
        <p:spPr>
          <a:xfrm>
            <a:off x="548640" y="3538728"/>
            <a:ext cx="3454298"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22.1M / 51.3M = 43.1%; day visitors 29.2M / 51.3M = 56.9%</a:t>
            </a:r>
            <a:endParaRPr lang="en-US" sz="950" dirty="0"/>
          </a:p>
        </p:txBody>
      </p:sp>
      <p:sp>
        <p:nvSpPr>
          <p:cNvPr id="11" name="Text 9"/>
          <p:cNvSpPr txBox="1"/>
          <p:nvPr/>
        </p:nvSpPr>
        <p:spPr>
          <a:xfrm>
            <a:off x="4368698" y="1417320"/>
            <a:ext cx="345429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Of every 100 Orange County visitors</a:t>
            </a:r>
            <a:endParaRPr lang="en-US" sz="1500" dirty="0"/>
          </a:p>
        </p:txBody>
      </p:sp>
      <p:sp>
        <p:nvSpPr>
          <p:cNvPr id="12" name="Text 10"/>
          <p:cNvSpPr txBox="1"/>
          <p:nvPr/>
        </p:nvSpPr>
        <p:spPr>
          <a:xfrm>
            <a:off x="4368698" y="1746504"/>
            <a:ext cx="345429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square is one visitor in 100 · CIC Research, calendar 2019 (latest county profile)</a:t>
            </a:r>
            <a:endParaRPr lang="en-US" sz="950" dirty="0"/>
          </a:p>
        </p:txBody>
      </p:sp>
      <p:sp>
        <p:nvSpPr>
          <p:cNvPr id="13" name="Shape 11"/>
          <p:cNvSpPr/>
          <p:nvPr/>
        </p:nvSpPr>
        <p:spPr>
          <a:xfrm>
            <a:off x="4368698" y="2075688"/>
            <a:ext cx="60279" cy="60279"/>
          </a:xfrm>
          <a:prstGeom prst="rect">
            <a:avLst/>
          </a:prstGeom>
          <a:solidFill>
            <a:srgbClr val="43A3A3"/>
          </a:solidFill>
          <a:ln w="12700">
            <a:solidFill>
              <a:srgbClr val="43A3A3"/>
            </a:solidFill>
            <a:prstDash val="solid"/>
          </a:ln>
        </p:spPr>
      </p:sp>
      <p:sp>
        <p:nvSpPr>
          <p:cNvPr id="14" name="Shape 12"/>
          <p:cNvSpPr/>
          <p:nvPr/>
        </p:nvSpPr>
        <p:spPr>
          <a:xfrm>
            <a:off x="4437417" y="2075688"/>
            <a:ext cx="60279" cy="60279"/>
          </a:xfrm>
          <a:prstGeom prst="rect">
            <a:avLst/>
          </a:prstGeom>
          <a:solidFill>
            <a:srgbClr val="43A3A3"/>
          </a:solidFill>
          <a:ln w="12700">
            <a:solidFill>
              <a:srgbClr val="43A3A3"/>
            </a:solidFill>
            <a:prstDash val="solid"/>
          </a:ln>
        </p:spPr>
      </p:sp>
      <p:sp>
        <p:nvSpPr>
          <p:cNvPr id="15" name="Shape 13"/>
          <p:cNvSpPr/>
          <p:nvPr/>
        </p:nvSpPr>
        <p:spPr>
          <a:xfrm>
            <a:off x="4506135" y="2075688"/>
            <a:ext cx="60279" cy="60279"/>
          </a:xfrm>
          <a:prstGeom prst="rect">
            <a:avLst/>
          </a:prstGeom>
          <a:solidFill>
            <a:srgbClr val="43A3A3"/>
          </a:solidFill>
          <a:ln w="12700">
            <a:solidFill>
              <a:srgbClr val="43A3A3"/>
            </a:solidFill>
            <a:prstDash val="solid"/>
          </a:ln>
        </p:spPr>
      </p:sp>
      <p:sp>
        <p:nvSpPr>
          <p:cNvPr id="16" name="Shape 14"/>
          <p:cNvSpPr/>
          <p:nvPr/>
        </p:nvSpPr>
        <p:spPr>
          <a:xfrm>
            <a:off x="4574854" y="2075688"/>
            <a:ext cx="60279" cy="60279"/>
          </a:xfrm>
          <a:prstGeom prst="rect">
            <a:avLst/>
          </a:prstGeom>
          <a:solidFill>
            <a:srgbClr val="43A3A3"/>
          </a:solidFill>
          <a:ln w="12700">
            <a:solidFill>
              <a:srgbClr val="43A3A3"/>
            </a:solidFill>
            <a:prstDash val="solid"/>
          </a:ln>
        </p:spPr>
      </p:sp>
      <p:sp>
        <p:nvSpPr>
          <p:cNvPr id="17" name="Shape 15"/>
          <p:cNvSpPr/>
          <p:nvPr/>
        </p:nvSpPr>
        <p:spPr>
          <a:xfrm>
            <a:off x="4643572" y="2075688"/>
            <a:ext cx="60279" cy="60279"/>
          </a:xfrm>
          <a:prstGeom prst="rect">
            <a:avLst/>
          </a:prstGeom>
          <a:solidFill>
            <a:srgbClr val="43A3A3"/>
          </a:solidFill>
          <a:ln w="12700">
            <a:solidFill>
              <a:srgbClr val="43A3A3"/>
            </a:solidFill>
            <a:prstDash val="solid"/>
          </a:ln>
        </p:spPr>
      </p:sp>
      <p:sp>
        <p:nvSpPr>
          <p:cNvPr id="18" name="Shape 16"/>
          <p:cNvSpPr/>
          <p:nvPr/>
        </p:nvSpPr>
        <p:spPr>
          <a:xfrm>
            <a:off x="4712290" y="2075688"/>
            <a:ext cx="60279" cy="60279"/>
          </a:xfrm>
          <a:prstGeom prst="rect">
            <a:avLst/>
          </a:prstGeom>
          <a:solidFill>
            <a:srgbClr val="43A3A3"/>
          </a:solidFill>
          <a:ln w="12700">
            <a:solidFill>
              <a:srgbClr val="43A3A3"/>
            </a:solidFill>
            <a:prstDash val="solid"/>
          </a:ln>
        </p:spPr>
      </p:sp>
      <p:sp>
        <p:nvSpPr>
          <p:cNvPr id="19" name="Shape 17"/>
          <p:cNvSpPr/>
          <p:nvPr/>
        </p:nvSpPr>
        <p:spPr>
          <a:xfrm>
            <a:off x="4781009" y="2075688"/>
            <a:ext cx="60279" cy="60279"/>
          </a:xfrm>
          <a:prstGeom prst="rect">
            <a:avLst/>
          </a:prstGeom>
          <a:solidFill>
            <a:srgbClr val="43A3A3"/>
          </a:solidFill>
          <a:ln w="12700">
            <a:solidFill>
              <a:srgbClr val="43A3A3"/>
            </a:solidFill>
            <a:prstDash val="solid"/>
          </a:ln>
        </p:spPr>
      </p:sp>
      <p:sp>
        <p:nvSpPr>
          <p:cNvPr id="20" name="Shape 18"/>
          <p:cNvSpPr/>
          <p:nvPr/>
        </p:nvSpPr>
        <p:spPr>
          <a:xfrm>
            <a:off x="4849727" y="2075688"/>
            <a:ext cx="60279" cy="60279"/>
          </a:xfrm>
          <a:prstGeom prst="rect">
            <a:avLst/>
          </a:prstGeom>
          <a:solidFill>
            <a:srgbClr val="43A3A3"/>
          </a:solidFill>
          <a:ln w="12700">
            <a:solidFill>
              <a:srgbClr val="43A3A3"/>
            </a:solidFill>
            <a:prstDash val="solid"/>
          </a:ln>
        </p:spPr>
      </p:sp>
      <p:sp>
        <p:nvSpPr>
          <p:cNvPr id="21" name="Shape 19"/>
          <p:cNvSpPr/>
          <p:nvPr/>
        </p:nvSpPr>
        <p:spPr>
          <a:xfrm>
            <a:off x="4918445" y="2075688"/>
            <a:ext cx="60279" cy="60279"/>
          </a:xfrm>
          <a:prstGeom prst="rect">
            <a:avLst/>
          </a:prstGeom>
          <a:solidFill>
            <a:srgbClr val="43A3A3"/>
          </a:solidFill>
          <a:ln w="12700">
            <a:solidFill>
              <a:srgbClr val="43A3A3"/>
            </a:solidFill>
            <a:prstDash val="solid"/>
          </a:ln>
        </p:spPr>
      </p:sp>
      <p:sp>
        <p:nvSpPr>
          <p:cNvPr id="22" name="Shape 20"/>
          <p:cNvSpPr/>
          <p:nvPr/>
        </p:nvSpPr>
        <p:spPr>
          <a:xfrm>
            <a:off x="4987164" y="2075688"/>
            <a:ext cx="60279" cy="60279"/>
          </a:xfrm>
          <a:prstGeom prst="rect">
            <a:avLst/>
          </a:prstGeom>
          <a:solidFill>
            <a:srgbClr val="43A3A3"/>
          </a:solidFill>
          <a:ln w="12700">
            <a:solidFill>
              <a:srgbClr val="43A3A3"/>
            </a:solidFill>
            <a:prstDash val="solid"/>
          </a:ln>
        </p:spPr>
      </p:sp>
      <p:sp>
        <p:nvSpPr>
          <p:cNvPr id="23" name="Shape 21"/>
          <p:cNvSpPr/>
          <p:nvPr/>
        </p:nvSpPr>
        <p:spPr>
          <a:xfrm>
            <a:off x="4368698" y="2144406"/>
            <a:ext cx="60279" cy="60279"/>
          </a:xfrm>
          <a:prstGeom prst="rect">
            <a:avLst/>
          </a:prstGeom>
          <a:solidFill>
            <a:srgbClr val="43A3A3"/>
          </a:solidFill>
          <a:ln w="12700">
            <a:solidFill>
              <a:srgbClr val="43A3A3"/>
            </a:solidFill>
            <a:prstDash val="solid"/>
          </a:ln>
        </p:spPr>
      </p:sp>
      <p:sp>
        <p:nvSpPr>
          <p:cNvPr id="24" name="Shape 22"/>
          <p:cNvSpPr/>
          <p:nvPr/>
        </p:nvSpPr>
        <p:spPr>
          <a:xfrm>
            <a:off x="4437417" y="2144406"/>
            <a:ext cx="60279" cy="60279"/>
          </a:xfrm>
          <a:prstGeom prst="rect">
            <a:avLst/>
          </a:prstGeom>
          <a:solidFill>
            <a:srgbClr val="43A3A3"/>
          </a:solidFill>
          <a:ln w="12700">
            <a:solidFill>
              <a:srgbClr val="43A3A3"/>
            </a:solidFill>
            <a:prstDash val="solid"/>
          </a:ln>
        </p:spPr>
      </p:sp>
      <p:sp>
        <p:nvSpPr>
          <p:cNvPr id="25" name="Shape 23"/>
          <p:cNvSpPr/>
          <p:nvPr/>
        </p:nvSpPr>
        <p:spPr>
          <a:xfrm>
            <a:off x="4506135" y="2144406"/>
            <a:ext cx="60279" cy="60279"/>
          </a:xfrm>
          <a:prstGeom prst="rect">
            <a:avLst/>
          </a:prstGeom>
          <a:solidFill>
            <a:srgbClr val="43A3A3"/>
          </a:solidFill>
          <a:ln w="12700">
            <a:solidFill>
              <a:srgbClr val="43A3A3"/>
            </a:solidFill>
            <a:prstDash val="solid"/>
          </a:ln>
        </p:spPr>
      </p:sp>
      <p:sp>
        <p:nvSpPr>
          <p:cNvPr id="26" name="Shape 24"/>
          <p:cNvSpPr/>
          <p:nvPr/>
        </p:nvSpPr>
        <p:spPr>
          <a:xfrm>
            <a:off x="4574854" y="2144406"/>
            <a:ext cx="60279" cy="60279"/>
          </a:xfrm>
          <a:prstGeom prst="rect">
            <a:avLst/>
          </a:prstGeom>
          <a:solidFill>
            <a:srgbClr val="43A3A3"/>
          </a:solidFill>
          <a:ln w="12700">
            <a:solidFill>
              <a:srgbClr val="43A3A3"/>
            </a:solidFill>
            <a:prstDash val="solid"/>
          </a:ln>
        </p:spPr>
      </p:sp>
      <p:sp>
        <p:nvSpPr>
          <p:cNvPr id="27" name="Shape 25"/>
          <p:cNvSpPr/>
          <p:nvPr/>
        </p:nvSpPr>
        <p:spPr>
          <a:xfrm>
            <a:off x="4643572" y="2144406"/>
            <a:ext cx="60279" cy="60279"/>
          </a:xfrm>
          <a:prstGeom prst="rect">
            <a:avLst/>
          </a:prstGeom>
          <a:solidFill>
            <a:srgbClr val="43A3A3"/>
          </a:solidFill>
          <a:ln w="12700">
            <a:solidFill>
              <a:srgbClr val="43A3A3"/>
            </a:solidFill>
            <a:prstDash val="solid"/>
          </a:ln>
        </p:spPr>
      </p:sp>
      <p:sp>
        <p:nvSpPr>
          <p:cNvPr id="28" name="Shape 26"/>
          <p:cNvSpPr/>
          <p:nvPr/>
        </p:nvSpPr>
        <p:spPr>
          <a:xfrm>
            <a:off x="4712290" y="2144406"/>
            <a:ext cx="60279" cy="60279"/>
          </a:xfrm>
          <a:prstGeom prst="rect">
            <a:avLst/>
          </a:prstGeom>
          <a:solidFill>
            <a:srgbClr val="43A3A3"/>
          </a:solidFill>
          <a:ln w="12700">
            <a:solidFill>
              <a:srgbClr val="43A3A3"/>
            </a:solidFill>
            <a:prstDash val="solid"/>
          </a:ln>
        </p:spPr>
      </p:sp>
      <p:sp>
        <p:nvSpPr>
          <p:cNvPr id="29" name="Shape 27"/>
          <p:cNvSpPr/>
          <p:nvPr/>
        </p:nvSpPr>
        <p:spPr>
          <a:xfrm>
            <a:off x="4781009" y="2144406"/>
            <a:ext cx="60279" cy="60279"/>
          </a:xfrm>
          <a:prstGeom prst="rect">
            <a:avLst/>
          </a:prstGeom>
          <a:solidFill>
            <a:srgbClr val="43A3A3"/>
          </a:solidFill>
          <a:ln w="12700">
            <a:solidFill>
              <a:srgbClr val="43A3A3"/>
            </a:solidFill>
            <a:prstDash val="solid"/>
          </a:ln>
        </p:spPr>
      </p:sp>
      <p:sp>
        <p:nvSpPr>
          <p:cNvPr id="30" name="Shape 28"/>
          <p:cNvSpPr/>
          <p:nvPr/>
        </p:nvSpPr>
        <p:spPr>
          <a:xfrm>
            <a:off x="4849727" y="2144406"/>
            <a:ext cx="60279" cy="60279"/>
          </a:xfrm>
          <a:prstGeom prst="rect">
            <a:avLst/>
          </a:prstGeom>
          <a:solidFill>
            <a:srgbClr val="43A3A3"/>
          </a:solidFill>
          <a:ln w="12700">
            <a:solidFill>
              <a:srgbClr val="43A3A3"/>
            </a:solidFill>
            <a:prstDash val="solid"/>
          </a:ln>
        </p:spPr>
      </p:sp>
      <p:sp>
        <p:nvSpPr>
          <p:cNvPr id="31" name="Shape 29"/>
          <p:cNvSpPr/>
          <p:nvPr/>
        </p:nvSpPr>
        <p:spPr>
          <a:xfrm>
            <a:off x="4918445" y="2144406"/>
            <a:ext cx="60279" cy="60279"/>
          </a:xfrm>
          <a:prstGeom prst="rect">
            <a:avLst/>
          </a:prstGeom>
          <a:solidFill>
            <a:srgbClr val="43A3A3"/>
          </a:solidFill>
          <a:ln w="12700">
            <a:solidFill>
              <a:srgbClr val="43A3A3"/>
            </a:solidFill>
            <a:prstDash val="solid"/>
          </a:ln>
        </p:spPr>
      </p:sp>
      <p:sp>
        <p:nvSpPr>
          <p:cNvPr id="32" name="Shape 30"/>
          <p:cNvSpPr/>
          <p:nvPr/>
        </p:nvSpPr>
        <p:spPr>
          <a:xfrm>
            <a:off x="4987164" y="2144406"/>
            <a:ext cx="60279" cy="60279"/>
          </a:xfrm>
          <a:prstGeom prst="rect">
            <a:avLst/>
          </a:prstGeom>
          <a:solidFill>
            <a:srgbClr val="43A3A3"/>
          </a:solidFill>
          <a:ln w="12700">
            <a:solidFill>
              <a:srgbClr val="43A3A3"/>
            </a:solidFill>
            <a:prstDash val="solid"/>
          </a:ln>
        </p:spPr>
      </p:sp>
      <p:sp>
        <p:nvSpPr>
          <p:cNvPr id="33" name="Shape 31"/>
          <p:cNvSpPr/>
          <p:nvPr/>
        </p:nvSpPr>
        <p:spPr>
          <a:xfrm>
            <a:off x="4368698" y="2213125"/>
            <a:ext cx="60279" cy="60279"/>
          </a:xfrm>
          <a:prstGeom prst="rect">
            <a:avLst/>
          </a:prstGeom>
          <a:solidFill>
            <a:srgbClr val="43A3A3"/>
          </a:solidFill>
          <a:ln w="12700">
            <a:solidFill>
              <a:srgbClr val="43A3A3"/>
            </a:solidFill>
            <a:prstDash val="solid"/>
          </a:ln>
        </p:spPr>
      </p:sp>
      <p:sp>
        <p:nvSpPr>
          <p:cNvPr id="34" name="Shape 32"/>
          <p:cNvSpPr/>
          <p:nvPr/>
        </p:nvSpPr>
        <p:spPr>
          <a:xfrm>
            <a:off x="4437417" y="2213125"/>
            <a:ext cx="60279" cy="60279"/>
          </a:xfrm>
          <a:prstGeom prst="rect">
            <a:avLst/>
          </a:prstGeom>
          <a:solidFill>
            <a:srgbClr val="43A3A3"/>
          </a:solidFill>
          <a:ln w="12700">
            <a:solidFill>
              <a:srgbClr val="43A3A3"/>
            </a:solidFill>
            <a:prstDash val="solid"/>
          </a:ln>
        </p:spPr>
      </p:sp>
      <p:sp>
        <p:nvSpPr>
          <p:cNvPr id="35" name="Shape 33"/>
          <p:cNvSpPr/>
          <p:nvPr/>
        </p:nvSpPr>
        <p:spPr>
          <a:xfrm>
            <a:off x="4506135" y="2213125"/>
            <a:ext cx="60279" cy="60279"/>
          </a:xfrm>
          <a:prstGeom prst="rect">
            <a:avLst/>
          </a:prstGeom>
          <a:solidFill>
            <a:srgbClr val="43A3A3"/>
          </a:solidFill>
          <a:ln w="12700">
            <a:solidFill>
              <a:srgbClr val="43A3A3"/>
            </a:solidFill>
            <a:prstDash val="solid"/>
          </a:ln>
        </p:spPr>
      </p:sp>
      <p:sp>
        <p:nvSpPr>
          <p:cNvPr id="36" name="Shape 34"/>
          <p:cNvSpPr/>
          <p:nvPr/>
        </p:nvSpPr>
        <p:spPr>
          <a:xfrm>
            <a:off x="4574854" y="2213125"/>
            <a:ext cx="60279" cy="60279"/>
          </a:xfrm>
          <a:prstGeom prst="rect">
            <a:avLst/>
          </a:prstGeom>
          <a:solidFill>
            <a:srgbClr val="43A3A3"/>
          </a:solidFill>
          <a:ln w="12700">
            <a:solidFill>
              <a:srgbClr val="43A3A3"/>
            </a:solidFill>
            <a:prstDash val="solid"/>
          </a:ln>
        </p:spPr>
      </p:sp>
      <p:sp>
        <p:nvSpPr>
          <p:cNvPr id="37" name="Shape 35"/>
          <p:cNvSpPr/>
          <p:nvPr/>
        </p:nvSpPr>
        <p:spPr>
          <a:xfrm>
            <a:off x="4643572" y="2213125"/>
            <a:ext cx="60279" cy="60279"/>
          </a:xfrm>
          <a:prstGeom prst="rect">
            <a:avLst/>
          </a:prstGeom>
          <a:solidFill>
            <a:srgbClr val="43A3A3"/>
          </a:solidFill>
          <a:ln w="12700">
            <a:solidFill>
              <a:srgbClr val="43A3A3"/>
            </a:solidFill>
            <a:prstDash val="solid"/>
          </a:ln>
        </p:spPr>
      </p:sp>
      <p:sp>
        <p:nvSpPr>
          <p:cNvPr id="38" name="Shape 36"/>
          <p:cNvSpPr/>
          <p:nvPr/>
        </p:nvSpPr>
        <p:spPr>
          <a:xfrm>
            <a:off x="4712290" y="2213125"/>
            <a:ext cx="60279" cy="60279"/>
          </a:xfrm>
          <a:prstGeom prst="rect">
            <a:avLst/>
          </a:prstGeom>
          <a:solidFill>
            <a:srgbClr val="43A3A3"/>
          </a:solidFill>
          <a:ln w="12700">
            <a:solidFill>
              <a:srgbClr val="43A3A3"/>
            </a:solidFill>
            <a:prstDash val="solid"/>
          </a:ln>
        </p:spPr>
      </p:sp>
      <p:sp>
        <p:nvSpPr>
          <p:cNvPr id="39" name="Shape 37"/>
          <p:cNvSpPr/>
          <p:nvPr/>
        </p:nvSpPr>
        <p:spPr>
          <a:xfrm>
            <a:off x="4781009" y="2213125"/>
            <a:ext cx="60279" cy="60279"/>
          </a:xfrm>
          <a:prstGeom prst="rect">
            <a:avLst/>
          </a:prstGeom>
          <a:solidFill>
            <a:srgbClr val="43A3A3"/>
          </a:solidFill>
          <a:ln w="12700">
            <a:solidFill>
              <a:srgbClr val="43A3A3"/>
            </a:solidFill>
            <a:prstDash val="solid"/>
          </a:ln>
        </p:spPr>
      </p:sp>
      <p:sp>
        <p:nvSpPr>
          <p:cNvPr id="40" name="Shape 38"/>
          <p:cNvSpPr/>
          <p:nvPr/>
        </p:nvSpPr>
        <p:spPr>
          <a:xfrm>
            <a:off x="4849727" y="2213125"/>
            <a:ext cx="60279" cy="60279"/>
          </a:xfrm>
          <a:prstGeom prst="rect">
            <a:avLst/>
          </a:prstGeom>
          <a:solidFill>
            <a:srgbClr val="43A3A3"/>
          </a:solidFill>
          <a:ln w="12700">
            <a:solidFill>
              <a:srgbClr val="43A3A3"/>
            </a:solidFill>
            <a:prstDash val="solid"/>
          </a:ln>
        </p:spPr>
      </p:sp>
      <p:sp>
        <p:nvSpPr>
          <p:cNvPr id="41" name="Shape 39"/>
          <p:cNvSpPr/>
          <p:nvPr/>
        </p:nvSpPr>
        <p:spPr>
          <a:xfrm>
            <a:off x="4918445" y="2213125"/>
            <a:ext cx="60279" cy="60279"/>
          </a:xfrm>
          <a:prstGeom prst="rect">
            <a:avLst/>
          </a:prstGeom>
          <a:solidFill>
            <a:srgbClr val="43A3A3"/>
          </a:solidFill>
          <a:ln w="12700">
            <a:solidFill>
              <a:srgbClr val="43A3A3"/>
            </a:solidFill>
            <a:prstDash val="solid"/>
          </a:ln>
        </p:spPr>
      </p:sp>
      <p:sp>
        <p:nvSpPr>
          <p:cNvPr id="42" name="Shape 40"/>
          <p:cNvSpPr/>
          <p:nvPr/>
        </p:nvSpPr>
        <p:spPr>
          <a:xfrm>
            <a:off x="4987164" y="2213125"/>
            <a:ext cx="60279" cy="60279"/>
          </a:xfrm>
          <a:prstGeom prst="rect">
            <a:avLst/>
          </a:prstGeom>
          <a:solidFill>
            <a:srgbClr val="43A3A3"/>
          </a:solidFill>
          <a:ln w="12700">
            <a:solidFill>
              <a:srgbClr val="43A3A3"/>
            </a:solidFill>
            <a:prstDash val="solid"/>
          </a:ln>
        </p:spPr>
      </p:sp>
      <p:sp>
        <p:nvSpPr>
          <p:cNvPr id="43" name="Shape 41"/>
          <p:cNvSpPr/>
          <p:nvPr/>
        </p:nvSpPr>
        <p:spPr>
          <a:xfrm>
            <a:off x="4368698" y="2281843"/>
            <a:ext cx="60279" cy="60279"/>
          </a:xfrm>
          <a:prstGeom prst="rect">
            <a:avLst/>
          </a:prstGeom>
          <a:solidFill>
            <a:srgbClr val="43A3A3"/>
          </a:solidFill>
          <a:ln w="12700">
            <a:solidFill>
              <a:srgbClr val="43A3A3"/>
            </a:solidFill>
            <a:prstDash val="solid"/>
          </a:ln>
        </p:spPr>
      </p:sp>
      <p:sp>
        <p:nvSpPr>
          <p:cNvPr id="44" name="Shape 42"/>
          <p:cNvSpPr/>
          <p:nvPr/>
        </p:nvSpPr>
        <p:spPr>
          <a:xfrm>
            <a:off x="4437417" y="2281843"/>
            <a:ext cx="60279" cy="60279"/>
          </a:xfrm>
          <a:prstGeom prst="rect">
            <a:avLst/>
          </a:prstGeom>
          <a:solidFill>
            <a:srgbClr val="43A3A3"/>
          </a:solidFill>
          <a:ln w="12700">
            <a:solidFill>
              <a:srgbClr val="43A3A3"/>
            </a:solidFill>
            <a:prstDash val="solid"/>
          </a:ln>
        </p:spPr>
      </p:sp>
      <p:sp>
        <p:nvSpPr>
          <p:cNvPr id="45" name="Shape 43"/>
          <p:cNvSpPr/>
          <p:nvPr/>
        </p:nvSpPr>
        <p:spPr>
          <a:xfrm>
            <a:off x="4506135" y="2281843"/>
            <a:ext cx="60279" cy="60279"/>
          </a:xfrm>
          <a:prstGeom prst="rect">
            <a:avLst/>
          </a:prstGeom>
          <a:solidFill>
            <a:srgbClr val="43A3A3"/>
          </a:solidFill>
          <a:ln w="12700">
            <a:solidFill>
              <a:srgbClr val="43A3A3"/>
            </a:solidFill>
            <a:prstDash val="solid"/>
          </a:ln>
        </p:spPr>
      </p:sp>
      <p:sp>
        <p:nvSpPr>
          <p:cNvPr id="46" name="Shape 44"/>
          <p:cNvSpPr/>
          <p:nvPr/>
        </p:nvSpPr>
        <p:spPr>
          <a:xfrm>
            <a:off x="4574854" y="2281843"/>
            <a:ext cx="60279" cy="60279"/>
          </a:xfrm>
          <a:prstGeom prst="rect">
            <a:avLst/>
          </a:prstGeom>
          <a:solidFill>
            <a:srgbClr val="43A3A3"/>
          </a:solidFill>
          <a:ln w="12700">
            <a:solidFill>
              <a:srgbClr val="43A3A3"/>
            </a:solidFill>
            <a:prstDash val="solid"/>
          </a:ln>
        </p:spPr>
      </p:sp>
      <p:sp>
        <p:nvSpPr>
          <p:cNvPr id="47" name="Shape 45"/>
          <p:cNvSpPr/>
          <p:nvPr/>
        </p:nvSpPr>
        <p:spPr>
          <a:xfrm>
            <a:off x="4643572" y="2281843"/>
            <a:ext cx="60279" cy="60279"/>
          </a:xfrm>
          <a:prstGeom prst="rect">
            <a:avLst/>
          </a:prstGeom>
          <a:solidFill>
            <a:srgbClr val="43A3A3"/>
          </a:solidFill>
          <a:ln w="12700">
            <a:solidFill>
              <a:srgbClr val="43A3A3"/>
            </a:solidFill>
            <a:prstDash val="solid"/>
          </a:ln>
        </p:spPr>
      </p:sp>
      <p:sp>
        <p:nvSpPr>
          <p:cNvPr id="48" name="Shape 46"/>
          <p:cNvSpPr/>
          <p:nvPr/>
        </p:nvSpPr>
        <p:spPr>
          <a:xfrm>
            <a:off x="4712290" y="2281843"/>
            <a:ext cx="60279" cy="60279"/>
          </a:xfrm>
          <a:prstGeom prst="rect">
            <a:avLst/>
          </a:prstGeom>
          <a:solidFill>
            <a:srgbClr val="43A3A3"/>
          </a:solidFill>
          <a:ln w="12700">
            <a:solidFill>
              <a:srgbClr val="43A3A3"/>
            </a:solidFill>
            <a:prstDash val="solid"/>
          </a:ln>
        </p:spPr>
      </p:sp>
      <p:sp>
        <p:nvSpPr>
          <p:cNvPr id="49" name="Shape 47"/>
          <p:cNvSpPr/>
          <p:nvPr/>
        </p:nvSpPr>
        <p:spPr>
          <a:xfrm>
            <a:off x="4781009" y="2281843"/>
            <a:ext cx="60279" cy="60279"/>
          </a:xfrm>
          <a:prstGeom prst="rect">
            <a:avLst/>
          </a:prstGeom>
          <a:solidFill>
            <a:srgbClr val="43A3A3"/>
          </a:solidFill>
          <a:ln w="12700">
            <a:solidFill>
              <a:srgbClr val="43A3A3"/>
            </a:solidFill>
            <a:prstDash val="solid"/>
          </a:ln>
        </p:spPr>
      </p:sp>
      <p:sp>
        <p:nvSpPr>
          <p:cNvPr id="50" name="Shape 48"/>
          <p:cNvSpPr/>
          <p:nvPr/>
        </p:nvSpPr>
        <p:spPr>
          <a:xfrm>
            <a:off x="4849727" y="2281843"/>
            <a:ext cx="60279" cy="60279"/>
          </a:xfrm>
          <a:prstGeom prst="rect">
            <a:avLst/>
          </a:prstGeom>
          <a:solidFill>
            <a:srgbClr val="43A3A3"/>
          </a:solidFill>
          <a:ln w="12700">
            <a:solidFill>
              <a:srgbClr val="43A3A3"/>
            </a:solidFill>
            <a:prstDash val="solid"/>
          </a:ln>
        </p:spPr>
      </p:sp>
      <p:sp>
        <p:nvSpPr>
          <p:cNvPr id="51" name="Shape 49"/>
          <p:cNvSpPr/>
          <p:nvPr/>
        </p:nvSpPr>
        <p:spPr>
          <a:xfrm>
            <a:off x="4918445" y="2281843"/>
            <a:ext cx="60279" cy="60279"/>
          </a:xfrm>
          <a:prstGeom prst="rect">
            <a:avLst/>
          </a:prstGeom>
          <a:solidFill>
            <a:srgbClr val="43A3A3"/>
          </a:solidFill>
          <a:ln w="12700">
            <a:solidFill>
              <a:srgbClr val="43A3A3"/>
            </a:solidFill>
            <a:prstDash val="solid"/>
          </a:ln>
        </p:spPr>
      </p:sp>
      <p:sp>
        <p:nvSpPr>
          <p:cNvPr id="52" name="Shape 50"/>
          <p:cNvSpPr/>
          <p:nvPr/>
        </p:nvSpPr>
        <p:spPr>
          <a:xfrm>
            <a:off x="4987164" y="2281843"/>
            <a:ext cx="60279" cy="60279"/>
          </a:xfrm>
          <a:prstGeom prst="rect">
            <a:avLst/>
          </a:prstGeom>
          <a:solidFill>
            <a:srgbClr val="43A3A3"/>
          </a:solidFill>
          <a:ln w="12700">
            <a:solidFill>
              <a:srgbClr val="43A3A3"/>
            </a:solidFill>
            <a:prstDash val="solid"/>
          </a:ln>
        </p:spPr>
      </p:sp>
      <p:sp>
        <p:nvSpPr>
          <p:cNvPr id="53" name="Shape 51"/>
          <p:cNvSpPr/>
          <p:nvPr/>
        </p:nvSpPr>
        <p:spPr>
          <a:xfrm>
            <a:off x="4368698" y="2350562"/>
            <a:ext cx="60279" cy="60279"/>
          </a:xfrm>
          <a:prstGeom prst="rect">
            <a:avLst/>
          </a:prstGeom>
          <a:solidFill>
            <a:srgbClr val="43A3A3"/>
          </a:solidFill>
          <a:ln w="12700">
            <a:solidFill>
              <a:srgbClr val="43A3A3"/>
            </a:solidFill>
            <a:prstDash val="solid"/>
          </a:ln>
        </p:spPr>
      </p:sp>
      <p:sp>
        <p:nvSpPr>
          <p:cNvPr id="54" name="Shape 52"/>
          <p:cNvSpPr/>
          <p:nvPr/>
        </p:nvSpPr>
        <p:spPr>
          <a:xfrm>
            <a:off x="4437417" y="2350562"/>
            <a:ext cx="60279" cy="60279"/>
          </a:xfrm>
          <a:prstGeom prst="rect">
            <a:avLst/>
          </a:prstGeom>
          <a:solidFill>
            <a:srgbClr val="43A3A3"/>
          </a:solidFill>
          <a:ln w="12700">
            <a:solidFill>
              <a:srgbClr val="43A3A3"/>
            </a:solidFill>
            <a:prstDash val="solid"/>
          </a:ln>
        </p:spPr>
      </p:sp>
      <p:sp>
        <p:nvSpPr>
          <p:cNvPr id="55" name="Shape 53"/>
          <p:cNvSpPr/>
          <p:nvPr/>
        </p:nvSpPr>
        <p:spPr>
          <a:xfrm>
            <a:off x="4506135" y="2350562"/>
            <a:ext cx="60279" cy="60279"/>
          </a:xfrm>
          <a:prstGeom prst="rect">
            <a:avLst/>
          </a:prstGeom>
          <a:solidFill>
            <a:srgbClr val="43A3A3"/>
          </a:solidFill>
          <a:ln w="12700">
            <a:solidFill>
              <a:srgbClr val="43A3A3"/>
            </a:solidFill>
            <a:prstDash val="solid"/>
          </a:ln>
        </p:spPr>
      </p:sp>
      <p:sp>
        <p:nvSpPr>
          <p:cNvPr id="56" name="Shape 54"/>
          <p:cNvSpPr/>
          <p:nvPr/>
        </p:nvSpPr>
        <p:spPr>
          <a:xfrm>
            <a:off x="4574854" y="2350562"/>
            <a:ext cx="60279" cy="60279"/>
          </a:xfrm>
          <a:prstGeom prst="rect">
            <a:avLst/>
          </a:prstGeom>
          <a:solidFill>
            <a:srgbClr val="43A3A3"/>
          </a:solidFill>
          <a:ln w="12700">
            <a:solidFill>
              <a:srgbClr val="43A3A3"/>
            </a:solidFill>
            <a:prstDash val="solid"/>
          </a:ln>
        </p:spPr>
      </p:sp>
      <p:sp>
        <p:nvSpPr>
          <p:cNvPr id="57" name="Shape 55"/>
          <p:cNvSpPr/>
          <p:nvPr/>
        </p:nvSpPr>
        <p:spPr>
          <a:xfrm>
            <a:off x="4643572" y="2350562"/>
            <a:ext cx="60279" cy="60279"/>
          </a:xfrm>
          <a:prstGeom prst="rect">
            <a:avLst/>
          </a:prstGeom>
          <a:solidFill>
            <a:srgbClr val="43A3A3"/>
          </a:solidFill>
          <a:ln w="12700">
            <a:solidFill>
              <a:srgbClr val="43A3A3"/>
            </a:solidFill>
            <a:prstDash val="solid"/>
          </a:ln>
        </p:spPr>
      </p:sp>
      <p:sp>
        <p:nvSpPr>
          <p:cNvPr id="58" name="Shape 56"/>
          <p:cNvSpPr/>
          <p:nvPr/>
        </p:nvSpPr>
        <p:spPr>
          <a:xfrm>
            <a:off x="4712290" y="2350562"/>
            <a:ext cx="60279" cy="60279"/>
          </a:xfrm>
          <a:prstGeom prst="rect">
            <a:avLst/>
          </a:prstGeom>
          <a:solidFill>
            <a:srgbClr val="43A3A3"/>
          </a:solidFill>
          <a:ln w="12700">
            <a:solidFill>
              <a:srgbClr val="43A3A3"/>
            </a:solidFill>
            <a:prstDash val="solid"/>
          </a:ln>
        </p:spPr>
      </p:sp>
      <p:sp>
        <p:nvSpPr>
          <p:cNvPr id="59" name="Shape 57"/>
          <p:cNvSpPr/>
          <p:nvPr/>
        </p:nvSpPr>
        <p:spPr>
          <a:xfrm>
            <a:off x="4781009" y="2350562"/>
            <a:ext cx="60279" cy="60279"/>
          </a:xfrm>
          <a:prstGeom prst="rect">
            <a:avLst/>
          </a:prstGeom>
          <a:solidFill>
            <a:srgbClr val="43A3A3"/>
          </a:solidFill>
          <a:ln w="12700">
            <a:solidFill>
              <a:srgbClr val="43A3A3"/>
            </a:solidFill>
            <a:prstDash val="solid"/>
          </a:ln>
        </p:spPr>
      </p:sp>
      <p:sp>
        <p:nvSpPr>
          <p:cNvPr id="60" name="Shape 58"/>
          <p:cNvSpPr/>
          <p:nvPr/>
        </p:nvSpPr>
        <p:spPr>
          <a:xfrm>
            <a:off x="4849727" y="2350562"/>
            <a:ext cx="60279" cy="60279"/>
          </a:xfrm>
          <a:prstGeom prst="rect">
            <a:avLst/>
          </a:prstGeom>
          <a:solidFill>
            <a:srgbClr val="43A3A3"/>
          </a:solidFill>
          <a:ln w="12700">
            <a:solidFill>
              <a:srgbClr val="43A3A3"/>
            </a:solidFill>
            <a:prstDash val="solid"/>
          </a:ln>
        </p:spPr>
      </p:sp>
      <p:sp>
        <p:nvSpPr>
          <p:cNvPr id="61" name="Shape 59"/>
          <p:cNvSpPr/>
          <p:nvPr/>
        </p:nvSpPr>
        <p:spPr>
          <a:xfrm>
            <a:off x="4918445" y="2350562"/>
            <a:ext cx="60279" cy="60279"/>
          </a:xfrm>
          <a:prstGeom prst="rect">
            <a:avLst/>
          </a:prstGeom>
          <a:solidFill>
            <a:srgbClr val="43A3A3"/>
          </a:solidFill>
          <a:ln w="12700">
            <a:solidFill>
              <a:srgbClr val="43A3A3"/>
            </a:solidFill>
            <a:prstDash val="solid"/>
          </a:ln>
        </p:spPr>
      </p:sp>
      <p:sp>
        <p:nvSpPr>
          <p:cNvPr id="62" name="Shape 60"/>
          <p:cNvSpPr/>
          <p:nvPr/>
        </p:nvSpPr>
        <p:spPr>
          <a:xfrm>
            <a:off x="4987164" y="2350562"/>
            <a:ext cx="60279" cy="60279"/>
          </a:xfrm>
          <a:prstGeom prst="rect">
            <a:avLst/>
          </a:prstGeom>
          <a:solidFill>
            <a:srgbClr val="43A3A3"/>
          </a:solidFill>
          <a:ln w="12700">
            <a:solidFill>
              <a:srgbClr val="43A3A3"/>
            </a:solidFill>
            <a:prstDash val="solid"/>
          </a:ln>
        </p:spPr>
      </p:sp>
      <p:sp>
        <p:nvSpPr>
          <p:cNvPr id="63" name="Shape 61"/>
          <p:cNvSpPr/>
          <p:nvPr/>
        </p:nvSpPr>
        <p:spPr>
          <a:xfrm>
            <a:off x="4368698" y="2419280"/>
            <a:ext cx="60279" cy="60279"/>
          </a:xfrm>
          <a:prstGeom prst="rect">
            <a:avLst/>
          </a:prstGeom>
          <a:solidFill>
            <a:srgbClr val="43A3A3"/>
          </a:solidFill>
          <a:ln w="12700">
            <a:solidFill>
              <a:srgbClr val="43A3A3"/>
            </a:solidFill>
            <a:prstDash val="solid"/>
          </a:ln>
        </p:spPr>
      </p:sp>
      <p:sp>
        <p:nvSpPr>
          <p:cNvPr id="64" name="Shape 62"/>
          <p:cNvSpPr/>
          <p:nvPr/>
        </p:nvSpPr>
        <p:spPr>
          <a:xfrm>
            <a:off x="4437417" y="2419280"/>
            <a:ext cx="60279" cy="60279"/>
          </a:xfrm>
          <a:prstGeom prst="rect">
            <a:avLst/>
          </a:prstGeom>
          <a:solidFill>
            <a:srgbClr val="43A3A3"/>
          </a:solidFill>
          <a:ln w="12700">
            <a:solidFill>
              <a:srgbClr val="43A3A3"/>
            </a:solidFill>
            <a:prstDash val="solid"/>
          </a:ln>
        </p:spPr>
      </p:sp>
      <p:sp>
        <p:nvSpPr>
          <p:cNvPr id="65" name="Shape 63"/>
          <p:cNvSpPr/>
          <p:nvPr/>
        </p:nvSpPr>
        <p:spPr>
          <a:xfrm>
            <a:off x="4506135" y="2419280"/>
            <a:ext cx="60279" cy="60279"/>
          </a:xfrm>
          <a:prstGeom prst="rect">
            <a:avLst/>
          </a:prstGeom>
          <a:solidFill>
            <a:srgbClr val="43A3A3"/>
          </a:solidFill>
          <a:ln w="12700">
            <a:solidFill>
              <a:srgbClr val="43A3A3"/>
            </a:solidFill>
            <a:prstDash val="solid"/>
          </a:ln>
        </p:spPr>
      </p:sp>
      <p:sp>
        <p:nvSpPr>
          <p:cNvPr id="66" name="Shape 64"/>
          <p:cNvSpPr/>
          <p:nvPr/>
        </p:nvSpPr>
        <p:spPr>
          <a:xfrm>
            <a:off x="4574854" y="2419280"/>
            <a:ext cx="60279" cy="60279"/>
          </a:xfrm>
          <a:prstGeom prst="rect">
            <a:avLst/>
          </a:prstGeom>
          <a:solidFill>
            <a:srgbClr val="43A3A3"/>
          </a:solidFill>
          <a:ln w="12700">
            <a:solidFill>
              <a:srgbClr val="43A3A3"/>
            </a:solidFill>
            <a:prstDash val="solid"/>
          </a:ln>
        </p:spPr>
      </p:sp>
      <p:sp>
        <p:nvSpPr>
          <p:cNvPr id="67" name="Shape 65"/>
          <p:cNvSpPr/>
          <p:nvPr/>
        </p:nvSpPr>
        <p:spPr>
          <a:xfrm>
            <a:off x="4643572" y="2419280"/>
            <a:ext cx="60279" cy="60279"/>
          </a:xfrm>
          <a:prstGeom prst="rect">
            <a:avLst/>
          </a:prstGeom>
          <a:solidFill>
            <a:srgbClr val="43A3A3"/>
          </a:solidFill>
          <a:ln w="12700">
            <a:solidFill>
              <a:srgbClr val="43A3A3"/>
            </a:solidFill>
            <a:prstDash val="solid"/>
          </a:ln>
        </p:spPr>
      </p:sp>
      <p:sp>
        <p:nvSpPr>
          <p:cNvPr id="68" name="Shape 66"/>
          <p:cNvSpPr/>
          <p:nvPr/>
        </p:nvSpPr>
        <p:spPr>
          <a:xfrm>
            <a:off x="4712290" y="2419280"/>
            <a:ext cx="60279" cy="60279"/>
          </a:xfrm>
          <a:prstGeom prst="rect">
            <a:avLst/>
          </a:prstGeom>
          <a:solidFill>
            <a:srgbClr val="43A3A3"/>
          </a:solidFill>
          <a:ln w="12700">
            <a:solidFill>
              <a:srgbClr val="43A3A3"/>
            </a:solidFill>
            <a:prstDash val="solid"/>
          </a:ln>
        </p:spPr>
      </p:sp>
      <p:sp>
        <p:nvSpPr>
          <p:cNvPr id="69" name="Shape 67"/>
          <p:cNvSpPr/>
          <p:nvPr/>
        </p:nvSpPr>
        <p:spPr>
          <a:xfrm>
            <a:off x="4781009" y="2419280"/>
            <a:ext cx="60279" cy="60279"/>
          </a:xfrm>
          <a:prstGeom prst="rect">
            <a:avLst/>
          </a:prstGeom>
          <a:solidFill>
            <a:srgbClr val="43A3A3"/>
          </a:solidFill>
          <a:ln w="12700">
            <a:solidFill>
              <a:srgbClr val="43A3A3"/>
            </a:solidFill>
            <a:prstDash val="solid"/>
          </a:ln>
        </p:spPr>
      </p:sp>
      <p:sp>
        <p:nvSpPr>
          <p:cNvPr id="70" name="Shape 68"/>
          <p:cNvSpPr/>
          <p:nvPr/>
        </p:nvSpPr>
        <p:spPr>
          <a:xfrm>
            <a:off x="4849727" y="2419280"/>
            <a:ext cx="60279" cy="60279"/>
          </a:xfrm>
          <a:prstGeom prst="rect">
            <a:avLst/>
          </a:prstGeom>
          <a:solidFill>
            <a:srgbClr val="43A3A3"/>
          </a:solidFill>
          <a:ln w="12700">
            <a:solidFill>
              <a:srgbClr val="43A3A3"/>
            </a:solidFill>
            <a:prstDash val="solid"/>
          </a:ln>
        </p:spPr>
      </p:sp>
      <p:sp>
        <p:nvSpPr>
          <p:cNvPr id="71" name="Shape 69"/>
          <p:cNvSpPr/>
          <p:nvPr/>
        </p:nvSpPr>
        <p:spPr>
          <a:xfrm>
            <a:off x="4918445" y="2419280"/>
            <a:ext cx="60279" cy="60279"/>
          </a:xfrm>
          <a:prstGeom prst="rect">
            <a:avLst/>
          </a:prstGeom>
          <a:solidFill>
            <a:srgbClr val="43A3A3"/>
          </a:solidFill>
          <a:ln w="12700">
            <a:solidFill>
              <a:srgbClr val="43A3A3"/>
            </a:solidFill>
            <a:prstDash val="solid"/>
          </a:ln>
        </p:spPr>
      </p:sp>
      <p:sp>
        <p:nvSpPr>
          <p:cNvPr id="72" name="Shape 70"/>
          <p:cNvSpPr/>
          <p:nvPr/>
        </p:nvSpPr>
        <p:spPr>
          <a:xfrm>
            <a:off x="4987164" y="2419280"/>
            <a:ext cx="60279" cy="60279"/>
          </a:xfrm>
          <a:prstGeom prst="rect">
            <a:avLst/>
          </a:prstGeom>
          <a:solidFill>
            <a:srgbClr val="43A3A3"/>
          </a:solidFill>
          <a:ln w="12700">
            <a:solidFill>
              <a:srgbClr val="43A3A3"/>
            </a:solidFill>
            <a:prstDash val="solid"/>
          </a:ln>
        </p:spPr>
      </p:sp>
      <p:sp>
        <p:nvSpPr>
          <p:cNvPr id="73" name="Shape 71"/>
          <p:cNvSpPr/>
          <p:nvPr/>
        </p:nvSpPr>
        <p:spPr>
          <a:xfrm>
            <a:off x="4368698" y="2487998"/>
            <a:ext cx="60279" cy="60279"/>
          </a:xfrm>
          <a:prstGeom prst="rect">
            <a:avLst/>
          </a:prstGeom>
          <a:solidFill>
            <a:srgbClr val="43A3A3"/>
          </a:solidFill>
          <a:ln w="12700">
            <a:solidFill>
              <a:srgbClr val="43A3A3"/>
            </a:solidFill>
            <a:prstDash val="solid"/>
          </a:ln>
        </p:spPr>
      </p:sp>
      <p:sp>
        <p:nvSpPr>
          <p:cNvPr id="74" name="Shape 72"/>
          <p:cNvSpPr/>
          <p:nvPr/>
        </p:nvSpPr>
        <p:spPr>
          <a:xfrm>
            <a:off x="4437417" y="2487998"/>
            <a:ext cx="60279" cy="60279"/>
          </a:xfrm>
          <a:prstGeom prst="rect">
            <a:avLst/>
          </a:prstGeom>
          <a:solidFill>
            <a:srgbClr val="43A3A3"/>
          </a:solidFill>
          <a:ln w="12700">
            <a:solidFill>
              <a:srgbClr val="43A3A3"/>
            </a:solidFill>
            <a:prstDash val="solid"/>
          </a:ln>
        </p:spPr>
      </p:sp>
      <p:sp>
        <p:nvSpPr>
          <p:cNvPr id="75" name="Shape 73"/>
          <p:cNvSpPr/>
          <p:nvPr/>
        </p:nvSpPr>
        <p:spPr>
          <a:xfrm>
            <a:off x="4506135" y="2487998"/>
            <a:ext cx="60279" cy="60279"/>
          </a:xfrm>
          <a:prstGeom prst="rect">
            <a:avLst/>
          </a:prstGeom>
          <a:solidFill>
            <a:srgbClr val="43A3A3"/>
          </a:solidFill>
          <a:ln w="12700">
            <a:solidFill>
              <a:srgbClr val="43A3A3"/>
            </a:solidFill>
            <a:prstDash val="solid"/>
          </a:ln>
        </p:spPr>
      </p:sp>
      <p:sp>
        <p:nvSpPr>
          <p:cNvPr id="76" name="Shape 74"/>
          <p:cNvSpPr/>
          <p:nvPr/>
        </p:nvSpPr>
        <p:spPr>
          <a:xfrm>
            <a:off x="4574854" y="2487998"/>
            <a:ext cx="60279" cy="60279"/>
          </a:xfrm>
          <a:prstGeom prst="rect">
            <a:avLst/>
          </a:prstGeom>
          <a:solidFill>
            <a:srgbClr val="43A3A3"/>
          </a:solidFill>
          <a:ln w="12700">
            <a:solidFill>
              <a:srgbClr val="43A3A3"/>
            </a:solidFill>
            <a:prstDash val="solid"/>
          </a:ln>
        </p:spPr>
      </p:sp>
      <p:sp>
        <p:nvSpPr>
          <p:cNvPr id="77" name="Shape 75"/>
          <p:cNvSpPr/>
          <p:nvPr/>
        </p:nvSpPr>
        <p:spPr>
          <a:xfrm>
            <a:off x="4643572" y="2487998"/>
            <a:ext cx="60279" cy="60279"/>
          </a:xfrm>
          <a:prstGeom prst="rect">
            <a:avLst/>
          </a:prstGeom>
          <a:solidFill>
            <a:srgbClr val="43A3A3"/>
          </a:solidFill>
          <a:ln w="12700">
            <a:solidFill>
              <a:srgbClr val="43A3A3"/>
            </a:solidFill>
            <a:prstDash val="solid"/>
          </a:ln>
        </p:spPr>
      </p:sp>
      <p:sp>
        <p:nvSpPr>
          <p:cNvPr id="78" name="Shape 76"/>
          <p:cNvSpPr/>
          <p:nvPr/>
        </p:nvSpPr>
        <p:spPr>
          <a:xfrm>
            <a:off x="4712290" y="2487998"/>
            <a:ext cx="60279" cy="60279"/>
          </a:xfrm>
          <a:prstGeom prst="rect">
            <a:avLst/>
          </a:prstGeom>
          <a:solidFill>
            <a:srgbClr val="43A3A3"/>
          </a:solidFill>
          <a:ln w="12700">
            <a:solidFill>
              <a:srgbClr val="43A3A3"/>
            </a:solidFill>
            <a:prstDash val="solid"/>
          </a:ln>
        </p:spPr>
      </p:sp>
      <p:sp>
        <p:nvSpPr>
          <p:cNvPr id="79" name="Shape 77"/>
          <p:cNvSpPr/>
          <p:nvPr/>
        </p:nvSpPr>
        <p:spPr>
          <a:xfrm>
            <a:off x="4781009" y="2487998"/>
            <a:ext cx="60279" cy="60279"/>
          </a:xfrm>
          <a:prstGeom prst="rect">
            <a:avLst/>
          </a:prstGeom>
          <a:solidFill>
            <a:srgbClr val="43A3A3"/>
          </a:solidFill>
          <a:ln w="12700">
            <a:solidFill>
              <a:srgbClr val="43A3A3"/>
            </a:solidFill>
            <a:prstDash val="solid"/>
          </a:ln>
        </p:spPr>
      </p:sp>
      <p:sp>
        <p:nvSpPr>
          <p:cNvPr id="80" name="Shape 78"/>
          <p:cNvSpPr/>
          <p:nvPr/>
        </p:nvSpPr>
        <p:spPr>
          <a:xfrm>
            <a:off x="4849727" y="2487998"/>
            <a:ext cx="60279" cy="60279"/>
          </a:xfrm>
          <a:prstGeom prst="rect">
            <a:avLst/>
          </a:prstGeom>
          <a:solidFill>
            <a:srgbClr val="43A3A3"/>
          </a:solidFill>
          <a:ln w="12700">
            <a:solidFill>
              <a:srgbClr val="43A3A3"/>
            </a:solidFill>
            <a:prstDash val="solid"/>
          </a:ln>
        </p:spPr>
      </p:sp>
      <p:sp>
        <p:nvSpPr>
          <p:cNvPr id="81" name="Shape 79"/>
          <p:cNvSpPr/>
          <p:nvPr/>
        </p:nvSpPr>
        <p:spPr>
          <a:xfrm>
            <a:off x="4918445" y="2487998"/>
            <a:ext cx="60279" cy="60279"/>
          </a:xfrm>
          <a:prstGeom prst="rect">
            <a:avLst/>
          </a:prstGeom>
          <a:solidFill>
            <a:srgbClr val="43A3A3"/>
          </a:solidFill>
          <a:ln w="12700">
            <a:solidFill>
              <a:srgbClr val="43A3A3"/>
            </a:solidFill>
            <a:prstDash val="solid"/>
          </a:ln>
        </p:spPr>
      </p:sp>
      <p:sp>
        <p:nvSpPr>
          <p:cNvPr id="82" name="Shape 80"/>
          <p:cNvSpPr/>
          <p:nvPr/>
        </p:nvSpPr>
        <p:spPr>
          <a:xfrm>
            <a:off x="4987164" y="2487998"/>
            <a:ext cx="60279" cy="60279"/>
          </a:xfrm>
          <a:prstGeom prst="rect">
            <a:avLst/>
          </a:prstGeom>
          <a:solidFill>
            <a:srgbClr val="43A3A3"/>
          </a:solidFill>
          <a:ln w="12700">
            <a:solidFill>
              <a:srgbClr val="43A3A3"/>
            </a:solidFill>
            <a:prstDash val="solid"/>
          </a:ln>
        </p:spPr>
      </p:sp>
      <p:sp>
        <p:nvSpPr>
          <p:cNvPr id="83" name="Shape 81"/>
          <p:cNvSpPr/>
          <p:nvPr/>
        </p:nvSpPr>
        <p:spPr>
          <a:xfrm>
            <a:off x="4368698" y="2556717"/>
            <a:ext cx="60279" cy="60279"/>
          </a:xfrm>
          <a:prstGeom prst="rect">
            <a:avLst/>
          </a:prstGeom>
          <a:solidFill>
            <a:srgbClr val="43A3A3"/>
          </a:solidFill>
          <a:ln w="12700">
            <a:solidFill>
              <a:srgbClr val="43A3A3"/>
            </a:solidFill>
            <a:prstDash val="solid"/>
          </a:ln>
        </p:spPr>
      </p:sp>
      <p:sp>
        <p:nvSpPr>
          <p:cNvPr id="84" name="Shape 82"/>
          <p:cNvSpPr/>
          <p:nvPr/>
        </p:nvSpPr>
        <p:spPr>
          <a:xfrm>
            <a:off x="4437417" y="2556717"/>
            <a:ext cx="60279" cy="60279"/>
          </a:xfrm>
          <a:prstGeom prst="rect">
            <a:avLst/>
          </a:prstGeom>
          <a:solidFill>
            <a:srgbClr val="43A3A3"/>
          </a:solidFill>
          <a:ln w="12700">
            <a:solidFill>
              <a:srgbClr val="43A3A3"/>
            </a:solidFill>
            <a:prstDash val="solid"/>
          </a:ln>
        </p:spPr>
      </p:sp>
      <p:sp>
        <p:nvSpPr>
          <p:cNvPr id="85" name="Shape 83"/>
          <p:cNvSpPr/>
          <p:nvPr/>
        </p:nvSpPr>
        <p:spPr>
          <a:xfrm>
            <a:off x="4506135" y="2556717"/>
            <a:ext cx="60279" cy="60279"/>
          </a:xfrm>
          <a:prstGeom prst="rect">
            <a:avLst/>
          </a:prstGeom>
          <a:solidFill>
            <a:srgbClr val="43A3A3"/>
          </a:solidFill>
          <a:ln w="12700">
            <a:solidFill>
              <a:srgbClr val="43A3A3"/>
            </a:solidFill>
            <a:prstDash val="solid"/>
          </a:ln>
        </p:spPr>
      </p:sp>
      <p:sp>
        <p:nvSpPr>
          <p:cNvPr id="86" name="Shape 84"/>
          <p:cNvSpPr/>
          <p:nvPr/>
        </p:nvSpPr>
        <p:spPr>
          <a:xfrm>
            <a:off x="4574854" y="2556717"/>
            <a:ext cx="60279" cy="60279"/>
          </a:xfrm>
          <a:prstGeom prst="rect">
            <a:avLst/>
          </a:prstGeom>
          <a:solidFill>
            <a:srgbClr val="43A3A3"/>
          </a:solidFill>
          <a:ln w="12700">
            <a:solidFill>
              <a:srgbClr val="43A3A3"/>
            </a:solidFill>
            <a:prstDash val="solid"/>
          </a:ln>
        </p:spPr>
      </p:sp>
      <p:sp>
        <p:nvSpPr>
          <p:cNvPr id="87" name="Shape 85"/>
          <p:cNvSpPr/>
          <p:nvPr/>
        </p:nvSpPr>
        <p:spPr>
          <a:xfrm>
            <a:off x="4643572" y="2556717"/>
            <a:ext cx="60279" cy="60279"/>
          </a:xfrm>
          <a:prstGeom prst="rect">
            <a:avLst/>
          </a:prstGeom>
          <a:solidFill>
            <a:srgbClr val="43A3A3"/>
          </a:solidFill>
          <a:ln w="12700">
            <a:solidFill>
              <a:srgbClr val="43A3A3"/>
            </a:solidFill>
            <a:prstDash val="solid"/>
          </a:ln>
        </p:spPr>
      </p:sp>
      <p:sp>
        <p:nvSpPr>
          <p:cNvPr id="88" name="Shape 86"/>
          <p:cNvSpPr/>
          <p:nvPr/>
        </p:nvSpPr>
        <p:spPr>
          <a:xfrm>
            <a:off x="4712290" y="2556717"/>
            <a:ext cx="60279" cy="60279"/>
          </a:xfrm>
          <a:prstGeom prst="rect">
            <a:avLst/>
          </a:prstGeom>
          <a:solidFill>
            <a:srgbClr val="43A3A3"/>
          </a:solidFill>
          <a:ln w="12700">
            <a:solidFill>
              <a:srgbClr val="43A3A3"/>
            </a:solidFill>
            <a:prstDash val="solid"/>
          </a:ln>
        </p:spPr>
      </p:sp>
      <p:sp>
        <p:nvSpPr>
          <p:cNvPr id="89" name="Shape 87"/>
          <p:cNvSpPr/>
          <p:nvPr/>
        </p:nvSpPr>
        <p:spPr>
          <a:xfrm>
            <a:off x="4781009" y="2556717"/>
            <a:ext cx="60279" cy="60279"/>
          </a:xfrm>
          <a:prstGeom prst="rect">
            <a:avLst/>
          </a:prstGeom>
          <a:solidFill>
            <a:srgbClr val="43A3A3"/>
          </a:solidFill>
          <a:ln w="12700">
            <a:solidFill>
              <a:srgbClr val="43A3A3"/>
            </a:solidFill>
            <a:prstDash val="solid"/>
          </a:ln>
        </p:spPr>
      </p:sp>
      <p:sp>
        <p:nvSpPr>
          <p:cNvPr id="90" name="Shape 88"/>
          <p:cNvSpPr/>
          <p:nvPr/>
        </p:nvSpPr>
        <p:spPr>
          <a:xfrm>
            <a:off x="4849727" y="2556717"/>
            <a:ext cx="60279" cy="60279"/>
          </a:xfrm>
          <a:prstGeom prst="rect">
            <a:avLst/>
          </a:prstGeom>
          <a:solidFill>
            <a:srgbClr val="43A3A3"/>
          </a:solidFill>
          <a:ln w="12700">
            <a:solidFill>
              <a:srgbClr val="43A3A3"/>
            </a:solidFill>
            <a:prstDash val="solid"/>
          </a:ln>
        </p:spPr>
      </p:sp>
      <p:sp>
        <p:nvSpPr>
          <p:cNvPr id="91" name="Shape 89"/>
          <p:cNvSpPr/>
          <p:nvPr/>
        </p:nvSpPr>
        <p:spPr>
          <a:xfrm>
            <a:off x="4918445" y="2556717"/>
            <a:ext cx="60279" cy="60279"/>
          </a:xfrm>
          <a:prstGeom prst="rect">
            <a:avLst/>
          </a:prstGeom>
          <a:solidFill>
            <a:srgbClr val="43A3A3"/>
          </a:solidFill>
          <a:ln w="12700">
            <a:solidFill>
              <a:srgbClr val="43A3A3"/>
            </a:solidFill>
            <a:prstDash val="solid"/>
          </a:ln>
        </p:spPr>
      </p:sp>
      <p:sp>
        <p:nvSpPr>
          <p:cNvPr id="92" name="Shape 90"/>
          <p:cNvSpPr/>
          <p:nvPr/>
        </p:nvSpPr>
        <p:spPr>
          <a:xfrm>
            <a:off x="4987164" y="2556717"/>
            <a:ext cx="60279" cy="60279"/>
          </a:xfrm>
          <a:prstGeom prst="rect">
            <a:avLst/>
          </a:prstGeom>
          <a:solidFill>
            <a:srgbClr val="43A3A3"/>
          </a:solidFill>
          <a:ln w="12700">
            <a:solidFill>
              <a:srgbClr val="43A3A3"/>
            </a:solidFill>
            <a:prstDash val="solid"/>
          </a:ln>
        </p:spPr>
      </p:sp>
      <p:sp>
        <p:nvSpPr>
          <p:cNvPr id="93" name="Shape 91"/>
          <p:cNvSpPr/>
          <p:nvPr/>
        </p:nvSpPr>
        <p:spPr>
          <a:xfrm>
            <a:off x="4368698" y="2625435"/>
            <a:ext cx="60279" cy="60279"/>
          </a:xfrm>
          <a:prstGeom prst="rect">
            <a:avLst/>
          </a:prstGeom>
          <a:solidFill>
            <a:srgbClr val="43A3A3"/>
          </a:solidFill>
          <a:ln w="12700">
            <a:solidFill>
              <a:srgbClr val="43A3A3"/>
            </a:solidFill>
            <a:prstDash val="solid"/>
          </a:ln>
        </p:spPr>
      </p:sp>
      <p:sp>
        <p:nvSpPr>
          <p:cNvPr id="94" name="Shape 92"/>
          <p:cNvSpPr/>
          <p:nvPr/>
        </p:nvSpPr>
        <p:spPr>
          <a:xfrm>
            <a:off x="4437417" y="2625435"/>
            <a:ext cx="60279" cy="60279"/>
          </a:xfrm>
          <a:prstGeom prst="rect">
            <a:avLst/>
          </a:prstGeom>
          <a:solidFill>
            <a:srgbClr val="E3E2DA"/>
          </a:solidFill>
          <a:ln w="12700">
            <a:solidFill>
              <a:srgbClr val="E3E2DA"/>
            </a:solidFill>
            <a:prstDash val="solid"/>
          </a:ln>
        </p:spPr>
      </p:sp>
      <p:sp>
        <p:nvSpPr>
          <p:cNvPr id="95" name="Shape 93"/>
          <p:cNvSpPr/>
          <p:nvPr/>
        </p:nvSpPr>
        <p:spPr>
          <a:xfrm>
            <a:off x="4506135" y="2625435"/>
            <a:ext cx="60279" cy="60279"/>
          </a:xfrm>
          <a:prstGeom prst="rect">
            <a:avLst/>
          </a:prstGeom>
          <a:solidFill>
            <a:srgbClr val="E3E2DA"/>
          </a:solidFill>
          <a:ln w="12700">
            <a:solidFill>
              <a:srgbClr val="E3E2DA"/>
            </a:solidFill>
            <a:prstDash val="solid"/>
          </a:ln>
        </p:spPr>
      </p:sp>
      <p:sp>
        <p:nvSpPr>
          <p:cNvPr id="96" name="Shape 94"/>
          <p:cNvSpPr/>
          <p:nvPr/>
        </p:nvSpPr>
        <p:spPr>
          <a:xfrm>
            <a:off x="4574854" y="2625435"/>
            <a:ext cx="60279" cy="60279"/>
          </a:xfrm>
          <a:prstGeom prst="rect">
            <a:avLst/>
          </a:prstGeom>
          <a:solidFill>
            <a:srgbClr val="E3E2DA"/>
          </a:solidFill>
          <a:ln w="12700">
            <a:solidFill>
              <a:srgbClr val="E3E2DA"/>
            </a:solidFill>
            <a:prstDash val="solid"/>
          </a:ln>
        </p:spPr>
      </p:sp>
      <p:sp>
        <p:nvSpPr>
          <p:cNvPr id="97" name="Shape 95"/>
          <p:cNvSpPr/>
          <p:nvPr/>
        </p:nvSpPr>
        <p:spPr>
          <a:xfrm>
            <a:off x="4643572" y="2625435"/>
            <a:ext cx="60279" cy="60279"/>
          </a:xfrm>
          <a:prstGeom prst="rect">
            <a:avLst/>
          </a:prstGeom>
          <a:solidFill>
            <a:srgbClr val="E3E2DA"/>
          </a:solidFill>
          <a:ln w="12700">
            <a:solidFill>
              <a:srgbClr val="E3E2DA"/>
            </a:solidFill>
            <a:prstDash val="solid"/>
          </a:ln>
        </p:spPr>
      </p:sp>
      <p:sp>
        <p:nvSpPr>
          <p:cNvPr id="98" name="Shape 96"/>
          <p:cNvSpPr/>
          <p:nvPr/>
        </p:nvSpPr>
        <p:spPr>
          <a:xfrm>
            <a:off x="4712290" y="2625435"/>
            <a:ext cx="60279" cy="60279"/>
          </a:xfrm>
          <a:prstGeom prst="rect">
            <a:avLst/>
          </a:prstGeom>
          <a:solidFill>
            <a:srgbClr val="E3E2DA"/>
          </a:solidFill>
          <a:ln w="12700">
            <a:solidFill>
              <a:srgbClr val="E3E2DA"/>
            </a:solidFill>
            <a:prstDash val="solid"/>
          </a:ln>
        </p:spPr>
      </p:sp>
      <p:sp>
        <p:nvSpPr>
          <p:cNvPr id="99" name="Shape 97"/>
          <p:cNvSpPr/>
          <p:nvPr/>
        </p:nvSpPr>
        <p:spPr>
          <a:xfrm>
            <a:off x="4781009" y="2625435"/>
            <a:ext cx="60279" cy="60279"/>
          </a:xfrm>
          <a:prstGeom prst="rect">
            <a:avLst/>
          </a:prstGeom>
          <a:solidFill>
            <a:srgbClr val="E3E2DA"/>
          </a:solidFill>
          <a:ln w="12700">
            <a:solidFill>
              <a:srgbClr val="E3E2DA"/>
            </a:solidFill>
            <a:prstDash val="solid"/>
          </a:ln>
        </p:spPr>
      </p:sp>
      <p:sp>
        <p:nvSpPr>
          <p:cNvPr id="100" name="Shape 98"/>
          <p:cNvSpPr/>
          <p:nvPr/>
        </p:nvSpPr>
        <p:spPr>
          <a:xfrm>
            <a:off x="4849727" y="2625435"/>
            <a:ext cx="60279" cy="60279"/>
          </a:xfrm>
          <a:prstGeom prst="rect">
            <a:avLst/>
          </a:prstGeom>
          <a:solidFill>
            <a:srgbClr val="E3E2DA"/>
          </a:solidFill>
          <a:ln w="12700">
            <a:solidFill>
              <a:srgbClr val="E3E2DA"/>
            </a:solidFill>
            <a:prstDash val="solid"/>
          </a:ln>
        </p:spPr>
      </p:sp>
      <p:sp>
        <p:nvSpPr>
          <p:cNvPr id="101" name="Shape 99"/>
          <p:cNvSpPr/>
          <p:nvPr/>
        </p:nvSpPr>
        <p:spPr>
          <a:xfrm>
            <a:off x="4918445" y="2625435"/>
            <a:ext cx="60279" cy="60279"/>
          </a:xfrm>
          <a:prstGeom prst="rect">
            <a:avLst/>
          </a:prstGeom>
          <a:solidFill>
            <a:srgbClr val="E3E2DA"/>
          </a:solidFill>
          <a:ln w="12700">
            <a:solidFill>
              <a:srgbClr val="E3E2DA"/>
            </a:solidFill>
            <a:prstDash val="solid"/>
          </a:ln>
        </p:spPr>
      </p:sp>
      <p:sp>
        <p:nvSpPr>
          <p:cNvPr id="102" name="Shape 100"/>
          <p:cNvSpPr/>
          <p:nvPr/>
        </p:nvSpPr>
        <p:spPr>
          <a:xfrm>
            <a:off x="4987164" y="2625435"/>
            <a:ext cx="60279" cy="60279"/>
          </a:xfrm>
          <a:prstGeom prst="rect">
            <a:avLst/>
          </a:prstGeom>
          <a:solidFill>
            <a:srgbClr val="E3E2DA"/>
          </a:solidFill>
          <a:ln w="12700">
            <a:solidFill>
              <a:srgbClr val="E3E2DA"/>
            </a:solidFill>
            <a:prstDash val="solid"/>
          </a:ln>
        </p:spPr>
      </p:sp>
      <p:sp>
        <p:nvSpPr>
          <p:cNvPr id="103" name="Shape 101"/>
          <p:cNvSpPr/>
          <p:nvPr/>
        </p:nvSpPr>
        <p:spPr>
          <a:xfrm>
            <a:off x="4368698" y="2694153"/>
            <a:ext cx="60279" cy="60279"/>
          </a:xfrm>
          <a:prstGeom prst="rect">
            <a:avLst/>
          </a:prstGeom>
          <a:solidFill>
            <a:srgbClr val="E3E2DA"/>
          </a:solidFill>
          <a:ln w="12700">
            <a:solidFill>
              <a:srgbClr val="E3E2DA"/>
            </a:solidFill>
            <a:prstDash val="solid"/>
          </a:ln>
        </p:spPr>
      </p:sp>
      <p:sp>
        <p:nvSpPr>
          <p:cNvPr id="104" name="Shape 102"/>
          <p:cNvSpPr/>
          <p:nvPr/>
        </p:nvSpPr>
        <p:spPr>
          <a:xfrm>
            <a:off x="4437417" y="2694153"/>
            <a:ext cx="60279" cy="60279"/>
          </a:xfrm>
          <a:prstGeom prst="rect">
            <a:avLst/>
          </a:prstGeom>
          <a:solidFill>
            <a:srgbClr val="E3E2DA"/>
          </a:solidFill>
          <a:ln w="12700">
            <a:solidFill>
              <a:srgbClr val="E3E2DA"/>
            </a:solidFill>
            <a:prstDash val="solid"/>
          </a:ln>
        </p:spPr>
      </p:sp>
      <p:sp>
        <p:nvSpPr>
          <p:cNvPr id="105" name="Shape 103"/>
          <p:cNvSpPr/>
          <p:nvPr/>
        </p:nvSpPr>
        <p:spPr>
          <a:xfrm>
            <a:off x="4506135" y="2694153"/>
            <a:ext cx="60279" cy="60279"/>
          </a:xfrm>
          <a:prstGeom prst="rect">
            <a:avLst/>
          </a:prstGeom>
          <a:solidFill>
            <a:srgbClr val="E3E2DA"/>
          </a:solidFill>
          <a:ln w="12700">
            <a:solidFill>
              <a:srgbClr val="E3E2DA"/>
            </a:solidFill>
            <a:prstDash val="solid"/>
          </a:ln>
        </p:spPr>
      </p:sp>
      <p:sp>
        <p:nvSpPr>
          <p:cNvPr id="106" name="Shape 104"/>
          <p:cNvSpPr/>
          <p:nvPr/>
        </p:nvSpPr>
        <p:spPr>
          <a:xfrm>
            <a:off x="4574854" y="2694153"/>
            <a:ext cx="60279" cy="60279"/>
          </a:xfrm>
          <a:prstGeom prst="rect">
            <a:avLst/>
          </a:prstGeom>
          <a:solidFill>
            <a:srgbClr val="E3E2DA"/>
          </a:solidFill>
          <a:ln w="12700">
            <a:solidFill>
              <a:srgbClr val="E3E2DA"/>
            </a:solidFill>
            <a:prstDash val="solid"/>
          </a:ln>
        </p:spPr>
      </p:sp>
      <p:sp>
        <p:nvSpPr>
          <p:cNvPr id="107" name="Shape 105"/>
          <p:cNvSpPr/>
          <p:nvPr/>
        </p:nvSpPr>
        <p:spPr>
          <a:xfrm>
            <a:off x="4643572" y="2694153"/>
            <a:ext cx="60279" cy="60279"/>
          </a:xfrm>
          <a:prstGeom prst="rect">
            <a:avLst/>
          </a:prstGeom>
          <a:solidFill>
            <a:srgbClr val="E3E2DA"/>
          </a:solidFill>
          <a:ln w="12700">
            <a:solidFill>
              <a:srgbClr val="E3E2DA"/>
            </a:solidFill>
            <a:prstDash val="solid"/>
          </a:ln>
        </p:spPr>
      </p:sp>
      <p:sp>
        <p:nvSpPr>
          <p:cNvPr id="108" name="Shape 106"/>
          <p:cNvSpPr/>
          <p:nvPr/>
        </p:nvSpPr>
        <p:spPr>
          <a:xfrm>
            <a:off x="4712290" y="2694153"/>
            <a:ext cx="60279" cy="60279"/>
          </a:xfrm>
          <a:prstGeom prst="rect">
            <a:avLst/>
          </a:prstGeom>
          <a:solidFill>
            <a:srgbClr val="E3E2DA"/>
          </a:solidFill>
          <a:ln w="12700">
            <a:solidFill>
              <a:srgbClr val="E3E2DA"/>
            </a:solidFill>
            <a:prstDash val="solid"/>
          </a:ln>
        </p:spPr>
      </p:sp>
      <p:sp>
        <p:nvSpPr>
          <p:cNvPr id="109" name="Shape 107"/>
          <p:cNvSpPr/>
          <p:nvPr/>
        </p:nvSpPr>
        <p:spPr>
          <a:xfrm>
            <a:off x="4781009" y="2694153"/>
            <a:ext cx="60279" cy="60279"/>
          </a:xfrm>
          <a:prstGeom prst="rect">
            <a:avLst/>
          </a:prstGeom>
          <a:solidFill>
            <a:srgbClr val="E3E2DA"/>
          </a:solidFill>
          <a:ln w="12700">
            <a:solidFill>
              <a:srgbClr val="E3E2DA"/>
            </a:solidFill>
            <a:prstDash val="solid"/>
          </a:ln>
        </p:spPr>
      </p:sp>
      <p:sp>
        <p:nvSpPr>
          <p:cNvPr id="110" name="Shape 108"/>
          <p:cNvSpPr/>
          <p:nvPr/>
        </p:nvSpPr>
        <p:spPr>
          <a:xfrm>
            <a:off x="4849727" y="2694153"/>
            <a:ext cx="60279" cy="60279"/>
          </a:xfrm>
          <a:prstGeom prst="rect">
            <a:avLst/>
          </a:prstGeom>
          <a:solidFill>
            <a:srgbClr val="E3E2DA"/>
          </a:solidFill>
          <a:ln w="12700">
            <a:solidFill>
              <a:srgbClr val="E3E2DA"/>
            </a:solidFill>
            <a:prstDash val="solid"/>
          </a:ln>
        </p:spPr>
      </p:sp>
      <p:sp>
        <p:nvSpPr>
          <p:cNvPr id="111" name="Shape 109"/>
          <p:cNvSpPr/>
          <p:nvPr/>
        </p:nvSpPr>
        <p:spPr>
          <a:xfrm>
            <a:off x="4918445" y="2694153"/>
            <a:ext cx="60279" cy="60279"/>
          </a:xfrm>
          <a:prstGeom prst="rect">
            <a:avLst/>
          </a:prstGeom>
          <a:solidFill>
            <a:srgbClr val="E3E2DA"/>
          </a:solidFill>
          <a:ln w="12700">
            <a:solidFill>
              <a:srgbClr val="E3E2DA"/>
            </a:solidFill>
            <a:prstDash val="solid"/>
          </a:ln>
        </p:spPr>
      </p:sp>
      <p:sp>
        <p:nvSpPr>
          <p:cNvPr id="112" name="Shape 110"/>
          <p:cNvSpPr/>
          <p:nvPr/>
        </p:nvSpPr>
        <p:spPr>
          <a:xfrm>
            <a:off x="4987164" y="2694153"/>
            <a:ext cx="60279" cy="60279"/>
          </a:xfrm>
          <a:prstGeom prst="rect">
            <a:avLst/>
          </a:prstGeom>
          <a:solidFill>
            <a:srgbClr val="E3E2DA"/>
          </a:solidFill>
          <a:ln w="12700">
            <a:solidFill>
              <a:srgbClr val="E3E2DA"/>
            </a:solidFill>
            <a:prstDash val="solid"/>
          </a:ln>
        </p:spPr>
      </p:sp>
      <p:sp>
        <p:nvSpPr>
          <p:cNvPr id="113" name="Text 111"/>
          <p:cNvSpPr txBox="1"/>
          <p:nvPr/>
        </p:nvSpPr>
        <p:spPr>
          <a:xfrm>
            <a:off x="4368698" y="2836024"/>
            <a:ext cx="968553"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81.2%</a:t>
            </a:r>
            <a:endParaRPr lang="en-US" sz="2000" dirty="0"/>
          </a:p>
        </p:txBody>
      </p:sp>
      <p:sp>
        <p:nvSpPr>
          <p:cNvPr id="114" name="Text 112"/>
          <p:cNvSpPr txBox="1"/>
          <p:nvPr/>
        </p:nvSpPr>
        <p:spPr>
          <a:xfrm>
            <a:off x="4368698" y="3201784"/>
            <a:ext cx="877113"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came for leisure or to see friends and relatives (81 of every 100)</a:t>
            </a:r>
            <a:endParaRPr lang="en-US" sz="1000" dirty="0"/>
          </a:p>
        </p:txBody>
      </p:sp>
      <p:sp>
        <p:nvSpPr>
          <p:cNvPr id="115" name="Shape 113"/>
          <p:cNvSpPr/>
          <p:nvPr/>
        </p:nvSpPr>
        <p:spPr>
          <a:xfrm>
            <a:off x="5520131" y="2075688"/>
            <a:ext cx="60279" cy="60279"/>
          </a:xfrm>
          <a:prstGeom prst="rect">
            <a:avLst/>
          </a:prstGeom>
          <a:solidFill>
            <a:srgbClr val="43A3A3"/>
          </a:solidFill>
          <a:ln w="12700">
            <a:solidFill>
              <a:srgbClr val="43A3A3"/>
            </a:solidFill>
            <a:prstDash val="solid"/>
          </a:ln>
        </p:spPr>
      </p:sp>
      <p:sp>
        <p:nvSpPr>
          <p:cNvPr id="116" name="Shape 114"/>
          <p:cNvSpPr/>
          <p:nvPr/>
        </p:nvSpPr>
        <p:spPr>
          <a:xfrm>
            <a:off x="5588850" y="2075688"/>
            <a:ext cx="60279" cy="60279"/>
          </a:xfrm>
          <a:prstGeom prst="rect">
            <a:avLst/>
          </a:prstGeom>
          <a:solidFill>
            <a:srgbClr val="43A3A3"/>
          </a:solidFill>
          <a:ln w="12700">
            <a:solidFill>
              <a:srgbClr val="43A3A3"/>
            </a:solidFill>
            <a:prstDash val="solid"/>
          </a:ln>
        </p:spPr>
      </p:sp>
      <p:sp>
        <p:nvSpPr>
          <p:cNvPr id="117" name="Shape 115"/>
          <p:cNvSpPr/>
          <p:nvPr/>
        </p:nvSpPr>
        <p:spPr>
          <a:xfrm>
            <a:off x="5657568" y="2075688"/>
            <a:ext cx="60279" cy="60279"/>
          </a:xfrm>
          <a:prstGeom prst="rect">
            <a:avLst/>
          </a:prstGeom>
          <a:solidFill>
            <a:srgbClr val="43A3A3"/>
          </a:solidFill>
          <a:ln w="12700">
            <a:solidFill>
              <a:srgbClr val="43A3A3"/>
            </a:solidFill>
            <a:prstDash val="solid"/>
          </a:ln>
        </p:spPr>
      </p:sp>
      <p:sp>
        <p:nvSpPr>
          <p:cNvPr id="118" name="Shape 116"/>
          <p:cNvSpPr/>
          <p:nvPr/>
        </p:nvSpPr>
        <p:spPr>
          <a:xfrm>
            <a:off x="5726286" y="2075688"/>
            <a:ext cx="60279" cy="60279"/>
          </a:xfrm>
          <a:prstGeom prst="rect">
            <a:avLst/>
          </a:prstGeom>
          <a:solidFill>
            <a:srgbClr val="43A3A3"/>
          </a:solidFill>
          <a:ln w="12700">
            <a:solidFill>
              <a:srgbClr val="43A3A3"/>
            </a:solidFill>
            <a:prstDash val="solid"/>
          </a:ln>
        </p:spPr>
      </p:sp>
      <p:sp>
        <p:nvSpPr>
          <p:cNvPr id="119" name="Shape 117"/>
          <p:cNvSpPr/>
          <p:nvPr/>
        </p:nvSpPr>
        <p:spPr>
          <a:xfrm>
            <a:off x="5795005" y="2075688"/>
            <a:ext cx="60279" cy="60279"/>
          </a:xfrm>
          <a:prstGeom prst="rect">
            <a:avLst/>
          </a:prstGeom>
          <a:solidFill>
            <a:srgbClr val="43A3A3"/>
          </a:solidFill>
          <a:ln w="12700">
            <a:solidFill>
              <a:srgbClr val="43A3A3"/>
            </a:solidFill>
            <a:prstDash val="solid"/>
          </a:ln>
        </p:spPr>
      </p:sp>
      <p:sp>
        <p:nvSpPr>
          <p:cNvPr id="120" name="Shape 118"/>
          <p:cNvSpPr/>
          <p:nvPr/>
        </p:nvSpPr>
        <p:spPr>
          <a:xfrm>
            <a:off x="5863723" y="2075688"/>
            <a:ext cx="60279" cy="60279"/>
          </a:xfrm>
          <a:prstGeom prst="rect">
            <a:avLst/>
          </a:prstGeom>
          <a:solidFill>
            <a:srgbClr val="43A3A3"/>
          </a:solidFill>
          <a:ln w="12700">
            <a:solidFill>
              <a:srgbClr val="43A3A3"/>
            </a:solidFill>
            <a:prstDash val="solid"/>
          </a:ln>
        </p:spPr>
      </p:sp>
      <p:sp>
        <p:nvSpPr>
          <p:cNvPr id="121" name="Shape 119"/>
          <p:cNvSpPr/>
          <p:nvPr/>
        </p:nvSpPr>
        <p:spPr>
          <a:xfrm>
            <a:off x="5932441" y="2075688"/>
            <a:ext cx="60279" cy="60279"/>
          </a:xfrm>
          <a:prstGeom prst="rect">
            <a:avLst/>
          </a:prstGeom>
          <a:solidFill>
            <a:srgbClr val="43A3A3"/>
          </a:solidFill>
          <a:ln w="12700">
            <a:solidFill>
              <a:srgbClr val="43A3A3"/>
            </a:solidFill>
            <a:prstDash val="solid"/>
          </a:ln>
        </p:spPr>
      </p:sp>
      <p:sp>
        <p:nvSpPr>
          <p:cNvPr id="122" name="Shape 120"/>
          <p:cNvSpPr/>
          <p:nvPr/>
        </p:nvSpPr>
        <p:spPr>
          <a:xfrm>
            <a:off x="6001160" y="2075688"/>
            <a:ext cx="60279" cy="60279"/>
          </a:xfrm>
          <a:prstGeom prst="rect">
            <a:avLst/>
          </a:prstGeom>
          <a:solidFill>
            <a:srgbClr val="43A3A3"/>
          </a:solidFill>
          <a:ln w="12700">
            <a:solidFill>
              <a:srgbClr val="43A3A3"/>
            </a:solidFill>
            <a:prstDash val="solid"/>
          </a:ln>
        </p:spPr>
      </p:sp>
      <p:sp>
        <p:nvSpPr>
          <p:cNvPr id="123" name="Shape 121"/>
          <p:cNvSpPr/>
          <p:nvPr/>
        </p:nvSpPr>
        <p:spPr>
          <a:xfrm>
            <a:off x="6069878" y="2075688"/>
            <a:ext cx="60279" cy="60279"/>
          </a:xfrm>
          <a:prstGeom prst="rect">
            <a:avLst/>
          </a:prstGeom>
          <a:solidFill>
            <a:srgbClr val="43A3A3"/>
          </a:solidFill>
          <a:ln w="12700">
            <a:solidFill>
              <a:srgbClr val="43A3A3"/>
            </a:solidFill>
            <a:prstDash val="solid"/>
          </a:ln>
        </p:spPr>
      </p:sp>
      <p:sp>
        <p:nvSpPr>
          <p:cNvPr id="124" name="Shape 122"/>
          <p:cNvSpPr/>
          <p:nvPr/>
        </p:nvSpPr>
        <p:spPr>
          <a:xfrm>
            <a:off x="6138597" y="2075688"/>
            <a:ext cx="60279" cy="60279"/>
          </a:xfrm>
          <a:prstGeom prst="rect">
            <a:avLst/>
          </a:prstGeom>
          <a:solidFill>
            <a:srgbClr val="43A3A3"/>
          </a:solidFill>
          <a:ln w="12700">
            <a:solidFill>
              <a:srgbClr val="43A3A3"/>
            </a:solidFill>
            <a:prstDash val="solid"/>
          </a:ln>
        </p:spPr>
      </p:sp>
      <p:sp>
        <p:nvSpPr>
          <p:cNvPr id="125" name="Shape 123"/>
          <p:cNvSpPr/>
          <p:nvPr/>
        </p:nvSpPr>
        <p:spPr>
          <a:xfrm>
            <a:off x="5520131" y="2144406"/>
            <a:ext cx="60279" cy="60279"/>
          </a:xfrm>
          <a:prstGeom prst="rect">
            <a:avLst/>
          </a:prstGeom>
          <a:solidFill>
            <a:srgbClr val="43A3A3"/>
          </a:solidFill>
          <a:ln w="12700">
            <a:solidFill>
              <a:srgbClr val="43A3A3"/>
            </a:solidFill>
            <a:prstDash val="solid"/>
          </a:ln>
        </p:spPr>
      </p:sp>
      <p:sp>
        <p:nvSpPr>
          <p:cNvPr id="126" name="Shape 124"/>
          <p:cNvSpPr/>
          <p:nvPr/>
        </p:nvSpPr>
        <p:spPr>
          <a:xfrm>
            <a:off x="5588850" y="2144406"/>
            <a:ext cx="60279" cy="60279"/>
          </a:xfrm>
          <a:prstGeom prst="rect">
            <a:avLst/>
          </a:prstGeom>
          <a:solidFill>
            <a:srgbClr val="43A3A3"/>
          </a:solidFill>
          <a:ln w="12700">
            <a:solidFill>
              <a:srgbClr val="43A3A3"/>
            </a:solidFill>
            <a:prstDash val="solid"/>
          </a:ln>
        </p:spPr>
      </p:sp>
      <p:sp>
        <p:nvSpPr>
          <p:cNvPr id="127" name="Shape 125"/>
          <p:cNvSpPr/>
          <p:nvPr/>
        </p:nvSpPr>
        <p:spPr>
          <a:xfrm>
            <a:off x="5657568" y="2144406"/>
            <a:ext cx="60279" cy="60279"/>
          </a:xfrm>
          <a:prstGeom prst="rect">
            <a:avLst/>
          </a:prstGeom>
          <a:solidFill>
            <a:srgbClr val="43A3A3"/>
          </a:solidFill>
          <a:ln w="12700">
            <a:solidFill>
              <a:srgbClr val="43A3A3"/>
            </a:solidFill>
            <a:prstDash val="solid"/>
          </a:ln>
        </p:spPr>
      </p:sp>
      <p:sp>
        <p:nvSpPr>
          <p:cNvPr id="128" name="Shape 126"/>
          <p:cNvSpPr/>
          <p:nvPr/>
        </p:nvSpPr>
        <p:spPr>
          <a:xfrm>
            <a:off x="5726286" y="2144406"/>
            <a:ext cx="60279" cy="60279"/>
          </a:xfrm>
          <a:prstGeom prst="rect">
            <a:avLst/>
          </a:prstGeom>
          <a:solidFill>
            <a:srgbClr val="43A3A3"/>
          </a:solidFill>
          <a:ln w="12700">
            <a:solidFill>
              <a:srgbClr val="43A3A3"/>
            </a:solidFill>
            <a:prstDash val="solid"/>
          </a:ln>
        </p:spPr>
      </p:sp>
      <p:sp>
        <p:nvSpPr>
          <p:cNvPr id="129" name="Shape 127"/>
          <p:cNvSpPr/>
          <p:nvPr/>
        </p:nvSpPr>
        <p:spPr>
          <a:xfrm>
            <a:off x="5795005" y="2144406"/>
            <a:ext cx="60279" cy="60279"/>
          </a:xfrm>
          <a:prstGeom prst="rect">
            <a:avLst/>
          </a:prstGeom>
          <a:solidFill>
            <a:srgbClr val="43A3A3"/>
          </a:solidFill>
          <a:ln w="12700">
            <a:solidFill>
              <a:srgbClr val="43A3A3"/>
            </a:solidFill>
            <a:prstDash val="solid"/>
          </a:ln>
        </p:spPr>
      </p:sp>
      <p:sp>
        <p:nvSpPr>
          <p:cNvPr id="130" name="Shape 128"/>
          <p:cNvSpPr/>
          <p:nvPr/>
        </p:nvSpPr>
        <p:spPr>
          <a:xfrm>
            <a:off x="5863723" y="2144406"/>
            <a:ext cx="60279" cy="60279"/>
          </a:xfrm>
          <a:prstGeom prst="rect">
            <a:avLst/>
          </a:prstGeom>
          <a:solidFill>
            <a:srgbClr val="43A3A3"/>
          </a:solidFill>
          <a:ln w="12700">
            <a:solidFill>
              <a:srgbClr val="43A3A3"/>
            </a:solidFill>
            <a:prstDash val="solid"/>
          </a:ln>
        </p:spPr>
      </p:sp>
      <p:sp>
        <p:nvSpPr>
          <p:cNvPr id="131" name="Shape 129"/>
          <p:cNvSpPr/>
          <p:nvPr/>
        </p:nvSpPr>
        <p:spPr>
          <a:xfrm>
            <a:off x="5932441" y="2144406"/>
            <a:ext cx="60279" cy="60279"/>
          </a:xfrm>
          <a:prstGeom prst="rect">
            <a:avLst/>
          </a:prstGeom>
          <a:solidFill>
            <a:srgbClr val="43A3A3"/>
          </a:solidFill>
          <a:ln w="12700">
            <a:solidFill>
              <a:srgbClr val="43A3A3"/>
            </a:solidFill>
            <a:prstDash val="solid"/>
          </a:ln>
        </p:spPr>
      </p:sp>
      <p:sp>
        <p:nvSpPr>
          <p:cNvPr id="132" name="Shape 130"/>
          <p:cNvSpPr/>
          <p:nvPr/>
        </p:nvSpPr>
        <p:spPr>
          <a:xfrm>
            <a:off x="6001160" y="2144406"/>
            <a:ext cx="60279" cy="60279"/>
          </a:xfrm>
          <a:prstGeom prst="rect">
            <a:avLst/>
          </a:prstGeom>
          <a:solidFill>
            <a:srgbClr val="43A3A3"/>
          </a:solidFill>
          <a:ln w="12700">
            <a:solidFill>
              <a:srgbClr val="43A3A3"/>
            </a:solidFill>
            <a:prstDash val="solid"/>
          </a:ln>
        </p:spPr>
      </p:sp>
      <p:sp>
        <p:nvSpPr>
          <p:cNvPr id="133" name="Shape 131"/>
          <p:cNvSpPr/>
          <p:nvPr/>
        </p:nvSpPr>
        <p:spPr>
          <a:xfrm>
            <a:off x="6069878" y="2144406"/>
            <a:ext cx="60279" cy="60279"/>
          </a:xfrm>
          <a:prstGeom prst="rect">
            <a:avLst/>
          </a:prstGeom>
          <a:solidFill>
            <a:srgbClr val="43A3A3"/>
          </a:solidFill>
          <a:ln w="12700">
            <a:solidFill>
              <a:srgbClr val="43A3A3"/>
            </a:solidFill>
            <a:prstDash val="solid"/>
          </a:ln>
        </p:spPr>
      </p:sp>
      <p:sp>
        <p:nvSpPr>
          <p:cNvPr id="134" name="Shape 132"/>
          <p:cNvSpPr/>
          <p:nvPr/>
        </p:nvSpPr>
        <p:spPr>
          <a:xfrm>
            <a:off x="6138597" y="2144406"/>
            <a:ext cx="60279" cy="60279"/>
          </a:xfrm>
          <a:prstGeom prst="rect">
            <a:avLst/>
          </a:prstGeom>
          <a:solidFill>
            <a:srgbClr val="43A3A3"/>
          </a:solidFill>
          <a:ln w="12700">
            <a:solidFill>
              <a:srgbClr val="43A3A3"/>
            </a:solidFill>
            <a:prstDash val="solid"/>
          </a:ln>
        </p:spPr>
      </p:sp>
      <p:sp>
        <p:nvSpPr>
          <p:cNvPr id="135" name="Shape 133"/>
          <p:cNvSpPr/>
          <p:nvPr/>
        </p:nvSpPr>
        <p:spPr>
          <a:xfrm>
            <a:off x="5520131" y="2213125"/>
            <a:ext cx="60279" cy="60279"/>
          </a:xfrm>
          <a:prstGeom prst="rect">
            <a:avLst/>
          </a:prstGeom>
          <a:solidFill>
            <a:srgbClr val="43A3A3"/>
          </a:solidFill>
          <a:ln w="12700">
            <a:solidFill>
              <a:srgbClr val="43A3A3"/>
            </a:solidFill>
            <a:prstDash val="solid"/>
          </a:ln>
        </p:spPr>
      </p:sp>
      <p:sp>
        <p:nvSpPr>
          <p:cNvPr id="136" name="Shape 134"/>
          <p:cNvSpPr/>
          <p:nvPr/>
        </p:nvSpPr>
        <p:spPr>
          <a:xfrm>
            <a:off x="5588850" y="2213125"/>
            <a:ext cx="60279" cy="60279"/>
          </a:xfrm>
          <a:prstGeom prst="rect">
            <a:avLst/>
          </a:prstGeom>
          <a:solidFill>
            <a:srgbClr val="43A3A3"/>
          </a:solidFill>
          <a:ln w="12700">
            <a:solidFill>
              <a:srgbClr val="43A3A3"/>
            </a:solidFill>
            <a:prstDash val="solid"/>
          </a:ln>
        </p:spPr>
      </p:sp>
      <p:sp>
        <p:nvSpPr>
          <p:cNvPr id="137" name="Shape 135"/>
          <p:cNvSpPr/>
          <p:nvPr/>
        </p:nvSpPr>
        <p:spPr>
          <a:xfrm>
            <a:off x="5657568" y="2213125"/>
            <a:ext cx="60279" cy="60279"/>
          </a:xfrm>
          <a:prstGeom prst="rect">
            <a:avLst/>
          </a:prstGeom>
          <a:solidFill>
            <a:srgbClr val="43A3A3"/>
          </a:solidFill>
          <a:ln w="12700">
            <a:solidFill>
              <a:srgbClr val="43A3A3"/>
            </a:solidFill>
            <a:prstDash val="solid"/>
          </a:ln>
        </p:spPr>
      </p:sp>
      <p:sp>
        <p:nvSpPr>
          <p:cNvPr id="138" name="Shape 136"/>
          <p:cNvSpPr/>
          <p:nvPr/>
        </p:nvSpPr>
        <p:spPr>
          <a:xfrm>
            <a:off x="5726286" y="2213125"/>
            <a:ext cx="60279" cy="60279"/>
          </a:xfrm>
          <a:prstGeom prst="rect">
            <a:avLst/>
          </a:prstGeom>
          <a:solidFill>
            <a:srgbClr val="43A3A3"/>
          </a:solidFill>
          <a:ln w="12700">
            <a:solidFill>
              <a:srgbClr val="43A3A3"/>
            </a:solidFill>
            <a:prstDash val="solid"/>
          </a:ln>
        </p:spPr>
      </p:sp>
      <p:sp>
        <p:nvSpPr>
          <p:cNvPr id="139" name="Shape 137"/>
          <p:cNvSpPr/>
          <p:nvPr/>
        </p:nvSpPr>
        <p:spPr>
          <a:xfrm>
            <a:off x="5795005" y="2213125"/>
            <a:ext cx="60279" cy="60279"/>
          </a:xfrm>
          <a:prstGeom prst="rect">
            <a:avLst/>
          </a:prstGeom>
          <a:solidFill>
            <a:srgbClr val="43A3A3"/>
          </a:solidFill>
          <a:ln w="12700">
            <a:solidFill>
              <a:srgbClr val="43A3A3"/>
            </a:solidFill>
            <a:prstDash val="solid"/>
          </a:ln>
        </p:spPr>
      </p:sp>
      <p:sp>
        <p:nvSpPr>
          <p:cNvPr id="140" name="Shape 138"/>
          <p:cNvSpPr/>
          <p:nvPr/>
        </p:nvSpPr>
        <p:spPr>
          <a:xfrm>
            <a:off x="5863723" y="2213125"/>
            <a:ext cx="60279" cy="60279"/>
          </a:xfrm>
          <a:prstGeom prst="rect">
            <a:avLst/>
          </a:prstGeom>
          <a:solidFill>
            <a:srgbClr val="43A3A3"/>
          </a:solidFill>
          <a:ln w="12700">
            <a:solidFill>
              <a:srgbClr val="43A3A3"/>
            </a:solidFill>
            <a:prstDash val="solid"/>
          </a:ln>
        </p:spPr>
      </p:sp>
      <p:sp>
        <p:nvSpPr>
          <p:cNvPr id="141" name="Shape 139"/>
          <p:cNvSpPr/>
          <p:nvPr/>
        </p:nvSpPr>
        <p:spPr>
          <a:xfrm>
            <a:off x="5932441" y="2213125"/>
            <a:ext cx="60279" cy="60279"/>
          </a:xfrm>
          <a:prstGeom prst="rect">
            <a:avLst/>
          </a:prstGeom>
          <a:solidFill>
            <a:srgbClr val="43A3A3"/>
          </a:solidFill>
          <a:ln w="12700">
            <a:solidFill>
              <a:srgbClr val="43A3A3"/>
            </a:solidFill>
            <a:prstDash val="solid"/>
          </a:ln>
        </p:spPr>
      </p:sp>
      <p:sp>
        <p:nvSpPr>
          <p:cNvPr id="142" name="Shape 140"/>
          <p:cNvSpPr/>
          <p:nvPr/>
        </p:nvSpPr>
        <p:spPr>
          <a:xfrm>
            <a:off x="6001160" y="2213125"/>
            <a:ext cx="60279" cy="60279"/>
          </a:xfrm>
          <a:prstGeom prst="rect">
            <a:avLst/>
          </a:prstGeom>
          <a:solidFill>
            <a:srgbClr val="43A3A3"/>
          </a:solidFill>
          <a:ln w="12700">
            <a:solidFill>
              <a:srgbClr val="43A3A3"/>
            </a:solidFill>
            <a:prstDash val="solid"/>
          </a:ln>
        </p:spPr>
      </p:sp>
      <p:sp>
        <p:nvSpPr>
          <p:cNvPr id="143" name="Shape 141"/>
          <p:cNvSpPr/>
          <p:nvPr/>
        </p:nvSpPr>
        <p:spPr>
          <a:xfrm>
            <a:off x="6069878" y="2213125"/>
            <a:ext cx="60279" cy="60279"/>
          </a:xfrm>
          <a:prstGeom prst="rect">
            <a:avLst/>
          </a:prstGeom>
          <a:solidFill>
            <a:srgbClr val="43A3A3"/>
          </a:solidFill>
          <a:ln w="12700">
            <a:solidFill>
              <a:srgbClr val="43A3A3"/>
            </a:solidFill>
            <a:prstDash val="solid"/>
          </a:ln>
        </p:spPr>
      </p:sp>
      <p:sp>
        <p:nvSpPr>
          <p:cNvPr id="144" name="Shape 142"/>
          <p:cNvSpPr/>
          <p:nvPr/>
        </p:nvSpPr>
        <p:spPr>
          <a:xfrm>
            <a:off x="6138597" y="2213125"/>
            <a:ext cx="60279" cy="60279"/>
          </a:xfrm>
          <a:prstGeom prst="rect">
            <a:avLst/>
          </a:prstGeom>
          <a:solidFill>
            <a:srgbClr val="43A3A3"/>
          </a:solidFill>
          <a:ln w="12700">
            <a:solidFill>
              <a:srgbClr val="43A3A3"/>
            </a:solidFill>
            <a:prstDash val="solid"/>
          </a:ln>
        </p:spPr>
      </p:sp>
      <p:sp>
        <p:nvSpPr>
          <p:cNvPr id="145" name="Shape 143"/>
          <p:cNvSpPr/>
          <p:nvPr/>
        </p:nvSpPr>
        <p:spPr>
          <a:xfrm>
            <a:off x="5520131" y="2281843"/>
            <a:ext cx="60279" cy="60279"/>
          </a:xfrm>
          <a:prstGeom prst="rect">
            <a:avLst/>
          </a:prstGeom>
          <a:solidFill>
            <a:srgbClr val="43A3A3"/>
          </a:solidFill>
          <a:ln w="12700">
            <a:solidFill>
              <a:srgbClr val="43A3A3"/>
            </a:solidFill>
            <a:prstDash val="solid"/>
          </a:ln>
        </p:spPr>
      </p:sp>
      <p:sp>
        <p:nvSpPr>
          <p:cNvPr id="146" name="Shape 144"/>
          <p:cNvSpPr/>
          <p:nvPr/>
        </p:nvSpPr>
        <p:spPr>
          <a:xfrm>
            <a:off x="5588850" y="2281843"/>
            <a:ext cx="60279" cy="60279"/>
          </a:xfrm>
          <a:prstGeom prst="rect">
            <a:avLst/>
          </a:prstGeom>
          <a:solidFill>
            <a:srgbClr val="43A3A3"/>
          </a:solidFill>
          <a:ln w="12700">
            <a:solidFill>
              <a:srgbClr val="43A3A3"/>
            </a:solidFill>
            <a:prstDash val="solid"/>
          </a:ln>
        </p:spPr>
      </p:sp>
      <p:sp>
        <p:nvSpPr>
          <p:cNvPr id="147" name="Shape 145"/>
          <p:cNvSpPr/>
          <p:nvPr/>
        </p:nvSpPr>
        <p:spPr>
          <a:xfrm>
            <a:off x="5657568" y="2281843"/>
            <a:ext cx="60279" cy="60279"/>
          </a:xfrm>
          <a:prstGeom prst="rect">
            <a:avLst/>
          </a:prstGeom>
          <a:solidFill>
            <a:srgbClr val="43A3A3"/>
          </a:solidFill>
          <a:ln w="12700">
            <a:solidFill>
              <a:srgbClr val="43A3A3"/>
            </a:solidFill>
            <a:prstDash val="solid"/>
          </a:ln>
        </p:spPr>
      </p:sp>
      <p:sp>
        <p:nvSpPr>
          <p:cNvPr id="148" name="Shape 146"/>
          <p:cNvSpPr/>
          <p:nvPr/>
        </p:nvSpPr>
        <p:spPr>
          <a:xfrm>
            <a:off x="5726286" y="2281843"/>
            <a:ext cx="60279" cy="60279"/>
          </a:xfrm>
          <a:prstGeom prst="rect">
            <a:avLst/>
          </a:prstGeom>
          <a:solidFill>
            <a:srgbClr val="43A3A3"/>
          </a:solidFill>
          <a:ln w="12700">
            <a:solidFill>
              <a:srgbClr val="43A3A3"/>
            </a:solidFill>
            <a:prstDash val="solid"/>
          </a:ln>
        </p:spPr>
      </p:sp>
      <p:sp>
        <p:nvSpPr>
          <p:cNvPr id="149" name="Shape 147"/>
          <p:cNvSpPr/>
          <p:nvPr/>
        </p:nvSpPr>
        <p:spPr>
          <a:xfrm>
            <a:off x="5795005" y="2281843"/>
            <a:ext cx="60279" cy="60279"/>
          </a:xfrm>
          <a:prstGeom prst="rect">
            <a:avLst/>
          </a:prstGeom>
          <a:solidFill>
            <a:srgbClr val="43A3A3"/>
          </a:solidFill>
          <a:ln w="12700">
            <a:solidFill>
              <a:srgbClr val="43A3A3"/>
            </a:solidFill>
            <a:prstDash val="solid"/>
          </a:ln>
        </p:spPr>
      </p:sp>
      <p:sp>
        <p:nvSpPr>
          <p:cNvPr id="150" name="Shape 148"/>
          <p:cNvSpPr/>
          <p:nvPr/>
        </p:nvSpPr>
        <p:spPr>
          <a:xfrm>
            <a:off x="5863723" y="2281843"/>
            <a:ext cx="60279" cy="60279"/>
          </a:xfrm>
          <a:prstGeom prst="rect">
            <a:avLst/>
          </a:prstGeom>
          <a:solidFill>
            <a:srgbClr val="43A3A3"/>
          </a:solidFill>
          <a:ln w="12700">
            <a:solidFill>
              <a:srgbClr val="43A3A3"/>
            </a:solidFill>
            <a:prstDash val="solid"/>
          </a:ln>
        </p:spPr>
      </p:sp>
      <p:sp>
        <p:nvSpPr>
          <p:cNvPr id="151" name="Shape 149"/>
          <p:cNvSpPr/>
          <p:nvPr/>
        </p:nvSpPr>
        <p:spPr>
          <a:xfrm>
            <a:off x="5932441" y="2281843"/>
            <a:ext cx="60279" cy="60279"/>
          </a:xfrm>
          <a:prstGeom prst="rect">
            <a:avLst/>
          </a:prstGeom>
          <a:solidFill>
            <a:srgbClr val="43A3A3"/>
          </a:solidFill>
          <a:ln w="12700">
            <a:solidFill>
              <a:srgbClr val="43A3A3"/>
            </a:solidFill>
            <a:prstDash val="solid"/>
          </a:ln>
        </p:spPr>
      </p:sp>
      <p:sp>
        <p:nvSpPr>
          <p:cNvPr id="152" name="Shape 150"/>
          <p:cNvSpPr/>
          <p:nvPr/>
        </p:nvSpPr>
        <p:spPr>
          <a:xfrm>
            <a:off x="6001160" y="2281843"/>
            <a:ext cx="60279" cy="60279"/>
          </a:xfrm>
          <a:prstGeom prst="rect">
            <a:avLst/>
          </a:prstGeom>
          <a:solidFill>
            <a:srgbClr val="43A3A3"/>
          </a:solidFill>
          <a:ln w="12700">
            <a:solidFill>
              <a:srgbClr val="43A3A3"/>
            </a:solidFill>
            <a:prstDash val="solid"/>
          </a:ln>
        </p:spPr>
      </p:sp>
      <p:sp>
        <p:nvSpPr>
          <p:cNvPr id="153" name="Shape 151"/>
          <p:cNvSpPr/>
          <p:nvPr/>
        </p:nvSpPr>
        <p:spPr>
          <a:xfrm>
            <a:off x="6069878" y="2281843"/>
            <a:ext cx="60279" cy="60279"/>
          </a:xfrm>
          <a:prstGeom prst="rect">
            <a:avLst/>
          </a:prstGeom>
          <a:solidFill>
            <a:srgbClr val="43A3A3"/>
          </a:solidFill>
          <a:ln w="12700">
            <a:solidFill>
              <a:srgbClr val="43A3A3"/>
            </a:solidFill>
            <a:prstDash val="solid"/>
          </a:ln>
        </p:spPr>
      </p:sp>
      <p:sp>
        <p:nvSpPr>
          <p:cNvPr id="154" name="Shape 152"/>
          <p:cNvSpPr/>
          <p:nvPr/>
        </p:nvSpPr>
        <p:spPr>
          <a:xfrm>
            <a:off x="6138597" y="2281843"/>
            <a:ext cx="60279" cy="60279"/>
          </a:xfrm>
          <a:prstGeom prst="rect">
            <a:avLst/>
          </a:prstGeom>
          <a:solidFill>
            <a:srgbClr val="43A3A3"/>
          </a:solidFill>
          <a:ln w="12700">
            <a:solidFill>
              <a:srgbClr val="43A3A3"/>
            </a:solidFill>
            <a:prstDash val="solid"/>
          </a:ln>
        </p:spPr>
      </p:sp>
      <p:sp>
        <p:nvSpPr>
          <p:cNvPr id="155" name="Shape 153"/>
          <p:cNvSpPr/>
          <p:nvPr/>
        </p:nvSpPr>
        <p:spPr>
          <a:xfrm>
            <a:off x="5520131" y="2350562"/>
            <a:ext cx="60279" cy="60279"/>
          </a:xfrm>
          <a:prstGeom prst="rect">
            <a:avLst/>
          </a:prstGeom>
          <a:solidFill>
            <a:srgbClr val="43A3A3"/>
          </a:solidFill>
          <a:ln w="12700">
            <a:solidFill>
              <a:srgbClr val="43A3A3"/>
            </a:solidFill>
            <a:prstDash val="solid"/>
          </a:ln>
        </p:spPr>
      </p:sp>
      <p:sp>
        <p:nvSpPr>
          <p:cNvPr id="156" name="Shape 154"/>
          <p:cNvSpPr/>
          <p:nvPr/>
        </p:nvSpPr>
        <p:spPr>
          <a:xfrm>
            <a:off x="5588850" y="2350562"/>
            <a:ext cx="60279" cy="60279"/>
          </a:xfrm>
          <a:prstGeom prst="rect">
            <a:avLst/>
          </a:prstGeom>
          <a:solidFill>
            <a:srgbClr val="43A3A3"/>
          </a:solidFill>
          <a:ln w="12700">
            <a:solidFill>
              <a:srgbClr val="43A3A3"/>
            </a:solidFill>
            <a:prstDash val="solid"/>
          </a:ln>
        </p:spPr>
      </p:sp>
      <p:sp>
        <p:nvSpPr>
          <p:cNvPr id="157" name="Shape 155"/>
          <p:cNvSpPr/>
          <p:nvPr/>
        </p:nvSpPr>
        <p:spPr>
          <a:xfrm>
            <a:off x="5657568" y="2350562"/>
            <a:ext cx="60279" cy="60279"/>
          </a:xfrm>
          <a:prstGeom prst="rect">
            <a:avLst/>
          </a:prstGeom>
          <a:solidFill>
            <a:srgbClr val="43A3A3"/>
          </a:solidFill>
          <a:ln w="12700">
            <a:solidFill>
              <a:srgbClr val="43A3A3"/>
            </a:solidFill>
            <a:prstDash val="solid"/>
          </a:ln>
        </p:spPr>
      </p:sp>
      <p:sp>
        <p:nvSpPr>
          <p:cNvPr id="158" name="Shape 156"/>
          <p:cNvSpPr/>
          <p:nvPr/>
        </p:nvSpPr>
        <p:spPr>
          <a:xfrm>
            <a:off x="5726286" y="2350562"/>
            <a:ext cx="60279" cy="60279"/>
          </a:xfrm>
          <a:prstGeom prst="rect">
            <a:avLst/>
          </a:prstGeom>
          <a:solidFill>
            <a:srgbClr val="43A3A3"/>
          </a:solidFill>
          <a:ln w="12700">
            <a:solidFill>
              <a:srgbClr val="43A3A3"/>
            </a:solidFill>
            <a:prstDash val="solid"/>
          </a:ln>
        </p:spPr>
      </p:sp>
      <p:sp>
        <p:nvSpPr>
          <p:cNvPr id="159" name="Shape 157"/>
          <p:cNvSpPr/>
          <p:nvPr/>
        </p:nvSpPr>
        <p:spPr>
          <a:xfrm>
            <a:off x="5795005" y="2350562"/>
            <a:ext cx="60279" cy="60279"/>
          </a:xfrm>
          <a:prstGeom prst="rect">
            <a:avLst/>
          </a:prstGeom>
          <a:solidFill>
            <a:srgbClr val="43A3A3"/>
          </a:solidFill>
          <a:ln w="12700">
            <a:solidFill>
              <a:srgbClr val="43A3A3"/>
            </a:solidFill>
            <a:prstDash val="solid"/>
          </a:ln>
        </p:spPr>
      </p:sp>
      <p:sp>
        <p:nvSpPr>
          <p:cNvPr id="160" name="Shape 158"/>
          <p:cNvSpPr/>
          <p:nvPr/>
        </p:nvSpPr>
        <p:spPr>
          <a:xfrm>
            <a:off x="5863723" y="2350562"/>
            <a:ext cx="60279" cy="60279"/>
          </a:xfrm>
          <a:prstGeom prst="rect">
            <a:avLst/>
          </a:prstGeom>
          <a:solidFill>
            <a:srgbClr val="43A3A3"/>
          </a:solidFill>
          <a:ln w="12700">
            <a:solidFill>
              <a:srgbClr val="43A3A3"/>
            </a:solidFill>
            <a:prstDash val="solid"/>
          </a:ln>
        </p:spPr>
      </p:sp>
      <p:sp>
        <p:nvSpPr>
          <p:cNvPr id="161" name="Shape 159"/>
          <p:cNvSpPr/>
          <p:nvPr/>
        </p:nvSpPr>
        <p:spPr>
          <a:xfrm>
            <a:off x="5932441" y="2350562"/>
            <a:ext cx="60279" cy="60279"/>
          </a:xfrm>
          <a:prstGeom prst="rect">
            <a:avLst/>
          </a:prstGeom>
          <a:solidFill>
            <a:srgbClr val="43A3A3"/>
          </a:solidFill>
          <a:ln w="12700">
            <a:solidFill>
              <a:srgbClr val="43A3A3"/>
            </a:solidFill>
            <a:prstDash val="solid"/>
          </a:ln>
        </p:spPr>
      </p:sp>
      <p:sp>
        <p:nvSpPr>
          <p:cNvPr id="162" name="Shape 160"/>
          <p:cNvSpPr/>
          <p:nvPr/>
        </p:nvSpPr>
        <p:spPr>
          <a:xfrm>
            <a:off x="6001160" y="2350562"/>
            <a:ext cx="60279" cy="60279"/>
          </a:xfrm>
          <a:prstGeom prst="rect">
            <a:avLst/>
          </a:prstGeom>
          <a:solidFill>
            <a:srgbClr val="43A3A3"/>
          </a:solidFill>
          <a:ln w="12700">
            <a:solidFill>
              <a:srgbClr val="43A3A3"/>
            </a:solidFill>
            <a:prstDash val="solid"/>
          </a:ln>
        </p:spPr>
      </p:sp>
      <p:sp>
        <p:nvSpPr>
          <p:cNvPr id="163" name="Shape 161"/>
          <p:cNvSpPr/>
          <p:nvPr/>
        </p:nvSpPr>
        <p:spPr>
          <a:xfrm>
            <a:off x="6069878" y="2350562"/>
            <a:ext cx="60279" cy="60279"/>
          </a:xfrm>
          <a:prstGeom prst="rect">
            <a:avLst/>
          </a:prstGeom>
          <a:solidFill>
            <a:srgbClr val="43A3A3"/>
          </a:solidFill>
          <a:ln w="12700">
            <a:solidFill>
              <a:srgbClr val="43A3A3"/>
            </a:solidFill>
            <a:prstDash val="solid"/>
          </a:ln>
        </p:spPr>
      </p:sp>
      <p:sp>
        <p:nvSpPr>
          <p:cNvPr id="164" name="Shape 162"/>
          <p:cNvSpPr/>
          <p:nvPr/>
        </p:nvSpPr>
        <p:spPr>
          <a:xfrm>
            <a:off x="6138597" y="2350562"/>
            <a:ext cx="60279" cy="60279"/>
          </a:xfrm>
          <a:prstGeom prst="rect">
            <a:avLst/>
          </a:prstGeom>
          <a:solidFill>
            <a:srgbClr val="43A3A3"/>
          </a:solidFill>
          <a:ln w="12700">
            <a:solidFill>
              <a:srgbClr val="43A3A3"/>
            </a:solidFill>
            <a:prstDash val="solid"/>
          </a:ln>
        </p:spPr>
      </p:sp>
      <p:sp>
        <p:nvSpPr>
          <p:cNvPr id="165" name="Shape 163"/>
          <p:cNvSpPr/>
          <p:nvPr/>
        </p:nvSpPr>
        <p:spPr>
          <a:xfrm>
            <a:off x="5520131" y="2419280"/>
            <a:ext cx="60279" cy="60279"/>
          </a:xfrm>
          <a:prstGeom prst="rect">
            <a:avLst/>
          </a:prstGeom>
          <a:solidFill>
            <a:srgbClr val="43A3A3"/>
          </a:solidFill>
          <a:ln w="12700">
            <a:solidFill>
              <a:srgbClr val="43A3A3"/>
            </a:solidFill>
            <a:prstDash val="solid"/>
          </a:ln>
        </p:spPr>
      </p:sp>
      <p:sp>
        <p:nvSpPr>
          <p:cNvPr id="166" name="Shape 164"/>
          <p:cNvSpPr/>
          <p:nvPr/>
        </p:nvSpPr>
        <p:spPr>
          <a:xfrm>
            <a:off x="5588850" y="2419280"/>
            <a:ext cx="60279" cy="60279"/>
          </a:xfrm>
          <a:prstGeom prst="rect">
            <a:avLst/>
          </a:prstGeom>
          <a:solidFill>
            <a:srgbClr val="43A3A3"/>
          </a:solidFill>
          <a:ln w="12700">
            <a:solidFill>
              <a:srgbClr val="43A3A3"/>
            </a:solidFill>
            <a:prstDash val="solid"/>
          </a:ln>
        </p:spPr>
      </p:sp>
      <p:sp>
        <p:nvSpPr>
          <p:cNvPr id="167" name="Shape 165"/>
          <p:cNvSpPr/>
          <p:nvPr/>
        </p:nvSpPr>
        <p:spPr>
          <a:xfrm>
            <a:off x="5657568" y="2419280"/>
            <a:ext cx="60279" cy="60279"/>
          </a:xfrm>
          <a:prstGeom prst="rect">
            <a:avLst/>
          </a:prstGeom>
          <a:solidFill>
            <a:srgbClr val="43A3A3"/>
          </a:solidFill>
          <a:ln w="12700">
            <a:solidFill>
              <a:srgbClr val="43A3A3"/>
            </a:solidFill>
            <a:prstDash val="solid"/>
          </a:ln>
        </p:spPr>
      </p:sp>
      <p:sp>
        <p:nvSpPr>
          <p:cNvPr id="168" name="Shape 166"/>
          <p:cNvSpPr/>
          <p:nvPr/>
        </p:nvSpPr>
        <p:spPr>
          <a:xfrm>
            <a:off x="5726286" y="2419280"/>
            <a:ext cx="60279" cy="60279"/>
          </a:xfrm>
          <a:prstGeom prst="rect">
            <a:avLst/>
          </a:prstGeom>
          <a:solidFill>
            <a:srgbClr val="43A3A3"/>
          </a:solidFill>
          <a:ln w="12700">
            <a:solidFill>
              <a:srgbClr val="43A3A3"/>
            </a:solidFill>
            <a:prstDash val="solid"/>
          </a:ln>
        </p:spPr>
      </p:sp>
      <p:sp>
        <p:nvSpPr>
          <p:cNvPr id="169" name="Shape 167"/>
          <p:cNvSpPr/>
          <p:nvPr/>
        </p:nvSpPr>
        <p:spPr>
          <a:xfrm>
            <a:off x="5795005" y="2419280"/>
            <a:ext cx="60279" cy="60279"/>
          </a:xfrm>
          <a:prstGeom prst="rect">
            <a:avLst/>
          </a:prstGeom>
          <a:solidFill>
            <a:srgbClr val="43A3A3"/>
          </a:solidFill>
          <a:ln w="12700">
            <a:solidFill>
              <a:srgbClr val="43A3A3"/>
            </a:solidFill>
            <a:prstDash val="solid"/>
          </a:ln>
        </p:spPr>
      </p:sp>
      <p:sp>
        <p:nvSpPr>
          <p:cNvPr id="170" name="Shape 168"/>
          <p:cNvSpPr/>
          <p:nvPr/>
        </p:nvSpPr>
        <p:spPr>
          <a:xfrm>
            <a:off x="5863723" y="2419280"/>
            <a:ext cx="60279" cy="60279"/>
          </a:xfrm>
          <a:prstGeom prst="rect">
            <a:avLst/>
          </a:prstGeom>
          <a:solidFill>
            <a:srgbClr val="E3E2DA"/>
          </a:solidFill>
          <a:ln w="12700">
            <a:solidFill>
              <a:srgbClr val="E3E2DA"/>
            </a:solidFill>
            <a:prstDash val="solid"/>
          </a:ln>
        </p:spPr>
      </p:sp>
      <p:sp>
        <p:nvSpPr>
          <p:cNvPr id="171" name="Shape 169"/>
          <p:cNvSpPr/>
          <p:nvPr/>
        </p:nvSpPr>
        <p:spPr>
          <a:xfrm>
            <a:off x="5932441" y="2419280"/>
            <a:ext cx="60279" cy="60279"/>
          </a:xfrm>
          <a:prstGeom prst="rect">
            <a:avLst/>
          </a:prstGeom>
          <a:solidFill>
            <a:srgbClr val="E3E2DA"/>
          </a:solidFill>
          <a:ln w="12700">
            <a:solidFill>
              <a:srgbClr val="E3E2DA"/>
            </a:solidFill>
            <a:prstDash val="solid"/>
          </a:ln>
        </p:spPr>
      </p:sp>
      <p:sp>
        <p:nvSpPr>
          <p:cNvPr id="172" name="Shape 170"/>
          <p:cNvSpPr/>
          <p:nvPr/>
        </p:nvSpPr>
        <p:spPr>
          <a:xfrm>
            <a:off x="6001160" y="2419280"/>
            <a:ext cx="60279" cy="60279"/>
          </a:xfrm>
          <a:prstGeom prst="rect">
            <a:avLst/>
          </a:prstGeom>
          <a:solidFill>
            <a:srgbClr val="E3E2DA"/>
          </a:solidFill>
          <a:ln w="12700">
            <a:solidFill>
              <a:srgbClr val="E3E2DA"/>
            </a:solidFill>
            <a:prstDash val="solid"/>
          </a:ln>
        </p:spPr>
      </p:sp>
      <p:sp>
        <p:nvSpPr>
          <p:cNvPr id="173" name="Shape 171"/>
          <p:cNvSpPr/>
          <p:nvPr/>
        </p:nvSpPr>
        <p:spPr>
          <a:xfrm>
            <a:off x="6069878" y="2419280"/>
            <a:ext cx="60279" cy="60279"/>
          </a:xfrm>
          <a:prstGeom prst="rect">
            <a:avLst/>
          </a:prstGeom>
          <a:solidFill>
            <a:srgbClr val="E3E2DA"/>
          </a:solidFill>
          <a:ln w="12700">
            <a:solidFill>
              <a:srgbClr val="E3E2DA"/>
            </a:solidFill>
            <a:prstDash val="solid"/>
          </a:ln>
        </p:spPr>
      </p:sp>
      <p:sp>
        <p:nvSpPr>
          <p:cNvPr id="174" name="Shape 172"/>
          <p:cNvSpPr/>
          <p:nvPr/>
        </p:nvSpPr>
        <p:spPr>
          <a:xfrm>
            <a:off x="6138597" y="2419280"/>
            <a:ext cx="60279" cy="60279"/>
          </a:xfrm>
          <a:prstGeom prst="rect">
            <a:avLst/>
          </a:prstGeom>
          <a:solidFill>
            <a:srgbClr val="E3E2DA"/>
          </a:solidFill>
          <a:ln w="12700">
            <a:solidFill>
              <a:srgbClr val="E3E2DA"/>
            </a:solidFill>
            <a:prstDash val="solid"/>
          </a:ln>
        </p:spPr>
      </p:sp>
      <p:sp>
        <p:nvSpPr>
          <p:cNvPr id="175" name="Shape 173"/>
          <p:cNvSpPr/>
          <p:nvPr/>
        </p:nvSpPr>
        <p:spPr>
          <a:xfrm>
            <a:off x="5520131" y="2487998"/>
            <a:ext cx="60279" cy="60279"/>
          </a:xfrm>
          <a:prstGeom prst="rect">
            <a:avLst/>
          </a:prstGeom>
          <a:solidFill>
            <a:srgbClr val="E3E2DA"/>
          </a:solidFill>
          <a:ln w="12700">
            <a:solidFill>
              <a:srgbClr val="E3E2DA"/>
            </a:solidFill>
            <a:prstDash val="solid"/>
          </a:ln>
        </p:spPr>
      </p:sp>
      <p:sp>
        <p:nvSpPr>
          <p:cNvPr id="176" name="Shape 174"/>
          <p:cNvSpPr/>
          <p:nvPr/>
        </p:nvSpPr>
        <p:spPr>
          <a:xfrm>
            <a:off x="5588850" y="2487998"/>
            <a:ext cx="60279" cy="60279"/>
          </a:xfrm>
          <a:prstGeom prst="rect">
            <a:avLst/>
          </a:prstGeom>
          <a:solidFill>
            <a:srgbClr val="E3E2DA"/>
          </a:solidFill>
          <a:ln w="12700">
            <a:solidFill>
              <a:srgbClr val="E3E2DA"/>
            </a:solidFill>
            <a:prstDash val="solid"/>
          </a:ln>
        </p:spPr>
      </p:sp>
      <p:sp>
        <p:nvSpPr>
          <p:cNvPr id="177" name="Shape 175"/>
          <p:cNvSpPr/>
          <p:nvPr/>
        </p:nvSpPr>
        <p:spPr>
          <a:xfrm>
            <a:off x="5657568" y="2487998"/>
            <a:ext cx="60279" cy="60279"/>
          </a:xfrm>
          <a:prstGeom prst="rect">
            <a:avLst/>
          </a:prstGeom>
          <a:solidFill>
            <a:srgbClr val="E3E2DA"/>
          </a:solidFill>
          <a:ln w="12700">
            <a:solidFill>
              <a:srgbClr val="E3E2DA"/>
            </a:solidFill>
            <a:prstDash val="solid"/>
          </a:ln>
        </p:spPr>
      </p:sp>
      <p:sp>
        <p:nvSpPr>
          <p:cNvPr id="178" name="Shape 176"/>
          <p:cNvSpPr/>
          <p:nvPr/>
        </p:nvSpPr>
        <p:spPr>
          <a:xfrm>
            <a:off x="5726286" y="2487998"/>
            <a:ext cx="60279" cy="60279"/>
          </a:xfrm>
          <a:prstGeom prst="rect">
            <a:avLst/>
          </a:prstGeom>
          <a:solidFill>
            <a:srgbClr val="E3E2DA"/>
          </a:solidFill>
          <a:ln w="12700">
            <a:solidFill>
              <a:srgbClr val="E3E2DA"/>
            </a:solidFill>
            <a:prstDash val="solid"/>
          </a:ln>
        </p:spPr>
      </p:sp>
      <p:sp>
        <p:nvSpPr>
          <p:cNvPr id="179" name="Shape 177"/>
          <p:cNvSpPr/>
          <p:nvPr/>
        </p:nvSpPr>
        <p:spPr>
          <a:xfrm>
            <a:off x="5795005" y="2487998"/>
            <a:ext cx="60279" cy="60279"/>
          </a:xfrm>
          <a:prstGeom prst="rect">
            <a:avLst/>
          </a:prstGeom>
          <a:solidFill>
            <a:srgbClr val="E3E2DA"/>
          </a:solidFill>
          <a:ln w="12700">
            <a:solidFill>
              <a:srgbClr val="E3E2DA"/>
            </a:solidFill>
            <a:prstDash val="solid"/>
          </a:ln>
        </p:spPr>
      </p:sp>
      <p:sp>
        <p:nvSpPr>
          <p:cNvPr id="180" name="Shape 178"/>
          <p:cNvSpPr/>
          <p:nvPr/>
        </p:nvSpPr>
        <p:spPr>
          <a:xfrm>
            <a:off x="5863723" y="2487998"/>
            <a:ext cx="60279" cy="60279"/>
          </a:xfrm>
          <a:prstGeom prst="rect">
            <a:avLst/>
          </a:prstGeom>
          <a:solidFill>
            <a:srgbClr val="E3E2DA"/>
          </a:solidFill>
          <a:ln w="12700">
            <a:solidFill>
              <a:srgbClr val="E3E2DA"/>
            </a:solidFill>
            <a:prstDash val="solid"/>
          </a:ln>
        </p:spPr>
      </p:sp>
      <p:sp>
        <p:nvSpPr>
          <p:cNvPr id="181" name="Shape 179"/>
          <p:cNvSpPr/>
          <p:nvPr/>
        </p:nvSpPr>
        <p:spPr>
          <a:xfrm>
            <a:off x="5932441" y="2487998"/>
            <a:ext cx="60279" cy="60279"/>
          </a:xfrm>
          <a:prstGeom prst="rect">
            <a:avLst/>
          </a:prstGeom>
          <a:solidFill>
            <a:srgbClr val="E3E2DA"/>
          </a:solidFill>
          <a:ln w="12700">
            <a:solidFill>
              <a:srgbClr val="E3E2DA"/>
            </a:solidFill>
            <a:prstDash val="solid"/>
          </a:ln>
        </p:spPr>
      </p:sp>
      <p:sp>
        <p:nvSpPr>
          <p:cNvPr id="182" name="Shape 180"/>
          <p:cNvSpPr/>
          <p:nvPr/>
        </p:nvSpPr>
        <p:spPr>
          <a:xfrm>
            <a:off x="6001160" y="2487998"/>
            <a:ext cx="60279" cy="60279"/>
          </a:xfrm>
          <a:prstGeom prst="rect">
            <a:avLst/>
          </a:prstGeom>
          <a:solidFill>
            <a:srgbClr val="E3E2DA"/>
          </a:solidFill>
          <a:ln w="12700">
            <a:solidFill>
              <a:srgbClr val="E3E2DA"/>
            </a:solidFill>
            <a:prstDash val="solid"/>
          </a:ln>
        </p:spPr>
      </p:sp>
      <p:sp>
        <p:nvSpPr>
          <p:cNvPr id="183" name="Shape 181"/>
          <p:cNvSpPr/>
          <p:nvPr/>
        </p:nvSpPr>
        <p:spPr>
          <a:xfrm>
            <a:off x="6069878" y="2487998"/>
            <a:ext cx="60279" cy="60279"/>
          </a:xfrm>
          <a:prstGeom prst="rect">
            <a:avLst/>
          </a:prstGeom>
          <a:solidFill>
            <a:srgbClr val="E3E2DA"/>
          </a:solidFill>
          <a:ln w="12700">
            <a:solidFill>
              <a:srgbClr val="E3E2DA"/>
            </a:solidFill>
            <a:prstDash val="solid"/>
          </a:ln>
        </p:spPr>
      </p:sp>
      <p:sp>
        <p:nvSpPr>
          <p:cNvPr id="184" name="Shape 182"/>
          <p:cNvSpPr/>
          <p:nvPr/>
        </p:nvSpPr>
        <p:spPr>
          <a:xfrm>
            <a:off x="6138597" y="2487998"/>
            <a:ext cx="60279" cy="60279"/>
          </a:xfrm>
          <a:prstGeom prst="rect">
            <a:avLst/>
          </a:prstGeom>
          <a:solidFill>
            <a:srgbClr val="E3E2DA"/>
          </a:solidFill>
          <a:ln w="12700">
            <a:solidFill>
              <a:srgbClr val="E3E2DA"/>
            </a:solidFill>
            <a:prstDash val="solid"/>
          </a:ln>
        </p:spPr>
      </p:sp>
      <p:sp>
        <p:nvSpPr>
          <p:cNvPr id="185" name="Shape 183"/>
          <p:cNvSpPr/>
          <p:nvPr/>
        </p:nvSpPr>
        <p:spPr>
          <a:xfrm>
            <a:off x="5520131" y="2556717"/>
            <a:ext cx="60279" cy="60279"/>
          </a:xfrm>
          <a:prstGeom prst="rect">
            <a:avLst/>
          </a:prstGeom>
          <a:solidFill>
            <a:srgbClr val="E3E2DA"/>
          </a:solidFill>
          <a:ln w="12700">
            <a:solidFill>
              <a:srgbClr val="E3E2DA"/>
            </a:solidFill>
            <a:prstDash val="solid"/>
          </a:ln>
        </p:spPr>
      </p:sp>
      <p:sp>
        <p:nvSpPr>
          <p:cNvPr id="186" name="Shape 184"/>
          <p:cNvSpPr/>
          <p:nvPr/>
        </p:nvSpPr>
        <p:spPr>
          <a:xfrm>
            <a:off x="5588850" y="2556717"/>
            <a:ext cx="60279" cy="60279"/>
          </a:xfrm>
          <a:prstGeom prst="rect">
            <a:avLst/>
          </a:prstGeom>
          <a:solidFill>
            <a:srgbClr val="E3E2DA"/>
          </a:solidFill>
          <a:ln w="12700">
            <a:solidFill>
              <a:srgbClr val="E3E2DA"/>
            </a:solidFill>
            <a:prstDash val="solid"/>
          </a:ln>
        </p:spPr>
      </p:sp>
      <p:sp>
        <p:nvSpPr>
          <p:cNvPr id="187" name="Shape 185"/>
          <p:cNvSpPr/>
          <p:nvPr/>
        </p:nvSpPr>
        <p:spPr>
          <a:xfrm>
            <a:off x="5657568" y="2556717"/>
            <a:ext cx="60279" cy="60279"/>
          </a:xfrm>
          <a:prstGeom prst="rect">
            <a:avLst/>
          </a:prstGeom>
          <a:solidFill>
            <a:srgbClr val="E3E2DA"/>
          </a:solidFill>
          <a:ln w="12700">
            <a:solidFill>
              <a:srgbClr val="E3E2DA"/>
            </a:solidFill>
            <a:prstDash val="solid"/>
          </a:ln>
        </p:spPr>
      </p:sp>
      <p:sp>
        <p:nvSpPr>
          <p:cNvPr id="188" name="Shape 186"/>
          <p:cNvSpPr/>
          <p:nvPr/>
        </p:nvSpPr>
        <p:spPr>
          <a:xfrm>
            <a:off x="5726286" y="2556717"/>
            <a:ext cx="60279" cy="60279"/>
          </a:xfrm>
          <a:prstGeom prst="rect">
            <a:avLst/>
          </a:prstGeom>
          <a:solidFill>
            <a:srgbClr val="E3E2DA"/>
          </a:solidFill>
          <a:ln w="12700">
            <a:solidFill>
              <a:srgbClr val="E3E2DA"/>
            </a:solidFill>
            <a:prstDash val="solid"/>
          </a:ln>
        </p:spPr>
      </p:sp>
      <p:sp>
        <p:nvSpPr>
          <p:cNvPr id="189" name="Shape 187"/>
          <p:cNvSpPr/>
          <p:nvPr/>
        </p:nvSpPr>
        <p:spPr>
          <a:xfrm>
            <a:off x="5795005" y="2556717"/>
            <a:ext cx="60279" cy="60279"/>
          </a:xfrm>
          <a:prstGeom prst="rect">
            <a:avLst/>
          </a:prstGeom>
          <a:solidFill>
            <a:srgbClr val="E3E2DA"/>
          </a:solidFill>
          <a:ln w="12700">
            <a:solidFill>
              <a:srgbClr val="E3E2DA"/>
            </a:solidFill>
            <a:prstDash val="solid"/>
          </a:ln>
        </p:spPr>
      </p:sp>
      <p:sp>
        <p:nvSpPr>
          <p:cNvPr id="190" name="Shape 188"/>
          <p:cNvSpPr/>
          <p:nvPr/>
        </p:nvSpPr>
        <p:spPr>
          <a:xfrm>
            <a:off x="5863723" y="2556717"/>
            <a:ext cx="60279" cy="60279"/>
          </a:xfrm>
          <a:prstGeom prst="rect">
            <a:avLst/>
          </a:prstGeom>
          <a:solidFill>
            <a:srgbClr val="E3E2DA"/>
          </a:solidFill>
          <a:ln w="12700">
            <a:solidFill>
              <a:srgbClr val="E3E2DA"/>
            </a:solidFill>
            <a:prstDash val="solid"/>
          </a:ln>
        </p:spPr>
      </p:sp>
      <p:sp>
        <p:nvSpPr>
          <p:cNvPr id="191" name="Shape 189"/>
          <p:cNvSpPr/>
          <p:nvPr/>
        </p:nvSpPr>
        <p:spPr>
          <a:xfrm>
            <a:off x="5932441" y="2556717"/>
            <a:ext cx="60279" cy="60279"/>
          </a:xfrm>
          <a:prstGeom prst="rect">
            <a:avLst/>
          </a:prstGeom>
          <a:solidFill>
            <a:srgbClr val="E3E2DA"/>
          </a:solidFill>
          <a:ln w="12700">
            <a:solidFill>
              <a:srgbClr val="E3E2DA"/>
            </a:solidFill>
            <a:prstDash val="solid"/>
          </a:ln>
        </p:spPr>
      </p:sp>
      <p:sp>
        <p:nvSpPr>
          <p:cNvPr id="192" name="Shape 190"/>
          <p:cNvSpPr/>
          <p:nvPr/>
        </p:nvSpPr>
        <p:spPr>
          <a:xfrm>
            <a:off x="6001160" y="2556717"/>
            <a:ext cx="60279" cy="60279"/>
          </a:xfrm>
          <a:prstGeom prst="rect">
            <a:avLst/>
          </a:prstGeom>
          <a:solidFill>
            <a:srgbClr val="E3E2DA"/>
          </a:solidFill>
          <a:ln w="12700">
            <a:solidFill>
              <a:srgbClr val="E3E2DA"/>
            </a:solidFill>
            <a:prstDash val="solid"/>
          </a:ln>
        </p:spPr>
      </p:sp>
      <p:sp>
        <p:nvSpPr>
          <p:cNvPr id="193" name="Shape 191"/>
          <p:cNvSpPr/>
          <p:nvPr/>
        </p:nvSpPr>
        <p:spPr>
          <a:xfrm>
            <a:off x="6069878" y="2556717"/>
            <a:ext cx="60279" cy="60279"/>
          </a:xfrm>
          <a:prstGeom prst="rect">
            <a:avLst/>
          </a:prstGeom>
          <a:solidFill>
            <a:srgbClr val="E3E2DA"/>
          </a:solidFill>
          <a:ln w="12700">
            <a:solidFill>
              <a:srgbClr val="E3E2DA"/>
            </a:solidFill>
            <a:prstDash val="solid"/>
          </a:ln>
        </p:spPr>
      </p:sp>
      <p:sp>
        <p:nvSpPr>
          <p:cNvPr id="194" name="Shape 192"/>
          <p:cNvSpPr/>
          <p:nvPr/>
        </p:nvSpPr>
        <p:spPr>
          <a:xfrm>
            <a:off x="6138597" y="2556717"/>
            <a:ext cx="60279" cy="60279"/>
          </a:xfrm>
          <a:prstGeom prst="rect">
            <a:avLst/>
          </a:prstGeom>
          <a:solidFill>
            <a:srgbClr val="E3E2DA"/>
          </a:solidFill>
          <a:ln w="12700">
            <a:solidFill>
              <a:srgbClr val="E3E2DA"/>
            </a:solidFill>
            <a:prstDash val="solid"/>
          </a:ln>
        </p:spPr>
      </p:sp>
      <p:sp>
        <p:nvSpPr>
          <p:cNvPr id="195" name="Shape 193"/>
          <p:cNvSpPr/>
          <p:nvPr/>
        </p:nvSpPr>
        <p:spPr>
          <a:xfrm>
            <a:off x="5520131" y="2625435"/>
            <a:ext cx="60279" cy="60279"/>
          </a:xfrm>
          <a:prstGeom prst="rect">
            <a:avLst/>
          </a:prstGeom>
          <a:solidFill>
            <a:srgbClr val="E3E2DA"/>
          </a:solidFill>
          <a:ln w="12700">
            <a:solidFill>
              <a:srgbClr val="E3E2DA"/>
            </a:solidFill>
            <a:prstDash val="solid"/>
          </a:ln>
        </p:spPr>
      </p:sp>
      <p:sp>
        <p:nvSpPr>
          <p:cNvPr id="196" name="Shape 194"/>
          <p:cNvSpPr/>
          <p:nvPr/>
        </p:nvSpPr>
        <p:spPr>
          <a:xfrm>
            <a:off x="5588850" y="2625435"/>
            <a:ext cx="60279" cy="60279"/>
          </a:xfrm>
          <a:prstGeom prst="rect">
            <a:avLst/>
          </a:prstGeom>
          <a:solidFill>
            <a:srgbClr val="E3E2DA"/>
          </a:solidFill>
          <a:ln w="12700">
            <a:solidFill>
              <a:srgbClr val="E3E2DA"/>
            </a:solidFill>
            <a:prstDash val="solid"/>
          </a:ln>
        </p:spPr>
      </p:sp>
      <p:sp>
        <p:nvSpPr>
          <p:cNvPr id="197" name="Shape 195"/>
          <p:cNvSpPr/>
          <p:nvPr/>
        </p:nvSpPr>
        <p:spPr>
          <a:xfrm>
            <a:off x="5657568" y="2625435"/>
            <a:ext cx="60279" cy="60279"/>
          </a:xfrm>
          <a:prstGeom prst="rect">
            <a:avLst/>
          </a:prstGeom>
          <a:solidFill>
            <a:srgbClr val="E3E2DA"/>
          </a:solidFill>
          <a:ln w="12700">
            <a:solidFill>
              <a:srgbClr val="E3E2DA"/>
            </a:solidFill>
            <a:prstDash val="solid"/>
          </a:ln>
        </p:spPr>
      </p:sp>
      <p:sp>
        <p:nvSpPr>
          <p:cNvPr id="198" name="Shape 196"/>
          <p:cNvSpPr/>
          <p:nvPr/>
        </p:nvSpPr>
        <p:spPr>
          <a:xfrm>
            <a:off x="5726286" y="2625435"/>
            <a:ext cx="60279" cy="60279"/>
          </a:xfrm>
          <a:prstGeom prst="rect">
            <a:avLst/>
          </a:prstGeom>
          <a:solidFill>
            <a:srgbClr val="E3E2DA"/>
          </a:solidFill>
          <a:ln w="12700">
            <a:solidFill>
              <a:srgbClr val="E3E2DA"/>
            </a:solidFill>
            <a:prstDash val="solid"/>
          </a:ln>
        </p:spPr>
      </p:sp>
      <p:sp>
        <p:nvSpPr>
          <p:cNvPr id="199" name="Shape 197"/>
          <p:cNvSpPr/>
          <p:nvPr/>
        </p:nvSpPr>
        <p:spPr>
          <a:xfrm>
            <a:off x="5795005" y="2625435"/>
            <a:ext cx="60279" cy="60279"/>
          </a:xfrm>
          <a:prstGeom prst="rect">
            <a:avLst/>
          </a:prstGeom>
          <a:solidFill>
            <a:srgbClr val="E3E2DA"/>
          </a:solidFill>
          <a:ln w="12700">
            <a:solidFill>
              <a:srgbClr val="E3E2DA"/>
            </a:solidFill>
            <a:prstDash val="solid"/>
          </a:ln>
        </p:spPr>
      </p:sp>
      <p:sp>
        <p:nvSpPr>
          <p:cNvPr id="200" name="Shape 198"/>
          <p:cNvSpPr/>
          <p:nvPr/>
        </p:nvSpPr>
        <p:spPr>
          <a:xfrm>
            <a:off x="5863723" y="2625435"/>
            <a:ext cx="60279" cy="60279"/>
          </a:xfrm>
          <a:prstGeom prst="rect">
            <a:avLst/>
          </a:prstGeom>
          <a:solidFill>
            <a:srgbClr val="E3E2DA"/>
          </a:solidFill>
          <a:ln w="12700">
            <a:solidFill>
              <a:srgbClr val="E3E2DA"/>
            </a:solidFill>
            <a:prstDash val="solid"/>
          </a:ln>
        </p:spPr>
      </p:sp>
      <p:sp>
        <p:nvSpPr>
          <p:cNvPr id="201" name="Shape 199"/>
          <p:cNvSpPr/>
          <p:nvPr/>
        </p:nvSpPr>
        <p:spPr>
          <a:xfrm>
            <a:off x="5932441" y="2625435"/>
            <a:ext cx="60279" cy="60279"/>
          </a:xfrm>
          <a:prstGeom prst="rect">
            <a:avLst/>
          </a:prstGeom>
          <a:solidFill>
            <a:srgbClr val="E3E2DA"/>
          </a:solidFill>
          <a:ln w="12700">
            <a:solidFill>
              <a:srgbClr val="E3E2DA"/>
            </a:solidFill>
            <a:prstDash val="solid"/>
          </a:ln>
        </p:spPr>
      </p:sp>
      <p:sp>
        <p:nvSpPr>
          <p:cNvPr id="202" name="Shape 200"/>
          <p:cNvSpPr/>
          <p:nvPr/>
        </p:nvSpPr>
        <p:spPr>
          <a:xfrm>
            <a:off x="6001160" y="2625435"/>
            <a:ext cx="60279" cy="60279"/>
          </a:xfrm>
          <a:prstGeom prst="rect">
            <a:avLst/>
          </a:prstGeom>
          <a:solidFill>
            <a:srgbClr val="E3E2DA"/>
          </a:solidFill>
          <a:ln w="12700">
            <a:solidFill>
              <a:srgbClr val="E3E2DA"/>
            </a:solidFill>
            <a:prstDash val="solid"/>
          </a:ln>
        </p:spPr>
      </p:sp>
      <p:sp>
        <p:nvSpPr>
          <p:cNvPr id="203" name="Shape 201"/>
          <p:cNvSpPr/>
          <p:nvPr/>
        </p:nvSpPr>
        <p:spPr>
          <a:xfrm>
            <a:off x="6069878" y="2625435"/>
            <a:ext cx="60279" cy="60279"/>
          </a:xfrm>
          <a:prstGeom prst="rect">
            <a:avLst/>
          </a:prstGeom>
          <a:solidFill>
            <a:srgbClr val="E3E2DA"/>
          </a:solidFill>
          <a:ln w="12700">
            <a:solidFill>
              <a:srgbClr val="E3E2DA"/>
            </a:solidFill>
            <a:prstDash val="solid"/>
          </a:ln>
        </p:spPr>
      </p:sp>
      <p:sp>
        <p:nvSpPr>
          <p:cNvPr id="204" name="Shape 202"/>
          <p:cNvSpPr/>
          <p:nvPr/>
        </p:nvSpPr>
        <p:spPr>
          <a:xfrm>
            <a:off x="6138597" y="2625435"/>
            <a:ext cx="60279" cy="60279"/>
          </a:xfrm>
          <a:prstGeom prst="rect">
            <a:avLst/>
          </a:prstGeom>
          <a:solidFill>
            <a:srgbClr val="E3E2DA"/>
          </a:solidFill>
          <a:ln w="12700">
            <a:solidFill>
              <a:srgbClr val="E3E2DA"/>
            </a:solidFill>
            <a:prstDash val="solid"/>
          </a:ln>
        </p:spPr>
      </p:sp>
      <p:sp>
        <p:nvSpPr>
          <p:cNvPr id="205" name="Shape 203"/>
          <p:cNvSpPr/>
          <p:nvPr/>
        </p:nvSpPr>
        <p:spPr>
          <a:xfrm>
            <a:off x="5520131" y="2694153"/>
            <a:ext cx="60279" cy="60279"/>
          </a:xfrm>
          <a:prstGeom prst="rect">
            <a:avLst/>
          </a:prstGeom>
          <a:solidFill>
            <a:srgbClr val="E3E2DA"/>
          </a:solidFill>
          <a:ln w="12700">
            <a:solidFill>
              <a:srgbClr val="E3E2DA"/>
            </a:solidFill>
            <a:prstDash val="solid"/>
          </a:ln>
        </p:spPr>
      </p:sp>
      <p:sp>
        <p:nvSpPr>
          <p:cNvPr id="206" name="Shape 204"/>
          <p:cNvSpPr/>
          <p:nvPr/>
        </p:nvSpPr>
        <p:spPr>
          <a:xfrm>
            <a:off x="5588850" y="2694153"/>
            <a:ext cx="60279" cy="60279"/>
          </a:xfrm>
          <a:prstGeom prst="rect">
            <a:avLst/>
          </a:prstGeom>
          <a:solidFill>
            <a:srgbClr val="E3E2DA"/>
          </a:solidFill>
          <a:ln w="12700">
            <a:solidFill>
              <a:srgbClr val="E3E2DA"/>
            </a:solidFill>
            <a:prstDash val="solid"/>
          </a:ln>
        </p:spPr>
      </p:sp>
      <p:sp>
        <p:nvSpPr>
          <p:cNvPr id="207" name="Shape 205"/>
          <p:cNvSpPr/>
          <p:nvPr/>
        </p:nvSpPr>
        <p:spPr>
          <a:xfrm>
            <a:off x="5657568" y="2694153"/>
            <a:ext cx="60279" cy="60279"/>
          </a:xfrm>
          <a:prstGeom prst="rect">
            <a:avLst/>
          </a:prstGeom>
          <a:solidFill>
            <a:srgbClr val="E3E2DA"/>
          </a:solidFill>
          <a:ln w="12700">
            <a:solidFill>
              <a:srgbClr val="E3E2DA"/>
            </a:solidFill>
            <a:prstDash val="solid"/>
          </a:ln>
        </p:spPr>
      </p:sp>
      <p:sp>
        <p:nvSpPr>
          <p:cNvPr id="208" name="Shape 206"/>
          <p:cNvSpPr/>
          <p:nvPr/>
        </p:nvSpPr>
        <p:spPr>
          <a:xfrm>
            <a:off x="5726286" y="2694153"/>
            <a:ext cx="60279" cy="60279"/>
          </a:xfrm>
          <a:prstGeom prst="rect">
            <a:avLst/>
          </a:prstGeom>
          <a:solidFill>
            <a:srgbClr val="E3E2DA"/>
          </a:solidFill>
          <a:ln w="12700">
            <a:solidFill>
              <a:srgbClr val="E3E2DA"/>
            </a:solidFill>
            <a:prstDash val="solid"/>
          </a:ln>
        </p:spPr>
      </p:sp>
      <p:sp>
        <p:nvSpPr>
          <p:cNvPr id="209" name="Shape 207"/>
          <p:cNvSpPr/>
          <p:nvPr/>
        </p:nvSpPr>
        <p:spPr>
          <a:xfrm>
            <a:off x="5795005" y="2694153"/>
            <a:ext cx="60279" cy="60279"/>
          </a:xfrm>
          <a:prstGeom prst="rect">
            <a:avLst/>
          </a:prstGeom>
          <a:solidFill>
            <a:srgbClr val="E3E2DA"/>
          </a:solidFill>
          <a:ln w="12700">
            <a:solidFill>
              <a:srgbClr val="E3E2DA"/>
            </a:solidFill>
            <a:prstDash val="solid"/>
          </a:ln>
        </p:spPr>
      </p:sp>
      <p:sp>
        <p:nvSpPr>
          <p:cNvPr id="210" name="Shape 208"/>
          <p:cNvSpPr/>
          <p:nvPr/>
        </p:nvSpPr>
        <p:spPr>
          <a:xfrm>
            <a:off x="5863723" y="2694153"/>
            <a:ext cx="60279" cy="60279"/>
          </a:xfrm>
          <a:prstGeom prst="rect">
            <a:avLst/>
          </a:prstGeom>
          <a:solidFill>
            <a:srgbClr val="E3E2DA"/>
          </a:solidFill>
          <a:ln w="12700">
            <a:solidFill>
              <a:srgbClr val="E3E2DA"/>
            </a:solidFill>
            <a:prstDash val="solid"/>
          </a:ln>
        </p:spPr>
      </p:sp>
      <p:sp>
        <p:nvSpPr>
          <p:cNvPr id="211" name="Shape 209"/>
          <p:cNvSpPr/>
          <p:nvPr/>
        </p:nvSpPr>
        <p:spPr>
          <a:xfrm>
            <a:off x="5932441" y="2694153"/>
            <a:ext cx="60279" cy="60279"/>
          </a:xfrm>
          <a:prstGeom prst="rect">
            <a:avLst/>
          </a:prstGeom>
          <a:solidFill>
            <a:srgbClr val="E3E2DA"/>
          </a:solidFill>
          <a:ln w="12700">
            <a:solidFill>
              <a:srgbClr val="E3E2DA"/>
            </a:solidFill>
            <a:prstDash val="solid"/>
          </a:ln>
        </p:spPr>
      </p:sp>
      <p:sp>
        <p:nvSpPr>
          <p:cNvPr id="212" name="Shape 210"/>
          <p:cNvSpPr/>
          <p:nvPr/>
        </p:nvSpPr>
        <p:spPr>
          <a:xfrm>
            <a:off x="6001160" y="2694153"/>
            <a:ext cx="60279" cy="60279"/>
          </a:xfrm>
          <a:prstGeom prst="rect">
            <a:avLst/>
          </a:prstGeom>
          <a:solidFill>
            <a:srgbClr val="E3E2DA"/>
          </a:solidFill>
          <a:ln w="12700">
            <a:solidFill>
              <a:srgbClr val="E3E2DA"/>
            </a:solidFill>
            <a:prstDash val="solid"/>
          </a:ln>
        </p:spPr>
      </p:sp>
      <p:sp>
        <p:nvSpPr>
          <p:cNvPr id="213" name="Shape 211"/>
          <p:cNvSpPr/>
          <p:nvPr/>
        </p:nvSpPr>
        <p:spPr>
          <a:xfrm>
            <a:off x="6069878" y="2694153"/>
            <a:ext cx="60279" cy="60279"/>
          </a:xfrm>
          <a:prstGeom prst="rect">
            <a:avLst/>
          </a:prstGeom>
          <a:solidFill>
            <a:srgbClr val="E3E2DA"/>
          </a:solidFill>
          <a:ln w="12700">
            <a:solidFill>
              <a:srgbClr val="E3E2DA"/>
            </a:solidFill>
            <a:prstDash val="solid"/>
          </a:ln>
        </p:spPr>
      </p:sp>
      <p:sp>
        <p:nvSpPr>
          <p:cNvPr id="214" name="Shape 212"/>
          <p:cNvSpPr/>
          <p:nvPr/>
        </p:nvSpPr>
        <p:spPr>
          <a:xfrm>
            <a:off x="6138597" y="2694153"/>
            <a:ext cx="60279" cy="60279"/>
          </a:xfrm>
          <a:prstGeom prst="rect">
            <a:avLst/>
          </a:prstGeom>
          <a:solidFill>
            <a:srgbClr val="E3E2DA"/>
          </a:solidFill>
          <a:ln w="12700">
            <a:solidFill>
              <a:srgbClr val="E3E2DA"/>
            </a:solidFill>
            <a:prstDash val="solid"/>
          </a:ln>
        </p:spPr>
      </p:sp>
      <p:sp>
        <p:nvSpPr>
          <p:cNvPr id="215" name="Text 213"/>
          <p:cNvSpPr txBox="1"/>
          <p:nvPr/>
        </p:nvSpPr>
        <p:spPr>
          <a:xfrm>
            <a:off x="5520131" y="2836024"/>
            <a:ext cx="968553"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55.4%</a:t>
            </a:r>
            <a:endParaRPr lang="en-US" sz="2000" dirty="0"/>
          </a:p>
        </p:txBody>
      </p:sp>
      <p:sp>
        <p:nvSpPr>
          <p:cNvPr id="216" name="Text 214"/>
          <p:cNvSpPr txBox="1"/>
          <p:nvPr/>
        </p:nvSpPr>
        <p:spPr>
          <a:xfrm>
            <a:off x="5520131" y="3201784"/>
            <a:ext cx="877113"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live in Southern California (55 of every 100)</a:t>
            </a:r>
            <a:endParaRPr lang="en-US" sz="1000" dirty="0"/>
          </a:p>
        </p:txBody>
      </p:sp>
      <p:sp>
        <p:nvSpPr>
          <p:cNvPr id="217" name="Shape 215"/>
          <p:cNvSpPr/>
          <p:nvPr/>
        </p:nvSpPr>
        <p:spPr>
          <a:xfrm>
            <a:off x="6671564" y="2075688"/>
            <a:ext cx="60279" cy="60279"/>
          </a:xfrm>
          <a:prstGeom prst="rect">
            <a:avLst/>
          </a:prstGeom>
          <a:solidFill>
            <a:srgbClr val="43A3A3"/>
          </a:solidFill>
          <a:ln w="12700">
            <a:solidFill>
              <a:srgbClr val="43A3A3"/>
            </a:solidFill>
            <a:prstDash val="solid"/>
          </a:ln>
        </p:spPr>
      </p:sp>
      <p:sp>
        <p:nvSpPr>
          <p:cNvPr id="218" name="Shape 216"/>
          <p:cNvSpPr/>
          <p:nvPr/>
        </p:nvSpPr>
        <p:spPr>
          <a:xfrm>
            <a:off x="6740282" y="2075688"/>
            <a:ext cx="60279" cy="60279"/>
          </a:xfrm>
          <a:prstGeom prst="rect">
            <a:avLst/>
          </a:prstGeom>
          <a:solidFill>
            <a:srgbClr val="43A3A3"/>
          </a:solidFill>
          <a:ln w="12700">
            <a:solidFill>
              <a:srgbClr val="43A3A3"/>
            </a:solidFill>
            <a:prstDash val="solid"/>
          </a:ln>
        </p:spPr>
      </p:sp>
      <p:sp>
        <p:nvSpPr>
          <p:cNvPr id="219" name="Shape 217"/>
          <p:cNvSpPr/>
          <p:nvPr/>
        </p:nvSpPr>
        <p:spPr>
          <a:xfrm>
            <a:off x="6809001" y="2075688"/>
            <a:ext cx="60279" cy="60279"/>
          </a:xfrm>
          <a:prstGeom prst="rect">
            <a:avLst/>
          </a:prstGeom>
          <a:solidFill>
            <a:srgbClr val="43A3A3"/>
          </a:solidFill>
          <a:ln w="12700">
            <a:solidFill>
              <a:srgbClr val="43A3A3"/>
            </a:solidFill>
            <a:prstDash val="solid"/>
          </a:ln>
        </p:spPr>
      </p:sp>
      <p:sp>
        <p:nvSpPr>
          <p:cNvPr id="220" name="Shape 218"/>
          <p:cNvSpPr/>
          <p:nvPr/>
        </p:nvSpPr>
        <p:spPr>
          <a:xfrm>
            <a:off x="6877719" y="2075688"/>
            <a:ext cx="60279" cy="60279"/>
          </a:xfrm>
          <a:prstGeom prst="rect">
            <a:avLst/>
          </a:prstGeom>
          <a:solidFill>
            <a:srgbClr val="43A3A3"/>
          </a:solidFill>
          <a:ln w="12700">
            <a:solidFill>
              <a:srgbClr val="43A3A3"/>
            </a:solidFill>
            <a:prstDash val="solid"/>
          </a:ln>
        </p:spPr>
      </p:sp>
      <p:sp>
        <p:nvSpPr>
          <p:cNvPr id="221" name="Shape 219"/>
          <p:cNvSpPr/>
          <p:nvPr/>
        </p:nvSpPr>
        <p:spPr>
          <a:xfrm>
            <a:off x="6946438" y="2075688"/>
            <a:ext cx="60279" cy="60279"/>
          </a:xfrm>
          <a:prstGeom prst="rect">
            <a:avLst/>
          </a:prstGeom>
          <a:solidFill>
            <a:srgbClr val="43A3A3"/>
          </a:solidFill>
          <a:ln w="12700">
            <a:solidFill>
              <a:srgbClr val="43A3A3"/>
            </a:solidFill>
            <a:prstDash val="solid"/>
          </a:ln>
        </p:spPr>
      </p:sp>
      <p:sp>
        <p:nvSpPr>
          <p:cNvPr id="222" name="Shape 220"/>
          <p:cNvSpPr/>
          <p:nvPr/>
        </p:nvSpPr>
        <p:spPr>
          <a:xfrm>
            <a:off x="7015156" y="2075688"/>
            <a:ext cx="60279" cy="60279"/>
          </a:xfrm>
          <a:prstGeom prst="rect">
            <a:avLst/>
          </a:prstGeom>
          <a:solidFill>
            <a:srgbClr val="43A3A3"/>
          </a:solidFill>
          <a:ln w="12700">
            <a:solidFill>
              <a:srgbClr val="43A3A3"/>
            </a:solidFill>
            <a:prstDash val="solid"/>
          </a:ln>
        </p:spPr>
      </p:sp>
      <p:sp>
        <p:nvSpPr>
          <p:cNvPr id="223" name="Shape 221"/>
          <p:cNvSpPr/>
          <p:nvPr/>
        </p:nvSpPr>
        <p:spPr>
          <a:xfrm>
            <a:off x="7083874" y="2075688"/>
            <a:ext cx="60279" cy="60279"/>
          </a:xfrm>
          <a:prstGeom prst="rect">
            <a:avLst/>
          </a:prstGeom>
          <a:solidFill>
            <a:srgbClr val="43A3A3"/>
          </a:solidFill>
          <a:ln w="12700">
            <a:solidFill>
              <a:srgbClr val="43A3A3"/>
            </a:solidFill>
            <a:prstDash val="solid"/>
          </a:ln>
        </p:spPr>
      </p:sp>
      <p:sp>
        <p:nvSpPr>
          <p:cNvPr id="224" name="Shape 222"/>
          <p:cNvSpPr/>
          <p:nvPr/>
        </p:nvSpPr>
        <p:spPr>
          <a:xfrm>
            <a:off x="7152593" y="2075688"/>
            <a:ext cx="60279" cy="60279"/>
          </a:xfrm>
          <a:prstGeom prst="rect">
            <a:avLst/>
          </a:prstGeom>
          <a:solidFill>
            <a:srgbClr val="43A3A3"/>
          </a:solidFill>
          <a:ln w="12700">
            <a:solidFill>
              <a:srgbClr val="43A3A3"/>
            </a:solidFill>
            <a:prstDash val="solid"/>
          </a:ln>
        </p:spPr>
      </p:sp>
      <p:sp>
        <p:nvSpPr>
          <p:cNvPr id="225" name="Shape 223"/>
          <p:cNvSpPr/>
          <p:nvPr/>
        </p:nvSpPr>
        <p:spPr>
          <a:xfrm>
            <a:off x="7221311" y="2075688"/>
            <a:ext cx="60279" cy="60279"/>
          </a:xfrm>
          <a:prstGeom prst="rect">
            <a:avLst/>
          </a:prstGeom>
          <a:solidFill>
            <a:srgbClr val="43A3A3"/>
          </a:solidFill>
          <a:ln w="12700">
            <a:solidFill>
              <a:srgbClr val="43A3A3"/>
            </a:solidFill>
            <a:prstDash val="solid"/>
          </a:ln>
        </p:spPr>
      </p:sp>
      <p:sp>
        <p:nvSpPr>
          <p:cNvPr id="226" name="Shape 224"/>
          <p:cNvSpPr/>
          <p:nvPr/>
        </p:nvSpPr>
        <p:spPr>
          <a:xfrm>
            <a:off x="7290029" y="2075688"/>
            <a:ext cx="60279" cy="60279"/>
          </a:xfrm>
          <a:prstGeom prst="rect">
            <a:avLst/>
          </a:prstGeom>
          <a:solidFill>
            <a:srgbClr val="43A3A3"/>
          </a:solidFill>
          <a:ln w="12700">
            <a:solidFill>
              <a:srgbClr val="43A3A3"/>
            </a:solidFill>
            <a:prstDash val="solid"/>
          </a:ln>
        </p:spPr>
      </p:sp>
      <p:sp>
        <p:nvSpPr>
          <p:cNvPr id="227" name="Shape 225"/>
          <p:cNvSpPr/>
          <p:nvPr/>
        </p:nvSpPr>
        <p:spPr>
          <a:xfrm>
            <a:off x="6671564" y="2144406"/>
            <a:ext cx="60279" cy="60279"/>
          </a:xfrm>
          <a:prstGeom prst="rect">
            <a:avLst/>
          </a:prstGeom>
          <a:solidFill>
            <a:srgbClr val="43A3A3"/>
          </a:solidFill>
          <a:ln w="12700">
            <a:solidFill>
              <a:srgbClr val="43A3A3"/>
            </a:solidFill>
            <a:prstDash val="solid"/>
          </a:ln>
        </p:spPr>
      </p:sp>
      <p:sp>
        <p:nvSpPr>
          <p:cNvPr id="228" name="Shape 226"/>
          <p:cNvSpPr/>
          <p:nvPr/>
        </p:nvSpPr>
        <p:spPr>
          <a:xfrm>
            <a:off x="6740282" y="2144406"/>
            <a:ext cx="60279" cy="60279"/>
          </a:xfrm>
          <a:prstGeom prst="rect">
            <a:avLst/>
          </a:prstGeom>
          <a:solidFill>
            <a:srgbClr val="43A3A3"/>
          </a:solidFill>
          <a:ln w="12700">
            <a:solidFill>
              <a:srgbClr val="43A3A3"/>
            </a:solidFill>
            <a:prstDash val="solid"/>
          </a:ln>
        </p:spPr>
      </p:sp>
      <p:sp>
        <p:nvSpPr>
          <p:cNvPr id="229" name="Shape 227"/>
          <p:cNvSpPr/>
          <p:nvPr/>
        </p:nvSpPr>
        <p:spPr>
          <a:xfrm>
            <a:off x="6809001" y="2144406"/>
            <a:ext cx="60279" cy="60279"/>
          </a:xfrm>
          <a:prstGeom prst="rect">
            <a:avLst/>
          </a:prstGeom>
          <a:solidFill>
            <a:srgbClr val="43A3A3"/>
          </a:solidFill>
          <a:ln w="12700">
            <a:solidFill>
              <a:srgbClr val="43A3A3"/>
            </a:solidFill>
            <a:prstDash val="solid"/>
          </a:ln>
        </p:spPr>
      </p:sp>
      <p:sp>
        <p:nvSpPr>
          <p:cNvPr id="230" name="Shape 228"/>
          <p:cNvSpPr/>
          <p:nvPr/>
        </p:nvSpPr>
        <p:spPr>
          <a:xfrm>
            <a:off x="6877719" y="2144406"/>
            <a:ext cx="60279" cy="60279"/>
          </a:xfrm>
          <a:prstGeom prst="rect">
            <a:avLst/>
          </a:prstGeom>
          <a:solidFill>
            <a:srgbClr val="43A3A3"/>
          </a:solidFill>
          <a:ln w="12700">
            <a:solidFill>
              <a:srgbClr val="43A3A3"/>
            </a:solidFill>
            <a:prstDash val="solid"/>
          </a:ln>
        </p:spPr>
      </p:sp>
      <p:sp>
        <p:nvSpPr>
          <p:cNvPr id="231" name="Shape 229"/>
          <p:cNvSpPr/>
          <p:nvPr/>
        </p:nvSpPr>
        <p:spPr>
          <a:xfrm>
            <a:off x="6946438" y="2144406"/>
            <a:ext cx="60279" cy="60279"/>
          </a:xfrm>
          <a:prstGeom prst="rect">
            <a:avLst/>
          </a:prstGeom>
          <a:solidFill>
            <a:srgbClr val="43A3A3"/>
          </a:solidFill>
          <a:ln w="12700">
            <a:solidFill>
              <a:srgbClr val="43A3A3"/>
            </a:solidFill>
            <a:prstDash val="solid"/>
          </a:ln>
        </p:spPr>
      </p:sp>
      <p:sp>
        <p:nvSpPr>
          <p:cNvPr id="232" name="Shape 230"/>
          <p:cNvSpPr/>
          <p:nvPr/>
        </p:nvSpPr>
        <p:spPr>
          <a:xfrm>
            <a:off x="7015156" y="2144406"/>
            <a:ext cx="60279" cy="60279"/>
          </a:xfrm>
          <a:prstGeom prst="rect">
            <a:avLst/>
          </a:prstGeom>
          <a:solidFill>
            <a:srgbClr val="43A3A3"/>
          </a:solidFill>
          <a:ln w="12700">
            <a:solidFill>
              <a:srgbClr val="43A3A3"/>
            </a:solidFill>
            <a:prstDash val="solid"/>
          </a:ln>
        </p:spPr>
      </p:sp>
      <p:sp>
        <p:nvSpPr>
          <p:cNvPr id="233" name="Shape 231"/>
          <p:cNvSpPr/>
          <p:nvPr/>
        </p:nvSpPr>
        <p:spPr>
          <a:xfrm>
            <a:off x="7083874" y="2144406"/>
            <a:ext cx="60279" cy="60279"/>
          </a:xfrm>
          <a:prstGeom prst="rect">
            <a:avLst/>
          </a:prstGeom>
          <a:solidFill>
            <a:srgbClr val="43A3A3"/>
          </a:solidFill>
          <a:ln w="12700">
            <a:solidFill>
              <a:srgbClr val="43A3A3"/>
            </a:solidFill>
            <a:prstDash val="solid"/>
          </a:ln>
        </p:spPr>
      </p:sp>
      <p:sp>
        <p:nvSpPr>
          <p:cNvPr id="234" name="Shape 232"/>
          <p:cNvSpPr/>
          <p:nvPr/>
        </p:nvSpPr>
        <p:spPr>
          <a:xfrm>
            <a:off x="7152593" y="2144406"/>
            <a:ext cx="60279" cy="60279"/>
          </a:xfrm>
          <a:prstGeom prst="rect">
            <a:avLst/>
          </a:prstGeom>
          <a:solidFill>
            <a:srgbClr val="43A3A3"/>
          </a:solidFill>
          <a:ln w="12700">
            <a:solidFill>
              <a:srgbClr val="43A3A3"/>
            </a:solidFill>
            <a:prstDash val="solid"/>
          </a:ln>
        </p:spPr>
      </p:sp>
      <p:sp>
        <p:nvSpPr>
          <p:cNvPr id="235" name="Shape 233"/>
          <p:cNvSpPr/>
          <p:nvPr/>
        </p:nvSpPr>
        <p:spPr>
          <a:xfrm>
            <a:off x="7221311" y="2144406"/>
            <a:ext cx="60279" cy="60279"/>
          </a:xfrm>
          <a:prstGeom prst="rect">
            <a:avLst/>
          </a:prstGeom>
          <a:solidFill>
            <a:srgbClr val="43A3A3"/>
          </a:solidFill>
          <a:ln w="12700">
            <a:solidFill>
              <a:srgbClr val="43A3A3"/>
            </a:solidFill>
            <a:prstDash val="solid"/>
          </a:ln>
        </p:spPr>
      </p:sp>
      <p:sp>
        <p:nvSpPr>
          <p:cNvPr id="236" name="Shape 234"/>
          <p:cNvSpPr/>
          <p:nvPr/>
        </p:nvSpPr>
        <p:spPr>
          <a:xfrm>
            <a:off x="7290029" y="2144406"/>
            <a:ext cx="60279" cy="60279"/>
          </a:xfrm>
          <a:prstGeom prst="rect">
            <a:avLst/>
          </a:prstGeom>
          <a:solidFill>
            <a:srgbClr val="43A3A3"/>
          </a:solidFill>
          <a:ln w="12700">
            <a:solidFill>
              <a:srgbClr val="43A3A3"/>
            </a:solidFill>
            <a:prstDash val="solid"/>
          </a:ln>
        </p:spPr>
      </p:sp>
      <p:sp>
        <p:nvSpPr>
          <p:cNvPr id="237" name="Shape 235"/>
          <p:cNvSpPr/>
          <p:nvPr/>
        </p:nvSpPr>
        <p:spPr>
          <a:xfrm>
            <a:off x="6671564" y="2213125"/>
            <a:ext cx="60279" cy="60279"/>
          </a:xfrm>
          <a:prstGeom prst="rect">
            <a:avLst/>
          </a:prstGeom>
          <a:solidFill>
            <a:srgbClr val="43A3A3"/>
          </a:solidFill>
          <a:ln w="12700">
            <a:solidFill>
              <a:srgbClr val="43A3A3"/>
            </a:solidFill>
            <a:prstDash val="solid"/>
          </a:ln>
        </p:spPr>
      </p:sp>
      <p:sp>
        <p:nvSpPr>
          <p:cNvPr id="238" name="Shape 236"/>
          <p:cNvSpPr/>
          <p:nvPr/>
        </p:nvSpPr>
        <p:spPr>
          <a:xfrm>
            <a:off x="6740282" y="2213125"/>
            <a:ext cx="60279" cy="60279"/>
          </a:xfrm>
          <a:prstGeom prst="rect">
            <a:avLst/>
          </a:prstGeom>
          <a:solidFill>
            <a:srgbClr val="43A3A3"/>
          </a:solidFill>
          <a:ln w="12700">
            <a:solidFill>
              <a:srgbClr val="43A3A3"/>
            </a:solidFill>
            <a:prstDash val="solid"/>
          </a:ln>
        </p:spPr>
      </p:sp>
      <p:sp>
        <p:nvSpPr>
          <p:cNvPr id="239" name="Shape 237"/>
          <p:cNvSpPr/>
          <p:nvPr/>
        </p:nvSpPr>
        <p:spPr>
          <a:xfrm>
            <a:off x="6809001" y="2213125"/>
            <a:ext cx="60279" cy="60279"/>
          </a:xfrm>
          <a:prstGeom prst="rect">
            <a:avLst/>
          </a:prstGeom>
          <a:solidFill>
            <a:srgbClr val="43A3A3"/>
          </a:solidFill>
          <a:ln w="12700">
            <a:solidFill>
              <a:srgbClr val="43A3A3"/>
            </a:solidFill>
            <a:prstDash val="solid"/>
          </a:ln>
        </p:spPr>
      </p:sp>
      <p:sp>
        <p:nvSpPr>
          <p:cNvPr id="240" name="Shape 238"/>
          <p:cNvSpPr/>
          <p:nvPr/>
        </p:nvSpPr>
        <p:spPr>
          <a:xfrm>
            <a:off x="6877719" y="2213125"/>
            <a:ext cx="60279" cy="60279"/>
          </a:xfrm>
          <a:prstGeom prst="rect">
            <a:avLst/>
          </a:prstGeom>
          <a:solidFill>
            <a:srgbClr val="43A3A3"/>
          </a:solidFill>
          <a:ln w="12700">
            <a:solidFill>
              <a:srgbClr val="43A3A3"/>
            </a:solidFill>
            <a:prstDash val="solid"/>
          </a:ln>
        </p:spPr>
      </p:sp>
      <p:sp>
        <p:nvSpPr>
          <p:cNvPr id="241" name="Shape 239"/>
          <p:cNvSpPr/>
          <p:nvPr/>
        </p:nvSpPr>
        <p:spPr>
          <a:xfrm>
            <a:off x="6946438" y="2213125"/>
            <a:ext cx="60279" cy="60279"/>
          </a:xfrm>
          <a:prstGeom prst="rect">
            <a:avLst/>
          </a:prstGeom>
          <a:solidFill>
            <a:srgbClr val="43A3A3"/>
          </a:solidFill>
          <a:ln w="12700">
            <a:solidFill>
              <a:srgbClr val="43A3A3"/>
            </a:solidFill>
            <a:prstDash val="solid"/>
          </a:ln>
        </p:spPr>
      </p:sp>
      <p:sp>
        <p:nvSpPr>
          <p:cNvPr id="242" name="Shape 240"/>
          <p:cNvSpPr/>
          <p:nvPr/>
        </p:nvSpPr>
        <p:spPr>
          <a:xfrm>
            <a:off x="7015156" y="2213125"/>
            <a:ext cx="60279" cy="60279"/>
          </a:xfrm>
          <a:prstGeom prst="rect">
            <a:avLst/>
          </a:prstGeom>
          <a:solidFill>
            <a:srgbClr val="43A3A3"/>
          </a:solidFill>
          <a:ln w="12700">
            <a:solidFill>
              <a:srgbClr val="43A3A3"/>
            </a:solidFill>
            <a:prstDash val="solid"/>
          </a:ln>
        </p:spPr>
      </p:sp>
      <p:sp>
        <p:nvSpPr>
          <p:cNvPr id="243" name="Shape 241"/>
          <p:cNvSpPr/>
          <p:nvPr/>
        </p:nvSpPr>
        <p:spPr>
          <a:xfrm>
            <a:off x="7083874" y="2213125"/>
            <a:ext cx="60279" cy="60279"/>
          </a:xfrm>
          <a:prstGeom prst="rect">
            <a:avLst/>
          </a:prstGeom>
          <a:solidFill>
            <a:srgbClr val="43A3A3"/>
          </a:solidFill>
          <a:ln w="12700">
            <a:solidFill>
              <a:srgbClr val="43A3A3"/>
            </a:solidFill>
            <a:prstDash val="solid"/>
          </a:ln>
        </p:spPr>
      </p:sp>
      <p:sp>
        <p:nvSpPr>
          <p:cNvPr id="244" name="Shape 242"/>
          <p:cNvSpPr/>
          <p:nvPr/>
        </p:nvSpPr>
        <p:spPr>
          <a:xfrm>
            <a:off x="7152593" y="2213125"/>
            <a:ext cx="60279" cy="60279"/>
          </a:xfrm>
          <a:prstGeom prst="rect">
            <a:avLst/>
          </a:prstGeom>
          <a:solidFill>
            <a:srgbClr val="43A3A3"/>
          </a:solidFill>
          <a:ln w="12700">
            <a:solidFill>
              <a:srgbClr val="43A3A3"/>
            </a:solidFill>
            <a:prstDash val="solid"/>
          </a:ln>
        </p:spPr>
      </p:sp>
      <p:sp>
        <p:nvSpPr>
          <p:cNvPr id="245" name="Shape 243"/>
          <p:cNvSpPr/>
          <p:nvPr/>
        </p:nvSpPr>
        <p:spPr>
          <a:xfrm>
            <a:off x="7221311" y="2213125"/>
            <a:ext cx="60279" cy="60279"/>
          </a:xfrm>
          <a:prstGeom prst="rect">
            <a:avLst/>
          </a:prstGeom>
          <a:solidFill>
            <a:srgbClr val="43A3A3"/>
          </a:solidFill>
          <a:ln w="12700">
            <a:solidFill>
              <a:srgbClr val="43A3A3"/>
            </a:solidFill>
            <a:prstDash val="solid"/>
          </a:ln>
        </p:spPr>
      </p:sp>
      <p:sp>
        <p:nvSpPr>
          <p:cNvPr id="246" name="Shape 244"/>
          <p:cNvSpPr/>
          <p:nvPr/>
        </p:nvSpPr>
        <p:spPr>
          <a:xfrm>
            <a:off x="7290029" y="2213125"/>
            <a:ext cx="60279" cy="60279"/>
          </a:xfrm>
          <a:prstGeom prst="rect">
            <a:avLst/>
          </a:prstGeom>
          <a:solidFill>
            <a:srgbClr val="43A3A3"/>
          </a:solidFill>
          <a:ln w="12700">
            <a:solidFill>
              <a:srgbClr val="43A3A3"/>
            </a:solidFill>
            <a:prstDash val="solid"/>
          </a:ln>
        </p:spPr>
      </p:sp>
      <p:sp>
        <p:nvSpPr>
          <p:cNvPr id="247" name="Shape 245"/>
          <p:cNvSpPr/>
          <p:nvPr/>
        </p:nvSpPr>
        <p:spPr>
          <a:xfrm>
            <a:off x="6671564" y="2281843"/>
            <a:ext cx="60279" cy="60279"/>
          </a:xfrm>
          <a:prstGeom prst="rect">
            <a:avLst/>
          </a:prstGeom>
          <a:solidFill>
            <a:srgbClr val="43A3A3"/>
          </a:solidFill>
          <a:ln w="12700">
            <a:solidFill>
              <a:srgbClr val="43A3A3"/>
            </a:solidFill>
            <a:prstDash val="solid"/>
          </a:ln>
        </p:spPr>
      </p:sp>
      <p:sp>
        <p:nvSpPr>
          <p:cNvPr id="248" name="Shape 246"/>
          <p:cNvSpPr/>
          <p:nvPr/>
        </p:nvSpPr>
        <p:spPr>
          <a:xfrm>
            <a:off x="6740282" y="2281843"/>
            <a:ext cx="60279" cy="60279"/>
          </a:xfrm>
          <a:prstGeom prst="rect">
            <a:avLst/>
          </a:prstGeom>
          <a:solidFill>
            <a:srgbClr val="43A3A3"/>
          </a:solidFill>
          <a:ln w="12700">
            <a:solidFill>
              <a:srgbClr val="43A3A3"/>
            </a:solidFill>
            <a:prstDash val="solid"/>
          </a:ln>
        </p:spPr>
      </p:sp>
      <p:sp>
        <p:nvSpPr>
          <p:cNvPr id="249" name="Shape 247"/>
          <p:cNvSpPr/>
          <p:nvPr/>
        </p:nvSpPr>
        <p:spPr>
          <a:xfrm>
            <a:off x="6809001" y="2281843"/>
            <a:ext cx="60279" cy="60279"/>
          </a:xfrm>
          <a:prstGeom prst="rect">
            <a:avLst/>
          </a:prstGeom>
          <a:solidFill>
            <a:srgbClr val="43A3A3"/>
          </a:solidFill>
          <a:ln w="12700">
            <a:solidFill>
              <a:srgbClr val="43A3A3"/>
            </a:solidFill>
            <a:prstDash val="solid"/>
          </a:ln>
        </p:spPr>
      </p:sp>
      <p:sp>
        <p:nvSpPr>
          <p:cNvPr id="250" name="Shape 248"/>
          <p:cNvSpPr/>
          <p:nvPr/>
        </p:nvSpPr>
        <p:spPr>
          <a:xfrm>
            <a:off x="6877719" y="2281843"/>
            <a:ext cx="60279" cy="60279"/>
          </a:xfrm>
          <a:prstGeom prst="rect">
            <a:avLst/>
          </a:prstGeom>
          <a:solidFill>
            <a:srgbClr val="43A3A3"/>
          </a:solidFill>
          <a:ln w="12700">
            <a:solidFill>
              <a:srgbClr val="43A3A3"/>
            </a:solidFill>
            <a:prstDash val="solid"/>
          </a:ln>
        </p:spPr>
      </p:sp>
      <p:sp>
        <p:nvSpPr>
          <p:cNvPr id="251" name="Shape 249"/>
          <p:cNvSpPr/>
          <p:nvPr/>
        </p:nvSpPr>
        <p:spPr>
          <a:xfrm>
            <a:off x="6946438" y="2281843"/>
            <a:ext cx="60279" cy="60279"/>
          </a:xfrm>
          <a:prstGeom prst="rect">
            <a:avLst/>
          </a:prstGeom>
          <a:solidFill>
            <a:srgbClr val="43A3A3"/>
          </a:solidFill>
          <a:ln w="12700">
            <a:solidFill>
              <a:srgbClr val="43A3A3"/>
            </a:solidFill>
            <a:prstDash val="solid"/>
          </a:ln>
        </p:spPr>
      </p:sp>
      <p:sp>
        <p:nvSpPr>
          <p:cNvPr id="252" name="Shape 250"/>
          <p:cNvSpPr/>
          <p:nvPr/>
        </p:nvSpPr>
        <p:spPr>
          <a:xfrm>
            <a:off x="7015156" y="2281843"/>
            <a:ext cx="60279" cy="60279"/>
          </a:xfrm>
          <a:prstGeom prst="rect">
            <a:avLst/>
          </a:prstGeom>
          <a:solidFill>
            <a:srgbClr val="43A3A3"/>
          </a:solidFill>
          <a:ln w="12700">
            <a:solidFill>
              <a:srgbClr val="43A3A3"/>
            </a:solidFill>
            <a:prstDash val="solid"/>
          </a:ln>
        </p:spPr>
      </p:sp>
      <p:sp>
        <p:nvSpPr>
          <p:cNvPr id="253" name="Shape 251"/>
          <p:cNvSpPr/>
          <p:nvPr/>
        </p:nvSpPr>
        <p:spPr>
          <a:xfrm>
            <a:off x="7083874" y="2281843"/>
            <a:ext cx="60279" cy="60279"/>
          </a:xfrm>
          <a:prstGeom prst="rect">
            <a:avLst/>
          </a:prstGeom>
          <a:solidFill>
            <a:srgbClr val="43A3A3"/>
          </a:solidFill>
          <a:ln w="12700">
            <a:solidFill>
              <a:srgbClr val="43A3A3"/>
            </a:solidFill>
            <a:prstDash val="solid"/>
          </a:ln>
        </p:spPr>
      </p:sp>
      <p:sp>
        <p:nvSpPr>
          <p:cNvPr id="254" name="Shape 252"/>
          <p:cNvSpPr/>
          <p:nvPr/>
        </p:nvSpPr>
        <p:spPr>
          <a:xfrm>
            <a:off x="7152593" y="2281843"/>
            <a:ext cx="60279" cy="60279"/>
          </a:xfrm>
          <a:prstGeom prst="rect">
            <a:avLst/>
          </a:prstGeom>
          <a:solidFill>
            <a:srgbClr val="E3E2DA"/>
          </a:solidFill>
          <a:ln w="12700">
            <a:solidFill>
              <a:srgbClr val="E3E2DA"/>
            </a:solidFill>
            <a:prstDash val="solid"/>
          </a:ln>
        </p:spPr>
      </p:sp>
      <p:sp>
        <p:nvSpPr>
          <p:cNvPr id="255" name="Shape 253"/>
          <p:cNvSpPr/>
          <p:nvPr/>
        </p:nvSpPr>
        <p:spPr>
          <a:xfrm>
            <a:off x="7221311" y="2281843"/>
            <a:ext cx="60279" cy="60279"/>
          </a:xfrm>
          <a:prstGeom prst="rect">
            <a:avLst/>
          </a:prstGeom>
          <a:solidFill>
            <a:srgbClr val="E3E2DA"/>
          </a:solidFill>
          <a:ln w="12700">
            <a:solidFill>
              <a:srgbClr val="E3E2DA"/>
            </a:solidFill>
            <a:prstDash val="solid"/>
          </a:ln>
        </p:spPr>
      </p:sp>
      <p:sp>
        <p:nvSpPr>
          <p:cNvPr id="256" name="Shape 254"/>
          <p:cNvSpPr/>
          <p:nvPr/>
        </p:nvSpPr>
        <p:spPr>
          <a:xfrm>
            <a:off x="7290029" y="2281843"/>
            <a:ext cx="60279" cy="60279"/>
          </a:xfrm>
          <a:prstGeom prst="rect">
            <a:avLst/>
          </a:prstGeom>
          <a:solidFill>
            <a:srgbClr val="E3E2DA"/>
          </a:solidFill>
          <a:ln w="12700">
            <a:solidFill>
              <a:srgbClr val="E3E2DA"/>
            </a:solidFill>
            <a:prstDash val="solid"/>
          </a:ln>
        </p:spPr>
      </p:sp>
      <p:sp>
        <p:nvSpPr>
          <p:cNvPr id="257" name="Shape 255"/>
          <p:cNvSpPr/>
          <p:nvPr/>
        </p:nvSpPr>
        <p:spPr>
          <a:xfrm>
            <a:off x="6671564" y="2350562"/>
            <a:ext cx="60279" cy="60279"/>
          </a:xfrm>
          <a:prstGeom prst="rect">
            <a:avLst/>
          </a:prstGeom>
          <a:solidFill>
            <a:srgbClr val="E3E2DA"/>
          </a:solidFill>
          <a:ln w="12700">
            <a:solidFill>
              <a:srgbClr val="E3E2DA"/>
            </a:solidFill>
            <a:prstDash val="solid"/>
          </a:ln>
        </p:spPr>
      </p:sp>
      <p:sp>
        <p:nvSpPr>
          <p:cNvPr id="258" name="Shape 256"/>
          <p:cNvSpPr/>
          <p:nvPr/>
        </p:nvSpPr>
        <p:spPr>
          <a:xfrm>
            <a:off x="6740282" y="2350562"/>
            <a:ext cx="60279" cy="60279"/>
          </a:xfrm>
          <a:prstGeom prst="rect">
            <a:avLst/>
          </a:prstGeom>
          <a:solidFill>
            <a:srgbClr val="E3E2DA"/>
          </a:solidFill>
          <a:ln w="12700">
            <a:solidFill>
              <a:srgbClr val="E3E2DA"/>
            </a:solidFill>
            <a:prstDash val="solid"/>
          </a:ln>
        </p:spPr>
      </p:sp>
      <p:sp>
        <p:nvSpPr>
          <p:cNvPr id="259" name="Shape 257"/>
          <p:cNvSpPr/>
          <p:nvPr/>
        </p:nvSpPr>
        <p:spPr>
          <a:xfrm>
            <a:off x="6809001" y="2350562"/>
            <a:ext cx="60279" cy="60279"/>
          </a:xfrm>
          <a:prstGeom prst="rect">
            <a:avLst/>
          </a:prstGeom>
          <a:solidFill>
            <a:srgbClr val="E3E2DA"/>
          </a:solidFill>
          <a:ln w="12700">
            <a:solidFill>
              <a:srgbClr val="E3E2DA"/>
            </a:solidFill>
            <a:prstDash val="solid"/>
          </a:ln>
        </p:spPr>
      </p:sp>
      <p:sp>
        <p:nvSpPr>
          <p:cNvPr id="260" name="Shape 258"/>
          <p:cNvSpPr/>
          <p:nvPr/>
        </p:nvSpPr>
        <p:spPr>
          <a:xfrm>
            <a:off x="6877719" y="2350562"/>
            <a:ext cx="60279" cy="60279"/>
          </a:xfrm>
          <a:prstGeom prst="rect">
            <a:avLst/>
          </a:prstGeom>
          <a:solidFill>
            <a:srgbClr val="E3E2DA"/>
          </a:solidFill>
          <a:ln w="12700">
            <a:solidFill>
              <a:srgbClr val="E3E2DA"/>
            </a:solidFill>
            <a:prstDash val="solid"/>
          </a:ln>
        </p:spPr>
      </p:sp>
      <p:sp>
        <p:nvSpPr>
          <p:cNvPr id="261" name="Shape 259"/>
          <p:cNvSpPr/>
          <p:nvPr/>
        </p:nvSpPr>
        <p:spPr>
          <a:xfrm>
            <a:off x="6946438" y="2350562"/>
            <a:ext cx="60279" cy="60279"/>
          </a:xfrm>
          <a:prstGeom prst="rect">
            <a:avLst/>
          </a:prstGeom>
          <a:solidFill>
            <a:srgbClr val="E3E2DA"/>
          </a:solidFill>
          <a:ln w="12700">
            <a:solidFill>
              <a:srgbClr val="E3E2DA"/>
            </a:solidFill>
            <a:prstDash val="solid"/>
          </a:ln>
        </p:spPr>
      </p:sp>
      <p:sp>
        <p:nvSpPr>
          <p:cNvPr id="262" name="Shape 260"/>
          <p:cNvSpPr/>
          <p:nvPr/>
        </p:nvSpPr>
        <p:spPr>
          <a:xfrm>
            <a:off x="7015156" y="2350562"/>
            <a:ext cx="60279" cy="60279"/>
          </a:xfrm>
          <a:prstGeom prst="rect">
            <a:avLst/>
          </a:prstGeom>
          <a:solidFill>
            <a:srgbClr val="E3E2DA"/>
          </a:solidFill>
          <a:ln w="12700">
            <a:solidFill>
              <a:srgbClr val="E3E2DA"/>
            </a:solidFill>
            <a:prstDash val="solid"/>
          </a:ln>
        </p:spPr>
      </p:sp>
      <p:sp>
        <p:nvSpPr>
          <p:cNvPr id="263" name="Shape 261"/>
          <p:cNvSpPr/>
          <p:nvPr/>
        </p:nvSpPr>
        <p:spPr>
          <a:xfrm>
            <a:off x="7083874" y="2350562"/>
            <a:ext cx="60279" cy="60279"/>
          </a:xfrm>
          <a:prstGeom prst="rect">
            <a:avLst/>
          </a:prstGeom>
          <a:solidFill>
            <a:srgbClr val="E3E2DA"/>
          </a:solidFill>
          <a:ln w="12700">
            <a:solidFill>
              <a:srgbClr val="E3E2DA"/>
            </a:solidFill>
            <a:prstDash val="solid"/>
          </a:ln>
        </p:spPr>
      </p:sp>
      <p:sp>
        <p:nvSpPr>
          <p:cNvPr id="264" name="Shape 262"/>
          <p:cNvSpPr/>
          <p:nvPr/>
        </p:nvSpPr>
        <p:spPr>
          <a:xfrm>
            <a:off x="7152593" y="2350562"/>
            <a:ext cx="60279" cy="60279"/>
          </a:xfrm>
          <a:prstGeom prst="rect">
            <a:avLst/>
          </a:prstGeom>
          <a:solidFill>
            <a:srgbClr val="E3E2DA"/>
          </a:solidFill>
          <a:ln w="12700">
            <a:solidFill>
              <a:srgbClr val="E3E2DA"/>
            </a:solidFill>
            <a:prstDash val="solid"/>
          </a:ln>
        </p:spPr>
      </p:sp>
      <p:sp>
        <p:nvSpPr>
          <p:cNvPr id="265" name="Shape 263"/>
          <p:cNvSpPr/>
          <p:nvPr/>
        </p:nvSpPr>
        <p:spPr>
          <a:xfrm>
            <a:off x="7221311" y="2350562"/>
            <a:ext cx="60279" cy="60279"/>
          </a:xfrm>
          <a:prstGeom prst="rect">
            <a:avLst/>
          </a:prstGeom>
          <a:solidFill>
            <a:srgbClr val="E3E2DA"/>
          </a:solidFill>
          <a:ln w="12700">
            <a:solidFill>
              <a:srgbClr val="E3E2DA"/>
            </a:solidFill>
            <a:prstDash val="solid"/>
          </a:ln>
        </p:spPr>
      </p:sp>
      <p:sp>
        <p:nvSpPr>
          <p:cNvPr id="266" name="Shape 264"/>
          <p:cNvSpPr/>
          <p:nvPr/>
        </p:nvSpPr>
        <p:spPr>
          <a:xfrm>
            <a:off x="7290029" y="2350562"/>
            <a:ext cx="60279" cy="60279"/>
          </a:xfrm>
          <a:prstGeom prst="rect">
            <a:avLst/>
          </a:prstGeom>
          <a:solidFill>
            <a:srgbClr val="E3E2DA"/>
          </a:solidFill>
          <a:ln w="12700">
            <a:solidFill>
              <a:srgbClr val="E3E2DA"/>
            </a:solidFill>
            <a:prstDash val="solid"/>
          </a:ln>
        </p:spPr>
      </p:sp>
      <p:sp>
        <p:nvSpPr>
          <p:cNvPr id="267" name="Shape 265"/>
          <p:cNvSpPr/>
          <p:nvPr/>
        </p:nvSpPr>
        <p:spPr>
          <a:xfrm>
            <a:off x="6671564" y="2419280"/>
            <a:ext cx="60279" cy="60279"/>
          </a:xfrm>
          <a:prstGeom prst="rect">
            <a:avLst/>
          </a:prstGeom>
          <a:solidFill>
            <a:srgbClr val="E3E2DA"/>
          </a:solidFill>
          <a:ln w="12700">
            <a:solidFill>
              <a:srgbClr val="E3E2DA"/>
            </a:solidFill>
            <a:prstDash val="solid"/>
          </a:ln>
        </p:spPr>
      </p:sp>
      <p:sp>
        <p:nvSpPr>
          <p:cNvPr id="268" name="Shape 266"/>
          <p:cNvSpPr/>
          <p:nvPr/>
        </p:nvSpPr>
        <p:spPr>
          <a:xfrm>
            <a:off x="6740282" y="2419280"/>
            <a:ext cx="60279" cy="60279"/>
          </a:xfrm>
          <a:prstGeom prst="rect">
            <a:avLst/>
          </a:prstGeom>
          <a:solidFill>
            <a:srgbClr val="E3E2DA"/>
          </a:solidFill>
          <a:ln w="12700">
            <a:solidFill>
              <a:srgbClr val="E3E2DA"/>
            </a:solidFill>
            <a:prstDash val="solid"/>
          </a:ln>
        </p:spPr>
      </p:sp>
      <p:sp>
        <p:nvSpPr>
          <p:cNvPr id="269" name="Shape 267"/>
          <p:cNvSpPr/>
          <p:nvPr/>
        </p:nvSpPr>
        <p:spPr>
          <a:xfrm>
            <a:off x="6809001" y="2419280"/>
            <a:ext cx="60279" cy="60279"/>
          </a:xfrm>
          <a:prstGeom prst="rect">
            <a:avLst/>
          </a:prstGeom>
          <a:solidFill>
            <a:srgbClr val="E3E2DA"/>
          </a:solidFill>
          <a:ln w="12700">
            <a:solidFill>
              <a:srgbClr val="E3E2DA"/>
            </a:solidFill>
            <a:prstDash val="solid"/>
          </a:ln>
        </p:spPr>
      </p:sp>
      <p:sp>
        <p:nvSpPr>
          <p:cNvPr id="270" name="Shape 268"/>
          <p:cNvSpPr/>
          <p:nvPr/>
        </p:nvSpPr>
        <p:spPr>
          <a:xfrm>
            <a:off x="6877719" y="2419280"/>
            <a:ext cx="60279" cy="60279"/>
          </a:xfrm>
          <a:prstGeom prst="rect">
            <a:avLst/>
          </a:prstGeom>
          <a:solidFill>
            <a:srgbClr val="E3E2DA"/>
          </a:solidFill>
          <a:ln w="12700">
            <a:solidFill>
              <a:srgbClr val="E3E2DA"/>
            </a:solidFill>
            <a:prstDash val="solid"/>
          </a:ln>
        </p:spPr>
      </p:sp>
      <p:sp>
        <p:nvSpPr>
          <p:cNvPr id="271" name="Shape 269"/>
          <p:cNvSpPr/>
          <p:nvPr/>
        </p:nvSpPr>
        <p:spPr>
          <a:xfrm>
            <a:off x="6946438" y="2419280"/>
            <a:ext cx="60279" cy="60279"/>
          </a:xfrm>
          <a:prstGeom prst="rect">
            <a:avLst/>
          </a:prstGeom>
          <a:solidFill>
            <a:srgbClr val="E3E2DA"/>
          </a:solidFill>
          <a:ln w="12700">
            <a:solidFill>
              <a:srgbClr val="E3E2DA"/>
            </a:solidFill>
            <a:prstDash val="solid"/>
          </a:ln>
        </p:spPr>
      </p:sp>
      <p:sp>
        <p:nvSpPr>
          <p:cNvPr id="272" name="Shape 270"/>
          <p:cNvSpPr/>
          <p:nvPr/>
        </p:nvSpPr>
        <p:spPr>
          <a:xfrm>
            <a:off x="7015156" y="2419280"/>
            <a:ext cx="60279" cy="60279"/>
          </a:xfrm>
          <a:prstGeom prst="rect">
            <a:avLst/>
          </a:prstGeom>
          <a:solidFill>
            <a:srgbClr val="E3E2DA"/>
          </a:solidFill>
          <a:ln w="12700">
            <a:solidFill>
              <a:srgbClr val="E3E2DA"/>
            </a:solidFill>
            <a:prstDash val="solid"/>
          </a:ln>
        </p:spPr>
      </p:sp>
      <p:sp>
        <p:nvSpPr>
          <p:cNvPr id="273" name="Shape 271"/>
          <p:cNvSpPr/>
          <p:nvPr/>
        </p:nvSpPr>
        <p:spPr>
          <a:xfrm>
            <a:off x="7083874" y="2419280"/>
            <a:ext cx="60279" cy="60279"/>
          </a:xfrm>
          <a:prstGeom prst="rect">
            <a:avLst/>
          </a:prstGeom>
          <a:solidFill>
            <a:srgbClr val="E3E2DA"/>
          </a:solidFill>
          <a:ln w="12700">
            <a:solidFill>
              <a:srgbClr val="E3E2DA"/>
            </a:solidFill>
            <a:prstDash val="solid"/>
          </a:ln>
        </p:spPr>
      </p:sp>
      <p:sp>
        <p:nvSpPr>
          <p:cNvPr id="274" name="Shape 272"/>
          <p:cNvSpPr/>
          <p:nvPr/>
        </p:nvSpPr>
        <p:spPr>
          <a:xfrm>
            <a:off x="7152593" y="2419280"/>
            <a:ext cx="60279" cy="60279"/>
          </a:xfrm>
          <a:prstGeom prst="rect">
            <a:avLst/>
          </a:prstGeom>
          <a:solidFill>
            <a:srgbClr val="E3E2DA"/>
          </a:solidFill>
          <a:ln w="12700">
            <a:solidFill>
              <a:srgbClr val="E3E2DA"/>
            </a:solidFill>
            <a:prstDash val="solid"/>
          </a:ln>
        </p:spPr>
      </p:sp>
      <p:sp>
        <p:nvSpPr>
          <p:cNvPr id="275" name="Shape 273"/>
          <p:cNvSpPr/>
          <p:nvPr/>
        </p:nvSpPr>
        <p:spPr>
          <a:xfrm>
            <a:off x="7221311" y="2419280"/>
            <a:ext cx="60279" cy="60279"/>
          </a:xfrm>
          <a:prstGeom prst="rect">
            <a:avLst/>
          </a:prstGeom>
          <a:solidFill>
            <a:srgbClr val="E3E2DA"/>
          </a:solidFill>
          <a:ln w="12700">
            <a:solidFill>
              <a:srgbClr val="E3E2DA"/>
            </a:solidFill>
            <a:prstDash val="solid"/>
          </a:ln>
        </p:spPr>
      </p:sp>
      <p:sp>
        <p:nvSpPr>
          <p:cNvPr id="276" name="Shape 274"/>
          <p:cNvSpPr/>
          <p:nvPr/>
        </p:nvSpPr>
        <p:spPr>
          <a:xfrm>
            <a:off x="7290029" y="2419280"/>
            <a:ext cx="60279" cy="60279"/>
          </a:xfrm>
          <a:prstGeom prst="rect">
            <a:avLst/>
          </a:prstGeom>
          <a:solidFill>
            <a:srgbClr val="E3E2DA"/>
          </a:solidFill>
          <a:ln w="12700">
            <a:solidFill>
              <a:srgbClr val="E3E2DA"/>
            </a:solidFill>
            <a:prstDash val="solid"/>
          </a:ln>
        </p:spPr>
      </p:sp>
      <p:sp>
        <p:nvSpPr>
          <p:cNvPr id="277" name="Shape 275"/>
          <p:cNvSpPr/>
          <p:nvPr/>
        </p:nvSpPr>
        <p:spPr>
          <a:xfrm>
            <a:off x="6671564" y="2487998"/>
            <a:ext cx="60279" cy="60279"/>
          </a:xfrm>
          <a:prstGeom prst="rect">
            <a:avLst/>
          </a:prstGeom>
          <a:solidFill>
            <a:srgbClr val="E3E2DA"/>
          </a:solidFill>
          <a:ln w="12700">
            <a:solidFill>
              <a:srgbClr val="E3E2DA"/>
            </a:solidFill>
            <a:prstDash val="solid"/>
          </a:ln>
        </p:spPr>
      </p:sp>
      <p:sp>
        <p:nvSpPr>
          <p:cNvPr id="278" name="Shape 276"/>
          <p:cNvSpPr/>
          <p:nvPr/>
        </p:nvSpPr>
        <p:spPr>
          <a:xfrm>
            <a:off x="6740282" y="2487998"/>
            <a:ext cx="60279" cy="60279"/>
          </a:xfrm>
          <a:prstGeom prst="rect">
            <a:avLst/>
          </a:prstGeom>
          <a:solidFill>
            <a:srgbClr val="E3E2DA"/>
          </a:solidFill>
          <a:ln w="12700">
            <a:solidFill>
              <a:srgbClr val="E3E2DA"/>
            </a:solidFill>
            <a:prstDash val="solid"/>
          </a:ln>
        </p:spPr>
      </p:sp>
      <p:sp>
        <p:nvSpPr>
          <p:cNvPr id="279" name="Shape 277"/>
          <p:cNvSpPr/>
          <p:nvPr/>
        </p:nvSpPr>
        <p:spPr>
          <a:xfrm>
            <a:off x="6809001" y="2487998"/>
            <a:ext cx="60279" cy="60279"/>
          </a:xfrm>
          <a:prstGeom prst="rect">
            <a:avLst/>
          </a:prstGeom>
          <a:solidFill>
            <a:srgbClr val="E3E2DA"/>
          </a:solidFill>
          <a:ln w="12700">
            <a:solidFill>
              <a:srgbClr val="E3E2DA"/>
            </a:solidFill>
            <a:prstDash val="solid"/>
          </a:ln>
        </p:spPr>
      </p:sp>
      <p:sp>
        <p:nvSpPr>
          <p:cNvPr id="280" name="Shape 278"/>
          <p:cNvSpPr/>
          <p:nvPr/>
        </p:nvSpPr>
        <p:spPr>
          <a:xfrm>
            <a:off x="6877719" y="2487998"/>
            <a:ext cx="60279" cy="60279"/>
          </a:xfrm>
          <a:prstGeom prst="rect">
            <a:avLst/>
          </a:prstGeom>
          <a:solidFill>
            <a:srgbClr val="E3E2DA"/>
          </a:solidFill>
          <a:ln w="12700">
            <a:solidFill>
              <a:srgbClr val="E3E2DA"/>
            </a:solidFill>
            <a:prstDash val="solid"/>
          </a:ln>
        </p:spPr>
      </p:sp>
      <p:sp>
        <p:nvSpPr>
          <p:cNvPr id="281" name="Shape 279"/>
          <p:cNvSpPr/>
          <p:nvPr/>
        </p:nvSpPr>
        <p:spPr>
          <a:xfrm>
            <a:off x="6946438" y="2487998"/>
            <a:ext cx="60279" cy="60279"/>
          </a:xfrm>
          <a:prstGeom prst="rect">
            <a:avLst/>
          </a:prstGeom>
          <a:solidFill>
            <a:srgbClr val="E3E2DA"/>
          </a:solidFill>
          <a:ln w="12700">
            <a:solidFill>
              <a:srgbClr val="E3E2DA"/>
            </a:solidFill>
            <a:prstDash val="solid"/>
          </a:ln>
        </p:spPr>
      </p:sp>
      <p:sp>
        <p:nvSpPr>
          <p:cNvPr id="282" name="Shape 280"/>
          <p:cNvSpPr/>
          <p:nvPr/>
        </p:nvSpPr>
        <p:spPr>
          <a:xfrm>
            <a:off x="7015156" y="2487998"/>
            <a:ext cx="60279" cy="60279"/>
          </a:xfrm>
          <a:prstGeom prst="rect">
            <a:avLst/>
          </a:prstGeom>
          <a:solidFill>
            <a:srgbClr val="E3E2DA"/>
          </a:solidFill>
          <a:ln w="12700">
            <a:solidFill>
              <a:srgbClr val="E3E2DA"/>
            </a:solidFill>
            <a:prstDash val="solid"/>
          </a:ln>
        </p:spPr>
      </p:sp>
      <p:sp>
        <p:nvSpPr>
          <p:cNvPr id="283" name="Shape 281"/>
          <p:cNvSpPr/>
          <p:nvPr/>
        </p:nvSpPr>
        <p:spPr>
          <a:xfrm>
            <a:off x="7083874" y="2487998"/>
            <a:ext cx="60279" cy="60279"/>
          </a:xfrm>
          <a:prstGeom prst="rect">
            <a:avLst/>
          </a:prstGeom>
          <a:solidFill>
            <a:srgbClr val="E3E2DA"/>
          </a:solidFill>
          <a:ln w="12700">
            <a:solidFill>
              <a:srgbClr val="E3E2DA"/>
            </a:solidFill>
            <a:prstDash val="solid"/>
          </a:ln>
        </p:spPr>
      </p:sp>
      <p:sp>
        <p:nvSpPr>
          <p:cNvPr id="284" name="Shape 282"/>
          <p:cNvSpPr/>
          <p:nvPr/>
        </p:nvSpPr>
        <p:spPr>
          <a:xfrm>
            <a:off x="7152593" y="2487998"/>
            <a:ext cx="60279" cy="60279"/>
          </a:xfrm>
          <a:prstGeom prst="rect">
            <a:avLst/>
          </a:prstGeom>
          <a:solidFill>
            <a:srgbClr val="E3E2DA"/>
          </a:solidFill>
          <a:ln w="12700">
            <a:solidFill>
              <a:srgbClr val="E3E2DA"/>
            </a:solidFill>
            <a:prstDash val="solid"/>
          </a:ln>
        </p:spPr>
      </p:sp>
      <p:sp>
        <p:nvSpPr>
          <p:cNvPr id="285" name="Shape 283"/>
          <p:cNvSpPr/>
          <p:nvPr/>
        </p:nvSpPr>
        <p:spPr>
          <a:xfrm>
            <a:off x="7221311" y="2487998"/>
            <a:ext cx="60279" cy="60279"/>
          </a:xfrm>
          <a:prstGeom prst="rect">
            <a:avLst/>
          </a:prstGeom>
          <a:solidFill>
            <a:srgbClr val="E3E2DA"/>
          </a:solidFill>
          <a:ln w="12700">
            <a:solidFill>
              <a:srgbClr val="E3E2DA"/>
            </a:solidFill>
            <a:prstDash val="solid"/>
          </a:ln>
        </p:spPr>
      </p:sp>
      <p:sp>
        <p:nvSpPr>
          <p:cNvPr id="286" name="Shape 284"/>
          <p:cNvSpPr/>
          <p:nvPr/>
        </p:nvSpPr>
        <p:spPr>
          <a:xfrm>
            <a:off x="7290029" y="2487998"/>
            <a:ext cx="60279" cy="60279"/>
          </a:xfrm>
          <a:prstGeom prst="rect">
            <a:avLst/>
          </a:prstGeom>
          <a:solidFill>
            <a:srgbClr val="E3E2DA"/>
          </a:solidFill>
          <a:ln w="12700">
            <a:solidFill>
              <a:srgbClr val="E3E2DA"/>
            </a:solidFill>
            <a:prstDash val="solid"/>
          </a:ln>
        </p:spPr>
      </p:sp>
      <p:sp>
        <p:nvSpPr>
          <p:cNvPr id="287" name="Shape 285"/>
          <p:cNvSpPr/>
          <p:nvPr/>
        </p:nvSpPr>
        <p:spPr>
          <a:xfrm>
            <a:off x="6671564" y="2556717"/>
            <a:ext cx="60279" cy="60279"/>
          </a:xfrm>
          <a:prstGeom prst="rect">
            <a:avLst/>
          </a:prstGeom>
          <a:solidFill>
            <a:srgbClr val="E3E2DA"/>
          </a:solidFill>
          <a:ln w="12700">
            <a:solidFill>
              <a:srgbClr val="E3E2DA"/>
            </a:solidFill>
            <a:prstDash val="solid"/>
          </a:ln>
        </p:spPr>
      </p:sp>
      <p:sp>
        <p:nvSpPr>
          <p:cNvPr id="288" name="Shape 286"/>
          <p:cNvSpPr/>
          <p:nvPr/>
        </p:nvSpPr>
        <p:spPr>
          <a:xfrm>
            <a:off x="6740282" y="2556717"/>
            <a:ext cx="60279" cy="60279"/>
          </a:xfrm>
          <a:prstGeom prst="rect">
            <a:avLst/>
          </a:prstGeom>
          <a:solidFill>
            <a:srgbClr val="E3E2DA"/>
          </a:solidFill>
          <a:ln w="12700">
            <a:solidFill>
              <a:srgbClr val="E3E2DA"/>
            </a:solidFill>
            <a:prstDash val="solid"/>
          </a:ln>
        </p:spPr>
      </p:sp>
      <p:sp>
        <p:nvSpPr>
          <p:cNvPr id="289" name="Shape 287"/>
          <p:cNvSpPr/>
          <p:nvPr/>
        </p:nvSpPr>
        <p:spPr>
          <a:xfrm>
            <a:off x="6809001" y="2556717"/>
            <a:ext cx="60279" cy="60279"/>
          </a:xfrm>
          <a:prstGeom prst="rect">
            <a:avLst/>
          </a:prstGeom>
          <a:solidFill>
            <a:srgbClr val="E3E2DA"/>
          </a:solidFill>
          <a:ln w="12700">
            <a:solidFill>
              <a:srgbClr val="E3E2DA"/>
            </a:solidFill>
            <a:prstDash val="solid"/>
          </a:ln>
        </p:spPr>
      </p:sp>
      <p:sp>
        <p:nvSpPr>
          <p:cNvPr id="290" name="Shape 288"/>
          <p:cNvSpPr/>
          <p:nvPr/>
        </p:nvSpPr>
        <p:spPr>
          <a:xfrm>
            <a:off x="6877719" y="2556717"/>
            <a:ext cx="60279" cy="60279"/>
          </a:xfrm>
          <a:prstGeom prst="rect">
            <a:avLst/>
          </a:prstGeom>
          <a:solidFill>
            <a:srgbClr val="E3E2DA"/>
          </a:solidFill>
          <a:ln w="12700">
            <a:solidFill>
              <a:srgbClr val="E3E2DA"/>
            </a:solidFill>
            <a:prstDash val="solid"/>
          </a:ln>
        </p:spPr>
      </p:sp>
      <p:sp>
        <p:nvSpPr>
          <p:cNvPr id="291" name="Shape 289"/>
          <p:cNvSpPr/>
          <p:nvPr/>
        </p:nvSpPr>
        <p:spPr>
          <a:xfrm>
            <a:off x="6946438" y="2556717"/>
            <a:ext cx="60279" cy="60279"/>
          </a:xfrm>
          <a:prstGeom prst="rect">
            <a:avLst/>
          </a:prstGeom>
          <a:solidFill>
            <a:srgbClr val="E3E2DA"/>
          </a:solidFill>
          <a:ln w="12700">
            <a:solidFill>
              <a:srgbClr val="E3E2DA"/>
            </a:solidFill>
            <a:prstDash val="solid"/>
          </a:ln>
        </p:spPr>
      </p:sp>
      <p:sp>
        <p:nvSpPr>
          <p:cNvPr id="292" name="Shape 290"/>
          <p:cNvSpPr/>
          <p:nvPr/>
        </p:nvSpPr>
        <p:spPr>
          <a:xfrm>
            <a:off x="7015156" y="2556717"/>
            <a:ext cx="60279" cy="60279"/>
          </a:xfrm>
          <a:prstGeom prst="rect">
            <a:avLst/>
          </a:prstGeom>
          <a:solidFill>
            <a:srgbClr val="E3E2DA"/>
          </a:solidFill>
          <a:ln w="12700">
            <a:solidFill>
              <a:srgbClr val="E3E2DA"/>
            </a:solidFill>
            <a:prstDash val="solid"/>
          </a:ln>
        </p:spPr>
      </p:sp>
      <p:sp>
        <p:nvSpPr>
          <p:cNvPr id="293" name="Shape 291"/>
          <p:cNvSpPr/>
          <p:nvPr/>
        </p:nvSpPr>
        <p:spPr>
          <a:xfrm>
            <a:off x="7083874" y="2556717"/>
            <a:ext cx="60279" cy="60279"/>
          </a:xfrm>
          <a:prstGeom prst="rect">
            <a:avLst/>
          </a:prstGeom>
          <a:solidFill>
            <a:srgbClr val="E3E2DA"/>
          </a:solidFill>
          <a:ln w="12700">
            <a:solidFill>
              <a:srgbClr val="E3E2DA"/>
            </a:solidFill>
            <a:prstDash val="solid"/>
          </a:ln>
        </p:spPr>
      </p:sp>
      <p:sp>
        <p:nvSpPr>
          <p:cNvPr id="294" name="Shape 292"/>
          <p:cNvSpPr/>
          <p:nvPr/>
        </p:nvSpPr>
        <p:spPr>
          <a:xfrm>
            <a:off x="7152593" y="2556717"/>
            <a:ext cx="60279" cy="60279"/>
          </a:xfrm>
          <a:prstGeom prst="rect">
            <a:avLst/>
          </a:prstGeom>
          <a:solidFill>
            <a:srgbClr val="E3E2DA"/>
          </a:solidFill>
          <a:ln w="12700">
            <a:solidFill>
              <a:srgbClr val="E3E2DA"/>
            </a:solidFill>
            <a:prstDash val="solid"/>
          </a:ln>
        </p:spPr>
      </p:sp>
      <p:sp>
        <p:nvSpPr>
          <p:cNvPr id="295" name="Shape 293"/>
          <p:cNvSpPr/>
          <p:nvPr/>
        </p:nvSpPr>
        <p:spPr>
          <a:xfrm>
            <a:off x="7221311" y="2556717"/>
            <a:ext cx="60279" cy="60279"/>
          </a:xfrm>
          <a:prstGeom prst="rect">
            <a:avLst/>
          </a:prstGeom>
          <a:solidFill>
            <a:srgbClr val="E3E2DA"/>
          </a:solidFill>
          <a:ln w="12700">
            <a:solidFill>
              <a:srgbClr val="E3E2DA"/>
            </a:solidFill>
            <a:prstDash val="solid"/>
          </a:ln>
        </p:spPr>
      </p:sp>
      <p:sp>
        <p:nvSpPr>
          <p:cNvPr id="296" name="Shape 294"/>
          <p:cNvSpPr/>
          <p:nvPr/>
        </p:nvSpPr>
        <p:spPr>
          <a:xfrm>
            <a:off x="7290029" y="2556717"/>
            <a:ext cx="60279" cy="60279"/>
          </a:xfrm>
          <a:prstGeom prst="rect">
            <a:avLst/>
          </a:prstGeom>
          <a:solidFill>
            <a:srgbClr val="E3E2DA"/>
          </a:solidFill>
          <a:ln w="12700">
            <a:solidFill>
              <a:srgbClr val="E3E2DA"/>
            </a:solidFill>
            <a:prstDash val="solid"/>
          </a:ln>
        </p:spPr>
      </p:sp>
      <p:sp>
        <p:nvSpPr>
          <p:cNvPr id="297" name="Shape 295"/>
          <p:cNvSpPr/>
          <p:nvPr/>
        </p:nvSpPr>
        <p:spPr>
          <a:xfrm>
            <a:off x="6671564" y="2625435"/>
            <a:ext cx="60279" cy="60279"/>
          </a:xfrm>
          <a:prstGeom prst="rect">
            <a:avLst/>
          </a:prstGeom>
          <a:solidFill>
            <a:srgbClr val="E3E2DA"/>
          </a:solidFill>
          <a:ln w="12700">
            <a:solidFill>
              <a:srgbClr val="E3E2DA"/>
            </a:solidFill>
            <a:prstDash val="solid"/>
          </a:ln>
        </p:spPr>
      </p:sp>
      <p:sp>
        <p:nvSpPr>
          <p:cNvPr id="298" name="Shape 296"/>
          <p:cNvSpPr/>
          <p:nvPr/>
        </p:nvSpPr>
        <p:spPr>
          <a:xfrm>
            <a:off x="6740282" y="2625435"/>
            <a:ext cx="60279" cy="60279"/>
          </a:xfrm>
          <a:prstGeom prst="rect">
            <a:avLst/>
          </a:prstGeom>
          <a:solidFill>
            <a:srgbClr val="E3E2DA"/>
          </a:solidFill>
          <a:ln w="12700">
            <a:solidFill>
              <a:srgbClr val="E3E2DA"/>
            </a:solidFill>
            <a:prstDash val="solid"/>
          </a:ln>
        </p:spPr>
      </p:sp>
      <p:sp>
        <p:nvSpPr>
          <p:cNvPr id="299" name="Shape 297"/>
          <p:cNvSpPr/>
          <p:nvPr/>
        </p:nvSpPr>
        <p:spPr>
          <a:xfrm>
            <a:off x="6809001" y="2625435"/>
            <a:ext cx="60279" cy="60279"/>
          </a:xfrm>
          <a:prstGeom prst="rect">
            <a:avLst/>
          </a:prstGeom>
          <a:solidFill>
            <a:srgbClr val="E3E2DA"/>
          </a:solidFill>
          <a:ln w="12700">
            <a:solidFill>
              <a:srgbClr val="E3E2DA"/>
            </a:solidFill>
            <a:prstDash val="solid"/>
          </a:ln>
        </p:spPr>
      </p:sp>
      <p:sp>
        <p:nvSpPr>
          <p:cNvPr id="300" name="Shape 298"/>
          <p:cNvSpPr/>
          <p:nvPr/>
        </p:nvSpPr>
        <p:spPr>
          <a:xfrm>
            <a:off x="6877719" y="2625435"/>
            <a:ext cx="60279" cy="60279"/>
          </a:xfrm>
          <a:prstGeom prst="rect">
            <a:avLst/>
          </a:prstGeom>
          <a:solidFill>
            <a:srgbClr val="E3E2DA"/>
          </a:solidFill>
          <a:ln w="12700">
            <a:solidFill>
              <a:srgbClr val="E3E2DA"/>
            </a:solidFill>
            <a:prstDash val="solid"/>
          </a:ln>
        </p:spPr>
      </p:sp>
      <p:sp>
        <p:nvSpPr>
          <p:cNvPr id="301" name="Shape 299"/>
          <p:cNvSpPr/>
          <p:nvPr/>
        </p:nvSpPr>
        <p:spPr>
          <a:xfrm>
            <a:off x="6946438" y="2625435"/>
            <a:ext cx="60279" cy="60279"/>
          </a:xfrm>
          <a:prstGeom prst="rect">
            <a:avLst/>
          </a:prstGeom>
          <a:solidFill>
            <a:srgbClr val="E3E2DA"/>
          </a:solidFill>
          <a:ln w="12700">
            <a:solidFill>
              <a:srgbClr val="E3E2DA"/>
            </a:solidFill>
            <a:prstDash val="solid"/>
          </a:ln>
        </p:spPr>
      </p:sp>
      <p:sp>
        <p:nvSpPr>
          <p:cNvPr id="302" name="Shape 300"/>
          <p:cNvSpPr/>
          <p:nvPr/>
        </p:nvSpPr>
        <p:spPr>
          <a:xfrm>
            <a:off x="7015156" y="2625435"/>
            <a:ext cx="60279" cy="60279"/>
          </a:xfrm>
          <a:prstGeom prst="rect">
            <a:avLst/>
          </a:prstGeom>
          <a:solidFill>
            <a:srgbClr val="E3E2DA"/>
          </a:solidFill>
          <a:ln w="12700">
            <a:solidFill>
              <a:srgbClr val="E3E2DA"/>
            </a:solidFill>
            <a:prstDash val="solid"/>
          </a:ln>
        </p:spPr>
      </p:sp>
      <p:sp>
        <p:nvSpPr>
          <p:cNvPr id="303" name="Shape 301"/>
          <p:cNvSpPr/>
          <p:nvPr/>
        </p:nvSpPr>
        <p:spPr>
          <a:xfrm>
            <a:off x="7083874" y="2625435"/>
            <a:ext cx="60279" cy="60279"/>
          </a:xfrm>
          <a:prstGeom prst="rect">
            <a:avLst/>
          </a:prstGeom>
          <a:solidFill>
            <a:srgbClr val="E3E2DA"/>
          </a:solidFill>
          <a:ln w="12700">
            <a:solidFill>
              <a:srgbClr val="E3E2DA"/>
            </a:solidFill>
            <a:prstDash val="solid"/>
          </a:ln>
        </p:spPr>
      </p:sp>
      <p:sp>
        <p:nvSpPr>
          <p:cNvPr id="304" name="Shape 302"/>
          <p:cNvSpPr/>
          <p:nvPr/>
        </p:nvSpPr>
        <p:spPr>
          <a:xfrm>
            <a:off x="7152593" y="2625435"/>
            <a:ext cx="60279" cy="60279"/>
          </a:xfrm>
          <a:prstGeom prst="rect">
            <a:avLst/>
          </a:prstGeom>
          <a:solidFill>
            <a:srgbClr val="E3E2DA"/>
          </a:solidFill>
          <a:ln w="12700">
            <a:solidFill>
              <a:srgbClr val="E3E2DA"/>
            </a:solidFill>
            <a:prstDash val="solid"/>
          </a:ln>
        </p:spPr>
      </p:sp>
      <p:sp>
        <p:nvSpPr>
          <p:cNvPr id="305" name="Shape 303"/>
          <p:cNvSpPr/>
          <p:nvPr/>
        </p:nvSpPr>
        <p:spPr>
          <a:xfrm>
            <a:off x="7221311" y="2625435"/>
            <a:ext cx="60279" cy="60279"/>
          </a:xfrm>
          <a:prstGeom prst="rect">
            <a:avLst/>
          </a:prstGeom>
          <a:solidFill>
            <a:srgbClr val="E3E2DA"/>
          </a:solidFill>
          <a:ln w="12700">
            <a:solidFill>
              <a:srgbClr val="E3E2DA"/>
            </a:solidFill>
            <a:prstDash val="solid"/>
          </a:ln>
        </p:spPr>
      </p:sp>
      <p:sp>
        <p:nvSpPr>
          <p:cNvPr id="306" name="Shape 304"/>
          <p:cNvSpPr/>
          <p:nvPr/>
        </p:nvSpPr>
        <p:spPr>
          <a:xfrm>
            <a:off x="7290029" y="2625435"/>
            <a:ext cx="60279" cy="60279"/>
          </a:xfrm>
          <a:prstGeom prst="rect">
            <a:avLst/>
          </a:prstGeom>
          <a:solidFill>
            <a:srgbClr val="E3E2DA"/>
          </a:solidFill>
          <a:ln w="12700">
            <a:solidFill>
              <a:srgbClr val="E3E2DA"/>
            </a:solidFill>
            <a:prstDash val="solid"/>
          </a:ln>
        </p:spPr>
      </p:sp>
      <p:sp>
        <p:nvSpPr>
          <p:cNvPr id="307" name="Shape 305"/>
          <p:cNvSpPr/>
          <p:nvPr/>
        </p:nvSpPr>
        <p:spPr>
          <a:xfrm>
            <a:off x="6671564" y="2694153"/>
            <a:ext cx="60279" cy="60279"/>
          </a:xfrm>
          <a:prstGeom prst="rect">
            <a:avLst/>
          </a:prstGeom>
          <a:solidFill>
            <a:srgbClr val="E3E2DA"/>
          </a:solidFill>
          <a:ln w="12700">
            <a:solidFill>
              <a:srgbClr val="E3E2DA"/>
            </a:solidFill>
            <a:prstDash val="solid"/>
          </a:ln>
        </p:spPr>
      </p:sp>
      <p:sp>
        <p:nvSpPr>
          <p:cNvPr id="308" name="Shape 306"/>
          <p:cNvSpPr/>
          <p:nvPr/>
        </p:nvSpPr>
        <p:spPr>
          <a:xfrm>
            <a:off x="6740282" y="2694153"/>
            <a:ext cx="60279" cy="60279"/>
          </a:xfrm>
          <a:prstGeom prst="rect">
            <a:avLst/>
          </a:prstGeom>
          <a:solidFill>
            <a:srgbClr val="E3E2DA"/>
          </a:solidFill>
          <a:ln w="12700">
            <a:solidFill>
              <a:srgbClr val="E3E2DA"/>
            </a:solidFill>
            <a:prstDash val="solid"/>
          </a:ln>
        </p:spPr>
      </p:sp>
      <p:sp>
        <p:nvSpPr>
          <p:cNvPr id="309" name="Shape 307"/>
          <p:cNvSpPr/>
          <p:nvPr/>
        </p:nvSpPr>
        <p:spPr>
          <a:xfrm>
            <a:off x="6809001" y="2694153"/>
            <a:ext cx="60279" cy="60279"/>
          </a:xfrm>
          <a:prstGeom prst="rect">
            <a:avLst/>
          </a:prstGeom>
          <a:solidFill>
            <a:srgbClr val="E3E2DA"/>
          </a:solidFill>
          <a:ln w="12700">
            <a:solidFill>
              <a:srgbClr val="E3E2DA"/>
            </a:solidFill>
            <a:prstDash val="solid"/>
          </a:ln>
        </p:spPr>
      </p:sp>
      <p:sp>
        <p:nvSpPr>
          <p:cNvPr id="310" name="Shape 308"/>
          <p:cNvSpPr/>
          <p:nvPr/>
        </p:nvSpPr>
        <p:spPr>
          <a:xfrm>
            <a:off x="6877719" y="2694153"/>
            <a:ext cx="60279" cy="60279"/>
          </a:xfrm>
          <a:prstGeom prst="rect">
            <a:avLst/>
          </a:prstGeom>
          <a:solidFill>
            <a:srgbClr val="E3E2DA"/>
          </a:solidFill>
          <a:ln w="12700">
            <a:solidFill>
              <a:srgbClr val="E3E2DA"/>
            </a:solidFill>
            <a:prstDash val="solid"/>
          </a:ln>
        </p:spPr>
      </p:sp>
      <p:sp>
        <p:nvSpPr>
          <p:cNvPr id="311" name="Shape 309"/>
          <p:cNvSpPr/>
          <p:nvPr/>
        </p:nvSpPr>
        <p:spPr>
          <a:xfrm>
            <a:off x="6946438" y="2694153"/>
            <a:ext cx="60279" cy="60279"/>
          </a:xfrm>
          <a:prstGeom prst="rect">
            <a:avLst/>
          </a:prstGeom>
          <a:solidFill>
            <a:srgbClr val="E3E2DA"/>
          </a:solidFill>
          <a:ln w="12700">
            <a:solidFill>
              <a:srgbClr val="E3E2DA"/>
            </a:solidFill>
            <a:prstDash val="solid"/>
          </a:ln>
        </p:spPr>
      </p:sp>
      <p:sp>
        <p:nvSpPr>
          <p:cNvPr id="312" name="Shape 310"/>
          <p:cNvSpPr/>
          <p:nvPr/>
        </p:nvSpPr>
        <p:spPr>
          <a:xfrm>
            <a:off x="7015156" y="2694153"/>
            <a:ext cx="60279" cy="60279"/>
          </a:xfrm>
          <a:prstGeom prst="rect">
            <a:avLst/>
          </a:prstGeom>
          <a:solidFill>
            <a:srgbClr val="E3E2DA"/>
          </a:solidFill>
          <a:ln w="12700">
            <a:solidFill>
              <a:srgbClr val="E3E2DA"/>
            </a:solidFill>
            <a:prstDash val="solid"/>
          </a:ln>
        </p:spPr>
      </p:sp>
      <p:sp>
        <p:nvSpPr>
          <p:cNvPr id="313" name="Shape 311"/>
          <p:cNvSpPr/>
          <p:nvPr/>
        </p:nvSpPr>
        <p:spPr>
          <a:xfrm>
            <a:off x="7083874" y="2694153"/>
            <a:ext cx="60279" cy="60279"/>
          </a:xfrm>
          <a:prstGeom prst="rect">
            <a:avLst/>
          </a:prstGeom>
          <a:solidFill>
            <a:srgbClr val="E3E2DA"/>
          </a:solidFill>
          <a:ln w="12700">
            <a:solidFill>
              <a:srgbClr val="E3E2DA"/>
            </a:solidFill>
            <a:prstDash val="solid"/>
          </a:ln>
        </p:spPr>
      </p:sp>
      <p:sp>
        <p:nvSpPr>
          <p:cNvPr id="314" name="Shape 312"/>
          <p:cNvSpPr/>
          <p:nvPr/>
        </p:nvSpPr>
        <p:spPr>
          <a:xfrm>
            <a:off x="7152593" y="2694153"/>
            <a:ext cx="60279" cy="60279"/>
          </a:xfrm>
          <a:prstGeom prst="rect">
            <a:avLst/>
          </a:prstGeom>
          <a:solidFill>
            <a:srgbClr val="E3E2DA"/>
          </a:solidFill>
          <a:ln w="12700">
            <a:solidFill>
              <a:srgbClr val="E3E2DA"/>
            </a:solidFill>
            <a:prstDash val="solid"/>
          </a:ln>
        </p:spPr>
      </p:sp>
      <p:sp>
        <p:nvSpPr>
          <p:cNvPr id="315" name="Shape 313"/>
          <p:cNvSpPr/>
          <p:nvPr/>
        </p:nvSpPr>
        <p:spPr>
          <a:xfrm>
            <a:off x="7221311" y="2694153"/>
            <a:ext cx="60279" cy="60279"/>
          </a:xfrm>
          <a:prstGeom prst="rect">
            <a:avLst/>
          </a:prstGeom>
          <a:solidFill>
            <a:srgbClr val="E3E2DA"/>
          </a:solidFill>
          <a:ln w="12700">
            <a:solidFill>
              <a:srgbClr val="E3E2DA"/>
            </a:solidFill>
            <a:prstDash val="solid"/>
          </a:ln>
        </p:spPr>
      </p:sp>
      <p:sp>
        <p:nvSpPr>
          <p:cNvPr id="316" name="Shape 314"/>
          <p:cNvSpPr/>
          <p:nvPr/>
        </p:nvSpPr>
        <p:spPr>
          <a:xfrm>
            <a:off x="7290029" y="2694153"/>
            <a:ext cx="60279" cy="60279"/>
          </a:xfrm>
          <a:prstGeom prst="rect">
            <a:avLst/>
          </a:prstGeom>
          <a:solidFill>
            <a:srgbClr val="E3E2DA"/>
          </a:solidFill>
          <a:ln w="12700">
            <a:solidFill>
              <a:srgbClr val="E3E2DA"/>
            </a:solidFill>
            <a:prstDash val="solid"/>
          </a:ln>
        </p:spPr>
      </p:sp>
      <p:sp>
        <p:nvSpPr>
          <p:cNvPr id="317" name="Text 315"/>
          <p:cNvSpPr txBox="1"/>
          <p:nvPr/>
        </p:nvSpPr>
        <p:spPr>
          <a:xfrm>
            <a:off x="6671564" y="2836024"/>
            <a:ext cx="968553"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37.0%</a:t>
            </a:r>
            <a:endParaRPr lang="en-US" sz="2000" dirty="0"/>
          </a:p>
        </p:txBody>
      </p:sp>
      <p:sp>
        <p:nvSpPr>
          <p:cNvPr id="318" name="Text 316"/>
          <p:cNvSpPr txBox="1"/>
          <p:nvPr/>
        </p:nvSpPr>
        <p:spPr>
          <a:xfrm>
            <a:off x="6671564" y="3201784"/>
            <a:ext cx="877113"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traveled with children (37 of every 100)</a:t>
            </a:r>
            <a:endParaRPr lang="en-US" sz="1000" dirty="0"/>
          </a:p>
        </p:txBody>
      </p:sp>
      <p:sp>
        <p:nvSpPr>
          <p:cNvPr id="319" name="Text 317"/>
          <p:cNvSpPr txBox="1"/>
          <p:nvPr/>
        </p:nvSpPr>
        <p:spPr>
          <a:xfrm>
            <a:off x="8188757" y="1417320"/>
            <a:ext cx="345429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Orange County hotels fill most in July</a:t>
            </a:r>
            <a:endParaRPr lang="en-US" sz="1500" dirty="0"/>
          </a:p>
        </p:txBody>
      </p:sp>
      <p:sp>
        <p:nvSpPr>
          <p:cNvPr id="320" name="Text 318"/>
          <p:cNvSpPr txBox="1"/>
          <p:nvPr/>
        </p:nvSpPr>
        <p:spPr>
          <a:xfrm>
            <a:off x="8188757" y="1746504"/>
            <a:ext cx="345429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occupancy by month, 2023-2025 average · July highlighted</a:t>
            </a:r>
            <a:endParaRPr lang="en-US" sz="950" dirty="0"/>
          </a:p>
        </p:txBody>
      </p:sp>
      <p:sp>
        <p:nvSpPr>
          <p:cNvPr id="321" name="Shape 319"/>
          <p:cNvSpPr/>
          <p:nvPr/>
        </p:nvSpPr>
        <p:spPr>
          <a:xfrm>
            <a:off x="8231936" y="2075688"/>
            <a:ext cx="201501" cy="2194560"/>
          </a:xfrm>
          <a:prstGeom prst="rect">
            <a:avLst/>
          </a:prstGeom>
          <a:solidFill>
            <a:srgbClr val="F9F9F2"/>
          </a:solidFill>
          <a:ln w="12700">
            <a:solidFill>
              <a:srgbClr val="B4D9E3"/>
            </a:solidFill>
            <a:prstDash val="solid"/>
          </a:ln>
        </p:spPr>
      </p:sp>
      <p:sp>
        <p:nvSpPr>
          <p:cNvPr id="322" name="Shape 320"/>
          <p:cNvSpPr/>
          <p:nvPr/>
        </p:nvSpPr>
        <p:spPr>
          <a:xfrm>
            <a:off x="8231936" y="2927177"/>
            <a:ext cx="201501" cy="1343071"/>
          </a:xfrm>
          <a:prstGeom prst="rect">
            <a:avLst/>
          </a:prstGeom>
          <a:solidFill>
            <a:srgbClr val="B4D9E3"/>
          </a:solidFill>
          <a:ln w="12700">
            <a:solidFill>
              <a:srgbClr val="B4D9E3"/>
            </a:solidFill>
            <a:prstDash val="solid"/>
          </a:ln>
        </p:spPr>
      </p:sp>
      <p:sp>
        <p:nvSpPr>
          <p:cNvPr id="323" name="Text 321"/>
          <p:cNvSpPr txBox="1"/>
          <p:nvPr/>
        </p:nvSpPr>
        <p:spPr>
          <a:xfrm>
            <a:off x="8188757"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61.2%</a:t>
            </a:r>
            <a:endParaRPr lang="en-US" sz="650" dirty="0"/>
          </a:p>
        </p:txBody>
      </p:sp>
      <p:sp>
        <p:nvSpPr>
          <p:cNvPr id="324" name="Text 322"/>
          <p:cNvSpPr txBox="1"/>
          <p:nvPr/>
        </p:nvSpPr>
        <p:spPr>
          <a:xfrm>
            <a:off x="8188757"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JAN</a:t>
            </a:r>
            <a:endParaRPr lang="en-US" sz="650" dirty="0"/>
          </a:p>
        </p:txBody>
      </p:sp>
      <p:sp>
        <p:nvSpPr>
          <p:cNvPr id="325" name="Shape 323"/>
          <p:cNvSpPr/>
          <p:nvPr/>
        </p:nvSpPr>
        <p:spPr>
          <a:xfrm>
            <a:off x="8519794" y="2075688"/>
            <a:ext cx="201501" cy="2194560"/>
          </a:xfrm>
          <a:prstGeom prst="rect">
            <a:avLst/>
          </a:prstGeom>
          <a:solidFill>
            <a:srgbClr val="F9F9F2"/>
          </a:solidFill>
          <a:ln w="12700">
            <a:solidFill>
              <a:srgbClr val="B4D9E3"/>
            </a:solidFill>
            <a:prstDash val="solid"/>
          </a:ln>
        </p:spPr>
      </p:sp>
      <p:sp>
        <p:nvSpPr>
          <p:cNvPr id="326" name="Shape 324"/>
          <p:cNvSpPr/>
          <p:nvPr/>
        </p:nvSpPr>
        <p:spPr>
          <a:xfrm>
            <a:off x="8519794" y="2756002"/>
            <a:ext cx="201501" cy="1514246"/>
          </a:xfrm>
          <a:prstGeom prst="rect">
            <a:avLst/>
          </a:prstGeom>
          <a:solidFill>
            <a:srgbClr val="B4D9E3"/>
          </a:solidFill>
          <a:ln w="12700">
            <a:solidFill>
              <a:srgbClr val="B4D9E3"/>
            </a:solidFill>
            <a:prstDash val="solid"/>
          </a:ln>
        </p:spPr>
      </p:sp>
      <p:sp>
        <p:nvSpPr>
          <p:cNvPr id="327" name="Text 325"/>
          <p:cNvSpPr txBox="1"/>
          <p:nvPr/>
        </p:nvSpPr>
        <p:spPr>
          <a:xfrm>
            <a:off x="8476615"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69%</a:t>
            </a:r>
            <a:endParaRPr lang="en-US" sz="650" dirty="0"/>
          </a:p>
        </p:txBody>
      </p:sp>
      <p:sp>
        <p:nvSpPr>
          <p:cNvPr id="328" name="Text 326"/>
          <p:cNvSpPr txBox="1"/>
          <p:nvPr/>
        </p:nvSpPr>
        <p:spPr>
          <a:xfrm>
            <a:off x="8476615"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FEB</a:t>
            </a:r>
            <a:endParaRPr lang="en-US" sz="650" dirty="0"/>
          </a:p>
        </p:txBody>
      </p:sp>
      <p:sp>
        <p:nvSpPr>
          <p:cNvPr id="329" name="Shape 327"/>
          <p:cNvSpPr/>
          <p:nvPr/>
        </p:nvSpPr>
        <p:spPr>
          <a:xfrm>
            <a:off x="8807652" y="2075688"/>
            <a:ext cx="201501" cy="2194560"/>
          </a:xfrm>
          <a:prstGeom prst="rect">
            <a:avLst/>
          </a:prstGeom>
          <a:solidFill>
            <a:srgbClr val="F9F9F2"/>
          </a:solidFill>
          <a:ln w="12700">
            <a:solidFill>
              <a:srgbClr val="B4D9E3"/>
            </a:solidFill>
            <a:prstDash val="solid"/>
          </a:ln>
        </p:spPr>
      </p:sp>
      <p:sp>
        <p:nvSpPr>
          <p:cNvPr id="330" name="Shape 328"/>
          <p:cNvSpPr/>
          <p:nvPr/>
        </p:nvSpPr>
        <p:spPr>
          <a:xfrm>
            <a:off x="8807652" y="2648468"/>
            <a:ext cx="201501" cy="1621780"/>
          </a:xfrm>
          <a:prstGeom prst="rect">
            <a:avLst/>
          </a:prstGeom>
          <a:solidFill>
            <a:srgbClr val="B4D9E3"/>
          </a:solidFill>
          <a:ln w="12700">
            <a:solidFill>
              <a:srgbClr val="B4D9E3"/>
            </a:solidFill>
            <a:prstDash val="solid"/>
          </a:ln>
        </p:spPr>
      </p:sp>
      <p:sp>
        <p:nvSpPr>
          <p:cNvPr id="331" name="Text 329"/>
          <p:cNvSpPr txBox="1"/>
          <p:nvPr/>
        </p:nvSpPr>
        <p:spPr>
          <a:xfrm>
            <a:off x="8764473"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73.9%</a:t>
            </a:r>
            <a:endParaRPr lang="en-US" sz="650" dirty="0"/>
          </a:p>
        </p:txBody>
      </p:sp>
      <p:sp>
        <p:nvSpPr>
          <p:cNvPr id="332" name="Text 330"/>
          <p:cNvSpPr txBox="1"/>
          <p:nvPr/>
        </p:nvSpPr>
        <p:spPr>
          <a:xfrm>
            <a:off x="8764473"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MAR</a:t>
            </a:r>
            <a:endParaRPr lang="en-US" sz="650" dirty="0"/>
          </a:p>
        </p:txBody>
      </p:sp>
      <p:sp>
        <p:nvSpPr>
          <p:cNvPr id="333" name="Shape 331"/>
          <p:cNvSpPr/>
          <p:nvPr/>
        </p:nvSpPr>
        <p:spPr>
          <a:xfrm>
            <a:off x="9095510" y="2075688"/>
            <a:ext cx="201501" cy="2194560"/>
          </a:xfrm>
          <a:prstGeom prst="rect">
            <a:avLst/>
          </a:prstGeom>
          <a:solidFill>
            <a:srgbClr val="F9F9F2"/>
          </a:solidFill>
          <a:ln w="12700">
            <a:solidFill>
              <a:srgbClr val="B4D9E3"/>
            </a:solidFill>
            <a:prstDash val="solid"/>
          </a:ln>
        </p:spPr>
      </p:sp>
      <p:sp>
        <p:nvSpPr>
          <p:cNvPr id="334" name="Shape 332"/>
          <p:cNvSpPr/>
          <p:nvPr/>
        </p:nvSpPr>
        <p:spPr>
          <a:xfrm>
            <a:off x="9095510" y="2701138"/>
            <a:ext cx="201501" cy="1569110"/>
          </a:xfrm>
          <a:prstGeom prst="rect">
            <a:avLst/>
          </a:prstGeom>
          <a:solidFill>
            <a:srgbClr val="B4D9E3"/>
          </a:solidFill>
          <a:ln w="12700">
            <a:solidFill>
              <a:srgbClr val="B4D9E3"/>
            </a:solidFill>
            <a:prstDash val="solid"/>
          </a:ln>
        </p:spPr>
      </p:sp>
      <p:sp>
        <p:nvSpPr>
          <p:cNvPr id="335" name="Text 333"/>
          <p:cNvSpPr txBox="1"/>
          <p:nvPr/>
        </p:nvSpPr>
        <p:spPr>
          <a:xfrm>
            <a:off x="9052331"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71.5%</a:t>
            </a:r>
            <a:endParaRPr lang="en-US" sz="650" dirty="0"/>
          </a:p>
        </p:txBody>
      </p:sp>
      <p:sp>
        <p:nvSpPr>
          <p:cNvPr id="336" name="Text 334"/>
          <p:cNvSpPr txBox="1"/>
          <p:nvPr/>
        </p:nvSpPr>
        <p:spPr>
          <a:xfrm>
            <a:off x="9052331"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APR</a:t>
            </a:r>
            <a:endParaRPr lang="en-US" sz="650" dirty="0"/>
          </a:p>
        </p:txBody>
      </p:sp>
      <p:sp>
        <p:nvSpPr>
          <p:cNvPr id="337" name="Shape 335"/>
          <p:cNvSpPr/>
          <p:nvPr/>
        </p:nvSpPr>
        <p:spPr>
          <a:xfrm>
            <a:off x="9383368" y="2075688"/>
            <a:ext cx="201501" cy="2194560"/>
          </a:xfrm>
          <a:prstGeom prst="rect">
            <a:avLst/>
          </a:prstGeom>
          <a:solidFill>
            <a:srgbClr val="F9F9F2"/>
          </a:solidFill>
          <a:ln w="12700">
            <a:solidFill>
              <a:srgbClr val="B4D9E3"/>
            </a:solidFill>
            <a:prstDash val="solid"/>
          </a:ln>
        </p:spPr>
      </p:sp>
      <p:sp>
        <p:nvSpPr>
          <p:cNvPr id="338" name="Shape 336"/>
          <p:cNvSpPr/>
          <p:nvPr/>
        </p:nvSpPr>
        <p:spPr>
          <a:xfrm>
            <a:off x="9383368" y="2731861"/>
            <a:ext cx="201501" cy="1538387"/>
          </a:xfrm>
          <a:prstGeom prst="rect">
            <a:avLst/>
          </a:prstGeom>
          <a:solidFill>
            <a:srgbClr val="B4D9E3"/>
          </a:solidFill>
          <a:ln w="12700">
            <a:solidFill>
              <a:srgbClr val="B4D9E3"/>
            </a:solidFill>
            <a:prstDash val="solid"/>
          </a:ln>
        </p:spPr>
      </p:sp>
      <p:sp>
        <p:nvSpPr>
          <p:cNvPr id="339" name="Text 337"/>
          <p:cNvSpPr txBox="1"/>
          <p:nvPr/>
        </p:nvSpPr>
        <p:spPr>
          <a:xfrm>
            <a:off x="9340190"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70.1%</a:t>
            </a:r>
            <a:endParaRPr lang="en-US" sz="650" dirty="0"/>
          </a:p>
        </p:txBody>
      </p:sp>
      <p:sp>
        <p:nvSpPr>
          <p:cNvPr id="340" name="Text 338"/>
          <p:cNvSpPr txBox="1"/>
          <p:nvPr/>
        </p:nvSpPr>
        <p:spPr>
          <a:xfrm>
            <a:off x="9340190"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MAY</a:t>
            </a:r>
            <a:endParaRPr lang="en-US" sz="650" dirty="0"/>
          </a:p>
        </p:txBody>
      </p:sp>
      <p:sp>
        <p:nvSpPr>
          <p:cNvPr id="341" name="Shape 339"/>
          <p:cNvSpPr/>
          <p:nvPr/>
        </p:nvSpPr>
        <p:spPr>
          <a:xfrm>
            <a:off x="9671227" y="2075688"/>
            <a:ext cx="201501" cy="2194560"/>
          </a:xfrm>
          <a:prstGeom prst="rect">
            <a:avLst/>
          </a:prstGeom>
          <a:solidFill>
            <a:srgbClr val="F9F9F2"/>
          </a:solidFill>
          <a:ln w="12700">
            <a:solidFill>
              <a:srgbClr val="B4D9E3"/>
            </a:solidFill>
            <a:prstDash val="solid"/>
          </a:ln>
        </p:spPr>
      </p:sp>
      <p:sp>
        <p:nvSpPr>
          <p:cNvPr id="342" name="Shape 340"/>
          <p:cNvSpPr/>
          <p:nvPr/>
        </p:nvSpPr>
        <p:spPr>
          <a:xfrm>
            <a:off x="9671227" y="2593604"/>
            <a:ext cx="201501" cy="1676644"/>
          </a:xfrm>
          <a:prstGeom prst="rect">
            <a:avLst/>
          </a:prstGeom>
          <a:solidFill>
            <a:srgbClr val="B4D9E3"/>
          </a:solidFill>
          <a:ln w="12700">
            <a:solidFill>
              <a:srgbClr val="B4D9E3"/>
            </a:solidFill>
            <a:prstDash val="solid"/>
          </a:ln>
        </p:spPr>
      </p:sp>
      <p:sp>
        <p:nvSpPr>
          <p:cNvPr id="343" name="Text 341"/>
          <p:cNvSpPr txBox="1"/>
          <p:nvPr/>
        </p:nvSpPr>
        <p:spPr>
          <a:xfrm>
            <a:off x="9628048"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76.4%</a:t>
            </a:r>
            <a:endParaRPr lang="en-US" sz="650" dirty="0"/>
          </a:p>
        </p:txBody>
      </p:sp>
      <p:sp>
        <p:nvSpPr>
          <p:cNvPr id="344" name="Text 342"/>
          <p:cNvSpPr txBox="1"/>
          <p:nvPr/>
        </p:nvSpPr>
        <p:spPr>
          <a:xfrm>
            <a:off x="9628048"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JUN</a:t>
            </a:r>
            <a:endParaRPr lang="en-US" sz="650" dirty="0"/>
          </a:p>
        </p:txBody>
      </p:sp>
      <p:sp>
        <p:nvSpPr>
          <p:cNvPr id="345" name="Shape 343"/>
          <p:cNvSpPr/>
          <p:nvPr/>
        </p:nvSpPr>
        <p:spPr>
          <a:xfrm>
            <a:off x="9959085" y="2075688"/>
            <a:ext cx="201501" cy="2194560"/>
          </a:xfrm>
          <a:prstGeom prst="rect">
            <a:avLst/>
          </a:prstGeom>
          <a:solidFill>
            <a:srgbClr val="F9F9F2"/>
          </a:solidFill>
          <a:ln w="12700">
            <a:solidFill>
              <a:srgbClr val="B4D9E3"/>
            </a:solidFill>
            <a:prstDash val="solid"/>
          </a:ln>
        </p:spPr>
      </p:sp>
      <p:sp>
        <p:nvSpPr>
          <p:cNvPr id="346" name="Shape 344"/>
          <p:cNvSpPr/>
          <p:nvPr/>
        </p:nvSpPr>
        <p:spPr>
          <a:xfrm>
            <a:off x="9959085" y="2501433"/>
            <a:ext cx="201501" cy="1768815"/>
          </a:xfrm>
          <a:prstGeom prst="rect">
            <a:avLst/>
          </a:prstGeom>
          <a:solidFill>
            <a:srgbClr val="43A3A3"/>
          </a:solidFill>
          <a:ln w="12700">
            <a:solidFill>
              <a:srgbClr val="43A3A3"/>
            </a:solidFill>
            <a:prstDash val="solid"/>
          </a:ln>
        </p:spPr>
      </p:sp>
      <p:sp>
        <p:nvSpPr>
          <p:cNvPr id="347" name="Text 345"/>
          <p:cNvSpPr txBox="1"/>
          <p:nvPr/>
        </p:nvSpPr>
        <p:spPr>
          <a:xfrm>
            <a:off x="9915906"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80.6%</a:t>
            </a:r>
            <a:endParaRPr lang="en-US" sz="650" dirty="0"/>
          </a:p>
        </p:txBody>
      </p:sp>
      <p:sp>
        <p:nvSpPr>
          <p:cNvPr id="348" name="Text 346"/>
          <p:cNvSpPr txBox="1"/>
          <p:nvPr/>
        </p:nvSpPr>
        <p:spPr>
          <a:xfrm>
            <a:off x="9915906"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JUL</a:t>
            </a:r>
            <a:endParaRPr lang="en-US" sz="650" dirty="0"/>
          </a:p>
        </p:txBody>
      </p:sp>
      <p:sp>
        <p:nvSpPr>
          <p:cNvPr id="349" name="Shape 347"/>
          <p:cNvSpPr/>
          <p:nvPr/>
        </p:nvSpPr>
        <p:spPr>
          <a:xfrm>
            <a:off x="10246943" y="2075688"/>
            <a:ext cx="201501" cy="2194560"/>
          </a:xfrm>
          <a:prstGeom prst="rect">
            <a:avLst/>
          </a:prstGeom>
          <a:solidFill>
            <a:srgbClr val="F9F9F2"/>
          </a:solidFill>
          <a:ln w="12700">
            <a:solidFill>
              <a:srgbClr val="B4D9E3"/>
            </a:solidFill>
            <a:prstDash val="solid"/>
          </a:ln>
        </p:spPr>
      </p:sp>
      <p:sp>
        <p:nvSpPr>
          <p:cNvPr id="350" name="Shape 348"/>
          <p:cNvSpPr/>
          <p:nvPr/>
        </p:nvSpPr>
        <p:spPr>
          <a:xfrm>
            <a:off x="10246943" y="2666025"/>
            <a:ext cx="201501" cy="1604223"/>
          </a:xfrm>
          <a:prstGeom prst="rect">
            <a:avLst/>
          </a:prstGeom>
          <a:solidFill>
            <a:srgbClr val="B4D9E3"/>
          </a:solidFill>
          <a:ln w="12700">
            <a:solidFill>
              <a:srgbClr val="B4D9E3"/>
            </a:solidFill>
            <a:prstDash val="solid"/>
          </a:ln>
        </p:spPr>
      </p:sp>
      <p:sp>
        <p:nvSpPr>
          <p:cNvPr id="351" name="Text 349"/>
          <p:cNvSpPr txBox="1"/>
          <p:nvPr/>
        </p:nvSpPr>
        <p:spPr>
          <a:xfrm>
            <a:off x="10203764"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73.1%</a:t>
            </a:r>
            <a:endParaRPr lang="en-US" sz="650" dirty="0"/>
          </a:p>
        </p:txBody>
      </p:sp>
      <p:sp>
        <p:nvSpPr>
          <p:cNvPr id="352" name="Text 350"/>
          <p:cNvSpPr txBox="1"/>
          <p:nvPr/>
        </p:nvSpPr>
        <p:spPr>
          <a:xfrm>
            <a:off x="10203764"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AUG</a:t>
            </a:r>
            <a:endParaRPr lang="en-US" sz="650" dirty="0"/>
          </a:p>
        </p:txBody>
      </p:sp>
      <p:sp>
        <p:nvSpPr>
          <p:cNvPr id="353" name="Shape 351"/>
          <p:cNvSpPr/>
          <p:nvPr/>
        </p:nvSpPr>
        <p:spPr>
          <a:xfrm>
            <a:off x="10534801" y="2075688"/>
            <a:ext cx="201501" cy="2194560"/>
          </a:xfrm>
          <a:prstGeom prst="rect">
            <a:avLst/>
          </a:prstGeom>
          <a:solidFill>
            <a:srgbClr val="F9F9F2"/>
          </a:solidFill>
          <a:ln w="12700">
            <a:solidFill>
              <a:srgbClr val="B4D9E3"/>
            </a:solidFill>
            <a:prstDash val="solid"/>
          </a:ln>
        </p:spPr>
      </p:sp>
      <p:sp>
        <p:nvSpPr>
          <p:cNvPr id="354" name="Shape 352"/>
          <p:cNvSpPr/>
          <p:nvPr/>
        </p:nvSpPr>
        <p:spPr>
          <a:xfrm>
            <a:off x="10534801" y="2655052"/>
            <a:ext cx="201501" cy="1615196"/>
          </a:xfrm>
          <a:prstGeom prst="rect">
            <a:avLst/>
          </a:prstGeom>
          <a:solidFill>
            <a:srgbClr val="B4D9E3"/>
          </a:solidFill>
          <a:ln w="12700">
            <a:solidFill>
              <a:srgbClr val="B4D9E3"/>
            </a:solidFill>
            <a:prstDash val="solid"/>
          </a:ln>
        </p:spPr>
      </p:sp>
      <p:sp>
        <p:nvSpPr>
          <p:cNvPr id="355" name="Text 353"/>
          <p:cNvSpPr txBox="1"/>
          <p:nvPr/>
        </p:nvSpPr>
        <p:spPr>
          <a:xfrm>
            <a:off x="10491622"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73.6%</a:t>
            </a:r>
            <a:endParaRPr lang="en-US" sz="650" dirty="0"/>
          </a:p>
        </p:txBody>
      </p:sp>
      <p:sp>
        <p:nvSpPr>
          <p:cNvPr id="356" name="Text 354"/>
          <p:cNvSpPr txBox="1"/>
          <p:nvPr/>
        </p:nvSpPr>
        <p:spPr>
          <a:xfrm>
            <a:off x="10491622"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SEP</a:t>
            </a:r>
            <a:endParaRPr lang="en-US" sz="650" dirty="0"/>
          </a:p>
        </p:txBody>
      </p:sp>
      <p:sp>
        <p:nvSpPr>
          <p:cNvPr id="357" name="Shape 355"/>
          <p:cNvSpPr/>
          <p:nvPr/>
        </p:nvSpPr>
        <p:spPr>
          <a:xfrm>
            <a:off x="10822659" y="2075688"/>
            <a:ext cx="201501" cy="2194560"/>
          </a:xfrm>
          <a:prstGeom prst="rect">
            <a:avLst/>
          </a:prstGeom>
          <a:solidFill>
            <a:srgbClr val="F9F9F2"/>
          </a:solidFill>
          <a:ln w="12700">
            <a:solidFill>
              <a:srgbClr val="B4D9E3"/>
            </a:solidFill>
            <a:prstDash val="solid"/>
          </a:ln>
        </p:spPr>
      </p:sp>
      <p:sp>
        <p:nvSpPr>
          <p:cNvPr id="358" name="Shape 356"/>
          <p:cNvSpPr/>
          <p:nvPr/>
        </p:nvSpPr>
        <p:spPr>
          <a:xfrm>
            <a:off x="10822659" y="2622133"/>
            <a:ext cx="201501" cy="1648115"/>
          </a:xfrm>
          <a:prstGeom prst="rect">
            <a:avLst/>
          </a:prstGeom>
          <a:solidFill>
            <a:srgbClr val="B4D9E3"/>
          </a:solidFill>
          <a:ln w="12700">
            <a:solidFill>
              <a:srgbClr val="B4D9E3"/>
            </a:solidFill>
            <a:prstDash val="solid"/>
          </a:ln>
        </p:spPr>
      </p:sp>
      <p:sp>
        <p:nvSpPr>
          <p:cNvPr id="359" name="Text 357"/>
          <p:cNvSpPr txBox="1"/>
          <p:nvPr/>
        </p:nvSpPr>
        <p:spPr>
          <a:xfrm>
            <a:off x="10779481"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75.1%</a:t>
            </a:r>
            <a:endParaRPr lang="en-US" sz="650" dirty="0"/>
          </a:p>
        </p:txBody>
      </p:sp>
      <p:sp>
        <p:nvSpPr>
          <p:cNvPr id="360" name="Text 358"/>
          <p:cNvSpPr txBox="1"/>
          <p:nvPr/>
        </p:nvSpPr>
        <p:spPr>
          <a:xfrm>
            <a:off x="10779481"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OCT</a:t>
            </a:r>
            <a:endParaRPr lang="en-US" sz="650" dirty="0"/>
          </a:p>
        </p:txBody>
      </p:sp>
      <p:sp>
        <p:nvSpPr>
          <p:cNvPr id="361" name="Shape 359"/>
          <p:cNvSpPr/>
          <p:nvPr/>
        </p:nvSpPr>
        <p:spPr>
          <a:xfrm>
            <a:off x="11110518" y="2075688"/>
            <a:ext cx="201501" cy="2194560"/>
          </a:xfrm>
          <a:prstGeom prst="rect">
            <a:avLst/>
          </a:prstGeom>
          <a:solidFill>
            <a:srgbClr val="F9F9F2"/>
          </a:solidFill>
          <a:ln w="12700">
            <a:solidFill>
              <a:srgbClr val="B4D9E3"/>
            </a:solidFill>
            <a:prstDash val="solid"/>
          </a:ln>
        </p:spPr>
      </p:sp>
      <p:sp>
        <p:nvSpPr>
          <p:cNvPr id="362" name="Shape 360"/>
          <p:cNvSpPr/>
          <p:nvPr/>
        </p:nvSpPr>
        <p:spPr>
          <a:xfrm>
            <a:off x="11110518" y="2751612"/>
            <a:ext cx="201501" cy="1518636"/>
          </a:xfrm>
          <a:prstGeom prst="rect">
            <a:avLst/>
          </a:prstGeom>
          <a:solidFill>
            <a:srgbClr val="B4D9E3"/>
          </a:solidFill>
          <a:ln w="12700">
            <a:solidFill>
              <a:srgbClr val="B4D9E3"/>
            </a:solidFill>
            <a:prstDash val="solid"/>
          </a:ln>
        </p:spPr>
      </p:sp>
      <p:sp>
        <p:nvSpPr>
          <p:cNvPr id="363" name="Text 361"/>
          <p:cNvSpPr txBox="1"/>
          <p:nvPr/>
        </p:nvSpPr>
        <p:spPr>
          <a:xfrm>
            <a:off x="11067339"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69.2%</a:t>
            </a:r>
            <a:endParaRPr lang="en-US" sz="650" dirty="0"/>
          </a:p>
        </p:txBody>
      </p:sp>
      <p:sp>
        <p:nvSpPr>
          <p:cNvPr id="364" name="Text 362"/>
          <p:cNvSpPr txBox="1"/>
          <p:nvPr/>
        </p:nvSpPr>
        <p:spPr>
          <a:xfrm>
            <a:off x="11067339"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NOV</a:t>
            </a:r>
            <a:endParaRPr lang="en-US" sz="650" dirty="0"/>
          </a:p>
        </p:txBody>
      </p:sp>
      <p:sp>
        <p:nvSpPr>
          <p:cNvPr id="365" name="Shape 363"/>
          <p:cNvSpPr/>
          <p:nvPr/>
        </p:nvSpPr>
        <p:spPr>
          <a:xfrm>
            <a:off x="11398376" y="2075688"/>
            <a:ext cx="201501" cy="2194560"/>
          </a:xfrm>
          <a:prstGeom prst="rect">
            <a:avLst/>
          </a:prstGeom>
          <a:solidFill>
            <a:srgbClr val="F9F9F2"/>
          </a:solidFill>
          <a:ln w="12700">
            <a:solidFill>
              <a:srgbClr val="B4D9E3"/>
            </a:solidFill>
            <a:prstDash val="solid"/>
          </a:ln>
        </p:spPr>
      </p:sp>
      <p:sp>
        <p:nvSpPr>
          <p:cNvPr id="366" name="Shape 364"/>
          <p:cNvSpPr/>
          <p:nvPr/>
        </p:nvSpPr>
        <p:spPr>
          <a:xfrm>
            <a:off x="11398376" y="2758196"/>
            <a:ext cx="201501" cy="1512052"/>
          </a:xfrm>
          <a:prstGeom prst="rect">
            <a:avLst/>
          </a:prstGeom>
          <a:solidFill>
            <a:srgbClr val="B4D9E3"/>
          </a:solidFill>
          <a:ln w="12700">
            <a:solidFill>
              <a:srgbClr val="B4D9E3"/>
            </a:solidFill>
            <a:prstDash val="solid"/>
          </a:ln>
        </p:spPr>
      </p:sp>
      <p:sp>
        <p:nvSpPr>
          <p:cNvPr id="367" name="Text 365"/>
          <p:cNvSpPr txBox="1"/>
          <p:nvPr/>
        </p:nvSpPr>
        <p:spPr>
          <a:xfrm>
            <a:off x="11355197" y="4315968"/>
            <a:ext cx="287858" cy="27432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68.9%</a:t>
            </a:r>
            <a:endParaRPr lang="en-US" sz="650" dirty="0"/>
          </a:p>
        </p:txBody>
      </p:sp>
      <p:sp>
        <p:nvSpPr>
          <p:cNvPr id="368" name="Text 366"/>
          <p:cNvSpPr txBox="1"/>
          <p:nvPr/>
        </p:nvSpPr>
        <p:spPr>
          <a:xfrm>
            <a:off x="11355197" y="4572000"/>
            <a:ext cx="287858" cy="228600"/>
          </a:xfrm>
          <a:prstGeom prst="rect">
            <a:avLst/>
          </a:prstGeom>
          <a:noFill/>
          <a:ln/>
        </p:spPr>
        <p:txBody>
          <a:bodyPr wrap="square" lIns="0" tIns="0" rIns="0" bIns="0" rtlCol="0" anchor="ctr"/>
          <a:lstStyle/>
          <a:p>
            <a:pPr algn="ctr" indent="0" marL="0">
              <a:buNone/>
            </a:pPr>
            <a:r>
              <a:rPr lang="en-US" sz="650" b="1" dirty="0">
                <a:solidFill>
                  <a:srgbClr val="231F20"/>
                </a:solidFill>
                <a:latin typeface="Proxima Nova" pitchFamily="34" charset="0"/>
                <a:ea typeface="Proxima Nova" pitchFamily="34" charset="-122"/>
                <a:cs typeface="Proxima Nova" pitchFamily="34" charset="-120"/>
              </a:rPr>
              <a:t>DEC</a:t>
            </a:r>
            <a:endParaRPr lang="en-US" sz="650" dirty="0"/>
          </a:p>
        </p:txBody>
      </p:sp>
      <p:sp>
        <p:nvSpPr>
          <p:cNvPr id="36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domestic trips to Anaheim and Garden Grove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Share of domestic trips by home metro area, Jan. 1, 2023-Aug. 31, 2026 · circle area shows share · the Los Angeles metro includes Orange County</a:t>
            </a:r>
            <a:endParaRPr lang="en-US" sz="1200" dirty="0"/>
          </a:p>
        </p:txBody>
      </p:sp>
      <p:pic>
        <p:nvPicPr>
          <p:cNvPr id="4" name="Image 0" descr="Where domestic trips to Anaheim and Garden Grove come from: Los Angeles–Long Beach–Anaheim 44.7%, Riverside–San Bernardino–Ontario 26.1%, San Diego–Chula Vista–Carlsbad 4.1%, Phoenix–Mesa–Chandler 2.3%, Las Vegas–Henderson–Paradise 1.9%, San Francisco–Oakland–Berkeley 1.3%">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6" name="Text 3"/>
          <p:cNvSpPr txBox="1"/>
          <p:nvPr/>
        </p:nvSpPr>
        <p:spPr>
          <a:xfrm>
            <a:off x="7918704" y="170992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44.7%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7" name="Text 4"/>
          <p:cNvSpPr txBox="1"/>
          <p:nvPr/>
        </p:nvSpPr>
        <p:spPr>
          <a:xfrm>
            <a:off x="7918704" y="201168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26.1%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8" name="Text 5"/>
          <p:cNvSpPr txBox="1"/>
          <p:nvPr/>
        </p:nvSpPr>
        <p:spPr>
          <a:xfrm>
            <a:off x="7918704" y="231343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4.1%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9" name="Text 6"/>
          <p:cNvSpPr txBox="1"/>
          <p:nvPr/>
        </p:nvSpPr>
        <p:spPr>
          <a:xfrm>
            <a:off x="7918704" y="261518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2.3%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10" name="Text 7"/>
          <p:cNvSpPr txBox="1"/>
          <p:nvPr/>
        </p:nvSpPr>
        <p:spPr>
          <a:xfrm>
            <a:off x="7918704" y="291693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1.9%  </a:t>
            </a:r>
            <a:pPr indent="0" marL="0">
              <a:buNone/>
            </a:pPr>
            <a:r>
              <a:rPr lang="en-US" sz="1000" dirty="0">
                <a:solidFill>
                  <a:srgbClr val="231F20"/>
                </a:solidFill>
                <a:latin typeface="Proxima Nova" pitchFamily="34" charset="0"/>
                <a:ea typeface="Proxima Nova" pitchFamily="34" charset="-122"/>
                <a:cs typeface="Proxima Nova" pitchFamily="34" charset="-120"/>
              </a:rPr>
              <a:t>Las Vegas–Henderson–Paradise</a:t>
            </a:r>
            <a:endParaRPr lang="en-US" sz="1200" dirty="0"/>
          </a:p>
        </p:txBody>
      </p:sp>
      <p:sp>
        <p:nvSpPr>
          <p:cNvPr id="11" name="Text 8"/>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1.3%  </a:t>
            </a:r>
            <a:pPr indent="0" marL="0">
              <a:buNone/>
            </a:pPr>
            <a:r>
              <a:rPr lang="en-US" sz="1000" dirty="0">
                <a:solidFill>
                  <a:srgbClr val="231F20"/>
                </a:solidFill>
                <a:latin typeface="Proxima Nova" pitchFamily="34" charset="0"/>
                <a:ea typeface="Proxima Nova" pitchFamily="34" charset="-122"/>
                <a:cs typeface="Proxima Nova" pitchFamily="34" charset="-120"/>
              </a:rPr>
              <a:t>San Francisco–Oakland–Berkeley</a:t>
            </a:r>
            <a:endParaRPr lang="en-US" sz="12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Anaheim and Garden Grove, Jan. 1, 2023-Aug. 31, 2026 (pulled Oct. 19,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International visitors to Anaheim and Garden Grove, by home country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Visitors in calendar 2025, thousands · circle area shows visitors</a:t>
            </a:r>
            <a:endParaRPr lang="en-US" sz="1200" dirty="0"/>
          </a:p>
        </p:txBody>
      </p:sp>
      <p:pic>
        <p:nvPicPr>
          <p:cNvPr id="4" name="Image 0" descr="International visitors to Anaheim and Garden Grove, by home country: Mexico 766K, Canada 254K, United Kingdom 123K, Australia 104K">    </p:cNvPr>
          <p:cNvPicPr>
            <a:picLocks noChangeAspect="1"/>
          </p:cNvPicPr>
          <p:nvPr/>
        </p:nvPicPr>
        <p:blipFill>
          <a:blip r:embed="rId1"/>
          <a:stretch>
            <a:fillRect/>
          </a:stretch>
        </p:blipFill>
        <p:spPr>
          <a:xfrm>
            <a:off x="548640" y="1417320"/>
            <a:ext cx="7955280" cy="3894773"/>
          </a:xfrm>
          <a:prstGeom prst="rect">
            <a:avLst/>
          </a:prstGeom>
        </p:spPr>
      </p:pic>
      <p:sp>
        <p:nvSpPr>
          <p:cNvPr id="5" name="Text 2"/>
          <p:cNvSpPr txBox="1"/>
          <p:nvPr/>
        </p:nvSpPr>
        <p:spPr>
          <a:xfrm>
            <a:off x="8778240" y="1417320"/>
            <a:ext cx="2864815"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COUNTRIES (CIRCLES)</a:t>
            </a:r>
            <a:endParaRPr lang="en-US" sz="950" dirty="0"/>
          </a:p>
        </p:txBody>
      </p:sp>
      <p:sp>
        <p:nvSpPr>
          <p:cNvPr id="6" name="Text 3"/>
          <p:cNvSpPr txBox="1"/>
          <p:nvPr/>
        </p:nvSpPr>
        <p:spPr>
          <a:xfrm>
            <a:off x="8778240" y="170992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766K  </a:t>
            </a:r>
            <a:pPr indent="0" marL="0">
              <a:buNone/>
            </a:pPr>
            <a:r>
              <a:rPr lang="en-US" sz="1000" dirty="0">
                <a:solidFill>
                  <a:srgbClr val="231F20"/>
                </a:solidFill>
                <a:latin typeface="Proxima Nova" pitchFamily="34" charset="0"/>
                <a:ea typeface="Proxima Nova" pitchFamily="34" charset="-122"/>
                <a:cs typeface="Proxima Nova" pitchFamily="34" charset="-120"/>
              </a:rPr>
              <a:t>Mexico</a:t>
            </a:r>
            <a:endParaRPr lang="en-US" sz="1200" dirty="0"/>
          </a:p>
        </p:txBody>
      </p:sp>
      <p:sp>
        <p:nvSpPr>
          <p:cNvPr id="7" name="Text 4"/>
          <p:cNvSpPr txBox="1"/>
          <p:nvPr/>
        </p:nvSpPr>
        <p:spPr>
          <a:xfrm>
            <a:off x="8778240" y="2011680"/>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254K  </a:t>
            </a:r>
            <a:pPr indent="0" marL="0">
              <a:buNone/>
            </a:pPr>
            <a:r>
              <a:rPr lang="en-US" sz="1000" dirty="0">
                <a:solidFill>
                  <a:srgbClr val="231F20"/>
                </a:solidFill>
                <a:latin typeface="Proxima Nova" pitchFamily="34" charset="0"/>
                <a:ea typeface="Proxima Nova" pitchFamily="34" charset="-122"/>
                <a:cs typeface="Proxima Nova" pitchFamily="34" charset="-120"/>
              </a:rPr>
              <a:t>Canada</a:t>
            </a:r>
            <a:endParaRPr lang="en-US" sz="1200" dirty="0"/>
          </a:p>
        </p:txBody>
      </p:sp>
      <p:sp>
        <p:nvSpPr>
          <p:cNvPr id="8" name="Text 5"/>
          <p:cNvSpPr txBox="1"/>
          <p:nvPr/>
        </p:nvSpPr>
        <p:spPr>
          <a:xfrm>
            <a:off x="8778240" y="2313432"/>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123K  </a:t>
            </a:r>
            <a:pPr indent="0" marL="0">
              <a:buNone/>
            </a:pPr>
            <a:r>
              <a:rPr lang="en-US" sz="1000" dirty="0">
                <a:solidFill>
                  <a:srgbClr val="231F20"/>
                </a:solidFill>
                <a:latin typeface="Proxima Nova" pitchFamily="34" charset="0"/>
                <a:ea typeface="Proxima Nova" pitchFamily="34" charset="-122"/>
                <a:cs typeface="Proxima Nova" pitchFamily="34" charset="-120"/>
              </a:rPr>
              <a:t>United Kingdom</a:t>
            </a:r>
            <a:endParaRPr lang="en-US" sz="1200" dirty="0"/>
          </a:p>
        </p:txBody>
      </p:sp>
      <p:sp>
        <p:nvSpPr>
          <p:cNvPr id="9" name="Text 6"/>
          <p:cNvSpPr txBox="1"/>
          <p:nvPr/>
        </p:nvSpPr>
        <p:spPr>
          <a:xfrm>
            <a:off x="8778240" y="2615184"/>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104K  </a:t>
            </a:r>
            <a:pPr indent="0" marL="0">
              <a:buNone/>
            </a:pPr>
            <a:r>
              <a:rPr lang="en-US" sz="1000" dirty="0">
                <a:solidFill>
                  <a:srgbClr val="231F20"/>
                </a:solidFill>
                <a:latin typeface="Proxima Nova" pitchFamily="34" charset="0"/>
                <a:ea typeface="Proxima Nova" pitchFamily="34" charset="-122"/>
                <a:cs typeface="Proxima Nova" pitchFamily="34" charset="-120"/>
              </a:rPr>
              <a:t>Australia</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Vibe's requests and where each is answered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 Vibe follow-up (Oct. 9, 2026) and ECA for OCVIBE (Oct. 19, 2026) · status as of Oct. 19, 2026</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731520"/>
                <a:gridCol w="1188720"/>
                <a:gridCol w="4206240"/>
                <a:gridCol w="2590495"/>
              </a:tblGrid>
              <a:tr h="73152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Request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Asked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Answer in brief</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Where in this app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3152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Q2 2026 Tourism Economics report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 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Answered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Anaheim Q2 2026: 6.74M visitors (+2.8%), $1.76B spending (+7.8%); Garden Grove 831,000 visitors, $200.4M.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 spending; Questions answered; library (Travel Forecast, 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3152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Anaheim, Garden Grove and Orange County reports with food and beverage job share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 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Answered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Food and beverage share of visitor-supported jobs: Anaheim 16.8%, Garden Grove 40.6%, Orange County 29.1% (2025).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Jobs and economy; library (six Tourism Economics 2025 reports)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3152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One more night study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 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Answered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One more night of Anaheim lodging spending: about $794M; each 1% of visitors adding a day: about $31.5M.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One more night; library (study and workbook)</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3152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Orange County arrivals, origins, seasonality, visitor profile and hotels (five questions)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 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Answered, with named gaps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51.3M visitors (2025); 55.4% from Southern California (2019); July peak; 37.0% with children (2019); 60,224 rooms at 75.2% (2026 YTD).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Orange County tourism; library (CIC 2019 and 11 new files)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Tourism Economics, Economic Impact of Visitors 2025 (pub. Apr.-May 2026); Visit Anaheim BI, Extra Night study;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five questions and where each is answered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Sent by Entertainment + Culture Advisors for OCVIBE, Oct. 19, 2026 · every gap paired with a solution</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60"/>
                <a:gridCol w="2743200"/>
                <a:gridCol w="3474720"/>
                <a:gridCol w="1554480"/>
                <a:gridCol w="2041855"/>
              </a:tblGrid>
              <a:tr h="71323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What was asked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Answer in brief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Main source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Gap and solution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1. Visitor arrivals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visitors came to Orange County each year from 2019 to 2025, and so far in 2026, split by domestic and international and by overnight and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51.3M in 2025 (29.2M day, 22.1M overnight; 47.9M domestic, 3.5M international); 50.21M in 2019 (CIC); Anaheim Jan.-June 2026 13.06M (+3.1%).</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 2025; CIC 2019; Tourism Economics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2020 and 2026 YTD not published; request them from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2. Origin markets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visitors come from, and can the Los Angeles-Long Beach-Anaheim area be split into Anaheim and outside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55.4% Southern California (2019); 44.7% of Anaheim and Garden Grove domestic trips from the Los Angeles-Long Beach-Anaheim metro (2023-2026).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2019;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 ZIP codes in Azira, so no Anaheim vs. outside-Anaheim split; a custom pull or survey would provide it.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3. Seasonality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does visitation change month by month?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occupancy peaks in July (80.6%) and is lowest in January (61.2%), 2023-2025 average.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 monthly county visitor counts; hotel occupancy is the monthly measure.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4. Visitor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purpose of the trip, how long do visitors stay, how large is the travel party and how many travel with children?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81.2% leisure, 9.6% business, 7.6% special events; party of 2.8; 37.0% with children; overnight stay 4.2 nights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2019;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Latest county profile is 2019; a new survey would update it.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5. 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hotel rooms does Orange County have, and what are occupancy and average daily 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60,224 rooms (Sept. 2026); 75.2% occupancy, $221.67 ADR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None.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 Symphony | Tourism Economics (Azira), Anaheim and Garden Grove, Jan. 1, 2023-Aug. 31, 2026 (pulled Oct. 19,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1. Visitor arrivals to Orange County, 2009–2026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Millions · CIC Research 2009–2019 and Tourism Economics 2021–2025 are separate methods</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14400"/>
                <a:gridCol w="1188720"/>
                <a:gridCol w="1005840"/>
                <a:gridCol w="1005840"/>
                <a:gridCol w="1371600"/>
                <a:gridCol w="5608015"/>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Total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48.2M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9.1% (4.6M)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$5.92B (46.7% of 2019), Dean Runyan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3.5M (6.7%)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only: 13.06M visitors Jan.-June (+3.1%), 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(Figure 1, Table 3); Tourism Economics, Economic Impact of Visitors to Orange County, 2025 (pub. May 2026); Dean Runyan Associates for Visit California, The Economic Impact of Travel in California, 2025p (Apr. 2026), Orange County detail; Tourism Economics, Anaheim and Garden Grove Travel Forecast (Sept. 2026). 2009–2014 in the dashboard.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1. Orange County visitor spending, including 2020</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Dean Runyan Associates for Visit California · $ millions · spending, not visitor counts</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1097280"/>
                <a:gridCol w="1645920"/>
                <a:gridCol w="1463040"/>
                <a:gridCol w="1463040"/>
                <a:gridCol w="1645920"/>
              </a:tblGrid>
              <a:tr h="384048">
                <a:tc>
                  <a:txBody>
                    <a:bodyPr/>
                    <a:lstStyle/>
                    <a:p>
                      <a:pPr algn="l" indent="0" marL="0">
                        <a:buNone/>
                      </a:pPr>
                      <a:r>
                        <a:rPr lang="en-US" sz="1100" b="1" dirty="0">
                          <a:solidFill>
                            <a:srgbClr val="FFFFFF"/>
                          </a:solidFill>
                          <a:latin typeface="Proxima Nova" pitchFamily="34" charset="0"/>
                          <a:ea typeface="Proxima Nova" pitchFamily="34" charset="-122"/>
                          <a:cs typeface="Proxima Nova" pitchFamily="34" charset="-120"/>
                        </a:rPr>
                        <a:t>Year</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Visitor spending</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Day travel</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Day travel share</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Change vs. 2019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2019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$12,673.3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$1,974.9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15.6%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+0.0%</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2020</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$5,919.6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$599.8</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10.1%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A10009"/>
                          </a:solidFill>
                          <a:latin typeface="Proxima Nova" pitchFamily="34" charset="0"/>
                          <a:ea typeface="Proxima Nova" pitchFamily="34" charset="-122"/>
                          <a:cs typeface="Proxima Nova" pitchFamily="34" charset="-120"/>
                        </a:rPr>
                        <a:t>▼ -53.3%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$9,572.1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$1,075.6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11.2%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A10009"/>
                          </a:solidFill>
                          <a:latin typeface="Proxima Nova" pitchFamily="34" charset="0"/>
                          <a:ea typeface="Proxima Nova" pitchFamily="34" charset="-122"/>
                          <a:cs typeface="Proxima Nova" pitchFamily="34" charset="-120"/>
                        </a:rPr>
                        <a:t>▼ -24.5%</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$13,425.7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$1,645.7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+5.9%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$14,174.1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$1,714.4</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+11.8%</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2024</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$14,899.1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$1,802.6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+17.6%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2025p</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$15,394.2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$1,861.7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 +21.5%</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5" name="Text 2"/>
          <p:cNvSpPr txBox="1"/>
          <p:nvPr/>
        </p:nvSpPr>
        <p:spPr>
          <a:xfrm>
            <a:off x="8138160" y="1417320"/>
            <a:ext cx="3504895" cy="320040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Orange County visitor spending in 2020 fell to </a:t>
            </a:r>
            <a:pPr indent="0" marL="0">
              <a:buNone/>
            </a:pPr>
            <a:r>
              <a:rPr lang="en-US" sz="1200" b="1" dirty="0">
                <a:solidFill>
                  <a:srgbClr val="125C60"/>
                </a:solidFill>
                <a:latin typeface="Proxima Nova" pitchFamily="34" charset="0"/>
                <a:ea typeface="Proxima Nova" pitchFamily="34" charset="-122"/>
                <a:cs typeface="Proxima Nova" pitchFamily="34" charset="-120"/>
              </a:rPr>
              <a:t>46.7%</a:t>
            </a:r>
            <a:pPr indent="0" marL="0">
              <a:buNone/>
            </a:pPr>
            <a:r>
              <a:rPr lang="en-US" sz="1200" dirty="0">
                <a:solidFill>
                  <a:srgbClr val="231F20"/>
                </a:solidFill>
                <a:latin typeface="Proxima Nova" pitchFamily="34" charset="0"/>
                <a:ea typeface="Proxima Nova" pitchFamily="34" charset="-122"/>
                <a:cs typeface="Proxima Nova" pitchFamily="34" charset="-120"/>
              </a:rPr>
              <a:t> of its 2019 level and passed 2019 in 2022. In 2025p it was </a:t>
            </a:r>
            <a:pPr indent="0" marL="0">
              <a:buNone/>
            </a:pPr>
            <a:r>
              <a:rPr lang="en-US" sz="1200" b="1" dirty="0">
                <a:solidFill>
                  <a:srgbClr val="125C60"/>
                </a:solidFill>
                <a:latin typeface="Proxima Nova" pitchFamily="34" charset="0"/>
                <a:ea typeface="Proxima Nova" pitchFamily="34" charset="-122"/>
                <a:cs typeface="Proxima Nova" pitchFamily="34" charset="-120"/>
              </a:rPr>
              <a:t>21.5%</a:t>
            </a:r>
            <a:pPr indent="0" marL="0">
              <a:buNone/>
            </a:pPr>
            <a:r>
              <a:rPr lang="en-US" sz="1200" dirty="0">
                <a:solidFill>
                  <a:srgbClr val="231F20"/>
                </a:solidFill>
                <a:latin typeface="Proxima Nova" pitchFamily="34" charset="0"/>
                <a:ea typeface="Proxima Nova" pitchFamily="34" charset="-122"/>
                <a:cs typeface="Proxima Nova" pitchFamily="34" charset="-120"/>
              </a:rPr>
              <a:t> above 2019. Tourism Economics and CIC do not publish 2020 county visitor counts; this series fills the year.</a:t>
            </a:r>
            <a:endParaRPr lang="en-US" sz="120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Dean Runyan Associates for Visit California, The Economic Impact of Travel in California, 2025p (Apr. 2026), Orange County detail, p. 67</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2. Where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2019 (CIC) · Anaheim and Garden Grove 2023–2026 (Azira) · LA metro includes Orange County</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920240"/>
                <a:gridCol w="1188720"/>
                <a:gridCol w="2743200"/>
                <a:gridCol w="914400"/>
              </a:tblGrid>
              <a:tr h="32918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Orange County origin, 2019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Anaheim and Garden Grove origin metro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Southern California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55.4%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 (includes Orange County)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44.7%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 metro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Phoenix</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Las Vegas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Slightly under 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San Francisco-Oakland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Northern California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Other western states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Rest of the 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Almost 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International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 (4.6M)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7498080" y="1417320"/>
          <a:ext cx="4144975" cy="914400"/>
        </p:xfrm>
        <a:graphic>
          <a:graphicData uri="http://schemas.openxmlformats.org/drawingml/2006/table">
            <a:tbl>
              <a:tblPr/>
              <a:tblGrid>
                <a:gridCol w="1097280"/>
                <a:gridCol w="822960"/>
                <a:gridCol w="1188720"/>
                <a:gridCol w="1036015"/>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International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Home TV market (DMA)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Share of domestic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Mexico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766K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Los Angeles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55.6%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Canada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Palm Springs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United Kingdom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123K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San Diego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Australia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104K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Phoenix</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New Zealand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Rest of world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865K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7498080" y="4206240"/>
            <a:ext cx="4144975"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No ZIP codes in Azira: the metro area cannot be split into Anaheim and outside Anaheim. Solution: a custom Symphony pull or a new visitor survey.</a:t>
            </a:r>
            <a:endParaRPr lang="en-US" sz="10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Tourism Economics, Anaheim and Garden Grove Travel Forecast (Sept. 2026); Symphony | Tourism Economics (Azira), Anaheim and Garden Grove, Jan. 1, 2023-Aug. 31, 2026 (pulled Oct. 19, 2026). Orange County 2019 international leaders: Mexico 848K, Canada 786K (CIC Research, Annual Profile of Visitors to Anaheim and Orange County, 2019 (for Visit Anaheim, Apr.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3. Seasonality: Orange County hotel occupancy by month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 of rooms sold · no monthly county visitor counts are published, so hotel occupancy is the measure</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8895"/>
                <a:gridCol w="822960"/>
                <a:gridCol w="822960"/>
                <a:gridCol w="822960"/>
                <a:gridCol w="822960"/>
                <a:gridCol w="822960"/>
                <a:gridCol w="822960"/>
                <a:gridCol w="822960"/>
                <a:gridCol w="822960"/>
                <a:gridCol w="822960"/>
                <a:gridCol w="822960"/>
                <a:gridCol w="822960"/>
                <a:gridCol w="822960"/>
              </a:tblGrid>
              <a:tr h="31089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Feb.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Apr.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Sept.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Nov.</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Dec.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2023-25 avg.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80.6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548640" y="4069080"/>
          <a:ext cx="11094415" cy="914400"/>
        </p:xfrm>
        <a:graphic>
          <a:graphicData uri="http://schemas.openxmlformats.org/drawingml/2006/table">
            <a:tbl>
              <a:tblPr/>
              <a:tblGrid>
                <a:gridCol w="1218895"/>
                <a:gridCol w="822960"/>
                <a:gridCol w="822960"/>
                <a:gridCol w="822960"/>
                <a:gridCol w="822960"/>
                <a:gridCol w="822960"/>
                <a:gridCol w="822960"/>
                <a:gridCol w="822960"/>
                <a:gridCol w="822960"/>
                <a:gridCol w="822960"/>
                <a:gridCol w="822960"/>
                <a:gridCol w="822960"/>
                <a:gridCol w="822960"/>
              </a:tblGrid>
              <a:tr h="31089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Feb.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Apr.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Sept.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Nov.</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Dec.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2023-25 avg.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Lower table: average daily rate. 2020–2021 in the dashboard.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4. Visitor profile: purpose, party size, children and stay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CIC Research, Orange County visitors by type of stay, 2019 · the latest county visitor profile</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79215"/>
                <a:gridCol w="1463040"/>
                <a:gridCol w="1463040"/>
                <a:gridCol w="1463040"/>
                <a:gridCol w="1463040"/>
                <a:gridCol w="1463040"/>
              </a:tblGrid>
              <a:tr h="29260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Hotel guests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Private home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All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Day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All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pleasure or visiting friends and relatives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business or convention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special events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Mean travel party size (people)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Children in the travel group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Mean nights stayed in 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age of visitors (years)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Arrived by air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in 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$121,900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$83,900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$110,100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$89,500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Southern California resident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International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First-time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12.40M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Table 3</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4. More recent visitor indicators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row names its geography and period · none is a full Orange County profile</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60320"/>
                <a:gridCol w="2377440"/>
                <a:gridCol w="3108960"/>
                <a:gridCol w="3047695"/>
              </a:tblGrid>
              <a:tr h="5029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 and period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visitors with children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2019 (hotel leisure groups 62.6%)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travel party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 people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2019 (hotel leisure groups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length of stay, domestic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1.28-1.46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by month,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length of stay,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$92.5K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domestic visitors, 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demand by segment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Transient 59.5%, group 13.3%, contract 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hotels, 12 months to Aug. 2026 (occupancy points)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segmentation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Trip purpose, domestic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Leisure 214.2M, business 40.8M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California,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 Visit California, California Travel Forecast data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CoStar, Orange County hotel segmentation (12 months to Aug. 2026); Tourism Economics for Visit California, California Travel Forecast data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5. Orange County hotel inventory, occupancy and ADR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 2026 is Jan.–Aug. · revenue per available room = occupancy x ADR</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63040"/>
                <a:gridCol w="2103120"/>
                <a:gridCol w="1828800"/>
                <a:gridCol w="1554480"/>
                <a:gridCol w="1645920"/>
                <a:gridCol w="2499055"/>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Rooms available a night (avg.)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Year-end inventory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ADR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Revenue per available room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58,633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59,172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$165.36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50,674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$135.76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56,940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61,354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57.1%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$169.58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$96.83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59,997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60,858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$202.31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$142.02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60,005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60,689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$211.11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$151.15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60,353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60,932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$207.75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$148.96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$209.68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 YTD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60,219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60,224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$221.67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$166.70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 forecast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n/a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n/a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$221.61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$168.20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2026 forecast: Tourism Economics for Visit California, State and Regional Lodging Forecast (Sept. 2026; CoStar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Compare and contrast: how the visitor sources differ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Why figures differ by source, and which to use</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54480"/>
                <a:gridCol w="1828800"/>
                <a:gridCol w="1737360"/>
                <a:gridCol w="1828800"/>
                <a:gridCol w="2194560"/>
                <a:gridCol w="1950415"/>
              </a:tblGrid>
              <a:tr h="6400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Use it for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profile,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2009-2019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Intercept survey, household panel, hotel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2019 baseline and visitor profile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spending, jobs, taxes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2021-2025 (county); 2019-2028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Anaheim; 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Economic model from spending, lodging and survey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Current 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Dean Runyan Associates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jobs, taxes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2015-2025p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California counties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Economic model for Visit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2019-2025 trend including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Azira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Trips, origins,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Origins and recent behavior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rooms, occupancy,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1987-Sept.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census and sample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capacity and seasonality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Tourism Economics, Economic Impact of Visitors to Orange County, 2025 (pub. May 2026); Dean Runyan Associates for Visit California, The Economic Impact of Travel in California, 2025p (Apr. 2026), Orange County detail; Symphony | Tourism Economics (Azira), Anaheim and Garden Grove, Jan. 1, 2023-Aug. 31, 2026 (pulled Oct. 19, 2026);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 Orange County 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 29.2M + overnight 22.1M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 Change in visitors, 2021-2025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51.3 / 39.0 - 1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3. Visitor spending vs.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$15,394.2M / $12,673.3M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Dean Runyan Associates for Visit California, The Economic Impact of Travel in California, 2025p (Apr. 2026), Orange County 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4. Anaheim visitors, Jan.-June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(6.32 + 6.74) / (6.12 + 6.55)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Anaheim and Garden Grove Travel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5. July occupancy, 2023-2025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(80.7 + 80.0 + 81.2) / 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 Revenue per available room,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75.2% x $221.67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$166.70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7. ADR change, 2019 to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$221.67 / $165.36 - 1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Dean Runyan Associates for Visit California, The Economic Impact of Travel in California, 2025p (Apr. 2026), Orange County detail; Tourism Economics, Anaheim and Garden Grove Travel Forecast (Sept. 2026);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Orange County drew </a:t>
            </a:r>
            <a:pPr indent="0" marL="0">
              <a:buNone/>
            </a:pPr>
            <a:r>
              <a:rPr lang="en-US" sz="1100" b="1" dirty="0">
                <a:solidFill>
                  <a:srgbClr val="125C60"/>
                </a:solidFill>
                <a:latin typeface="Proxima Nova" pitchFamily="34" charset="0"/>
                <a:ea typeface="Proxima Nova" pitchFamily="34" charset="-122"/>
                <a:cs typeface="Proxima Nova" pitchFamily="34" charset="-120"/>
              </a:rPr>
              <a:t>51.3M</a:t>
            </a:r>
            <a:pPr indent="0" marL="0">
              <a:buNone/>
            </a:pPr>
            <a:r>
              <a:rPr lang="en-US" sz="110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29.2M</a:t>
            </a:r>
            <a:pPr indent="0" marL="0">
              <a:buNone/>
            </a:pPr>
            <a:r>
              <a:rPr lang="en-US" sz="1100" dirty="0">
                <a:solidFill>
                  <a:srgbClr val="231F20"/>
                </a:solidFill>
                <a:latin typeface="Proxima Nova" pitchFamily="34" charset="0"/>
                <a:ea typeface="Proxima Nova" pitchFamily="34" charset="-122"/>
                <a:cs typeface="Proxima Nova" pitchFamily="34" charset="-120"/>
              </a:rPr>
              <a:t> for the day and </a:t>
            </a:r>
            <a:pPr indent="0" marL="0">
              <a:buNone/>
            </a:pPr>
            <a:r>
              <a:rPr lang="en-US" sz="1100" b="1" dirty="0">
                <a:solidFill>
                  <a:srgbClr val="125C60"/>
                </a:solidFill>
                <a:latin typeface="Proxima Nova" pitchFamily="34" charset="0"/>
                <a:ea typeface="Proxima Nova" pitchFamily="34" charset="-122"/>
                <a:cs typeface="Proxima Nova" pitchFamily="34" charset="-120"/>
              </a:rPr>
              <a:t>22.1M</a:t>
            </a:r>
            <a:pPr indent="0" marL="0">
              <a:buNone/>
            </a:pPr>
            <a:r>
              <a:rPr lang="en-US" sz="1100" dirty="0">
                <a:solidFill>
                  <a:srgbClr val="231F20"/>
                </a:solidFill>
                <a:latin typeface="Proxima Nova" pitchFamily="34" charset="0"/>
                <a:ea typeface="Proxima Nova" pitchFamily="34" charset="-122"/>
                <a:cs typeface="Proxima Nova" pitchFamily="34" charset="-120"/>
              </a:rPr>
              <a:t>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93.3%</a:t>
            </a:r>
            <a:pPr indent="0" marL="0">
              <a:buNone/>
            </a:pPr>
            <a:r>
              <a:rPr lang="en-US" sz="1100" dirty="0">
                <a:solidFill>
                  <a:srgbClr val="231F20"/>
                </a:solidFill>
                <a:latin typeface="Proxima Nova" pitchFamily="34" charset="0"/>
                <a:ea typeface="Proxima Nova" pitchFamily="34" charset="-122"/>
                <a:cs typeface="Proxima Nova" pitchFamily="34" charset="-120"/>
              </a:rPr>
              <a:t> came from within the U.S. (Tourism Economics). Most come for leisure: in 2019, </a:t>
            </a:r>
            <a:pPr indent="0" marL="0">
              <a:buNone/>
            </a:pPr>
            <a:r>
              <a:rPr lang="en-US" sz="1100" b="1" dirty="0">
                <a:solidFill>
                  <a:srgbClr val="125C60"/>
                </a:solidFill>
                <a:latin typeface="Proxima Nova" pitchFamily="34" charset="0"/>
                <a:ea typeface="Proxima Nova" pitchFamily="34" charset="-122"/>
                <a:cs typeface="Proxima Nova" pitchFamily="34" charset="-120"/>
              </a:rPr>
              <a:t>81.2%</a:t>
            </a:r>
            <a:pPr indent="0" marL="0">
              <a:buNone/>
            </a:pPr>
            <a:r>
              <a:rPr lang="en-US" sz="1100" dirty="0">
                <a:solidFill>
                  <a:srgbClr val="231F20"/>
                </a:solidFill>
                <a:latin typeface="Proxima Nova" pitchFamily="34" charset="0"/>
                <a:ea typeface="Proxima Nova" pitchFamily="34" charset="-122"/>
                <a:cs typeface="Proxima Nova" pitchFamily="34" charset="-120"/>
              </a:rPr>
              <a:t> traveled for pleasure or to see friends and relatives, in parties of </a:t>
            </a:r>
            <a:pPr indent="0" marL="0">
              <a:buNone/>
            </a:pPr>
            <a:r>
              <a:rPr lang="en-US" sz="1100" b="1" dirty="0">
                <a:solidFill>
                  <a:srgbClr val="125C60"/>
                </a:solidFill>
                <a:latin typeface="Proxima Nova" pitchFamily="34" charset="0"/>
                <a:ea typeface="Proxima Nova" pitchFamily="34" charset="-122"/>
                <a:cs typeface="Proxima Nova" pitchFamily="34" charset="-120"/>
              </a:rPr>
              <a:t>2.8</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37.0%</a:t>
            </a:r>
            <a:pPr indent="0" marL="0">
              <a:buNone/>
            </a:pPr>
            <a:r>
              <a:rPr lang="en-US" sz="1100" dirty="0">
                <a:solidFill>
                  <a:srgbClr val="231F20"/>
                </a:solidFill>
                <a:latin typeface="Proxima Nova" pitchFamily="34" charset="0"/>
                <a:ea typeface="Proxima Nova" pitchFamily="34" charset="-122"/>
                <a:cs typeface="Proxima Nova" pitchFamily="34" charset="-120"/>
              </a:rPr>
              <a:t> brought children (CIC Research).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75.2%</a:t>
            </a:r>
            <a:pPr indent="0" marL="0">
              <a:buNone/>
            </a:pPr>
            <a:r>
              <a:rPr lang="en-US" sz="1100" dirty="0">
                <a:solidFill>
                  <a:srgbClr val="231F20"/>
                </a:solidFill>
                <a:latin typeface="Proxima Nova" pitchFamily="34" charset="0"/>
                <a:ea typeface="Proxima Nova" pitchFamily="34" charset="-122"/>
                <a:cs typeface="Proxima Nova" pitchFamily="34" charset="-120"/>
              </a:rPr>
              <a:t> of </a:t>
            </a:r>
            <a:pPr indent="0" marL="0">
              <a:buNone/>
            </a:pPr>
            <a:r>
              <a:rPr lang="en-US" sz="1100" b="1" dirty="0">
                <a:solidFill>
                  <a:srgbClr val="125C60"/>
                </a:solidFill>
                <a:latin typeface="Proxima Nova" pitchFamily="34" charset="0"/>
                <a:ea typeface="Proxima Nova" pitchFamily="34" charset="-122"/>
                <a:cs typeface="Proxima Nova" pitchFamily="34" charset="-120"/>
              </a:rPr>
              <a:t>60,224 rooms</a:t>
            </a:r>
            <a:pPr indent="0" marL="0">
              <a:buNone/>
            </a:pPr>
            <a:r>
              <a:rPr lang="en-US" sz="1100" dirty="0">
                <a:solidFill>
                  <a:srgbClr val="231F20"/>
                </a:solidFill>
                <a:latin typeface="Proxima Nova" pitchFamily="34" charset="0"/>
                <a:ea typeface="Proxima Nova" pitchFamily="34" charset="-122"/>
                <a:cs typeface="Proxima Nova" pitchFamily="34" charset="-120"/>
              </a:rPr>
              <a:t> at </a:t>
            </a:r>
            <a:pPr indent="0" marL="0">
              <a:buNone/>
            </a:pPr>
            <a:r>
              <a:rPr lang="en-US" sz="1100" b="1" dirty="0">
                <a:solidFill>
                  <a:srgbClr val="125C60"/>
                </a:solidFill>
                <a:latin typeface="Proxima Nova" pitchFamily="34" charset="0"/>
                <a:ea typeface="Proxima Nova" pitchFamily="34" charset="-122"/>
                <a:cs typeface="Proxima Nova" pitchFamily="34" charset="-120"/>
              </a:rPr>
              <a:t>$221.67</a:t>
            </a:r>
            <a:pPr indent="0" marL="0">
              <a:buNone/>
            </a:pPr>
            <a:r>
              <a:rPr lang="en-US" sz="1100" dirty="0">
                <a:solidFill>
                  <a:srgbClr val="231F20"/>
                </a:solidFill>
                <a:latin typeface="Proxima Nova" pitchFamily="34" charset="0"/>
                <a:ea typeface="Proxima Nova" pitchFamily="34" charset="-122"/>
                <a:cs typeface="Proxima Nova" pitchFamily="34" charset="-120"/>
              </a:rPr>
              <a:t> in Jan.-Aug. 2026, with July the busiest month (CoStar).</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A sized market: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51.3M</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county visitors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22.1M</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overnight visitors a year (2025).</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Family and leisure audiences dominate: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81.2%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leisure,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37.0%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 children, parties of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2.8</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(2019).</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60,224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county hotel rooms at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75.2%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occupancy (2026 YTD); January, December and February have the most room.</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A current Orange County visitor survey (purpose, party size, children, origins by ZIP) to replace the 2019 baseline.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Tourism Economics county estimates for 2019-2020 and 2026 year to date (to be requested from Tourism Economics).</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District 5 visitors stay overnight, and 44% are new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visits · Symphony (Azira) Jan.–May 2026 · Datafy calendar 2024</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43.8%</a:t>
            </a:r>
            <a:pPr indent="0" marL="0">
              <a:buNone/>
            </a:pPr>
            <a:r>
              <a:rPr lang="en-US" sz="135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Knowing who already visits shows OC Vibe where its audience comes from. Most District 5 visitors stay overnight and many are first-time visitors, and the OC Vibe area already appears in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of Anaheim visitor days.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$85.7K</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(2026); U.S. Census</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OC VIBE AREA, 2024</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Datafy (2024)</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District 5 visitors stay overnight</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Council District 5 (where OC Vibe sits) and to Anaheim overall, by origin market.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43.8%</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85.8%</a:t>
            </a:r>
            <a:pPr indent="0" marL="0">
              <a:buNone/>
            </a:pPr>
            <a:r>
              <a:rPr lang="en-US" sz="950" dirty="0">
                <a:solidFill>
                  <a:srgbClr val="231F20"/>
                </a:solidFill>
                <a:latin typeface="Proxima Nova" pitchFamily="34" charset="0"/>
                <a:ea typeface="Proxima Nova" pitchFamily="34" charset="-122"/>
                <a:cs typeface="Proxima Nova" pitchFamily="34" charset="-120"/>
              </a:rPr>
              <a:t> stay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43.8%</a:t>
            </a:r>
            <a:pPr indent="0" marL="0">
              <a:buNone/>
            </a:pPr>
            <a:r>
              <a:rPr lang="en-US" sz="950" dirty="0">
                <a:solidFill>
                  <a:srgbClr val="231F20"/>
                </a:solidFill>
                <a:latin typeface="Proxima Nova" pitchFamily="34" charset="0"/>
                <a:ea typeface="Proxima Nova" pitchFamily="34" charset="-122"/>
                <a:cs typeface="Proxima Nova" pitchFamily="34" charset="-120"/>
              </a:rPr>
              <a:t> are first-time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44%</a:t>
            </a:r>
            <a:pPr indent="0" marL="0">
              <a:buNone/>
            </a:pPr>
            <a:r>
              <a:rPr lang="en-US" sz="950" dirty="0">
                <a:solidFill>
                  <a:srgbClr val="231F20"/>
                </a:solidFill>
                <a:latin typeface="Proxima Nova" pitchFamily="34" charset="0"/>
                <a:ea typeface="Proxima Nova" pitchFamily="34" charset="-122"/>
                <a:cs typeface="Proxima Nova" pitchFamily="34" charset="-120"/>
              </a:rPr>
              <a:t> of domestic visitors come from outside California, and OC Vibe already appears in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Jan.–May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observation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Jan. 1–May 31, 2026; Datafy calendar 2024; Visa August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District 5, Anaheim, and origin markets across the U.S. and abroad.</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Anaheim visitor days include the OC Vibe area</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Knowing who already comes tells OC Vibe whom to target and how to add a day.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Datafy Anaheim visitor report (calendar 2024)</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Datafy and Visa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Mobile location data (Azira, Datafy) and card spending by cardholder origin (Visa).</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Datafy Anaheim visitor report (calendar 2024); Visa Destination Insights via Symphony (Aug. 2026 vs. Aug. 2025)</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Of every 100 District 5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square is one visitor in 100 · rounded from the measured share</a:t>
            </a:r>
            <a:endParaRPr lang="en-US" sz="950" dirty="0"/>
          </a:p>
        </p:txBody>
      </p:sp>
      <p:sp>
        <p:nvSpPr>
          <p:cNvPr id="6" name="Shape 4"/>
          <p:cNvSpPr/>
          <p:nvPr/>
        </p:nvSpPr>
        <p:spPr>
          <a:xfrm>
            <a:off x="548640" y="2075688"/>
            <a:ext cx="219456" cy="219456"/>
          </a:xfrm>
          <a:prstGeom prst="rect">
            <a:avLst/>
          </a:prstGeom>
          <a:solidFill>
            <a:srgbClr val="43A3A3"/>
          </a:solidFill>
          <a:ln w="12700">
            <a:solidFill>
              <a:srgbClr val="43A3A3"/>
            </a:solidFill>
            <a:prstDash val="solid"/>
          </a:ln>
        </p:spPr>
      </p:sp>
      <p:sp>
        <p:nvSpPr>
          <p:cNvPr id="7" name="Shape 5"/>
          <p:cNvSpPr/>
          <p:nvPr/>
        </p:nvSpPr>
        <p:spPr>
          <a:xfrm>
            <a:off x="798820" y="2075688"/>
            <a:ext cx="219456" cy="219456"/>
          </a:xfrm>
          <a:prstGeom prst="rect">
            <a:avLst/>
          </a:prstGeom>
          <a:solidFill>
            <a:srgbClr val="43A3A3"/>
          </a:solidFill>
          <a:ln w="12700">
            <a:solidFill>
              <a:srgbClr val="43A3A3"/>
            </a:solidFill>
            <a:prstDash val="solid"/>
          </a:ln>
        </p:spPr>
      </p:sp>
      <p:sp>
        <p:nvSpPr>
          <p:cNvPr id="8" name="Shape 6"/>
          <p:cNvSpPr/>
          <p:nvPr/>
        </p:nvSpPr>
        <p:spPr>
          <a:xfrm>
            <a:off x="1049000" y="2075688"/>
            <a:ext cx="219456" cy="219456"/>
          </a:xfrm>
          <a:prstGeom prst="rect">
            <a:avLst/>
          </a:prstGeom>
          <a:solidFill>
            <a:srgbClr val="43A3A3"/>
          </a:solidFill>
          <a:ln w="12700">
            <a:solidFill>
              <a:srgbClr val="43A3A3"/>
            </a:solidFill>
            <a:prstDash val="solid"/>
          </a:ln>
        </p:spPr>
      </p:sp>
      <p:sp>
        <p:nvSpPr>
          <p:cNvPr id="9" name="Shape 7"/>
          <p:cNvSpPr/>
          <p:nvPr/>
        </p:nvSpPr>
        <p:spPr>
          <a:xfrm>
            <a:off x="1299180" y="2075688"/>
            <a:ext cx="219456" cy="219456"/>
          </a:xfrm>
          <a:prstGeom prst="rect">
            <a:avLst/>
          </a:prstGeom>
          <a:solidFill>
            <a:srgbClr val="43A3A3"/>
          </a:solidFill>
          <a:ln w="12700">
            <a:solidFill>
              <a:srgbClr val="43A3A3"/>
            </a:solidFill>
            <a:prstDash val="solid"/>
          </a:ln>
        </p:spPr>
      </p:sp>
      <p:sp>
        <p:nvSpPr>
          <p:cNvPr id="10" name="Shape 8"/>
          <p:cNvSpPr/>
          <p:nvPr/>
        </p:nvSpPr>
        <p:spPr>
          <a:xfrm>
            <a:off x="1549359" y="2075688"/>
            <a:ext cx="219456" cy="219456"/>
          </a:xfrm>
          <a:prstGeom prst="rect">
            <a:avLst/>
          </a:prstGeom>
          <a:solidFill>
            <a:srgbClr val="43A3A3"/>
          </a:solidFill>
          <a:ln w="12700">
            <a:solidFill>
              <a:srgbClr val="43A3A3"/>
            </a:solidFill>
            <a:prstDash val="solid"/>
          </a:ln>
        </p:spPr>
      </p:sp>
      <p:sp>
        <p:nvSpPr>
          <p:cNvPr id="11" name="Shape 9"/>
          <p:cNvSpPr/>
          <p:nvPr/>
        </p:nvSpPr>
        <p:spPr>
          <a:xfrm>
            <a:off x="1799539" y="2075688"/>
            <a:ext cx="219456" cy="219456"/>
          </a:xfrm>
          <a:prstGeom prst="rect">
            <a:avLst/>
          </a:prstGeom>
          <a:solidFill>
            <a:srgbClr val="43A3A3"/>
          </a:solidFill>
          <a:ln w="12700">
            <a:solidFill>
              <a:srgbClr val="43A3A3"/>
            </a:solidFill>
            <a:prstDash val="solid"/>
          </a:ln>
        </p:spPr>
      </p:sp>
      <p:sp>
        <p:nvSpPr>
          <p:cNvPr id="12" name="Shape 10"/>
          <p:cNvSpPr/>
          <p:nvPr/>
        </p:nvSpPr>
        <p:spPr>
          <a:xfrm>
            <a:off x="2049719" y="2075688"/>
            <a:ext cx="219456" cy="219456"/>
          </a:xfrm>
          <a:prstGeom prst="rect">
            <a:avLst/>
          </a:prstGeom>
          <a:solidFill>
            <a:srgbClr val="43A3A3"/>
          </a:solidFill>
          <a:ln w="12700">
            <a:solidFill>
              <a:srgbClr val="43A3A3"/>
            </a:solidFill>
            <a:prstDash val="solid"/>
          </a:ln>
        </p:spPr>
      </p:sp>
      <p:sp>
        <p:nvSpPr>
          <p:cNvPr id="13" name="Shape 11"/>
          <p:cNvSpPr/>
          <p:nvPr/>
        </p:nvSpPr>
        <p:spPr>
          <a:xfrm>
            <a:off x="2299899" y="2075688"/>
            <a:ext cx="219456" cy="219456"/>
          </a:xfrm>
          <a:prstGeom prst="rect">
            <a:avLst/>
          </a:prstGeom>
          <a:solidFill>
            <a:srgbClr val="43A3A3"/>
          </a:solidFill>
          <a:ln w="12700">
            <a:solidFill>
              <a:srgbClr val="43A3A3"/>
            </a:solidFill>
            <a:prstDash val="solid"/>
          </a:ln>
        </p:spPr>
      </p:sp>
      <p:sp>
        <p:nvSpPr>
          <p:cNvPr id="14" name="Shape 12"/>
          <p:cNvSpPr/>
          <p:nvPr/>
        </p:nvSpPr>
        <p:spPr>
          <a:xfrm>
            <a:off x="2550079" y="2075688"/>
            <a:ext cx="219456" cy="219456"/>
          </a:xfrm>
          <a:prstGeom prst="rect">
            <a:avLst/>
          </a:prstGeom>
          <a:solidFill>
            <a:srgbClr val="43A3A3"/>
          </a:solidFill>
          <a:ln w="12700">
            <a:solidFill>
              <a:srgbClr val="43A3A3"/>
            </a:solidFill>
            <a:prstDash val="solid"/>
          </a:ln>
        </p:spPr>
      </p:sp>
      <p:sp>
        <p:nvSpPr>
          <p:cNvPr id="15" name="Shape 13"/>
          <p:cNvSpPr/>
          <p:nvPr/>
        </p:nvSpPr>
        <p:spPr>
          <a:xfrm>
            <a:off x="2800259" y="2075688"/>
            <a:ext cx="219456" cy="219456"/>
          </a:xfrm>
          <a:prstGeom prst="rect">
            <a:avLst/>
          </a:prstGeom>
          <a:solidFill>
            <a:srgbClr val="43A3A3"/>
          </a:solidFill>
          <a:ln w="12700">
            <a:solidFill>
              <a:srgbClr val="43A3A3"/>
            </a:solidFill>
            <a:prstDash val="solid"/>
          </a:ln>
        </p:spPr>
      </p:sp>
      <p:sp>
        <p:nvSpPr>
          <p:cNvPr id="16" name="Shape 14"/>
          <p:cNvSpPr/>
          <p:nvPr/>
        </p:nvSpPr>
        <p:spPr>
          <a:xfrm>
            <a:off x="548640" y="2325868"/>
            <a:ext cx="219456" cy="219456"/>
          </a:xfrm>
          <a:prstGeom prst="rect">
            <a:avLst/>
          </a:prstGeom>
          <a:solidFill>
            <a:srgbClr val="43A3A3"/>
          </a:solidFill>
          <a:ln w="12700">
            <a:solidFill>
              <a:srgbClr val="43A3A3"/>
            </a:solidFill>
            <a:prstDash val="solid"/>
          </a:ln>
        </p:spPr>
      </p:sp>
      <p:sp>
        <p:nvSpPr>
          <p:cNvPr id="17" name="Shape 15"/>
          <p:cNvSpPr/>
          <p:nvPr/>
        </p:nvSpPr>
        <p:spPr>
          <a:xfrm>
            <a:off x="798820" y="2325868"/>
            <a:ext cx="219456" cy="219456"/>
          </a:xfrm>
          <a:prstGeom prst="rect">
            <a:avLst/>
          </a:prstGeom>
          <a:solidFill>
            <a:srgbClr val="43A3A3"/>
          </a:solidFill>
          <a:ln w="12700">
            <a:solidFill>
              <a:srgbClr val="43A3A3"/>
            </a:solidFill>
            <a:prstDash val="solid"/>
          </a:ln>
        </p:spPr>
      </p:sp>
      <p:sp>
        <p:nvSpPr>
          <p:cNvPr id="18" name="Shape 16"/>
          <p:cNvSpPr/>
          <p:nvPr/>
        </p:nvSpPr>
        <p:spPr>
          <a:xfrm>
            <a:off x="1049000" y="2325868"/>
            <a:ext cx="219456" cy="219456"/>
          </a:xfrm>
          <a:prstGeom prst="rect">
            <a:avLst/>
          </a:prstGeom>
          <a:solidFill>
            <a:srgbClr val="43A3A3"/>
          </a:solidFill>
          <a:ln w="12700">
            <a:solidFill>
              <a:srgbClr val="43A3A3"/>
            </a:solidFill>
            <a:prstDash val="solid"/>
          </a:ln>
        </p:spPr>
      </p:sp>
      <p:sp>
        <p:nvSpPr>
          <p:cNvPr id="19" name="Shape 17"/>
          <p:cNvSpPr/>
          <p:nvPr/>
        </p:nvSpPr>
        <p:spPr>
          <a:xfrm>
            <a:off x="1299180" y="2325868"/>
            <a:ext cx="219456" cy="219456"/>
          </a:xfrm>
          <a:prstGeom prst="rect">
            <a:avLst/>
          </a:prstGeom>
          <a:solidFill>
            <a:srgbClr val="43A3A3"/>
          </a:solidFill>
          <a:ln w="12700">
            <a:solidFill>
              <a:srgbClr val="43A3A3"/>
            </a:solidFill>
            <a:prstDash val="solid"/>
          </a:ln>
        </p:spPr>
      </p:sp>
      <p:sp>
        <p:nvSpPr>
          <p:cNvPr id="20" name="Shape 18"/>
          <p:cNvSpPr/>
          <p:nvPr/>
        </p:nvSpPr>
        <p:spPr>
          <a:xfrm>
            <a:off x="1549359" y="2325868"/>
            <a:ext cx="219456" cy="219456"/>
          </a:xfrm>
          <a:prstGeom prst="rect">
            <a:avLst/>
          </a:prstGeom>
          <a:solidFill>
            <a:srgbClr val="43A3A3"/>
          </a:solidFill>
          <a:ln w="12700">
            <a:solidFill>
              <a:srgbClr val="43A3A3"/>
            </a:solidFill>
            <a:prstDash val="solid"/>
          </a:ln>
        </p:spPr>
      </p:sp>
      <p:sp>
        <p:nvSpPr>
          <p:cNvPr id="21" name="Shape 19"/>
          <p:cNvSpPr/>
          <p:nvPr/>
        </p:nvSpPr>
        <p:spPr>
          <a:xfrm>
            <a:off x="1799539" y="2325868"/>
            <a:ext cx="219456" cy="219456"/>
          </a:xfrm>
          <a:prstGeom prst="rect">
            <a:avLst/>
          </a:prstGeom>
          <a:solidFill>
            <a:srgbClr val="43A3A3"/>
          </a:solidFill>
          <a:ln w="12700">
            <a:solidFill>
              <a:srgbClr val="43A3A3"/>
            </a:solidFill>
            <a:prstDash val="solid"/>
          </a:ln>
        </p:spPr>
      </p:sp>
      <p:sp>
        <p:nvSpPr>
          <p:cNvPr id="22" name="Shape 20"/>
          <p:cNvSpPr/>
          <p:nvPr/>
        </p:nvSpPr>
        <p:spPr>
          <a:xfrm>
            <a:off x="2049719" y="2325868"/>
            <a:ext cx="219456" cy="219456"/>
          </a:xfrm>
          <a:prstGeom prst="rect">
            <a:avLst/>
          </a:prstGeom>
          <a:solidFill>
            <a:srgbClr val="43A3A3"/>
          </a:solidFill>
          <a:ln w="12700">
            <a:solidFill>
              <a:srgbClr val="43A3A3"/>
            </a:solidFill>
            <a:prstDash val="solid"/>
          </a:ln>
        </p:spPr>
      </p:sp>
      <p:sp>
        <p:nvSpPr>
          <p:cNvPr id="23" name="Shape 21"/>
          <p:cNvSpPr/>
          <p:nvPr/>
        </p:nvSpPr>
        <p:spPr>
          <a:xfrm>
            <a:off x="2299899" y="2325868"/>
            <a:ext cx="219456" cy="219456"/>
          </a:xfrm>
          <a:prstGeom prst="rect">
            <a:avLst/>
          </a:prstGeom>
          <a:solidFill>
            <a:srgbClr val="43A3A3"/>
          </a:solidFill>
          <a:ln w="12700">
            <a:solidFill>
              <a:srgbClr val="43A3A3"/>
            </a:solidFill>
            <a:prstDash val="solid"/>
          </a:ln>
        </p:spPr>
      </p:sp>
      <p:sp>
        <p:nvSpPr>
          <p:cNvPr id="24" name="Shape 22"/>
          <p:cNvSpPr/>
          <p:nvPr/>
        </p:nvSpPr>
        <p:spPr>
          <a:xfrm>
            <a:off x="2550079" y="2325868"/>
            <a:ext cx="219456" cy="219456"/>
          </a:xfrm>
          <a:prstGeom prst="rect">
            <a:avLst/>
          </a:prstGeom>
          <a:solidFill>
            <a:srgbClr val="43A3A3"/>
          </a:solidFill>
          <a:ln w="12700">
            <a:solidFill>
              <a:srgbClr val="43A3A3"/>
            </a:solidFill>
            <a:prstDash val="solid"/>
          </a:ln>
        </p:spPr>
      </p:sp>
      <p:sp>
        <p:nvSpPr>
          <p:cNvPr id="25" name="Shape 23"/>
          <p:cNvSpPr/>
          <p:nvPr/>
        </p:nvSpPr>
        <p:spPr>
          <a:xfrm>
            <a:off x="2800259" y="2325868"/>
            <a:ext cx="219456" cy="219456"/>
          </a:xfrm>
          <a:prstGeom prst="rect">
            <a:avLst/>
          </a:prstGeom>
          <a:solidFill>
            <a:srgbClr val="43A3A3"/>
          </a:solidFill>
          <a:ln w="12700">
            <a:solidFill>
              <a:srgbClr val="43A3A3"/>
            </a:solidFill>
            <a:prstDash val="solid"/>
          </a:ln>
        </p:spPr>
      </p:sp>
      <p:sp>
        <p:nvSpPr>
          <p:cNvPr id="26" name="Shape 24"/>
          <p:cNvSpPr/>
          <p:nvPr/>
        </p:nvSpPr>
        <p:spPr>
          <a:xfrm>
            <a:off x="548640" y="2576048"/>
            <a:ext cx="219456" cy="219456"/>
          </a:xfrm>
          <a:prstGeom prst="rect">
            <a:avLst/>
          </a:prstGeom>
          <a:solidFill>
            <a:srgbClr val="43A3A3"/>
          </a:solidFill>
          <a:ln w="12700">
            <a:solidFill>
              <a:srgbClr val="43A3A3"/>
            </a:solidFill>
            <a:prstDash val="solid"/>
          </a:ln>
        </p:spPr>
      </p:sp>
      <p:sp>
        <p:nvSpPr>
          <p:cNvPr id="27" name="Shape 25"/>
          <p:cNvSpPr/>
          <p:nvPr/>
        </p:nvSpPr>
        <p:spPr>
          <a:xfrm>
            <a:off x="798820" y="2576048"/>
            <a:ext cx="219456" cy="219456"/>
          </a:xfrm>
          <a:prstGeom prst="rect">
            <a:avLst/>
          </a:prstGeom>
          <a:solidFill>
            <a:srgbClr val="43A3A3"/>
          </a:solidFill>
          <a:ln w="12700">
            <a:solidFill>
              <a:srgbClr val="43A3A3"/>
            </a:solidFill>
            <a:prstDash val="solid"/>
          </a:ln>
        </p:spPr>
      </p:sp>
      <p:sp>
        <p:nvSpPr>
          <p:cNvPr id="28" name="Shape 26"/>
          <p:cNvSpPr/>
          <p:nvPr/>
        </p:nvSpPr>
        <p:spPr>
          <a:xfrm>
            <a:off x="1049000" y="2576048"/>
            <a:ext cx="219456" cy="219456"/>
          </a:xfrm>
          <a:prstGeom prst="rect">
            <a:avLst/>
          </a:prstGeom>
          <a:solidFill>
            <a:srgbClr val="43A3A3"/>
          </a:solidFill>
          <a:ln w="12700">
            <a:solidFill>
              <a:srgbClr val="43A3A3"/>
            </a:solidFill>
            <a:prstDash val="solid"/>
          </a:ln>
        </p:spPr>
      </p:sp>
      <p:sp>
        <p:nvSpPr>
          <p:cNvPr id="29" name="Shape 27"/>
          <p:cNvSpPr/>
          <p:nvPr/>
        </p:nvSpPr>
        <p:spPr>
          <a:xfrm>
            <a:off x="1299180" y="2576048"/>
            <a:ext cx="219456" cy="219456"/>
          </a:xfrm>
          <a:prstGeom prst="rect">
            <a:avLst/>
          </a:prstGeom>
          <a:solidFill>
            <a:srgbClr val="43A3A3"/>
          </a:solidFill>
          <a:ln w="12700">
            <a:solidFill>
              <a:srgbClr val="43A3A3"/>
            </a:solidFill>
            <a:prstDash val="solid"/>
          </a:ln>
        </p:spPr>
      </p:sp>
      <p:sp>
        <p:nvSpPr>
          <p:cNvPr id="30" name="Shape 28"/>
          <p:cNvSpPr/>
          <p:nvPr/>
        </p:nvSpPr>
        <p:spPr>
          <a:xfrm>
            <a:off x="1549359" y="2576048"/>
            <a:ext cx="219456" cy="219456"/>
          </a:xfrm>
          <a:prstGeom prst="rect">
            <a:avLst/>
          </a:prstGeom>
          <a:solidFill>
            <a:srgbClr val="43A3A3"/>
          </a:solidFill>
          <a:ln w="12700">
            <a:solidFill>
              <a:srgbClr val="43A3A3"/>
            </a:solidFill>
            <a:prstDash val="solid"/>
          </a:ln>
        </p:spPr>
      </p:sp>
      <p:sp>
        <p:nvSpPr>
          <p:cNvPr id="31" name="Shape 29"/>
          <p:cNvSpPr/>
          <p:nvPr/>
        </p:nvSpPr>
        <p:spPr>
          <a:xfrm>
            <a:off x="1799539" y="2576048"/>
            <a:ext cx="219456" cy="219456"/>
          </a:xfrm>
          <a:prstGeom prst="rect">
            <a:avLst/>
          </a:prstGeom>
          <a:solidFill>
            <a:srgbClr val="43A3A3"/>
          </a:solidFill>
          <a:ln w="12700">
            <a:solidFill>
              <a:srgbClr val="43A3A3"/>
            </a:solidFill>
            <a:prstDash val="solid"/>
          </a:ln>
        </p:spPr>
      </p:sp>
      <p:sp>
        <p:nvSpPr>
          <p:cNvPr id="32" name="Shape 30"/>
          <p:cNvSpPr/>
          <p:nvPr/>
        </p:nvSpPr>
        <p:spPr>
          <a:xfrm>
            <a:off x="2049719" y="2576048"/>
            <a:ext cx="219456" cy="219456"/>
          </a:xfrm>
          <a:prstGeom prst="rect">
            <a:avLst/>
          </a:prstGeom>
          <a:solidFill>
            <a:srgbClr val="43A3A3"/>
          </a:solidFill>
          <a:ln w="12700">
            <a:solidFill>
              <a:srgbClr val="43A3A3"/>
            </a:solidFill>
            <a:prstDash val="solid"/>
          </a:ln>
        </p:spPr>
      </p:sp>
      <p:sp>
        <p:nvSpPr>
          <p:cNvPr id="33" name="Shape 31"/>
          <p:cNvSpPr/>
          <p:nvPr/>
        </p:nvSpPr>
        <p:spPr>
          <a:xfrm>
            <a:off x="2299899" y="2576048"/>
            <a:ext cx="219456" cy="219456"/>
          </a:xfrm>
          <a:prstGeom prst="rect">
            <a:avLst/>
          </a:prstGeom>
          <a:solidFill>
            <a:srgbClr val="43A3A3"/>
          </a:solidFill>
          <a:ln w="12700">
            <a:solidFill>
              <a:srgbClr val="43A3A3"/>
            </a:solidFill>
            <a:prstDash val="solid"/>
          </a:ln>
        </p:spPr>
      </p:sp>
      <p:sp>
        <p:nvSpPr>
          <p:cNvPr id="34" name="Shape 32"/>
          <p:cNvSpPr/>
          <p:nvPr/>
        </p:nvSpPr>
        <p:spPr>
          <a:xfrm>
            <a:off x="2550079" y="2576048"/>
            <a:ext cx="219456" cy="219456"/>
          </a:xfrm>
          <a:prstGeom prst="rect">
            <a:avLst/>
          </a:prstGeom>
          <a:solidFill>
            <a:srgbClr val="43A3A3"/>
          </a:solidFill>
          <a:ln w="12700">
            <a:solidFill>
              <a:srgbClr val="43A3A3"/>
            </a:solidFill>
            <a:prstDash val="solid"/>
          </a:ln>
        </p:spPr>
      </p:sp>
      <p:sp>
        <p:nvSpPr>
          <p:cNvPr id="35" name="Shape 33"/>
          <p:cNvSpPr/>
          <p:nvPr/>
        </p:nvSpPr>
        <p:spPr>
          <a:xfrm>
            <a:off x="2800259" y="2576048"/>
            <a:ext cx="219456" cy="219456"/>
          </a:xfrm>
          <a:prstGeom prst="rect">
            <a:avLst/>
          </a:prstGeom>
          <a:solidFill>
            <a:srgbClr val="43A3A3"/>
          </a:solidFill>
          <a:ln w="12700">
            <a:solidFill>
              <a:srgbClr val="43A3A3"/>
            </a:solidFill>
            <a:prstDash val="solid"/>
          </a:ln>
        </p:spPr>
      </p:sp>
      <p:sp>
        <p:nvSpPr>
          <p:cNvPr id="36" name="Shape 34"/>
          <p:cNvSpPr/>
          <p:nvPr/>
        </p:nvSpPr>
        <p:spPr>
          <a:xfrm>
            <a:off x="548640" y="2826228"/>
            <a:ext cx="219456" cy="219456"/>
          </a:xfrm>
          <a:prstGeom prst="rect">
            <a:avLst/>
          </a:prstGeom>
          <a:solidFill>
            <a:srgbClr val="43A3A3"/>
          </a:solidFill>
          <a:ln w="12700">
            <a:solidFill>
              <a:srgbClr val="43A3A3"/>
            </a:solidFill>
            <a:prstDash val="solid"/>
          </a:ln>
        </p:spPr>
      </p:sp>
      <p:sp>
        <p:nvSpPr>
          <p:cNvPr id="37" name="Shape 35"/>
          <p:cNvSpPr/>
          <p:nvPr/>
        </p:nvSpPr>
        <p:spPr>
          <a:xfrm>
            <a:off x="798820" y="2826228"/>
            <a:ext cx="219456" cy="219456"/>
          </a:xfrm>
          <a:prstGeom prst="rect">
            <a:avLst/>
          </a:prstGeom>
          <a:solidFill>
            <a:srgbClr val="43A3A3"/>
          </a:solidFill>
          <a:ln w="12700">
            <a:solidFill>
              <a:srgbClr val="43A3A3"/>
            </a:solidFill>
            <a:prstDash val="solid"/>
          </a:ln>
        </p:spPr>
      </p:sp>
      <p:sp>
        <p:nvSpPr>
          <p:cNvPr id="38" name="Shape 36"/>
          <p:cNvSpPr/>
          <p:nvPr/>
        </p:nvSpPr>
        <p:spPr>
          <a:xfrm>
            <a:off x="1049000" y="2826228"/>
            <a:ext cx="219456" cy="219456"/>
          </a:xfrm>
          <a:prstGeom prst="rect">
            <a:avLst/>
          </a:prstGeom>
          <a:solidFill>
            <a:srgbClr val="43A3A3"/>
          </a:solidFill>
          <a:ln w="12700">
            <a:solidFill>
              <a:srgbClr val="43A3A3"/>
            </a:solidFill>
            <a:prstDash val="solid"/>
          </a:ln>
        </p:spPr>
      </p:sp>
      <p:sp>
        <p:nvSpPr>
          <p:cNvPr id="39" name="Shape 37"/>
          <p:cNvSpPr/>
          <p:nvPr/>
        </p:nvSpPr>
        <p:spPr>
          <a:xfrm>
            <a:off x="1299180" y="2826228"/>
            <a:ext cx="219456" cy="219456"/>
          </a:xfrm>
          <a:prstGeom prst="rect">
            <a:avLst/>
          </a:prstGeom>
          <a:solidFill>
            <a:srgbClr val="43A3A3"/>
          </a:solidFill>
          <a:ln w="12700">
            <a:solidFill>
              <a:srgbClr val="43A3A3"/>
            </a:solidFill>
            <a:prstDash val="solid"/>
          </a:ln>
        </p:spPr>
      </p:sp>
      <p:sp>
        <p:nvSpPr>
          <p:cNvPr id="40" name="Shape 38"/>
          <p:cNvSpPr/>
          <p:nvPr/>
        </p:nvSpPr>
        <p:spPr>
          <a:xfrm>
            <a:off x="1549359" y="2826228"/>
            <a:ext cx="219456" cy="219456"/>
          </a:xfrm>
          <a:prstGeom prst="rect">
            <a:avLst/>
          </a:prstGeom>
          <a:solidFill>
            <a:srgbClr val="43A3A3"/>
          </a:solidFill>
          <a:ln w="12700">
            <a:solidFill>
              <a:srgbClr val="43A3A3"/>
            </a:solidFill>
            <a:prstDash val="solid"/>
          </a:ln>
        </p:spPr>
      </p:sp>
      <p:sp>
        <p:nvSpPr>
          <p:cNvPr id="41" name="Shape 39"/>
          <p:cNvSpPr/>
          <p:nvPr/>
        </p:nvSpPr>
        <p:spPr>
          <a:xfrm>
            <a:off x="1799539" y="2826228"/>
            <a:ext cx="219456" cy="219456"/>
          </a:xfrm>
          <a:prstGeom prst="rect">
            <a:avLst/>
          </a:prstGeom>
          <a:solidFill>
            <a:srgbClr val="43A3A3"/>
          </a:solidFill>
          <a:ln w="12700">
            <a:solidFill>
              <a:srgbClr val="43A3A3"/>
            </a:solidFill>
            <a:prstDash val="solid"/>
          </a:ln>
        </p:spPr>
      </p:sp>
      <p:sp>
        <p:nvSpPr>
          <p:cNvPr id="42" name="Shape 40"/>
          <p:cNvSpPr/>
          <p:nvPr/>
        </p:nvSpPr>
        <p:spPr>
          <a:xfrm>
            <a:off x="2049719" y="2826228"/>
            <a:ext cx="219456" cy="219456"/>
          </a:xfrm>
          <a:prstGeom prst="rect">
            <a:avLst/>
          </a:prstGeom>
          <a:solidFill>
            <a:srgbClr val="43A3A3"/>
          </a:solidFill>
          <a:ln w="12700">
            <a:solidFill>
              <a:srgbClr val="43A3A3"/>
            </a:solidFill>
            <a:prstDash val="solid"/>
          </a:ln>
        </p:spPr>
      </p:sp>
      <p:sp>
        <p:nvSpPr>
          <p:cNvPr id="43" name="Shape 41"/>
          <p:cNvSpPr/>
          <p:nvPr/>
        </p:nvSpPr>
        <p:spPr>
          <a:xfrm>
            <a:off x="2299899" y="2826228"/>
            <a:ext cx="219456" cy="219456"/>
          </a:xfrm>
          <a:prstGeom prst="rect">
            <a:avLst/>
          </a:prstGeom>
          <a:solidFill>
            <a:srgbClr val="43A3A3"/>
          </a:solidFill>
          <a:ln w="12700">
            <a:solidFill>
              <a:srgbClr val="43A3A3"/>
            </a:solidFill>
            <a:prstDash val="solid"/>
          </a:ln>
        </p:spPr>
      </p:sp>
      <p:sp>
        <p:nvSpPr>
          <p:cNvPr id="44" name="Shape 42"/>
          <p:cNvSpPr/>
          <p:nvPr/>
        </p:nvSpPr>
        <p:spPr>
          <a:xfrm>
            <a:off x="2550079" y="2826228"/>
            <a:ext cx="219456" cy="219456"/>
          </a:xfrm>
          <a:prstGeom prst="rect">
            <a:avLst/>
          </a:prstGeom>
          <a:solidFill>
            <a:srgbClr val="43A3A3"/>
          </a:solidFill>
          <a:ln w="12700">
            <a:solidFill>
              <a:srgbClr val="43A3A3"/>
            </a:solidFill>
            <a:prstDash val="solid"/>
          </a:ln>
        </p:spPr>
      </p:sp>
      <p:sp>
        <p:nvSpPr>
          <p:cNvPr id="45" name="Shape 43"/>
          <p:cNvSpPr/>
          <p:nvPr/>
        </p:nvSpPr>
        <p:spPr>
          <a:xfrm>
            <a:off x="2800259" y="2826228"/>
            <a:ext cx="219456" cy="219456"/>
          </a:xfrm>
          <a:prstGeom prst="rect">
            <a:avLst/>
          </a:prstGeom>
          <a:solidFill>
            <a:srgbClr val="43A3A3"/>
          </a:solidFill>
          <a:ln w="12700">
            <a:solidFill>
              <a:srgbClr val="43A3A3"/>
            </a:solidFill>
            <a:prstDash val="solid"/>
          </a:ln>
        </p:spPr>
      </p:sp>
      <p:sp>
        <p:nvSpPr>
          <p:cNvPr id="46" name="Shape 44"/>
          <p:cNvSpPr/>
          <p:nvPr/>
        </p:nvSpPr>
        <p:spPr>
          <a:xfrm>
            <a:off x="548640" y="3076407"/>
            <a:ext cx="219456" cy="219456"/>
          </a:xfrm>
          <a:prstGeom prst="rect">
            <a:avLst/>
          </a:prstGeom>
          <a:solidFill>
            <a:srgbClr val="43A3A3"/>
          </a:solidFill>
          <a:ln w="12700">
            <a:solidFill>
              <a:srgbClr val="43A3A3"/>
            </a:solidFill>
            <a:prstDash val="solid"/>
          </a:ln>
        </p:spPr>
      </p:sp>
      <p:sp>
        <p:nvSpPr>
          <p:cNvPr id="47" name="Shape 45"/>
          <p:cNvSpPr/>
          <p:nvPr/>
        </p:nvSpPr>
        <p:spPr>
          <a:xfrm>
            <a:off x="798820" y="3076407"/>
            <a:ext cx="219456" cy="219456"/>
          </a:xfrm>
          <a:prstGeom prst="rect">
            <a:avLst/>
          </a:prstGeom>
          <a:solidFill>
            <a:srgbClr val="43A3A3"/>
          </a:solidFill>
          <a:ln w="12700">
            <a:solidFill>
              <a:srgbClr val="43A3A3"/>
            </a:solidFill>
            <a:prstDash val="solid"/>
          </a:ln>
        </p:spPr>
      </p:sp>
      <p:sp>
        <p:nvSpPr>
          <p:cNvPr id="48" name="Shape 46"/>
          <p:cNvSpPr/>
          <p:nvPr/>
        </p:nvSpPr>
        <p:spPr>
          <a:xfrm>
            <a:off x="1049000" y="3076407"/>
            <a:ext cx="219456" cy="219456"/>
          </a:xfrm>
          <a:prstGeom prst="rect">
            <a:avLst/>
          </a:prstGeom>
          <a:solidFill>
            <a:srgbClr val="43A3A3"/>
          </a:solidFill>
          <a:ln w="12700">
            <a:solidFill>
              <a:srgbClr val="43A3A3"/>
            </a:solidFill>
            <a:prstDash val="solid"/>
          </a:ln>
        </p:spPr>
      </p:sp>
      <p:sp>
        <p:nvSpPr>
          <p:cNvPr id="49" name="Shape 47"/>
          <p:cNvSpPr/>
          <p:nvPr/>
        </p:nvSpPr>
        <p:spPr>
          <a:xfrm>
            <a:off x="1299180" y="3076407"/>
            <a:ext cx="219456" cy="219456"/>
          </a:xfrm>
          <a:prstGeom prst="rect">
            <a:avLst/>
          </a:prstGeom>
          <a:solidFill>
            <a:srgbClr val="43A3A3"/>
          </a:solidFill>
          <a:ln w="12700">
            <a:solidFill>
              <a:srgbClr val="43A3A3"/>
            </a:solidFill>
            <a:prstDash val="solid"/>
          </a:ln>
        </p:spPr>
      </p:sp>
      <p:sp>
        <p:nvSpPr>
          <p:cNvPr id="50" name="Shape 48"/>
          <p:cNvSpPr/>
          <p:nvPr/>
        </p:nvSpPr>
        <p:spPr>
          <a:xfrm>
            <a:off x="1549359" y="3076407"/>
            <a:ext cx="219456" cy="219456"/>
          </a:xfrm>
          <a:prstGeom prst="rect">
            <a:avLst/>
          </a:prstGeom>
          <a:solidFill>
            <a:srgbClr val="43A3A3"/>
          </a:solidFill>
          <a:ln w="12700">
            <a:solidFill>
              <a:srgbClr val="43A3A3"/>
            </a:solidFill>
            <a:prstDash val="solid"/>
          </a:ln>
        </p:spPr>
      </p:sp>
      <p:sp>
        <p:nvSpPr>
          <p:cNvPr id="51" name="Shape 49"/>
          <p:cNvSpPr/>
          <p:nvPr/>
        </p:nvSpPr>
        <p:spPr>
          <a:xfrm>
            <a:off x="1799539" y="3076407"/>
            <a:ext cx="219456" cy="219456"/>
          </a:xfrm>
          <a:prstGeom prst="rect">
            <a:avLst/>
          </a:prstGeom>
          <a:solidFill>
            <a:srgbClr val="43A3A3"/>
          </a:solidFill>
          <a:ln w="12700">
            <a:solidFill>
              <a:srgbClr val="43A3A3"/>
            </a:solidFill>
            <a:prstDash val="solid"/>
          </a:ln>
        </p:spPr>
      </p:sp>
      <p:sp>
        <p:nvSpPr>
          <p:cNvPr id="52" name="Shape 50"/>
          <p:cNvSpPr/>
          <p:nvPr/>
        </p:nvSpPr>
        <p:spPr>
          <a:xfrm>
            <a:off x="2049719" y="3076407"/>
            <a:ext cx="219456" cy="219456"/>
          </a:xfrm>
          <a:prstGeom prst="rect">
            <a:avLst/>
          </a:prstGeom>
          <a:solidFill>
            <a:srgbClr val="43A3A3"/>
          </a:solidFill>
          <a:ln w="12700">
            <a:solidFill>
              <a:srgbClr val="43A3A3"/>
            </a:solidFill>
            <a:prstDash val="solid"/>
          </a:ln>
        </p:spPr>
      </p:sp>
      <p:sp>
        <p:nvSpPr>
          <p:cNvPr id="53" name="Shape 51"/>
          <p:cNvSpPr/>
          <p:nvPr/>
        </p:nvSpPr>
        <p:spPr>
          <a:xfrm>
            <a:off x="2299899" y="3076407"/>
            <a:ext cx="219456" cy="219456"/>
          </a:xfrm>
          <a:prstGeom prst="rect">
            <a:avLst/>
          </a:prstGeom>
          <a:solidFill>
            <a:srgbClr val="43A3A3"/>
          </a:solidFill>
          <a:ln w="12700">
            <a:solidFill>
              <a:srgbClr val="43A3A3"/>
            </a:solidFill>
            <a:prstDash val="solid"/>
          </a:ln>
        </p:spPr>
      </p:sp>
      <p:sp>
        <p:nvSpPr>
          <p:cNvPr id="54" name="Shape 52"/>
          <p:cNvSpPr/>
          <p:nvPr/>
        </p:nvSpPr>
        <p:spPr>
          <a:xfrm>
            <a:off x="2550079" y="3076407"/>
            <a:ext cx="219456" cy="219456"/>
          </a:xfrm>
          <a:prstGeom prst="rect">
            <a:avLst/>
          </a:prstGeom>
          <a:solidFill>
            <a:srgbClr val="43A3A3"/>
          </a:solidFill>
          <a:ln w="12700">
            <a:solidFill>
              <a:srgbClr val="43A3A3"/>
            </a:solidFill>
            <a:prstDash val="solid"/>
          </a:ln>
        </p:spPr>
      </p:sp>
      <p:sp>
        <p:nvSpPr>
          <p:cNvPr id="55" name="Shape 53"/>
          <p:cNvSpPr/>
          <p:nvPr/>
        </p:nvSpPr>
        <p:spPr>
          <a:xfrm>
            <a:off x="2800259" y="3076407"/>
            <a:ext cx="219456" cy="219456"/>
          </a:xfrm>
          <a:prstGeom prst="rect">
            <a:avLst/>
          </a:prstGeom>
          <a:solidFill>
            <a:srgbClr val="43A3A3"/>
          </a:solidFill>
          <a:ln w="12700">
            <a:solidFill>
              <a:srgbClr val="43A3A3"/>
            </a:solidFill>
            <a:prstDash val="solid"/>
          </a:ln>
        </p:spPr>
      </p:sp>
      <p:sp>
        <p:nvSpPr>
          <p:cNvPr id="56" name="Shape 54"/>
          <p:cNvSpPr/>
          <p:nvPr/>
        </p:nvSpPr>
        <p:spPr>
          <a:xfrm>
            <a:off x="548640" y="3326587"/>
            <a:ext cx="219456" cy="219456"/>
          </a:xfrm>
          <a:prstGeom prst="rect">
            <a:avLst/>
          </a:prstGeom>
          <a:solidFill>
            <a:srgbClr val="43A3A3"/>
          </a:solidFill>
          <a:ln w="12700">
            <a:solidFill>
              <a:srgbClr val="43A3A3"/>
            </a:solidFill>
            <a:prstDash val="solid"/>
          </a:ln>
        </p:spPr>
      </p:sp>
      <p:sp>
        <p:nvSpPr>
          <p:cNvPr id="57" name="Shape 55"/>
          <p:cNvSpPr/>
          <p:nvPr/>
        </p:nvSpPr>
        <p:spPr>
          <a:xfrm>
            <a:off x="798820" y="3326587"/>
            <a:ext cx="219456" cy="219456"/>
          </a:xfrm>
          <a:prstGeom prst="rect">
            <a:avLst/>
          </a:prstGeom>
          <a:solidFill>
            <a:srgbClr val="43A3A3"/>
          </a:solidFill>
          <a:ln w="12700">
            <a:solidFill>
              <a:srgbClr val="43A3A3"/>
            </a:solidFill>
            <a:prstDash val="solid"/>
          </a:ln>
        </p:spPr>
      </p:sp>
      <p:sp>
        <p:nvSpPr>
          <p:cNvPr id="58" name="Shape 56"/>
          <p:cNvSpPr/>
          <p:nvPr/>
        </p:nvSpPr>
        <p:spPr>
          <a:xfrm>
            <a:off x="1049000" y="3326587"/>
            <a:ext cx="219456" cy="219456"/>
          </a:xfrm>
          <a:prstGeom prst="rect">
            <a:avLst/>
          </a:prstGeom>
          <a:solidFill>
            <a:srgbClr val="43A3A3"/>
          </a:solidFill>
          <a:ln w="12700">
            <a:solidFill>
              <a:srgbClr val="43A3A3"/>
            </a:solidFill>
            <a:prstDash val="solid"/>
          </a:ln>
        </p:spPr>
      </p:sp>
      <p:sp>
        <p:nvSpPr>
          <p:cNvPr id="59" name="Shape 57"/>
          <p:cNvSpPr/>
          <p:nvPr/>
        </p:nvSpPr>
        <p:spPr>
          <a:xfrm>
            <a:off x="1299180" y="3326587"/>
            <a:ext cx="219456" cy="219456"/>
          </a:xfrm>
          <a:prstGeom prst="rect">
            <a:avLst/>
          </a:prstGeom>
          <a:solidFill>
            <a:srgbClr val="43A3A3"/>
          </a:solidFill>
          <a:ln w="12700">
            <a:solidFill>
              <a:srgbClr val="43A3A3"/>
            </a:solidFill>
            <a:prstDash val="solid"/>
          </a:ln>
        </p:spPr>
      </p:sp>
      <p:sp>
        <p:nvSpPr>
          <p:cNvPr id="60" name="Shape 58"/>
          <p:cNvSpPr/>
          <p:nvPr/>
        </p:nvSpPr>
        <p:spPr>
          <a:xfrm>
            <a:off x="1549359" y="3326587"/>
            <a:ext cx="219456" cy="219456"/>
          </a:xfrm>
          <a:prstGeom prst="rect">
            <a:avLst/>
          </a:prstGeom>
          <a:solidFill>
            <a:srgbClr val="43A3A3"/>
          </a:solidFill>
          <a:ln w="12700">
            <a:solidFill>
              <a:srgbClr val="43A3A3"/>
            </a:solidFill>
            <a:prstDash val="solid"/>
          </a:ln>
        </p:spPr>
      </p:sp>
      <p:sp>
        <p:nvSpPr>
          <p:cNvPr id="61" name="Shape 59"/>
          <p:cNvSpPr/>
          <p:nvPr/>
        </p:nvSpPr>
        <p:spPr>
          <a:xfrm>
            <a:off x="1799539" y="3326587"/>
            <a:ext cx="219456" cy="219456"/>
          </a:xfrm>
          <a:prstGeom prst="rect">
            <a:avLst/>
          </a:prstGeom>
          <a:solidFill>
            <a:srgbClr val="43A3A3"/>
          </a:solidFill>
          <a:ln w="12700">
            <a:solidFill>
              <a:srgbClr val="43A3A3"/>
            </a:solidFill>
            <a:prstDash val="solid"/>
          </a:ln>
        </p:spPr>
      </p:sp>
      <p:sp>
        <p:nvSpPr>
          <p:cNvPr id="62" name="Shape 60"/>
          <p:cNvSpPr/>
          <p:nvPr/>
        </p:nvSpPr>
        <p:spPr>
          <a:xfrm>
            <a:off x="2049719" y="3326587"/>
            <a:ext cx="219456" cy="219456"/>
          </a:xfrm>
          <a:prstGeom prst="rect">
            <a:avLst/>
          </a:prstGeom>
          <a:solidFill>
            <a:srgbClr val="43A3A3"/>
          </a:solidFill>
          <a:ln w="12700">
            <a:solidFill>
              <a:srgbClr val="43A3A3"/>
            </a:solidFill>
            <a:prstDash val="solid"/>
          </a:ln>
        </p:spPr>
      </p:sp>
      <p:sp>
        <p:nvSpPr>
          <p:cNvPr id="63" name="Shape 61"/>
          <p:cNvSpPr/>
          <p:nvPr/>
        </p:nvSpPr>
        <p:spPr>
          <a:xfrm>
            <a:off x="2299899" y="3326587"/>
            <a:ext cx="219456" cy="219456"/>
          </a:xfrm>
          <a:prstGeom prst="rect">
            <a:avLst/>
          </a:prstGeom>
          <a:solidFill>
            <a:srgbClr val="43A3A3"/>
          </a:solidFill>
          <a:ln w="12700">
            <a:solidFill>
              <a:srgbClr val="43A3A3"/>
            </a:solidFill>
            <a:prstDash val="solid"/>
          </a:ln>
        </p:spPr>
      </p:sp>
      <p:sp>
        <p:nvSpPr>
          <p:cNvPr id="64" name="Shape 62"/>
          <p:cNvSpPr/>
          <p:nvPr/>
        </p:nvSpPr>
        <p:spPr>
          <a:xfrm>
            <a:off x="2550079" y="3326587"/>
            <a:ext cx="219456" cy="219456"/>
          </a:xfrm>
          <a:prstGeom prst="rect">
            <a:avLst/>
          </a:prstGeom>
          <a:solidFill>
            <a:srgbClr val="43A3A3"/>
          </a:solidFill>
          <a:ln w="12700">
            <a:solidFill>
              <a:srgbClr val="43A3A3"/>
            </a:solidFill>
            <a:prstDash val="solid"/>
          </a:ln>
        </p:spPr>
      </p:sp>
      <p:sp>
        <p:nvSpPr>
          <p:cNvPr id="65" name="Shape 63"/>
          <p:cNvSpPr/>
          <p:nvPr/>
        </p:nvSpPr>
        <p:spPr>
          <a:xfrm>
            <a:off x="2800259" y="3326587"/>
            <a:ext cx="219456" cy="219456"/>
          </a:xfrm>
          <a:prstGeom prst="rect">
            <a:avLst/>
          </a:prstGeom>
          <a:solidFill>
            <a:srgbClr val="43A3A3"/>
          </a:solidFill>
          <a:ln w="12700">
            <a:solidFill>
              <a:srgbClr val="43A3A3"/>
            </a:solidFill>
            <a:prstDash val="solid"/>
          </a:ln>
        </p:spPr>
      </p:sp>
      <p:sp>
        <p:nvSpPr>
          <p:cNvPr id="66" name="Shape 64"/>
          <p:cNvSpPr/>
          <p:nvPr/>
        </p:nvSpPr>
        <p:spPr>
          <a:xfrm>
            <a:off x="548640" y="3576767"/>
            <a:ext cx="219456" cy="219456"/>
          </a:xfrm>
          <a:prstGeom prst="rect">
            <a:avLst/>
          </a:prstGeom>
          <a:solidFill>
            <a:srgbClr val="43A3A3"/>
          </a:solidFill>
          <a:ln w="12700">
            <a:solidFill>
              <a:srgbClr val="43A3A3"/>
            </a:solidFill>
            <a:prstDash val="solid"/>
          </a:ln>
        </p:spPr>
      </p:sp>
      <p:sp>
        <p:nvSpPr>
          <p:cNvPr id="67" name="Shape 65"/>
          <p:cNvSpPr/>
          <p:nvPr/>
        </p:nvSpPr>
        <p:spPr>
          <a:xfrm>
            <a:off x="798820" y="3576767"/>
            <a:ext cx="219456" cy="219456"/>
          </a:xfrm>
          <a:prstGeom prst="rect">
            <a:avLst/>
          </a:prstGeom>
          <a:solidFill>
            <a:srgbClr val="43A3A3"/>
          </a:solidFill>
          <a:ln w="12700">
            <a:solidFill>
              <a:srgbClr val="43A3A3"/>
            </a:solidFill>
            <a:prstDash val="solid"/>
          </a:ln>
        </p:spPr>
      </p:sp>
      <p:sp>
        <p:nvSpPr>
          <p:cNvPr id="68" name="Shape 66"/>
          <p:cNvSpPr/>
          <p:nvPr/>
        </p:nvSpPr>
        <p:spPr>
          <a:xfrm>
            <a:off x="1049000" y="3576767"/>
            <a:ext cx="219456" cy="219456"/>
          </a:xfrm>
          <a:prstGeom prst="rect">
            <a:avLst/>
          </a:prstGeom>
          <a:solidFill>
            <a:srgbClr val="43A3A3"/>
          </a:solidFill>
          <a:ln w="12700">
            <a:solidFill>
              <a:srgbClr val="43A3A3"/>
            </a:solidFill>
            <a:prstDash val="solid"/>
          </a:ln>
        </p:spPr>
      </p:sp>
      <p:sp>
        <p:nvSpPr>
          <p:cNvPr id="69" name="Shape 67"/>
          <p:cNvSpPr/>
          <p:nvPr/>
        </p:nvSpPr>
        <p:spPr>
          <a:xfrm>
            <a:off x="1299180" y="3576767"/>
            <a:ext cx="219456" cy="219456"/>
          </a:xfrm>
          <a:prstGeom prst="rect">
            <a:avLst/>
          </a:prstGeom>
          <a:solidFill>
            <a:srgbClr val="43A3A3"/>
          </a:solidFill>
          <a:ln w="12700">
            <a:solidFill>
              <a:srgbClr val="43A3A3"/>
            </a:solidFill>
            <a:prstDash val="solid"/>
          </a:ln>
        </p:spPr>
      </p:sp>
      <p:sp>
        <p:nvSpPr>
          <p:cNvPr id="70" name="Shape 68"/>
          <p:cNvSpPr/>
          <p:nvPr/>
        </p:nvSpPr>
        <p:spPr>
          <a:xfrm>
            <a:off x="1549359" y="3576767"/>
            <a:ext cx="219456" cy="219456"/>
          </a:xfrm>
          <a:prstGeom prst="rect">
            <a:avLst/>
          </a:prstGeom>
          <a:solidFill>
            <a:srgbClr val="43A3A3"/>
          </a:solidFill>
          <a:ln w="12700">
            <a:solidFill>
              <a:srgbClr val="43A3A3"/>
            </a:solidFill>
            <a:prstDash val="solid"/>
          </a:ln>
        </p:spPr>
      </p:sp>
      <p:sp>
        <p:nvSpPr>
          <p:cNvPr id="71" name="Shape 69"/>
          <p:cNvSpPr/>
          <p:nvPr/>
        </p:nvSpPr>
        <p:spPr>
          <a:xfrm>
            <a:off x="1799539" y="3576767"/>
            <a:ext cx="219456" cy="219456"/>
          </a:xfrm>
          <a:prstGeom prst="rect">
            <a:avLst/>
          </a:prstGeom>
          <a:solidFill>
            <a:srgbClr val="43A3A3"/>
          </a:solidFill>
          <a:ln w="12700">
            <a:solidFill>
              <a:srgbClr val="43A3A3"/>
            </a:solidFill>
            <a:prstDash val="solid"/>
          </a:ln>
        </p:spPr>
      </p:sp>
      <p:sp>
        <p:nvSpPr>
          <p:cNvPr id="72" name="Shape 70"/>
          <p:cNvSpPr/>
          <p:nvPr/>
        </p:nvSpPr>
        <p:spPr>
          <a:xfrm>
            <a:off x="2049719" y="3576767"/>
            <a:ext cx="219456" cy="219456"/>
          </a:xfrm>
          <a:prstGeom prst="rect">
            <a:avLst/>
          </a:prstGeom>
          <a:solidFill>
            <a:srgbClr val="43A3A3"/>
          </a:solidFill>
          <a:ln w="12700">
            <a:solidFill>
              <a:srgbClr val="43A3A3"/>
            </a:solidFill>
            <a:prstDash val="solid"/>
          </a:ln>
        </p:spPr>
      </p:sp>
      <p:sp>
        <p:nvSpPr>
          <p:cNvPr id="73" name="Shape 71"/>
          <p:cNvSpPr/>
          <p:nvPr/>
        </p:nvSpPr>
        <p:spPr>
          <a:xfrm>
            <a:off x="2299899" y="3576767"/>
            <a:ext cx="219456" cy="219456"/>
          </a:xfrm>
          <a:prstGeom prst="rect">
            <a:avLst/>
          </a:prstGeom>
          <a:solidFill>
            <a:srgbClr val="43A3A3"/>
          </a:solidFill>
          <a:ln w="12700">
            <a:solidFill>
              <a:srgbClr val="43A3A3"/>
            </a:solidFill>
            <a:prstDash val="solid"/>
          </a:ln>
        </p:spPr>
      </p:sp>
      <p:sp>
        <p:nvSpPr>
          <p:cNvPr id="74" name="Shape 72"/>
          <p:cNvSpPr/>
          <p:nvPr/>
        </p:nvSpPr>
        <p:spPr>
          <a:xfrm>
            <a:off x="2550079" y="3576767"/>
            <a:ext cx="219456" cy="219456"/>
          </a:xfrm>
          <a:prstGeom prst="rect">
            <a:avLst/>
          </a:prstGeom>
          <a:solidFill>
            <a:srgbClr val="43A3A3"/>
          </a:solidFill>
          <a:ln w="12700">
            <a:solidFill>
              <a:srgbClr val="43A3A3"/>
            </a:solidFill>
            <a:prstDash val="solid"/>
          </a:ln>
        </p:spPr>
      </p:sp>
      <p:sp>
        <p:nvSpPr>
          <p:cNvPr id="75" name="Shape 73"/>
          <p:cNvSpPr/>
          <p:nvPr/>
        </p:nvSpPr>
        <p:spPr>
          <a:xfrm>
            <a:off x="2800259" y="3576767"/>
            <a:ext cx="219456" cy="219456"/>
          </a:xfrm>
          <a:prstGeom prst="rect">
            <a:avLst/>
          </a:prstGeom>
          <a:solidFill>
            <a:srgbClr val="43A3A3"/>
          </a:solidFill>
          <a:ln w="12700">
            <a:solidFill>
              <a:srgbClr val="43A3A3"/>
            </a:solidFill>
            <a:prstDash val="solid"/>
          </a:ln>
        </p:spPr>
      </p:sp>
      <p:sp>
        <p:nvSpPr>
          <p:cNvPr id="76" name="Shape 74"/>
          <p:cNvSpPr/>
          <p:nvPr/>
        </p:nvSpPr>
        <p:spPr>
          <a:xfrm>
            <a:off x="548640" y="3826947"/>
            <a:ext cx="219456" cy="219456"/>
          </a:xfrm>
          <a:prstGeom prst="rect">
            <a:avLst/>
          </a:prstGeom>
          <a:solidFill>
            <a:srgbClr val="43A3A3"/>
          </a:solidFill>
          <a:ln w="12700">
            <a:solidFill>
              <a:srgbClr val="43A3A3"/>
            </a:solidFill>
            <a:prstDash val="solid"/>
          </a:ln>
        </p:spPr>
      </p:sp>
      <p:sp>
        <p:nvSpPr>
          <p:cNvPr id="77" name="Shape 75"/>
          <p:cNvSpPr/>
          <p:nvPr/>
        </p:nvSpPr>
        <p:spPr>
          <a:xfrm>
            <a:off x="798820" y="3826947"/>
            <a:ext cx="219456" cy="219456"/>
          </a:xfrm>
          <a:prstGeom prst="rect">
            <a:avLst/>
          </a:prstGeom>
          <a:solidFill>
            <a:srgbClr val="43A3A3"/>
          </a:solidFill>
          <a:ln w="12700">
            <a:solidFill>
              <a:srgbClr val="43A3A3"/>
            </a:solidFill>
            <a:prstDash val="solid"/>
          </a:ln>
        </p:spPr>
      </p:sp>
      <p:sp>
        <p:nvSpPr>
          <p:cNvPr id="78" name="Shape 76"/>
          <p:cNvSpPr/>
          <p:nvPr/>
        </p:nvSpPr>
        <p:spPr>
          <a:xfrm>
            <a:off x="1049000" y="3826947"/>
            <a:ext cx="219456" cy="219456"/>
          </a:xfrm>
          <a:prstGeom prst="rect">
            <a:avLst/>
          </a:prstGeom>
          <a:solidFill>
            <a:srgbClr val="43A3A3"/>
          </a:solidFill>
          <a:ln w="12700">
            <a:solidFill>
              <a:srgbClr val="43A3A3"/>
            </a:solidFill>
            <a:prstDash val="solid"/>
          </a:ln>
        </p:spPr>
      </p:sp>
      <p:sp>
        <p:nvSpPr>
          <p:cNvPr id="79" name="Shape 77"/>
          <p:cNvSpPr/>
          <p:nvPr/>
        </p:nvSpPr>
        <p:spPr>
          <a:xfrm>
            <a:off x="1299180" y="3826947"/>
            <a:ext cx="219456" cy="219456"/>
          </a:xfrm>
          <a:prstGeom prst="rect">
            <a:avLst/>
          </a:prstGeom>
          <a:solidFill>
            <a:srgbClr val="43A3A3"/>
          </a:solidFill>
          <a:ln w="12700">
            <a:solidFill>
              <a:srgbClr val="43A3A3"/>
            </a:solidFill>
            <a:prstDash val="solid"/>
          </a:ln>
        </p:spPr>
      </p:sp>
      <p:sp>
        <p:nvSpPr>
          <p:cNvPr id="80" name="Shape 78"/>
          <p:cNvSpPr/>
          <p:nvPr/>
        </p:nvSpPr>
        <p:spPr>
          <a:xfrm>
            <a:off x="1549359" y="3826947"/>
            <a:ext cx="219456" cy="219456"/>
          </a:xfrm>
          <a:prstGeom prst="rect">
            <a:avLst/>
          </a:prstGeom>
          <a:solidFill>
            <a:srgbClr val="43A3A3"/>
          </a:solidFill>
          <a:ln w="12700">
            <a:solidFill>
              <a:srgbClr val="43A3A3"/>
            </a:solidFill>
            <a:prstDash val="solid"/>
          </a:ln>
        </p:spPr>
      </p:sp>
      <p:sp>
        <p:nvSpPr>
          <p:cNvPr id="81" name="Shape 79"/>
          <p:cNvSpPr/>
          <p:nvPr/>
        </p:nvSpPr>
        <p:spPr>
          <a:xfrm>
            <a:off x="1799539" y="3826947"/>
            <a:ext cx="219456" cy="219456"/>
          </a:xfrm>
          <a:prstGeom prst="rect">
            <a:avLst/>
          </a:prstGeom>
          <a:solidFill>
            <a:srgbClr val="43A3A3"/>
          </a:solidFill>
          <a:ln w="12700">
            <a:solidFill>
              <a:srgbClr val="43A3A3"/>
            </a:solidFill>
            <a:prstDash val="solid"/>
          </a:ln>
        </p:spPr>
      </p:sp>
      <p:sp>
        <p:nvSpPr>
          <p:cNvPr id="82" name="Shape 80"/>
          <p:cNvSpPr/>
          <p:nvPr/>
        </p:nvSpPr>
        <p:spPr>
          <a:xfrm>
            <a:off x="2049719" y="3826947"/>
            <a:ext cx="219456" cy="219456"/>
          </a:xfrm>
          <a:prstGeom prst="rect">
            <a:avLst/>
          </a:prstGeom>
          <a:solidFill>
            <a:srgbClr val="43A3A3"/>
          </a:solidFill>
          <a:ln w="12700">
            <a:solidFill>
              <a:srgbClr val="43A3A3"/>
            </a:solidFill>
            <a:prstDash val="solid"/>
          </a:ln>
        </p:spPr>
      </p:sp>
      <p:sp>
        <p:nvSpPr>
          <p:cNvPr id="83" name="Shape 81"/>
          <p:cNvSpPr/>
          <p:nvPr/>
        </p:nvSpPr>
        <p:spPr>
          <a:xfrm>
            <a:off x="2299899" y="3826947"/>
            <a:ext cx="219456" cy="219456"/>
          </a:xfrm>
          <a:prstGeom prst="rect">
            <a:avLst/>
          </a:prstGeom>
          <a:solidFill>
            <a:srgbClr val="43A3A3"/>
          </a:solidFill>
          <a:ln w="12700">
            <a:solidFill>
              <a:srgbClr val="43A3A3"/>
            </a:solidFill>
            <a:prstDash val="solid"/>
          </a:ln>
        </p:spPr>
      </p:sp>
      <p:sp>
        <p:nvSpPr>
          <p:cNvPr id="84" name="Shape 82"/>
          <p:cNvSpPr/>
          <p:nvPr/>
        </p:nvSpPr>
        <p:spPr>
          <a:xfrm>
            <a:off x="2550079" y="3826947"/>
            <a:ext cx="219456" cy="219456"/>
          </a:xfrm>
          <a:prstGeom prst="rect">
            <a:avLst/>
          </a:prstGeom>
          <a:solidFill>
            <a:srgbClr val="43A3A3"/>
          </a:solidFill>
          <a:ln w="12700">
            <a:solidFill>
              <a:srgbClr val="43A3A3"/>
            </a:solidFill>
            <a:prstDash val="solid"/>
          </a:ln>
        </p:spPr>
      </p:sp>
      <p:sp>
        <p:nvSpPr>
          <p:cNvPr id="85" name="Shape 83"/>
          <p:cNvSpPr/>
          <p:nvPr/>
        </p:nvSpPr>
        <p:spPr>
          <a:xfrm>
            <a:off x="2800259" y="3826947"/>
            <a:ext cx="219456" cy="219456"/>
          </a:xfrm>
          <a:prstGeom prst="rect">
            <a:avLst/>
          </a:prstGeom>
          <a:solidFill>
            <a:srgbClr val="43A3A3"/>
          </a:solidFill>
          <a:ln w="12700">
            <a:solidFill>
              <a:srgbClr val="43A3A3"/>
            </a:solidFill>
            <a:prstDash val="solid"/>
          </a:ln>
        </p:spPr>
      </p:sp>
      <p:sp>
        <p:nvSpPr>
          <p:cNvPr id="86" name="Shape 84"/>
          <p:cNvSpPr/>
          <p:nvPr/>
        </p:nvSpPr>
        <p:spPr>
          <a:xfrm>
            <a:off x="548640" y="4077127"/>
            <a:ext cx="219456" cy="219456"/>
          </a:xfrm>
          <a:prstGeom prst="rect">
            <a:avLst/>
          </a:prstGeom>
          <a:solidFill>
            <a:srgbClr val="43A3A3"/>
          </a:solidFill>
          <a:ln w="12700">
            <a:solidFill>
              <a:srgbClr val="43A3A3"/>
            </a:solidFill>
            <a:prstDash val="solid"/>
          </a:ln>
        </p:spPr>
      </p:sp>
      <p:sp>
        <p:nvSpPr>
          <p:cNvPr id="87" name="Shape 85"/>
          <p:cNvSpPr/>
          <p:nvPr/>
        </p:nvSpPr>
        <p:spPr>
          <a:xfrm>
            <a:off x="798820" y="4077127"/>
            <a:ext cx="219456" cy="219456"/>
          </a:xfrm>
          <a:prstGeom prst="rect">
            <a:avLst/>
          </a:prstGeom>
          <a:solidFill>
            <a:srgbClr val="43A3A3"/>
          </a:solidFill>
          <a:ln w="12700">
            <a:solidFill>
              <a:srgbClr val="43A3A3"/>
            </a:solidFill>
            <a:prstDash val="solid"/>
          </a:ln>
        </p:spPr>
      </p:sp>
      <p:sp>
        <p:nvSpPr>
          <p:cNvPr id="88" name="Shape 86"/>
          <p:cNvSpPr/>
          <p:nvPr/>
        </p:nvSpPr>
        <p:spPr>
          <a:xfrm>
            <a:off x="1049000" y="4077127"/>
            <a:ext cx="219456" cy="219456"/>
          </a:xfrm>
          <a:prstGeom prst="rect">
            <a:avLst/>
          </a:prstGeom>
          <a:solidFill>
            <a:srgbClr val="43A3A3"/>
          </a:solidFill>
          <a:ln w="12700">
            <a:solidFill>
              <a:srgbClr val="43A3A3"/>
            </a:solidFill>
            <a:prstDash val="solid"/>
          </a:ln>
        </p:spPr>
      </p:sp>
      <p:sp>
        <p:nvSpPr>
          <p:cNvPr id="89" name="Shape 87"/>
          <p:cNvSpPr/>
          <p:nvPr/>
        </p:nvSpPr>
        <p:spPr>
          <a:xfrm>
            <a:off x="1299180" y="4077127"/>
            <a:ext cx="219456" cy="219456"/>
          </a:xfrm>
          <a:prstGeom prst="rect">
            <a:avLst/>
          </a:prstGeom>
          <a:solidFill>
            <a:srgbClr val="43A3A3"/>
          </a:solidFill>
          <a:ln w="12700">
            <a:solidFill>
              <a:srgbClr val="43A3A3"/>
            </a:solidFill>
            <a:prstDash val="solid"/>
          </a:ln>
        </p:spPr>
      </p:sp>
      <p:sp>
        <p:nvSpPr>
          <p:cNvPr id="90" name="Shape 88"/>
          <p:cNvSpPr/>
          <p:nvPr/>
        </p:nvSpPr>
        <p:spPr>
          <a:xfrm>
            <a:off x="1549359" y="4077127"/>
            <a:ext cx="219456" cy="219456"/>
          </a:xfrm>
          <a:prstGeom prst="rect">
            <a:avLst/>
          </a:prstGeom>
          <a:solidFill>
            <a:srgbClr val="43A3A3"/>
          </a:solidFill>
          <a:ln w="12700">
            <a:solidFill>
              <a:srgbClr val="43A3A3"/>
            </a:solidFill>
            <a:prstDash val="solid"/>
          </a:ln>
        </p:spPr>
      </p:sp>
      <p:sp>
        <p:nvSpPr>
          <p:cNvPr id="91" name="Shape 89"/>
          <p:cNvSpPr/>
          <p:nvPr/>
        </p:nvSpPr>
        <p:spPr>
          <a:xfrm>
            <a:off x="1799539" y="4077127"/>
            <a:ext cx="219456" cy="219456"/>
          </a:xfrm>
          <a:prstGeom prst="rect">
            <a:avLst/>
          </a:prstGeom>
          <a:solidFill>
            <a:srgbClr val="43A3A3"/>
          </a:solidFill>
          <a:ln w="12700">
            <a:solidFill>
              <a:srgbClr val="43A3A3"/>
            </a:solidFill>
            <a:prstDash val="solid"/>
          </a:ln>
        </p:spPr>
      </p:sp>
      <p:sp>
        <p:nvSpPr>
          <p:cNvPr id="92" name="Shape 90"/>
          <p:cNvSpPr/>
          <p:nvPr/>
        </p:nvSpPr>
        <p:spPr>
          <a:xfrm>
            <a:off x="2049719" y="4077127"/>
            <a:ext cx="219456" cy="219456"/>
          </a:xfrm>
          <a:prstGeom prst="rect">
            <a:avLst/>
          </a:prstGeom>
          <a:solidFill>
            <a:srgbClr val="E3E2DA"/>
          </a:solidFill>
          <a:ln w="12700">
            <a:solidFill>
              <a:srgbClr val="E3E2DA"/>
            </a:solidFill>
            <a:prstDash val="solid"/>
          </a:ln>
        </p:spPr>
      </p:sp>
      <p:sp>
        <p:nvSpPr>
          <p:cNvPr id="93" name="Shape 91"/>
          <p:cNvSpPr/>
          <p:nvPr/>
        </p:nvSpPr>
        <p:spPr>
          <a:xfrm>
            <a:off x="2299899" y="4077127"/>
            <a:ext cx="219456" cy="219456"/>
          </a:xfrm>
          <a:prstGeom prst="rect">
            <a:avLst/>
          </a:prstGeom>
          <a:solidFill>
            <a:srgbClr val="E3E2DA"/>
          </a:solidFill>
          <a:ln w="12700">
            <a:solidFill>
              <a:srgbClr val="E3E2DA"/>
            </a:solidFill>
            <a:prstDash val="solid"/>
          </a:ln>
        </p:spPr>
      </p:sp>
      <p:sp>
        <p:nvSpPr>
          <p:cNvPr id="94" name="Shape 92"/>
          <p:cNvSpPr/>
          <p:nvPr/>
        </p:nvSpPr>
        <p:spPr>
          <a:xfrm>
            <a:off x="2550079" y="4077127"/>
            <a:ext cx="219456" cy="219456"/>
          </a:xfrm>
          <a:prstGeom prst="rect">
            <a:avLst/>
          </a:prstGeom>
          <a:solidFill>
            <a:srgbClr val="E3E2DA"/>
          </a:solidFill>
          <a:ln w="12700">
            <a:solidFill>
              <a:srgbClr val="E3E2DA"/>
            </a:solidFill>
            <a:prstDash val="solid"/>
          </a:ln>
        </p:spPr>
      </p:sp>
      <p:sp>
        <p:nvSpPr>
          <p:cNvPr id="95" name="Shape 93"/>
          <p:cNvSpPr/>
          <p:nvPr/>
        </p:nvSpPr>
        <p:spPr>
          <a:xfrm>
            <a:off x="2800259" y="4077127"/>
            <a:ext cx="219456" cy="219456"/>
          </a:xfrm>
          <a:prstGeom prst="rect">
            <a:avLst/>
          </a:prstGeom>
          <a:solidFill>
            <a:srgbClr val="E3E2DA"/>
          </a:solidFill>
          <a:ln w="12700">
            <a:solidFill>
              <a:srgbClr val="E3E2DA"/>
            </a:solidFill>
            <a:prstDash val="solid"/>
          </a:ln>
        </p:spPr>
      </p:sp>
      <p:sp>
        <p:nvSpPr>
          <p:cNvPr id="96" name="Shape 94"/>
          <p:cNvSpPr/>
          <p:nvPr/>
        </p:nvSpPr>
        <p:spPr>
          <a:xfrm>
            <a:off x="548640" y="4327307"/>
            <a:ext cx="219456" cy="219456"/>
          </a:xfrm>
          <a:prstGeom prst="rect">
            <a:avLst/>
          </a:prstGeom>
          <a:solidFill>
            <a:srgbClr val="E3E2DA"/>
          </a:solidFill>
          <a:ln w="12700">
            <a:solidFill>
              <a:srgbClr val="E3E2DA"/>
            </a:solidFill>
            <a:prstDash val="solid"/>
          </a:ln>
        </p:spPr>
      </p:sp>
      <p:sp>
        <p:nvSpPr>
          <p:cNvPr id="97" name="Shape 95"/>
          <p:cNvSpPr/>
          <p:nvPr/>
        </p:nvSpPr>
        <p:spPr>
          <a:xfrm>
            <a:off x="798820" y="4327307"/>
            <a:ext cx="219456" cy="219456"/>
          </a:xfrm>
          <a:prstGeom prst="rect">
            <a:avLst/>
          </a:prstGeom>
          <a:solidFill>
            <a:srgbClr val="E3E2DA"/>
          </a:solidFill>
          <a:ln w="12700">
            <a:solidFill>
              <a:srgbClr val="E3E2DA"/>
            </a:solidFill>
            <a:prstDash val="solid"/>
          </a:ln>
        </p:spPr>
      </p:sp>
      <p:sp>
        <p:nvSpPr>
          <p:cNvPr id="98" name="Shape 96"/>
          <p:cNvSpPr/>
          <p:nvPr/>
        </p:nvSpPr>
        <p:spPr>
          <a:xfrm>
            <a:off x="1049000" y="4327307"/>
            <a:ext cx="219456" cy="219456"/>
          </a:xfrm>
          <a:prstGeom prst="rect">
            <a:avLst/>
          </a:prstGeom>
          <a:solidFill>
            <a:srgbClr val="E3E2DA"/>
          </a:solidFill>
          <a:ln w="12700">
            <a:solidFill>
              <a:srgbClr val="E3E2DA"/>
            </a:solidFill>
            <a:prstDash val="solid"/>
          </a:ln>
        </p:spPr>
      </p:sp>
      <p:sp>
        <p:nvSpPr>
          <p:cNvPr id="99" name="Shape 97"/>
          <p:cNvSpPr/>
          <p:nvPr/>
        </p:nvSpPr>
        <p:spPr>
          <a:xfrm>
            <a:off x="1299180" y="4327307"/>
            <a:ext cx="219456" cy="219456"/>
          </a:xfrm>
          <a:prstGeom prst="rect">
            <a:avLst/>
          </a:prstGeom>
          <a:solidFill>
            <a:srgbClr val="E3E2DA"/>
          </a:solidFill>
          <a:ln w="12700">
            <a:solidFill>
              <a:srgbClr val="E3E2DA"/>
            </a:solidFill>
            <a:prstDash val="solid"/>
          </a:ln>
        </p:spPr>
      </p:sp>
      <p:sp>
        <p:nvSpPr>
          <p:cNvPr id="100" name="Shape 98"/>
          <p:cNvSpPr/>
          <p:nvPr/>
        </p:nvSpPr>
        <p:spPr>
          <a:xfrm>
            <a:off x="1549359" y="4327307"/>
            <a:ext cx="219456" cy="219456"/>
          </a:xfrm>
          <a:prstGeom prst="rect">
            <a:avLst/>
          </a:prstGeom>
          <a:solidFill>
            <a:srgbClr val="E3E2DA"/>
          </a:solidFill>
          <a:ln w="12700">
            <a:solidFill>
              <a:srgbClr val="E3E2DA"/>
            </a:solidFill>
            <a:prstDash val="solid"/>
          </a:ln>
        </p:spPr>
      </p:sp>
      <p:sp>
        <p:nvSpPr>
          <p:cNvPr id="101" name="Shape 99"/>
          <p:cNvSpPr/>
          <p:nvPr/>
        </p:nvSpPr>
        <p:spPr>
          <a:xfrm>
            <a:off x="1799539" y="4327307"/>
            <a:ext cx="219456" cy="219456"/>
          </a:xfrm>
          <a:prstGeom prst="rect">
            <a:avLst/>
          </a:prstGeom>
          <a:solidFill>
            <a:srgbClr val="E3E2DA"/>
          </a:solidFill>
          <a:ln w="12700">
            <a:solidFill>
              <a:srgbClr val="E3E2DA"/>
            </a:solidFill>
            <a:prstDash val="solid"/>
          </a:ln>
        </p:spPr>
      </p:sp>
      <p:sp>
        <p:nvSpPr>
          <p:cNvPr id="102" name="Shape 100"/>
          <p:cNvSpPr/>
          <p:nvPr/>
        </p:nvSpPr>
        <p:spPr>
          <a:xfrm>
            <a:off x="2049719" y="4327307"/>
            <a:ext cx="219456" cy="219456"/>
          </a:xfrm>
          <a:prstGeom prst="rect">
            <a:avLst/>
          </a:prstGeom>
          <a:solidFill>
            <a:srgbClr val="E3E2DA"/>
          </a:solidFill>
          <a:ln w="12700">
            <a:solidFill>
              <a:srgbClr val="E3E2DA"/>
            </a:solidFill>
            <a:prstDash val="solid"/>
          </a:ln>
        </p:spPr>
      </p:sp>
      <p:sp>
        <p:nvSpPr>
          <p:cNvPr id="103" name="Shape 101"/>
          <p:cNvSpPr/>
          <p:nvPr/>
        </p:nvSpPr>
        <p:spPr>
          <a:xfrm>
            <a:off x="2299899" y="4327307"/>
            <a:ext cx="219456" cy="219456"/>
          </a:xfrm>
          <a:prstGeom prst="rect">
            <a:avLst/>
          </a:prstGeom>
          <a:solidFill>
            <a:srgbClr val="E3E2DA"/>
          </a:solidFill>
          <a:ln w="12700">
            <a:solidFill>
              <a:srgbClr val="E3E2DA"/>
            </a:solidFill>
            <a:prstDash val="solid"/>
          </a:ln>
        </p:spPr>
      </p:sp>
      <p:sp>
        <p:nvSpPr>
          <p:cNvPr id="104" name="Shape 102"/>
          <p:cNvSpPr/>
          <p:nvPr/>
        </p:nvSpPr>
        <p:spPr>
          <a:xfrm>
            <a:off x="2550079" y="4327307"/>
            <a:ext cx="219456" cy="219456"/>
          </a:xfrm>
          <a:prstGeom prst="rect">
            <a:avLst/>
          </a:prstGeom>
          <a:solidFill>
            <a:srgbClr val="E3E2DA"/>
          </a:solidFill>
          <a:ln w="12700">
            <a:solidFill>
              <a:srgbClr val="E3E2DA"/>
            </a:solidFill>
            <a:prstDash val="solid"/>
          </a:ln>
        </p:spPr>
      </p:sp>
      <p:sp>
        <p:nvSpPr>
          <p:cNvPr id="105" name="Shape 103"/>
          <p:cNvSpPr/>
          <p:nvPr/>
        </p:nvSpPr>
        <p:spPr>
          <a:xfrm>
            <a:off x="2800259" y="4327307"/>
            <a:ext cx="219456" cy="219456"/>
          </a:xfrm>
          <a:prstGeom prst="rect">
            <a:avLst/>
          </a:prstGeom>
          <a:solidFill>
            <a:srgbClr val="E3E2DA"/>
          </a:solidFill>
          <a:ln w="12700">
            <a:solidFill>
              <a:srgbClr val="E3E2DA"/>
            </a:solidFill>
            <a:prstDash val="solid"/>
          </a:ln>
        </p:spPr>
      </p:sp>
      <p:sp>
        <p:nvSpPr>
          <p:cNvPr id="106" name="Text 104"/>
          <p:cNvSpPr txBox="1"/>
          <p:nvPr/>
        </p:nvSpPr>
        <p:spPr>
          <a:xfrm>
            <a:off x="548640"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85.8%</a:t>
            </a:r>
            <a:endParaRPr lang="en-US" sz="2000" dirty="0"/>
          </a:p>
        </p:txBody>
      </p:sp>
      <p:sp>
        <p:nvSpPr>
          <p:cNvPr id="107" name="Text 105"/>
          <p:cNvSpPr txBox="1"/>
          <p:nvPr/>
        </p:nvSpPr>
        <p:spPr>
          <a:xfrm>
            <a:off x="548640"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stay overnight (86 of every 100)</a:t>
            </a:r>
            <a:endParaRPr lang="en-US" sz="1000" dirty="0"/>
          </a:p>
        </p:txBody>
      </p:sp>
      <p:sp>
        <p:nvSpPr>
          <p:cNvPr id="108" name="Shape 106"/>
          <p:cNvSpPr/>
          <p:nvPr/>
        </p:nvSpPr>
        <p:spPr>
          <a:xfrm>
            <a:off x="4246778" y="2075688"/>
            <a:ext cx="219456" cy="219456"/>
          </a:xfrm>
          <a:prstGeom prst="rect">
            <a:avLst/>
          </a:prstGeom>
          <a:solidFill>
            <a:srgbClr val="43A3A3"/>
          </a:solidFill>
          <a:ln w="12700">
            <a:solidFill>
              <a:srgbClr val="43A3A3"/>
            </a:solidFill>
            <a:prstDash val="solid"/>
          </a:ln>
        </p:spPr>
      </p:sp>
      <p:sp>
        <p:nvSpPr>
          <p:cNvPr id="109" name="Shape 107"/>
          <p:cNvSpPr/>
          <p:nvPr/>
        </p:nvSpPr>
        <p:spPr>
          <a:xfrm>
            <a:off x="4496958" y="2075688"/>
            <a:ext cx="219456" cy="219456"/>
          </a:xfrm>
          <a:prstGeom prst="rect">
            <a:avLst/>
          </a:prstGeom>
          <a:solidFill>
            <a:srgbClr val="43A3A3"/>
          </a:solidFill>
          <a:ln w="12700">
            <a:solidFill>
              <a:srgbClr val="43A3A3"/>
            </a:solidFill>
            <a:prstDash val="solid"/>
          </a:ln>
        </p:spPr>
      </p:sp>
      <p:sp>
        <p:nvSpPr>
          <p:cNvPr id="110" name="Shape 108"/>
          <p:cNvSpPr/>
          <p:nvPr/>
        </p:nvSpPr>
        <p:spPr>
          <a:xfrm>
            <a:off x="4747138" y="2075688"/>
            <a:ext cx="219456" cy="219456"/>
          </a:xfrm>
          <a:prstGeom prst="rect">
            <a:avLst/>
          </a:prstGeom>
          <a:solidFill>
            <a:srgbClr val="43A3A3"/>
          </a:solidFill>
          <a:ln w="12700">
            <a:solidFill>
              <a:srgbClr val="43A3A3"/>
            </a:solidFill>
            <a:prstDash val="solid"/>
          </a:ln>
        </p:spPr>
      </p:sp>
      <p:sp>
        <p:nvSpPr>
          <p:cNvPr id="111" name="Shape 109"/>
          <p:cNvSpPr/>
          <p:nvPr/>
        </p:nvSpPr>
        <p:spPr>
          <a:xfrm>
            <a:off x="4997318" y="2075688"/>
            <a:ext cx="219456" cy="219456"/>
          </a:xfrm>
          <a:prstGeom prst="rect">
            <a:avLst/>
          </a:prstGeom>
          <a:solidFill>
            <a:srgbClr val="43A3A3"/>
          </a:solidFill>
          <a:ln w="12700">
            <a:solidFill>
              <a:srgbClr val="43A3A3"/>
            </a:solidFill>
            <a:prstDash val="solid"/>
          </a:ln>
        </p:spPr>
      </p:sp>
      <p:sp>
        <p:nvSpPr>
          <p:cNvPr id="112" name="Shape 110"/>
          <p:cNvSpPr/>
          <p:nvPr/>
        </p:nvSpPr>
        <p:spPr>
          <a:xfrm>
            <a:off x="5247498" y="2075688"/>
            <a:ext cx="219456" cy="219456"/>
          </a:xfrm>
          <a:prstGeom prst="rect">
            <a:avLst/>
          </a:prstGeom>
          <a:solidFill>
            <a:srgbClr val="43A3A3"/>
          </a:solidFill>
          <a:ln w="12700">
            <a:solidFill>
              <a:srgbClr val="43A3A3"/>
            </a:solidFill>
            <a:prstDash val="solid"/>
          </a:ln>
        </p:spPr>
      </p:sp>
      <p:sp>
        <p:nvSpPr>
          <p:cNvPr id="113" name="Shape 111"/>
          <p:cNvSpPr/>
          <p:nvPr/>
        </p:nvSpPr>
        <p:spPr>
          <a:xfrm>
            <a:off x="5497678" y="2075688"/>
            <a:ext cx="219456" cy="219456"/>
          </a:xfrm>
          <a:prstGeom prst="rect">
            <a:avLst/>
          </a:prstGeom>
          <a:solidFill>
            <a:srgbClr val="43A3A3"/>
          </a:solidFill>
          <a:ln w="12700">
            <a:solidFill>
              <a:srgbClr val="43A3A3"/>
            </a:solidFill>
            <a:prstDash val="solid"/>
          </a:ln>
        </p:spPr>
      </p:sp>
      <p:sp>
        <p:nvSpPr>
          <p:cNvPr id="114" name="Shape 112"/>
          <p:cNvSpPr/>
          <p:nvPr/>
        </p:nvSpPr>
        <p:spPr>
          <a:xfrm>
            <a:off x="5747857" y="2075688"/>
            <a:ext cx="219456" cy="219456"/>
          </a:xfrm>
          <a:prstGeom prst="rect">
            <a:avLst/>
          </a:prstGeom>
          <a:solidFill>
            <a:srgbClr val="43A3A3"/>
          </a:solidFill>
          <a:ln w="12700">
            <a:solidFill>
              <a:srgbClr val="43A3A3"/>
            </a:solidFill>
            <a:prstDash val="solid"/>
          </a:ln>
        </p:spPr>
      </p:sp>
      <p:sp>
        <p:nvSpPr>
          <p:cNvPr id="115" name="Shape 113"/>
          <p:cNvSpPr/>
          <p:nvPr/>
        </p:nvSpPr>
        <p:spPr>
          <a:xfrm>
            <a:off x="5998037" y="2075688"/>
            <a:ext cx="219456" cy="219456"/>
          </a:xfrm>
          <a:prstGeom prst="rect">
            <a:avLst/>
          </a:prstGeom>
          <a:solidFill>
            <a:srgbClr val="43A3A3"/>
          </a:solidFill>
          <a:ln w="12700">
            <a:solidFill>
              <a:srgbClr val="43A3A3"/>
            </a:solidFill>
            <a:prstDash val="solid"/>
          </a:ln>
        </p:spPr>
      </p:sp>
      <p:sp>
        <p:nvSpPr>
          <p:cNvPr id="116" name="Shape 114"/>
          <p:cNvSpPr/>
          <p:nvPr/>
        </p:nvSpPr>
        <p:spPr>
          <a:xfrm>
            <a:off x="6248217" y="2075688"/>
            <a:ext cx="219456" cy="219456"/>
          </a:xfrm>
          <a:prstGeom prst="rect">
            <a:avLst/>
          </a:prstGeom>
          <a:solidFill>
            <a:srgbClr val="43A3A3"/>
          </a:solidFill>
          <a:ln w="12700">
            <a:solidFill>
              <a:srgbClr val="43A3A3"/>
            </a:solidFill>
            <a:prstDash val="solid"/>
          </a:ln>
        </p:spPr>
      </p:sp>
      <p:sp>
        <p:nvSpPr>
          <p:cNvPr id="117" name="Shape 115"/>
          <p:cNvSpPr/>
          <p:nvPr/>
        </p:nvSpPr>
        <p:spPr>
          <a:xfrm>
            <a:off x="6498397" y="2075688"/>
            <a:ext cx="219456" cy="219456"/>
          </a:xfrm>
          <a:prstGeom prst="rect">
            <a:avLst/>
          </a:prstGeom>
          <a:solidFill>
            <a:srgbClr val="43A3A3"/>
          </a:solidFill>
          <a:ln w="12700">
            <a:solidFill>
              <a:srgbClr val="43A3A3"/>
            </a:solidFill>
            <a:prstDash val="solid"/>
          </a:ln>
        </p:spPr>
      </p:sp>
      <p:sp>
        <p:nvSpPr>
          <p:cNvPr id="118" name="Shape 116"/>
          <p:cNvSpPr/>
          <p:nvPr/>
        </p:nvSpPr>
        <p:spPr>
          <a:xfrm>
            <a:off x="4246778" y="2325868"/>
            <a:ext cx="219456" cy="219456"/>
          </a:xfrm>
          <a:prstGeom prst="rect">
            <a:avLst/>
          </a:prstGeom>
          <a:solidFill>
            <a:srgbClr val="43A3A3"/>
          </a:solidFill>
          <a:ln w="12700">
            <a:solidFill>
              <a:srgbClr val="43A3A3"/>
            </a:solidFill>
            <a:prstDash val="solid"/>
          </a:ln>
        </p:spPr>
      </p:sp>
      <p:sp>
        <p:nvSpPr>
          <p:cNvPr id="119" name="Shape 117"/>
          <p:cNvSpPr/>
          <p:nvPr/>
        </p:nvSpPr>
        <p:spPr>
          <a:xfrm>
            <a:off x="4496958" y="2325868"/>
            <a:ext cx="219456" cy="219456"/>
          </a:xfrm>
          <a:prstGeom prst="rect">
            <a:avLst/>
          </a:prstGeom>
          <a:solidFill>
            <a:srgbClr val="43A3A3"/>
          </a:solidFill>
          <a:ln w="12700">
            <a:solidFill>
              <a:srgbClr val="43A3A3"/>
            </a:solidFill>
            <a:prstDash val="solid"/>
          </a:ln>
        </p:spPr>
      </p:sp>
      <p:sp>
        <p:nvSpPr>
          <p:cNvPr id="120" name="Shape 118"/>
          <p:cNvSpPr/>
          <p:nvPr/>
        </p:nvSpPr>
        <p:spPr>
          <a:xfrm>
            <a:off x="4747138" y="2325868"/>
            <a:ext cx="219456" cy="219456"/>
          </a:xfrm>
          <a:prstGeom prst="rect">
            <a:avLst/>
          </a:prstGeom>
          <a:solidFill>
            <a:srgbClr val="43A3A3"/>
          </a:solidFill>
          <a:ln w="12700">
            <a:solidFill>
              <a:srgbClr val="43A3A3"/>
            </a:solidFill>
            <a:prstDash val="solid"/>
          </a:ln>
        </p:spPr>
      </p:sp>
      <p:sp>
        <p:nvSpPr>
          <p:cNvPr id="121" name="Shape 119"/>
          <p:cNvSpPr/>
          <p:nvPr/>
        </p:nvSpPr>
        <p:spPr>
          <a:xfrm>
            <a:off x="4997318" y="2325868"/>
            <a:ext cx="219456" cy="219456"/>
          </a:xfrm>
          <a:prstGeom prst="rect">
            <a:avLst/>
          </a:prstGeom>
          <a:solidFill>
            <a:srgbClr val="43A3A3"/>
          </a:solidFill>
          <a:ln w="12700">
            <a:solidFill>
              <a:srgbClr val="43A3A3"/>
            </a:solidFill>
            <a:prstDash val="solid"/>
          </a:ln>
        </p:spPr>
      </p:sp>
      <p:sp>
        <p:nvSpPr>
          <p:cNvPr id="122" name="Shape 120"/>
          <p:cNvSpPr/>
          <p:nvPr/>
        </p:nvSpPr>
        <p:spPr>
          <a:xfrm>
            <a:off x="5247498" y="2325868"/>
            <a:ext cx="219456" cy="219456"/>
          </a:xfrm>
          <a:prstGeom prst="rect">
            <a:avLst/>
          </a:prstGeom>
          <a:solidFill>
            <a:srgbClr val="43A3A3"/>
          </a:solidFill>
          <a:ln w="12700">
            <a:solidFill>
              <a:srgbClr val="43A3A3"/>
            </a:solidFill>
            <a:prstDash val="solid"/>
          </a:ln>
        </p:spPr>
      </p:sp>
      <p:sp>
        <p:nvSpPr>
          <p:cNvPr id="123" name="Shape 121"/>
          <p:cNvSpPr/>
          <p:nvPr/>
        </p:nvSpPr>
        <p:spPr>
          <a:xfrm>
            <a:off x="5497678" y="2325868"/>
            <a:ext cx="219456" cy="219456"/>
          </a:xfrm>
          <a:prstGeom prst="rect">
            <a:avLst/>
          </a:prstGeom>
          <a:solidFill>
            <a:srgbClr val="43A3A3"/>
          </a:solidFill>
          <a:ln w="12700">
            <a:solidFill>
              <a:srgbClr val="43A3A3"/>
            </a:solidFill>
            <a:prstDash val="solid"/>
          </a:ln>
        </p:spPr>
      </p:sp>
      <p:sp>
        <p:nvSpPr>
          <p:cNvPr id="124" name="Shape 122"/>
          <p:cNvSpPr/>
          <p:nvPr/>
        </p:nvSpPr>
        <p:spPr>
          <a:xfrm>
            <a:off x="5747857" y="2325868"/>
            <a:ext cx="219456" cy="219456"/>
          </a:xfrm>
          <a:prstGeom prst="rect">
            <a:avLst/>
          </a:prstGeom>
          <a:solidFill>
            <a:srgbClr val="43A3A3"/>
          </a:solidFill>
          <a:ln w="12700">
            <a:solidFill>
              <a:srgbClr val="43A3A3"/>
            </a:solidFill>
            <a:prstDash val="solid"/>
          </a:ln>
        </p:spPr>
      </p:sp>
      <p:sp>
        <p:nvSpPr>
          <p:cNvPr id="125" name="Shape 123"/>
          <p:cNvSpPr/>
          <p:nvPr/>
        </p:nvSpPr>
        <p:spPr>
          <a:xfrm>
            <a:off x="5998037" y="2325868"/>
            <a:ext cx="219456" cy="219456"/>
          </a:xfrm>
          <a:prstGeom prst="rect">
            <a:avLst/>
          </a:prstGeom>
          <a:solidFill>
            <a:srgbClr val="43A3A3"/>
          </a:solidFill>
          <a:ln w="12700">
            <a:solidFill>
              <a:srgbClr val="43A3A3"/>
            </a:solidFill>
            <a:prstDash val="solid"/>
          </a:ln>
        </p:spPr>
      </p:sp>
      <p:sp>
        <p:nvSpPr>
          <p:cNvPr id="126" name="Shape 124"/>
          <p:cNvSpPr/>
          <p:nvPr/>
        </p:nvSpPr>
        <p:spPr>
          <a:xfrm>
            <a:off x="6248217" y="2325868"/>
            <a:ext cx="219456" cy="219456"/>
          </a:xfrm>
          <a:prstGeom prst="rect">
            <a:avLst/>
          </a:prstGeom>
          <a:solidFill>
            <a:srgbClr val="43A3A3"/>
          </a:solidFill>
          <a:ln w="12700">
            <a:solidFill>
              <a:srgbClr val="43A3A3"/>
            </a:solidFill>
            <a:prstDash val="solid"/>
          </a:ln>
        </p:spPr>
      </p:sp>
      <p:sp>
        <p:nvSpPr>
          <p:cNvPr id="127" name="Shape 125"/>
          <p:cNvSpPr/>
          <p:nvPr/>
        </p:nvSpPr>
        <p:spPr>
          <a:xfrm>
            <a:off x="6498397" y="2325868"/>
            <a:ext cx="219456" cy="219456"/>
          </a:xfrm>
          <a:prstGeom prst="rect">
            <a:avLst/>
          </a:prstGeom>
          <a:solidFill>
            <a:srgbClr val="43A3A3"/>
          </a:solidFill>
          <a:ln w="12700">
            <a:solidFill>
              <a:srgbClr val="43A3A3"/>
            </a:solidFill>
            <a:prstDash val="solid"/>
          </a:ln>
        </p:spPr>
      </p:sp>
      <p:sp>
        <p:nvSpPr>
          <p:cNvPr id="128" name="Shape 126"/>
          <p:cNvSpPr/>
          <p:nvPr/>
        </p:nvSpPr>
        <p:spPr>
          <a:xfrm>
            <a:off x="4246778" y="2576048"/>
            <a:ext cx="219456" cy="219456"/>
          </a:xfrm>
          <a:prstGeom prst="rect">
            <a:avLst/>
          </a:prstGeom>
          <a:solidFill>
            <a:srgbClr val="43A3A3"/>
          </a:solidFill>
          <a:ln w="12700">
            <a:solidFill>
              <a:srgbClr val="43A3A3"/>
            </a:solidFill>
            <a:prstDash val="solid"/>
          </a:ln>
        </p:spPr>
      </p:sp>
      <p:sp>
        <p:nvSpPr>
          <p:cNvPr id="129" name="Shape 127"/>
          <p:cNvSpPr/>
          <p:nvPr/>
        </p:nvSpPr>
        <p:spPr>
          <a:xfrm>
            <a:off x="4496958" y="2576048"/>
            <a:ext cx="219456" cy="219456"/>
          </a:xfrm>
          <a:prstGeom prst="rect">
            <a:avLst/>
          </a:prstGeom>
          <a:solidFill>
            <a:srgbClr val="43A3A3"/>
          </a:solidFill>
          <a:ln w="12700">
            <a:solidFill>
              <a:srgbClr val="43A3A3"/>
            </a:solidFill>
            <a:prstDash val="solid"/>
          </a:ln>
        </p:spPr>
      </p:sp>
      <p:sp>
        <p:nvSpPr>
          <p:cNvPr id="130" name="Shape 128"/>
          <p:cNvSpPr/>
          <p:nvPr/>
        </p:nvSpPr>
        <p:spPr>
          <a:xfrm>
            <a:off x="4747138" y="2576048"/>
            <a:ext cx="219456" cy="219456"/>
          </a:xfrm>
          <a:prstGeom prst="rect">
            <a:avLst/>
          </a:prstGeom>
          <a:solidFill>
            <a:srgbClr val="43A3A3"/>
          </a:solidFill>
          <a:ln w="12700">
            <a:solidFill>
              <a:srgbClr val="43A3A3"/>
            </a:solidFill>
            <a:prstDash val="solid"/>
          </a:ln>
        </p:spPr>
      </p:sp>
      <p:sp>
        <p:nvSpPr>
          <p:cNvPr id="131" name="Shape 129"/>
          <p:cNvSpPr/>
          <p:nvPr/>
        </p:nvSpPr>
        <p:spPr>
          <a:xfrm>
            <a:off x="4997318" y="2576048"/>
            <a:ext cx="219456" cy="219456"/>
          </a:xfrm>
          <a:prstGeom prst="rect">
            <a:avLst/>
          </a:prstGeom>
          <a:solidFill>
            <a:srgbClr val="43A3A3"/>
          </a:solidFill>
          <a:ln w="12700">
            <a:solidFill>
              <a:srgbClr val="43A3A3"/>
            </a:solidFill>
            <a:prstDash val="solid"/>
          </a:ln>
        </p:spPr>
      </p:sp>
      <p:sp>
        <p:nvSpPr>
          <p:cNvPr id="132" name="Shape 130"/>
          <p:cNvSpPr/>
          <p:nvPr/>
        </p:nvSpPr>
        <p:spPr>
          <a:xfrm>
            <a:off x="5247498" y="2576048"/>
            <a:ext cx="219456" cy="219456"/>
          </a:xfrm>
          <a:prstGeom prst="rect">
            <a:avLst/>
          </a:prstGeom>
          <a:solidFill>
            <a:srgbClr val="43A3A3"/>
          </a:solidFill>
          <a:ln w="12700">
            <a:solidFill>
              <a:srgbClr val="43A3A3"/>
            </a:solidFill>
            <a:prstDash val="solid"/>
          </a:ln>
        </p:spPr>
      </p:sp>
      <p:sp>
        <p:nvSpPr>
          <p:cNvPr id="133" name="Shape 131"/>
          <p:cNvSpPr/>
          <p:nvPr/>
        </p:nvSpPr>
        <p:spPr>
          <a:xfrm>
            <a:off x="5497678" y="2576048"/>
            <a:ext cx="219456" cy="219456"/>
          </a:xfrm>
          <a:prstGeom prst="rect">
            <a:avLst/>
          </a:prstGeom>
          <a:solidFill>
            <a:srgbClr val="43A3A3"/>
          </a:solidFill>
          <a:ln w="12700">
            <a:solidFill>
              <a:srgbClr val="43A3A3"/>
            </a:solidFill>
            <a:prstDash val="solid"/>
          </a:ln>
        </p:spPr>
      </p:sp>
      <p:sp>
        <p:nvSpPr>
          <p:cNvPr id="134" name="Shape 132"/>
          <p:cNvSpPr/>
          <p:nvPr/>
        </p:nvSpPr>
        <p:spPr>
          <a:xfrm>
            <a:off x="5747857" y="2576048"/>
            <a:ext cx="219456" cy="219456"/>
          </a:xfrm>
          <a:prstGeom prst="rect">
            <a:avLst/>
          </a:prstGeom>
          <a:solidFill>
            <a:srgbClr val="43A3A3"/>
          </a:solidFill>
          <a:ln w="12700">
            <a:solidFill>
              <a:srgbClr val="43A3A3"/>
            </a:solidFill>
            <a:prstDash val="solid"/>
          </a:ln>
        </p:spPr>
      </p:sp>
      <p:sp>
        <p:nvSpPr>
          <p:cNvPr id="135" name="Shape 133"/>
          <p:cNvSpPr/>
          <p:nvPr/>
        </p:nvSpPr>
        <p:spPr>
          <a:xfrm>
            <a:off x="5998037" y="2576048"/>
            <a:ext cx="219456" cy="219456"/>
          </a:xfrm>
          <a:prstGeom prst="rect">
            <a:avLst/>
          </a:prstGeom>
          <a:solidFill>
            <a:srgbClr val="43A3A3"/>
          </a:solidFill>
          <a:ln w="12700">
            <a:solidFill>
              <a:srgbClr val="43A3A3"/>
            </a:solidFill>
            <a:prstDash val="solid"/>
          </a:ln>
        </p:spPr>
      </p:sp>
      <p:sp>
        <p:nvSpPr>
          <p:cNvPr id="136" name="Shape 134"/>
          <p:cNvSpPr/>
          <p:nvPr/>
        </p:nvSpPr>
        <p:spPr>
          <a:xfrm>
            <a:off x="6248217" y="2576048"/>
            <a:ext cx="219456" cy="219456"/>
          </a:xfrm>
          <a:prstGeom prst="rect">
            <a:avLst/>
          </a:prstGeom>
          <a:solidFill>
            <a:srgbClr val="43A3A3"/>
          </a:solidFill>
          <a:ln w="12700">
            <a:solidFill>
              <a:srgbClr val="43A3A3"/>
            </a:solidFill>
            <a:prstDash val="solid"/>
          </a:ln>
        </p:spPr>
      </p:sp>
      <p:sp>
        <p:nvSpPr>
          <p:cNvPr id="137" name="Shape 135"/>
          <p:cNvSpPr/>
          <p:nvPr/>
        </p:nvSpPr>
        <p:spPr>
          <a:xfrm>
            <a:off x="6498397" y="2576048"/>
            <a:ext cx="219456" cy="219456"/>
          </a:xfrm>
          <a:prstGeom prst="rect">
            <a:avLst/>
          </a:prstGeom>
          <a:solidFill>
            <a:srgbClr val="43A3A3"/>
          </a:solidFill>
          <a:ln w="12700">
            <a:solidFill>
              <a:srgbClr val="43A3A3"/>
            </a:solidFill>
            <a:prstDash val="solid"/>
          </a:ln>
        </p:spPr>
      </p:sp>
      <p:sp>
        <p:nvSpPr>
          <p:cNvPr id="138" name="Shape 136"/>
          <p:cNvSpPr/>
          <p:nvPr/>
        </p:nvSpPr>
        <p:spPr>
          <a:xfrm>
            <a:off x="4246778" y="2826228"/>
            <a:ext cx="219456" cy="219456"/>
          </a:xfrm>
          <a:prstGeom prst="rect">
            <a:avLst/>
          </a:prstGeom>
          <a:solidFill>
            <a:srgbClr val="43A3A3"/>
          </a:solidFill>
          <a:ln w="12700">
            <a:solidFill>
              <a:srgbClr val="43A3A3"/>
            </a:solidFill>
            <a:prstDash val="solid"/>
          </a:ln>
        </p:spPr>
      </p:sp>
      <p:sp>
        <p:nvSpPr>
          <p:cNvPr id="139" name="Shape 137"/>
          <p:cNvSpPr/>
          <p:nvPr/>
        </p:nvSpPr>
        <p:spPr>
          <a:xfrm>
            <a:off x="4496958" y="2826228"/>
            <a:ext cx="219456" cy="219456"/>
          </a:xfrm>
          <a:prstGeom prst="rect">
            <a:avLst/>
          </a:prstGeom>
          <a:solidFill>
            <a:srgbClr val="43A3A3"/>
          </a:solidFill>
          <a:ln w="12700">
            <a:solidFill>
              <a:srgbClr val="43A3A3"/>
            </a:solidFill>
            <a:prstDash val="solid"/>
          </a:ln>
        </p:spPr>
      </p:sp>
      <p:sp>
        <p:nvSpPr>
          <p:cNvPr id="140" name="Shape 138"/>
          <p:cNvSpPr/>
          <p:nvPr/>
        </p:nvSpPr>
        <p:spPr>
          <a:xfrm>
            <a:off x="4747138" y="2826228"/>
            <a:ext cx="219456" cy="219456"/>
          </a:xfrm>
          <a:prstGeom prst="rect">
            <a:avLst/>
          </a:prstGeom>
          <a:solidFill>
            <a:srgbClr val="43A3A3"/>
          </a:solidFill>
          <a:ln w="12700">
            <a:solidFill>
              <a:srgbClr val="43A3A3"/>
            </a:solidFill>
            <a:prstDash val="solid"/>
          </a:ln>
        </p:spPr>
      </p:sp>
      <p:sp>
        <p:nvSpPr>
          <p:cNvPr id="141" name="Shape 139"/>
          <p:cNvSpPr/>
          <p:nvPr/>
        </p:nvSpPr>
        <p:spPr>
          <a:xfrm>
            <a:off x="4997318" y="2826228"/>
            <a:ext cx="219456" cy="219456"/>
          </a:xfrm>
          <a:prstGeom prst="rect">
            <a:avLst/>
          </a:prstGeom>
          <a:solidFill>
            <a:srgbClr val="43A3A3"/>
          </a:solidFill>
          <a:ln w="12700">
            <a:solidFill>
              <a:srgbClr val="43A3A3"/>
            </a:solidFill>
            <a:prstDash val="solid"/>
          </a:ln>
        </p:spPr>
      </p:sp>
      <p:sp>
        <p:nvSpPr>
          <p:cNvPr id="142" name="Shape 140"/>
          <p:cNvSpPr/>
          <p:nvPr/>
        </p:nvSpPr>
        <p:spPr>
          <a:xfrm>
            <a:off x="5247498" y="2826228"/>
            <a:ext cx="219456" cy="219456"/>
          </a:xfrm>
          <a:prstGeom prst="rect">
            <a:avLst/>
          </a:prstGeom>
          <a:solidFill>
            <a:srgbClr val="43A3A3"/>
          </a:solidFill>
          <a:ln w="12700">
            <a:solidFill>
              <a:srgbClr val="43A3A3"/>
            </a:solidFill>
            <a:prstDash val="solid"/>
          </a:ln>
        </p:spPr>
      </p:sp>
      <p:sp>
        <p:nvSpPr>
          <p:cNvPr id="143" name="Shape 141"/>
          <p:cNvSpPr/>
          <p:nvPr/>
        </p:nvSpPr>
        <p:spPr>
          <a:xfrm>
            <a:off x="5497678" y="2826228"/>
            <a:ext cx="219456" cy="219456"/>
          </a:xfrm>
          <a:prstGeom prst="rect">
            <a:avLst/>
          </a:prstGeom>
          <a:solidFill>
            <a:srgbClr val="43A3A3"/>
          </a:solidFill>
          <a:ln w="12700">
            <a:solidFill>
              <a:srgbClr val="43A3A3"/>
            </a:solidFill>
            <a:prstDash val="solid"/>
          </a:ln>
        </p:spPr>
      </p:sp>
      <p:sp>
        <p:nvSpPr>
          <p:cNvPr id="144" name="Shape 142"/>
          <p:cNvSpPr/>
          <p:nvPr/>
        </p:nvSpPr>
        <p:spPr>
          <a:xfrm>
            <a:off x="5747857" y="2826228"/>
            <a:ext cx="219456" cy="219456"/>
          </a:xfrm>
          <a:prstGeom prst="rect">
            <a:avLst/>
          </a:prstGeom>
          <a:solidFill>
            <a:srgbClr val="43A3A3"/>
          </a:solidFill>
          <a:ln w="12700">
            <a:solidFill>
              <a:srgbClr val="43A3A3"/>
            </a:solidFill>
            <a:prstDash val="solid"/>
          </a:ln>
        </p:spPr>
      </p:sp>
      <p:sp>
        <p:nvSpPr>
          <p:cNvPr id="145" name="Shape 143"/>
          <p:cNvSpPr/>
          <p:nvPr/>
        </p:nvSpPr>
        <p:spPr>
          <a:xfrm>
            <a:off x="5998037" y="2826228"/>
            <a:ext cx="219456" cy="219456"/>
          </a:xfrm>
          <a:prstGeom prst="rect">
            <a:avLst/>
          </a:prstGeom>
          <a:solidFill>
            <a:srgbClr val="43A3A3"/>
          </a:solidFill>
          <a:ln w="12700">
            <a:solidFill>
              <a:srgbClr val="43A3A3"/>
            </a:solidFill>
            <a:prstDash val="solid"/>
          </a:ln>
        </p:spPr>
      </p:sp>
      <p:sp>
        <p:nvSpPr>
          <p:cNvPr id="146" name="Shape 144"/>
          <p:cNvSpPr/>
          <p:nvPr/>
        </p:nvSpPr>
        <p:spPr>
          <a:xfrm>
            <a:off x="6248217" y="2826228"/>
            <a:ext cx="219456" cy="219456"/>
          </a:xfrm>
          <a:prstGeom prst="rect">
            <a:avLst/>
          </a:prstGeom>
          <a:solidFill>
            <a:srgbClr val="43A3A3"/>
          </a:solidFill>
          <a:ln w="12700">
            <a:solidFill>
              <a:srgbClr val="43A3A3"/>
            </a:solidFill>
            <a:prstDash val="solid"/>
          </a:ln>
        </p:spPr>
      </p:sp>
      <p:sp>
        <p:nvSpPr>
          <p:cNvPr id="147" name="Shape 145"/>
          <p:cNvSpPr/>
          <p:nvPr/>
        </p:nvSpPr>
        <p:spPr>
          <a:xfrm>
            <a:off x="6498397" y="2826228"/>
            <a:ext cx="219456" cy="219456"/>
          </a:xfrm>
          <a:prstGeom prst="rect">
            <a:avLst/>
          </a:prstGeom>
          <a:solidFill>
            <a:srgbClr val="43A3A3"/>
          </a:solidFill>
          <a:ln w="12700">
            <a:solidFill>
              <a:srgbClr val="43A3A3"/>
            </a:solidFill>
            <a:prstDash val="solid"/>
          </a:ln>
        </p:spPr>
      </p:sp>
      <p:sp>
        <p:nvSpPr>
          <p:cNvPr id="148" name="Shape 146"/>
          <p:cNvSpPr/>
          <p:nvPr/>
        </p:nvSpPr>
        <p:spPr>
          <a:xfrm>
            <a:off x="4246778" y="3076407"/>
            <a:ext cx="219456" cy="219456"/>
          </a:xfrm>
          <a:prstGeom prst="rect">
            <a:avLst/>
          </a:prstGeom>
          <a:solidFill>
            <a:srgbClr val="43A3A3"/>
          </a:solidFill>
          <a:ln w="12700">
            <a:solidFill>
              <a:srgbClr val="43A3A3"/>
            </a:solidFill>
            <a:prstDash val="solid"/>
          </a:ln>
        </p:spPr>
      </p:sp>
      <p:sp>
        <p:nvSpPr>
          <p:cNvPr id="149" name="Shape 147"/>
          <p:cNvSpPr/>
          <p:nvPr/>
        </p:nvSpPr>
        <p:spPr>
          <a:xfrm>
            <a:off x="4496958" y="3076407"/>
            <a:ext cx="219456" cy="219456"/>
          </a:xfrm>
          <a:prstGeom prst="rect">
            <a:avLst/>
          </a:prstGeom>
          <a:solidFill>
            <a:srgbClr val="43A3A3"/>
          </a:solidFill>
          <a:ln w="12700">
            <a:solidFill>
              <a:srgbClr val="43A3A3"/>
            </a:solidFill>
            <a:prstDash val="solid"/>
          </a:ln>
        </p:spPr>
      </p:sp>
      <p:sp>
        <p:nvSpPr>
          <p:cNvPr id="150" name="Shape 148"/>
          <p:cNvSpPr/>
          <p:nvPr/>
        </p:nvSpPr>
        <p:spPr>
          <a:xfrm>
            <a:off x="4747138" y="3076407"/>
            <a:ext cx="219456" cy="219456"/>
          </a:xfrm>
          <a:prstGeom prst="rect">
            <a:avLst/>
          </a:prstGeom>
          <a:solidFill>
            <a:srgbClr val="43A3A3"/>
          </a:solidFill>
          <a:ln w="12700">
            <a:solidFill>
              <a:srgbClr val="43A3A3"/>
            </a:solidFill>
            <a:prstDash val="solid"/>
          </a:ln>
        </p:spPr>
      </p:sp>
      <p:sp>
        <p:nvSpPr>
          <p:cNvPr id="151" name="Shape 149"/>
          <p:cNvSpPr/>
          <p:nvPr/>
        </p:nvSpPr>
        <p:spPr>
          <a:xfrm>
            <a:off x="4997318" y="3076407"/>
            <a:ext cx="219456" cy="219456"/>
          </a:xfrm>
          <a:prstGeom prst="rect">
            <a:avLst/>
          </a:prstGeom>
          <a:solidFill>
            <a:srgbClr val="43A3A3"/>
          </a:solidFill>
          <a:ln w="12700">
            <a:solidFill>
              <a:srgbClr val="43A3A3"/>
            </a:solidFill>
            <a:prstDash val="solid"/>
          </a:ln>
        </p:spPr>
      </p:sp>
      <p:sp>
        <p:nvSpPr>
          <p:cNvPr id="152" name="Shape 150"/>
          <p:cNvSpPr/>
          <p:nvPr/>
        </p:nvSpPr>
        <p:spPr>
          <a:xfrm>
            <a:off x="5247498" y="3076407"/>
            <a:ext cx="219456" cy="219456"/>
          </a:xfrm>
          <a:prstGeom prst="rect">
            <a:avLst/>
          </a:prstGeom>
          <a:solidFill>
            <a:srgbClr val="E3E2DA"/>
          </a:solidFill>
          <a:ln w="12700">
            <a:solidFill>
              <a:srgbClr val="E3E2DA"/>
            </a:solidFill>
            <a:prstDash val="solid"/>
          </a:ln>
        </p:spPr>
      </p:sp>
      <p:sp>
        <p:nvSpPr>
          <p:cNvPr id="153" name="Shape 151"/>
          <p:cNvSpPr/>
          <p:nvPr/>
        </p:nvSpPr>
        <p:spPr>
          <a:xfrm>
            <a:off x="5497678" y="3076407"/>
            <a:ext cx="219456" cy="219456"/>
          </a:xfrm>
          <a:prstGeom prst="rect">
            <a:avLst/>
          </a:prstGeom>
          <a:solidFill>
            <a:srgbClr val="E3E2DA"/>
          </a:solidFill>
          <a:ln w="12700">
            <a:solidFill>
              <a:srgbClr val="E3E2DA"/>
            </a:solidFill>
            <a:prstDash val="solid"/>
          </a:ln>
        </p:spPr>
      </p:sp>
      <p:sp>
        <p:nvSpPr>
          <p:cNvPr id="154" name="Shape 152"/>
          <p:cNvSpPr/>
          <p:nvPr/>
        </p:nvSpPr>
        <p:spPr>
          <a:xfrm>
            <a:off x="5747857" y="3076407"/>
            <a:ext cx="219456" cy="219456"/>
          </a:xfrm>
          <a:prstGeom prst="rect">
            <a:avLst/>
          </a:prstGeom>
          <a:solidFill>
            <a:srgbClr val="E3E2DA"/>
          </a:solidFill>
          <a:ln w="12700">
            <a:solidFill>
              <a:srgbClr val="E3E2DA"/>
            </a:solidFill>
            <a:prstDash val="solid"/>
          </a:ln>
        </p:spPr>
      </p:sp>
      <p:sp>
        <p:nvSpPr>
          <p:cNvPr id="155" name="Shape 153"/>
          <p:cNvSpPr/>
          <p:nvPr/>
        </p:nvSpPr>
        <p:spPr>
          <a:xfrm>
            <a:off x="5998037" y="3076407"/>
            <a:ext cx="219456" cy="219456"/>
          </a:xfrm>
          <a:prstGeom prst="rect">
            <a:avLst/>
          </a:prstGeom>
          <a:solidFill>
            <a:srgbClr val="E3E2DA"/>
          </a:solidFill>
          <a:ln w="12700">
            <a:solidFill>
              <a:srgbClr val="E3E2DA"/>
            </a:solidFill>
            <a:prstDash val="solid"/>
          </a:ln>
        </p:spPr>
      </p:sp>
      <p:sp>
        <p:nvSpPr>
          <p:cNvPr id="156" name="Shape 154"/>
          <p:cNvSpPr/>
          <p:nvPr/>
        </p:nvSpPr>
        <p:spPr>
          <a:xfrm>
            <a:off x="6248217" y="3076407"/>
            <a:ext cx="219456" cy="219456"/>
          </a:xfrm>
          <a:prstGeom prst="rect">
            <a:avLst/>
          </a:prstGeom>
          <a:solidFill>
            <a:srgbClr val="E3E2DA"/>
          </a:solidFill>
          <a:ln w="12700">
            <a:solidFill>
              <a:srgbClr val="E3E2DA"/>
            </a:solidFill>
            <a:prstDash val="solid"/>
          </a:ln>
        </p:spPr>
      </p:sp>
      <p:sp>
        <p:nvSpPr>
          <p:cNvPr id="157" name="Shape 155"/>
          <p:cNvSpPr/>
          <p:nvPr/>
        </p:nvSpPr>
        <p:spPr>
          <a:xfrm>
            <a:off x="6498397" y="3076407"/>
            <a:ext cx="219456" cy="219456"/>
          </a:xfrm>
          <a:prstGeom prst="rect">
            <a:avLst/>
          </a:prstGeom>
          <a:solidFill>
            <a:srgbClr val="E3E2DA"/>
          </a:solidFill>
          <a:ln w="12700">
            <a:solidFill>
              <a:srgbClr val="E3E2DA"/>
            </a:solidFill>
            <a:prstDash val="solid"/>
          </a:ln>
        </p:spPr>
      </p:sp>
      <p:sp>
        <p:nvSpPr>
          <p:cNvPr id="158" name="Shape 156"/>
          <p:cNvSpPr/>
          <p:nvPr/>
        </p:nvSpPr>
        <p:spPr>
          <a:xfrm>
            <a:off x="4246778" y="3326587"/>
            <a:ext cx="219456" cy="219456"/>
          </a:xfrm>
          <a:prstGeom prst="rect">
            <a:avLst/>
          </a:prstGeom>
          <a:solidFill>
            <a:srgbClr val="E3E2DA"/>
          </a:solidFill>
          <a:ln w="12700">
            <a:solidFill>
              <a:srgbClr val="E3E2DA"/>
            </a:solidFill>
            <a:prstDash val="solid"/>
          </a:ln>
        </p:spPr>
      </p:sp>
      <p:sp>
        <p:nvSpPr>
          <p:cNvPr id="159" name="Shape 157"/>
          <p:cNvSpPr/>
          <p:nvPr/>
        </p:nvSpPr>
        <p:spPr>
          <a:xfrm>
            <a:off x="4496958" y="3326587"/>
            <a:ext cx="219456" cy="219456"/>
          </a:xfrm>
          <a:prstGeom prst="rect">
            <a:avLst/>
          </a:prstGeom>
          <a:solidFill>
            <a:srgbClr val="E3E2DA"/>
          </a:solidFill>
          <a:ln w="12700">
            <a:solidFill>
              <a:srgbClr val="E3E2DA"/>
            </a:solidFill>
            <a:prstDash val="solid"/>
          </a:ln>
        </p:spPr>
      </p:sp>
      <p:sp>
        <p:nvSpPr>
          <p:cNvPr id="160" name="Shape 158"/>
          <p:cNvSpPr/>
          <p:nvPr/>
        </p:nvSpPr>
        <p:spPr>
          <a:xfrm>
            <a:off x="4747138" y="3326587"/>
            <a:ext cx="219456" cy="219456"/>
          </a:xfrm>
          <a:prstGeom prst="rect">
            <a:avLst/>
          </a:prstGeom>
          <a:solidFill>
            <a:srgbClr val="E3E2DA"/>
          </a:solidFill>
          <a:ln w="12700">
            <a:solidFill>
              <a:srgbClr val="E3E2DA"/>
            </a:solidFill>
            <a:prstDash val="solid"/>
          </a:ln>
        </p:spPr>
      </p:sp>
      <p:sp>
        <p:nvSpPr>
          <p:cNvPr id="161" name="Shape 159"/>
          <p:cNvSpPr/>
          <p:nvPr/>
        </p:nvSpPr>
        <p:spPr>
          <a:xfrm>
            <a:off x="4997318" y="3326587"/>
            <a:ext cx="219456" cy="219456"/>
          </a:xfrm>
          <a:prstGeom prst="rect">
            <a:avLst/>
          </a:prstGeom>
          <a:solidFill>
            <a:srgbClr val="E3E2DA"/>
          </a:solidFill>
          <a:ln w="12700">
            <a:solidFill>
              <a:srgbClr val="E3E2DA"/>
            </a:solidFill>
            <a:prstDash val="solid"/>
          </a:ln>
        </p:spPr>
      </p:sp>
      <p:sp>
        <p:nvSpPr>
          <p:cNvPr id="162" name="Shape 160"/>
          <p:cNvSpPr/>
          <p:nvPr/>
        </p:nvSpPr>
        <p:spPr>
          <a:xfrm>
            <a:off x="5247498" y="3326587"/>
            <a:ext cx="219456" cy="219456"/>
          </a:xfrm>
          <a:prstGeom prst="rect">
            <a:avLst/>
          </a:prstGeom>
          <a:solidFill>
            <a:srgbClr val="E3E2DA"/>
          </a:solidFill>
          <a:ln w="12700">
            <a:solidFill>
              <a:srgbClr val="E3E2DA"/>
            </a:solidFill>
            <a:prstDash val="solid"/>
          </a:ln>
        </p:spPr>
      </p:sp>
      <p:sp>
        <p:nvSpPr>
          <p:cNvPr id="163" name="Shape 161"/>
          <p:cNvSpPr/>
          <p:nvPr/>
        </p:nvSpPr>
        <p:spPr>
          <a:xfrm>
            <a:off x="5497678" y="3326587"/>
            <a:ext cx="219456" cy="219456"/>
          </a:xfrm>
          <a:prstGeom prst="rect">
            <a:avLst/>
          </a:prstGeom>
          <a:solidFill>
            <a:srgbClr val="E3E2DA"/>
          </a:solidFill>
          <a:ln w="12700">
            <a:solidFill>
              <a:srgbClr val="E3E2DA"/>
            </a:solidFill>
            <a:prstDash val="solid"/>
          </a:ln>
        </p:spPr>
      </p:sp>
      <p:sp>
        <p:nvSpPr>
          <p:cNvPr id="164" name="Shape 162"/>
          <p:cNvSpPr/>
          <p:nvPr/>
        </p:nvSpPr>
        <p:spPr>
          <a:xfrm>
            <a:off x="5747857" y="3326587"/>
            <a:ext cx="219456" cy="219456"/>
          </a:xfrm>
          <a:prstGeom prst="rect">
            <a:avLst/>
          </a:prstGeom>
          <a:solidFill>
            <a:srgbClr val="E3E2DA"/>
          </a:solidFill>
          <a:ln w="12700">
            <a:solidFill>
              <a:srgbClr val="E3E2DA"/>
            </a:solidFill>
            <a:prstDash val="solid"/>
          </a:ln>
        </p:spPr>
      </p:sp>
      <p:sp>
        <p:nvSpPr>
          <p:cNvPr id="165" name="Shape 163"/>
          <p:cNvSpPr/>
          <p:nvPr/>
        </p:nvSpPr>
        <p:spPr>
          <a:xfrm>
            <a:off x="5998037" y="3326587"/>
            <a:ext cx="219456" cy="219456"/>
          </a:xfrm>
          <a:prstGeom prst="rect">
            <a:avLst/>
          </a:prstGeom>
          <a:solidFill>
            <a:srgbClr val="E3E2DA"/>
          </a:solidFill>
          <a:ln w="12700">
            <a:solidFill>
              <a:srgbClr val="E3E2DA"/>
            </a:solidFill>
            <a:prstDash val="solid"/>
          </a:ln>
        </p:spPr>
      </p:sp>
      <p:sp>
        <p:nvSpPr>
          <p:cNvPr id="166" name="Shape 164"/>
          <p:cNvSpPr/>
          <p:nvPr/>
        </p:nvSpPr>
        <p:spPr>
          <a:xfrm>
            <a:off x="6248217" y="3326587"/>
            <a:ext cx="219456" cy="219456"/>
          </a:xfrm>
          <a:prstGeom prst="rect">
            <a:avLst/>
          </a:prstGeom>
          <a:solidFill>
            <a:srgbClr val="E3E2DA"/>
          </a:solidFill>
          <a:ln w="12700">
            <a:solidFill>
              <a:srgbClr val="E3E2DA"/>
            </a:solidFill>
            <a:prstDash val="solid"/>
          </a:ln>
        </p:spPr>
      </p:sp>
      <p:sp>
        <p:nvSpPr>
          <p:cNvPr id="167" name="Shape 165"/>
          <p:cNvSpPr/>
          <p:nvPr/>
        </p:nvSpPr>
        <p:spPr>
          <a:xfrm>
            <a:off x="6498397" y="3326587"/>
            <a:ext cx="219456" cy="219456"/>
          </a:xfrm>
          <a:prstGeom prst="rect">
            <a:avLst/>
          </a:prstGeom>
          <a:solidFill>
            <a:srgbClr val="E3E2DA"/>
          </a:solidFill>
          <a:ln w="12700">
            <a:solidFill>
              <a:srgbClr val="E3E2DA"/>
            </a:solidFill>
            <a:prstDash val="solid"/>
          </a:ln>
        </p:spPr>
      </p:sp>
      <p:sp>
        <p:nvSpPr>
          <p:cNvPr id="168" name="Shape 166"/>
          <p:cNvSpPr/>
          <p:nvPr/>
        </p:nvSpPr>
        <p:spPr>
          <a:xfrm>
            <a:off x="4246778" y="3576767"/>
            <a:ext cx="219456" cy="219456"/>
          </a:xfrm>
          <a:prstGeom prst="rect">
            <a:avLst/>
          </a:prstGeom>
          <a:solidFill>
            <a:srgbClr val="E3E2DA"/>
          </a:solidFill>
          <a:ln w="12700">
            <a:solidFill>
              <a:srgbClr val="E3E2DA"/>
            </a:solidFill>
            <a:prstDash val="solid"/>
          </a:ln>
        </p:spPr>
      </p:sp>
      <p:sp>
        <p:nvSpPr>
          <p:cNvPr id="169" name="Shape 167"/>
          <p:cNvSpPr/>
          <p:nvPr/>
        </p:nvSpPr>
        <p:spPr>
          <a:xfrm>
            <a:off x="4496958" y="3576767"/>
            <a:ext cx="219456" cy="219456"/>
          </a:xfrm>
          <a:prstGeom prst="rect">
            <a:avLst/>
          </a:prstGeom>
          <a:solidFill>
            <a:srgbClr val="E3E2DA"/>
          </a:solidFill>
          <a:ln w="12700">
            <a:solidFill>
              <a:srgbClr val="E3E2DA"/>
            </a:solidFill>
            <a:prstDash val="solid"/>
          </a:ln>
        </p:spPr>
      </p:sp>
      <p:sp>
        <p:nvSpPr>
          <p:cNvPr id="170" name="Shape 168"/>
          <p:cNvSpPr/>
          <p:nvPr/>
        </p:nvSpPr>
        <p:spPr>
          <a:xfrm>
            <a:off x="4747138" y="3576767"/>
            <a:ext cx="219456" cy="219456"/>
          </a:xfrm>
          <a:prstGeom prst="rect">
            <a:avLst/>
          </a:prstGeom>
          <a:solidFill>
            <a:srgbClr val="E3E2DA"/>
          </a:solidFill>
          <a:ln w="12700">
            <a:solidFill>
              <a:srgbClr val="E3E2DA"/>
            </a:solidFill>
            <a:prstDash val="solid"/>
          </a:ln>
        </p:spPr>
      </p:sp>
      <p:sp>
        <p:nvSpPr>
          <p:cNvPr id="171" name="Shape 169"/>
          <p:cNvSpPr/>
          <p:nvPr/>
        </p:nvSpPr>
        <p:spPr>
          <a:xfrm>
            <a:off x="4997318" y="3576767"/>
            <a:ext cx="219456" cy="219456"/>
          </a:xfrm>
          <a:prstGeom prst="rect">
            <a:avLst/>
          </a:prstGeom>
          <a:solidFill>
            <a:srgbClr val="E3E2DA"/>
          </a:solidFill>
          <a:ln w="12700">
            <a:solidFill>
              <a:srgbClr val="E3E2DA"/>
            </a:solidFill>
            <a:prstDash val="solid"/>
          </a:ln>
        </p:spPr>
      </p:sp>
      <p:sp>
        <p:nvSpPr>
          <p:cNvPr id="172" name="Shape 170"/>
          <p:cNvSpPr/>
          <p:nvPr/>
        </p:nvSpPr>
        <p:spPr>
          <a:xfrm>
            <a:off x="5247498" y="3576767"/>
            <a:ext cx="219456" cy="219456"/>
          </a:xfrm>
          <a:prstGeom prst="rect">
            <a:avLst/>
          </a:prstGeom>
          <a:solidFill>
            <a:srgbClr val="E3E2DA"/>
          </a:solidFill>
          <a:ln w="12700">
            <a:solidFill>
              <a:srgbClr val="E3E2DA"/>
            </a:solidFill>
            <a:prstDash val="solid"/>
          </a:ln>
        </p:spPr>
      </p:sp>
      <p:sp>
        <p:nvSpPr>
          <p:cNvPr id="173" name="Shape 171"/>
          <p:cNvSpPr/>
          <p:nvPr/>
        </p:nvSpPr>
        <p:spPr>
          <a:xfrm>
            <a:off x="5497678" y="3576767"/>
            <a:ext cx="219456" cy="219456"/>
          </a:xfrm>
          <a:prstGeom prst="rect">
            <a:avLst/>
          </a:prstGeom>
          <a:solidFill>
            <a:srgbClr val="E3E2DA"/>
          </a:solidFill>
          <a:ln w="12700">
            <a:solidFill>
              <a:srgbClr val="E3E2DA"/>
            </a:solidFill>
            <a:prstDash val="solid"/>
          </a:ln>
        </p:spPr>
      </p:sp>
      <p:sp>
        <p:nvSpPr>
          <p:cNvPr id="174" name="Shape 172"/>
          <p:cNvSpPr/>
          <p:nvPr/>
        </p:nvSpPr>
        <p:spPr>
          <a:xfrm>
            <a:off x="5747857" y="3576767"/>
            <a:ext cx="219456" cy="219456"/>
          </a:xfrm>
          <a:prstGeom prst="rect">
            <a:avLst/>
          </a:prstGeom>
          <a:solidFill>
            <a:srgbClr val="E3E2DA"/>
          </a:solidFill>
          <a:ln w="12700">
            <a:solidFill>
              <a:srgbClr val="E3E2DA"/>
            </a:solidFill>
            <a:prstDash val="solid"/>
          </a:ln>
        </p:spPr>
      </p:sp>
      <p:sp>
        <p:nvSpPr>
          <p:cNvPr id="175" name="Shape 173"/>
          <p:cNvSpPr/>
          <p:nvPr/>
        </p:nvSpPr>
        <p:spPr>
          <a:xfrm>
            <a:off x="5998037" y="3576767"/>
            <a:ext cx="219456" cy="219456"/>
          </a:xfrm>
          <a:prstGeom prst="rect">
            <a:avLst/>
          </a:prstGeom>
          <a:solidFill>
            <a:srgbClr val="E3E2DA"/>
          </a:solidFill>
          <a:ln w="12700">
            <a:solidFill>
              <a:srgbClr val="E3E2DA"/>
            </a:solidFill>
            <a:prstDash val="solid"/>
          </a:ln>
        </p:spPr>
      </p:sp>
      <p:sp>
        <p:nvSpPr>
          <p:cNvPr id="176" name="Shape 174"/>
          <p:cNvSpPr/>
          <p:nvPr/>
        </p:nvSpPr>
        <p:spPr>
          <a:xfrm>
            <a:off x="6248217" y="3576767"/>
            <a:ext cx="219456" cy="219456"/>
          </a:xfrm>
          <a:prstGeom prst="rect">
            <a:avLst/>
          </a:prstGeom>
          <a:solidFill>
            <a:srgbClr val="E3E2DA"/>
          </a:solidFill>
          <a:ln w="12700">
            <a:solidFill>
              <a:srgbClr val="E3E2DA"/>
            </a:solidFill>
            <a:prstDash val="solid"/>
          </a:ln>
        </p:spPr>
      </p:sp>
      <p:sp>
        <p:nvSpPr>
          <p:cNvPr id="177" name="Shape 175"/>
          <p:cNvSpPr/>
          <p:nvPr/>
        </p:nvSpPr>
        <p:spPr>
          <a:xfrm>
            <a:off x="6498397" y="3576767"/>
            <a:ext cx="219456" cy="219456"/>
          </a:xfrm>
          <a:prstGeom prst="rect">
            <a:avLst/>
          </a:prstGeom>
          <a:solidFill>
            <a:srgbClr val="E3E2DA"/>
          </a:solidFill>
          <a:ln w="12700">
            <a:solidFill>
              <a:srgbClr val="E3E2DA"/>
            </a:solidFill>
            <a:prstDash val="solid"/>
          </a:ln>
        </p:spPr>
      </p:sp>
      <p:sp>
        <p:nvSpPr>
          <p:cNvPr id="178" name="Shape 176"/>
          <p:cNvSpPr/>
          <p:nvPr/>
        </p:nvSpPr>
        <p:spPr>
          <a:xfrm>
            <a:off x="4246778" y="3826947"/>
            <a:ext cx="219456" cy="219456"/>
          </a:xfrm>
          <a:prstGeom prst="rect">
            <a:avLst/>
          </a:prstGeom>
          <a:solidFill>
            <a:srgbClr val="E3E2DA"/>
          </a:solidFill>
          <a:ln w="12700">
            <a:solidFill>
              <a:srgbClr val="E3E2DA"/>
            </a:solidFill>
            <a:prstDash val="solid"/>
          </a:ln>
        </p:spPr>
      </p:sp>
      <p:sp>
        <p:nvSpPr>
          <p:cNvPr id="179" name="Shape 177"/>
          <p:cNvSpPr/>
          <p:nvPr/>
        </p:nvSpPr>
        <p:spPr>
          <a:xfrm>
            <a:off x="4496958" y="3826947"/>
            <a:ext cx="219456" cy="219456"/>
          </a:xfrm>
          <a:prstGeom prst="rect">
            <a:avLst/>
          </a:prstGeom>
          <a:solidFill>
            <a:srgbClr val="E3E2DA"/>
          </a:solidFill>
          <a:ln w="12700">
            <a:solidFill>
              <a:srgbClr val="E3E2DA"/>
            </a:solidFill>
            <a:prstDash val="solid"/>
          </a:ln>
        </p:spPr>
      </p:sp>
      <p:sp>
        <p:nvSpPr>
          <p:cNvPr id="180" name="Shape 178"/>
          <p:cNvSpPr/>
          <p:nvPr/>
        </p:nvSpPr>
        <p:spPr>
          <a:xfrm>
            <a:off x="4747138" y="3826947"/>
            <a:ext cx="219456" cy="219456"/>
          </a:xfrm>
          <a:prstGeom prst="rect">
            <a:avLst/>
          </a:prstGeom>
          <a:solidFill>
            <a:srgbClr val="E3E2DA"/>
          </a:solidFill>
          <a:ln w="12700">
            <a:solidFill>
              <a:srgbClr val="E3E2DA"/>
            </a:solidFill>
            <a:prstDash val="solid"/>
          </a:ln>
        </p:spPr>
      </p:sp>
      <p:sp>
        <p:nvSpPr>
          <p:cNvPr id="181" name="Shape 179"/>
          <p:cNvSpPr/>
          <p:nvPr/>
        </p:nvSpPr>
        <p:spPr>
          <a:xfrm>
            <a:off x="4997318" y="3826947"/>
            <a:ext cx="219456" cy="219456"/>
          </a:xfrm>
          <a:prstGeom prst="rect">
            <a:avLst/>
          </a:prstGeom>
          <a:solidFill>
            <a:srgbClr val="E3E2DA"/>
          </a:solidFill>
          <a:ln w="12700">
            <a:solidFill>
              <a:srgbClr val="E3E2DA"/>
            </a:solidFill>
            <a:prstDash val="solid"/>
          </a:ln>
        </p:spPr>
      </p:sp>
      <p:sp>
        <p:nvSpPr>
          <p:cNvPr id="182" name="Shape 180"/>
          <p:cNvSpPr/>
          <p:nvPr/>
        </p:nvSpPr>
        <p:spPr>
          <a:xfrm>
            <a:off x="5247498" y="3826947"/>
            <a:ext cx="219456" cy="219456"/>
          </a:xfrm>
          <a:prstGeom prst="rect">
            <a:avLst/>
          </a:prstGeom>
          <a:solidFill>
            <a:srgbClr val="E3E2DA"/>
          </a:solidFill>
          <a:ln w="12700">
            <a:solidFill>
              <a:srgbClr val="E3E2DA"/>
            </a:solidFill>
            <a:prstDash val="solid"/>
          </a:ln>
        </p:spPr>
      </p:sp>
      <p:sp>
        <p:nvSpPr>
          <p:cNvPr id="183" name="Shape 181"/>
          <p:cNvSpPr/>
          <p:nvPr/>
        </p:nvSpPr>
        <p:spPr>
          <a:xfrm>
            <a:off x="5497678" y="3826947"/>
            <a:ext cx="219456" cy="219456"/>
          </a:xfrm>
          <a:prstGeom prst="rect">
            <a:avLst/>
          </a:prstGeom>
          <a:solidFill>
            <a:srgbClr val="E3E2DA"/>
          </a:solidFill>
          <a:ln w="12700">
            <a:solidFill>
              <a:srgbClr val="E3E2DA"/>
            </a:solidFill>
            <a:prstDash val="solid"/>
          </a:ln>
        </p:spPr>
      </p:sp>
      <p:sp>
        <p:nvSpPr>
          <p:cNvPr id="184" name="Shape 182"/>
          <p:cNvSpPr/>
          <p:nvPr/>
        </p:nvSpPr>
        <p:spPr>
          <a:xfrm>
            <a:off x="5747857" y="3826947"/>
            <a:ext cx="219456" cy="219456"/>
          </a:xfrm>
          <a:prstGeom prst="rect">
            <a:avLst/>
          </a:prstGeom>
          <a:solidFill>
            <a:srgbClr val="E3E2DA"/>
          </a:solidFill>
          <a:ln w="12700">
            <a:solidFill>
              <a:srgbClr val="E3E2DA"/>
            </a:solidFill>
            <a:prstDash val="solid"/>
          </a:ln>
        </p:spPr>
      </p:sp>
      <p:sp>
        <p:nvSpPr>
          <p:cNvPr id="185" name="Shape 183"/>
          <p:cNvSpPr/>
          <p:nvPr/>
        </p:nvSpPr>
        <p:spPr>
          <a:xfrm>
            <a:off x="5998037" y="3826947"/>
            <a:ext cx="219456" cy="219456"/>
          </a:xfrm>
          <a:prstGeom prst="rect">
            <a:avLst/>
          </a:prstGeom>
          <a:solidFill>
            <a:srgbClr val="E3E2DA"/>
          </a:solidFill>
          <a:ln w="12700">
            <a:solidFill>
              <a:srgbClr val="E3E2DA"/>
            </a:solidFill>
            <a:prstDash val="solid"/>
          </a:ln>
        </p:spPr>
      </p:sp>
      <p:sp>
        <p:nvSpPr>
          <p:cNvPr id="186" name="Shape 184"/>
          <p:cNvSpPr/>
          <p:nvPr/>
        </p:nvSpPr>
        <p:spPr>
          <a:xfrm>
            <a:off x="6248217" y="3826947"/>
            <a:ext cx="219456" cy="219456"/>
          </a:xfrm>
          <a:prstGeom prst="rect">
            <a:avLst/>
          </a:prstGeom>
          <a:solidFill>
            <a:srgbClr val="E3E2DA"/>
          </a:solidFill>
          <a:ln w="12700">
            <a:solidFill>
              <a:srgbClr val="E3E2DA"/>
            </a:solidFill>
            <a:prstDash val="solid"/>
          </a:ln>
        </p:spPr>
      </p:sp>
      <p:sp>
        <p:nvSpPr>
          <p:cNvPr id="187" name="Shape 185"/>
          <p:cNvSpPr/>
          <p:nvPr/>
        </p:nvSpPr>
        <p:spPr>
          <a:xfrm>
            <a:off x="6498397" y="3826947"/>
            <a:ext cx="219456" cy="219456"/>
          </a:xfrm>
          <a:prstGeom prst="rect">
            <a:avLst/>
          </a:prstGeom>
          <a:solidFill>
            <a:srgbClr val="E3E2DA"/>
          </a:solidFill>
          <a:ln w="12700">
            <a:solidFill>
              <a:srgbClr val="E3E2DA"/>
            </a:solidFill>
            <a:prstDash val="solid"/>
          </a:ln>
        </p:spPr>
      </p:sp>
      <p:sp>
        <p:nvSpPr>
          <p:cNvPr id="188" name="Shape 186"/>
          <p:cNvSpPr/>
          <p:nvPr/>
        </p:nvSpPr>
        <p:spPr>
          <a:xfrm>
            <a:off x="4246778" y="4077127"/>
            <a:ext cx="219456" cy="219456"/>
          </a:xfrm>
          <a:prstGeom prst="rect">
            <a:avLst/>
          </a:prstGeom>
          <a:solidFill>
            <a:srgbClr val="E3E2DA"/>
          </a:solidFill>
          <a:ln w="12700">
            <a:solidFill>
              <a:srgbClr val="E3E2DA"/>
            </a:solidFill>
            <a:prstDash val="solid"/>
          </a:ln>
        </p:spPr>
      </p:sp>
      <p:sp>
        <p:nvSpPr>
          <p:cNvPr id="189" name="Shape 187"/>
          <p:cNvSpPr/>
          <p:nvPr/>
        </p:nvSpPr>
        <p:spPr>
          <a:xfrm>
            <a:off x="4496958" y="4077127"/>
            <a:ext cx="219456" cy="219456"/>
          </a:xfrm>
          <a:prstGeom prst="rect">
            <a:avLst/>
          </a:prstGeom>
          <a:solidFill>
            <a:srgbClr val="E3E2DA"/>
          </a:solidFill>
          <a:ln w="12700">
            <a:solidFill>
              <a:srgbClr val="E3E2DA"/>
            </a:solidFill>
            <a:prstDash val="solid"/>
          </a:ln>
        </p:spPr>
      </p:sp>
      <p:sp>
        <p:nvSpPr>
          <p:cNvPr id="190" name="Shape 188"/>
          <p:cNvSpPr/>
          <p:nvPr/>
        </p:nvSpPr>
        <p:spPr>
          <a:xfrm>
            <a:off x="4747138" y="4077127"/>
            <a:ext cx="219456" cy="219456"/>
          </a:xfrm>
          <a:prstGeom prst="rect">
            <a:avLst/>
          </a:prstGeom>
          <a:solidFill>
            <a:srgbClr val="E3E2DA"/>
          </a:solidFill>
          <a:ln w="12700">
            <a:solidFill>
              <a:srgbClr val="E3E2DA"/>
            </a:solidFill>
            <a:prstDash val="solid"/>
          </a:ln>
        </p:spPr>
      </p:sp>
      <p:sp>
        <p:nvSpPr>
          <p:cNvPr id="191" name="Shape 189"/>
          <p:cNvSpPr/>
          <p:nvPr/>
        </p:nvSpPr>
        <p:spPr>
          <a:xfrm>
            <a:off x="4997318" y="4077127"/>
            <a:ext cx="219456" cy="219456"/>
          </a:xfrm>
          <a:prstGeom prst="rect">
            <a:avLst/>
          </a:prstGeom>
          <a:solidFill>
            <a:srgbClr val="E3E2DA"/>
          </a:solidFill>
          <a:ln w="12700">
            <a:solidFill>
              <a:srgbClr val="E3E2DA"/>
            </a:solidFill>
            <a:prstDash val="solid"/>
          </a:ln>
        </p:spPr>
      </p:sp>
      <p:sp>
        <p:nvSpPr>
          <p:cNvPr id="192" name="Shape 190"/>
          <p:cNvSpPr/>
          <p:nvPr/>
        </p:nvSpPr>
        <p:spPr>
          <a:xfrm>
            <a:off x="5247498" y="4077127"/>
            <a:ext cx="219456" cy="219456"/>
          </a:xfrm>
          <a:prstGeom prst="rect">
            <a:avLst/>
          </a:prstGeom>
          <a:solidFill>
            <a:srgbClr val="E3E2DA"/>
          </a:solidFill>
          <a:ln w="12700">
            <a:solidFill>
              <a:srgbClr val="E3E2DA"/>
            </a:solidFill>
            <a:prstDash val="solid"/>
          </a:ln>
        </p:spPr>
      </p:sp>
      <p:sp>
        <p:nvSpPr>
          <p:cNvPr id="193" name="Shape 191"/>
          <p:cNvSpPr/>
          <p:nvPr/>
        </p:nvSpPr>
        <p:spPr>
          <a:xfrm>
            <a:off x="5497678" y="4077127"/>
            <a:ext cx="219456" cy="219456"/>
          </a:xfrm>
          <a:prstGeom prst="rect">
            <a:avLst/>
          </a:prstGeom>
          <a:solidFill>
            <a:srgbClr val="E3E2DA"/>
          </a:solidFill>
          <a:ln w="12700">
            <a:solidFill>
              <a:srgbClr val="E3E2DA"/>
            </a:solidFill>
            <a:prstDash val="solid"/>
          </a:ln>
        </p:spPr>
      </p:sp>
      <p:sp>
        <p:nvSpPr>
          <p:cNvPr id="194" name="Shape 192"/>
          <p:cNvSpPr/>
          <p:nvPr/>
        </p:nvSpPr>
        <p:spPr>
          <a:xfrm>
            <a:off x="5747857" y="4077127"/>
            <a:ext cx="219456" cy="219456"/>
          </a:xfrm>
          <a:prstGeom prst="rect">
            <a:avLst/>
          </a:prstGeom>
          <a:solidFill>
            <a:srgbClr val="E3E2DA"/>
          </a:solidFill>
          <a:ln w="12700">
            <a:solidFill>
              <a:srgbClr val="E3E2DA"/>
            </a:solidFill>
            <a:prstDash val="solid"/>
          </a:ln>
        </p:spPr>
      </p:sp>
      <p:sp>
        <p:nvSpPr>
          <p:cNvPr id="195" name="Shape 193"/>
          <p:cNvSpPr/>
          <p:nvPr/>
        </p:nvSpPr>
        <p:spPr>
          <a:xfrm>
            <a:off x="5998037" y="4077127"/>
            <a:ext cx="219456" cy="219456"/>
          </a:xfrm>
          <a:prstGeom prst="rect">
            <a:avLst/>
          </a:prstGeom>
          <a:solidFill>
            <a:srgbClr val="E3E2DA"/>
          </a:solidFill>
          <a:ln w="12700">
            <a:solidFill>
              <a:srgbClr val="E3E2DA"/>
            </a:solidFill>
            <a:prstDash val="solid"/>
          </a:ln>
        </p:spPr>
      </p:sp>
      <p:sp>
        <p:nvSpPr>
          <p:cNvPr id="196" name="Shape 194"/>
          <p:cNvSpPr/>
          <p:nvPr/>
        </p:nvSpPr>
        <p:spPr>
          <a:xfrm>
            <a:off x="6248217" y="4077127"/>
            <a:ext cx="219456" cy="219456"/>
          </a:xfrm>
          <a:prstGeom prst="rect">
            <a:avLst/>
          </a:prstGeom>
          <a:solidFill>
            <a:srgbClr val="E3E2DA"/>
          </a:solidFill>
          <a:ln w="12700">
            <a:solidFill>
              <a:srgbClr val="E3E2DA"/>
            </a:solidFill>
            <a:prstDash val="solid"/>
          </a:ln>
        </p:spPr>
      </p:sp>
      <p:sp>
        <p:nvSpPr>
          <p:cNvPr id="197" name="Shape 195"/>
          <p:cNvSpPr/>
          <p:nvPr/>
        </p:nvSpPr>
        <p:spPr>
          <a:xfrm>
            <a:off x="6498397" y="4077127"/>
            <a:ext cx="219456" cy="219456"/>
          </a:xfrm>
          <a:prstGeom prst="rect">
            <a:avLst/>
          </a:prstGeom>
          <a:solidFill>
            <a:srgbClr val="E3E2DA"/>
          </a:solidFill>
          <a:ln w="12700">
            <a:solidFill>
              <a:srgbClr val="E3E2DA"/>
            </a:solidFill>
            <a:prstDash val="solid"/>
          </a:ln>
        </p:spPr>
      </p:sp>
      <p:sp>
        <p:nvSpPr>
          <p:cNvPr id="198" name="Shape 196"/>
          <p:cNvSpPr/>
          <p:nvPr/>
        </p:nvSpPr>
        <p:spPr>
          <a:xfrm>
            <a:off x="4246778" y="4327307"/>
            <a:ext cx="219456" cy="219456"/>
          </a:xfrm>
          <a:prstGeom prst="rect">
            <a:avLst/>
          </a:prstGeom>
          <a:solidFill>
            <a:srgbClr val="E3E2DA"/>
          </a:solidFill>
          <a:ln w="12700">
            <a:solidFill>
              <a:srgbClr val="E3E2DA"/>
            </a:solidFill>
            <a:prstDash val="solid"/>
          </a:ln>
        </p:spPr>
      </p:sp>
      <p:sp>
        <p:nvSpPr>
          <p:cNvPr id="199" name="Shape 197"/>
          <p:cNvSpPr/>
          <p:nvPr/>
        </p:nvSpPr>
        <p:spPr>
          <a:xfrm>
            <a:off x="4496958" y="4327307"/>
            <a:ext cx="219456" cy="219456"/>
          </a:xfrm>
          <a:prstGeom prst="rect">
            <a:avLst/>
          </a:prstGeom>
          <a:solidFill>
            <a:srgbClr val="E3E2DA"/>
          </a:solidFill>
          <a:ln w="12700">
            <a:solidFill>
              <a:srgbClr val="E3E2DA"/>
            </a:solidFill>
            <a:prstDash val="solid"/>
          </a:ln>
        </p:spPr>
      </p:sp>
      <p:sp>
        <p:nvSpPr>
          <p:cNvPr id="200" name="Shape 198"/>
          <p:cNvSpPr/>
          <p:nvPr/>
        </p:nvSpPr>
        <p:spPr>
          <a:xfrm>
            <a:off x="4747138" y="4327307"/>
            <a:ext cx="219456" cy="219456"/>
          </a:xfrm>
          <a:prstGeom prst="rect">
            <a:avLst/>
          </a:prstGeom>
          <a:solidFill>
            <a:srgbClr val="E3E2DA"/>
          </a:solidFill>
          <a:ln w="12700">
            <a:solidFill>
              <a:srgbClr val="E3E2DA"/>
            </a:solidFill>
            <a:prstDash val="solid"/>
          </a:ln>
        </p:spPr>
      </p:sp>
      <p:sp>
        <p:nvSpPr>
          <p:cNvPr id="201" name="Shape 199"/>
          <p:cNvSpPr/>
          <p:nvPr/>
        </p:nvSpPr>
        <p:spPr>
          <a:xfrm>
            <a:off x="4997318" y="4327307"/>
            <a:ext cx="219456" cy="219456"/>
          </a:xfrm>
          <a:prstGeom prst="rect">
            <a:avLst/>
          </a:prstGeom>
          <a:solidFill>
            <a:srgbClr val="E3E2DA"/>
          </a:solidFill>
          <a:ln w="12700">
            <a:solidFill>
              <a:srgbClr val="E3E2DA"/>
            </a:solidFill>
            <a:prstDash val="solid"/>
          </a:ln>
        </p:spPr>
      </p:sp>
      <p:sp>
        <p:nvSpPr>
          <p:cNvPr id="202" name="Shape 200"/>
          <p:cNvSpPr/>
          <p:nvPr/>
        </p:nvSpPr>
        <p:spPr>
          <a:xfrm>
            <a:off x="5247498" y="4327307"/>
            <a:ext cx="219456" cy="219456"/>
          </a:xfrm>
          <a:prstGeom prst="rect">
            <a:avLst/>
          </a:prstGeom>
          <a:solidFill>
            <a:srgbClr val="E3E2DA"/>
          </a:solidFill>
          <a:ln w="12700">
            <a:solidFill>
              <a:srgbClr val="E3E2DA"/>
            </a:solidFill>
            <a:prstDash val="solid"/>
          </a:ln>
        </p:spPr>
      </p:sp>
      <p:sp>
        <p:nvSpPr>
          <p:cNvPr id="203" name="Shape 201"/>
          <p:cNvSpPr/>
          <p:nvPr/>
        </p:nvSpPr>
        <p:spPr>
          <a:xfrm>
            <a:off x="5497678" y="4327307"/>
            <a:ext cx="219456" cy="219456"/>
          </a:xfrm>
          <a:prstGeom prst="rect">
            <a:avLst/>
          </a:prstGeom>
          <a:solidFill>
            <a:srgbClr val="E3E2DA"/>
          </a:solidFill>
          <a:ln w="12700">
            <a:solidFill>
              <a:srgbClr val="E3E2DA"/>
            </a:solidFill>
            <a:prstDash val="solid"/>
          </a:ln>
        </p:spPr>
      </p:sp>
      <p:sp>
        <p:nvSpPr>
          <p:cNvPr id="204" name="Shape 202"/>
          <p:cNvSpPr/>
          <p:nvPr/>
        </p:nvSpPr>
        <p:spPr>
          <a:xfrm>
            <a:off x="5747857" y="4327307"/>
            <a:ext cx="219456" cy="219456"/>
          </a:xfrm>
          <a:prstGeom prst="rect">
            <a:avLst/>
          </a:prstGeom>
          <a:solidFill>
            <a:srgbClr val="E3E2DA"/>
          </a:solidFill>
          <a:ln w="12700">
            <a:solidFill>
              <a:srgbClr val="E3E2DA"/>
            </a:solidFill>
            <a:prstDash val="solid"/>
          </a:ln>
        </p:spPr>
      </p:sp>
      <p:sp>
        <p:nvSpPr>
          <p:cNvPr id="205" name="Shape 203"/>
          <p:cNvSpPr/>
          <p:nvPr/>
        </p:nvSpPr>
        <p:spPr>
          <a:xfrm>
            <a:off x="5998037" y="4327307"/>
            <a:ext cx="219456" cy="219456"/>
          </a:xfrm>
          <a:prstGeom prst="rect">
            <a:avLst/>
          </a:prstGeom>
          <a:solidFill>
            <a:srgbClr val="E3E2DA"/>
          </a:solidFill>
          <a:ln w="12700">
            <a:solidFill>
              <a:srgbClr val="E3E2DA"/>
            </a:solidFill>
            <a:prstDash val="solid"/>
          </a:ln>
        </p:spPr>
      </p:sp>
      <p:sp>
        <p:nvSpPr>
          <p:cNvPr id="206" name="Shape 204"/>
          <p:cNvSpPr/>
          <p:nvPr/>
        </p:nvSpPr>
        <p:spPr>
          <a:xfrm>
            <a:off x="6248217" y="4327307"/>
            <a:ext cx="219456" cy="219456"/>
          </a:xfrm>
          <a:prstGeom prst="rect">
            <a:avLst/>
          </a:prstGeom>
          <a:solidFill>
            <a:srgbClr val="E3E2DA"/>
          </a:solidFill>
          <a:ln w="12700">
            <a:solidFill>
              <a:srgbClr val="E3E2DA"/>
            </a:solidFill>
            <a:prstDash val="solid"/>
          </a:ln>
        </p:spPr>
      </p:sp>
      <p:sp>
        <p:nvSpPr>
          <p:cNvPr id="207" name="Shape 205"/>
          <p:cNvSpPr/>
          <p:nvPr/>
        </p:nvSpPr>
        <p:spPr>
          <a:xfrm>
            <a:off x="6498397" y="4327307"/>
            <a:ext cx="219456" cy="219456"/>
          </a:xfrm>
          <a:prstGeom prst="rect">
            <a:avLst/>
          </a:prstGeom>
          <a:solidFill>
            <a:srgbClr val="E3E2DA"/>
          </a:solidFill>
          <a:ln w="12700">
            <a:solidFill>
              <a:srgbClr val="E3E2DA"/>
            </a:solidFill>
            <a:prstDash val="solid"/>
          </a:ln>
        </p:spPr>
      </p:sp>
      <p:sp>
        <p:nvSpPr>
          <p:cNvPr id="208" name="Text 206"/>
          <p:cNvSpPr txBox="1"/>
          <p:nvPr/>
        </p:nvSpPr>
        <p:spPr>
          <a:xfrm>
            <a:off x="4246778"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43.8%</a:t>
            </a:r>
            <a:endParaRPr lang="en-US" sz="2000" dirty="0"/>
          </a:p>
        </p:txBody>
      </p:sp>
      <p:sp>
        <p:nvSpPr>
          <p:cNvPr id="209" name="Text 207"/>
          <p:cNvSpPr txBox="1"/>
          <p:nvPr/>
        </p:nvSpPr>
        <p:spPr>
          <a:xfrm>
            <a:off x="4246778"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 (44 of every 100)</a:t>
            </a:r>
            <a:endParaRPr lang="en-US" sz="1000" dirty="0"/>
          </a:p>
        </p:txBody>
      </p:sp>
      <p:sp>
        <p:nvSpPr>
          <p:cNvPr id="210" name="Shape 208"/>
          <p:cNvSpPr/>
          <p:nvPr/>
        </p:nvSpPr>
        <p:spPr>
          <a:xfrm>
            <a:off x="7944917" y="2075688"/>
            <a:ext cx="219456" cy="219456"/>
          </a:xfrm>
          <a:prstGeom prst="rect">
            <a:avLst/>
          </a:prstGeom>
          <a:solidFill>
            <a:srgbClr val="43A3A3"/>
          </a:solidFill>
          <a:ln w="12700">
            <a:solidFill>
              <a:srgbClr val="43A3A3"/>
            </a:solidFill>
            <a:prstDash val="solid"/>
          </a:ln>
        </p:spPr>
      </p:sp>
      <p:sp>
        <p:nvSpPr>
          <p:cNvPr id="211" name="Shape 209"/>
          <p:cNvSpPr/>
          <p:nvPr/>
        </p:nvSpPr>
        <p:spPr>
          <a:xfrm>
            <a:off x="8195097" y="2075688"/>
            <a:ext cx="219456" cy="219456"/>
          </a:xfrm>
          <a:prstGeom prst="rect">
            <a:avLst/>
          </a:prstGeom>
          <a:solidFill>
            <a:srgbClr val="43A3A3"/>
          </a:solidFill>
          <a:ln w="12700">
            <a:solidFill>
              <a:srgbClr val="43A3A3"/>
            </a:solidFill>
            <a:prstDash val="solid"/>
          </a:ln>
        </p:spPr>
      </p:sp>
      <p:sp>
        <p:nvSpPr>
          <p:cNvPr id="212" name="Shape 210"/>
          <p:cNvSpPr/>
          <p:nvPr/>
        </p:nvSpPr>
        <p:spPr>
          <a:xfrm>
            <a:off x="8445276" y="2075688"/>
            <a:ext cx="219456" cy="219456"/>
          </a:xfrm>
          <a:prstGeom prst="rect">
            <a:avLst/>
          </a:prstGeom>
          <a:solidFill>
            <a:srgbClr val="43A3A3"/>
          </a:solidFill>
          <a:ln w="12700">
            <a:solidFill>
              <a:srgbClr val="43A3A3"/>
            </a:solidFill>
            <a:prstDash val="solid"/>
          </a:ln>
        </p:spPr>
      </p:sp>
      <p:sp>
        <p:nvSpPr>
          <p:cNvPr id="213" name="Shape 211"/>
          <p:cNvSpPr/>
          <p:nvPr/>
        </p:nvSpPr>
        <p:spPr>
          <a:xfrm>
            <a:off x="8695456" y="2075688"/>
            <a:ext cx="219456" cy="219456"/>
          </a:xfrm>
          <a:prstGeom prst="rect">
            <a:avLst/>
          </a:prstGeom>
          <a:solidFill>
            <a:srgbClr val="43A3A3"/>
          </a:solidFill>
          <a:ln w="12700">
            <a:solidFill>
              <a:srgbClr val="43A3A3"/>
            </a:solidFill>
            <a:prstDash val="solid"/>
          </a:ln>
        </p:spPr>
      </p:sp>
      <p:sp>
        <p:nvSpPr>
          <p:cNvPr id="214" name="Shape 212"/>
          <p:cNvSpPr/>
          <p:nvPr/>
        </p:nvSpPr>
        <p:spPr>
          <a:xfrm>
            <a:off x="8945636" y="2075688"/>
            <a:ext cx="219456" cy="219456"/>
          </a:xfrm>
          <a:prstGeom prst="rect">
            <a:avLst/>
          </a:prstGeom>
          <a:solidFill>
            <a:srgbClr val="43A3A3"/>
          </a:solidFill>
          <a:ln w="12700">
            <a:solidFill>
              <a:srgbClr val="43A3A3"/>
            </a:solidFill>
            <a:prstDash val="solid"/>
          </a:ln>
        </p:spPr>
      </p:sp>
      <p:sp>
        <p:nvSpPr>
          <p:cNvPr id="215" name="Shape 213"/>
          <p:cNvSpPr/>
          <p:nvPr/>
        </p:nvSpPr>
        <p:spPr>
          <a:xfrm>
            <a:off x="9195816" y="2075688"/>
            <a:ext cx="219456" cy="219456"/>
          </a:xfrm>
          <a:prstGeom prst="rect">
            <a:avLst/>
          </a:prstGeom>
          <a:solidFill>
            <a:srgbClr val="43A3A3"/>
          </a:solidFill>
          <a:ln w="12700">
            <a:solidFill>
              <a:srgbClr val="43A3A3"/>
            </a:solidFill>
            <a:prstDash val="solid"/>
          </a:ln>
        </p:spPr>
      </p:sp>
      <p:sp>
        <p:nvSpPr>
          <p:cNvPr id="216" name="Shape 214"/>
          <p:cNvSpPr/>
          <p:nvPr/>
        </p:nvSpPr>
        <p:spPr>
          <a:xfrm>
            <a:off x="9445996" y="2075688"/>
            <a:ext cx="219456" cy="219456"/>
          </a:xfrm>
          <a:prstGeom prst="rect">
            <a:avLst/>
          </a:prstGeom>
          <a:solidFill>
            <a:srgbClr val="43A3A3"/>
          </a:solidFill>
          <a:ln w="12700">
            <a:solidFill>
              <a:srgbClr val="43A3A3"/>
            </a:solidFill>
            <a:prstDash val="solid"/>
          </a:ln>
        </p:spPr>
      </p:sp>
      <p:sp>
        <p:nvSpPr>
          <p:cNvPr id="217" name="Shape 215"/>
          <p:cNvSpPr/>
          <p:nvPr/>
        </p:nvSpPr>
        <p:spPr>
          <a:xfrm>
            <a:off x="9696176" y="2075688"/>
            <a:ext cx="219456" cy="219456"/>
          </a:xfrm>
          <a:prstGeom prst="rect">
            <a:avLst/>
          </a:prstGeom>
          <a:solidFill>
            <a:srgbClr val="43A3A3"/>
          </a:solidFill>
          <a:ln w="12700">
            <a:solidFill>
              <a:srgbClr val="43A3A3"/>
            </a:solidFill>
            <a:prstDash val="solid"/>
          </a:ln>
        </p:spPr>
      </p:sp>
      <p:sp>
        <p:nvSpPr>
          <p:cNvPr id="218" name="Shape 216"/>
          <p:cNvSpPr/>
          <p:nvPr/>
        </p:nvSpPr>
        <p:spPr>
          <a:xfrm>
            <a:off x="9946356" y="2075688"/>
            <a:ext cx="219456" cy="219456"/>
          </a:xfrm>
          <a:prstGeom prst="rect">
            <a:avLst/>
          </a:prstGeom>
          <a:solidFill>
            <a:srgbClr val="43A3A3"/>
          </a:solidFill>
          <a:ln w="12700">
            <a:solidFill>
              <a:srgbClr val="43A3A3"/>
            </a:solidFill>
            <a:prstDash val="solid"/>
          </a:ln>
        </p:spPr>
      </p:sp>
      <p:sp>
        <p:nvSpPr>
          <p:cNvPr id="219" name="Shape 217"/>
          <p:cNvSpPr/>
          <p:nvPr/>
        </p:nvSpPr>
        <p:spPr>
          <a:xfrm>
            <a:off x="10196535" y="2075688"/>
            <a:ext cx="219456" cy="219456"/>
          </a:xfrm>
          <a:prstGeom prst="rect">
            <a:avLst/>
          </a:prstGeom>
          <a:solidFill>
            <a:srgbClr val="43A3A3"/>
          </a:solidFill>
          <a:ln w="12700">
            <a:solidFill>
              <a:srgbClr val="43A3A3"/>
            </a:solidFill>
            <a:prstDash val="solid"/>
          </a:ln>
        </p:spPr>
      </p:sp>
      <p:sp>
        <p:nvSpPr>
          <p:cNvPr id="220" name="Shape 218"/>
          <p:cNvSpPr/>
          <p:nvPr/>
        </p:nvSpPr>
        <p:spPr>
          <a:xfrm>
            <a:off x="7944917" y="2325868"/>
            <a:ext cx="219456" cy="219456"/>
          </a:xfrm>
          <a:prstGeom prst="rect">
            <a:avLst/>
          </a:prstGeom>
          <a:solidFill>
            <a:srgbClr val="43A3A3"/>
          </a:solidFill>
          <a:ln w="12700">
            <a:solidFill>
              <a:srgbClr val="43A3A3"/>
            </a:solidFill>
            <a:prstDash val="solid"/>
          </a:ln>
        </p:spPr>
      </p:sp>
      <p:sp>
        <p:nvSpPr>
          <p:cNvPr id="221" name="Shape 219"/>
          <p:cNvSpPr/>
          <p:nvPr/>
        </p:nvSpPr>
        <p:spPr>
          <a:xfrm>
            <a:off x="8195097" y="2325868"/>
            <a:ext cx="219456" cy="219456"/>
          </a:xfrm>
          <a:prstGeom prst="rect">
            <a:avLst/>
          </a:prstGeom>
          <a:solidFill>
            <a:srgbClr val="43A3A3"/>
          </a:solidFill>
          <a:ln w="12700">
            <a:solidFill>
              <a:srgbClr val="43A3A3"/>
            </a:solidFill>
            <a:prstDash val="solid"/>
          </a:ln>
        </p:spPr>
      </p:sp>
      <p:sp>
        <p:nvSpPr>
          <p:cNvPr id="222" name="Shape 220"/>
          <p:cNvSpPr/>
          <p:nvPr/>
        </p:nvSpPr>
        <p:spPr>
          <a:xfrm>
            <a:off x="8445276" y="2325868"/>
            <a:ext cx="219456" cy="219456"/>
          </a:xfrm>
          <a:prstGeom prst="rect">
            <a:avLst/>
          </a:prstGeom>
          <a:solidFill>
            <a:srgbClr val="43A3A3"/>
          </a:solidFill>
          <a:ln w="12700">
            <a:solidFill>
              <a:srgbClr val="43A3A3"/>
            </a:solidFill>
            <a:prstDash val="solid"/>
          </a:ln>
        </p:spPr>
      </p:sp>
      <p:sp>
        <p:nvSpPr>
          <p:cNvPr id="223" name="Shape 221"/>
          <p:cNvSpPr/>
          <p:nvPr/>
        </p:nvSpPr>
        <p:spPr>
          <a:xfrm>
            <a:off x="8695456" y="2325868"/>
            <a:ext cx="219456" cy="219456"/>
          </a:xfrm>
          <a:prstGeom prst="rect">
            <a:avLst/>
          </a:prstGeom>
          <a:solidFill>
            <a:srgbClr val="43A3A3"/>
          </a:solidFill>
          <a:ln w="12700">
            <a:solidFill>
              <a:srgbClr val="43A3A3"/>
            </a:solidFill>
            <a:prstDash val="solid"/>
          </a:ln>
        </p:spPr>
      </p:sp>
      <p:sp>
        <p:nvSpPr>
          <p:cNvPr id="224" name="Shape 222"/>
          <p:cNvSpPr/>
          <p:nvPr/>
        </p:nvSpPr>
        <p:spPr>
          <a:xfrm>
            <a:off x="8945636" y="2325868"/>
            <a:ext cx="219456" cy="219456"/>
          </a:xfrm>
          <a:prstGeom prst="rect">
            <a:avLst/>
          </a:prstGeom>
          <a:solidFill>
            <a:srgbClr val="43A3A3"/>
          </a:solidFill>
          <a:ln w="12700">
            <a:solidFill>
              <a:srgbClr val="43A3A3"/>
            </a:solidFill>
            <a:prstDash val="solid"/>
          </a:ln>
        </p:spPr>
      </p:sp>
      <p:sp>
        <p:nvSpPr>
          <p:cNvPr id="225" name="Shape 223"/>
          <p:cNvSpPr/>
          <p:nvPr/>
        </p:nvSpPr>
        <p:spPr>
          <a:xfrm>
            <a:off x="9195816" y="2325868"/>
            <a:ext cx="219456" cy="219456"/>
          </a:xfrm>
          <a:prstGeom prst="rect">
            <a:avLst/>
          </a:prstGeom>
          <a:solidFill>
            <a:srgbClr val="43A3A3"/>
          </a:solidFill>
          <a:ln w="12700">
            <a:solidFill>
              <a:srgbClr val="43A3A3"/>
            </a:solidFill>
            <a:prstDash val="solid"/>
          </a:ln>
        </p:spPr>
      </p:sp>
      <p:sp>
        <p:nvSpPr>
          <p:cNvPr id="226" name="Shape 224"/>
          <p:cNvSpPr/>
          <p:nvPr/>
        </p:nvSpPr>
        <p:spPr>
          <a:xfrm>
            <a:off x="9445996" y="2325868"/>
            <a:ext cx="219456" cy="219456"/>
          </a:xfrm>
          <a:prstGeom prst="rect">
            <a:avLst/>
          </a:prstGeom>
          <a:solidFill>
            <a:srgbClr val="43A3A3"/>
          </a:solidFill>
          <a:ln w="12700">
            <a:solidFill>
              <a:srgbClr val="43A3A3"/>
            </a:solidFill>
            <a:prstDash val="solid"/>
          </a:ln>
        </p:spPr>
      </p:sp>
      <p:sp>
        <p:nvSpPr>
          <p:cNvPr id="227" name="Shape 225"/>
          <p:cNvSpPr/>
          <p:nvPr/>
        </p:nvSpPr>
        <p:spPr>
          <a:xfrm>
            <a:off x="9696176" y="2325868"/>
            <a:ext cx="219456" cy="219456"/>
          </a:xfrm>
          <a:prstGeom prst="rect">
            <a:avLst/>
          </a:prstGeom>
          <a:solidFill>
            <a:srgbClr val="43A3A3"/>
          </a:solidFill>
          <a:ln w="12700">
            <a:solidFill>
              <a:srgbClr val="43A3A3"/>
            </a:solidFill>
            <a:prstDash val="solid"/>
          </a:ln>
        </p:spPr>
      </p:sp>
      <p:sp>
        <p:nvSpPr>
          <p:cNvPr id="228" name="Shape 226"/>
          <p:cNvSpPr/>
          <p:nvPr/>
        </p:nvSpPr>
        <p:spPr>
          <a:xfrm>
            <a:off x="9946356" y="2325868"/>
            <a:ext cx="219456" cy="219456"/>
          </a:xfrm>
          <a:prstGeom prst="rect">
            <a:avLst/>
          </a:prstGeom>
          <a:solidFill>
            <a:srgbClr val="43A3A3"/>
          </a:solidFill>
          <a:ln w="12700">
            <a:solidFill>
              <a:srgbClr val="43A3A3"/>
            </a:solidFill>
            <a:prstDash val="solid"/>
          </a:ln>
        </p:spPr>
      </p:sp>
      <p:sp>
        <p:nvSpPr>
          <p:cNvPr id="229" name="Shape 227"/>
          <p:cNvSpPr/>
          <p:nvPr/>
        </p:nvSpPr>
        <p:spPr>
          <a:xfrm>
            <a:off x="10196535" y="2325868"/>
            <a:ext cx="219456" cy="219456"/>
          </a:xfrm>
          <a:prstGeom prst="rect">
            <a:avLst/>
          </a:prstGeom>
          <a:solidFill>
            <a:srgbClr val="43A3A3"/>
          </a:solidFill>
          <a:ln w="12700">
            <a:solidFill>
              <a:srgbClr val="43A3A3"/>
            </a:solidFill>
            <a:prstDash val="solid"/>
          </a:ln>
        </p:spPr>
      </p:sp>
      <p:sp>
        <p:nvSpPr>
          <p:cNvPr id="230" name="Shape 228"/>
          <p:cNvSpPr/>
          <p:nvPr/>
        </p:nvSpPr>
        <p:spPr>
          <a:xfrm>
            <a:off x="7944917" y="2576048"/>
            <a:ext cx="219456" cy="219456"/>
          </a:xfrm>
          <a:prstGeom prst="rect">
            <a:avLst/>
          </a:prstGeom>
          <a:solidFill>
            <a:srgbClr val="43A3A3"/>
          </a:solidFill>
          <a:ln w="12700">
            <a:solidFill>
              <a:srgbClr val="43A3A3"/>
            </a:solidFill>
            <a:prstDash val="solid"/>
          </a:ln>
        </p:spPr>
      </p:sp>
      <p:sp>
        <p:nvSpPr>
          <p:cNvPr id="231" name="Shape 229"/>
          <p:cNvSpPr/>
          <p:nvPr/>
        </p:nvSpPr>
        <p:spPr>
          <a:xfrm>
            <a:off x="8195097" y="2576048"/>
            <a:ext cx="219456" cy="219456"/>
          </a:xfrm>
          <a:prstGeom prst="rect">
            <a:avLst/>
          </a:prstGeom>
          <a:solidFill>
            <a:srgbClr val="43A3A3"/>
          </a:solidFill>
          <a:ln w="12700">
            <a:solidFill>
              <a:srgbClr val="43A3A3"/>
            </a:solidFill>
            <a:prstDash val="solid"/>
          </a:ln>
        </p:spPr>
      </p:sp>
      <p:sp>
        <p:nvSpPr>
          <p:cNvPr id="232" name="Shape 230"/>
          <p:cNvSpPr/>
          <p:nvPr/>
        </p:nvSpPr>
        <p:spPr>
          <a:xfrm>
            <a:off x="8445276" y="2576048"/>
            <a:ext cx="219456" cy="219456"/>
          </a:xfrm>
          <a:prstGeom prst="rect">
            <a:avLst/>
          </a:prstGeom>
          <a:solidFill>
            <a:srgbClr val="43A3A3"/>
          </a:solidFill>
          <a:ln w="12700">
            <a:solidFill>
              <a:srgbClr val="43A3A3"/>
            </a:solidFill>
            <a:prstDash val="solid"/>
          </a:ln>
        </p:spPr>
      </p:sp>
      <p:sp>
        <p:nvSpPr>
          <p:cNvPr id="233" name="Shape 231"/>
          <p:cNvSpPr/>
          <p:nvPr/>
        </p:nvSpPr>
        <p:spPr>
          <a:xfrm>
            <a:off x="8695456" y="2576048"/>
            <a:ext cx="219456" cy="219456"/>
          </a:xfrm>
          <a:prstGeom prst="rect">
            <a:avLst/>
          </a:prstGeom>
          <a:solidFill>
            <a:srgbClr val="43A3A3"/>
          </a:solidFill>
          <a:ln w="12700">
            <a:solidFill>
              <a:srgbClr val="43A3A3"/>
            </a:solidFill>
            <a:prstDash val="solid"/>
          </a:ln>
        </p:spPr>
      </p:sp>
      <p:sp>
        <p:nvSpPr>
          <p:cNvPr id="234" name="Shape 232"/>
          <p:cNvSpPr/>
          <p:nvPr/>
        </p:nvSpPr>
        <p:spPr>
          <a:xfrm>
            <a:off x="8945636" y="2576048"/>
            <a:ext cx="219456" cy="219456"/>
          </a:xfrm>
          <a:prstGeom prst="rect">
            <a:avLst/>
          </a:prstGeom>
          <a:solidFill>
            <a:srgbClr val="43A3A3"/>
          </a:solidFill>
          <a:ln w="12700">
            <a:solidFill>
              <a:srgbClr val="43A3A3"/>
            </a:solidFill>
            <a:prstDash val="solid"/>
          </a:ln>
        </p:spPr>
      </p:sp>
      <p:sp>
        <p:nvSpPr>
          <p:cNvPr id="235" name="Shape 233"/>
          <p:cNvSpPr/>
          <p:nvPr/>
        </p:nvSpPr>
        <p:spPr>
          <a:xfrm>
            <a:off x="9195816" y="2576048"/>
            <a:ext cx="219456" cy="219456"/>
          </a:xfrm>
          <a:prstGeom prst="rect">
            <a:avLst/>
          </a:prstGeom>
          <a:solidFill>
            <a:srgbClr val="43A3A3"/>
          </a:solidFill>
          <a:ln w="12700">
            <a:solidFill>
              <a:srgbClr val="43A3A3"/>
            </a:solidFill>
            <a:prstDash val="solid"/>
          </a:ln>
        </p:spPr>
      </p:sp>
      <p:sp>
        <p:nvSpPr>
          <p:cNvPr id="236" name="Shape 234"/>
          <p:cNvSpPr/>
          <p:nvPr/>
        </p:nvSpPr>
        <p:spPr>
          <a:xfrm>
            <a:off x="9445996" y="2576048"/>
            <a:ext cx="219456" cy="219456"/>
          </a:xfrm>
          <a:prstGeom prst="rect">
            <a:avLst/>
          </a:prstGeom>
          <a:solidFill>
            <a:srgbClr val="43A3A3"/>
          </a:solidFill>
          <a:ln w="12700">
            <a:solidFill>
              <a:srgbClr val="43A3A3"/>
            </a:solidFill>
            <a:prstDash val="solid"/>
          </a:ln>
        </p:spPr>
      </p:sp>
      <p:sp>
        <p:nvSpPr>
          <p:cNvPr id="237" name="Shape 235"/>
          <p:cNvSpPr/>
          <p:nvPr/>
        </p:nvSpPr>
        <p:spPr>
          <a:xfrm>
            <a:off x="9696176" y="2576048"/>
            <a:ext cx="219456" cy="219456"/>
          </a:xfrm>
          <a:prstGeom prst="rect">
            <a:avLst/>
          </a:prstGeom>
          <a:solidFill>
            <a:srgbClr val="43A3A3"/>
          </a:solidFill>
          <a:ln w="12700">
            <a:solidFill>
              <a:srgbClr val="43A3A3"/>
            </a:solidFill>
            <a:prstDash val="solid"/>
          </a:ln>
        </p:spPr>
      </p:sp>
      <p:sp>
        <p:nvSpPr>
          <p:cNvPr id="238" name="Shape 236"/>
          <p:cNvSpPr/>
          <p:nvPr/>
        </p:nvSpPr>
        <p:spPr>
          <a:xfrm>
            <a:off x="9946356" y="2576048"/>
            <a:ext cx="219456" cy="219456"/>
          </a:xfrm>
          <a:prstGeom prst="rect">
            <a:avLst/>
          </a:prstGeom>
          <a:solidFill>
            <a:srgbClr val="43A3A3"/>
          </a:solidFill>
          <a:ln w="12700">
            <a:solidFill>
              <a:srgbClr val="43A3A3"/>
            </a:solidFill>
            <a:prstDash val="solid"/>
          </a:ln>
        </p:spPr>
      </p:sp>
      <p:sp>
        <p:nvSpPr>
          <p:cNvPr id="239" name="Shape 237"/>
          <p:cNvSpPr/>
          <p:nvPr/>
        </p:nvSpPr>
        <p:spPr>
          <a:xfrm>
            <a:off x="10196535" y="2576048"/>
            <a:ext cx="219456" cy="219456"/>
          </a:xfrm>
          <a:prstGeom prst="rect">
            <a:avLst/>
          </a:prstGeom>
          <a:solidFill>
            <a:srgbClr val="43A3A3"/>
          </a:solidFill>
          <a:ln w="12700">
            <a:solidFill>
              <a:srgbClr val="43A3A3"/>
            </a:solidFill>
            <a:prstDash val="solid"/>
          </a:ln>
        </p:spPr>
      </p:sp>
      <p:sp>
        <p:nvSpPr>
          <p:cNvPr id="240" name="Shape 238"/>
          <p:cNvSpPr/>
          <p:nvPr/>
        </p:nvSpPr>
        <p:spPr>
          <a:xfrm>
            <a:off x="7944917" y="2826228"/>
            <a:ext cx="219456" cy="219456"/>
          </a:xfrm>
          <a:prstGeom prst="rect">
            <a:avLst/>
          </a:prstGeom>
          <a:solidFill>
            <a:srgbClr val="43A3A3"/>
          </a:solidFill>
          <a:ln w="12700">
            <a:solidFill>
              <a:srgbClr val="43A3A3"/>
            </a:solidFill>
            <a:prstDash val="solid"/>
          </a:ln>
        </p:spPr>
      </p:sp>
      <p:sp>
        <p:nvSpPr>
          <p:cNvPr id="241" name="Shape 239"/>
          <p:cNvSpPr/>
          <p:nvPr/>
        </p:nvSpPr>
        <p:spPr>
          <a:xfrm>
            <a:off x="8195097" y="2826228"/>
            <a:ext cx="219456" cy="219456"/>
          </a:xfrm>
          <a:prstGeom prst="rect">
            <a:avLst/>
          </a:prstGeom>
          <a:solidFill>
            <a:srgbClr val="43A3A3"/>
          </a:solidFill>
          <a:ln w="12700">
            <a:solidFill>
              <a:srgbClr val="43A3A3"/>
            </a:solidFill>
            <a:prstDash val="solid"/>
          </a:ln>
        </p:spPr>
      </p:sp>
      <p:sp>
        <p:nvSpPr>
          <p:cNvPr id="242" name="Shape 240"/>
          <p:cNvSpPr/>
          <p:nvPr/>
        </p:nvSpPr>
        <p:spPr>
          <a:xfrm>
            <a:off x="8445276" y="2826228"/>
            <a:ext cx="219456" cy="219456"/>
          </a:xfrm>
          <a:prstGeom prst="rect">
            <a:avLst/>
          </a:prstGeom>
          <a:solidFill>
            <a:srgbClr val="43A3A3"/>
          </a:solidFill>
          <a:ln w="12700">
            <a:solidFill>
              <a:srgbClr val="43A3A3"/>
            </a:solidFill>
            <a:prstDash val="solid"/>
          </a:ln>
        </p:spPr>
      </p:sp>
      <p:sp>
        <p:nvSpPr>
          <p:cNvPr id="243" name="Shape 241"/>
          <p:cNvSpPr/>
          <p:nvPr/>
        </p:nvSpPr>
        <p:spPr>
          <a:xfrm>
            <a:off x="8695456" y="2826228"/>
            <a:ext cx="219456" cy="219456"/>
          </a:xfrm>
          <a:prstGeom prst="rect">
            <a:avLst/>
          </a:prstGeom>
          <a:solidFill>
            <a:srgbClr val="43A3A3"/>
          </a:solidFill>
          <a:ln w="12700">
            <a:solidFill>
              <a:srgbClr val="43A3A3"/>
            </a:solidFill>
            <a:prstDash val="solid"/>
          </a:ln>
        </p:spPr>
      </p:sp>
      <p:sp>
        <p:nvSpPr>
          <p:cNvPr id="244" name="Shape 242"/>
          <p:cNvSpPr/>
          <p:nvPr/>
        </p:nvSpPr>
        <p:spPr>
          <a:xfrm>
            <a:off x="8945636" y="2826228"/>
            <a:ext cx="219456" cy="219456"/>
          </a:xfrm>
          <a:prstGeom prst="rect">
            <a:avLst/>
          </a:prstGeom>
          <a:solidFill>
            <a:srgbClr val="43A3A3"/>
          </a:solidFill>
          <a:ln w="12700">
            <a:solidFill>
              <a:srgbClr val="43A3A3"/>
            </a:solidFill>
            <a:prstDash val="solid"/>
          </a:ln>
        </p:spPr>
      </p:sp>
      <p:sp>
        <p:nvSpPr>
          <p:cNvPr id="245" name="Shape 243"/>
          <p:cNvSpPr/>
          <p:nvPr/>
        </p:nvSpPr>
        <p:spPr>
          <a:xfrm>
            <a:off x="9195816" y="2826228"/>
            <a:ext cx="219456" cy="219456"/>
          </a:xfrm>
          <a:prstGeom prst="rect">
            <a:avLst/>
          </a:prstGeom>
          <a:solidFill>
            <a:srgbClr val="43A3A3"/>
          </a:solidFill>
          <a:ln w="12700">
            <a:solidFill>
              <a:srgbClr val="43A3A3"/>
            </a:solidFill>
            <a:prstDash val="solid"/>
          </a:ln>
        </p:spPr>
      </p:sp>
      <p:sp>
        <p:nvSpPr>
          <p:cNvPr id="246" name="Shape 244"/>
          <p:cNvSpPr/>
          <p:nvPr/>
        </p:nvSpPr>
        <p:spPr>
          <a:xfrm>
            <a:off x="9445996" y="2826228"/>
            <a:ext cx="219456" cy="219456"/>
          </a:xfrm>
          <a:prstGeom prst="rect">
            <a:avLst/>
          </a:prstGeom>
          <a:solidFill>
            <a:srgbClr val="43A3A3"/>
          </a:solidFill>
          <a:ln w="12700">
            <a:solidFill>
              <a:srgbClr val="43A3A3"/>
            </a:solidFill>
            <a:prstDash val="solid"/>
          </a:ln>
        </p:spPr>
      </p:sp>
      <p:sp>
        <p:nvSpPr>
          <p:cNvPr id="247" name="Shape 245"/>
          <p:cNvSpPr/>
          <p:nvPr/>
        </p:nvSpPr>
        <p:spPr>
          <a:xfrm>
            <a:off x="9696176" y="2826228"/>
            <a:ext cx="219456" cy="219456"/>
          </a:xfrm>
          <a:prstGeom prst="rect">
            <a:avLst/>
          </a:prstGeom>
          <a:solidFill>
            <a:srgbClr val="43A3A3"/>
          </a:solidFill>
          <a:ln w="12700">
            <a:solidFill>
              <a:srgbClr val="43A3A3"/>
            </a:solidFill>
            <a:prstDash val="solid"/>
          </a:ln>
        </p:spPr>
      </p:sp>
      <p:sp>
        <p:nvSpPr>
          <p:cNvPr id="248" name="Shape 246"/>
          <p:cNvSpPr/>
          <p:nvPr/>
        </p:nvSpPr>
        <p:spPr>
          <a:xfrm>
            <a:off x="9946356" y="2826228"/>
            <a:ext cx="219456" cy="219456"/>
          </a:xfrm>
          <a:prstGeom prst="rect">
            <a:avLst/>
          </a:prstGeom>
          <a:solidFill>
            <a:srgbClr val="43A3A3"/>
          </a:solidFill>
          <a:ln w="12700">
            <a:solidFill>
              <a:srgbClr val="43A3A3"/>
            </a:solidFill>
            <a:prstDash val="solid"/>
          </a:ln>
        </p:spPr>
      </p:sp>
      <p:sp>
        <p:nvSpPr>
          <p:cNvPr id="249" name="Shape 247"/>
          <p:cNvSpPr/>
          <p:nvPr/>
        </p:nvSpPr>
        <p:spPr>
          <a:xfrm>
            <a:off x="10196535" y="2826228"/>
            <a:ext cx="219456" cy="219456"/>
          </a:xfrm>
          <a:prstGeom prst="rect">
            <a:avLst/>
          </a:prstGeom>
          <a:solidFill>
            <a:srgbClr val="43A3A3"/>
          </a:solidFill>
          <a:ln w="12700">
            <a:solidFill>
              <a:srgbClr val="43A3A3"/>
            </a:solidFill>
            <a:prstDash val="solid"/>
          </a:ln>
        </p:spPr>
      </p:sp>
      <p:sp>
        <p:nvSpPr>
          <p:cNvPr id="250" name="Shape 248"/>
          <p:cNvSpPr/>
          <p:nvPr/>
        </p:nvSpPr>
        <p:spPr>
          <a:xfrm>
            <a:off x="7944917" y="3076407"/>
            <a:ext cx="219456" cy="219456"/>
          </a:xfrm>
          <a:prstGeom prst="rect">
            <a:avLst/>
          </a:prstGeom>
          <a:solidFill>
            <a:srgbClr val="43A3A3"/>
          </a:solidFill>
          <a:ln w="12700">
            <a:solidFill>
              <a:srgbClr val="43A3A3"/>
            </a:solidFill>
            <a:prstDash val="solid"/>
          </a:ln>
        </p:spPr>
      </p:sp>
      <p:sp>
        <p:nvSpPr>
          <p:cNvPr id="251" name="Shape 249"/>
          <p:cNvSpPr/>
          <p:nvPr/>
        </p:nvSpPr>
        <p:spPr>
          <a:xfrm>
            <a:off x="8195097" y="3076407"/>
            <a:ext cx="219456" cy="219456"/>
          </a:xfrm>
          <a:prstGeom prst="rect">
            <a:avLst/>
          </a:prstGeom>
          <a:solidFill>
            <a:srgbClr val="43A3A3"/>
          </a:solidFill>
          <a:ln w="12700">
            <a:solidFill>
              <a:srgbClr val="43A3A3"/>
            </a:solidFill>
            <a:prstDash val="solid"/>
          </a:ln>
        </p:spPr>
      </p:sp>
      <p:sp>
        <p:nvSpPr>
          <p:cNvPr id="252" name="Shape 250"/>
          <p:cNvSpPr/>
          <p:nvPr/>
        </p:nvSpPr>
        <p:spPr>
          <a:xfrm>
            <a:off x="8445276" y="3076407"/>
            <a:ext cx="219456" cy="219456"/>
          </a:xfrm>
          <a:prstGeom prst="rect">
            <a:avLst/>
          </a:prstGeom>
          <a:solidFill>
            <a:srgbClr val="43A3A3"/>
          </a:solidFill>
          <a:ln w="12700">
            <a:solidFill>
              <a:srgbClr val="43A3A3"/>
            </a:solidFill>
            <a:prstDash val="solid"/>
          </a:ln>
        </p:spPr>
      </p:sp>
      <p:sp>
        <p:nvSpPr>
          <p:cNvPr id="253" name="Shape 251"/>
          <p:cNvSpPr/>
          <p:nvPr/>
        </p:nvSpPr>
        <p:spPr>
          <a:xfrm>
            <a:off x="8695456" y="3076407"/>
            <a:ext cx="219456" cy="219456"/>
          </a:xfrm>
          <a:prstGeom prst="rect">
            <a:avLst/>
          </a:prstGeom>
          <a:solidFill>
            <a:srgbClr val="43A3A3"/>
          </a:solidFill>
          <a:ln w="12700">
            <a:solidFill>
              <a:srgbClr val="43A3A3"/>
            </a:solidFill>
            <a:prstDash val="solid"/>
          </a:ln>
        </p:spPr>
      </p:sp>
      <p:sp>
        <p:nvSpPr>
          <p:cNvPr id="254" name="Shape 252"/>
          <p:cNvSpPr/>
          <p:nvPr/>
        </p:nvSpPr>
        <p:spPr>
          <a:xfrm>
            <a:off x="8945636" y="3076407"/>
            <a:ext cx="219456" cy="219456"/>
          </a:xfrm>
          <a:prstGeom prst="rect">
            <a:avLst/>
          </a:prstGeom>
          <a:solidFill>
            <a:srgbClr val="E3E2DA"/>
          </a:solidFill>
          <a:ln w="12700">
            <a:solidFill>
              <a:srgbClr val="E3E2DA"/>
            </a:solidFill>
            <a:prstDash val="solid"/>
          </a:ln>
        </p:spPr>
      </p:sp>
      <p:sp>
        <p:nvSpPr>
          <p:cNvPr id="255" name="Shape 253"/>
          <p:cNvSpPr/>
          <p:nvPr/>
        </p:nvSpPr>
        <p:spPr>
          <a:xfrm>
            <a:off x="9195816" y="3076407"/>
            <a:ext cx="219456" cy="219456"/>
          </a:xfrm>
          <a:prstGeom prst="rect">
            <a:avLst/>
          </a:prstGeom>
          <a:solidFill>
            <a:srgbClr val="E3E2DA"/>
          </a:solidFill>
          <a:ln w="12700">
            <a:solidFill>
              <a:srgbClr val="E3E2DA"/>
            </a:solidFill>
            <a:prstDash val="solid"/>
          </a:ln>
        </p:spPr>
      </p:sp>
      <p:sp>
        <p:nvSpPr>
          <p:cNvPr id="256" name="Shape 254"/>
          <p:cNvSpPr/>
          <p:nvPr/>
        </p:nvSpPr>
        <p:spPr>
          <a:xfrm>
            <a:off x="9445996" y="3076407"/>
            <a:ext cx="219456" cy="219456"/>
          </a:xfrm>
          <a:prstGeom prst="rect">
            <a:avLst/>
          </a:prstGeom>
          <a:solidFill>
            <a:srgbClr val="E3E2DA"/>
          </a:solidFill>
          <a:ln w="12700">
            <a:solidFill>
              <a:srgbClr val="E3E2DA"/>
            </a:solidFill>
            <a:prstDash val="solid"/>
          </a:ln>
        </p:spPr>
      </p:sp>
      <p:sp>
        <p:nvSpPr>
          <p:cNvPr id="257" name="Shape 255"/>
          <p:cNvSpPr/>
          <p:nvPr/>
        </p:nvSpPr>
        <p:spPr>
          <a:xfrm>
            <a:off x="9696176" y="3076407"/>
            <a:ext cx="219456" cy="219456"/>
          </a:xfrm>
          <a:prstGeom prst="rect">
            <a:avLst/>
          </a:prstGeom>
          <a:solidFill>
            <a:srgbClr val="E3E2DA"/>
          </a:solidFill>
          <a:ln w="12700">
            <a:solidFill>
              <a:srgbClr val="E3E2DA"/>
            </a:solidFill>
            <a:prstDash val="solid"/>
          </a:ln>
        </p:spPr>
      </p:sp>
      <p:sp>
        <p:nvSpPr>
          <p:cNvPr id="258" name="Shape 256"/>
          <p:cNvSpPr/>
          <p:nvPr/>
        </p:nvSpPr>
        <p:spPr>
          <a:xfrm>
            <a:off x="9946356" y="3076407"/>
            <a:ext cx="219456" cy="219456"/>
          </a:xfrm>
          <a:prstGeom prst="rect">
            <a:avLst/>
          </a:prstGeom>
          <a:solidFill>
            <a:srgbClr val="E3E2DA"/>
          </a:solidFill>
          <a:ln w="12700">
            <a:solidFill>
              <a:srgbClr val="E3E2DA"/>
            </a:solidFill>
            <a:prstDash val="solid"/>
          </a:ln>
        </p:spPr>
      </p:sp>
      <p:sp>
        <p:nvSpPr>
          <p:cNvPr id="259" name="Shape 257"/>
          <p:cNvSpPr/>
          <p:nvPr/>
        </p:nvSpPr>
        <p:spPr>
          <a:xfrm>
            <a:off x="10196535" y="3076407"/>
            <a:ext cx="219456" cy="219456"/>
          </a:xfrm>
          <a:prstGeom prst="rect">
            <a:avLst/>
          </a:prstGeom>
          <a:solidFill>
            <a:srgbClr val="E3E2DA"/>
          </a:solidFill>
          <a:ln w="12700">
            <a:solidFill>
              <a:srgbClr val="E3E2DA"/>
            </a:solidFill>
            <a:prstDash val="solid"/>
          </a:ln>
        </p:spPr>
      </p:sp>
      <p:sp>
        <p:nvSpPr>
          <p:cNvPr id="260" name="Shape 258"/>
          <p:cNvSpPr/>
          <p:nvPr/>
        </p:nvSpPr>
        <p:spPr>
          <a:xfrm>
            <a:off x="7944917" y="3326587"/>
            <a:ext cx="219456" cy="219456"/>
          </a:xfrm>
          <a:prstGeom prst="rect">
            <a:avLst/>
          </a:prstGeom>
          <a:solidFill>
            <a:srgbClr val="E3E2DA"/>
          </a:solidFill>
          <a:ln w="12700">
            <a:solidFill>
              <a:srgbClr val="E3E2DA"/>
            </a:solidFill>
            <a:prstDash val="solid"/>
          </a:ln>
        </p:spPr>
      </p:sp>
      <p:sp>
        <p:nvSpPr>
          <p:cNvPr id="261" name="Shape 259"/>
          <p:cNvSpPr/>
          <p:nvPr/>
        </p:nvSpPr>
        <p:spPr>
          <a:xfrm>
            <a:off x="8195097" y="3326587"/>
            <a:ext cx="219456" cy="219456"/>
          </a:xfrm>
          <a:prstGeom prst="rect">
            <a:avLst/>
          </a:prstGeom>
          <a:solidFill>
            <a:srgbClr val="E3E2DA"/>
          </a:solidFill>
          <a:ln w="12700">
            <a:solidFill>
              <a:srgbClr val="E3E2DA"/>
            </a:solidFill>
            <a:prstDash val="solid"/>
          </a:ln>
        </p:spPr>
      </p:sp>
      <p:sp>
        <p:nvSpPr>
          <p:cNvPr id="262" name="Shape 260"/>
          <p:cNvSpPr/>
          <p:nvPr/>
        </p:nvSpPr>
        <p:spPr>
          <a:xfrm>
            <a:off x="8445276" y="3326587"/>
            <a:ext cx="219456" cy="219456"/>
          </a:xfrm>
          <a:prstGeom prst="rect">
            <a:avLst/>
          </a:prstGeom>
          <a:solidFill>
            <a:srgbClr val="E3E2DA"/>
          </a:solidFill>
          <a:ln w="12700">
            <a:solidFill>
              <a:srgbClr val="E3E2DA"/>
            </a:solidFill>
            <a:prstDash val="solid"/>
          </a:ln>
        </p:spPr>
      </p:sp>
      <p:sp>
        <p:nvSpPr>
          <p:cNvPr id="263" name="Shape 261"/>
          <p:cNvSpPr/>
          <p:nvPr/>
        </p:nvSpPr>
        <p:spPr>
          <a:xfrm>
            <a:off x="8695456" y="3326587"/>
            <a:ext cx="219456" cy="219456"/>
          </a:xfrm>
          <a:prstGeom prst="rect">
            <a:avLst/>
          </a:prstGeom>
          <a:solidFill>
            <a:srgbClr val="E3E2DA"/>
          </a:solidFill>
          <a:ln w="12700">
            <a:solidFill>
              <a:srgbClr val="E3E2DA"/>
            </a:solidFill>
            <a:prstDash val="solid"/>
          </a:ln>
        </p:spPr>
      </p:sp>
      <p:sp>
        <p:nvSpPr>
          <p:cNvPr id="264" name="Shape 262"/>
          <p:cNvSpPr/>
          <p:nvPr/>
        </p:nvSpPr>
        <p:spPr>
          <a:xfrm>
            <a:off x="8945636" y="3326587"/>
            <a:ext cx="219456" cy="219456"/>
          </a:xfrm>
          <a:prstGeom prst="rect">
            <a:avLst/>
          </a:prstGeom>
          <a:solidFill>
            <a:srgbClr val="E3E2DA"/>
          </a:solidFill>
          <a:ln w="12700">
            <a:solidFill>
              <a:srgbClr val="E3E2DA"/>
            </a:solidFill>
            <a:prstDash val="solid"/>
          </a:ln>
        </p:spPr>
      </p:sp>
      <p:sp>
        <p:nvSpPr>
          <p:cNvPr id="265" name="Shape 263"/>
          <p:cNvSpPr/>
          <p:nvPr/>
        </p:nvSpPr>
        <p:spPr>
          <a:xfrm>
            <a:off x="9195816" y="3326587"/>
            <a:ext cx="219456" cy="219456"/>
          </a:xfrm>
          <a:prstGeom prst="rect">
            <a:avLst/>
          </a:prstGeom>
          <a:solidFill>
            <a:srgbClr val="E3E2DA"/>
          </a:solidFill>
          <a:ln w="12700">
            <a:solidFill>
              <a:srgbClr val="E3E2DA"/>
            </a:solidFill>
            <a:prstDash val="solid"/>
          </a:ln>
        </p:spPr>
      </p:sp>
      <p:sp>
        <p:nvSpPr>
          <p:cNvPr id="266" name="Shape 264"/>
          <p:cNvSpPr/>
          <p:nvPr/>
        </p:nvSpPr>
        <p:spPr>
          <a:xfrm>
            <a:off x="9445996" y="3326587"/>
            <a:ext cx="219456" cy="219456"/>
          </a:xfrm>
          <a:prstGeom prst="rect">
            <a:avLst/>
          </a:prstGeom>
          <a:solidFill>
            <a:srgbClr val="E3E2DA"/>
          </a:solidFill>
          <a:ln w="12700">
            <a:solidFill>
              <a:srgbClr val="E3E2DA"/>
            </a:solidFill>
            <a:prstDash val="solid"/>
          </a:ln>
        </p:spPr>
      </p:sp>
      <p:sp>
        <p:nvSpPr>
          <p:cNvPr id="267" name="Shape 265"/>
          <p:cNvSpPr/>
          <p:nvPr/>
        </p:nvSpPr>
        <p:spPr>
          <a:xfrm>
            <a:off x="9696176" y="3326587"/>
            <a:ext cx="219456" cy="219456"/>
          </a:xfrm>
          <a:prstGeom prst="rect">
            <a:avLst/>
          </a:prstGeom>
          <a:solidFill>
            <a:srgbClr val="E3E2DA"/>
          </a:solidFill>
          <a:ln w="12700">
            <a:solidFill>
              <a:srgbClr val="E3E2DA"/>
            </a:solidFill>
            <a:prstDash val="solid"/>
          </a:ln>
        </p:spPr>
      </p:sp>
      <p:sp>
        <p:nvSpPr>
          <p:cNvPr id="268" name="Shape 266"/>
          <p:cNvSpPr/>
          <p:nvPr/>
        </p:nvSpPr>
        <p:spPr>
          <a:xfrm>
            <a:off x="9946356" y="3326587"/>
            <a:ext cx="219456" cy="219456"/>
          </a:xfrm>
          <a:prstGeom prst="rect">
            <a:avLst/>
          </a:prstGeom>
          <a:solidFill>
            <a:srgbClr val="E3E2DA"/>
          </a:solidFill>
          <a:ln w="12700">
            <a:solidFill>
              <a:srgbClr val="E3E2DA"/>
            </a:solidFill>
            <a:prstDash val="solid"/>
          </a:ln>
        </p:spPr>
      </p:sp>
      <p:sp>
        <p:nvSpPr>
          <p:cNvPr id="269" name="Shape 267"/>
          <p:cNvSpPr/>
          <p:nvPr/>
        </p:nvSpPr>
        <p:spPr>
          <a:xfrm>
            <a:off x="10196535" y="3326587"/>
            <a:ext cx="219456" cy="219456"/>
          </a:xfrm>
          <a:prstGeom prst="rect">
            <a:avLst/>
          </a:prstGeom>
          <a:solidFill>
            <a:srgbClr val="E3E2DA"/>
          </a:solidFill>
          <a:ln w="12700">
            <a:solidFill>
              <a:srgbClr val="E3E2DA"/>
            </a:solidFill>
            <a:prstDash val="solid"/>
          </a:ln>
        </p:spPr>
      </p:sp>
      <p:sp>
        <p:nvSpPr>
          <p:cNvPr id="270" name="Shape 268"/>
          <p:cNvSpPr/>
          <p:nvPr/>
        </p:nvSpPr>
        <p:spPr>
          <a:xfrm>
            <a:off x="7944917" y="3576767"/>
            <a:ext cx="219456" cy="219456"/>
          </a:xfrm>
          <a:prstGeom prst="rect">
            <a:avLst/>
          </a:prstGeom>
          <a:solidFill>
            <a:srgbClr val="E3E2DA"/>
          </a:solidFill>
          <a:ln w="12700">
            <a:solidFill>
              <a:srgbClr val="E3E2DA"/>
            </a:solidFill>
            <a:prstDash val="solid"/>
          </a:ln>
        </p:spPr>
      </p:sp>
      <p:sp>
        <p:nvSpPr>
          <p:cNvPr id="271" name="Shape 269"/>
          <p:cNvSpPr/>
          <p:nvPr/>
        </p:nvSpPr>
        <p:spPr>
          <a:xfrm>
            <a:off x="8195097" y="3576767"/>
            <a:ext cx="219456" cy="219456"/>
          </a:xfrm>
          <a:prstGeom prst="rect">
            <a:avLst/>
          </a:prstGeom>
          <a:solidFill>
            <a:srgbClr val="E3E2DA"/>
          </a:solidFill>
          <a:ln w="12700">
            <a:solidFill>
              <a:srgbClr val="E3E2DA"/>
            </a:solidFill>
            <a:prstDash val="solid"/>
          </a:ln>
        </p:spPr>
      </p:sp>
      <p:sp>
        <p:nvSpPr>
          <p:cNvPr id="272" name="Shape 270"/>
          <p:cNvSpPr/>
          <p:nvPr/>
        </p:nvSpPr>
        <p:spPr>
          <a:xfrm>
            <a:off x="8445276" y="3576767"/>
            <a:ext cx="219456" cy="219456"/>
          </a:xfrm>
          <a:prstGeom prst="rect">
            <a:avLst/>
          </a:prstGeom>
          <a:solidFill>
            <a:srgbClr val="E3E2DA"/>
          </a:solidFill>
          <a:ln w="12700">
            <a:solidFill>
              <a:srgbClr val="E3E2DA"/>
            </a:solidFill>
            <a:prstDash val="solid"/>
          </a:ln>
        </p:spPr>
      </p:sp>
      <p:sp>
        <p:nvSpPr>
          <p:cNvPr id="273" name="Shape 271"/>
          <p:cNvSpPr/>
          <p:nvPr/>
        </p:nvSpPr>
        <p:spPr>
          <a:xfrm>
            <a:off x="8695456" y="3576767"/>
            <a:ext cx="219456" cy="219456"/>
          </a:xfrm>
          <a:prstGeom prst="rect">
            <a:avLst/>
          </a:prstGeom>
          <a:solidFill>
            <a:srgbClr val="E3E2DA"/>
          </a:solidFill>
          <a:ln w="12700">
            <a:solidFill>
              <a:srgbClr val="E3E2DA"/>
            </a:solidFill>
            <a:prstDash val="solid"/>
          </a:ln>
        </p:spPr>
      </p:sp>
      <p:sp>
        <p:nvSpPr>
          <p:cNvPr id="274" name="Shape 272"/>
          <p:cNvSpPr/>
          <p:nvPr/>
        </p:nvSpPr>
        <p:spPr>
          <a:xfrm>
            <a:off x="8945636" y="3576767"/>
            <a:ext cx="219456" cy="219456"/>
          </a:xfrm>
          <a:prstGeom prst="rect">
            <a:avLst/>
          </a:prstGeom>
          <a:solidFill>
            <a:srgbClr val="E3E2DA"/>
          </a:solidFill>
          <a:ln w="12700">
            <a:solidFill>
              <a:srgbClr val="E3E2DA"/>
            </a:solidFill>
            <a:prstDash val="solid"/>
          </a:ln>
        </p:spPr>
      </p:sp>
      <p:sp>
        <p:nvSpPr>
          <p:cNvPr id="275" name="Shape 273"/>
          <p:cNvSpPr/>
          <p:nvPr/>
        </p:nvSpPr>
        <p:spPr>
          <a:xfrm>
            <a:off x="9195816" y="3576767"/>
            <a:ext cx="219456" cy="219456"/>
          </a:xfrm>
          <a:prstGeom prst="rect">
            <a:avLst/>
          </a:prstGeom>
          <a:solidFill>
            <a:srgbClr val="E3E2DA"/>
          </a:solidFill>
          <a:ln w="12700">
            <a:solidFill>
              <a:srgbClr val="E3E2DA"/>
            </a:solidFill>
            <a:prstDash val="solid"/>
          </a:ln>
        </p:spPr>
      </p:sp>
      <p:sp>
        <p:nvSpPr>
          <p:cNvPr id="276" name="Shape 274"/>
          <p:cNvSpPr/>
          <p:nvPr/>
        </p:nvSpPr>
        <p:spPr>
          <a:xfrm>
            <a:off x="9445996" y="3576767"/>
            <a:ext cx="219456" cy="219456"/>
          </a:xfrm>
          <a:prstGeom prst="rect">
            <a:avLst/>
          </a:prstGeom>
          <a:solidFill>
            <a:srgbClr val="E3E2DA"/>
          </a:solidFill>
          <a:ln w="12700">
            <a:solidFill>
              <a:srgbClr val="E3E2DA"/>
            </a:solidFill>
            <a:prstDash val="solid"/>
          </a:ln>
        </p:spPr>
      </p:sp>
      <p:sp>
        <p:nvSpPr>
          <p:cNvPr id="277" name="Shape 275"/>
          <p:cNvSpPr/>
          <p:nvPr/>
        </p:nvSpPr>
        <p:spPr>
          <a:xfrm>
            <a:off x="9696176" y="3576767"/>
            <a:ext cx="219456" cy="219456"/>
          </a:xfrm>
          <a:prstGeom prst="rect">
            <a:avLst/>
          </a:prstGeom>
          <a:solidFill>
            <a:srgbClr val="E3E2DA"/>
          </a:solidFill>
          <a:ln w="12700">
            <a:solidFill>
              <a:srgbClr val="E3E2DA"/>
            </a:solidFill>
            <a:prstDash val="solid"/>
          </a:ln>
        </p:spPr>
      </p:sp>
      <p:sp>
        <p:nvSpPr>
          <p:cNvPr id="278" name="Shape 276"/>
          <p:cNvSpPr/>
          <p:nvPr/>
        </p:nvSpPr>
        <p:spPr>
          <a:xfrm>
            <a:off x="9946356" y="3576767"/>
            <a:ext cx="219456" cy="219456"/>
          </a:xfrm>
          <a:prstGeom prst="rect">
            <a:avLst/>
          </a:prstGeom>
          <a:solidFill>
            <a:srgbClr val="E3E2DA"/>
          </a:solidFill>
          <a:ln w="12700">
            <a:solidFill>
              <a:srgbClr val="E3E2DA"/>
            </a:solidFill>
            <a:prstDash val="solid"/>
          </a:ln>
        </p:spPr>
      </p:sp>
      <p:sp>
        <p:nvSpPr>
          <p:cNvPr id="279" name="Shape 277"/>
          <p:cNvSpPr/>
          <p:nvPr/>
        </p:nvSpPr>
        <p:spPr>
          <a:xfrm>
            <a:off x="10196535" y="3576767"/>
            <a:ext cx="219456" cy="219456"/>
          </a:xfrm>
          <a:prstGeom prst="rect">
            <a:avLst/>
          </a:prstGeom>
          <a:solidFill>
            <a:srgbClr val="E3E2DA"/>
          </a:solidFill>
          <a:ln w="12700">
            <a:solidFill>
              <a:srgbClr val="E3E2DA"/>
            </a:solidFill>
            <a:prstDash val="solid"/>
          </a:ln>
        </p:spPr>
      </p:sp>
      <p:sp>
        <p:nvSpPr>
          <p:cNvPr id="280" name="Shape 278"/>
          <p:cNvSpPr/>
          <p:nvPr/>
        </p:nvSpPr>
        <p:spPr>
          <a:xfrm>
            <a:off x="7944917" y="3826947"/>
            <a:ext cx="219456" cy="219456"/>
          </a:xfrm>
          <a:prstGeom prst="rect">
            <a:avLst/>
          </a:prstGeom>
          <a:solidFill>
            <a:srgbClr val="E3E2DA"/>
          </a:solidFill>
          <a:ln w="12700">
            <a:solidFill>
              <a:srgbClr val="E3E2DA"/>
            </a:solidFill>
            <a:prstDash val="solid"/>
          </a:ln>
        </p:spPr>
      </p:sp>
      <p:sp>
        <p:nvSpPr>
          <p:cNvPr id="281" name="Shape 279"/>
          <p:cNvSpPr/>
          <p:nvPr/>
        </p:nvSpPr>
        <p:spPr>
          <a:xfrm>
            <a:off x="8195097" y="3826947"/>
            <a:ext cx="219456" cy="219456"/>
          </a:xfrm>
          <a:prstGeom prst="rect">
            <a:avLst/>
          </a:prstGeom>
          <a:solidFill>
            <a:srgbClr val="E3E2DA"/>
          </a:solidFill>
          <a:ln w="12700">
            <a:solidFill>
              <a:srgbClr val="E3E2DA"/>
            </a:solidFill>
            <a:prstDash val="solid"/>
          </a:ln>
        </p:spPr>
      </p:sp>
      <p:sp>
        <p:nvSpPr>
          <p:cNvPr id="282" name="Shape 280"/>
          <p:cNvSpPr/>
          <p:nvPr/>
        </p:nvSpPr>
        <p:spPr>
          <a:xfrm>
            <a:off x="8445276" y="3826947"/>
            <a:ext cx="219456" cy="219456"/>
          </a:xfrm>
          <a:prstGeom prst="rect">
            <a:avLst/>
          </a:prstGeom>
          <a:solidFill>
            <a:srgbClr val="E3E2DA"/>
          </a:solidFill>
          <a:ln w="12700">
            <a:solidFill>
              <a:srgbClr val="E3E2DA"/>
            </a:solidFill>
            <a:prstDash val="solid"/>
          </a:ln>
        </p:spPr>
      </p:sp>
      <p:sp>
        <p:nvSpPr>
          <p:cNvPr id="283" name="Shape 281"/>
          <p:cNvSpPr/>
          <p:nvPr/>
        </p:nvSpPr>
        <p:spPr>
          <a:xfrm>
            <a:off x="8695456" y="3826947"/>
            <a:ext cx="219456" cy="219456"/>
          </a:xfrm>
          <a:prstGeom prst="rect">
            <a:avLst/>
          </a:prstGeom>
          <a:solidFill>
            <a:srgbClr val="E3E2DA"/>
          </a:solidFill>
          <a:ln w="12700">
            <a:solidFill>
              <a:srgbClr val="E3E2DA"/>
            </a:solidFill>
            <a:prstDash val="solid"/>
          </a:ln>
        </p:spPr>
      </p:sp>
      <p:sp>
        <p:nvSpPr>
          <p:cNvPr id="284" name="Shape 282"/>
          <p:cNvSpPr/>
          <p:nvPr/>
        </p:nvSpPr>
        <p:spPr>
          <a:xfrm>
            <a:off x="8945636" y="3826947"/>
            <a:ext cx="219456" cy="219456"/>
          </a:xfrm>
          <a:prstGeom prst="rect">
            <a:avLst/>
          </a:prstGeom>
          <a:solidFill>
            <a:srgbClr val="E3E2DA"/>
          </a:solidFill>
          <a:ln w="12700">
            <a:solidFill>
              <a:srgbClr val="E3E2DA"/>
            </a:solidFill>
            <a:prstDash val="solid"/>
          </a:ln>
        </p:spPr>
      </p:sp>
      <p:sp>
        <p:nvSpPr>
          <p:cNvPr id="285" name="Shape 283"/>
          <p:cNvSpPr/>
          <p:nvPr/>
        </p:nvSpPr>
        <p:spPr>
          <a:xfrm>
            <a:off x="9195816" y="3826947"/>
            <a:ext cx="219456" cy="219456"/>
          </a:xfrm>
          <a:prstGeom prst="rect">
            <a:avLst/>
          </a:prstGeom>
          <a:solidFill>
            <a:srgbClr val="E3E2DA"/>
          </a:solidFill>
          <a:ln w="12700">
            <a:solidFill>
              <a:srgbClr val="E3E2DA"/>
            </a:solidFill>
            <a:prstDash val="solid"/>
          </a:ln>
        </p:spPr>
      </p:sp>
      <p:sp>
        <p:nvSpPr>
          <p:cNvPr id="286" name="Shape 284"/>
          <p:cNvSpPr/>
          <p:nvPr/>
        </p:nvSpPr>
        <p:spPr>
          <a:xfrm>
            <a:off x="9445996" y="3826947"/>
            <a:ext cx="219456" cy="219456"/>
          </a:xfrm>
          <a:prstGeom prst="rect">
            <a:avLst/>
          </a:prstGeom>
          <a:solidFill>
            <a:srgbClr val="E3E2DA"/>
          </a:solidFill>
          <a:ln w="12700">
            <a:solidFill>
              <a:srgbClr val="E3E2DA"/>
            </a:solidFill>
            <a:prstDash val="solid"/>
          </a:ln>
        </p:spPr>
      </p:sp>
      <p:sp>
        <p:nvSpPr>
          <p:cNvPr id="287" name="Shape 285"/>
          <p:cNvSpPr/>
          <p:nvPr/>
        </p:nvSpPr>
        <p:spPr>
          <a:xfrm>
            <a:off x="9696176" y="3826947"/>
            <a:ext cx="219456" cy="219456"/>
          </a:xfrm>
          <a:prstGeom prst="rect">
            <a:avLst/>
          </a:prstGeom>
          <a:solidFill>
            <a:srgbClr val="E3E2DA"/>
          </a:solidFill>
          <a:ln w="12700">
            <a:solidFill>
              <a:srgbClr val="E3E2DA"/>
            </a:solidFill>
            <a:prstDash val="solid"/>
          </a:ln>
        </p:spPr>
      </p:sp>
      <p:sp>
        <p:nvSpPr>
          <p:cNvPr id="288" name="Shape 286"/>
          <p:cNvSpPr/>
          <p:nvPr/>
        </p:nvSpPr>
        <p:spPr>
          <a:xfrm>
            <a:off x="9946356" y="3826947"/>
            <a:ext cx="219456" cy="219456"/>
          </a:xfrm>
          <a:prstGeom prst="rect">
            <a:avLst/>
          </a:prstGeom>
          <a:solidFill>
            <a:srgbClr val="E3E2DA"/>
          </a:solidFill>
          <a:ln w="12700">
            <a:solidFill>
              <a:srgbClr val="E3E2DA"/>
            </a:solidFill>
            <a:prstDash val="solid"/>
          </a:ln>
        </p:spPr>
      </p:sp>
      <p:sp>
        <p:nvSpPr>
          <p:cNvPr id="289" name="Shape 287"/>
          <p:cNvSpPr/>
          <p:nvPr/>
        </p:nvSpPr>
        <p:spPr>
          <a:xfrm>
            <a:off x="10196535" y="3826947"/>
            <a:ext cx="219456" cy="219456"/>
          </a:xfrm>
          <a:prstGeom prst="rect">
            <a:avLst/>
          </a:prstGeom>
          <a:solidFill>
            <a:srgbClr val="E3E2DA"/>
          </a:solidFill>
          <a:ln w="12700">
            <a:solidFill>
              <a:srgbClr val="E3E2DA"/>
            </a:solidFill>
            <a:prstDash val="solid"/>
          </a:ln>
        </p:spPr>
      </p:sp>
      <p:sp>
        <p:nvSpPr>
          <p:cNvPr id="290" name="Shape 288"/>
          <p:cNvSpPr/>
          <p:nvPr/>
        </p:nvSpPr>
        <p:spPr>
          <a:xfrm>
            <a:off x="7944917" y="4077127"/>
            <a:ext cx="219456" cy="219456"/>
          </a:xfrm>
          <a:prstGeom prst="rect">
            <a:avLst/>
          </a:prstGeom>
          <a:solidFill>
            <a:srgbClr val="E3E2DA"/>
          </a:solidFill>
          <a:ln w="12700">
            <a:solidFill>
              <a:srgbClr val="E3E2DA"/>
            </a:solidFill>
            <a:prstDash val="solid"/>
          </a:ln>
        </p:spPr>
      </p:sp>
      <p:sp>
        <p:nvSpPr>
          <p:cNvPr id="291" name="Shape 289"/>
          <p:cNvSpPr/>
          <p:nvPr/>
        </p:nvSpPr>
        <p:spPr>
          <a:xfrm>
            <a:off x="8195097" y="4077127"/>
            <a:ext cx="219456" cy="219456"/>
          </a:xfrm>
          <a:prstGeom prst="rect">
            <a:avLst/>
          </a:prstGeom>
          <a:solidFill>
            <a:srgbClr val="E3E2DA"/>
          </a:solidFill>
          <a:ln w="12700">
            <a:solidFill>
              <a:srgbClr val="E3E2DA"/>
            </a:solidFill>
            <a:prstDash val="solid"/>
          </a:ln>
        </p:spPr>
      </p:sp>
      <p:sp>
        <p:nvSpPr>
          <p:cNvPr id="292" name="Shape 290"/>
          <p:cNvSpPr/>
          <p:nvPr/>
        </p:nvSpPr>
        <p:spPr>
          <a:xfrm>
            <a:off x="8445276" y="4077127"/>
            <a:ext cx="219456" cy="219456"/>
          </a:xfrm>
          <a:prstGeom prst="rect">
            <a:avLst/>
          </a:prstGeom>
          <a:solidFill>
            <a:srgbClr val="E3E2DA"/>
          </a:solidFill>
          <a:ln w="12700">
            <a:solidFill>
              <a:srgbClr val="E3E2DA"/>
            </a:solidFill>
            <a:prstDash val="solid"/>
          </a:ln>
        </p:spPr>
      </p:sp>
      <p:sp>
        <p:nvSpPr>
          <p:cNvPr id="293" name="Shape 291"/>
          <p:cNvSpPr/>
          <p:nvPr/>
        </p:nvSpPr>
        <p:spPr>
          <a:xfrm>
            <a:off x="8695456" y="4077127"/>
            <a:ext cx="219456" cy="219456"/>
          </a:xfrm>
          <a:prstGeom prst="rect">
            <a:avLst/>
          </a:prstGeom>
          <a:solidFill>
            <a:srgbClr val="E3E2DA"/>
          </a:solidFill>
          <a:ln w="12700">
            <a:solidFill>
              <a:srgbClr val="E3E2DA"/>
            </a:solidFill>
            <a:prstDash val="solid"/>
          </a:ln>
        </p:spPr>
      </p:sp>
      <p:sp>
        <p:nvSpPr>
          <p:cNvPr id="294" name="Shape 292"/>
          <p:cNvSpPr/>
          <p:nvPr/>
        </p:nvSpPr>
        <p:spPr>
          <a:xfrm>
            <a:off x="8945636" y="4077127"/>
            <a:ext cx="219456" cy="219456"/>
          </a:xfrm>
          <a:prstGeom prst="rect">
            <a:avLst/>
          </a:prstGeom>
          <a:solidFill>
            <a:srgbClr val="E3E2DA"/>
          </a:solidFill>
          <a:ln w="12700">
            <a:solidFill>
              <a:srgbClr val="E3E2DA"/>
            </a:solidFill>
            <a:prstDash val="solid"/>
          </a:ln>
        </p:spPr>
      </p:sp>
      <p:sp>
        <p:nvSpPr>
          <p:cNvPr id="295" name="Shape 293"/>
          <p:cNvSpPr/>
          <p:nvPr/>
        </p:nvSpPr>
        <p:spPr>
          <a:xfrm>
            <a:off x="9195816" y="4077127"/>
            <a:ext cx="219456" cy="219456"/>
          </a:xfrm>
          <a:prstGeom prst="rect">
            <a:avLst/>
          </a:prstGeom>
          <a:solidFill>
            <a:srgbClr val="E3E2DA"/>
          </a:solidFill>
          <a:ln w="12700">
            <a:solidFill>
              <a:srgbClr val="E3E2DA"/>
            </a:solidFill>
            <a:prstDash val="solid"/>
          </a:ln>
        </p:spPr>
      </p:sp>
      <p:sp>
        <p:nvSpPr>
          <p:cNvPr id="296" name="Shape 294"/>
          <p:cNvSpPr/>
          <p:nvPr/>
        </p:nvSpPr>
        <p:spPr>
          <a:xfrm>
            <a:off x="9445996" y="4077127"/>
            <a:ext cx="219456" cy="219456"/>
          </a:xfrm>
          <a:prstGeom prst="rect">
            <a:avLst/>
          </a:prstGeom>
          <a:solidFill>
            <a:srgbClr val="E3E2DA"/>
          </a:solidFill>
          <a:ln w="12700">
            <a:solidFill>
              <a:srgbClr val="E3E2DA"/>
            </a:solidFill>
            <a:prstDash val="solid"/>
          </a:ln>
        </p:spPr>
      </p:sp>
      <p:sp>
        <p:nvSpPr>
          <p:cNvPr id="297" name="Shape 295"/>
          <p:cNvSpPr/>
          <p:nvPr/>
        </p:nvSpPr>
        <p:spPr>
          <a:xfrm>
            <a:off x="9696176" y="4077127"/>
            <a:ext cx="219456" cy="219456"/>
          </a:xfrm>
          <a:prstGeom prst="rect">
            <a:avLst/>
          </a:prstGeom>
          <a:solidFill>
            <a:srgbClr val="E3E2DA"/>
          </a:solidFill>
          <a:ln w="12700">
            <a:solidFill>
              <a:srgbClr val="E3E2DA"/>
            </a:solidFill>
            <a:prstDash val="solid"/>
          </a:ln>
        </p:spPr>
      </p:sp>
      <p:sp>
        <p:nvSpPr>
          <p:cNvPr id="298" name="Shape 296"/>
          <p:cNvSpPr/>
          <p:nvPr/>
        </p:nvSpPr>
        <p:spPr>
          <a:xfrm>
            <a:off x="9946356" y="4077127"/>
            <a:ext cx="219456" cy="219456"/>
          </a:xfrm>
          <a:prstGeom prst="rect">
            <a:avLst/>
          </a:prstGeom>
          <a:solidFill>
            <a:srgbClr val="E3E2DA"/>
          </a:solidFill>
          <a:ln w="12700">
            <a:solidFill>
              <a:srgbClr val="E3E2DA"/>
            </a:solidFill>
            <a:prstDash val="solid"/>
          </a:ln>
        </p:spPr>
      </p:sp>
      <p:sp>
        <p:nvSpPr>
          <p:cNvPr id="299" name="Shape 297"/>
          <p:cNvSpPr/>
          <p:nvPr/>
        </p:nvSpPr>
        <p:spPr>
          <a:xfrm>
            <a:off x="10196535" y="4077127"/>
            <a:ext cx="219456" cy="219456"/>
          </a:xfrm>
          <a:prstGeom prst="rect">
            <a:avLst/>
          </a:prstGeom>
          <a:solidFill>
            <a:srgbClr val="E3E2DA"/>
          </a:solidFill>
          <a:ln w="12700">
            <a:solidFill>
              <a:srgbClr val="E3E2DA"/>
            </a:solidFill>
            <a:prstDash val="solid"/>
          </a:ln>
        </p:spPr>
      </p:sp>
      <p:sp>
        <p:nvSpPr>
          <p:cNvPr id="300" name="Shape 298"/>
          <p:cNvSpPr/>
          <p:nvPr/>
        </p:nvSpPr>
        <p:spPr>
          <a:xfrm>
            <a:off x="7944917" y="4327307"/>
            <a:ext cx="219456" cy="219456"/>
          </a:xfrm>
          <a:prstGeom prst="rect">
            <a:avLst/>
          </a:prstGeom>
          <a:solidFill>
            <a:srgbClr val="E3E2DA"/>
          </a:solidFill>
          <a:ln w="12700">
            <a:solidFill>
              <a:srgbClr val="E3E2DA"/>
            </a:solidFill>
            <a:prstDash val="solid"/>
          </a:ln>
        </p:spPr>
      </p:sp>
      <p:sp>
        <p:nvSpPr>
          <p:cNvPr id="301" name="Shape 299"/>
          <p:cNvSpPr/>
          <p:nvPr/>
        </p:nvSpPr>
        <p:spPr>
          <a:xfrm>
            <a:off x="8195097" y="4327307"/>
            <a:ext cx="219456" cy="219456"/>
          </a:xfrm>
          <a:prstGeom prst="rect">
            <a:avLst/>
          </a:prstGeom>
          <a:solidFill>
            <a:srgbClr val="E3E2DA"/>
          </a:solidFill>
          <a:ln w="12700">
            <a:solidFill>
              <a:srgbClr val="E3E2DA"/>
            </a:solidFill>
            <a:prstDash val="solid"/>
          </a:ln>
        </p:spPr>
      </p:sp>
      <p:sp>
        <p:nvSpPr>
          <p:cNvPr id="302" name="Shape 300"/>
          <p:cNvSpPr/>
          <p:nvPr/>
        </p:nvSpPr>
        <p:spPr>
          <a:xfrm>
            <a:off x="8445276" y="4327307"/>
            <a:ext cx="219456" cy="219456"/>
          </a:xfrm>
          <a:prstGeom prst="rect">
            <a:avLst/>
          </a:prstGeom>
          <a:solidFill>
            <a:srgbClr val="E3E2DA"/>
          </a:solidFill>
          <a:ln w="12700">
            <a:solidFill>
              <a:srgbClr val="E3E2DA"/>
            </a:solidFill>
            <a:prstDash val="solid"/>
          </a:ln>
        </p:spPr>
      </p:sp>
      <p:sp>
        <p:nvSpPr>
          <p:cNvPr id="303" name="Shape 301"/>
          <p:cNvSpPr/>
          <p:nvPr/>
        </p:nvSpPr>
        <p:spPr>
          <a:xfrm>
            <a:off x="8695456" y="4327307"/>
            <a:ext cx="219456" cy="219456"/>
          </a:xfrm>
          <a:prstGeom prst="rect">
            <a:avLst/>
          </a:prstGeom>
          <a:solidFill>
            <a:srgbClr val="E3E2DA"/>
          </a:solidFill>
          <a:ln w="12700">
            <a:solidFill>
              <a:srgbClr val="E3E2DA"/>
            </a:solidFill>
            <a:prstDash val="solid"/>
          </a:ln>
        </p:spPr>
      </p:sp>
      <p:sp>
        <p:nvSpPr>
          <p:cNvPr id="304" name="Shape 302"/>
          <p:cNvSpPr/>
          <p:nvPr/>
        </p:nvSpPr>
        <p:spPr>
          <a:xfrm>
            <a:off x="8945636" y="4327307"/>
            <a:ext cx="219456" cy="219456"/>
          </a:xfrm>
          <a:prstGeom prst="rect">
            <a:avLst/>
          </a:prstGeom>
          <a:solidFill>
            <a:srgbClr val="E3E2DA"/>
          </a:solidFill>
          <a:ln w="12700">
            <a:solidFill>
              <a:srgbClr val="E3E2DA"/>
            </a:solidFill>
            <a:prstDash val="solid"/>
          </a:ln>
        </p:spPr>
      </p:sp>
      <p:sp>
        <p:nvSpPr>
          <p:cNvPr id="305" name="Shape 303"/>
          <p:cNvSpPr/>
          <p:nvPr/>
        </p:nvSpPr>
        <p:spPr>
          <a:xfrm>
            <a:off x="9195816" y="4327307"/>
            <a:ext cx="219456" cy="219456"/>
          </a:xfrm>
          <a:prstGeom prst="rect">
            <a:avLst/>
          </a:prstGeom>
          <a:solidFill>
            <a:srgbClr val="E3E2DA"/>
          </a:solidFill>
          <a:ln w="12700">
            <a:solidFill>
              <a:srgbClr val="E3E2DA"/>
            </a:solidFill>
            <a:prstDash val="solid"/>
          </a:ln>
        </p:spPr>
      </p:sp>
      <p:sp>
        <p:nvSpPr>
          <p:cNvPr id="306" name="Shape 304"/>
          <p:cNvSpPr/>
          <p:nvPr/>
        </p:nvSpPr>
        <p:spPr>
          <a:xfrm>
            <a:off x="9445996" y="4327307"/>
            <a:ext cx="219456" cy="219456"/>
          </a:xfrm>
          <a:prstGeom prst="rect">
            <a:avLst/>
          </a:prstGeom>
          <a:solidFill>
            <a:srgbClr val="E3E2DA"/>
          </a:solidFill>
          <a:ln w="12700">
            <a:solidFill>
              <a:srgbClr val="E3E2DA"/>
            </a:solidFill>
            <a:prstDash val="solid"/>
          </a:ln>
        </p:spPr>
      </p:sp>
      <p:sp>
        <p:nvSpPr>
          <p:cNvPr id="307" name="Shape 305"/>
          <p:cNvSpPr/>
          <p:nvPr/>
        </p:nvSpPr>
        <p:spPr>
          <a:xfrm>
            <a:off x="9696176" y="4327307"/>
            <a:ext cx="219456" cy="219456"/>
          </a:xfrm>
          <a:prstGeom prst="rect">
            <a:avLst/>
          </a:prstGeom>
          <a:solidFill>
            <a:srgbClr val="E3E2DA"/>
          </a:solidFill>
          <a:ln w="12700">
            <a:solidFill>
              <a:srgbClr val="E3E2DA"/>
            </a:solidFill>
            <a:prstDash val="solid"/>
          </a:ln>
        </p:spPr>
      </p:sp>
      <p:sp>
        <p:nvSpPr>
          <p:cNvPr id="308" name="Shape 306"/>
          <p:cNvSpPr/>
          <p:nvPr/>
        </p:nvSpPr>
        <p:spPr>
          <a:xfrm>
            <a:off x="9946356" y="4327307"/>
            <a:ext cx="219456" cy="219456"/>
          </a:xfrm>
          <a:prstGeom prst="rect">
            <a:avLst/>
          </a:prstGeom>
          <a:solidFill>
            <a:srgbClr val="E3E2DA"/>
          </a:solidFill>
          <a:ln w="12700">
            <a:solidFill>
              <a:srgbClr val="E3E2DA"/>
            </a:solidFill>
            <a:prstDash val="solid"/>
          </a:ln>
        </p:spPr>
      </p:sp>
      <p:sp>
        <p:nvSpPr>
          <p:cNvPr id="309" name="Shape 307"/>
          <p:cNvSpPr/>
          <p:nvPr/>
        </p:nvSpPr>
        <p:spPr>
          <a:xfrm>
            <a:off x="10196535" y="4327307"/>
            <a:ext cx="219456" cy="219456"/>
          </a:xfrm>
          <a:prstGeom prst="rect">
            <a:avLst/>
          </a:prstGeom>
          <a:solidFill>
            <a:srgbClr val="E3E2DA"/>
          </a:solidFill>
          <a:ln w="12700">
            <a:solidFill>
              <a:srgbClr val="E3E2DA"/>
            </a:solidFill>
            <a:prstDash val="solid"/>
          </a:ln>
        </p:spPr>
      </p:sp>
      <p:sp>
        <p:nvSpPr>
          <p:cNvPr id="310" name="Text 308"/>
          <p:cNvSpPr txBox="1"/>
          <p:nvPr/>
        </p:nvSpPr>
        <p:spPr>
          <a:xfrm>
            <a:off x="7944917"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44.0%</a:t>
            </a:r>
            <a:endParaRPr lang="en-US" sz="2000" dirty="0"/>
          </a:p>
        </p:txBody>
      </p:sp>
      <p:sp>
        <p:nvSpPr>
          <p:cNvPr id="311" name="Text 309"/>
          <p:cNvSpPr txBox="1"/>
          <p:nvPr/>
        </p:nvSpPr>
        <p:spPr>
          <a:xfrm>
            <a:off x="7944917"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 (44 of every 100)</a:t>
            </a:r>
            <a:endParaRPr lang="en-US" sz="1000" dirty="0"/>
          </a:p>
        </p:txBody>
      </p:sp>
      <p:sp>
        <p:nvSpPr>
          <p:cNvPr id="3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5's domestic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Share of District 5 domestic visitors, by state (shading) and metro area (circles), Jan. 1–May 31, 2026</a:t>
            </a:r>
            <a:endParaRPr lang="en-US" sz="1200" dirty="0"/>
          </a:p>
        </p:txBody>
      </p:sp>
      <p:pic>
        <p:nvPicPr>
          <p:cNvPr id="4" name="Image 0" descr="Where District 5's domestic visitors come from: Los Angeles–Long Beach–Anaheim 23.6%, Riverside–San Bernardino–Ontario 22.6%, Washington–Arlington–Alexandria 3.6%, San Diego–Chula Vista–Carlsbad 3.2%, New York–Newark–Jersey City 2.0%, Bakersfield–Delano 1.5%, Phoenix–Mesa–Chandler 1.5%, Dallas–Fort Worth–Arlington 1.4%">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STATES</a:t>
            </a:r>
            <a:endParaRPr lang="en-US" sz="950" dirty="0"/>
          </a:p>
        </p:txBody>
      </p:sp>
      <p:sp>
        <p:nvSpPr>
          <p:cNvPr id="6" name="Shape 3"/>
          <p:cNvSpPr/>
          <p:nvPr/>
        </p:nvSpPr>
        <p:spPr>
          <a:xfrm>
            <a:off x="7918704" y="1728216"/>
            <a:ext cx="164592" cy="164592"/>
          </a:xfrm>
          <a:prstGeom prst="rect">
            <a:avLst/>
          </a:prstGeom>
          <a:solidFill>
            <a:srgbClr val="125C60"/>
          </a:solidFill>
          <a:ln w="6350">
            <a:solidFill>
              <a:srgbClr val="C9C6B8"/>
            </a:solidFill>
            <a:prstDash val="solid"/>
          </a:ln>
        </p:spPr>
      </p:sp>
      <p:sp>
        <p:nvSpPr>
          <p:cNvPr id="7" name="Text 4"/>
          <p:cNvSpPr txBox="1"/>
          <p:nvPr/>
        </p:nvSpPr>
        <p:spPr>
          <a:xfrm>
            <a:off x="8174736" y="169164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20% or more</a:t>
            </a:r>
            <a:endParaRPr lang="en-US" sz="1000" dirty="0"/>
          </a:p>
        </p:txBody>
      </p:sp>
      <p:sp>
        <p:nvSpPr>
          <p:cNvPr id="8" name="Shape 5"/>
          <p:cNvSpPr/>
          <p:nvPr/>
        </p:nvSpPr>
        <p:spPr>
          <a:xfrm>
            <a:off x="7918704" y="2002536"/>
            <a:ext cx="164592" cy="164592"/>
          </a:xfrm>
          <a:prstGeom prst="rect">
            <a:avLst/>
          </a:prstGeom>
          <a:solidFill>
            <a:srgbClr val="43A3A3"/>
          </a:solidFill>
          <a:ln w="6350">
            <a:solidFill>
              <a:srgbClr val="C9C6B8"/>
            </a:solidFill>
            <a:prstDash val="solid"/>
          </a:ln>
        </p:spPr>
      </p:sp>
      <p:sp>
        <p:nvSpPr>
          <p:cNvPr id="9" name="Text 6"/>
          <p:cNvSpPr txBox="1"/>
          <p:nvPr/>
        </p:nvSpPr>
        <p:spPr>
          <a:xfrm>
            <a:off x="8174736" y="196596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3% to 20%</a:t>
            </a:r>
            <a:endParaRPr lang="en-US" sz="1000" dirty="0"/>
          </a:p>
        </p:txBody>
      </p:sp>
      <p:sp>
        <p:nvSpPr>
          <p:cNvPr id="10" name="Shape 7"/>
          <p:cNvSpPr/>
          <p:nvPr/>
        </p:nvSpPr>
        <p:spPr>
          <a:xfrm>
            <a:off x="7918704" y="2276856"/>
            <a:ext cx="164592" cy="164592"/>
          </a:xfrm>
          <a:prstGeom prst="rect">
            <a:avLst/>
          </a:prstGeom>
          <a:solidFill>
            <a:srgbClr val="B4D9E3"/>
          </a:solidFill>
          <a:ln w="6350">
            <a:solidFill>
              <a:srgbClr val="C9C6B8"/>
            </a:solidFill>
            <a:prstDash val="solid"/>
          </a:ln>
        </p:spPr>
      </p:sp>
      <p:sp>
        <p:nvSpPr>
          <p:cNvPr id="11" name="Text 8"/>
          <p:cNvSpPr txBox="1"/>
          <p:nvPr/>
        </p:nvSpPr>
        <p:spPr>
          <a:xfrm>
            <a:off x="8174736" y="224028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Under 3%</a:t>
            </a:r>
            <a:endParaRPr lang="en-US" sz="1000" dirty="0"/>
          </a:p>
        </p:txBody>
      </p:sp>
      <p:sp>
        <p:nvSpPr>
          <p:cNvPr id="12" name="Shape 9"/>
          <p:cNvSpPr/>
          <p:nvPr/>
        </p:nvSpPr>
        <p:spPr>
          <a:xfrm>
            <a:off x="7918704" y="2551176"/>
            <a:ext cx="164592" cy="164592"/>
          </a:xfrm>
          <a:prstGeom prst="rect">
            <a:avLst/>
          </a:prstGeom>
          <a:solidFill>
            <a:srgbClr val="E9EBE4"/>
          </a:solidFill>
          <a:ln w="6350">
            <a:solidFill>
              <a:srgbClr val="C9C6B8"/>
            </a:solidFill>
            <a:prstDash val="solid"/>
          </a:ln>
        </p:spPr>
      </p:sp>
      <p:sp>
        <p:nvSpPr>
          <p:cNvPr id="13" name="Text 10"/>
          <p:cNvSpPr txBox="1"/>
          <p:nvPr/>
        </p:nvSpPr>
        <p:spPr>
          <a:xfrm>
            <a:off x="8174736" y="251460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Not in the top 11 states</a:t>
            </a:r>
            <a:endParaRPr lang="en-US" sz="1000" dirty="0"/>
          </a:p>
        </p:txBody>
      </p:sp>
      <p:sp>
        <p:nvSpPr>
          <p:cNvPr id="14" name="Text 11"/>
          <p:cNvSpPr txBox="1"/>
          <p:nvPr/>
        </p:nvSpPr>
        <p:spPr>
          <a:xfrm>
            <a:off x="7918704" y="292608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15" name="Text 12"/>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23.6%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16" name="Text 13"/>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22.6%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17" name="Text 14"/>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3.6%  </a:t>
            </a:r>
            <a:pPr indent="0" marL="0">
              <a:buNone/>
            </a:pPr>
            <a:r>
              <a:rPr lang="en-US" sz="1000" dirty="0">
                <a:solidFill>
                  <a:srgbClr val="231F20"/>
                </a:solidFill>
                <a:latin typeface="Proxima Nova" pitchFamily="34" charset="0"/>
                <a:ea typeface="Proxima Nova" pitchFamily="34" charset="-122"/>
                <a:cs typeface="Proxima Nova" pitchFamily="34" charset="-120"/>
              </a:rPr>
              <a:t>Washington–Arlington–Alexandria</a:t>
            </a:r>
            <a:endParaRPr lang="en-US" sz="1200" dirty="0"/>
          </a:p>
        </p:txBody>
      </p:sp>
      <p:sp>
        <p:nvSpPr>
          <p:cNvPr id="18" name="Text 15"/>
          <p:cNvSpPr txBox="1"/>
          <p:nvPr/>
        </p:nvSpPr>
        <p:spPr>
          <a:xfrm>
            <a:off x="7918704" y="412394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19" name="Text 16"/>
          <p:cNvSpPr txBox="1"/>
          <p:nvPr/>
        </p:nvSpPr>
        <p:spPr>
          <a:xfrm>
            <a:off x="7918704" y="442569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2.0%  </a:t>
            </a:r>
            <a:pPr indent="0" marL="0">
              <a:buNone/>
            </a:pPr>
            <a:r>
              <a:rPr lang="en-US" sz="1000" dirty="0">
                <a:solidFill>
                  <a:srgbClr val="231F20"/>
                </a:solidFill>
                <a:latin typeface="Proxima Nova" pitchFamily="34" charset="0"/>
                <a:ea typeface="Proxima Nova" pitchFamily="34" charset="-122"/>
                <a:cs typeface="Proxima Nova" pitchFamily="34" charset="-120"/>
              </a:rPr>
              <a:t>New York–Newark–Jersey City</a:t>
            </a:r>
            <a:endParaRPr lang="en-US" sz="1200" dirty="0"/>
          </a:p>
        </p:txBody>
      </p:sp>
      <p:sp>
        <p:nvSpPr>
          <p:cNvPr id="20" name="Text 17"/>
          <p:cNvSpPr txBox="1"/>
          <p:nvPr/>
        </p:nvSpPr>
        <p:spPr>
          <a:xfrm>
            <a:off x="7918704" y="472744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Bakersfield–Delano</a:t>
            </a:r>
            <a:endParaRPr lang="en-US" sz="1200" dirty="0"/>
          </a:p>
        </p:txBody>
      </p:sp>
      <p:sp>
        <p:nvSpPr>
          <p:cNvPr id="21" name="Text 18"/>
          <p:cNvSpPr txBox="1"/>
          <p:nvPr/>
        </p:nvSpPr>
        <p:spPr>
          <a:xfrm>
            <a:off x="7918704" y="502920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22" name="Text 19"/>
          <p:cNvSpPr txBox="1"/>
          <p:nvPr/>
        </p:nvSpPr>
        <p:spPr>
          <a:xfrm>
            <a:off x="7918704" y="533095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  </a:t>
            </a:r>
            <a:pPr indent="0" marL="0">
              <a:buNone/>
            </a:pPr>
            <a:r>
              <a:rPr lang="en-US" sz="1000" dirty="0">
                <a:solidFill>
                  <a:srgbClr val="231F20"/>
                </a:solidFill>
                <a:latin typeface="Proxima Nova" pitchFamily="34" charset="0"/>
                <a:ea typeface="Proxima Nova" pitchFamily="34" charset="-122"/>
                <a:cs typeface="Proxima Nova" pitchFamily="34" charset="-120"/>
              </a:rPr>
              <a:t>Dallas–Fort Worth–Arlington</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District 5 profile: income, busiest day and the places visitors also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POI analysis, District 5 · Jan. 1–May 31, 2026</a:t>
            </a:r>
            <a:endParaRPr lang="en-US" sz="1200" dirty="0"/>
          </a:p>
        </p:txBody>
      </p:sp>
      <p:sp>
        <p:nvSpPr>
          <p:cNvPr id="5" name="kpi-card-0"/>
          <p:cNvSpPr/>
          <p:nvPr/>
        </p:nvSpPr>
        <p:spPr>
          <a:xfrm>
            <a:off x="548640" y="1463040"/>
            <a:ext cx="1780032" cy="1600200"/>
          </a:xfrm>
          <a:prstGeom prst="roundRect">
            <a:avLst>
              <a:gd name="adj" fmla="val 4571"/>
            </a:avLst>
          </a:prstGeom>
          <a:solidFill>
            <a:srgbClr val="FFFFFF"/>
          </a:solidFill>
          <a:ln w="12700">
            <a:solidFill>
              <a:srgbClr val="B4D9E3"/>
            </a:solidFill>
            <a:prstDash val="solid"/>
          </a:ln>
        </p:spPr>
      </p:sp>
      <p:sp>
        <p:nvSpPr>
          <p:cNvPr id="6" name="Text 3"/>
          <p:cNvSpPr txBox="1"/>
          <p:nvPr/>
        </p:nvSpPr>
        <p:spPr>
          <a:xfrm>
            <a:off x="713232"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7" name="Text 4"/>
          <p:cNvSpPr txBox="1"/>
          <p:nvPr/>
        </p:nvSpPr>
        <p:spPr>
          <a:xfrm>
            <a:off x="713232"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8" name="Text 5"/>
          <p:cNvSpPr txBox="1"/>
          <p:nvPr/>
        </p:nvSpPr>
        <p:spPr>
          <a:xfrm>
            <a:off x="713232"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9" name="Text 6"/>
          <p:cNvSpPr txBox="1"/>
          <p:nvPr/>
        </p:nvSpPr>
        <p:spPr>
          <a:xfrm>
            <a:off x="713232"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New visitors 43.8%</a:t>
            </a:r>
            <a:endParaRPr lang="en-US" sz="1000" dirty="0"/>
          </a:p>
        </p:txBody>
      </p:sp>
      <p:sp>
        <p:nvSpPr>
          <p:cNvPr id="10" name="kpi-card-1"/>
          <p:cNvSpPr/>
          <p:nvPr/>
        </p:nvSpPr>
        <p:spPr>
          <a:xfrm>
            <a:off x="2493264" y="1463040"/>
            <a:ext cx="1780032" cy="1600200"/>
          </a:xfrm>
          <a:prstGeom prst="roundRect">
            <a:avLst>
              <a:gd name="adj" fmla="val 4571"/>
            </a:avLst>
          </a:prstGeom>
          <a:solidFill>
            <a:srgbClr val="FFFFFF"/>
          </a:solidFill>
          <a:ln w="12700">
            <a:solidFill>
              <a:srgbClr val="B4D9E3"/>
            </a:solidFill>
            <a:prstDash val="solid"/>
          </a:ln>
        </p:spPr>
      </p:sp>
      <p:sp>
        <p:nvSpPr>
          <p:cNvPr id="11" name="Text 8"/>
          <p:cNvSpPr txBox="1"/>
          <p:nvPr/>
        </p:nvSpPr>
        <p:spPr>
          <a:xfrm>
            <a:off x="2657856"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2" name="Text 9"/>
          <p:cNvSpPr txBox="1"/>
          <p:nvPr/>
        </p:nvSpPr>
        <p:spPr>
          <a:xfrm>
            <a:off x="2657856"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13" name="Text 10"/>
          <p:cNvSpPr txBox="1"/>
          <p:nvPr/>
        </p:nvSpPr>
        <p:spPr>
          <a:xfrm>
            <a:off x="2657856"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$85.7K</a:t>
            </a:r>
            <a:endParaRPr lang="en-US" sz="2400" dirty="0"/>
          </a:p>
        </p:txBody>
      </p:sp>
      <p:sp>
        <p:nvSpPr>
          <p:cNvPr id="14" name="Text 11"/>
          <p:cNvSpPr txBox="1"/>
          <p:nvPr/>
        </p:nvSpPr>
        <p:spPr>
          <a:xfrm>
            <a:off x="2657856"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All Anaheim/GG visitors $79.9K</a:t>
            </a:r>
            <a:endParaRPr lang="en-US" sz="1000" dirty="0"/>
          </a:p>
        </p:txBody>
      </p:sp>
      <p:sp>
        <p:nvSpPr>
          <p:cNvPr id="15" name="kpi-card-2"/>
          <p:cNvSpPr/>
          <p:nvPr/>
        </p:nvSpPr>
        <p:spPr>
          <a:xfrm>
            <a:off x="4437888" y="1463040"/>
            <a:ext cx="1780032" cy="1600200"/>
          </a:xfrm>
          <a:prstGeom prst="roundRect">
            <a:avLst>
              <a:gd name="adj" fmla="val 4571"/>
            </a:avLst>
          </a:prstGeom>
          <a:solidFill>
            <a:srgbClr val="FFFFFF"/>
          </a:solidFill>
          <a:ln w="12700">
            <a:solidFill>
              <a:srgbClr val="B4D9E3"/>
            </a:solidFill>
            <a:prstDash val="solid"/>
          </a:ln>
        </p:spPr>
      </p:sp>
      <p:sp>
        <p:nvSpPr>
          <p:cNvPr id="16" name="Text 13"/>
          <p:cNvSpPr txBox="1"/>
          <p:nvPr/>
        </p:nvSpPr>
        <p:spPr>
          <a:xfrm>
            <a:off x="4602480"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7" name="Text 14"/>
          <p:cNvSpPr txBox="1"/>
          <p:nvPr/>
        </p:nvSpPr>
        <p:spPr>
          <a:xfrm>
            <a:off x="4602480"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Busiest day</a:t>
            </a:r>
            <a:endParaRPr lang="en-US" sz="1050" dirty="0"/>
          </a:p>
        </p:txBody>
      </p:sp>
      <p:sp>
        <p:nvSpPr>
          <p:cNvPr id="18" name="Text 15"/>
          <p:cNvSpPr txBox="1"/>
          <p:nvPr/>
        </p:nvSpPr>
        <p:spPr>
          <a:xfrm>
            <a:off x="4602480"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Saturday</a:t>
            </a:r>
            <a:endParaRPr lang="en-US" sz="2400" dirty="0"/>
          </a:p>
        </p:txBody>
      </p:sp>
      <p:sp>
        <p:nvSpPr>
          <p:cNvPr id="19" name="Text 16"/>
          <p:cNvSpPr txBox="1"/>
          <p:nvPr/>
        </p:nvSpPr>
        <p:spPr>
          <a:xfrm>
            <a:off x="4602480"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15.9% of visits</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5669280" cy="914400"/>
        </p:xfrm>
        <a:graphic>
          <a:graphicData uri="http://schemas.openxmlformats.org/drawingml/2006/table">
            <a:tbl>
              <a:tblPr/>
              <a:tblGrid>
                <a:gridCol w="4023360"/>
                <a:gridCol w="1645920"/>
              </a:tblGrid>
              <a:tr h="23774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chart-title"/>
          <p:cNvSpPr txBox="1"/>
          <p:nvPr/>
        </p:nvSpPr>
        <p:spPr>
          <a:xfrm>
            <a:off x="6492240" y="146304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Also visited (share of District 5 visitors)</a:t>
            </a:r>
            <a:endParaRPr lang="en-US" sz="1300" dirty="0"/>
          </a:p>
        </p:txBody>
      </p:sp>
      <p:graphicFrame>
        <p:nvGraphicFramePr>
          <p:cNvPr id="22" name="chart" descr=""/>
          <p:cNvGraphicFramePr/>
          <p:nvPr/>
        </p:nvGraphicFramePr>
        <p:xfrm>
          <a:off x="6492240" y="18288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U.S. Census Bureau (income)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already appears in 5.2% of Anaheim visitor days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Datafy Anaheim visitor report · calendar 2024 · visitors traveling 50+ miles</a:t>
            </a:r>
            <a:endParaRPr lang="en-US" sz="1200" dirty="0"/>
          </a:p>
        </p:txBody>
      </p:sp>
      <p:sp>
        <p:nvSpPr>
          <p:cNvPr id="4" name="chart-title"/>
          <p:cNvSpPr txBox="1"/>
          <p:nvPr/>
        </p:nvSpPr>
        <p:spPr>
          <a:xfrm>
            <a:off x="548640" y="1463040"/>
            <a:ext cx="58521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including each cluster</a:t>
            </a:r>
            <a:endParaRPr lang="en-US" sz="1300" dirty="0"/>
          </a:p>
        </p:txBody>
      </p:sp>
      <p:graphicFrame>
        <p:nvGraphicFramePr>
          <p:cNvPr id="5" name="chart" descr=""/>
          <p:cNvGraphicFramePr/>
          <p:nvPr/>
        </p:nvGraphicFramePr>
        <p:xfrm>
          <a:off x="548640" y="1828800"/>
          <a:ext cx="58521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3291840"/>
                <a:gridCol w="155448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Measure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Value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Overnight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Stays of 6+ days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Repeat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state: California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metro: Los Angeles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Household income $100K+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Age 45–64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766560" y="4572000"/>
            <a:ext cx="4846320" cy="45720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 visitor day can include several clusters, so shares do not sum to 100%.</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Anaheim visitor report (Jan. 1–Dec. 31,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 card spending rose 8.1% in August 2026, with growing fly-in markets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Visa Destination Insights via Symphony · August 2026 vs. August 2025</a:t>
            </a:r>
            <a:endParaRPr lang="en-US" sz="1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1920240"/>
                <a:gridCol w="1188720"/>
                <a:gridCol w="1188720"/>
                <a:gridCol w="118872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Geography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per visitor or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 is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$6.832B ÷ 26.5M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Garden Grove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$769.3M ÷ 3.24M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Orange County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$1.360T ÷ 2.46B trips (real 2025 dollars)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domestic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$1.185T ÷ 2.40B domestic trips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05"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333695" cy="914400"/>
        </p:xfrm>
        <a:graphic>
          <a:graphicData uri="http://schemas.openxmlformats.org/drawingml/2006/table">
            <a:tbl>
              <a:tblPr/>
              <a:tblGrid>
                <a:gridCol w="3017520"/>
                <a:gridCol w="1097280"/>
                <a:gridCol w="1216152"/>
              </a:tblGrid>
              <a:tr h="24688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Origin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 of total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$307.3M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66.1%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Francisco–Oakland–Berkeley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Seattle–Tacoma–Bellevue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Mexico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Phoenix–Mesa–Chandler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Las Vegas–Henderson–Paradise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Jose–Sunnyvale–Santa Clara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Sacramento–Roseville–Folsom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Orlando–Kissimmee–Sanford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New York–Newark–Jersey City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Canada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Oxnard–Thousand Oaks–Ventura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Detroit–Warren–Dearborn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57" name="Table 2"/>
          <p:cNvGraphicFramePr>
            <a:graphicFrameLocks noGrp="1"/>
          </p:cNvGraphicFramePr>
          <p:nvPr>
            <p:extLst>
              <p:ext uri="{D42A27DB-BD31-4B8C-83A1-F6EECF244321}">
                <p14:modId xmlns:p14="http://schemas.microsoft.com/office/powerpoint/2010/main" val="1579011935"/>
              </p:ext>
            </p:extLst>
          </p:nvPr>
        </p:nvGraphicFramePr>
        <p:xfrm>
          <a:off x="548640" y="3520440"/>
          <a:ext cx="5486400" cy="914400"/>
        </p:xfrm>
        <a:graphic>
          <a:graphicData uri="http://schemas.openxmlformats.org/drawingml/2006/table">
            <a:tbl>
              <a:tblPr/>
              <a:tblGrid>
                <a:gridCol w="2926080"/>
                <a:gridCol w="1280160"/>
                <a:gridCol w="128016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Category or country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Restaurants and dining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A10009"/>
                          </a:solidFill>
                          <a:latin typeface="Proxima Nova" pitchFamily="34" charset="0"/>
                          <a:ea typeface="Proxima Nova" pitchFamily="34" charset="-122"/>
                          <a:cs typeface="Proxima Nova" pitchFamily="34" charset="-120"/>
                        </a:rPr>
                        <a:t>▼ −19.1%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Hotels and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Other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Entertainment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Transportation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$608K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(exported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43.8%</a:t>
            </a:r>
            <a:pPr indent="0" marL="0">
              <a:buNone/>
            </a:pPr>
            <a:r>
              <a:rPr lang="en-US" sz="110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baseline before opening: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New money: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domestic visitors come from outside California; fly-in markets include Seattle, Phoenix, Las Vegas, Orlando and New York, and Mexico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Canada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lead international card spending.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other states]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Visits are spread across the week (Saturday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Tuesday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so weekday programming has an audience.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visitors also go to the Anaheim Resort, a direct path to packages and longer stays.</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Ticketing and loyalty data by origin, to track the out-of-state share.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offers for international guests: international restaurant spending fell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Trends compared within each source (Azira, Datafy, Visa), since they count visitors differently.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visitors spent $1.76 billion in the second quarter,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Visitor spending · Tourism Economics Travel Forecast, Sept. 2026 · Q2 2026 actual</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$279</a:t>
            </a:r>
            <a:pPr indent="0" marL="0">
              <a:buNone/>
            </a:pPr>
            <a:r>
              <a:rPr lang="en-US" sz="135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$1.76B</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350" b="1" dirty="0">
                <a:solidFill>
                  <a:srgbClr val="125C60"/>
                </a:solidFill>
                <a:latin typeface="Proxima Nova" pitchFamily="34" charset="0"/>
                <a:ea typeface="Proxima Nova" pitchFamily="34" charset="-122"/>
                <a:cs typeface="Proxima Nova" pitchFamily="34" charset="-120"/>
              </a:rPr>
              <a:t>7.8%</a:t>
            </a:r>
            <a:pPr indent="0" marL="0">
              <a:buNone/>
            </a:pPr>
            <a:r>
              <a:rPr lang="en-US" sz="1350" dirty="0">
                <a:solidFill>
                  <a:srgbClr val="231F20"/>
                </a:solidFill>
                <a:latin typeface="Proxima Nova" pitchFamily="34" charset="0"/>
                <a:ea typeface="Proxima Nova" pitchFamily="34" charset="-122"/>
                <a:cs typeface="Proxima Nova" pitchFamily="34" charset="-120"/>
              </a:rPr>
              <a:t> from Q2 2025.</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Spending per visitor sets the value of each visitor OC Vibe draws. Tourism Economics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$258</a:t>
            </a:r>
            <a:pPr indent="0" marL="0">
              <a:buNone/>
            </a:pPr>
            <a:r>
              <a:rPr lang="en-US" sz="1250" dirty="0">
                <a:solidFill>
                  <a:srgbClr val="231F20"/>
                </a:solidFill>
                <a:latin typeface="Proxima Nova" pitchFamily="34" charset="0"/>
                <a:ea typeface="Proxima Nova" pitchFamily="34" charset="-122"/>
                <a:cs typeface="Proxima Nova" pitchFamily="34" charset="-120"/>
              </a:rPr>
              <a:t> per visitor in 2025 (</a:t>
            </a:r>
            <a:pPr indent="0" marL="0">
              <a:buNone/>
            </a:pPr>
            <a:r>
              <a:rPr lang="en-US" sz="1250" b="1" dirty="0">
                <a:solidFill>
                  <a:srgbClr val="125C60"/>
                </a:solidFill>
                <a:latin typeface="Proxima Nova" pitchFamily="34" charset="0"/>
                <a:ea typeface="Proxima Nova" pitchFamily="34" charset="-122"/>
                <a:cs typeface="Proxima Nova" pitchFamily="34" charset="-120"/>
              </a:rPr>
              <a:t>$6.832B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26.5M</a:t>
            </a:r>
            <a:pPr indent="0" marL="0">
              <a:buNone/>
            </a:pPr>
            <a:r>
              <a:rPr lang="en-US" sz="1250" dirty="0">
                <a:solidFill>
                  <a:srgbClr val="231F20"/>
                </a:solidFill>
                <a:latin typeface="Proxima Nova" pitchFamily="34" charset="0"/>
                <a:ea typeface="Proxima Nova" pitchFamily="34" charset="-122"/>
                <a:cs typeface="Proxima Nova" pitchFamily="34" charset="-120"/>
              </a:rPr>
              <a:t>) and forecasts </a:t>
            </a:r>
            <a:pPr indent="0" marL="0">
              <a:buNone/>
            </a:pPr>
            <a:r>
              <a:rPr lang="en-US" sz="1250" b="1" dirty="0">
                <a:solidFill>
                  <a:srgbClr val="125C60"/>
                </a:solidFill>
                <a:latin typeface="Proxima Nova" pitchFamily="34" charset="0"/>
                <a:ea typeface="Proxima Nova" pitchFamily="34" charset="-122"/>
                <a:cs typeface="Proxima Nova" pitchFamily="34" charset="-120"/>
              </a:rPr>
              <a:t>$279</a:t>
            </a:r>
            <a:pPr indent="0" marL="0">
              <a:buNone/>
            </a:pPr>
            <a:r>
              <a:rPr lang="en-US" sz="1250" dirty="0">
                <a:solidFill>
                  <a:srgbClr val="231F20"/>
                </a:solidFill>
                <a:latin typeface="Proxima Nova" pitchFamily="34" charset="0"/>
                <a:ea typeface="Proxima Nova" pitchFamily="34" charset="-122"/>
                <a:cs typeface="Proxima Nova" pitchFamily="34" charset="-120"/>
              </a:rPr>
              <a:t> by 2028, and Visa shows visitor card spending up </a:t>
            </a:r>
            <a:pPr indent="0" marL="0">
              <a:buNone/>
            </a:pPr>
            <a:r>
              <a:rPr lang="en-US" sz="1250" b="1" dirty="0">
                <a:solidFill>
                  <a:srgbClr val="125C60"/>
                </a:solidFill>
                <a:latin typeface="Proxima Nova" pitchFamily="34" charset="0"/>
                <a:ea typeface="Proxima Nova" pitchFamily="34" charset="-122"/>
                <a:cs typeface="Proxima Nova" pitchFamily="34" charset="-120"/>
              </a:rPr>
              <a:t>8.1%</a:t>
            </a:r>
            <a:pPr indent="0" marL="0">
              <a:buNone/>
            </a:pPr>
            <a:r>
              <a:rPr lang="en-US" sz="1250" dirty="0">
                <a:solidFill>
                  <a:srgbClr val="231F20"/>
                </a:solidFill>
                <a:latin typeface="Proxima Nova" pitchFamily="34" charset="0"/>
                <a:ea typeface="Proxima Nova" pitchFamily="34" charset="-122"/>
                <a:cs typeface="Proxima Nova" pitchFamily="34" charset="-120"/>
              </a:rPr>
              <a:t> in August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BI calc. Oct. 12,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Q2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2028 FORECAST</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forecast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visitors (domestic and international), as measured by Tourism Economics and Visa cardholders.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Q2 2026 (+7.8% vs. Q2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a:t>
            </a:r>
            <a:pPr indent="0" marL="0">
              <a:buNone/>
            </a:pPr>
            <a:r>
              <a:rPr lang="en-US" sz="950" b="1" dirty="0">
                <a:solidFill>
                  <a:srgbClr val="125C60"/>
                </a:solidFill>
                <a:latin typeface="Proxima Nova" pitchFamily="34" charset="0"/>
                <a:ea typeface="Proxima Nova" pitchFamily="34" charset="-122"/>
                <a:cs typeface="Proxima Nova" pitchFamily="34" charset="-120"/>
              </a:rPr>
              <a:t>$258</a:t>
            </a:r>
            <a:pPr indent="0" marL="0">
              <a:buNone/>
            </a:pPr>
            <a:r>
              <a:rPr lang="en-US" sz="950" dirty="0">
                <a:solidFill>
                  <a:srgbClr val="231F20"/>
                </a:solidFill>
                <a:latin typeface="Proxima Nova" pitchFamily="34" charset="0"/>
                <a:ea typeface="Proxima Nova" pitchFamily="34" charset="-122"/>
                <a:cs typeface="Proxima Nova" pitchFamily="34" charset="-120"/>
              </a:rPr>
              <a:t> in 2025, forecast </a:t>
            </a:r>
            <a:pPr indent="0" marL="0">
              <a:buNone/>
            </a:pPr>
            <a:r>
              <a:rPr lang="en-US" sz="950" b="1" dirty="0">
                <a:solidFill>
                  <a:srgbClr val="125C60"/>
                </a:solidFill>
                <a:latin typeface="Proxima Nova" pitchFamily="34" charset="0"/>
                <a:ea typeface="Proxima Nova" pitchFamily="34" charset="-122"/>
                <a:cs typeface="Proxima Nova" pitchFamily="34" charset="-120"/>
              </a:rPr>
              <a:t>$279</a:t>
            </a:r>
            <a:pPr indent="0" marL="0">
              <a:buNone/>
            </a:pPr>
            <a:r>
              <a:rPr lang="en-US" sz="950" dirty="0">
                <a:solidFill>
                  <a:srgbClr val="231F20"/>
                </a:solidFill>
                <a:latin typeface="Proxima Nova" pitchFamily="34" charset="0"/>
                <a:ea typeface="Proxima Nova" pitchFamily="34" charset="-122"/>
                <a:cs typeface="Proxima Nova" pitchFamily="34" charset="-120"/>
              </a:rPr>
              <a:t> by 2028), Q2 2026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$1.76B</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+7.8%</a:t>
            </a:r>
            <a:pPr indent="0" marL="0">
              <a:buNone/>
            </a:pPr>
            <a:r>
              <a:rPr lang="en-US" sz="950" dirty="0">
                <a:solidFill>
                  <a:srgbClr val="231F20"/>
                </a:solidFill>
                <a:latin typeface="Proxima Nova" pitchFamily="34" charset="0"/>
                <a:ea typeface="Proxima Nova" pitchFamily="34" charset="-122"/>
                <a:cs typeface="Proxima Nova" pitchFamily="34" charset="-120"/>
              </a:rPr>
              <a:t>) and visitor card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$464.6M</a:t>
            </a:r>
            <a:pPr indent="0" marL="0">
              <a:buNone/>
            </a:pPr>
            <a:r>
              <a:rPr lang="en-US" sz="950" dirty="0">
                <a:solidFill>
                  <a:srgbClr val="231F20"/>
                </a:solidFill>
                <a:latin typeface="Proxima Nova" pitchFamily="34" charset="0"/>
                <a:ea typeface="Proxima Nova" pitchFamily="34" charset="-122"/>
                <a:cs typeface="Proxima Nova" pitchFamily="34" charset="-120"/>
              </a:rPr>
              <a:t> in Aug. 2026, </a:t>
            </a:r>
            <a:pPr indent="0" marL="0">
              <a:buNone/>
            </a:pPr>
            <a:r>
              <a:rPr lang="en-US" sz="950" b="1" dirty="0">
                <a:solidFill>
                  <a:srgbClr val="125C60"/>
                </a:solidFill>
                <a:latin typeface="Proxima Nova" pitchFamily="34" charset="0"/>
                <a:ea typeface="Proxima Nova" pitchFamily="34" charset="-122"/>
                <a:cs typeface="Proxima Nova" pitchFamily="34" charset="-120"/>
              </a:rPr>
              <a:t>+8.1%</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Q2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latest measured quarter; forecasts to 2028</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2019–2025 actuals, Q2 2026 actual, forecasts to 2028; Visa August 2026 vs. August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with Garden Grove for comparison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(and Garden Grove for comparison).</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forecast spending per visitor, 2028</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sets the value of every visitor OC Vibe attracts.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per visitor, 2025: $6.832B ÷ 26.5M visitors</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spending ÷ visits; Visa reported card spending by visitor cardholders.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Tourism Economics, Economic Impact 2025 (pub. Apr.–May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What one Anaheim visitor spends, itemized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per visitor, calendar 2025 · category spending ÷ 26.5M visitors</a:t>
            </a:r>
            <a:endParaRPr lang="en-US" sz="950" dirty="0"/>
          </a:p>
        </p:txBody>
      </p:sp>
      <p:sp>
        <p:nvSpPr>
          <p:cNvPr id="6" name="Shape 4"/>
          <p:cNvSpPr/>
          <p:nvPr/>
        </p:nvSpPr>
        <p:spPr>
          <a:xfrm>
            <a:off x="548640" y="2075688"/>
            <a:ext cx="6212873" cy="3520440"/>
          </a:xfrm>
          <a:prstGeom prst="rect">
            <a:avLst/>
          </a:prstGeom>
          <a:solidFill>
            <a:srgbClr val="FFFFFF"/>
          </a:solidFill>
          <a:ln w="12700">
            <a:solidFill>
              <a:srgbClr val="B4D9E3"/>
            </a:solidFill>
            <a:prstDash val="solid"/>
          </a:ln>
        </p:spPr>
      </p:sp>
      <p:sp>
        <p:nvSpPr>
          <p:cNvPr id="7" name="Text 5"/>
          <p:cNvSpPr txBox="1"/>
          <p:nvPr/>
        </p:nvSpPr>
        <p:spPr>
          <a:xfrm>
            <a:off x="685800" y="216712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Recreation and entertainment</a:t>
            </a:r>
            <a:endParaRPr lang="en-US" sz="1100" dirty="0"/>
          </a:p>
        </p:txBody>
      </p:sp>
      <p:sp>
        <p:nvSpPr>
          <p:cNvPr id="8" name="Text 6"/>
          <p:cNvSpPr txBox="1"/>
          <p:nvPr/>
        </p:nvSpPr>
        <p:spPr>
          <a:xfrm>
            <a:off x="5618513" y="216712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$87.58</a:t>
            </a:r>
            <a:endParaRPr lang="en-US" sz="1250" dirty="0"/>
          </a:p>
        </p:txBody>
      </p:sp>
      <p:sp>
        <p:nvSpPr>
          <p:cNvPr id="9" name="Shape 7"/>
          <p:cNvSpPr/>
          <p:nvPr/>
        </p:nvSpPr>
        <p:spPr>
          <a:xfrm>
            <a:off x="685800" y="2441448"/>
            <a:ext cx="2019108" cy="64008"/>
          </a:xfrm>
          <a:prstGeom prst="rect">
            <a:avLst/>
          </a:prstGeom>
          <a:solidFill>
            <a:srgbClr val="43A3A3"/>
          </a:solidFill>
          <a:ln w="12700">
            <a:solidFill>
              <a:srgbClr val="43A3A3"/>
            </a:solidFill>
            <a:prstDash val="solid"/>
          </a:ln>
        </p:spPr>
      </p:sp>
      <p:sp>
        <p:nvSpPr>
          <p:cNvPr id="10" name="Text 8"/>
          <p:cNvSpPr txBox="1"/>
          <p:nvPr/>
        </p:nvSpPr>
        <p:spPr>
          <a:xfrm>
            <a:off x="685800" y="251460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$2,321M ÷ 26.5M visitors · 34% of spending</a:t>
            </a:r>
            <a:endParaRPr lang="en-US" sz="750" dirty="0"/>
          </a:p>
        </p:txBody>
      </p:sp>
      <p:sp>
        <p:nvSpPr>
          <p:cNvPr id="11" name="Text 9"/>
          <p:cNvSpPr txBox="1"/>
          <p:nvPr/>
        </p:nvSpPr>
        <p:spPr>
          <a:xfrm>
            <a:off x="685800" y="271576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Lodging</a:t>
            </a:r>
            <a:endParaRPr lang="en-US" sz="1100" dirty="0"/>
          </a:p>
        </p:txBody>
      </p:sp>
      <p:sp>
        <p:nvSpPr>
          <p:cNvPr id="12" name="Text 10"/>
          <p:cNvSpPr txBox="1"/>
          <p:nvPr/>
        </p:nvSpPr>
        <p:spPr>
          <a:xfrm>
            <a:off x="5618513" y="271576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$65.06</a:t>
            </a:r>
            <a:endParaRPr lang="en-US" sz="1250" dirty="0"/>
          </a:p>
        </p:txBody>
      </p:sp>
      <p:sp>
        <p:nvSpPr>
          <p:cNvPr id="13" name="Shape 11"/>
          <p:cNvSpPr/>
          <p:nvPr/>
        </p:nvSpPr>
        <p:spPr>
          <a:xfrm>
            <a:off x="685800" y="2990088"/>
            <a:ext cx="1496515" cy="64008"/>
          </a:xfrm>
          <a:prstGeom prst="rect">
            <a:avLst/>
          </a:prstGeom>
          <a:solidFill>
            <a:srgbClr val="43A3A3"/>
          </a:solidFill>
          <a:ln w="12700">
            <a:solidFill>
              <a:srgbClr val="43A3A3"/>
            </a:solidFill>
            <a:prstDash val="solid"/>
          </a:ln>
        </p:spPr>
      </p:sp>
      <p:sp>
        <p:nvSpPr>
          <p:cNvPr id="14" name="Text 12"/>
          <p:cNvSpPr txBox="1"/>
          <p:nvPr/>
        </p:nvSpPr>
        <p:spPr>
          <a:xfrm>
            <a:off x="685800" y="306324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$1,724M ÷ 26.5M visitors · 25.2% of spending</a:t>
            </a:r>
            <a:endParaRPr lang="en-US" sz="750" dirty="0"/>
          </a:p>
        </p:txBody>
      </p:sp>
      <p:sp>
        <p:nvSpPr>
          <p:cNvPr id="15" name="Text 13"/>
          <p:cNvSpPr txBox="1"/>
          <p:nvPr/>
        </p:nvSpPr>
        <p:spPr>
          <a:xfrm>
            <a:off x="685800" y="326440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Retail</a:t>
            </a:r>
            <a:endParaRPr lang="en-US" sz="1100" dirty="0"/>
          </a:p>
        </p:txBody>
      </p:sp>
      <p:sp>
        <p:nvSpPr>
          <p:cNvPr id="16" name="Text 14"/>
          <p:cNvSpPr txBox="1"/>
          <p:nvPr/>
        </p:nvSpPr>
        <p:spPr>
          <a:xfrm>
            <a:off x="5618513" y="326440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$56.42</a:t>
            </a:r>
            <a:endParaRPr lang="en-US" sz="1250" dirty="0"/>
          </a:p>
        </p:txBody>
      </p:sp>
      <p:sp>
        <p:nvSpPr>
          <p:cNvPr id="17" name="Shape 15"/>
          <p:cNvSpPr/>
          <p:nvPr/>
        </p:nvSpPr>
        <p:spPr>
          <a:xfrm>
            <a:off x="685800" y="3538728"/>
            <a:ext cx="1300543" cy="64008"/>
          </a:xfrm>
          <a:prstGeom prst="rect">
            <a:avLst/>
          </a:prstGeom>
          <a:solidFill>
            <a:srgbClr val="43A3A3"/>
          </a:solidFill>
          <a:ln w="12700">
            <a:solidFill>
              <a:srgbClr val="43A3A3"/>
            </a:solidFill>
            <a:prstDash val="solid"/>
          </a:ln>
        </p:spPr>
      </p:sp>
      <p:sp>
        <p:nvSpPr>
          <p:cNvPr id="18" name="Text 16"/>
          <p:cNvSpPr txBox="1"/>
          <p:nvPr/>
        </p:nvSpPr>
        <p:spPr>
          <a:xfrm>
            <a:off x="685800" y="361188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$1,495M ÷ 26.5M visitors · 21.9% of spending</a:t>
            </a:r>
            <a:endParaRPr lang="en-US" sz="750" dirty="0"/>
          </a:p>
        </p:txBody>
      </p:sp>
      <p:sp>
        <p:nvSpPr>
          <p:cNvPr id="19" name="Text 17"/>
          <p:cNvSpPr txBox="1"/>
          <p:nvPr/>
        </p:nvSpPr>
        <p:spPr>
          <a:xfrm>
            <a:off x="685800" y="381304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Food and beverage</a:t>
            </a:r>
            <a:endParaRPr lang="en-US" sz="1100" dirty="0"/>
          </a:p>
        </p:txBody>
      </p:sp>
      <p:sp>
        <p:nvSpPr>
          <p:cNvPr id="20" name="Text 18"/>
          <p:cNvSpPr txBox="1"/>
          <p:nvPr/>
        </p:nvSpPr>
        <p:spPr>
          <a:xfrm>
            <a:off x="5618513" y="381304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$40.26</a:t>
            </a:r>
            <a:endParaRPr lang="en-US" sz="1250" dirty="0"/>
          </a:p>
        </p:txBody>
      </p:sp>
      <p:sp>
        <p:nvSpPr>
          <p:cNvPr id="21" name="Shape 19"/>
          <p:cNvSpPr/>
          <p:nvPr/>
        </p:nvSpPr>
        <p:spPr>
          <a:xfrm>
            <a:off x="685800" y="4087368"/>
            <a:ext cx="926414" cy="64008"/>
          </a:xfrm>
          <a:prstGeom prst="rect">
            <a:avLst/>
          </a:prstGeom>
          <a:solidFill>
            <a:srgbClr val="43A3A3"/>
          </a:solidFill>
          <a:ln w="12700">
            <a:solidFill>
              <a:srgbClr val="43A3A3"/>
            </a:solidFill>
            <a:prstDash val="solid"/>
          </a:ln>
        </p:spPr>
      </p:sp>
      <p:sp>
        <p:nvSpPr>
          <p:cNvPr id="22" name="Text 20"/>
          <p:cNvSpPr txBox="1"/>
          <p:nvPr/>
        </p:nvSpPr>
        <p:spPr>
          <a:xfrm>
            <a:off x="685800" y="416052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$1,067M ÷ 26.5M visitors · 15.6% of spending</a:t>
            </a:r>
            <a:endParaRPr lang="en-US" sz="750" dirty="0"/>
          </a:p>
        </p:txBody>
      </p:sp>
      <p:sp>
        <p:nvSpPr>
          <p:cNvPr id="23" name="Text 21"/>
          <p:cNvSpPr txBox="1"/>
          <p:nvPr/>
        </p:nvSpPr>
        <p:spPr>
          <a:xfrm>
            <a:off x="685800" y="436168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Transportation</a:t>
            </a:r>
            <a:endParaRPr lang="en-US" sz="1100" dirty="0"/>
          </a:p>
        </p:txBody>
      </p:sp>
      <p:sp>
        <p:nvSpPr>
          <p:cNvPr id="24" name="Text 22"/>
          <p:cNvSpPr txBox="1"/>
          <p:nvPr/>
        </p:nvSpPr>
        <p:spPr>
          <a:xfrm>
            <a:off x="5618513" y="436168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$8.45</a:t>
            </a:r>
            <a:endParaRPr lang="en-US" sz="1250" dirty="0"/>
          </a:p>
        </p:txBody>
      </p:sp>
      <p:sp>
        <p:nvSpPr>
          <p:cNvPr id="25" name="Shape 23"/>
          <p:cNvSpPr/>
          <p:nvPr/>
        </p:nvSpPr>
        <p:spPr>
          <a:xfrm>
            <a:off x="685800" y="4636008"/>
            <a:ext cx="195972" cy="64008"/>
          </a:xfrm>
          <a:prstGeom prst="rect">
            <a:avLst/>
          </a:prstGeom>
          <a:solidFill>
            <a:srgbClr val="43A3A3"/>
          </a:solidFill>
          <a:ln w="12700">
            <a:solidFill>
              <a:srgbClr val="43A3A3"/>
            </a:solidFill>
            <a:prstDash val="solid"/>
          </a:ln>
        </p:spPr>
      </p:sp>
      <p:sp>
        <p:nvSpPr>
          <p:cNvPr id="26" name="Text 24"/>
          <p:cNvSpPr txBox="1"/>
          <p:nvPr/>
        </p:nvSpPr>
        <p:spPr>
          <a:xfrm>
            <a:off x="685800" y="470916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$224M ÷ 26.5M visitors · 3.3% of spending</a:t>
            </a:r>
            <a:endParaRPr lang="en-US" sz="750" dirty="0"/>
          </a:p>
        </p:txBody>
      </p:sp>
      <p:sp>
        <p:nvSpPr>
          <p:cNvPr id="27" name="Shape 25"/>
          <p:cNvSpPr/>
          <p:nvPr/>
        </p:nvSpPr>
        <p:spPr>
          <a:xfrm>
            <a:off x="685800" y="4910328"/>
            <a:ext cx="5938553" cy="0"/>
          </a:xfrm>
          <a:prstGeom prst="line">
            <a:avLst/>
          </a:prstGeom>
          <a:noFill/>
          <a:ln w="19050">
            <a:solidFill>
              <a:srgbClr val="231F20"/>
            </a:solidFill>
            <a:prstDash val="solid"/>
          </a:ln>
        </p:spPr>
      </p:sp>
      <p:sp>
        <p:nvSpPr>
          <p:cNvPr id="28" name="Text 26"/>
          <p:cNvSpPr txBox="1"/>
          <p:nvPr/>
        </p:nvSpPr>
        <p:spPr>
          <a:xfrm>
            <a:off x="685800" y="4983480"/>
            <a:ext cx="4749833" cy="274320"/>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TOTAL PER VISITOR</a:t>
            </a:r>
            <a:endParaRPr lang="en-US" sz="1100" dirty="0"/>
          </a:p>
        </p:txBody>
      </p:sp>
      <p:sp>
        <p:nvSpPr>
          <p:cNvPr id="29" name="Text 27"/>
          <p:cNvSpPr txBox="1"/>
          <p:nvPr/>
        </p:nvSpPr>
        <p:spPr>
          <a:xfrm>
            <a:off x="5435633" y="4956048"/>
            <a:ext cx="1188720" cy="329184"/>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$257.77</a:t>
            </a:r>
            <a:endParaRPr lang="en-US" sz="1800" dirty="0"/>
          </a:p>
        </p:txBody>
      </p:sp>
      <p:sp>
        <p:nvSpPr>
          <p:cNvPr id="30" name="Text 28"/>
          <p:cNvSpPr txBox="1"/>
          <p:nvPr/>
        </p:nvSpPr>
        <p:spPr>
          <a:xfrm>
            <a:off x="685800" y="5294376"/>
            <a:ext cx="5938553" cy="274320"/>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$6,831M ÷ 26.5M; Tourism Economics' $6.832B total gives $258 (rounding)</a:t>
            </a:r>
            <a:endParaRPr lang="en-US" sz="750" dirty="0"/>
          </a:p>
        </p:txBody>
      </p:sp>
      <p:sp>
        <p:nvSpPr>
          <p:cNvPr id="31" name="Text 29"/>
          <p:cNvSpPr txBox="1"/>
          <p:nvPr/>
        </p:nvSpPr>
        <p:spPr>
          <a:xfrm>
            <a:off x="7127273" y="2075688"/>
            <a:ext cx="4515783"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Every $1 of visitor spending</a:t>
            </a:r>
            <a:endParaRPr lang="en-US" sz="1200" dirty="0"/>
          </a:p>
        </p:txBody>
      </p:sp>
      <p:sp>
        <p:nvSpPr>
          <p:cNvPr id="32" name="Shape 30"/>
          <p:cNvSpPr/>
          <p:nvPr/>
        </p:nvSpPr>
        <p:spPr>
          <a:xfrm>
            <a:off x="7127273" y="2441448"/>
            <a:ext cx="1535366" cy="411480"/>
          </a:xfrm>
          <a:prstGeom prst="rect">
            <a:avLst/>
          </a:prstGeom>
          <a:solidFill>
            <a:srgbClr val="125C60"/>
          </a:solidFill>
          <a:ln w="6350">
            <a:solidFill>
              <a:srgbClr val="FFFFFF"/>
            </a:solidFill>
            <a:prstDash val="solid"/>
          </a:ln>
        </p:spPr>
      </p:sp>
      <p:sp>
        <p:nvSpPr>
          <p:cNvPr id="33" name="Shape 31"/>
          <p:cNvSpPr/>
          <p:nvPr/>
        </p:nvSpPr>
        <p:spPr>
          <a:xfrm>
            <a:off x="8662639" y="2441448"/>
            <a:ext cx="1137977" cy="411480"/>
          </a:xfrm>
          <a:prstGeom prst="rect">
            <a:avLst/>
          </a:prstGeom>
          <a:solidFill>
            <a:srgbClr val="43A3A3"/>
          </a:solidFill>
          <a:ln w="6350">
            <a:solidFill>
              <a:srgbClr val="FFFFFF"/>
            </a:solidFill>
            <a:prstDash val="solid"/>
          </a:ln>
        </p:spPr>
      </p:sp>
      <p:sp>
        <p:nvSpPr>
          <p:cNvPr id="34" name="Shape 32"/>
          <p:cNvSpPr/>
          <p:nvPr/>
        </p:nvSpPr>
        <p:spPr>
          <a:xfrm>
            <a:off x="9800616" y="2441448"/>
            <a:ext cx="988956" cy="411480"/>
          </a:xfrm>
          <a:prstGeom prst="rect">
            <a:avLst/>
          </a:prstGeom>
          <a:solidFill>
            <a:srgbClr val="77C7C9"/>
          </a:solidFill>
          <a:ln w="6350">
            <a:solidFill>
              <a:srgbClr val="FFFFFF"/>
            </a:solidFill>
            <a:prstDash val="solid"/>
          </a:ln>
        </p:spPr>
      </p:sp>
      <p:sp>
        <p:nvSpPr>
          <p:cNvPr id="35" name="Shape 33"/>
          <p:cNvSpPr/>
          <p:nvPr/>
        </p:nvSpPr>
        <p:spPr>
          <a:xfrm>
            <a:off x="10789572" y="2441448"/>
            <a:ext cx="704462" cy="411480"/>
          </a:xfrm>
          <a:prstGeom prst="rect">
            <a:avLst/>
          </a:prstGeom>
          <a:solidFill>
            <a:srgbClr val="B4D9E3"/>
          </a:solidFill>
          <a:ln w="6350">
            <a:solidFill>
              <a:srgbClr val="FFFFFF"/>
            </a:solidFill>
            <a:prstDash val="solid"/>
          </a:ln>
        </p:spPr>
      </p:sp>
      <p:sp>
        <p:nvSpPr>
          <p:cNvPr id="36" name="Shape 34"/>
          <p:cNvSpPr/>
          <p:nvPr/>
        </p:nvSpPr>
        <p:spPr>
          <a:xfrm>
            <a:off x="11494034" y="2441448"/>
            <a:ext cx="149021" cy="411480"/>
          </a:xfrm>
          <a:prstGeom prst="rect">
            <a:avLst/>
          </a:prstGeom>
          <a:solidFill>
            <a:srgbClr val="C9C6B8"/>
          </a:solidFill>
          <a:ln w="6350">
            <a:solidFill>
              <a:srgbClr val="FFFFFF"/>
            </a:solidFill>
            <a:prstDash val="solid"/>
          </a:ln>
        </p:spPr>
      </p:sp>
      <p:sp>
        <p:nvSpPr>
          <p:cNvPr id="37" name="Shape 35"/>
          <p:cNvSpPr/>
          <p:nvPr/>
        </p:nvSpPr>
        <p:spPr>
          <a:xfrm>
            <a:off x="7127273" y="3108960"/>
            <a:ext cx="146304" cy="146304"/>
          </a:xfrm>
          <a:prstGeom prst="rect">
            <a:avLst/>
          </a:prstGeom>
          <a:solidFill>
            <a:srgbClr val="125C60"/>
          </a:solidFill>
          <a:ln w="12700">
            <a:solidFill>
              <a:srgbClr val="125C60"/>
            </a:solidFill>
            <a:prstDash val="solid"/>
          </a:ln>
        </p:spPr>
      </p:sp>
      <p:sp>
        <p:nvSpPr>
          <p:cNvPr id="38" name="Text 36"/>
          <p:cNvSpPr txBox="1"/>
          <p:nvPr/>
        </p:nvSpPr>
        <p:spPr>
          <a:xfrm>
            <a:off x="7355873" y="3035808"/>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34¢  </a:t>
            </a:r>
            <a:pPr indent="0" marL="0">
              <a:buNone/>
            </a:pPr>
            <a:r>
              <a:rPr lang="en-US" sz="1050" dirty="0">
                <a:solidFill>
                  <a:srgbClr val="231F20"/>
                </a:solidFill>
                <a:latin typeface="Proxima Nova" pitchFamily="34" charset="0"/>
                <a:ea typeface="Proxima Nova" pitchFamily="34" charset="-122"/>
                <a:cs typeface="Proxima Nova" pitchFamily="34" charset="-120"/>
              </a:rPr>
              <a:t>Recreation and entertainment (34%)</a:t>
            </a:r>
            <a:endParaRPr lang="en-US" sz="1400" dirty="0"/>
          </a:p>
        </p:txBody>
      </p:sp>
      <p:sp>
        <p:nvSpPr>
          <p:cNvPr id="39" name="Shape 37"/>
          <p:cNvSpPr/>
          <p:nvPr/>
        </p:nvSpPr>
        <p:spPr>
          <a:xfrm>
            <a:off x="7127273" y="3493008"/>
            <a:ext cx="146304" cy="146304"/>
          </a:xfrm>
          <a:prstGeom prst="rect">
            <a:avLst/>
          </a:prstGeom>
          <a:solidFill>
            <a:srgbClr val="43A3A3"/>
          </a:solidFill>
          <a:ln w="12700">
            <a:solidFill>
              <a:srgbClr val="43A3A3"/>
            </a:solidFill>
            <a:prstDash val="solid"/>
          </a:ln>
        </p:spPr>
      </p:sp>
      <p:sp>
        <p:nvSpPr>
          <p:cNvPr id="40" name="Text 38"/>
          <p:cNvSpPr txBox="1"/>
          <p:nvPr/>
        </p:nvSpPr>
        <p:spPr>
          <a:xfrm>
            <a:off x="7355873" y="3419856"/>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25¢  </a:t>
            </a:r>
            <a:pPr indent="0" marL="0">
              <a:buNone/>
            </a:pPr>
            <a:r>
              <a:rPr lang="en-US" sz="1050" dirty="0">
                <a:solidFill>
                  <a:srgbClr val="231F20"/>
                </a:solidFill>
                <a:latin typeface="Proxima Nova" pitchFamily="34" charset="0"/>
                <a:ea typeface="Proxima Nova" pitchFamily="34" charset="-122"/>
                <a:cs typeface="Proxima Nova" pitchFamily="34" charset="-120"/>
              </a:rPr>
              <a:t>Lodging (25.2%)</a:t>
            </a:r>
            <a:endParaRPr lang="en-US" sz="1400" dirty="0"/>
          </a:p>
        </p:txBody>
      </p:sp>
      <p:sp>
        <p:nvSpPr>
          <p:cNvPr id="41" name="Shape 39"/>
          <p:cNvSpPr/>
          <p:nvPr/>
        </p:nvSpPr>
        <p:spPr>
          <a:xfrm>
            <a:off x="7127273" y="3877056"/>
            <a:ext cx="146304" cy="146304"/>
          </a:xfrm>
          <a:prstGeom prst="rect">
            <a:avLst/>
          </a:prstGeom>
          <a:solidFill>
            <a:srgbClr val="77C7C9"/>
          </a:solidFill>
          <a:ln w="12700">
            <a:solidFill>
              <a:srgbClr val="77C7C9"/>
            </a:solidFill>
            <a:prstDash val="solid"/>
          </a:ln>
        </p:spPr>
      </p:sp>
      <p:sp>
        <p:nvSpPr>
          <p:cNvPr id="42" name="Text 40"/>
          <p:cNvSpPr txBox="1"/>
          <p:nvPr/>
        </p:nvSpPr>
        <p:spPr>
          <a:xfrm>
            <a:off x="7355873" y="3803904"/>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22¢  </a:t>
            </a:r>
            <a:pPr indent="0" marL="0">
              <a:buNone/>
            </a:pPr>
            <a:r>
              <a:rPr lang="en-US" sz="1050" dirty="0">
                <a:solidFill>
                  <a:srgbClr val="231F20"/>
                </a:solidFill>
                <a:latin typeface="Proxima Nova" pitchFamily="34" charset="0"/>
                <a:ea typeface="Proxima Nova" pitchFamily="34" charset="-122"/>
                <a:cs typeface="Proxima Nova" pitchFamily="34" charset="-120"/>
              </a:rPr>
              <a:t>Retail (21.9%)</a:t>
            </a:r>
            <a:endParaRPr lang="en-US" sz="1400" dirty="0"/>
          </a:p>
        </p:txBody>
      </p:sp>
      <p:sp>
        <p:nvSpPr>
          <p:cNvPr id="43" name="Shape 41"/>
          <p:cNvSpPr/>
          <p:nvPr/>
        </p:nvSpPr>
        <p:spPr>
          <a:xfrm>
            <a:off x="7127273" y="4261104"/>
            <a:ext cx="146304" cy="146304"/>
          </a:xfrm>
          <a:prstGeom prst="rect">
            <a:avLst/>
          </a:prstGeom>
          <a:solidFill>
            <a:srgbClr val="B4D9E3"/>
          </a:solidFill>
          <a:ln w="12700">
            <a:solidFill>
              <a:srgbClr val="B4D9E3"/>
            </a:solidFill>
            <a:prstDash val="solid"/>
          </a:ln>
        </p:spPr>
      </p:sp>
      <p:sp>
        <p:nvSpPr>
          <p:cNvPr id="44" name="Text 42"/>
          <p:cNvSpPr txBox="1"/>
          <p:nvPr/>
        </p:nvSpPr>
        <p:spPr>
          <a:xfrm>
            <a:off x="7355873" y="4187952"/>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16¢  </a:t>
            </a:r>
            <a:pPr indent="0" marL="0">
              <a:buNone/>
            </a:pPr>
            <a:r>
              <a:rPr lang="en-US" sz="1050" dirty="0">
                <a:solidFill>
                  <a:srgbClr val="231F20"/>
                </a:solidFill>
                <a:latin typeface="Proxima Nova" pitchFamily="34" charset="0"/>
                <a:ea typeface="Proxima Nova" pitchFamily="34" charset="-122"/>
                <a:cs typeface="Proxima Nova" pitchFamily="34" charset="-120"/>
              </a:rPr>
              <a:t>Food and beverage (15.6%)</a:t>
            </a:r>
            <a:endParaRPr lang="en-US" sz="1400" dirty="0"/>
          </a:p>
        </p:txBody>
      </p:sp>
      <p:sp>
        <p:nvSpPr>
          <p:cNvPr id="45" name="Shape 43"/>
          <p:cNvSpPr/>
          <p:nvPr/>
        </p:nvSpPr>
        <p:spPr>
          <a:xfrm>
            <a:off x="7127273" y="4645152"/>
            <a:ext cx="146304" cy="146304"/>
          </a:xfrm>
          <a:prstGeom prst="rect">
            <a:avLst/>
          </a:prstGeom>
          <a:solidFill>
            <a:srgbClr val="C9C6B8"/>
          </a:solidFill>
          <a:ln w="12700">
            <a:solidFill>
              <a:srgbClr val="C9C6B8"/>
            </a:solidFill>
            <a:prstDash val="solid"/>
          </a:ln>
        </p:spPr>
      </p:sp>
      <p:sp>
        <p:nvSpPr>
          <p:cNvPr id="46" name="Text 44"/>
          <p:cNvSpPr txBox="1"/>
          <p:nvPr/>
        </p:nvSpPr>
        <p:spPr>
          <a:xfrm>
            <a:off x="7355873" y="4572000"/>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  </a:t>
            </a:r>
            <a:pPr indent="0" marL="0">
              <a:buNone/>
            </a:pPr>
            <a:r>
              <a:rPr lang="en-US" sz="1050" dirty="0">
                <a:solidFill>
                  <a:srgbClr val="231F20"/>
                </a:solidFill>
                <a:latin typeface="Proxima Nova" pitchFamily="34" charset="0"/>
                <a:ea typeface="Proxima Nova" pitchFamily="34" charset="-122"/>
                <a:cs typeface="Proxima Nova" pitchFamily="34" charset="-120"/>
              </a:rPr>
              <a:t>Transportation (3.3%)</a:t>
            </a:r>
            <a:endParaRPr lang="en-US" sz="1400" dirty="0"/>
          </a:p>
        </p:txBody>
      </p:sp>
      <p:sp>
        <p:nvSpPr>
          <p:cNvPr id="4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visitor card spending in Anaheim comes from, by U.S. metro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Visitor card spending by cardholder home metro, August 2026 · circle area shows spending</a:t>
            </a:r>
            <a:endParaRPr lang="en-US" sz="1200" dirty="0"/>
          </a:p>
        </p:txBody>
      </p:sp>
      <p:pic>
        <p:nvPicPr>
          <p:cNvPr id="4" name="Image 0" descr="Where visitor card spending in Anaheim comes from, by U.S. metro area: Los Angeles–Long Beach–Anaheim $307.3M (66.1% of total), Riverside–San Bernardino–Ontario $28.9M (6.2% of total), San Diego–Chula Vista–Carlsbad $10.5M (2.3% of total), San Francisco–Oakland–Berkeley $8.6M (1.9% of total), Seattle–Tacoma–Bellevue $5.4M (1.2% of total), Phoenix–Mesa–Chandler $4.9M (1.1% of total), Las Vegas–Henderson–Paradise $4.5M (1.0% of total), San Jose–Sunnyvale–Santa Clara $4.5M (1.0% of total)">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6" name="Text 3"/>
          <p:cNvSpPr txBox="1"/>
          <p:nvPr/>
        </p:nvSpPr>
        <p:spPr>
          <a:xfrm>
            <a:off x="7918704" y="170992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$307.3M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7" name="Text 4"/>
          <p:cNvSpPr txBox="1"/>
          <p:nvPr/>
        </p:nvSpPr>
        <p:spPr>
          <a:xfrm>
            <a:off x="7918704" y="201168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$28.9M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8" name="Text 5"/>
          <p:cNvSpPr txBox="1"/>
          <p:nvPr/>
        </p:nvSpPr>
        <p:spPr>
          <a:xfrm>
            <a:off x="7918704" y="231343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$10.5M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9" name="Text 6"/>
          <p:cNvSpPr txBox="1"/>
          <p:nvPr/>
        </p:nvSpPr>
        <p:spPr>
          <a:xfrm>
            <a:off x="7918704" y="261518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$8.6M  </a:t>
            </a:r>
            <a:pPr indent="0" marL="0">
              <a:buNone/>
            </a:pPr>
            <a:r>
              <a:rPr lang="en-US" sz="1000" dirty="0">
                <a:solidFill>
                  <a:srgbClr val="231F20"/>
                </a:solidFill>
                <a:latin typeface="Proxima Nova" pitchFamily="34" charset="0"/>
                <a:ea typeface="Proxima Nova" pitchFamily="34" charset="-122"/>
                <a:cs typeface="Proxima Nova" pitchFamily="34" charset="-120"/>
              </a:rPr>
              <a:t>San Francisco–Oakland–Berkeley</a:t>
            </a:r>
            <a:endParaRPr lang="en-US" sz="1200" dirty="0"/>
          </a:p>
        </p:txBody>
      </p:sp>
      <p:sp>
        <p:nvSpPr>
          <p:cNvPr id="10" name="Text 7"/>
          <p:cNvSpPr txBox="1"/>
          <p:nvPr/>
        </p:nvSpPr>
        <p:spPr>
          <a:xfrm>
            <a:off x="7918704" y="291693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$5.4M  </a:t>
            </a:r>
            <a:pPr indent="0" marL="0">
              <a:buNone/>
            </a:pPr>
            <a:r>
              <a:rPr lang="en-US" sz="1000" dirty="0">
                <a:solidFill>
                  <a:srgbClr val="231F20"/>
                </a:solidFill>
                <a:latin typeface="Proxima Nova" pitchFamily="34" charset="0"/>
                <a:ea typeface="Proxima Nova" pitchFamily="34" charset="-122"/>
                <a:cs typeface="Proxima Nova" pitchFamily="34" charset="-120"/>
              </a:rPr>
              <a:t>Seattle–Tacoma–Bellevue</a:t>
            </a:r>
            <a:endParaRPr lang="en-US" sz="1200" dirty="0"/>
          </a:p>
        </p:txBody>
      </p:sp>
      <p:sp>
        <p:nvSpPr>
          <p:cNvPr id="11" name="Text 8"/>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$4.9M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12" name="Text 9"/>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Las Vegas–Henderson–Paradise</a:t>
            </a:r>
            <a:endParaRPr lang="en-US" sz="1200" dirty="0"/>
          </a:p>
        </p:txBody>
      </p:sp>
      <p:sp>
        <p:nvSpPr>
          <p:cNvPr id="13" name="Text 10"/>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San Jose–Sunnyvale–Santa Clara</a:t>
            </a:r>
            <a:endParaRPr lang="en-US" sz="120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International card spending, by visitor's home country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International visitor card spending in Anaheim, August 2026 · circle area shows spending</a:t>
            </a:r>
            <a:endParaRPr lang="en-US" sz="1200" dirty="0"/>
          </a:p>
        </p:txBody>
      </p:sp>
      <p:pic>
        <p:nvPicPr>
          <p:cNvPr id="4" name="Image 0" descr="International card spending, by visitor's home country: Mexico $5.2M, Canada $3.2M, Japan $2.4M, United Kingdom $1.4M, China (mainland) $797K, Australia $594K">    </p:cNvPr>
          <p:cNvPicPr>
            <a:picLocks noChangeAspect="1"/>
          </p:cNvPicPr>
          <p:nvPr/>
        </p:nvPicPr>
        <p:blipFill>
          <a:blip r:embed="rId1"/>
          <a:stretch>
            <a:fillRect/>
          </a:stretch>
        </p:blipFill>
        <p:spPr>
          <a:xfrm>
            <a:off x="548640" y="1417320"/>
            <a:ext cx="7955280" cy="3894773"/>
          </a:xfrm>
          <a:prstGeom prst="rect">
            <a:avLst/>
          </a:prstGeom>
        </p:spPr>
      </p:pic>
      <p:sp>
        <p:nvSpPr>
          <p:cNvPr id="5" name="Text 2"/>
          <p:cNvSpPr txBox="1"/>
          <p:nvPr/>
        </p:nvSpPr>
        <p:spPr>
          <a:xfrm>
            <a:off x="8778240" y="1417320"/>
            <a:ext cx="2864815"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COUNTRIES (CIRCLES)</a:t>
            </a:r>
            <a:endParaRPr lang="en-US" sz="950" dirty="0"/>
          </a:p>
        </p:txBody>
      </p:sp>
      <p:sp>
        <p:nvSpPr>
          <p:cNvPr id="6" name="Text 3"/>
          <p:cNvSpPr txBox="1"/>
          <p:nvPr/>
        </p:nvSpPr>
        <p:spPr>
          <a:xfrm>
            <a:off x="8778240" y="170992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$5.2M  </a:t>
            </a:r>
            <a:pPr indent="0" marL="0">
              <a:buNone/>
            </a:pPr>
            <a:r>
              <a:rPr lang="en-US" sz="1000" dirty="0">
                <a:solidFill>
                  <a:srgbClr val="231F20"/>
                </a:solidFill>
                <a:latin typeface="Proxima Nova" pitchFamily="34" charset="0"/>
                <a:ea typeface="Proxima Nova" pitchFamily="34" charset="-122"/>
                <a:cs typeface="Proxima Nova" pitchFamily="34" charset="-120"/>
              </a:rPr>
              <a:t>Mexico</a:t>
            </a:r>
            <a:endParaRPr lang="en-US" sz="1200" dirty="0"/>
          </a:p>
        </p:txBody>
      </p:sp>
      <p:sp>
        <p:nvSpPr>
          <p:cNvPr id="7" name="Text 4"/>
          <p:cNvSpPr txBox="1"/>
          <p:nvPr/>
        </p:nvSpPr>
        <p:spPr>
          <a:xfrm>
            <a:off x="8778240" y="2011680"/>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$3.2M  </a:t>
            </a:r>
            <a:pPr indent="0" marL="0">
              <a:buNone/>
            </a:pPr>
            <a:r>
              <a:rPr lang="en-US" sz="1000" dirty="0">
                <a:solidFill>
                  <a:srgbClr val="231F20"/>
                </a:solidFill>
                <a:latin typeface="Proxima Nova" pitchFamily="34" charset="0"/>
                <a:ea typeface="Proxima Nova" pitchFamily="34" charset="-122"/>
                <a:cs typeface="Proxima Nova" pitchFamily="34" charset="-120"/>
              </a:rPr>
              <a:t>Canada</a:t>
            </a:r>
            <a:endParaRPr lang="en-US" sz="1200" dirty="0"/>
          </a:p>
        </p:txBody>
      </p:sp>
      <p:sp>
        <p:nvSpPr>
          <p:cNvPr id="8" name="Text 5"/>
          <p:cNvSpPr txBox="1"/>
          <p:nvPr/>
        </p:nvSpPr>
        <p:spPr>
          <a:xfrm>
            <a:off x="8778240" y="2313432"/>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$2.4M  </a:t>
            </a:r>
            <a:pPr indent="0" marL="0">
              <a:buNone/>
            </a:pPr>
            <a:r>
              <a:rPr lang="en-US" sz="1000" dirty="0">
                <a:solidFill>
                  <a:srgbClr val="231F20"/>
                </a:solidFill>
                <a:latin typeface="Proxima Nova" pitchFamily="34" charset="0"/>
                <a:ea typeface="Proxima Nova" pitchFamily="34" charset="-122"/>
                <a:cs typeface="Proxima Nova" pitchFamily="34" charset="-120"/>
              </a:rPr>
              <a:t>Japan</a:t>
            </a:r>
            <a:endParaRPr lang="en-US" sz="1200" dirty="0"/>
          </a:p>
        </p:txBody>
      </p:sp>
      <p:sp>
        <p:nvSpPr>
          <p:cNvPr id="9" name="Text 6"/>
          <p:cNvSpPr txBox="1"/>
          <p:nvPr/>
        </p:nvSpPr>
        <p:spPr>
          <a:xfrm>
            <a:off x="8778240" y="2615184"/>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$1.4M  </a:t>
            </a:r>
            <a:pPr indent="0" marL="0">
              <a:buNone/>
            </a:pPr>
            <a:r>
              <a:rPr lang="en-US" sz="1000" dirty="0">
                <a:solidFill>
                  <a:srgbClr val="231F20"/>
                </a:solidFill>
                <a:latin typeface="Proxima Nova" pitchFamily="34" charset="0"/>
                <a:ea typeface="Proxima Nova" pitchFamily="34" charset="-122"/>
                <a:cs typeface="Proxima Nova" pitchFamily="34" charset="-120"/>
              </a:rPr>
              <a:t>United Kingdom</a:t>
            </a:r>
            <a:endParaRPr lang="en-US" sz="1200" dirty="0"/>
          </a:p>
        </p:txBody>
      </p:sp>
      <p:sp>
        <p:nvSpPr>
          <p:cNvPr id="10" name="Text 7"/>
          <p:cNvSpPr txBox="1"/>
          <p:nvPr/>
        </p:nvSpPr>
        <p:spPr>
          <a:xfrm>
            <a:off x="8778240" y="2916936"/>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$797K  </a:t>
            </a:r>
            <a:pPr indent="0" marL="0">
              <a:buNone/>
            </a:pPr>
            <a:r>
              <a:rPr lang="en-US" sz="1000" dirty="0">
                <a:solidFill>
                  <a:srgbClr val="231F20"/>
                </a:solidFill>
                <a:latin typeface="Proxima Nova" pitchFamily="34" charset="0"/>
                <a:ea typeface="Proxima Nova" pitchFamily="34" charset="-122"/>
                <a:cs typeface="Proxima Nova" pitchFamily="34" charset="-120"/>
              </a:rPr>
              <a:t>China (mainland)</a:t>
            </a:r>
            <a:endParaRPr lang="en-US" sz="1200" dirty="0"/>
          </a:p>
        </p:txBody>
      </p:sp>
      <p:sp>
        <p:nvSpPr>
          <p:cNvPr id="11" name="Text 8"/>
          <p:cNvSpPr txBox="1"/>
          <p:nvPr/>
        </p:nvSpPr>
        <p:spPr>
          <a:xfrm>
            <a:off x="8778240" y="321868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$594K  </a:t>
            </a:r>
            <a:pPr indent="0" marL="0">
              <a:buNone/>
            </a:pPr>
            <a:r>
              <a:rPr lang="en-US" sz="1000" dirty="0">
                <a:solidFill>
                  <a:srgbClr val="231F20"/>
                </a:solidFill>
                <a:latin typeface="Proxima Nova" pitchFamily="34" charset="0"/>
                <a:ea typeface="Proxima Nova" pitchFamily="34" charset="-122"/>
                <a:cs typeface="Proxima Nova" pitchFamily="34" charset="-120"/>
              </a:rPr>
              <a:t>Australia</a:t>
            </a:r>
            <a:endParaRPr lang="en-US" sz="12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Each Anaheim visitor is forecast to spend $279 by 2028, up from $223 in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Average visitor spending · Tourism Economics Anaheim and Garden Grove Travel Forecast, Sept.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$258</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+2.3% vs. 2024 · 26.5M visits, $6.8B spent</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Q2 2026</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$1.76B</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+7.8% vs. Q2 2025 · visits ▲ +2.8% to 6.74M</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2028 FORECAST</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$279</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 spending $7.7B · 27.6M visits</a:t>
            </a:r>
            <a:endParaRPr lang="en-US" sz="1000" dirty="0"/>
          </a:p>
        </p:txBody>
      </p:sp>
      <p:sp>
        <p:nvSpPr>
          <p:cNvPr id="20" name="Text 17"/>
          <p:cNvSpPr txBox="1"/>
          <p:nvPr/>
        </p:nvSpPr>
        <p:spPr>
          <a:xfrm>
            <a:off x="548640" y="3108960"/>
            <a:ext cx="658368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Anaheim (2026–2028 forecast)</a:t>
            </a:r>
            <a:endParaRPr lang="en-US" sz="1300" dirty="0"/>
          </a:p>
        </p:txBody>
      </p:sp>
      <p:graphicFrame>
        <p:nvGraphicFramePr>
          <p:cNvPr id="21" name="chart-pv" descr=""/>
          <p:cNvGraphicFramePr/>
          <p:nvPr/>
        </p:nvGraphicFramePr>
        <p:xfrm>
          <a:off x="548640" y="3429000"/>
          <a:ext cx="65836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7406640" y="3154680"/>
          <a:ext cx="4206240" cy="914400"/>
        </p:xfrm>
        <a:graphic>
          <a:graphicData uri="http://schemas.openxmlformats.org/drawingml/2006/table">
            <a:tbl>
              <a:tblPr/>
              <a:tblGrid>
                <a:gridCol w="1097280"/>
                <a:gridCol w="731520"/>
                <a:gridCol w="777240"/>
                <a:gridCol w="777240"/>
                <a:gridCol w="822960"/>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2026 forecast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$17.99B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3" name="Text 18"/>
          <p:cNvSpPr txBox="1"/>
          <p:nvPr/>
        </p:nvSpPr>
        <p:spPr>
          <a:xfrm>
            <a:off x="7406640" y="4846320"/>
            <a:ext cx="4206240" cy="1097280"/>
          </a:xfrm>
          <a:prstGeom prst="rect">
            <a:avLst/>
          </a:prstGeom>
          <a:noFill/>
          <a:ln/>
        </p:spPr>
        <p:txBody>
          <a:bodyPr wrap="square" lIns="0" tIns="0" rIns="0" bIns="0" rtlCol="0" anchor="t"/>
          <a:lstStyle/>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Spending is forecast to grow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3.9%</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a year to 2028, three times faster than visits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1.3%</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Overnight visits are growing fastest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in Q2 2026).</a:t>
            </a:r>
            <a:endParaRPr lang="en-US" sz="1100" dirty="0"/>
          </a:p>
        </p:txBody>
      </p:sp>
      <p:sp>
        <p:nvSpPr>
          <p:cNvPr id="2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(Sept. 2026) and Economic Impact of Visitors 2025. Per-visitor values are BI calculations from rounded totals (approximate).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Q2 2026: visitors spent $1.76 billion in Anaheim,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Quarterly results · Tourism Economics Q2 2026 measurement</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120640" cy="914400"/>
        </p:xfrm>
        <a:graphic>
          <a:graphicData uri="http://schemas.openxmlformats.org/drawingml/2006/table">
            <a:tbl>
              <a:tblPr/>
              <a:tblGrid>
                <a:gridCol w="1280160"/>
                <a:gridCol w="1188720"/>
                <a:gridCol w="1371600"/>
                <a:gridCol w="128016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Quarter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Per visitor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6.55M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Q3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6.85M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Q4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7.01M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$1.72B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6.74M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$1.76B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21"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69280" cy="914400"/>
        </p:xfrm>
        <a:graphic>
          <a:graphicData uri="http://schemas.openxmlformats.org/drawingml/2006/table">
            <a:tbl>
              <a:tblPr/>
              <a:tblGrid>
                <a:gridCol w="777240"/>
                <a:gridCol w="777240"/>
                <a:gridCol w="1234440"/>
                <a:gridCol w="1005840"/>
                <a:gridCol w="868680"/>
                <a:gridCol w="100584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Day /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$6.5B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17.7M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$6.6B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+3.1%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18.1M / 8.9M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18.3M / 9.0M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$7.4B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18.5M / 9.1M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$7.7B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548640" y="4343400"/>
            <a:ext cx="5120640" cy="164592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Visits rose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2.8% to 6.74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overnight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day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Hotel rates were nearly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above Q2 2025.</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First half 2026: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13.1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Garden Grove Q2: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831,000 visitors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+3.4%</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$200.4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(published Sept. 2026; data through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visitor spending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Forecast per visitor,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Q2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vs. Q2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$1.76B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Growth rates to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$6.83B (2025) → $7.7B (2028 forecast) = +4.1% a year; visits 26.5M → 27.6M = +1.4% a year; per visitor $258 → $279 = +2.6% a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 vs. +1.4%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Tourism Economics (Sept. 2026); Tourism Economics;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$279</a:t>
            </a:r>
            <a:pPr indent="0" marL="0">
              <a:buNone/>
            </a:pPr>
            <a:r>
              <a:rPr lang="en-US" sz="110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$1.76B</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100" b="1" dirty="0">
                <a:solidFill>
                  <a:srgbClr val="125C60"/>
                </a:solidFill>
                <a:latin typeface="Proxima Nova" pitchFamily="34" charset="0"/>
                <a:ea typeface="Proxima Nova" pitchFamily="34" charset="-122"/>
                <a:cs typeface="Proxima Nova" pitchFamily="34" charset="-120"/>
              </a:rPr>
              <a:t>7.8%</a:t>
            </a:r>
            <a:pPr indent="0" marL="0">
              <a:buNone/>
            </a:pPr>
            <a:r>
              <a:rPr lang="en-US" sz="1100" dirty="0">
                <a:solidFill>
                  <a:srgbClr val="231F20"/>
                </a:solidFill>
                <a:latin typeface="Proxima Nova" pitchFamily="34" charset="0"/>
                <a:ea typeface="Proxima Nova" pitchFamily="34" charset="-122"/>
                <a:cs typeface="Proxima Nova" pitchFamily="34" charset="-120"/>
              </a:rPr>
              <a:t> from Q2 2025.</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 spending grows faster than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to 2028), so premium seating, dining and packages add more value than attendance alone. [Calculation: Visitor spending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(2025)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$7.7B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(2028 forecast)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per visitor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Visitor card spending reached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$464.6M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August 2026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spending per card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4.7% to $85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event and package pricing built for visitors as well as locals; the average visitor card transaction was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Card spending mapped to the OC Vibe area, to separate OC Vibe's spending from the citywide total.</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Visits and spending per visitor tracked together, so price increases are not mistaken for growth.</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supported 67,817 Anaheim jobs in 2025, one in three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Jobs and economy · Calendar 2025 vs. 2024 · Tourism Economics regional reports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a:t>
            </a:r>
            <a:pPr indent="0" marL="0">
              <a:buNone/>
            </a:pPr>
            <a:r>
              <a:rPr lang="en-US" sz="135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350" b="1" dirty="0">
                <a:solidFill>
                  <a:srgbClr val="125C60"/>
                </a:solidFill>
                <a:latin typeface="Proxima Nova" pitchFamily="34" charset="0"/>
                <a:ea typeface="Proxima Nova" pitchFamily="34" charset="-122"/>
                <a:cs typeface="Proxima Nova" pitchFamily="34" charset="-120"/>
              </a:rPr>
              <a:t>178,164</a:t>
            </a:r>
            <a:pPr indent="0" marL="0">
              <a:buNone/>
            </a:pPr>
            <a:r>
              <a:rPr lang="en-US" sz="135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350" b="1" dirty="0">
                <a:solidFill>
                  <a:srgbClr val="125C60"/>
                </a:solidFill>
                <a:latin typeface="Proxima Nova" pitchFamily="34" charset="0"/>
                <a:ea typeface="Proxima Nova" pitchFamily="34" charset="-122"/>
                <a:cs typeface="Proxima Nova" pitchFamily="34" charset="-120"/>
              </a:rPr>
              <a:t>16.8%</a:t>
            </a:r>
            <a:pPr indent="0" marL="0">
              <a:buNone/>
            </a:pPr>
            <a:r>
              <a:rPr lang="en-US" sz="135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350" b="1" dirty="0">
                <a:solidFill>
                  <a:srgbClr val="125C60"/>
                </a:solidFill>
                <a:latin typeface="Proxima Nova" pitchFamily="34" charset="0"/>
                <a:ea typeface="Proxima Nova" pitchFamily="34" charset="-122"/>
                <a:cs typeface="Proxima Nova" pitchFamily="34" charset="-120"/>
              </a:rPr>
              <a:t>29.1%</a:t>
            </a:r>
            <a:pPr indent="0" marL="0">
              <a:buNone/>
            </a:pPr>
            <a:r>
              <a:rPr lang="en-US" sz="1350" dirty="0">
                <a:solidFill>
                  <a:srgbClr val="231F20"/>
                </a:solidFill>
                <a:latin typeface="Proxima Nova" pitchFamily="34" charset="0"/>
                <a:ea typeface="Proxima Nova" pitchFamily="34" charset="-122"/>
                <a:cs typeface="Proxima Nova" pitchFamily="34" charset="-120"/>
              </a:rPr>
              <a:t> countywide.</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GARDEN GROVE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6,694</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jobs supported by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Workers and households in Anaheim, Garden Grove and Orange County supported by visitor spending.</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$10.4B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 Anaheim,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in Anaheim (one in three), </a:t>
            </a:r>
            <a:pPr indent="0" marL="0">
              <a:buNone/>
            </a:pPr>
            <a:r>
              <a:rPr lang="en-US" sz="950" b="1" dirty="0">
                <a:solidFill>
                  <a:srgbClr val="125C60"/>
                </a:solidFill>
                <a:latin typeface="Proxima Nova" pitchFamily="34" charset="0"/>
                <a:ea typeface="Proxima Nova" pitchFamily="34" charset="-122"/>
                <a:cs typeface="Proxima Nova" pitchFamily="34" charset="-120"/>
              </a:rPr>
              <a:t>$10.4B</a:t>
            </a:r>
            <a:pPr indent="0" marL="0">
              <a:buNone/>
            </a:pPr>
            <a:r>
              <a:rPr lang="en-US" sz="950" dirty="0">
                <a:solidFill>
                  <a:srgbClr val="231F20"/>
                </a:solidFill>
                <a:latin typeface="Proxima Nova" pitchFamily="34" charset="0"/>
                <a:ea typeface="Proxima Nova" pitchFamily="34" charset="-122"/>
                <a:cs typeface="Proxima Nova" pitchFamily="34" charset="-120"/>
              </a:rPr>
              <a:t> total impact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in state and local taxes; food and beverage is </a:t>
            </a:r>
            <a:pPr indent="0" marL="0">
              <a:buNone/>
            </a:pPr>
            <a:r>
              <a:rPr lang="en-US" sz="950" b="1" dirty="0">
                <a:solidFill>
                  <a:srgbClr val="125C60"/>
                </a:solidFill>
                <a:latin typeface="Proxima Nova" pitchFamily="34" charset="0"/>
                <a:ea typeface="Proxima Nova" pitchFamily="34" charset="-122"/>
                <a:cs typeface="Proxima Nova" pitchFamily="34" charset="-120"/>
              </a:rPr>
              <a:t>16.8%</a:t>
            </a:r>
            <a:pPr indent="0" marL="0">
              <a:buNone/>
            </a:pPr>
            <a:r>
              <a:rPr lang="en-US" sz="950" dirty="0">
                <a:solidFill>
                  <a:srgbClr val="231F20"/>
                </a:solidFill>
                <a:latin typeface="Proxima Nova" pitchFamily="34" charset="0"/>
                <a:ea typeface="Proxima Nova" pitchFamily="34" charset="-122"/>
                <a:cs typeface="Proxima Nova" pitchFamily="34" charset="-120"/>
              </a:rPr>
              <a:t> of those jobs.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vs. 2024</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calendar years compared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vs. 2024.</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jobs supported countywide (Orange County)</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Garden Grove and Orange County.</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$970M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 Anaheim, 2025</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These ratios turn OC Vibe's visitor spending into jobs and tax revenue.</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effects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direct, indirect and induced spending</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input-output model: direct spending plus supply-chain (indirect) and wage (induced) effects.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About one in three Anaheim jobs is supported by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figure is 10% of all jobs in Anaheim, 2025</a:t>
            </a:r>
            <a:endParaRPr lang="en-US" sz="950" dirty="0"/>
          </a:p>
        </p:txBody>
      </p:sp>
      <p:sp>
        <p:nvSpPr>
          <p:cNvPr id="6" name="Shape 4"/>
          <p:cNvSpPr/>
          <p:nvPr/>
        </p:nvSpPr>
        <p:spPr>
          <a:xfrm>
            <a:off x="690372" y="2075688"/>
            <a:ext cx="283464" cy="283464"/>
          </a:xfrm>
          <a:prstGeom prst="ellipse">
            <a:avLst/>
          </a:prstGeom>
          <a:solidFill>
            <a:srgbClr val="43A3A3"/>
          </a:solidFill>
          <a:ln w="12700">
            <a:solidFill>
              <a:srgbClr val="FFFFFF"/>
            </a:solidFill>
            <a:prstDash val="solid"/>
          </a:ln>
        </p:spPr>
      </p:sp>
      <p:sp>
        <p:nvSpPr>
          <p:cNvPr id="7" name="Shape 5"/>
          <p:cNvSpPr/>
          <p:nvPr/>
        </p:nvSpPr>
        <p:spPr>
          <a:xfrm>
            <a:off x="548640" y="2404506"/>
            <a:ext cx="566928" cy="907085"/>
          </a:xfrm>
          <a:prstGeom prst="roundRect">
            <a:avLst>
              <a:gd name="adj" fmla="val 19355"/>
            </a:avLst>
          </a:prstGeom>
          <a:solidFill>
            <a:srgbClr val="B4D9E3"/>
          </a:solidFill>
          <a:ln w="12700">
            <a:solidFill>
              <a:srgbClr val="FFFFFF"/>
            </a:solidFill>
            <a:prstDash val="solid"/>
          </a:ln>
        </p:spPr>
      </p:sp>
      <p:sp>
        <p:nvSpPr>
          <p:cNvPr id="8" name="Shape 6"/>
          <p:cNvSpPr/>
          <p:nvPr/>
        </p:nvSpPr>
        <p:spPr>
          <a:xfrm>
            <a:off x="548640" y="2404506"/>
            <a:ext cx="566928" cy="907085"/>
          </a:xfrm>
          <a:prstGeom prst="roundRect">
            <a:avLst>
              <a:gd name="adj" fmla="val 19355"/>
            </a:avLst>
          </a:prstGeom>
          <a:solidFill>
            <a:srgbClr val="43A3A3"/>
          </a:solidFill>
          <a:ln w="12700">
            <a:solidFill>
              <a:srgbClr val="FFFFFF"/>
            </a:solidFill>
            <a:prstDash val="solid"/>
          </a:ln>
        </p:spPr>
      </p:sp>
      <p:sp>
        <p:nvSpPr>
          <p:cNvPr id="9" name="Shape 7"/>
          <p:cNvSpPr/>
          <p:nvPr/>
        </p:nvSpPr>
        <p:spPr>
          <a:xfrm>
            <a:off x="1421892" y="2075688"/>
            <a:ext cx="283464" cy="283464"/>
          </a:xfrm>
          <a:prstGeom prst="ellipse">
            <a:avLst/>
          </a:prstGeom>
          <a:solidFill>
            <a:srgbClr val="43A3A3"/>
          </a:solidFill>
          <a:ln w="12700">
            <a:solidFill>
              <a:srgbClr val="FFFFFF"/>
            </a:solidFill>
            <a:prstDash val="solid"/>
          </a:ln>
        </p:spPr>
      </p:sp>
      <p:sp>
        <p:nvSpPr>
          <p:cNvPr id="10" name="Shape 8"/>
          <p:cNvSpPr/>
          <p:nvPr/>
        </p:nvSpPr>
        <p:spPr>
          <a:xfrm>
            <a:off x="1280160" y="2404506"/>
            <a:ext cx="566928" cy="907085"/>
          </a:xfrm>
          <a:prstGeom prst="roundRect">
            <a:avLst>
              <a:gd name="adj" fmla="val 19355"/>
            </a:avLst>
          </a:prstGeom>
          <a:solidFill>
            <a:srgbClr val="B4D9E3"/>
          </a:solidFill>
          <a:ln w="12700">
            <a:solidFill>
              <a:srgbClr val="FFFFFF"/>
            </a:solidFill>
            <a:prstDash val="solid"/>
          </a:ln>
        </p:spPr>
      </p:sp>
      <p:sp>
        <p:nvSpPr>
          <p:cNvPr id="11" name="Shape 9"/>
          <p:cNvSpPr/>
          <p:nvPr/>
        </p:nvSpPr>
        <p:spPr>
          <a:xfrm>
            <a:off x="1280160" y="2404506"/>
            <a:ext cx="566928" cy="907085"/>
          </a:xfrm>
          <a:prstGeom prst="roundRect">
            <a:avLst>
              <a:gd name="adj" fmla="val 19355"/>
            </a:avLst>
          </a:prstGeom>
          <a:solidFill>
            <a:srgbClr val="43A3A3"/>
          </a:solidFill>
          <a:ln w="12700">
            <a:solidFill>
              <a:srgbClr val="FFFFFF"/>
            </a:solidFill>
            <a:prstDash val="solid"/>
          </a:ln>
        </p:spPr>
      </p:sp>
      <p:sp>
        <p:nvSpPr>
          <p:cNvPr id="12" name="Shape 10"/>
          <p:cNvSpPr/>
          <p:nvPr/>
        </p:nvSpPr>
        <p:spPr>
          <a:xfrm>
            <a:off x="2153412" y="2075688"/>
            <a:ext cx="283464" cy="283464"/>
          </a:xfrm>
          <a:prstGeom prst="ellipse">
            <a:avLst/>
          </a:prstGeom>
          <a:solidFill>
            <a:srgbClr val="43A3A3"/>
          </a:solidFill>
          <a:ln w="12700">
            <a:solidFill>
              <a:srgbClr val="FFFFFF"/>
            </a:solidFill>
            <a:prstDash val="solid"/>
          </a:ln>
        </p:spPr>
      </p:sp>
      <p:sp>
        <p:nvSpPr>
          <p:cNvPr id="13" name="Shape 11"/>
          <p:cNvSpPr/>
          <p:nvPr/>
        </p:nvSpPr>
        <p:spPr>
          <a:xfrm>
            <a:off x="2011680" y="2404506"/>
            <a:ext cx="566928" cy="907085"/>
          </a:xfrm>
          <a:prstGeom prst="roundRect">
            <a:avLst>
              <a:gd name="adj" fmla="val 19355"/>
            </a:avLst>
          </a:prstGeom>
          <a:solidFill>
            <a:srgbClr val="B4D9E3"/>
          </a:solidFill>
          <a:ln w="12700">
            <a:solidFill>
              <a:srgbClr val="FFFFFF"/>
            </a:solidFill>
            <a:prstDash val="solid"/>
          </a:ln>
        </p:spPr>
      </p:sp>
      <p:sp>
        <p:nvSpPr>
          <p:cNvPr id="14" name="Shape 12"/>
          <p:cNvSpPr/>
          <p:nvPr/>
        </p:nvSpPr>
        <p:spPr>
          <a:xfrm>
            <a:off x="2011680" y="2404506"/>
            <a:ext cx="566928" cy="907085"/>
          </a:xfrm>
          <a:prstGeom prst="roundRect">
            <a:avLst>
              <a:gd name="adj" fmla="val 19355"/>
            </a:avLst>
          </a:prstGeom>
          <a:solidFill>
            <a:srgbClr val="43A3A3"/>
          </a:solidFill>
          <a:ln w="12700">
            <a:solidFill>
              <a:srgbClr val="FFFFFF"/>
            </a:solidFill>
            <a:prstDash val="solid"/>
          </a:ln>
        </p:spPr>
      </p:sp>
      <p:sp>
        <p:nvSpPr>
          <p:cNvPr id="15" name="Shape 13"/>
          <p:cNvSpPr/>
          <p:nvPr/>
        </p:nvSpPr>
        <p:spPr>
          <a:xfrm>
            <a:off x="2884932" y="2075688"/>
            <a:ext cx="283464" cy="283464"/>
          </a:xfrm>
          <a:prstGeom prst="ellipse">
            <a:avLst/>
          </a:prstGeom>
          <a:solidFill>
            <a:srgbClr val="B4D9E3"/>
          </a:solidFill>
          <a:ln w="12700">
            <a:solidFill>
              <a:srgbClr val="FFFFFF"/>
            </a:solidFill>
            <a:prstDash val="solid"/>
          </a:ln>
        </p:spPr>
      </p:sp>
      <p:sp>
        <p:nvSpPr>
          <p:cNvPr id="16" name="Shape 14"/>
          <p:cNvSpPr/>
          <p:nvPr/>
        </p:nvSpPr>
        <p:spPr>
          <a:xfrm>
            <a:off x="2743200" y="2404506"/>
            <a:ext cx="566928" cy="907085"/>
          </a:xfrm>
          <a:prstGeom prst="roundRect">
            <a:avLst>
              <a:gd name="adj" fmla="val 19355"/>
            </a:avLst>
          </a:prstGeom>
          <a:solidFill>
            <a:srgbClr val="B4D9E3"/>
          </a:solidFill>
          <a:ln w="12700">
            <a:solidFill>
              <a:srgbClr val="FFFFFF"/>
            </a:solidFill>
            <a:prstDash val="solid"/>
          </a:ln>
        </p:spPr>
      </p:sp>
      <p:sp>
        <p:nvSpPr>
          <p:cNvPr id="17" name="Shape 15"/>
          <p:cNvSpPr/>
          <p:nvPr/>
        </p:nvSpPr>
        <p:spPr>
          <a:xfrm>
            <a:off x="2743200" y="2404506"/>
            <a:ext cx="158740" cy="907085"/>
          </a:xfrm>
          <a:prstGeom prst="roundRect">
            <a:avLst>
              <a:gd name="adj" fmla="val 11521"/>
            </a:avLst>
          </a:prstGeom>
          <a:solidFill>
            <a:srgbClr val="43A3A3"/>
          </a:solidFill>
          <a:ln w="12700">
            <a:solidFill>
              <a:srgbClr val="FFFFFF"/>
            </a:solidFill>
            <a:prstDash val="solid"/>
          </a:ln>
        </p:spPr>
      </p:sp>
      <p:sp>
        <p:nvSpPr>
          <p:cNvPr id="18" name="Shape 16"/>
          <p:cNvSpPr/>
          <p:nvPr/>
        </p:nvSpPr>
        <p:spPr>
          <a:xfrm>
            <a:off x="3616452" y="2075688"/>
            <a:ext cx="283464" cy="283464"/>
          </a:xfrm>
          <a:prstGeom prst="ellipse">
            <a:avLst/>
          </a:prstGeom>
          <a:solidFill>
            <a:srgbClr val="B4D9E3"/>
          </a:solidFill>
          <a:ln w="12700">
            <a:solidFill>
              <a:srgbClr val="FFFFFF"/>
            </a:solidFill>
            <a:prstDash val="solid"/>
          </a:ln>
        </p:spPr>
      </p:sp>
      <p:sp>
        <p:nvSpPr>
          <p:cNvPr id="19" name="Shape 17"/>
          <p:cNvSpPr/>
          <p:nvPr/>
        </p:nvSpPr>
        <p:spPr>
          <a:xfrm>
            <a:off x="3474720" y="2404506"/>
            <a:ext cx="566928" cy="907085"/>
          </a:xfrm>
          <a:prstGeom prst="roundRect">
            <a:avLst>
              <a:gd name="adj" fmla="val 19355"/>
            </a:avLst>
          </a:prstGeom>
          <a:solidFill>
            <a:srgbClr val="B4D9E3"/>
          </a:solidFill>
          <a:ln w="12700">
            <a:solidFill>
              <a:srgbClr val="FFFFFF"/>
            </a:solidFill>
            <a:prstDash val="solid"/>
          </a:ln>
        </p:spPr>
      </p:sp>
      <p:sp>
        <p:nvSpPr>
          <p:cNvPr id="20" name="Shape 18"/>
          <p:cNvSpPr/>
          <p:nvPr/>
        </p:nvSpPr>
        <p:spPr>
          <a:xfrm>
            <a:off x="4347972" y="2075688"/>
            <a:ext cx="283464" cy="283464"/>
          </a:xfrm>
          <a:prstGeom prst="ellipse">
            <a:avLst/>
          </a:prstGeom>
          <a:solidFill>
            <a:srgbClr val="B4D9E3"/>
          </a:solidFill>
          <a:ln w="12700">
            <a:solidFill>
              <a:srgbClr val="FFFFFF"/>
            </a:solidFill>
            <a:prstDash val="solid"/>
          </a:ln>
        </p:spPr>
      </p:sp>
      <p:sp>
        <p:nvSpPr>
          <p:cNvPr id="21" name="Shape 19"/>
          <p:cNvSpPr/>
          <p:nvPr/>
        </p:nvSpPr>
        <p:spPr>
          <a:xfrm>
            <a:off x="4206240" y="2404506"/>
            <a:ext cx="566928" cy="907085"/>
          </a:xfrm>
          <a:prstGeom prst="roundRect">
            <a:avLst>
              <a:gd name="adj" fmla="val 19355"/>
            </a:avLst>
          </a:prstGeom>
          <a:solidFill>
            <a:srgbClr val="B4D9E3"/>
          </a:solidFill>
          <a:ln w="12700">
            <a:solidFill>
              <a:srgbClr val="FFFFFF"/>
            </a:solidFill>
            <a:prstDash val="solid"/>
          </a:ln>
        </p:spPr>
      </p:sp>
      <p:sp>
        <p:nvSpPr>
          <p:cNvPr id="22" name="Shape 20"/>
          <p:cNvSpPr/>
          <p:nvPr/>
        </p:nvSpPr>
        <p:spPr>
          <a:xfrm>
            <a:off x="5079492" y="2075688"/>
            <a:ext cx="283464" cy="283464"/>
          </a:xfrm>
          <a:prstGeom prst="ellipse">
            <a:avLst/>
          </a:prstGeom>
          <a:solidFill>
            <a:srgbClr val="B4D9E3"/>
          </a:solidFill>
          <a:ln w="12700">
            <a:solidFill>
              <a:srgbClr val="FFFFFF"/>
            </a:solidFill>
            <a:prstDash val="solid"/>
          </a:ln>
        </p:spPr>
      </p:sp>
      <p:sp>
        <p:nvSpPr>
          <p:cNvPr id="23" name="Shape 21"/>
          <p:cNvSpPr/>
          <p:nvPr/>
        </p:nvSpPr>
        <p:spPr>
          <a:xfrm>
            <a:off x="4937760" y="2404506"/>
            <a:ext cx="566928" cy="907085"/>
          </a:xfrm>
          <a:prstGeom prst="roundRect">
            <a:avLst>
              <a:gd name="adj" fmla="val 19355"/>
            </a:avLst>
          </a:prstGeom>
          <a:solidFill>
            <a:srgbClr val="B4D9E3"/>
          </a:solidFill>
          <a:ln w="12700">
            <a:solidFill>
              <a:srgbClr val="FFFFFF"/>
            </a:solidFill>
            <a:prstDash val="solid"/>
          </a:ln>
        </p:spPr>
      </p:sp>
      <p:sp>
        <p:nvSpPr>
          <p:cNvPr id="24" name="Shape 22"/>
          <p:cNvSpPr/>
          <p:nvPr/>
        </p:nvSpPr>
        <p:spPr>
          <a:xfrm>
            <a:off x="5811012" y="2075688"/>
            <a:ext cx="283464" cy="283464"/>
          </a:xfrm>
          <a:prstGeom prst="ellipse">
            <a:avLst/>
          </a:prstGeom>
          <a:solidFill>
            <a:srgbClr val="B4D9E3"/>
          </a:solidFill>
          <a:ln w="12700">
            <a:solidFill>
              <a:srgbClr val="FFFFFF"/>
            </a:solidFill>
            <a:prstDash val="solid"/>
          </a:ln>
        </p:spPr>
      </p:sp>
      <p:sp>
        <p:nvSpPr>
          <p:cNvPr id="25" name="Shape 23"/>
          <p:cNvSpPr/>
          <p:nvPr/>
        </p:nvSpPr>
        <p:spPr>
          <a:xfrm>
            <a:off x="5669280" y="2404506"/>
            <a:ext cx="566928" cy="907085"/>
          </a:xfrm>
          <a:prstGeom prst="roundRect">
            <a:avLst>
              <a:gd name="adj" fmla="val 19355"/>
            </a:avLst>
          </a:prstGeom>
          <a:solidFill>
            <a:srgbClr val="B4D9E3"/>
          </a:solidFill>
          <a:ln w="12700">
            <a:solidFill>
              <a:srgbClr val="FFFFFF"/>
            </a:solidFill>
            <a:prstDash val="solid"/>
          </a:ln>
        </p:spPr>
      </p:sp>
      <p:sp>
        <p:nvSpPr>
          <p:cNvPr id="26" name="Shape 24"/>
          <p:cNvSpPr/>
          <p:nvPr/>
        </p:nvSpPr>
        <p:spPr>
          <a:xfrm>
            <a:off x="6542532" y="2075688"/>
            <a:ext cx="283464" cy="283464"/>
          </a:xfrm>
          <a:prstGeom prst="ellipse">
            <a:avLst/>
          </a:prstGeom>
          <a:solidFill>
            <a:srgbClr val="B4D9E3"/>
          </a:solidFill>
          <a:ln w="12700">
            <a:solidFill>
              <a:srgbClr val="FFFFFF"/>
            </a:solidFill>
            <a:prstDash val="solid"/>
          </a:ln>
        </p:spPr>
      </p:sp>
      <p:sp>
        <p:nvSpPr>
          <p:cNvPr id="27" name="Shape 25"/>
          <p:cNvSpPr/>
          <p:nvPr/>
        </p:nvSpPr>
        <p:spPr>
          <a:xfrm>
            <a:off x="6400800" y="2404506"/>
            <a:ext cx="566928" cy="907085"/>
          </a:xfrm>
          <a:prstGeom prst="roundRect">
            <a:avLst>
              <a:gd name="adj" fmla="val 19355"/>
            </a:avLst>
          </a:prstGeom>
          <a:solidFill>
            <a:srgbClr val="B4D9E3"/>
          </a:solidFill>
          <a:ln w="12700">
            <a:solidFill>
              <a:srgbClr val="FFFFFF"/>
            </a:solidFill>
            <a:prstDash val="solid"/>
          </a:ln>
        </p:spPr>
      </p:sp>
      <p:sp>
        <p:nvSpPr>
          <p:cNvPr id="28" name="Shape 26"/>
          <p:cNvSpPr/>
          <p:nvPr/>
        </p:nvSpPr>
        <p:spPr>
          <a:xfrm>
            <a:off x="7274052" y="2075688"/>
            <a:ext cx="283464" cy="283464"/>
          </a:xfrm>
          <a:prstGeom prst="ellipse">
            <a:avLst/>
          </a:prstGeom>
          <a:solidFill>
            <a:srgbClr val="B4D9E3"/>
          </a:solidFill>
          <a:ln w="12700">
            <a:solidFill>
              <a:srgbClr val="FFFFFF"/>
            </a:solidFill>
            <a:prstDash val="solid"/>
          </a:ln>
        </p:spPr>
      </p:sp>
      <p:sp>
        <p:nvSpPr>
          <p:cNvPr id="29" name="Shape 27"/>
          <p:cNvSpPr/>
          <p:nvPr/>
        </p:nvSpPr>
        <p:spPr>
          <a:xfrm>
            <a:off x="7132320" y="2404506"/>
            <a:ext cx="566928" cy="907085"/>
          </a:xfrm>
          <a:prstGeom prst="roundRect">
            <a:avLst>
              <a:gd name="adj" fmla="val 19355"/>
            </a:avLst>
          </a:prstGeom>
          <a:solidFill>
            <a:srgbClr val="B4D9E3"/>
          </a:solidFill>
          <a:ln w="12700">
            <a:solidFill>
              <a:srgbClr val="FFFFFF"/>
            </a:solidFill>
            <a:prstDash val="solid"/>
          </a:ln>
        </p:spPr>
      </p:sp>
      <p:sp>
        <p:nvSpPr>
          <p:cNvPr id="30" name="Text 28"/>
          <p:cNvSpPr txBox="1"/>
          <p:nvPr/>
        </p:nvSpPr>
        <p:spPr>
          <a:xfrm>
            <a:off x="8046720" y="2075688"/>
            <a:ext cx="3596335" cy="640080"/>
          </a:xfrm>
          <a:prstGeom prst="rect">
            <a:avLst/>
          </a:prstGeom>
          <a:noFill/>
          <a:ln/>
        </p:spPr>
        <p:txBody>
          <a:bodyPr wrap="square" lIns="0" tIns="0" rIns="0" bIns="0" rtlCol="0" anchor="ctr"/>
          <a:lstStyle/>
          <a:p>
            <a:pPr indent="0" marL="0">
              <a:buNone/>
            </a:pPr>
            <a:r>
              <a:rPr lang="en-US" sz="3600" b="1" i="1" dirty="0">
                <a:solidFill>
                  <a:srgbClr val="125C60"/>
                </a:solidFill>
                <a:latin typeface="Proxima Nova" pitchFamily="34" charset="0"/>
                <a:ea typeface="Proxima Nova" pitchFamily="34" charset="-122"/>
                <a:cs typeface="Proxima Nova" pitchFamily="34" charset="-120"/>
              </a:rPr>
              <a:t>32.8%</a:t>
            </a:r>
            <a:endParaRPr lang="en-US" sz="3600" dirty="0"/>
          </a:p>
        </p:txBody>
      </p:sp>
      <p:sp>
        <p:nvSpPr>
          <p:cNvPr id="31" name="Text 29"/>
          <p:cNvSpPr txBox="1"/>
          <p:nvPr/>
        </p:nvSpPr>
        <p:spPr>
          <a:xfrm>
            <a:off x="8046720" y="2761488"/>
            <a:ext cx="3596335" cy="731520"/>
          </a:xfrm>
          <a:prstGeom prst="rect">
            <a:avLst/>
          </a:prstGeom>
          <a:noFill/>
          <a:ln/>
        </p:spPr>
        <p:txBody>
          <a:bodyPr wrap="square" lIns="0" tIns="0" rIns="0" bIns="0" rtlCol="0" anchor="t"/>
          <a:lstStyle/>
          <a:p>
            <a:pPr indent="0" marL="0">
              <a:buNone/>
            </a:pPr>
            <a:r>
              <a:rPr lang="en-US" sz="1200" b="1" dirty="0">
                <a:solidFill>
                  <a:srgbClr val="231F20"/>
                </a:solidFill>
                <a:latin typeface="Proxima Nova" pitchFamily="34" charset="0"/>
                <a:ea typeface="Proxima Nova" pitchFamily="34" charset="-122"/>
                <a:cs typeface="Proxima Nova" pitchFamily="34" charset="-120"/>
              </a:rPr>
              <a:t>of all Anaheim jobs: 67,817 jobs supported by visitor spending</a:t>
            </a:r>
            <a:endParaRPr lang="en-US" sz="1200" dirty="0"/>
          </a:p>
        </p:txBody>
      </p:sp>
      <p:sp>
        <p:nvSpPr>
          <p:cNvPr id="32" name="Shape 30"/>
          <p:cNvSpPr/>
          <p:nvPr/>
        </p:nvSpPr>
        <p:spPr>
          <a:xfrm>
            <a:off x="548640" y="3474720"/>
            <a:ext cx="11094415" cy="45720"/>
          </a:xfrm>
          <a:prstGeom prst="rect">
            <a:avLst/>
          </a:prstGeom>
          <a:solidFill>
            <a:srgbClr val="125C60"/>
          </a:solidFill>
          <a:ln w="12700">
            <a:solidFill>
              <a:srgbClr val="125C60"/>
            </a:solidFill>
            <a:prstDash val="solid"/>
          </a:ln>
        </p:spPr>
      </p:sp>
      <p:sp>
        <p:nvSpPr>
          <p:cNvPr id="33" name="Text 31"/>
          <p:cNvSpPr txBox="1"/>
          <p:nvPr/>
        </p:nvSpPr>
        <p:spPr>
          <a:xfrm>
            <a:off x="548640" y="35661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4" name="Text 32"/>
          <p:cNvSpPr txBox="1"/>
          <p:nvPr/>
        </p:nvSpPr>
        <p:spPr>
          <a:xfrm>
            <a:off x="548640" y="382219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3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share as reported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 67,817 Anaheim jobs; food and beverage is a growing share of tourism work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Regional economic impact · Anaheim, Garden Grove and Orange County, 2025</a:t>
            </a:r>
            <a:endParaRPr lang="en-US" sz="12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463040"/>
                <a:gridCol w="1325880"/>
                <a:gridCol w="1463040"/>
                <a:gridCol w="1280160"/>
                <a:gridCol w="1188720"/>
                <a:gridCol w="1325880"/>
                <a:gridCol w="1371600"/>
                <a:gridCol w="167335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Geography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Total economic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Jobs supported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State &amp; local taxes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$6.83B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$10.4B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67,817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11,366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$970.0M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$769.3M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$83.6M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$17.99B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178,164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51,892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548640" y="3246120"/>
            <a:ext cx="53035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a:t>
            </a:r>
            <a:endParaRPr lang="en-US" sz="1300" dirty="0"/>
          </a:p>
        </p:txBody>
      </p:sp>
      <p:graphicFrame>
        <p:nvGraphicFramePr>
          <p:cNvPr id="7" name="chart" descr=""/>
          <p:cNvGraphicFramePr/>
          <p:nvPr/>
        </p:nvGraphicFramePr>
        <p:xfrm>
          <a:off x="548640" y="3611880"/>
          <a:ext cx="53035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33" name="Table 1"/>
          <p:cNvGraphicFramePr>
            <a:graphicFrameLocks noGrp="1"/>
          </p:cNvGraphicFramePr>
          <p:nvPr>
            <p:extLst>
              <p:ext uri="{D42A27DB-BD31-4B8C-83A1-F6EECF244321}">
                <p14:modId xmlns:p14="http://schemas.microsoft.com/office/powerpoint/2010/main" val="1579011935"/>
              </p:ext>
            </p:extLst>
          </p:nvPr>
        </p:nvGraphicFramePr>
        <p:xfrm>
          <a:off x="6126480" y="3291840"/>
          <a:ext cx="5486400" cy="914400"/>
        </p:xfrm>
        <a:graphic>
          <a:graphicData uri="http://schemas.openxmlformats.org/drawingml/2006/table">
            <a:tbl>
              <a:tblPr/>
              <a:tblGrid>
                <a:gridCol w="1645920"/>
                <a:gridCol w="1280160"/>
                <a:gridCol w="128016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Category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Recreation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Lodging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Retail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Food &amp; beverage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(Anaheim, Garden Grove, Orange County).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a:t>
            </a:r>
            <a:pPr indent="0" marL="0">
              <a:buNone/>
            </a:pPr>
            <a:r>
              <a:rPr lang="en-US" sz="110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100" b="1" dirty="0">
                <a:solidFill>
                  <a:srgbClr val="125C60"/>
                </a:solidFill>
                <a:latin typeface="Proxima Nova" pitchFamily="34" charset="0"/>
                <a:ea typeface="Proxima Nova" pitchFamily="34" charset="-122"/>
                <a:cs typeface="Proxima Nova" pitchFamily="34" charset="-120"/>
              </a:rPr>
              <a:t>178,164</a:t>
            </a:r>
            <a:pPr indent="0" marL="0">
              <a:buNone/>
            </a:pPr>
            <a:r>
              <a:rPr lang="en-US" sz="110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100" b="1" dirty="0">
                <a:solidFill>
                  <a:srgbClr val="125C60"/>
                </a:solidFill>
                <a:latin typeface="Proxima Nova" pitchFamily="34" charset="0"/>
                <a:ea typeface="Proxima Nova" pitchFamily="34" charset="-122"/>
                <a:cs typeface="Proxima Nova" pitchFamily="34" charset="-120"/>
              </a:rPr>
              <a:t>16.8%</a:t>
            </a:r>
            <a:pPr indent="0" marL="0">
              <a:buNone/>
            </a:pPr>
            <a:r>
              <a:rPr lang="en-US" sz="110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100" b="1" dirty="0">
                <a:solidFill>
                  <a:srgbClr val="125C60"/>
                </a:solidFill>
                <a:latin typeface="Proxima Nova" pitchFamily="34" charset="0"/>
                <a:ea typeface="Proxima Nova" pitchFamily="34" charset="-122"/>
                <a:cs typeface="Proxima Nova" pitchFamily="34" charset="-120"/>
              </a:rPr>
              <a:t>29.1%</a:t>
            </a:r>
            <a:pPr indent="0" marL="0">
              <a:buNone/>
            </a:pPr>
            <a:r>
              <a:rPr lang="en-US" sz="1100" dirty="0">
                <a:solidFill>
                  <a:srgbClr val="231F20"/>
                </a:solidFill>
                <a:latin typeface="Proxima Nova" pitchFamily="34" charset="0"/>
                <a:ea typeface="Proxima Nova" pitchFamily="34" charset="-122"/>
                <a:cs typeface="Proxima Nova" pitchFamily="34" charset="-120"/>
              </a:rPr>
              <a:t> countywide.</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Each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spending in Anaheim supports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state and local taxes (2025).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was the fastest-growing visitor spending category in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OC Vibe plans 35+ restaurants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171,544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sq ft).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Visitors saved each Anaheim household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$8,940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taxes in 2025, a community benefit OC Vibe's visitors add to.</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hiring plan for the 2027 openings, with labor costs rising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OC Vibe's sales by category once venues open, to replace citywide ratios with its own mix.</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Community: Local hiring and wage figures, to report OC Vibe's jobs benefit directly.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City of Anaheim OCVibe page (2026); OCVIBE fact sheet (Apr. 2024); Visit Anaheim, 2025 tourism results (pub. June 3, 2026);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 of rooms while new supply stays scarce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Hotel market · CoStar, data through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78.4%</a:t>
            </a:r>
            <a:pPr indent="0" marL="0">
              <a:buNone/>
            </a:pPr>
            <a:r>
              <a:rPr lang="en-US" sz="1350" dirty="0">
                <a:solidFill>
                  <a:srgbClr val="231F20"/>
                </a:solidFill>
                <a:latin typeface="Proxima Nova" pitchFamily="34" charset="0"/>
                <a:ea typeface="Proxima Nova" pitchFamily="34" charset="-122"/>
                <a:cs typeface="Proxima Nova" pitchFamily="34" charset="-120"/>
              </a:rPr>
              <a:t> of rooms at </a:t>
            </a:r>
            <a:pPr indent="0" marL="0">
              <a:buNone/>
            </a:pPr>
            <a:r>
              <a:rPr lang="en-US" sz="1350" b="1" dirty="0">
                <a:solidFill>
                  <a:srgbClr val="125C60"/>
                </a:solidFill>
                <a:latin typeface="Proxima Nova" pitchFamily="34" charset="0"/>
                <a:ea typeface="Proxima Nova" pitchFamily="34" charset="-122"/>
                <a:cs typeface="Proxima Nova" pitchFamily="34" charset="-120"/>
              </a:rPr>
              <a:t>$255</a:t>
            </a:r>
            <a:pPr indent="0" marL="0">
              <a:buNone/>
            </a:pPr>
            <a:r>
              <a:rPr lang="en-US" sz="135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350" b="1" dirty="0">
                <a:solidFill>
                  <a:srgbClr val="125C60"/>
                </a:solidFill>
                <a:latin typeface="Proxima Nova" pitchFamily="34" charset="0"/>
                <a:ea typeface="Proxima Nova" pitchFamily="34" charset="-122"/>
                <a:cs typeface="Proxima Nova" pitchFamily="34" charset="-120"/>
              </a:rPr>
              <a:t>668 rooms</a:t>
            </a:r>
            <a:pPr indent="0" marL="0">
              <a:buNone/>
            </a:pPr>
            <a:r>
              <a:rPr lang="en-US" sz="135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350" b="1" dirty="0">
                <a:solidFill>
                  <a:srgbClr val="125C60"/>
                </a:solidFill>
                <a:latin typeface="Proxima Nova" pitchFamily="34" charset="0"/>
                <a:ea typeface="Proxima Nova" pitchFamily="34" charset="-122"/>
                <a:cs typeface="Proxima Nova" pitchFamily="34" charset="-120"/>
              </a:rPr>
              <a:t>70.6%</a:t>
            </a:r>
            <a:pPr indent="0" marL="0">
              <a:buNone/>
            </a:pPr>
            <a:r>
              <a:rPr lang="en-US" sz="135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350" b="1" dirty="0">
                <a:solidFill>
                  <a:srgbClr val="125C60"/>
                </a:solidFill>
                <a:latin typeface="Proxima Nova" pitchFamily="34" charset="0"/>
                <a:ea typeface="Proxima Nova" pitchFamily="34" charset="-122"/>
                <a:cs typeface="Proxima Nova" pitchFamily="34" charset="-120"/>
              </a:rPr>
              <a:t>86.2%</a:t>
            </a:r>
            <a:pPr indent="0" marL="0">
              <a:buNone/>
            </a:pPr>
            <a:r>
              <a:rPr lang="en-US" sz="135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350" b="1" dirty="0">
                <a:solidFill>
                  <a:srgbClr val="125C60"/>
                </a:solidFill>
                <a:latin typeface="Proxima Nova" pitchFamily="34" charset="0"/>
                <a:ea typeface="Proxima Nova" pitchFamily="34" charset="-122"/>
                <a:cs typeface="Proxima Nova" pitchFamily="34" charset="-120"/>
              </a:rPr>
              <a:t>15.7</a:t>
            </a:r>
            <a:pPr indent="0" marL="0">
              <a:buNone/>
            </a:pPr>
            <a:r>
              <a:rPr lang="en-US" sz="1350" dirty="0">
                <a:solidFill>
                  <a:srgbClr val="231F20"/>
                </a:solidFill>
                <a:latin typeface="Proxima Nova" pitchFamily="34" charset="0"/>
                <a:ea typeface="Proxima Nova" pitchFamily="34" charset="-122"/>
                <a:cs typeface="Proxima Nova" pitchFamily="34" charset="-120"/>
              </a:rPr>
              <a:t>-point gap (averages of the two nights each).</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$199</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under construction countywide</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Hotels in Orange County submarkets and Visit Anaheim's hotel sets; investors and developers.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Disneyland submarket occupancy, at $255 a night</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950" b="1" dirty="0">
                <a:solidFill>
                  <a:srgbClr val="125C60"/>
                </a:solidFill>
                <a:latin typeface="Proxima Nova" pitchFamily="34" charset="0"/>
                <a:ea typeface="Proxima Nova" pitchFamily="34" charset="-122"/>
                <a:cs typeface="Proxima Nova" pitchFamily="34" charset="-120"/>
              </a:rPr>
              <a:t>78.4%</a:t>
            </a:r>
            <a:pPr indent="0" marL="0">
              <a:buNone/>
            </a:pPr>
            <a:r>
              <a:rPr lang="en-US" sz="950" dirty="0">
                <a:solidFill>
                  <a:srgbClr val="231F20"/>
                </a:solidFill>
                <a:latin typeface="Proxima Nova" pitchFamily="34" charset="0"/>
                <a:ea typeface="Proxima Nova" pitchFamily="34" charset="-122"/>
                <a:cs typeface="Proxima Nova" pitchFamily="34" charset="-120"/>
              </a:rPr>
              <a:t> of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$255</a:t>
            </a:r>
            <a:pPr indent="0" marL="0">
              <a:buNone/>
            </a:pPr>
            <a:r>
              <a:rPr lang="en-US" sz="950" dirty="0">
                <a:solidFill>
                  <a:srgbClr val="231F20"/>
                </a:solidFill>
                <a:latin typeface="Proxima Nova" pitchFamily="34" charset="0"/>
                <a:ea typeface="Proxima Nova" pitchFamily="34" charset="-122"/>
                <a:cs typeface="Proxima Nova" pitchFamily="34" charset="-120"/>
              </a:rPr>
              <a:t>; only </a:t>
            </a:r>
            <a:pPr indent="0" marL="0">
              <a:buNone/>
            </a:pPr>
            <a:r>
              <a:rPr lang="en-US" sz="950" b="1" dirty="0">
                <a:solidFill>
                  <a:srgbClr val="125C60"/>
                </a:solidFill>
                <a:latin typeface="Proxima Nova" pitchFamily="34" charset="0"/>
                <a:ea typeface="Proxima Nova" pitchFamily="34" charset="-122"/>
                <a:cs typeface="Proxima Nova" pitchFamily="34" charset="-120"/>
              </a:rPr>
              <a:t>668 rooms</a:t>
            </a:r>
            <a:pPr indent="0" marL="0">
              <a:buNone/>
            </a:pPr>
            <a:r>
              <a:rPr lang="en-US" sz="950" dirty="0">
                <a:solidFill>
                  <a:srgbClr val="231F20"/>
                </a:solidFill>
                <a:latin typeface="Proxima Nova" pitchFamily="34" charset="0"/>
                <a:ea typeface="Proxima Nova" pitchFamily="34" charset="-122"/>
                <a:cs typeface="Proxima Nova" pitchFamily="34" charset="-120"/>
              </a:rPr>
              <a:t> are under construction countywide; Sunday–Monday occupancy is </a:t>
            </a:r>
            <a:pPr indent="0" marL="0">
              <a:buNone/>
            </a:pPr>
            <a:r>
              <a:rPr lang="en-US" sz="950" b="1" dirty="0">
                <a:solidFill>
                  <a:srgbClr val="125C60"/>
                </a:solidFill>
                <a:latin typeface="Proxima Nova" pitchFamily="34" charset="0"/>
                <a:ea typeface="Proxima Nova" pitchFamily="34" charset="-122"/>
                <a:cs typeface="Proxima Nova" pitchFamily="34" charset="-120"/>
              </a:rPr>
              <a:t>70.6%</a:t>
            </a:r>
            <a:pPr indent="0" marL="0">
              <a:buNone/>
            </a:pPr>
            <a:r>
              <a:rPr lang="en-US" sz="950" dirty="0">
                <a:solidFill>
                  <a:srgbClr val="231F20"/>
                </a:solidFill>
                <a:latin typeface="Proxima Nova" pitchFamily="34" charset="0"/>
                <a:ea typeface="Proxima Nova" pitchFamily="34" charset="-122"/>
                <a:cs typeface="Proxima Nova" pitchFamily="34" charset="-120"/>
              </a:rPr>
              <a:t> vs. </a:t>
            </a:r>
            <a:pPr indent="0" marL="0">
              <a:buNone/>
            </a:pPr>
            <a:r>
              <a:rPr lang="en-US" sz="950" b="1" dirty="0">
                <a:solidFill>
                  <a:srgbClr val="125C60"/>
                </a:solidFill>
                <a:latin typeface="Proxima Nova" pitchFamily="34" charset="0"/>
                <a:ea typeface="Proxima Nova" pitchFamily="34" charset="-122"/>
                <a:cs typeface="Proxima Nova" pitchFamily="34" charset="-120"/>
              </a:rPr>
              <a:t>86.2%</a:t>
            </a:r>
            <a:pPr indent="0" marL="0">
              <a:buNone/>
            </a:pPr>
            <a:r>
              <a:rPr lang="en-US" sz="950" dirty="0">
                <a:solidFill>
                  <a:srgbClr val="231F20"/>
                </a:solidFill>
                <a:latin typeface="Proxima Nova" pitchFamily="34" charset="0"/>
                <a:ea typeface="Proxima Nova" pitchFamily="34" charset="-122"/>
                <a:cs typeface="Proxima Nova" pitchFamily="34" charset="-120"/>
              </a:rPr>
              <a:t> Friday–Saturday.</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 1–Oct. 3,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STR daily data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Trailing 12 months and year to date through Aug. 2026 (CoStar); Jan. 1–Oct. 3, 2026 (STR).</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 Anaheim hotel set; CoStar Orange County submarkets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Disneyland, Anaheim and other Orange County submarkets; Visit Anaheim's Anaheim+ and Garden Grove+ hotel sets.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 CoStar reports and export (data through Aug. 2026; pulled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550</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planned at OC Vibe</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demand and supply decide whether OC Vibe's </a:t>
            </a:r>
            <a:pPr indent="0" marL="0">
              <a:buNone/>
            </a:pPr>
            <a:r>
              <a:rPr lang="en-US" sz="950" b="1" dirty="0">
                <a:solidFill>
                  <a:srgbClr val="125C60"/>
                </a:solidFill>
                <a:latin typeface="Proxima Nova" pitchFamily="34" charset="0"/>
                <a:ea typeface="Proxima Nova" pitchFamily="34" charset="-122"/>
                <a:cs typeface="Proxima Nova" pitchFamily="34" charset="-120"/>
              </a:rPr>
              <a:t>550 rooms</a:t>
            </a:r>
            <a:pPr indent="0" marL="0">
              <a:buNone/>
            </a:pPr>
            <a:r>
              <a:rPr lang="en-US" sz="950" dirty="0">
                <a:solidFill>
                  <a:srgbClr val="231F20"/>
                </a:solidFill>
                <a:latin typeface="Proxima Nova" pitchFamily="34" charset="0"/>
                <a:ea typeface="Proxima Nova" pitchFamily="34" charset="-122"/>
                <a:cs typeface="Proxima Nova" pitchFamily="34" charset="-120"/>
              </a:rPr>
              <a:t> will fill and which nights need help.</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15.7 points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Fri.–Sat. vs. Sun.–Mon. occupancy: 86.24% − 70.59%</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and STR performance data: occupancy, average rate and revenue per room by submarket, month and night of week.</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infographics · every figure from this section, with its source and date</a:t>
            </a:r>
            <a:endParaRPr lang="en-US" sz="1200" dirty="0"/>
          </a:p>
        </p:txBody>
      </p:sp>
      <p:sp>
        <p:nvSpPr>
          <p:cNvPr id="4" name="Text 2"/>
          <p:cNvSpPr txBox="1"/>
          <p:nvPr/>
        </p:nvSpPr>
        <p:spPr>
          <a:xfrm>
            <a:off x="548640"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full Visit Anaheim hotels are, night by night</a:t>
            </a:r>
            <a:endParaRPr lang="en-US" sz="1500" dirty="0"/>
          </a:p>
        </p:txBody>
      </p:sp>
      <p:sp>
        <p:nvSpPr>
          <p:cNvPr id="5" name="Text 3"/>
          <p:cNvSpPr txBox="1"/>
          <p:nvPr/>
        </p:nvSpPr>
        <p:spPr>
          <a:xfrm>
            <a:off x="548640"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occupancy by night of the week, Jan. 1–Oct. 3, 2026 · Sunday and Monday highlighted</a:t>
            </a:r>
            <a:endParaRPr lang="en-US" sz="950" dirty="0"/>
          </a:p>
        </p:txBody>
      </p:sp>
      <p:sp>
        <p:nvSpPr>
          <p:cNvPr id="6" name="Shape 4"/>
          <p:cNvSpPr/>
          <p:nvPr/>
        </p:nvSpPr>
        <p:spPr>
          <a:xfrm>
            <a:off x="663590" y="2075688"/>
            <a:ext cx="536433" cy="2194560"/>
          </a:xfrm>
          <a:prstGeom prst="rect">
            <a:avLst/>
          </a:prstGeom>
          <a:solidFill>
            <a:srgbClr val="F9F9F2"/>
          </a:solidFill>
          <a:ln w="12700">
            <a:solidFill>
              <a:srgbClr val="B4D9E3"/>
            </a:solidFill>
            <a:prstDash val="solid"/>
          </a:ln>
        </p:spPr>
      </p:sp>
      <p:sp>
        <p:nvSpPr>
          <p:cNvPr id="7" name="Shape 5"/>
          <p:cNvSpPr/>
          <p:nvPr/>
        </p:nvSpPr>
        <p:spPr>
          <a:xfrm>
            <a:off x="663590" y="2720889"/>
            <a:ext cx="536433" cy="1549359"/>
          </a:xfrm>
          <a:prstGeom prst="rect">
            <a:avLst/>
          </a:prstGeom>
          <a:solidFill>
            <a:srgbClr val="43A3A3"/>
          </a:solidFill>
          <a:ln w="12700">
            <a:solidFill>
              <a:srgbClr val="43A3A3"/>
            </a:solidFill>
            <a:prstDash val="solid"/>
          </a:ln>
        </p:spPr>
      </p:sp>
      <p:sp>
        <p:nvSpPr>
          <p:cNvPr id="8" name="Text 6"/>
          <p:cNvSpPr txBox="1"/>
          <p:nvPr/>
        </p:nvSpPr>
        <p:spPr>
          <a:xfrm>
            <a:off x="54864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70.6%</a:t>
            </a:r>
            <a:endParaRPr lang="en-US" sz="1100" dirty="0"/>
          </a:p>
        </p:txBody>
      </p:sp>
      <p:sp>
        <p:nvSpPr>
          <p:cNvPr id="9" name="Text 7"/>
          <p:cNvSpPr txBox="1"/>
          <p:nvPr/>
        </p:nvSpPr>
        <p:spPr>
          <a:xfrm>
            <a:off x="54864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SUN</a:t>
            </a:r>
            <a:endParaRPr lang="en-US" sz="900" dirty="0"/>
          </a:p>
        </p:txBody>
      </p:sp>
      <p:sp>
        <p:nvSpPr>
          <p:cNvPr id="10" name="Shape 8"/>
          <p:cNvSpPr/>
          <p:nvPr/>
        </p:nvSpPr>
        <p:spPr>
          <a:xfrm>
            <a:off x="1429922" y="2075688"/>
            <a:ext cx="536433" cy="2194560"/>
          </a:xfrm>
          <a:prstGeom prst="rect">
            <a:avLst/>
          </a:prstGeom>
          <a:solidFill>
            <a:srgbClr val="F9F9F2"/>
          </a:solidFill>
          <a:ln w="12700">
            <a:solidFill>
              <a:srgbClr val="B4D9E3"/>
            </a:solidFill>
            <a:prstDash val="solid"/>
          </a:ln>
        </p:spPr>
      </p:sp>
      <p:sp>
        <p:nvSpPr>
          <p:cNvPr id="11" name="Shape 9"/>
          <p:cNvSpPr/>
          <p:nvPr/>
        </p:nvSpPr>
        <p:spPr>
          <a:xfrm>
            <a:off x="1429922" y="2723083"/>
            <a:ext cx="536433" cy="1547165"/>
          </a:xfrm>
          <a:prstGeom prst="rect">
            <a:avLst/>
          </a:prstGeom>
          <a:solidFill>
            <a:srgbClr val="43A3A3"/>
          </a:solidFill>
          <a:ln w="12700">
            <a:solidFill>
              <a:srgbClr val="43A3A3"/>
            </a:solidFill>
            <a:prstDash val="solid"/>
          </a:ln>
        </p:spPr>
      </p:sp>
      <p:sp>
        <p:nvSpPr>
          <p:cNvPr id="12" name="Text 10"/>
          <p:cNvSpPr txBox="1"/>
          <p:nvPr/>
        </p:nvSpPr>
        <p:spPr>
          <a:xfrm>
            <a:off x="131497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70.5%</a:t>
            </a:r>
            <a:endParaRPr lang="en-US" sz="1100" dirty="0"/>
          </a:p>
        </p:txBody>
      </p:sp>
      <p:sp>
        <p:nvSpPr>
          <p:cNvPr id="13" name="Text 11"/>
          <p:cNvSpPr txBox="1"/>
          <p:nvPr/>
        </p:nvSpPr>
        <p:spPr>
          <a:xfrm>
            <a:off x="131497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MON</a:t>
            </a:r>
            <a:endParaRPr lang="en-US" sz="900" dirty="0"/>
          </a:p>
        </p:txBody>
      </p:sp>
      <p:sp>
        <p:nvSpPr>
          <p:cNvPr id="14" name="Shape 12"/>
          <p:cNvSpPr/>
          <p:nvPr/>
        </p:nvSpPr>
        <p:spPr>
          <a:xfrm>
            <a:off x="2196255" y="2075688"/>
            <a:ext cx="536433" cy="2194560"/>
          </a:xfrm>
          <a:prstGeom prst="rect">
            <a:avLst/>
          </a:prstGeom>
          <a:solidFill>
            <a:srgbClr val="F9F9F2"/>
          </a:solidFill>
          <a:ln w="12700">
            <a:solidFill>
              <a:srgbClr val="B4D9E3"/>
            </a:solidFill>
            <a:prstDash val="solid"/>
          </a:ln>
        </p:spPr>
      </p:sp>
      <p:sp>
        <p:nvSpPr>
          <p:cNvPr id="15" name="Shape 13"/>
          <p:cNvSpPr/>
          <p:nvPr/>
        </p:nvSpPr>
        <p:spPr>
          <a:xfrm>
            <a:off x="2196255" y="2639690"/>
            <a:ext cx="536433" cy="1630558"/>
          </a:xfrm>
          <a:prstGeom prst="rect">
            <a:avLst/>
          </a:prstGeom>
          <a:solidFill>
            <a:srgbClr val="B4D9E3"/>
          </a:solidFill>
          <a:ln w="12700">
            <a:solidFill>
              <a:srgbClr val="B4D9E3"/>
            </a:solidFill>
            <a:prstDash val="solid"/>
          </a:ln>
        </p:spPr>
      </p:sp>
      <p:sp>
        <p:nvSpPr>
          <p:cNvPr id="16" name="Text 14"/>
          <p:cNvSpPr txBox="1"/>
          <p:nvPr/>
        </p:nvSpPr>
        <p:spPr>
          <a:xfrm>
            <a:off x="208130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74.3%</a:t>
            </a:r>
            <a:endParaRPr lang="en-US" sz="1100" dirty="0"/>
          </a:p>
        </p:txBody>
      </p:sp>
      <p:sp>
        <p:nvSpPr>
          <p:cNvPr id="17" name="Text 15"/>
          <p:cNvSpPr txBox="1"/>
          <p:nvPr/>
        </p:nvSpPr>
        <p:spPr>
          <a:xfrm>
            <a:off x="208130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TUE</a:t>
            </a:r>
            <a:endParaRPr lang="en-US" sz="900" dirty="0"/>
          </a:p>
        </p:txBody>
      </p:sp>
      <p:sp>
        <p:nvSpPr>
          <p:cNvPr id="18" name="Shape 16"/>
          <p:cNvSpPr/>
          <p:nvPr/>
        </p:nvSpPr>
        <p:spPr>
          <a:xfrm>
            <a:off x="2962587" y="2075688"/>
            <a:ext cx="536433" cy="2194560"/>
          </a:xfrm>
          <a:prstGeom prst="rect">
            <a:avLst/>
          </a:prstGeom>
          <a:solidFill>
            <a:srgbClr val="F9F9F2"/>
          </a:solidFill>
          <a:ln w="12700">
            <a:solidFill>
              <a:srgbClr val="B4D9E3"/>
            </a:solidFill>
            <a:prstDash val="solid"/>
          </a:ln>
        </p:spPr>
      </p:sp>
      <p:sp>
        <p:nvSpPr>
          <p:cNvPr id="19" name="Shape 17"/>
          <p:cNvSpPr/>
          <p:nvPr/>
        </p:nvSpPr>
        <p:spPr>
          <a:xfrm>
            <a:off x="2962587" y="2584826"/>
            <a:ext cx="536433" cy="1685422"/>
          </a:xfrm>
          <a:prstGeom prst="rect">
            <a:avLst/>
          </a:prstGeom>
          <a:solidFill>
            <a:srgbClr val="B4D9E3"/>
          </a:solidFill>
          <a:ln w="12700">
            <a:solidFill>
              <a:srgbClr val="B4D9E3"/>
            </a:solidFill>
            <a:prstDash val="solid"/>
          </a:ln>
        </p:spPr>
      </p:sp>
      <p:sp>
        <p:nvSpPr>
          <p:cNvPr id="20" name="Text 18"/>
          <p:cNvSpPr txBox="1"/>
          <p:nvPr/>
        </p:nvSpPr>
        <p:spPr>
          <a:xfrm>
            <a:off x="2847638"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76.8%</a:t>
            </a:r>
            <a:endParaRPr lang="en-US" sz="1100" dirty="0"/>
          </a:p>
        </p:txBody>
      </p:sp>
      <p:sp>
        <p:nvSpPr>
          <p:cNvPr id="21" name="Text 19"/>
          <p:cNvSpPr txBox="1"/>
          <p:nvPr/>
        </p:nvSpPr>
        <p:spPr>
          <a:xfrm>
            <a:off x="2847638"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WED</a:t>
            </a:r>
            <a:endParaRPr lang="en-US" sz="900" dirty="0"/>
          </a:p>
        </p:txBody>
      </p:sp>
      <p:sp>
        <p:nvSpPr>
          <p:cNvPr id="22" name="Shape 20"/>
          <p:cNvSpPr/>
          <p:nvPr/>
        </p:nvSpPr>
        <p:spPr>
          <a:xfrm>
            <a:off x="3728920" y="2075688"/>
            <a:ext cx="536433" cy="2194560"/>
          </a:xfrm>
          <a:prstGeom prst="rect">
            <a:avLst/>
          </a:prstGeom>
          <a:solidFill>
            <a:srgbClr val="F9F9F2"/>
          </a:solidFill>
          <a:ln w="12700">
            <a:solidFill>
              <a:srgbClr val="B4D9E3"/>
            </a:solidFill>
            <a:prstDash val="solid"/>
          </a:ln>
        </p:spPr>
      </p:sp>
      <p:sp>
        <p:nvSpPr>
          <p:cNvPr id="23" name="Shape 21"/>
          <p:cNvSpPr/>
          <p:nvPr/>
        </p:nvSpPr>
        <p:spPr>
          <a:xfrm>
            <a:off x="3728920" y="2510211"/>
            <a:ext cx="536433" cy="1760037"/>
          </a:xfrm>
          <a:prstGeom prst="rect">
            <a:avLst/>
          </a:prstGeom>
          <a:solidFill>
            <a:srgbClr val="B4D9E3"/>
          </a:solidFill>
          <a:ln w="12700">
            <a:solidFill>
              <a:srgbClr val="B4D9E3"/>
            </a:solidFill>
            <a:prstDash val="solid"/>
          </a:ln>
        </p:spPr>
      </p:sp>
      <p:sp>
        <p:nvSpPr>
          <p:cNvPr id="24" name="Text 22"/>
          <p:cNvSpPr txBox="1"/>
          <p:nvPr/>
        </p:nvSpPr>
        <p:spPr>
          <a:xfrm>
            <a:off x="361397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80.2%</a:t>
            </a:r>
            <a:endParaRPr lang="en-US" sz="1100" dirty="0"/>
          </a:p>
        </p:txBody>
      </p:sp>
      <p:sp>
        <p:nvSpPr>
          <p:cNvPr id="25" name="Text 23"/>
          <p:cNvSpPr txBox="1"/>
          <p:nvPr/>
        </p:nvSpPr>
        <p:spPr>
          <a:xfrm>
            <a:off x="361397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THU</a:t>
            </a:r>
            <a:endParaRPr lang="en-US" sz="900" dirty="0"/>
          </a:p>
        </p:txBody>
      </p:sp>
      <p:sp>
        <p:nvSpPr>
          <p:cNvPr id="26" name="Shape 24"/>
          <p:cNvSpPr/>
          <p:nvPr/>
        </p:nvSpPr>
        <p:spPr>
          <a:xfrm>
            <a:off x="4495252" y="2075688"/>
            <a:ext cx="536433" cy="2194560"/>
          </a:xfrm>
          <a:prstGeom prst="rect">
            <a:avLst/>
          </a:prstGeom>
          <a:solidFill>
            <a:srgbClr val="F9F9F2"/>
          </a:solidFill>
          <a:ln w="12700">
            <a:solidFill>
              <a:srgbClr val="B4D9E3"/>
            </a:solidFill>
            <a:prstDash val="solid"/>
          </a:ln>
        </p:spPr>
      </p:sp>
      <p:sp>
        <p:nvSpPr>
          <p:cNvPr id="27" name="Shape 25"/>
          <p:cNvSpPr/>
          <p:nvPr/>
        </p:nvSpPr>
        <p:spPr>
          <a:xfrm>
            <a:off x="4495252" y="2389510"/>
            <a:ext cx="536433" cy="1880738"/>
          </a:xfrm>
          <a:prstGeom prst="rect">
            <a:avLst/>
          </a:prstGeom>
          <a:solidFill>
            <a:srgbClr val="B4D9E3"/>
          </a:solidFill>
          <a:ln w="12700">
            <a:solidFill>
              <a:srgbClr val="B4D9E3"/>
            </a:solidFill>
            <a:prstDash val="solid"/>
          </a:ln>
        </p:spPr>
      </p:sp>
      <p:sp>
        <p:nvSpPr>
          <p:cNvPr id="28" name="Text 26"/>
          <p:cNvSpPr txBox="1"/>
          <p:nvPr/>
        </p:nvSpPr>
        <p:spPr>
          <a:xfrm>
            <a:off x="438030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85.7%</a:t>
            </a:r>
            <a:endParaRPr lang="en-US" sz="1100" dirty="0"/>
          </a:p>
        </p:txBody>
      </p:sp>
      <p:sp>
        <p:nvSpPr>
          <p:cNvPr id="29" name="Text 27"/>
          <p:cNvSpPr txBox="1"/>
          <p:nvPr/>
        </p:nvSpPr>
        <p:spPr>
          <a:xfrm>
            <a:off x="438030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FRI</a:t>
            </a:r>
            <a:endParaRPr lang="en-US" sz="900" dirty="0"/>
          </a:p>
        </p:txBody>
      </p:sp>
      <p:sp>
        <p:nvSpPr>
          <p:cNvPr id="30" name="Shape 28"/>
          <p:cNvSpPr/>
          <p:nvPr/>
        </p:nvSpPr>
        <p:spPr>
          <a:xfrm>
            <a:off x="5261585" y="2075688"/>
            <a:ext cx="536433" cy="2194560"/>
          </a:xfrm>
          <a:prstGeom prst="rect">
            <a:avLst/>
          </a:prstGeom>
          <a:solidFill>
            <a:srgbClr val="F9F9F2"/>
          </a:solidFill>
          <a:ln w="12700">
            <a:solidFill>
              <a:srgbClr val="B4D9E3"/>
            </a:solidFill>
            <a:prstDash val="solid"/>
          </a:ln>
        </p:spPr>
      </p:sp>
      <p:sp>
        <p:nvSpPr>
          <p:cNvPr id="31" name="Shape 29"/>
          <p:cNvSpPr/>
          <p:nvPr/>
        </p:nvSpPr>
        <p:spPr>
          <a:xfrm>
            <a:off x="5261585" y="2365370"/>
            <a:ext cx="536433" cy="1904878"/>
          </a:xfrm>
          <a:prstGeom prst="rect">
            <a:avLst/>
          </a:prstGeom>
          <a:solidFill>
            <a:srgbClr val="B4D9E3"/>
          </a:solidFill>
          <a:ln w="12700">
            <a:solidFill>
              <a:srgbClr val="B4D9E3"/>
            </a:solidFill>
            <a:prstDash val="solid"/>
          </a:ln>
        </p:spPr>
      </p:sp>
      <p:sp>
        <p:nvSpPr>
          <p:cNvPr id="32" name="Text 30"/>
          <p:cNvSpPr txBox="1"/>
          <p:nvPr/>
        </p:nvSpPr>
        <p:spPr>
          <a:xfrm>
            <a:off x="514663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86.8%</a:t>
            </a:r>
            <a:endParaRPr lang="en-US" sz="1100" dirty="0"/>
          </a:p>
        </p:txBody>
      </p:sp>
      <p:sp>
        <p:nvSpPr>
          <p:cNvPr id="33" name="Text 31"/>
          <p:cNvSpPr txBox="1"/>
          <p:nvPr/>
        </p:nvSpPr>
        <p:spPr>
          <a:xfrm>
            <a:off x="514663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SAT</a:t>
            </a:r>
            <a:endParaRPr lang="en-US" sz="900" dirty="0"/>
          </a:p>
        </p:txBody>
      </p:sp>
      <p:sp>
        <p:nvSpPr>
          <p:cNvPr id="34" name="Text 32"/>
          <p:cNvSpPr txBox="1"/>
          <p:nvPr/>
        </p:nvSpPr>
        <p:spPr>
          <a:xfrm>
            <a:off x="6278728"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New hotel supply is a sliver of the market</a:t>
            </a:r>
            <a:endParaRPr lang="en-US" sz="1500" dirty="0"/>
          </a:p>
        </p:txBody>
      </p:sp>
      <p:sp>
        <p:nvSpPr>
          <p:cNvPr id="35" name="Text 33"/>
          <p:cNvSpPr txBox="1"/>
          <p:nvPr/>
        </p:nvSpPr>
        <p:spPr>
          <a:xfrm>
            <a:off x="6278728"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Rooms under construction vs. existing rooms, Orange County</a:t>
            </a:r>
            <a:endParaRPr lang="en-US" sz="950" dirty="0"/>
          </a:p>
        </p:txBody>
      </p:sp>
      <p:sp>
        <p:nvSpPr>
          <p:cNvPr id="36" name="Shape 34"/>
          <p:cNvSpPr/>
          <p:nvPr/>
        </p:nvSpPr>
        <p:spPr>
          <a:xfrm>
            <a:off x="6278728" y="2167128"/>
            <a:ext cx="5364328" cy="731520"/>
          </a:xfrm>
          <a:prstGeom prst="rect">
            <a:avLst/>
          </a:prstGeom>
          <a:solidFill>
            <a:srgbClr val="B4D9E3"/>
          </a:solidFill>
          <a:ln w="12700">
            <a:solidFill>
              <a:srgbClr val="B4D9E3"/>
            </a:solidFill>
            <a:prstDash val="solid"/>
          </a:ln>
        </p:spPr>
      </p:sp>
      <p:sp>
        <p:nvSpPr>
          <p:cNvPr id="37" name="Shape 35"/>
          <p:cNvSpPr/>
          <p:nvPr/>
        </p:nvSpPr>
        <p:spPr>
          <a:xfrm>
            <a:off x="6278728" y="2167128"/>
            <a:ext cx="59008" cy="731520"/>
          </a:xfrm>
          <a:prstGeom prst="rect">
            <a:avLst/>
          </a:prstGeom>
          <a:solidFill>
            <a:srgbClr val="125C60"/>
          </a:solidFill>
          <a:ln w="12700">
            <a:solidFill>
              <a:srgbClr val="125C60"/>
            </a:solidFill>
            <a:prstDash val="solid"/>
          </a:ln>
        </p:spPr>
      </p:sp>
      <p:sp>
        <p:nvSpPr>
          <p:cNvPr id="38" name="Text 36"/>
          <p:cNvSpPr txBox="1"/>
          <p:nvPr/>
        </p:nvSpPr>
        <p:spPr>
          <a:xfrm>
            <a:off x="6278728" y="3035808"/>
            <a:ext cx="2682164"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668 </a:t>
            </a:r>
            <a:pPr indent="0" marL="0">
              <a:buNone/>
            </a:pPr>
            <a:r>
              <a:rPr lang="en-US" sz="1100" dirty="0">
                <a:solidFill>
                  <a:srgbClr val="231F20"/>
                </a:solidFill>
                <a:latin typeface="Proxima Nova" pitchFamily="34" charset="0"/>
                <a:ea typeface="Proxima Nova" pitchFamily="34" charset="-122"/>
                <a:cs typeface="Proxima Nova" pitchFamily="34" charset="-120"/>
              </a:rPr>
              <a:t>rooms under construction (1.1%)</a:t>
            </a:r>
            <a:endParaRPr lang="en-US" sz="1800" dirty="0"/>
          </a:p>
        </p:txBody>
      </p:sp>
      <p:sp>
        <p:nvSpPr>
          <p:cNvPr id="39" name="Text 37"/>
          <p:cNvSpPr txBox="1"/>
          <p:nvPr/>
        </p:nvSpPr>
        <p:spPr>
          <a:xfrm>
            <a:off x="8960891" y="3035808"/>
            <a:ext cx="2682164"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60,223 </a:t>
            </a:r>
            <a:pPr algn="r" indent="0" marL="0">
              <a:buNone/>
            </a:pPr>
            <a:r>
              <a:rPr lang="en-US" sz="1100" dirty="0">
                <a:solidFill>
                  <a:srgbClr val="231F20"/>
                </a:solidFill>
                <a:latin typeface="Proxima Nova" pitchFamily="34" charset="0"/>
                <a:ea typeface="Proxima Nova" pitchFamily="34" charset="-122"/>
                <a:cs typeface="Proxima Nova" pitchFamily="34" charset="-120"/>
              </a:rPr>
              <a:t>existing rooms</a:t>
            </a:r>
            <a:endParaRPr lang="en-US" sz="1800" dirty="0"/>
          </a:p>
        </p:txBody>
      </p:sp>
      <p:sp>
        <p:nvSpPr>
          <p:cNvPr id="40" name="Text 38"/>
          <p:cNvSpPr txBox="1"/>
          <p:nvPr/>
        </p:nvSpPr>
        <p:spPr>
          <a:xfrm>
            <a:off x="6278728" y="3538728"/>
            <a:ext cx="5364328"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668 ÷ 60,223 = 1.1%</a:t>
            </a:r>
            <a:endParaRPr lang="en-US" sz="950" dirty="0"/>
          </a:p>
        </p:txBody>
      </p:sp>
      <p:sp>
        <p:nvSpPr>
          <p:cNvPr id="41" name="Shape 39"/>
          <p:cNvSpPr/>
          <p:nvPr/>
        </p:nvSpPr>
        <p:spPr>
          <a:xfrm>
            <a:off x="548640" y="4937760"/>
            <a:ext cx="11094415" cy="45720"/>
          </a:xfrm>
          <a:prstGeom prst="rect">
            <a:avLst/>
          </a:prstGeom>
          <a:solidFill>
            <a:srgbClr val="125C60"/>
          </a:solidFill>
          <a:ln w="12700">
            <a:solidFill>
              <a:srgbClr val="125C60"/>
            </a:solidFill>
            <a:prstDash val="solid"/>
          </a:ln>
        </p:spPr>
      </p:sp>
      <p:sp>
        <p:nvSpPr>
          <p:cNvPr id="42" name="Text 40"/>
          <p:cNvSpPr txBox="1"/>
          <p:nvPr/>
        </p:nvSpPr>
        <p:spPr>
          <a:xfrm>
            <a:off x="548640" y="50292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43" name="Text 41"/>
          <p:cNvSpPr txBox="1"/>
          <p:nvPr/>
        </p:nvSpPr>
        <p:spPr>
          <a:xfrm>
            <a:off x="548640" y="5285232"/>
            <a:ext cx="11094415" cy="59436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4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CoStar (data through Aug. 2026; pulled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78.4% of rooms, the highest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hotel performance · trailing 12 months and 2026 year to date through Aug. 2026</a:t>
            </a:r>
            <a:endParaRPr lang="en-US" sz="1200" dirty="0"/>
          </a:p>
        </p:txBody>
      </p:sp>
      <p:sp>
        <p:nvSpPr>
          <p:cNvPr id="5" name="kpi-card-0"/>
          <p:cNvSpPr/>
          <p:nvPr/>
        </p:nvSpPr>
        <p:spPr>
          <a:xfrm>
            <a:off x="548640" y="146304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900" dirty="0"/>
          </a:p>
        </p:txBody>
      </p:sp>
      <p:sp>
        <p:nvSpPr>
          <p:cNvPr id="7"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8"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78.4%</a:t>
            </a:r>
            <a:endParaRPr lang="en-US" sz="2600" dirty="0"/>
          </a:p>
        </p:txBody>
      </p:sp>
      <p:sp>
        <p:nvSpPr>
          <p:cNvPr id="9" name="Text 6"/>
          <p:cNvSpPr txBox="1"/>
          <p:nvPr/>
        </p:nvSpPr>
        <p:spPr>
          <a:xfrm>
            <a:off x="713232"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 Orange County 74.0%</a:t>
            </a:r>
            <a:endParaRPr lang="en-US" sz="1000" dirty="0"/>
          </a:p>
        </p:txBody>
      </p:sp>
      <p:sp>
        <p:nvSpPr>
          <p:cNvPr id="10" name="kpi-card-1"/>
          <p:cNvSpPr/>
          <p:nvPr/>
        </p:nvSpPr>
        <p:spPr>
          <a:xfrm>
            <a:off x="3363392" y="146304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900" dirty="0"/>
          </a:p>
        </p:txBody>
      </p:sp>
      <p:sp>
        <p:nvSpPr>
          <p:cNvPr id="12"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3"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$199</a:t>
            </a:r>
            <a:endParaRPr lang="en-US" sz="2600" dirty="0"/>
          </a:p>
        </p:txBody>
      </p:sp>
      <p:sp>
        <p:nvSpPr>
          <p:cNvPr id="14" name="Text 11"/>
          <p:cNvSpPr txBox="1"/>
          <p:nvPr/>
        </p:nvSpPr>
        <p:spPr>
          <a:xfrm>
            <a:off x="3527984"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+10.9% vs. 2025 · Orange County ▲ +9.9%</a:t>
            </a:r>
            <a:endParaRPr lang="en-US" sz="1000" dirty="0"/>
          </a:p>
        </p:txBody>
      </p:sp>
      <p:sp>
        <p:nvSpPr>
          <p:cNvPr id="15" name="kpi-card-2"/>
          <p:cNvSpPr/>
          <p:nvPr/>
        </p:nvSpPr>
        <p:spPr>
          <a:xfrm>
            <a:off x="6178144" y="146304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900" dirty="0"/>
          </a:p>
        </p:txBody>
      </p:sp>
      <p:sp>
        <p:nvSpPr>
          <p:cNvPr id="17"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18"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668</a:t>
            </a:r>
            <a:endParaRPr lang="en-US" sz="2600" dirty="0"/>
          </a:p>
        </p:txBody>
      </p:sp>
      <p:sp>
        <p:nvSpPr>
          <p:cNvPr id="19" name="Text 16"/>
          <p:cNvSpPr txBox="1"/>
          <p:nvPr/>
        </p:nvSpPr>
        <p:spPr>
          <a:xfrm>
            <a:off x="6342736"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 hotels · 1.1% of 60,223 rooms, through 2028</a:t>
            </a:r>
            <a:endParaRPr lang="en-US" sz="1000" dirty="0"/>
          </a:p>
        </p:txBody>
      </p:sp>
      <p:sp>
        <p:nvSpPr>
          <p:cNvPr id="20" name="kpi-card-3"/>
          <p:cNvSpPr/>
          <p:nvPr/>
        </p:nvSpPr>
        <p:spPr>
          <a:xfrm>
            <a:off x="8992895" y="146304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HOTELS, 12 MONTHS</a:t>
            </a:r>
            <a:endParaRPr lang="en-US" sz="900" dirty="0"/>
          </a:p>
        </p:txBody>
      </p:sp>
      <p:sp>
        <p:nvSpPr>
          <p:cNvPr id="22"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F&amp;B share of hotel revenue</a:t>
            </a:r>
            <a:endParaRPr lang="en-US" sz="1050" dirty="0"/>
          </a:p>
        </p:txBody>
      </p:sp>
      <p:sp>
        <p:nvSpPr>
          <p:cNvPr id="23"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29.4%</a:t>
            </a:r>
            <a:endParaRPr lang="en-US" sz="2600" dirty="0"/>
          </a:p>
        </p:txBody>
      </p:sp>
      <p:sp>
        <p:nvSpPr>
          <p:cNvPr id="24" name="Text 21"/>
          <p:cNvSpPr txBox="1"/>
          <p:nvPr/>
        </p:nvSpPr>
        <p:spPr>
          <a:xfrm>
            <a:off x="9157487"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Disneyland submarket 22.4% · food revenue per room ▲ +28.9%</a:t>
            </a:r>
            <a:endParaRPr lang="en-US" sz="1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6949440" cy="914400"/>
        </p:xfrm>
        <a:graphic>
          <a:graphicData uri="http://schemas.openxmlformats.org/drawingml/2006/table">
            <a:tbl>
              <a:tblPr/>
              <a:tblGrid>
                <a:gridCol w="2194560"/>
                <a:gridCol w="822960"/>
                <a:gridCol w="914400"/>
                <a:gridCol w="1005840"/>
                <a:gridCol w="1005840"/>
                <a:gridCol w="1005840"/>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Newport Beach/Dana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11,719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14,209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(outside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Northwest/Fullerton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total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6" name="chart-title"/>
          <p:cNvSpPr txBox="1"/>
          <p:nvPr/>
        </p:nvSpPr>
        <p:spPr>
          <a:xfrm>
            <a:off x="7726680" y="3108960"/>
            <a:ext cx="388620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past 12 months</a:t>
            </a:r>
            <a:endParaRPr lang="en-US" sz="1300" dirty="0"/>
          </a:p>
        </p:txBody>
      </p:sp>
      <p:graphicFrame>
        <p:nvGraphicFramePr>
          <p:cNvPr id="27" name="chart" descr=""/>
          <p:cNvGraphicFramePr/>
          <p:nvPr/>
        </p:nvGraphicFramePr>
        <p:xfrm>
          <a:off x="7726680" y="3474720"/>
          <a:ext cx="3886200" cy="2468880"/>
        </p:xfrm>
        <a:graphic xmlns:a="http://schemas.openxmlformats.org/drawingml/2006/main">
          <a:graphicData uri="http://schemas.openxmlformats.org/drawingml/2006/chart">
            <c:chart xmlns:c="http://schemas.openxmlformats.org/drawingml/2006/chart" r:id="rId1"/>
          </a:graphicData>
        </a:graphic>
      </p:graphicFrame>
      <p:sp>
        <p:nvSpPr>
          <p:cNvPr id="2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and Disneyland Hospitality Submarket reports (pulled Oct. 12, 2026). © 2026 CoStar Group, licensed to Visit Anaheim.</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Only 668 hotel rooms are under construction countywide, which leaves room for OC Vibe's hotels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construction, hotel investment and Orange County economy</a:t>
            </a:r>
            <a:endParaRPr lang="en-US" sz="1200" dirty="0"/>
          </a:p>
        </p:txBody>
      </p:sp>
      <p:sp>
        <p:nvSpPr>
          <p:cNvPr id="4" name="Text 2"/>
          <p:cNvSpPr txBox="1"/>
          <p:nvPr/>
        </p:nvSpPr>
        <p:spPr>
          <a:xfrm>
            <a:off x="548640" y="146304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Disneyland submarket by year</a:t>
            </a:r>
            <a:endParaRPr lang="en-US" sz="12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669280" cy="914400"/>
        </p:xfrm>
        <a:graphic>
          <a:graphicData uri="http://schemas.openxmlformats.org/drawingml/2006/table">
            <a:tbl>
              <a:tblPr/>
              <a:tblGrid>
                <a:gridCol w="1737360"/>
                <a:gridCol w="914400"/>
                <a:gridCol w="1051560"/>
                <a:gridCol w="1051560"/>
                <a:gridCol w="91440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$155.94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$169.75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$245.13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$188.87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$243.22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$184.86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 (Jan.–Aug.)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$198.51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+10.9%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Text 3"/>
          <p:cNvSpPr txBox="1"/>
          <p:nvPr/>
        </p:nvSpPr>
        <p:spPr>
          <a:xfrm>
            <a:off x="548640" y="388620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Under construction in Orange County</a:t>
            </a:r>
            <a:endParaRPr lang="en-US" sz="1200" dirty="0"/>
          </a:p>
        </p:txBody>
      </p:sp>
      <p:graphicFrame>
        <p:nvGraphicFramePr>
          <p:cNvPr id="145"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669280" cy="914400"/>
        </p:xfrm>
        <a:graphic>
          <a:graphicData uri="http://schemas.openxmlformats.org/drawingml/2006/table">
            <a:tbl>
              <a:tblPr/>
              <a:tblGrid>
                <a:gridCol w="2468880"/>
                <a:gridCol w="1371600"/>
                <a:gridCol w="640080"/>
                <a:gridCol w="118872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Hotel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Expected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Tribute Portfolio Anaheim Downtown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Home2 Suites by Hilton Irvine/Orange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June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Kimpton Garden Grove Anaheim (mixed-use)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Sept.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492240" y="1463040"/>
            <a:ext cx="512064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Orange County economy</a:t>
            </a:r>
            <a:endParaRPr lang="en-US" sz="1200" dirty="0"/>
          </a:p>
        </p:txBody>
      </p:sp>
      <p:graphicFrame>
        <p:nvGraphicFramePr>
          <p:cNvPr id="217" name="Table 2"/>
          <p:cNvGraphicFramePr>
            <a:graphicFrameLocks noGrp="1"/>
          </p:cNvGraphicFramePr>
          <p:nvPr>
            <p:extLst>
              <p:ext uri="{D42A27DB-BD31-4B8C-83A1-F6EECF244321}">
                <p14:modId xmlns:p14="http://schemas.microsoft.com/office/powerpoint/2010/main" val="1579011935"/>
              </p:ext>
            </p:extLst>
          </p:nvPr>
        </p:nvGraphicFramePr>
        <p:xfrm>
          <a:off x="6492240" y="1783080"/>
          <a:ext cx="5120640" cy="914400"/>
        </p:xfrm>
        <a:graphic>
          <a:graphicData uri="http://schemas.openxmlformats.org/drawingml/2006/table">
            <a:tbl>
              <a:tblPr/>
              <a:tblGrid>
                <a:gridCol w="2926080"/>
                <a:gridCol w="1188720"/>
                <a:gridCol w="100584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U.S.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concentration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forecast, per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$121,883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$85,449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Unemployment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Population (12-month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3.14M (−0.3%)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10" name="Text 5"/>
          <p:cNvSpPr txBox="1"/>
          <p:nvPr/>
        </p:nvSpPr>
        <p:spPr>
          <a:xfrm>
            <a:off x="6492240" y="4754880"/>
            <a:ext cx="5120640" cy="1097280"/>
          </a:xfrm>
          <a:prstGeom prst="rect">
            <a:avLst/>
          </a:prstGeom>
          <a:noFill/>
          <a:ln/>
        </p:spPr>
        <p:txBody>
          <a:bodyPr wrap="square" lIns="0" tIns="0" rIns="0" bIns="0" rtlCol="0" anchor="t"/>
          <a:lstStyle/>
          <a:p>
            <a:pPr indent="0" marL="0">
              <a:buNone/>
            </a:pPr>
            <a:r>
              <a:rPr lang="en-US" sz="1050" b="1" dirty="0">
                <a:solidFill>
                  <a:srgbClr val="125C60"/>
                </a:solidFill>
                <a:latin typeface="Proxima Nova" pitchFamily="34" charset="0"/>
                <a:ea typeface="Proxima Nova" pitchFamily="34" charset="-122"/>
                <a:cs typeface="Proxima Nova" pitchFamily="34" charset="-120"/>
              </a:rPr>
              <a:t>Investment: </a:t>
            </a:r>
            <a:pPr indent="0" marL="0">
              <a:buNone/>
            </a:pPr>
            <a:r>
              <a:rPr lang="en-US" sz="1050" dirty="0">
                <a:solidFill>
                  <a:srgbClr val="231F20"/>
                </a:solidFill>
                <a:latin typeface="Proxima Nova" pitchFamily="34" charset="0"/>
                <a:ea typeface="Proxima Nova" pitchFamily="34" charset="-122"/>
                <a:cs typeface="Proxima Nova" pitchFamily="34" charset="-120"/>
              </a:rPr>
              <a:t>hotel sales slowed with higher borrowing costs ($234.2M in the past 12 months vs. a $311M three-year average). Market cap rate 7.2% in the Disneyland submarket. CoStar notes the OC Vibe district could create opportunities for future hotel investment.</a:t>
            </a:r>
            <a:endParaRPr lang="en-US" sz="1050" dirty="0"/>
          </a:p>
        </p:txBody>
      </p:sp>
      <p:sp>
        <p:nvSpPr>
          <p:cNvPr id="1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Disneyland Submarket and Capital Markets reports (Oct. 12, 2026); Oxford Economics via CoStar. © 2026 CoStar Group.</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Sunday and Monday nights are where OC Vibe can add the most hotel stays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STR, Visit Anaheim hotels, Jan. 1–Oct. 3, 2026 · CoStar submarkets by month, 2026</a:t>
            </a:r>
            <a:endParaRPr lang="en-US" sz="1200" dirty="0"/>
          </a:p>
        </p:txBody>
      </p:sp>
      <p:sp>
        <p:nvSpPr>
          <p:cNvPr id="5" name="chart-title"/>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Sunday and Monday nights run 16 points below Friday and Saturday</a:t>
            </a:r>
            <a:endParaRPr lang="en-US" sz="1300" dirty="0"/>
          </a:p>
        </p:txBody>
      </p:sp>
      <p:graphicFrame>
        <p:nvGraphicFramePr>
          <p:cNvPr id="6" name="chart" descr=""/>
          <p:cNvGraphicFramePr/>
          <p:nvPr/>
        </p:nvGraphicFramePr>
        <p:xfrm>
          <a:off x="548640" y="1783080"/>
          <a:ext cx="5120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548640" y="4343400"/>
          <a:ext cx="5120640" cy="914400"/>
        </p:xfrm>
        <a:graphic>
          <a:graphicData uri="http://schemas.openxmlformats.org/drawingml/2006/table">
            <a:tbl>
              <a:tblPr/>
              <a:tblGrid>
                <a:gridCol w="2103120"/>
                <a:gridCol w="1005840"/>
                <a:gridCol w="1005840"/>
                <a:gridCol w="1005840"/>
              </a:tblGrid>
              <a:tr h="23774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Measure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21,318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25,725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Average nightly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$229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Revenue per available room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Group share of rooms sold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Nights at 90%+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147"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99455" cy="914400"/>
        </p:xfrm>
        <a:graphic>
          <a:graphicData uri="http://schemas.openxmlformats.org/drawingml/2006/table">
            <a:tbl>
              <a:tblPr/>
              <a:tblGrid>
                <a:gridCol w="731520"/>
                <a:gridCol w="1051560"/>
                <a:gridCol w="868680"/>
                <a:gridCol w="1005840"/>
                <a:gridCol w="868680"/>
                <a:gridCol w="1170432"/>
              </a:tblGrid>
              <a:tr h="31089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Month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change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Feb.</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March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April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+16.7%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June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85.5%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 +3.4%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Aug.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9" name="Text 3"/>
          <p:cNvSpPr txBox="1"/>
          <p:nvPr/>
        </p:nvSpPr>
        <p:spPr>
          <a:xfrm>
            <a:off x="5943600" y="4434840"/>
            <a:ext cx="5699455" cy="137160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Sunday and Monday are the open nights: Visit Anaheim hotels ran </a:t>
            </a:r>
            <a:pPr indent="0" marL="0">
              <a:buNone/>
            </a:pPr>
            <a:r>
              <a:rPr lang="en-US" sz="1050" b="1" dirty="0">
                <a:solidFill>
                  <a:srgbClr val="125C60"/>
                </a:solidFill>
                <a:latin typeface="Proxima Nova" pitchFamily="34" charset="0"/>
                <a:ea typeface="Proxima Nova" pitchFamily="34" charset="-122"/>
                <a:cs typeface="Proxima Nova" pitchFamily="34" charset="-120"/>
              </a:rPr>
              <a:t>70.6%</a:t>
            </a:r>
            <a:pPr indent="0" marL="0">
              <a:buNone/>
            </a:pPr>
            <a:r>
              <a:rPr lang="en-US" sz="1050" dirty="0">
                <a:solidFill>
                  <a:srgbClr val="231F20"/>
                </a:solidFill>
                <a:latin typeface="Proxima Nova" pitchFamily="34" charset="0"/>
                <a:ea typeface="Proxima Nova" pitchFamily="34" charset="-122"/>
                <a:cs typeface="Proxima Nova" pitchFamily="34" charset="-120"/>
              </a:rPr>
              <a:t> occupancy on those nights in 2026 vs. </a:t>
            </a:r>
            <a:pPr indent="0" marL="0">
              <a:buNone/>
            </a:pPr>
            <a:r>
              <a:rPr lang="en-US" sz="1050" b="1" dirty="0">
                <a:solidFill>
                  <a:srgbClr val="125C60"/>
                </a:solidFill>
                <a:latin typeface="Proxima Nova" pitchFamily="34" charset="0"/>
                <a:ea typeface="Proxima Nova" pitchFamily="34" charset="-122"/>
                <a:cs typeface="Proxima Nova" pitchFamily="34" charset="-120"/>
              </a:rPr>
              <a:t>86.2%</a:t>
            </a:r>
            <a:pPr indent="0" marL="0">
              <a:buNone/>
            </a:pPr>
            <a:r>
              <a:rPr lang="en-US" sz="1050" dirty="0">
                <a:solidFill>
                  <a:srgbClr val="231F20"/>
                </a:solidFill>
                <a:latin typeface="Proxima Nova" pitchFamily="34" charset="0"/>
                <a:ea typeface="Proxima Nova" pitchFamily="34" charset="-122"/>
                <a:cs typeface="Proxima Nova" pitchFamily="34" charset="-120"/>
              </a:rPr>
              <a:t> on Fridays and Saturdays (STR). Each point OC Vibe adds on Sunday and Monday nights is about </a:t>
            </a:r>
            <a:pPr indent="0" marL="0">
              <a:buNone/>
            </a:pPr>
            <a:r>
              <a:rPr lang="en-US" sz="105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050" dirty="0">
                <a:solidFill>
                  <a:srgbClr val="231F20"/>
                </a:solidFill>
                <a:latin typeface="Proxima Nova" pitchFamily="34" charset="0"/>
                <a:ea typeface="Proxima Nova" pitchFamily="34" charset="-122"/>
                <a:cs typeface="Proxima Nova" pitchFamily="34" charset="-120"/>
              </a:rPr>
              <a:t> and </a:t>
            </a:r>
            <a:pPr indent="0" marL="0">
              <a:buNone/>
            </a:pPr>
            <a:r>
              <a:rPr lang="en-US" sz="1050" b="1" dirty="0">
                <a:solidFill>
                  <a:srgbClr val="125C60"/>
                </a:solidFill>
                <a:latin typeface="Proxima Nova" pitchFamily="34" charset="0"/>
                <a:ea typeface="Proxima Nova" pitchFamily="34" charset="-122"/>
                <a:cs typeface="Proxima Nova" pitchFamily="34" charset="-120"/>
              </a:rPr>
              <a:t>$5.1M</a:t>
            </a:r>
            <a:pPr indent="0" marL="0">
              <a:buNone/>
            </a:pPr>
            <a:r>
              <a:rPr lang="en-US" sz="1050" dirty="0">
                <a:solidFill>
                  <a:srgbClr val="231F20"/>
                </a:solidFill>
                <a:latin typeface="Proxima Nova" pitchFamily="34" charset="0"/>
                <a:ea typeface="Proxima Nova" pitchFamily="34" charset="-122"/>
                <a:cs typeface="Proxima Nova" pitchFamily="34" charset="-120"/>
              </a:rPr>
              <a:t> in room revenue a year.</a:t>
            </a:r>
            <a:endParaRPr lang="en-US" sz="105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provided Oct. 12, 2026); CoStar submarket export (Jan.–Aug.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Anaheim hotels have room: a 2026 calendar for events and programming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 Anaheim hotel set (Anaheim+), Jan.–Sept. 2026 · weeknights = Sunday–Thursday nights</a:t>
            </a:r>
            <a:endParaRPr lang="en-US" sz="12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1371600"/>
                <a:gridCol w="1463040"/>
                <a:gridCol w="1828800"/>
                <a:gridCol w="2011680"/>
                <a:gridCol w="1463040"/>
                <a:gridCol w="176479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Month</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Average rate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Weeknight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Friday–Saturday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Nights at 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Group share of rooms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Jan.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Feb.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Apr.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80.8%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Aug.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Sept.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weeknight and monthly figures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occupancy and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78.4%; $255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under construction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Sunday–Monday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 70.6% + Monday 70.5%)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Friday–Saturday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(Friday 85.7% + Saturday 86.8%)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(12 months to Aug. 2026); CoStar (Aug. 2026); STR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78.4%</a:t>
            </a:r>
            <a:pPr indent="0" marL="0">
              <a:buNone/>
            </a:pPr>
            <a:r>
              <a:rPr lang="en-US" sz="11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100" b="1" dirty="0">
                <a:solidFill>
                  <a:srgbClr val="125C60"/>
                </a:solidFill>
                <a:latin typeface="Proxima Nova" pitchFamily="34" charset="0"/>
                <a:ea typeface="Proxima Nova" pitchFamily="34" charset="-122"/>
                <a:cs typeface="Proxima Nova" pitchFamily="34" charset="-120"/>
              </a:rPr>
              <a:t>$255</a:t>
            </a:r>
            <a:pPr indent="0" marL="0">
              <a:buNone/>
            </a:pPr>
            <a:r>
              <a:rPr lang="en-US" sz="110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100" b="1" dirty="0">
                <a:solidFill>
                  <a:srgbClr val="125C60"/>
                </a:solidFill>
                <a:latin typeface="Proxima Nova" pitchFamily="34" charset="0"/>
                <a:ea typeface="Proxima Nova" pitchFamily="34" charset="-122"/>
                <a:cs typeface="Proxima Nova" pitchFamily="34" charset="-120"/>
              </a:rPr>
              <a:t>668 rooms</a:t>
            </a:r>
            <a:pPr indent="0" marL="0">
              <a:buNone/>
            </a:pPr>
            <a:r>
              <a:rPr lang="en-US" sz="110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100" b="1" dirty="0">
                <a:solidFill>
                  <a:srgbClr val="125C60"/>
                </a:solidFill>
                <a:latin typeface="Proxima Nova" pitchFamily="34" charset="0"/>
                <a:ea typeface="Proxima Nova" pitchFamily="34" charset="-122"/>
                <a:cs typeface="Proxima Nova" pitchFamily="34" charset="-120"/>
              </a:rPr>
              <a:t>70.6%</a:t>
            </a:r>
            <a:pPr indent="0" marL="0">
              <a:buNone/>
            </a:pPr>
            <a:r>
              <a:rPr lang="en-US" sz="110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100" b="1" dirty="0">
                <a:solidFill>
                  <a:srgbClr val="125C60"/>
                </a:solidFill>
                <a:latin typeface="Proxima Nova" pitchFamily="34" charset="0"/>
                <a:ea typeface="Proxima Nova" pitchFamily="34" charset="-122"/>
                <a:cs typeface="Proxima Nova" pitchFamily="34" charset="-120"/>
              </a:rPr>
              <a:t>86.2%</a:t>
            </a:r>
            <a:pPr indent="0" marL="0">
              <a:buNone/>
            </a:pPr>
            <a:r>
              <a:rPr lang="en-US" sz="110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100" b="1" dirty="0">
                <a:solidFill>
                  <a:srgbClr val="125C60"/>
                </a:solidFill>
                <a:latin typeface="Proxima Nova" pitchFamily="34" charset="0"/>
                <a:ea typeface="Proxima Nova" pitchFamily="34" charset="-122"/>
                <a:cs typeface="Proxima Nova" pitchFamily="34" charset="-120"/>
              </a:rPr>
              <a:t>15.7</a:t>
            </a:r>
            <a:pPr indent="0" marL="0">
              <a:buNone/>
            </a:pPr>
            <a:r>
              <a:rPr lang="en-US" sz="1100" dirty="0">
                <a:solidFill>
                  <a:srgbClr val="231F20"/>
                </a:solidFill>
                <a:latin typeface="Proxima Nova" pitchFamily="34" charset="0"/>
                <a:ea typeface="Proxima Nova" pitchFamily="34" charset="-122"/>
                <a:cs typeface="Proxima Nova" pitchFamily="34" charset="-120"/>
              </a:rPr>
              <a:t>-point gap (averages of the two nights each).</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 Vibe plans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550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two hotels, while only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under construction across Orange County.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Open weeknights for events: Jan., May, Aug. and Sept. weeknights ran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64%–74%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full in 2026, while July had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Weeknight occupancy = Sunday–Thursday room nights sold ÷ rooms available, by month (STR daily data); nights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counted from daily occupancy]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is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29.4%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Orange County hotel revenue, and food revenue per room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28.9%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 rate position between the Anaheim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the Disneyland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set by night of week.</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 blocks timed to convention season: groups took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rooms in Feb.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Mar. 2026. [Calculation: Group share = group room nights ÷ all room nights sold, by month (STR daily data)]</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Monthly occupancy and rate from OC Vibe's hotels once open, to compare with STR and CoStar.</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per visitor is worth about $794 million in lodging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One more night · Scenario based on 2025 visitors, spending and length of stay</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350" b="1" dirty="0">
                <a:solidFill>
                  <a:srgbClr val="125C60"/>
                </a:solidFill>
                <a:latin typeface="Proxima Nova" pitchFamily="34" charset="0"/>
                <a:ea typeface="Proxima Nova" pitchFamily="34" charset="-122"/>
                <a:cs typeface="Proxima Nova" pitchFamily="34" charset="-120"/>
              </a:rPr>
              <a:t>$794M</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$1.724B</a:t>
            </a:r>
            <a:pPr indent="0" marL="0">
              <a:buNone/>
            </a:pPr>
            <a:r>
              <a:rPr lang="en-US" sz="135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2.17</a:t>
            </a:r>
            <a:pPr indent="0" marL="0">
              <a:buNone/>
            </a:pPr>
            <a:r>
              <a:rPr lang="en-US" sz="135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350" b="1" dirty="0">
                <a:solidFill>
                  <a:srgbClr val="125C60"/>
                </a:solidFill>
                <a:latin typeface="Proxima Nova" pitchFamily="34" charset="0"/>
                <a:ea typeface="Proxima Nova" pitchFamily="34" charset="-122"/>
                <a:cs typeface="Proxima Nova" pitchFamily="34" charset="-120"/>
              </a:rPr>
              <a:t>$31.5M</a:t>
            </a:r>
            <a:pPr indent="0" marL="0">
              <a:buNone/>
            </a:pPr>
            <a:r>
              <a:rPr lang="en-US" sz="135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$118.71</a:t>
            </a:r>
            <a:pPr indent="0" marL="0">
              <a:buNone/>
            </a:pPr>
            <a:r>
              <a:rPr lang="en-US" sz="1350" dirty="0">
                <a:solidFill>
                  <a:srgbClr val="231F20"/>
                </a:solidFill>
                <a:latin typeface="Proxima Nova" pitchFamily="34" charset="0"/>
                <a:ea typeface="Proxima Nova" pitchFamily="34" charset="-122"/>
                <a:cs typeface="Proxima Nova" pitchFamily="34" charset="-120"/>
              </a:rPr>
              <a:t> per visitor day).</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 (HEADLINE)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lodging spending</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 Oct. 12, 2026; TE 2025; Azira</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OVERNIGHT VISITORS ONLY</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$1.02B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spending, all categories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UPPER BOUND</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$3.15B</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All visitors, all categories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All </a:t>
            </a:r>
            <a:pPr indent="0" marL="0">
              <a:buNone/>
            </a:pPr>
            <a:r>
              <a:rPr lang="en-US" sz="950" b="1" dirty="0">
                <a:solidFill>
                  <a:srgbClr val="125C60"/>
                </a:solidFill>
                <a:latin typeface="Proxima Nova" pitchFamily="34" charset="0"/>
                <a:ea typeface="Proxima Nova" pitchFamily="34" charset="-122"/>
                <a:cs typeface="Proxima Nova" pitchFamily="34" charset="-120"/>
              </a:rPr>
              <a:t>26.5 million</a:t>
            </a:r>
            <a:pPr indent="0" marL="0">
              <a:buNone/>
            </a:pPr>
            <a:r>
              <a:rPr lang="en-US" sz="950" dirty="0">
                <a:solidFill>
                  <a:srgbClr val="231F20"/>
                </a:solidFill>
                <a:latin typeface="Proxima Nova" pitchFamily="34" charset="0"/>
                <a:ea typeface="Proxima Nova" pitchFamily="34" charset="-122"/>
                <a:cs typeface="Proxima Nova" pitchFamily="34" charset="-120"/>
              </a:rPr>
              <a:t> Anaheim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17.9 million</a:t>
            </a:r>
            <a:pPr indent="0" marL="0">
              <a:buNone/>
            </a:pPr>
            <a:r>
              <a:rPr lang="en-US" sz="950" dirty="0">
                <a:solidFill>
                  <a:srgbClr val="231F20"/>
                </a:solidFill>
                <a:latin typeface="Proxima Nova" pitchFamily="34" charset="0"/>
                <a:ea typeface="Proxima Nova" pitchFamily="34" charset="-122"/>
                <a:cs typeface="Proxima Nova" pitchFamily="34" charset="-120"/>
              </a:rPr>
              <a:t> day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8.6 million</a:t>
            </a:r>
            <a:pPr indent="0" marL="0">
              <a:buNone/>
            </a:pPr>
            <a:r>
              <a:rPr lang="en-US" sz="950" dirty="0">
                <a:solidFill>
                  <a:srgbClr val="231F20"/>
                </a:solidFill>
                <a:latin typeface="Proxima Nova" pitchFamily="34" charset="0"/>
                <a:ea typeface="Proxima Nova" pitchFamily="34" charset="-122"/>
                <a:cs typeface="Proxima Nova" pitchFamily="34" charset="-120"/>
              </a:rPr>
              <a:t> overnight).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one more night in lodging: $1.724B ÷ 2.17 days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One more night is worth about </a:t>
            </a:r>
            <a:pPr indent="0" marL="0">
              <a:buNone/>
            </a:pPr>
            <a:r>
              <a:rPr lang="en-US" sz="950" b="1" dirty="0">
                <a:solidFill>
                  <a:srgbClr val="125C60"/>
                </a:solidFill>
                <a:latin typeface="Proxima Nova" pitchFamily="34" charset="0"/>
                <a:ea typeface="Proxima Nova" pitchFamily="34" charset="-122"/>
                <a:cs typeface="Proxima Nova" pitchFamily="34" charset="-120"/>
              </a:rPr>
              <a:t>$794M</a:t>
            </a:r>
            <a:pPr indent="0" marL="0">
              <a:buNone/>
            </a:pPr>
            <a:r>
              <a:rPr lang="en-US" sz="950" dirty="0">
                <a:solidFill>
                  <a:srgbClr val="231F20"/>
                </a:solidFill>
                <a:latin typeface="Proxima Nova" pitchFamily="34" charset="0"/>
                <a:ea typeface="Proxima Nova" pitchFamily="34" charset="-122"/>
                <a:cs typeface="Proxima Nova" pitchFamily="34" charset="-120"/>
              </a:rPr>
              <a:t> in lodging citywide; each </a:t>
            </a:r>
            <a:pPr indent="0" marL="0">
              <a:buNone/>
            </a:pPr>
            <a:r>
              <a:rPr lang="en-US" sz="950" b="1" dirty="0">
                <a:solidFill>
                  <a:srgbClr val="125C60"/>
                </a:solidFill>
                <a:latin typeface="Proxima Nova" pitchFamily="34" charset="0"/>
                <a:ea typeface="Proxima Nova" pitchFamily="34" charset="-122"/>
                <a:cs typeface="Proxima Nova" pitchFamily="34" charset="-120"/>
              </a:rPr>
              <a:t>1%</a:t>
            </a:r>
            <a:pPr indent="0" marL="0">
              <a:buNone/>
            </a:pPr>
            <a:r>
              <a:rPr lang="en-US" sz="950" dirty="0">
                <a:solidFill>
                  <a:srgbClr val="231F20"/>
                </a:solidFill>
                <a:latin typeface="Proxima Nova" pitchFamily="34" charset="0"/>
                <a:ea typeface="Proxima Nova" pitchFamily="34" charset="-122"/>
                <a:cs typeface="Proxima Nova" pitchFamily="34" charset="-120"/>
              </a:rPr>
              <a:t> of visitors adding a day is worth </a:t>
            </a:r>
            <a:pPr indent="0" marL="0">
              <a:buNone/>
            </a:pPr>
            <a:r>
              <a:rPr lang="en-US" sz="950" b="1" dirty="0">
                <a:solidFill>
                  <a:srgbClr val="125C60"/>
                </a:solidFill>
                <a:latin typeface="Proxima Nova" pitchFamily="34" charset="0"/>
                <a:ea typeface="Proxima Nova" pitchFamily="34" charset="-122"/>
                <a:cs typeface="Proxima Nova" pitchFamily="34" charset="-120"/>
              </a:rPr>
              <a:t>$31.5M</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visitors, spending and length of stay</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visitors, spending and length of stay.</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hotels and businesses citywide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hotels and businesses.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each 1% adding a day: 26.5M × 1% × $118.71</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Longer stays are the fastest way to grow spending without more visitors; OC Vibe's evening venues and hotels are built for this.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2.17 days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weighted average stay, 2025</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lodging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$1.724B</a:t>
            </a:r>
            <a:pPr indent="0" marL="0">
              <a:buNone/>
            </a:pPr>
            <a:r>
              <a:rPr lang="en-US" sz="950" dirty="0">
                <a:solidFill>
                  <a:srgbClr val="231F20"/>
                </a:solidFill>
                <a:latin typeface="Proxima Nova" pitchFamily="34" charset="0"/>
                <a:ea typeface="Proxima Nova" pitchFamily="34" charset="-122"/>
                <a:cs typeface="Proxima Nova" pitchFamily="34" charset="-120"/>
              </a:rPr>
              <a:t>) ÷ weighted stay (</a:t>
            </a:r>
            <a:pPr indent="0" marL="0">
              <a:buNone/>
            </a:pPr>
            <a:r>
              <a:rPr lang="en-US" sz="950" b="1" dirty="0">
                <a:solidFill>
                  <a:srgbClr val="125C60"/>
                </a:solidFill>
                <a:latin typeface="Proxima Nova" pitchFamily="34" charset="0"/>
                <a:ea typeface="Proxima Nova" pitchFamily="34" charset="-122"/>
                <a:cs typeface="Proxima Nova" pitchFamily="34" charset="-120"/>
              </a:rPr>
              <a:t>2.17 days</a:t>
            </a:r>
            <a:pPr indent="0" marL="0">
              <a:buNone/>
            </a:pPr>
            <a:r>
              <a:rPr lang="en-US" sz="950" dirty="0">
                <a:solidFill>
                  <a:srgbClr val="231F20"/>
                </a:solidFill>
                <a:latin typeface="Proxima Nova" pitchFamily="34" charset="0"/>
                <a:ea typeface="Proxima Nova" pitchFamily="34" charset="-122"/>
                <a:cs typeface="Proxima Nova" pitchFamily="34" charset="-120"/>
              </a:rPr>
              <a:t>); scenarios hold spending per day constant.</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Most Anaheim visitors come for the day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Day and overnight visitors, calendar 2025</a:t>
            </a:r>
            <a:endParaRPr lang="en-US" sz="950" dirty="0"/>
          </a:p>
        </p:txBody>
      </p:sp>
      <p:sp>
        <p:nvSpPr>
          <p:cNvPr id="6" name="Shape 4"/>
          <p:cNvSpPr/>
          <p:nvPr/>
        </p:nvSpPr>
        <p:spPr>
          <a:xfrm>
            <a:off x="548640" y="2167128"/>
            <a:ext cx="11094415" cy="731520"/>
          </a:xfrm>
          <a:prstGeom prst="rect">
            <a:avLst/>
          </a:prstGeom>
          <a:solidFill>
            <a:srgbClr val="B4D9E3"/>
          </a:solidFill>
          <a:ln w="12700">
            <a:solidFill>
              <a:srgbClr val="B4D9E3"/>
            </a:solidFill>
            <a:prstDash val="solid"/>
          </a:ln>
        </p:spPr>
      </p:sp>
      <p:sp>
        <p:nvSpPr>
          <p:cNvPr id="7" name="Shape 5"/>
          <p:cNvSpPr/>
          <p:nvPr/>
        </p:nvSpPr>
        <p:spPr>
          <a:xfrm>
            <a:off x="548640" y="2167128"/>
            <a:ext cx="3605685" cy="731520"/>
          </a:xfrm>
          <a:prstGeom prst="rect">
            <a:avLst/>
          </a:prstGeom>
          <a:solidFill>
            <a:srgbClr val="125C60"/>
          </a:solidFill>
          <a:ln w="12700">
            <a:solidFill>
              <a:srgbClr val="125C60"/>
            </a:solidFill>
            <a:prstDash val="solid"/>
          </a:ln>
        </p:spPr>
      </p:sp>
      <p:sp>
        <p:nvSpPr>
          <p:cNvPr id="8" name="Text 6"/>
          <p:cNvSpPr txBox="1"/>
          <p:nvPr/>
        </p:nvSpPr>
        <p:spPr>
          <a:xfrm>
            <a:off x="548640" y="3035808"/>
            <a:ext cx="5547208"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8.6M </a:t>
            </a:r>
            <a:pPr indent="0" marL="0">
              <a:buNone/>
            </a:pPr>
            <a:r>
              <a:rPr lang="en-US" sz="1100" dirty="0">
                <a:solidFill>
                  <a:srgbClr val="231F20"/>
                </a:solidFill>
                <a:latin typeface="Proxima Nova" pitchFamily="34" charset="0"/>
                <a:ea typeface="Proxima Nova" pitchFamily="34" charset="-122"/>
                <a:cs typeface="Proxima Nova" pitchFamily="34" charset="-120"/>
              </a:rPr>
              <a:t>overnight visitors (32.5%)</a:t>
            </a:r>
            <a:endParaRPr lang="en-US" sz="1800" dirty="0"/>
          </a:p>
        </p:txBody>
      </p:sp>
      <p:sp>
        <p:nvSpPr>
          <p:cNvPr id="9" name="Text 7"/>
          <p:cNvSpPr txBox="1"/>
          <p:nvPr/>
        </p:nvSpPr>
        <p:spPr>
          <a:xfrm>
            <a:off x="6095848" y="3035808"/>
            <a:ext cx="5547208"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26.5M </a:t>
            </a:r>
            <a:pPr algn="r" indent="0" marL="0">
              <a:buNone/>
            </a:pPr>
            <a:r>
              <a:rPr lang="en-US" sz="1100" dirty="0">
                <a:solidFill>
                  <a:srgbClr val="231F20"/>
                </a:solidFill>
                <a:latin typeface="Proxima Nova" pitchFamily="34" charset="0"/>
                <a:ea typeface="Proxima Nova" pitchFamily="34" charset="-122"/>
                <a:cs typeface="Proxima Nova" pitchFamily="34" charset="-120"/>
              </a:rPr>
              <a:t>all visitors (17.9M day visitors)</a:t>
            </a:r>
            <a:endParaRPr lang="en-US" sz="1800" dirty="0"/>
          </a:p>
        </p:txBody>
      </p:sp>
      <p:sp>
        <p:nvSpPr>
          <p:cNvPr id="10" name="Text 8"/>
          <p:cNvSpPr txBox="1"/>
          <p:nvPr/>
        </p:nvSpPr>
        <p:spPr>
          <a:xfrm>
            <a:off x="548640" y="3538728"/>
            <a:ext cx="11094415"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8.6M ÷ 26.5M = 32.5%; day visitors 17.9M ÷ 26.5M = 67.5%</a:t>
            </a:r>
            <a:endParaRPr lang="en-US" sz="950" dirty="0"/>
          </a:p>
        </p:txBody>
      </p:sp>
      <p:sp>
        <p:nvSpPr>
          <p:cNvPr id="11" name="Shape 9"/>
          <p:cNvSpPr/>
          <p:nvPr/>
        </p:nvSpPr>
        <p:spPr>
          <a:xfrm>
            <a:off x="548640" y="4023360"/>
            <a:ext cx="11094415" cy="45720"/>
          </a:xfrm>
          <a:prstGeom prst="rect">
            <a:avLst/>
          </a:prstGeom>
          <a:solidFill>
            <a:srgbClr val="125C60"/>
          </a:solidFill>
          <a:ln w="12700">
            <a:solidFill>
              <a:srgbClr val="125C60"/>
            </a:solidFill>
            <a:prstDash val="solid"/>
          </a:ln>
        </p:spPr>
      </p:sp>
      <p:sp>
        <p:nvSpPr>
          <p:cNvPr id="12" name="Text 10"/>
          <p:cNvSpPr txBox="1"/>
          <p:nvPr/>
        </p:nvSpPr>
        <p:spPr>
          <a:xfrm>
            <a:off x="548640" y="41148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13" name="Text 11"/>
          <p:cNvSpPr txBox="1"/>
          <p:nvPr/>
        </p:nvSpPr>
        <p:spPr>
          <a:xfrm>
            <a:off x="548640" y="437083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Visit Anaheim BI, Extra Night study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by scenario: lodging and total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Extra Night study · scenario estimates based on 2025 data</a:t>
            </a:r>
            <a:endParaRPr lang="en-US" sz="1200" dirty="0"/>
          </a:p>
        </p:txBody>
      </p:sp>
      <p:sp>
        <p:nvSpPr>
          <p:cNvPr id="5" name="chart-title"/>
          <p:cNvSpPr txBox="1"/>
          <p:nvPr/>
        </p:nvSpPr>
        <p:spPr>
          <a:xfrm>
            <a:off x="548640" y="1463040"/>
            <a:ext cx="53949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Added spending by scenario ($ billions, estimates)</a:t>
            </a:r>
            <a:endParaRPr lang="en-US" sz="1300" dirty="0"/>
          </a:p>
        </p:txBody>
      </p:sp>
      <p:graphicFrame>
        <p:nvGraphicFramePr>
          <p:cNvPr id="6" name="chart" descr=""/>
          <p:cNvGraphicFramePr/>
          <p:nvPr/>
        </p:nvGraphicFramePr>
        <p:xfrm>
          <a:off x="548640" y="1828800"/>
          <a:ext cx="53949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394960" cy="914400"/>
        </p:xfrm>
        <a:graphic>
          <a:graphicData uri="http://schemas.openxmlformats.org/drawingml/2006/table">
            <a:tbl>
              <a:tblPr/>
              <a:tblGrid>
                <a:gridCol w="2377440"/>
                <a:gridCol w="1051560"/>
                <a:gridCol w="1965960"/>
              </a:tblGrid>
              <a:tr h="301752">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callout"/>
          <p:cNvSpPr/>
          <p:nvPr/>
        </p:nvSpPr>
        <p:spPr>
          <a:xfrm>
            <a:off x="548640" y="4434840"/>
            <a:ext cx="5394960" cy="1417320"/>
          </a:xfrm>
          <a:prstGeom prst="roundRect">
            <a:avLst>
              <a:gd name="adj" fmla="val 3871"/>
            </a:avLst>
          </a:prstGeom>
          <a:solidFill>
            <a:srgbClr val="F9F9F2"/>
          </a:solidFill>
          <a:ln w="12700">
            <a:solidFill>
              <a:srgbClr val="125C60"/>
            </a:solidFill>
            <a:prstDash val="solid"/>
          </a:ln>
        </p:spPr>
      </p:sp>
      <p:sp>
        <p:nvSpPr>
          <p:cNvPr id="9" name="Text 4"/>
          <p:cNvSpPr txBox="1"/>
          <p:nvPr/>
        </p:nvSpPr>
        <p:spPr>
          <a:xfrm>
            <a:off x="731520" y="4572000"/>
            <a:ext cx="5029200" cy="118872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Why it matters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evening events at Honda Center and the new concert hall, plus 550 planned hotel rooms, are the draws that turn day trips into overnight stays.</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(Tourism Economics 2025 spending; Azira length of stay). Estimates hold spending per day constant.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Group business booked with TID incentives peaks at 30 events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Tourism Improvement District incentive bookings by event year · Simpleview</a:t>
            </a:r>
            <a:endParaRPr lang="en-US" sz="12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852160" cy="914400"/>
        </p:xfrm>
        <a:graphic>
          <a:graphicData uri="http://schemas.openxmlformats.org/drawingml/2006/table">
            <a:tbl>
              <a:tblPr/>
              <a:tblGrid>
                <a:gridCol w="1280160"/>
                <a:gridCol w="1097280"/>
                <a:gridCol w="1737360"/>
                <a:gridCol w="1737360"/>
              </a:tblGrid>
              <a:tr h="301752">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Event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 nights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Attendees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260,199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312,900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327,558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268,900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502,401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533,774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369,827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397,964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460,566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651,200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401,201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503,796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299,178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419,540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286,883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218,500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213,374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115,840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105,951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82,500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66,361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167,194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95,000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125,163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6766560" y="1463040"/>
            <a:ext cx="48463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Room nights by event year (thousands)</a:t>
            </a:r>
            <a:endParaRPr lang="en-US" sz="1300" dirty="0"/>
          </a:p>
        </p:txBody>
      </p:sp>
      <p:graphicFrame>
        <p:nvGraphicFramePr>
          <p:cNvPr id="7" name="chart" descr=""/>
          <p:cNvGraphicFramePr/>
          <p:nvPr/>
        </p:nvGraphicFramePr>
        <p:xfrm>
          <a:off x="6766560" y="1828800"/>
          <a:ext cx="4846320" cy="4023360"/>
        </p:xfrm>
        <a:graphic xmlns:a="http://schemas.openxmlformats.org/drawingml/2006/main">
          <a:graphicData uri="http://schemas.openxmlformats.org/drawingml/2006/chart">
            <c:chart xmlns:c="http://schemas.openxmlformats.org/drawingml/2006/chart" r:id="rId1"/>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Simpleview, TID incentive buydowns (Extra Night study)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domestic visitors × 1.9 days + 6.8% international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$1.724B lodging spending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Each 1% of visitors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calculation from source data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Azira; Tourism Economics (2025); BI calculation; BI calculation;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100" b="1" dirty="0">
                <a:solidFill>
                  <a:srgbClr val="125C60"/>
                </a:solidFill>
                <a:latin typeface="Proxima Nova" pitchFamily="34" charset="0"/>
                <a:ea typeface="Proxima Nova" pitchFamily="34" charset="-122"/>
                <a:cs typeface="Proxima Nova" pitchFamily="34" charset="-120"/>
              </a:rPr>
              <a:t>$794M</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$1.724B</a:t>
            </a:r>
            <a:pPr indent="0" marL="0">
              <a:buNone/>
            </a:pPr>
            <a:r>
              <a:rPr lang="en-US" sz="110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2.17</a:t>
            </a:r>
            <a:pPr indent="0" marL="0">
              <a:buNone/>
            </a:pPr>
            <a:r>
              <a:rPr lang="en-US" sz="110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100" b="1" dirty="0">
                <a:solidFill>
                  <a:srgbClr val="125C60"/>
                </a:solidFill>
                <a:latin typeface="Proxima Nova" pitchFamily="34" charset="0"/>
                <a:ea typeface="Proxima Nova" pitchFamily="34" charset="-122"/>
                <a:cs typeface="Proxima Nova" pitchFamily="34" charset="-120"/>
              </a:rPr>
              <a:t>$31.5M</a:t>
            </a:r>
            <a:pPr indent="0" marL="0">
              <a:buNone/>
            </a:pPr>
            <a:r>
              <a:rPr lang="en-US" sz="110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$118.71</a:t>
            </a:r>
            <a:pPr indent="0" marL="0">
              <a:buNone/>
            </a:pPr>
            <a:r>
              <a:rPr lang="en-US" sz="1100" dirty="0">
                <a:solidFill>
                  <a:srgbClr val="231F20"/>
                </a:solidFill>
                <a:latin typeface="Proxima Nova" pitchFamily="34" charset="0"/>
                <a:ea typeface="Proxima Nova" pitchFamily="34" charset="-122"/>
                <a:cs typeface="Proxima Nova" pitchFamily="34" charset="-120"/>
              </a:rPr>
              <a:t> per visitor day).</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Two in three Anaheim visitors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day visitors; evening shows and 550 planned hotel rooms are what turn a day trip into an overnight stay.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day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Each point of Sunday–Monday hotel occupancy citywide is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22,200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room revenue a year.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21,318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point × 104 Sunday and Monday nights a year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22,171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$229.90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average Sunday–Monday rate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Groups booked with Tourism Improvement District incentives (as of Jan. 2025): 30 events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460,566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2026, 26 events in 2027.</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Show-and-stay packages with nearby hotels for 2027, since OC Vibe's own hotels open in 2028.</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Package redemptions (nights added) shared with Visit Anaheim, to measure the add-a-day share.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Planning values in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steps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rather than the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ceiling.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 Tourism Economics, Economic Impact 2025 (pub. Apr.–May 2026); City of Anaheim OCVibe page (2026); OCVIBE fact sheet (Apr. 2024); STR daily data, Visit Anaheim hotel sets (Jan. 1–Oct. 3, 2026); Simpleview TID incentive bookings (exported Jan. 20,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275,000 vehicles a day pass OC Vibe on SR-57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Getting here · OCTA traffic map Aug. 2026 · OCTA bus schedules Aug.–Nov. 2026 · Azira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350" b="1" dirty="0">
                <a:solidFill>
                  <a:srgbClr val="125C60"/>
                </a:solidFill>
                <a:latin typeface="Proxima Nova" pitchFamily="34" charset="0"/>
                <a:ea typeface="Proxima Nova" pitchFamily="34" charset="-122"/>
                <a:cs typeface="Proxima Nova" pitchFamily="34" charset="-120"/>
              </a:rPr>
              <a:t>74.0%</a:t>
            </a:r>
            <a:pPr indent="0" marL="0">
              <a:buNone/>
            </a:pPr>
            <a:r>
              <a:rPr lang="en-US" sz="135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3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35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Access decides how many visitors OC Vibe can host on peak nights. Most visitors arrive by car, and SR-57 beside OC Vibe carries about </a:t>
            </a:r>
            <a:pPr indent="0" marL="0">
              <a:buNone/>
            </a:pPr>
            <a:r>
              <a:rPr lang="en-US" sz="12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50" dirty="0">
                <a:solidFill>
                  <a:srgbClr val="231F20"/>
                </a:solidFill>
                <a:latin typeface="Proxima Nova" pitchFamily="34" charset="0"/>
                <a:ea typeface="Proxima Nova" pitchFamily="34" charset="-122"/>
                <a:cs typeface="Proxima Nova" pitchFamily="34" charset="-120"/>
              </a:rPr>
              <a:t> a day; ARTIC adds bus and rail service, though only 11 weekday buses leave after 10 p.m.</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SR-57 BESIDE OC VIBE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Vehicles per weekday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map (Aug. 2026; Caltrans 2024)</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ARTIC BUS SERVICE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bus trips stopping at ARTIC</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schedules (Aug.–Nov.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ORIGIN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trips start within 50 miles; most arrive by car</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arriving by car, bus, Amtrak and Metrolink; OCTA, the City and OC Vibe as operators.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vehicles a day on SR-57 beside OC Vibe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carries about </a:t>
            </a:r>
            <a:pPr indent="0" marL="0">
              <a:buNone/>
            </a:pPr>
            <a:r>
              <a:rPr lang="en-US" sz="9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950" dirty="0">
                <a:solidFill>
                  <a:srgbClr val="231F20"/>
                </a:solidFill>
                <a:latin typeface="Proxima Nova" pitchFamily="34" charset="0"/>
                <a:ea typeface="Proxima Nova" pitchFamily="34" charset="-122"/>
                <a:cs typeface="Proxima Nova" pitchFamily="34" charset="-120"/>
              </a:rPr>
              <a:t> a day beside OC Vibe; 277 weekday buses stop at ARTIC (11 leave after 10 p.m.); </a:t>
            </a:r>
            <a:pPr indent="0" marL="0">
              <a:buNone/>
            </a:pPr>
            <a:r>
              <a:rPr lang="en-US" sz="950" b="1" dirty="0">
                <a:solidFill>
                  <a:srgbClr val="125C60"/>
                </a:solidFill>
                <a:latin typeface="Proxima Nova" pitchFamily="34" charset="0"/>
                <a:ea typeface="Proxima Nova" pitchFamily="34" charset="-122"/>
                <a:cs typeface="Proxima Nova" pitchFamily="34" charset="-120"/>
              </a:rPr>
              <a:t>191,153</a:t>
            </a:r>
            <a:pPr indent="0" marL="0">
              <a:buNone/>
            </a:pPr>
            <a:r>
              <a:rPr lang="en-US" sz="950" dirty="0">
                <a:solidFill>
                  <a:srgbClr val="231F20"/>
                </a:solidFill>
                <a:latin typeface="Proxima Nova" pitchFamily="34" charset="0"/>
                <a:ea typeface="Proxima Nova" pitchFamily="34" charset="-122"/>
                <a:cs typeface="Proxima Nova" pitchFamily="34" charset="-120"/>
              </a:rPr>
              <a:t> Amtrak passengers used the station in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Traffic Flow Map (pub. Aug.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Aug. 9–Nov. 7,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current OCTA bus schedule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Traffic counts 2021–2024 (2026 map); bus schedules Aug. 9–Nov. 7, 2026; Amtrak 2024; Metrolink Oct.–Dec.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ARTIC</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2626 E. Katella Ave., beside OC Vibe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Katella Ave, Ball Rd, State College Blvd and ARTIC (2626 E. Katella Ave).</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buses leave ARTIC after 10 p.m.</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Access shapes how many visitors OC Vibe can host on peak nights and how easily resort guests reach it.</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 trips at ARTIC: 100 + 102 + 75 (routes 50, 53 and 553)</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BI analysis of OCTA's traffic map and bus schedules; rail station and line reports; California transit operator statistics.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Traffic Flow Map (pub. Aug. 2026) and bus schedules (Aug. 9–Nov. 7, 2026); Amtrak ANA fact sheet (2024 data; pub. Oct. 27, 2025); Metrolink FY26 Q2 (Oct.–Dec. 2025); U.S. BTS Transportation Economic Trends (2019–2025; accessed Oct. 12,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ARTIC departures: weekday OCTA bus trips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OCTA schedules, Aug. 9–Nov. 7, 2026 · beside OC Vibe at 2626 E. Katella Ave.</a:t>
            </a:r>
            <a:endParaRPr lang="en-US" sz="950" dirty="0"/>
          </a:p>
        </p:txBody>
      </p:sp>
      <p:sp>
        <p:nvSpPr>
          <p:cNvPr id="6" name="Shape 4"/>
          <p:cNvSpPr/>
          <p:nvPr/>
        </p:nvSpPr>
        <p:spPr>
          <a:xfrm>
            <a:off x="548640" y="2075688"/>
            <a:ext cx="11094415" cy="2148840"/>
          </a:xfrm>
          <a:prstGeom prst="roundRect">
            <a:avLst>
              <a:gd name="adj" fmla="val 2553"/>
            </a:avLst>
          </a:prstGeom>
          <a:solidFill>
            <a:srgbClr val="125C60"/>
          </a:solidFill>
          <a:ln w="12700">
            <a:solidFill>
              <a:srgbClr val="125C60"/>
            </a:solidFill>
            <a:prstDash val="solid"/>
          </a:ln>
        </p:spPr>
      </p:sp>
      <p:sp>
        <p:nvSpPr>
          <p:cNvPr id="7" name="Text 5"/>
          <p:cNvSpPr txBox="1"/>
          <p:nvPr/>
        </p:nvSpPr>
        <p:spPr>
          <a:xfrm>
            <a:off x="7315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ROUTE</a:t>
            </a:r>
            <a:endParaRPr lang="en-US" sz="900" dirty="0"/>
          </a:p>
        </p:txBody>
      </p:sp>
      <p:sp>
        <p:nvSpPr>
          <p:cNvPr id="8" name="Text 6"/>
          <p:cNvSpPr txBox="1"/>
          <p:nvPr/>
        </p:nvSpPr>
        <p:spPr>
          <a:xfrm>
            <a:off x="16459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CORRIDOR</a:t>
            </a:r>
            <a:endParaRPr lang="en-US" sz="900" dirty="0"/>
          </a:p>
        </p:txBody>
      </p:sp>
      <p:sp>
        <p:nvSpPr>
          <p:cNvPr id="9" name="Text 7"/>
          <p:cNvSpPr txBox="1"/>
          <p:nvPr/>
        </p:nvSpPr>
        <p:spPr>
          <a:xfrm>
            <a:off x="7427177"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WEEKDAY TRIPS</a:t>
            </a:r>
            <a:endParaRPr lang="en-US" sz="900" dirty="0"/>
          </a:p>
        </p:txBody>
      </p:sp>
      <p:sp>
        <p:nvSpPr>
          <p:cNvPr id="10" name="Shape 8"/>
          <p:cNvSpPr/>
          <p:nvPr/>
        </p:nvSpPr>
        <p:spPr>
          <a:xfrm>
            <a:off x="731520" y="2532888"/>
            <a:ext cx="685800" cy="310896"/>
          </a:xfrm>
          <a:prstGeom prst="roundRect">
            <a:avLst>
              <a:gd name="adj" fmla="val 11765"/>
            </a:avLst>
          </a:prstGeom>
          <a:solidFill>
            <a:srgbClr val="43A3A3"/>
          </a:solidFill>
          <a:ln w="12700">
            <a:solidFill>
              <a:srgbClr val="FFFFFF"/>
            </a:solidFill>
            <a:prstDash val="solid"/>
          </a:ln>
        </p:spPr>
      </p:sp>
      <p:sp>
        <p:nvSpPr>
          <p:cNvPr id="11" name="Text 9"/>
          <p:cNvSpPr txBox="1"/>
          <p:nvPr/>
        </p:nvSpPr>
        <p:spPr>
          <a:xfrm>
            <a:off x="731520" y="253288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50</a:t>
            </a:r>
            <a:endParaRPr lang="en-US" sz="1300" dirty="0"/>
          </a:p>
        </p:txBody>
      </p:sp>
      <p:sp>
        <p:nvSpPr>
          <p:cNvPr id="12" name="Text 10"/>
          <p:cNvSpPr txBox="1"/>
          <p:nvPr/>
        </p:nvSpPr>
        <p:spPr>
          <a:xfrm>
            <a:off x="1645920" y="253288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Long Beach–Orange via Katella Ave</a:t>
            </a:r>
            <a:endParaRPr lang="en-US" sz="1100" dirty="0"/>
          </a:p>
        </p:txBody>
      </p:sp>
      <p:sp>
        <p:nvSpPr>
          <p:cNvPr id="13" name="Shape 11"/>
          <p:cNvSpPr/>
          <p:nvPr/>
        </p:nvSpPr>
        <p:spPr>
          <a:xfrm>
            <a:off x="7427177" y="2642616"/>
            <a:ext cx="3263063" cy="91440"/>
          </a:xfrm>
          <a:prstGeom prst="rect">
            <a:avLst/>
          </a:prstGeom>
          <a:solidFill>
            <a:srgbClr val="B4D9E3"/>
          </a:solidFill>
          <a:ln w="12700">
            <a:solidFill>
              <a:srgbClr val="B4D9E3"/>
            </a:solidFill>
            <a:prstDash val="solid"/>
          </a:ln>
        </p:spPr>
      </p:sp>
      <p:sp>
        <p:nvSpPr>
          <p:cNvPr id="14" name="Text 12"/>
          <p:cNvSpPr txBox="1"/>
          <p:nvPr/>
        </p:nvSpPr>
        <p:spPr>
          <a:xfrm>
            <a:off x="10820095" y="253288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100</a:t>
            </a:r>
            <a:endParaRPr lang="en-US" sz="1400" dirty="0"/>
          </a:p>
        </p:txBody>
      </p:sp>
      <p:sp>
        <p:nvSpPr>
          <p:cNvPr id="15" name="Shape 13"/>
          <p:cNvSpPr/>
          <p:nvPr/>
        </p:nvSpPr>
        <p:spPr>
          <a:xfrm>
            <a:off x="731520" y="2944368"/>
            <a:ext cx="685800" cy="310896"/>
          </a:xfrm>
          <a:prstGeom prst="roundRect">
            <a:avLst>
              <a:gd name="adj" fmla="val 11765"/>
            </a:avLst>
          </a:prstGeom>
          <a:solidFill>
            <a:srgbClr val="43A3A3"/>
          </a:solidFill>
          <a:ln w="12700">
            <a:solidFill>
              <a:srgbClr val="FFFFFF"/>
            </a:solidFill>
            <a:prstDash val="solid"/>
          </a:ln>
        </p:spPr>
      </p:sp>
      <p:sp>
        <p:nvSpPr>
          <p:cNvPr id="16" name="Text 14"/>
          <p:cNvSpPr txBox="1"/>
          <p:nvPr/>
        </p:nvSpPr>
        <p:spPr>
          <a:xfrm>
            <a:off x="731520" y="294436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53</a:t>
            </a:r>
            <a:endParaRPr lang="en-US" sz="1300" dirty="0"/>
          </a:p>
        </p:txBody>
      </p:sp>
      <p:sp>
        <p:nvSpPr>
          <p:cNvPr id="17" name="Text 15"/>
          <p:cNvSpPr txBox="1"/>
          <p:nvPr/>
        </p:nvSpPr>
        <p:spPr>
          <a:xfrm>
            <a:off x="1645920" y="294436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Anaheim–Irvine via Main St</a:t>
            </a:r>
            <a:endParaRPr lang="en-US" sz="1100" dirty="0"/>
          </a:p>
        </p:txBody>
      </p:sp>
      <p:sp>
        <p:nvSpPr>
          <p:cNvPr id="18" name="Shape 16"/>
          <p:cNvSpPr/>
          <p:nvPr/>
        </p:nvSpPr>
        <p:spPr>
          <a:xfrm>
            <a:off x="7427177" y="3054096"/>
            <a:ext cx="3328325" cy="91440"/>
          </a:xfrm>
          <a:prstGeom prst="rect">
            <a:avLst/>
          </a:prstGeom>
          <a:solidFill>
            <a:srgbClr val="B4D9E3"/>
          </a:solidFill>
          <a:ln w="12700">
            <a:solidFill>
              <a:srgbClr val="B4D9E3"/>
            </a:solidFill>
            <a:prstDash val="solid"/>
          </a:ln>
        </p:spPr>
      </p:sp>
      <p:sp>
        <p:nvSpPr>
          <p:cNvPr id="19" name="Text 17"/>
          <p:cNvSpPr txBox="1"/>
          <p:nvPr/>
        </p:nvSpPr>
        <p:spPr>
          <a:xfrm>
            <a:off x="10820095" y="294436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102</a:t>
            </a:r>
            <a:endParaRPr lang="en-US" sz="1400" dirty="0"/>
          </a:p>
        </p:txBody>
      </p:sp>
      <p:sp>
        <p:nvSpPr>
          <p:cNvPr id="20" name="Shape 18"/>
          <p:cNvSpPr/>
          <p:nvPr/>
        </p:nvSpPr>
        <p:spPr>
          <a:xfrm>
            <a:off x="731520" y="3355848"/>
            <a:ext cx="685800" cy="310896"/>
          </a:xfrm>
          <a:prstGeom prst="roundRect">
            <a:avLst>
              <a:gd name="adj" fmla="val 11765"/>
            </a:avLst>
          </a:prstGeom>
          <a:solidFill>
            <a:srgbClr val="43A3A3"/>
          </a:solidFill>
          <a:ln w="12700">
            <a:solidFill>
              <a:srgbClr val="FFFFFF"/>
            </a:solidFill>
            <a:prstDash val="solid"/>
          </a:ln>
        </p:spPr>
      </p:sp>
      <p:sp>
        <p:nvSpPr>
          <p:cNvPr id="21" name="Text 19"/>
          <p:cNvSpPr txBox="1"/>
          <p:nvPr/>
        </p:nvSpPr>
        <p:spPr>
          <a:xfrm>
            <a:off x="731520" y="335584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553</a:t>
            </a:r>
            <a:endParaRPr lang="en-US" sz="1300" dirty="0"/>
          </a:p>
        </p:txBody>
      </p:sp>
      <p:sp>
        <p:nvSpPr>
          <p:cNvPr id="22" name="Text 20"/>
          <p:cNvSpPr txBox="1"/>
          <p:nvPr/>
        </p:nvSpPr>
        <p:spPr>
          <a:xfrm>
            <a:off x="1645920" y="335584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Rapid Anaheim–Costa Mesa via Katella/Main</a:t>
            </a:r>
            <a:endParaRPr lang="en-US" sz="1100" dirty="0"/>
          </a:p>
        </p:txBody>
      </p:sp>
      <p:sp>
        <p:nvSpPr>
          <p:cNvPr id="23" name="Shape 21"/>
          <p:cNvSpPr/>
          <p:nvPr/>
        </p:nvSpPr>
        <p:spPr>
          <a:xfrm>
            <a:off x="7427177" y="3465576"/>
            <a:ext cx="2447297" cy="91440"/>
          </a:xfrm>
          <a:prstGeom prst="rect">
            <a:avLst/>
          </a:prstGeom>
          <a:solidFill>
            <a:srgbClr val="B4D9E3"/>
          </a:solidFill>
          <a:ln w="12700">
            <a:solidFill>
              <a:srgbClr val="B4D9E3"/>
            </a:solidFill>
            <a:prstDash val="solid"/>
          </a:ln>
        </p:spPr>
      </p:sp>
      <p:sp>
        <p:nvSpPr>
          <p:cNvPr id="24" name="Text 22"/>
          <p:cNvSpPr txBox="1"/>
          <p:nvPr/>
        </p:nvSpPr>
        <p:spPr>
          <a:xfrm>
            <a:off x="10820095" y="335584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75</a:t>
            </a:r>
            <a:endParaRPr lang="en-US" sz="1400" dirty="0"/>
          </a:p>
        </p:txBody>
      </p:sp>
      <p:sp>
        <p:nvSpPr>
          <p:cNvPr id="25" name="Shape 23"/>
          <p:cNvSpPr/>
          <p:nvPr/>
        </p:nvSpPr>
        <p:spPr>
          <a:xfrm>
            <a:off x="731520" y="3767328"/>
            <a:ext cx="685800" cy="310896"/>
          </a:xfrm>
          <a:prstGeom prst="roundRect">
            <a:avLst>
              <a:gd name="adj" fmla="val 11765"/>
            </a:avLst>
          </a:prstGeom>
          <a:solidFill>
            <a:srgbClr val="FFFFFF"/>
          </a:solidFill>
          <a:ln w="12700">
            <a:solidFill>
              <a:srgbClr val="FFFFFF"/>
            </a:solidFill>
            <a:prstDash val="solid"/>
          </a:ln>
        </p:spPr>
      </p:sp>
      <p:sp>
        <p:nvSpPr>
          <p:cNvPr id="26" name="Text 24"/>
          <p:cNvSpPr txBox="1"/>
          <p:nvPr/>
        </p:nvSpPr>
        <p:spPr>
          <a:xfrm>
            <a:off x="731520" y="3767328"/>
            <a:ext cx="685800" cy="310896"/>
          </a:xfrm>
          <a:prstGeom prst="rect">
            <a:avLst/>
          </a:prstGeom>
          <a:noFill/>
          <a:ln/>
        </p:spPr>
        <p:txBody>
          <a:bodyPr wrap="square" lIns="0" tIns="0" rIns="0" bIns="0" rtlCol="0" anchor="ctr"/>
          <a:lstStyle/>
          <a:p>
            <a:pPr algn="ctr" indent="0" marL="0">
              <a:buNone/>
            </a:pPr>
            <a:r>
              <a:rPr lang="en-US" sz="1300" b="1" dirty="0">
                <a:solidFill>
                  <a:srgbClr val="125C60"/>
                </a:solidFill>
                <a:latin typeface="Proxima Nova" pitchFamily="34" charset="0"/>
                <a:ea typeface="Proxima Nova" pitchFamily="34" charset="-122"/>
                <a:cs typeface="Proxima Nova" pitchFamily="34" charset="-120"/>
              </a:rPr>
              <a:t>All</a:t>
            </a:r>
            <a:endParaRPr lang="en-US" sz="1300" dirty="0"/>
          </a:p>
        </p:txBody>
      </p:sp>
      <p:sp>
        <p:nvSpPr>
          <p:cNvPr id="27" name="Text 25"/>
          <p:cNvSpPr txBox="1"/>
          <p:nvPr/>
        </p:nvSpPr>
        <p:spPr>
          <a:xfrm>
            <a:off x="1645920" y="376732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All routes (100 + 102 + 75)</a:t>
            </a:r>
            <a:endParaRPr lang="en-US" sz="1100" dirty="0"/>
          </a:p>
        </p:txBody>
      </p:sp>
      <p:sp>
        <p:nvSpPr>
          <p:cNvPr id="28" name="Text 26"/>
          <p:cNvSpPr txBox="1"/>
          <p:nvPr/>
        </p:nvSpPr>
        <p:spPr>
          <a:xfrm>
            <a:off x="10820095" y="376732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277</a:t>
            </a:r>
            <a:endParaRPr lang="en-US" sz="1400" dirty="0"/>
          </a:p>
        </p:txBody>
      </p:sp>
      <p:sp>
        <p:nvSpPr>
          <p:cNvPr id="29" name="Shape 27"/>
          <p:cNvSpPr/>
          <p:nvPr/>
        </p:nvSpPr>
        <p:spPr>
          <a:xfrm>
            <a:off x="548640" y="4361688"/>
            <a:ext cx="3576218" cy="777240"/>
          </a:xfrm>
          <a:prstGeom prst="rect">
            <a:avLst/>
          </a:prstGeom>
          <a:solidFill>
            <a:srgbClr val="FFFFFF"/>
          </a:solidFill>
          <a:ln w="12700">
            <a:solidFill>
              <a:srgbClr val="B4D9E3"/>
            </a:solidFill>
            <a:prstDash val="solid"/>
          </a:ln>
        </p:spPr>
      </p:sp>
      <p:sp>
        <p:nvSpPr>
          <p:cNvPr id="30" name="Text 28"/>
          <p:cNvSpPr txBox="1"/>
          <p:nvPr/>
        </p:nvSpPr>
        <p:spPr>
          <a:xfrm>
            <a:off x="658368"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11</a:t>
            </a:r>
            <a:endParaRPr lang="en-US" sz="1800" dirty="0"/>
          </a:p>
        </p:txBody>
      </p:sp>
      <p:sp>
        <p:nvSpPr>
          <p:cNvPr id="31" name="Text 29"/>
          <p:cNvSpPr txBox="1"/>
          <p:nvPr/>
        </p:nvSpPr>
        <p:spPr>
          <a:xfrm>
            <a:off x="658368"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weekday buses leave after 10 p.m.</a:t>
            </a:r>
            <a:endParaRPr lang="en-US" sz="950" dirty="0"/>
          </a:p>
        </p:txBody>
      </p:sp>
      <p:sp>
        <p:nvSpPr>
          <p:cNvPr id="32" name="Shape 30"/>
          <p:cNvSpPr/>
          <p:nvPr/>
        </p:nvSpPr>
        <p:spPr>
          <a:xfrm>
            <a:off x="4307738" y="4361688"/>
            <a:ext cx="3576218" cy="777240"/>
          </a:xfrm>
          <a:prstGeom prst="rect">
            <a:avLst/>
          </a:prstGeom>
          <a:solidFill>
            <a:srgbClr val="FFFFFF"/>
          </a:solidFill>
          <a:ln w="12700">
            <a:solidFill>
              <a:srgbClr val="B4D9E3"/>
            </a:solidFill>
            <a:prstDash val="solid"/>
          </a:ln>
        </p:spPr>
      </p:sp>
      <p:sp>
        <p:nvSpPr>
          <p:cNvPr id="33" name="Text 31"/>
          <p:cNvSpPr txBox="1"/>
          <p:nvPr/>
        </p:nvSpPr>
        <p:spPr>
          <a:xfrm>
            <a:off x="4417466"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275,000</a:t>
            </a:r>
            <a:endParaRPr lang="en-US" sz="1800" dirty="0"/>
          </a:p>
        </p:txBody>
      </p:sp>
      <p:sp>
        <p:nvSpPr>
          <p:cNvPr id="34" name="Text 32"/>
          <p:cNvSpPr txBox="1"/>
          <p:nvPr/>
        </p:nvSpPr>
        <p:spPr>
          <a:xfrm>
            <a:off x="4417466"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vehicles a weekday on SR-57 (Caltrans 2024)</a:t>
            </a:r>
            <a:endParaRPr lang="en-US" sz="950" dirty="0"/>
          </a:p>
        </p:txBody>
      </p:sp>
      <p:sp>
        <p:nvSpPr>
          <p:cNvPr id="35" name="Shape 33"/>
          <p:cNvSpPr/>
          <p:nvPr/>
        </p:nvSpPr>
        <p:spPr>
          <a:xfrm>
            <a:off x="8066837" y="4361688"/>
            <a:ext cx="3576218" cy="777240"/>
          </a:xfrm>
          <a:prstGeom prst="rect">
            <a:avLst/>
          </a:prstGeom>
          <a:solidFill>
            <a:srgbClr val="FFFFFF"/>
          </a:solidFill>
          <a:ln w="12700">
            <a:solidFill>
              <a:srgbClr val="B4D9E3"/>
            </a:solidFill>
            <a:prstDash val="solid"/>
          </a:ln>
        </p:spPr>
      </p:sp>
      <p:sp>
        <p:nvSpPr>
          <p:cNvPr id="36" name="Text 34"/>
          <p:cNvSpPr txBox="1"/>
          <p:nvPr/>
        </p:nvSpPr>
        <p:spPr>
          <a:xfrm>
            <a:off x="8176565"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191,153</a:t>
            </a:r>
            <a:endParaRPr lang="en-US" sz="1800" dirty="0"/>
          </a:p>
        </p:txBody>
      </p:sp>
      <p:sp>
        <p:nvSpPr>
          <p:cNvPr id="37" name="Text 35"/>
          <p:cNvSpPr txBox="1"/>
          <p:nvPr/>
        </p:nvSpPr>
        <p:spPr>
          <a:xfrm>
            <a:off x="8176565"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Amtrak passengers at Anaheim, 2024</a:t>
            </a:r>
            <a:endParaRPr lang="en-US" sz="950" dirty="0"/>
          </a:p>
        </p:txBody>
      </p:sp>
      <p:sp>
        <p:nvSpPr>
          <p:cNvPr id="3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(Aug. 9–Nov. 7, 2026); OCTA Traffic Flow Map (Aug. 2026); Amtrak ANA fact sheet (2024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sits beside one of the busiest corridors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Weekday average daily traffic · OCTA 2026 Traffic Flow Map (published Aug. 2026)</a:t>
            </a:r>
            <a:endParaRPr lang="en-US" sz="12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3566160"/>
                <a:gridCol w="118872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Road segment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Vehicles per day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Count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(Orange Fwy), Ball Rd to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north of Ball Rd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287K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Katella Ave to Orangewood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I-5, Anaheim Resort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Ball Rd,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SR-57 to Santa Ana River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east of river (Orange)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State College Blvd near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Orangewood Ave at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pic>
        <p:nvPicPr>
          <p:cNvPr id="6" name="Image 0" descr="Excerpt of the OCTA 2026 Traffic Flow Map around SR-57, Katella Ave and ARTIC">    </p:cNvPr>
          <p:cNvPicPr>
            <a:picLocks noChangeAspect="1"/>
          </p:cNvPicPr>
          <p:nvPr/>
        </p:nvPicPr>
        <p:blipFill>
          <a:blip r:embed="rId1"/>
          <a:stretch>
            <a:fillRect/>
          </a:stretch>
        </p:blipFill>
        <p:spPr>
          <a:xfrm>
            <a:off x="6858000" y="1417320"/>
            <a:ext cx="4754880" cy="4120896"/>
          </a:xfrm>
          <a:prstGeom prst="rect">
            <a:avLst/>
          </a:prstGeom>
        </p:spPr>
      </p:pic>
      <p:sp>
        <p:nvSpPr>
          <p:cNvPr id="7" name="Text 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Freeway volumes are Caltrans 2024 counts; Katella Ave beside OC Vibe was last counted in 2021. New counts before the 2027 openings would set a baseline.</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Transportation Authority, 2026 Traffic Flow Map (thousands of vehicles per weekday; Roman numerals = years before 2026 the count was taken)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ARTIC sees 277 weekday bus trips and a 14-minute one-seat ride to the resort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bus service at ARTIC · schedules Aug. 9–Nov. 7, 2026</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WEEKDAY</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 trips stopping at ARTIC</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277</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Routes 50, 53 and 553 · one every 3–4 min at peak</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 THE RESORT</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One-seat weekday trips</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87</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About 13 min (Route 50), 15 min (Route 553)</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AFTER 10 P.M.</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departures</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11</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16 buses stop after 10 p.m.; 5 end there · last at 1:38 a.m.</a:t>
            </a:r>
            <a:endParaRPr lang="en-US" sz="10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5486400" cy="914400"/>
        </p:xfrm>
        <a:graphic>
          <a:graphicData uri="http://schemas.openxmlformats.org/drawingml/2006/table">
            <a:tbl>
              <a:tblPr/>
              <a:tblGrid>
                <a:gridCol w="731520"/>
                <a:gridCol w="2560320"/>
                <a:gridCol w="731520"/>
                <a:gridCol w="731520"/>
                <a:gridCol w="73152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Route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Corridor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Saturday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Sunday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Long Beach–Orange via Katella Ave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Anaheim–Irvine via Main 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Rapid Anaheim–Costa Mesa via Katella/Main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All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ARTIC 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277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77" name="Table 1"/>
          <p:cNvGraphicFramePr>
            <a:graphicFrameLocks noGrp="1"/>
          </p:cNvGraphicFramePr>
          <p:nvPr>
            <p:extLst>
              <p:ext uri="{D42A27DB-BD31-4B8C-83A1-F6EECF244321}">
                <p14:modId xmlns:p14="http://schemas.microsoft.com/office/powerpoint/2010/main" val="1579011935"/>
              </p:ext>
            </p:extLst>
          </p:nvPr>
        </p:nvGraphicFramePr>
        <p:xfrm>
          <a:off x="6217920" y="3154680"/>
          <a:ext cx="5394960" cy="914400"/>
        </p:xfrm>
        <a:graphic>
          <a:graphicData uri="http://schemas.openxmlformats.org/drawingml/2006/table">
            <a:tbl>
              <a:tblPr/>
              <a:tblGrid>
                <a:gridCol w="1828800"/>
                <a:gridCol w="2011680"/>
                <a:gridCol w="1554480"/>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Project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Status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Timing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ARTIC–Disneyland Resort transit 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City studying gondola, trackless streetcar or autonomous vehicles (gondola up to $11M per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Goal: in place for the 2028 Olympics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Streetcar (Santa Ana–Garden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Daytime testing since April 2026; contractor lawsuit 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Full service targeted by end of 2026; Anaheim extension speculative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High-Speed Rail (ARTIC–Union Station–San Francisco)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segment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service 2033; full corridor as late as 2040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John Wayne Airport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Passengers +3% in 2025, +4% Jan.–Apr. 2026; $700M terminal upgrade (no added capacity)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Upgrade by 2031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DisneylandForward 6,000-space parking structure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Permits filed Oct.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Construction expected to begin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(GTFS), Visit Anaheim BI analysis; LARC Market Intelligence Report (Sept. 2026). Bus data excludes Metrolink and Amtrak, which also serve ARTIC.</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visitors drive, and driving costs are up a third since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Commute patterns and transportation cost trends · U.S. Bureau of Transportation Statistics; Azira</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ORIGIN</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74.0%</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and Garden Grove, Aug. 2026</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WORKERS</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Drive alone to work</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67.5%</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Public transportation 1.2%</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U.S. CAR COST PER MILE</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2024 average</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$0.82</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+32% vs. 2019</a:t>
            </a:r>
            <a:endParaRPr lang="en-US" sz="100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4937760" cy="914400"/>
        </p:xfrm>
        <a:graphic>
          <a:graphicData uri="http://schemas.openxmlformats.org/drawingml/2006/table">
            <a:tbl>
              <a:tblPr/>
              <a:tblGrid>
                <a:gridCol w="2377440"/>
                <a:gridCol w="137160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Means of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Workers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Share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Drove alone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1,057,284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Worked from home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290,235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Carpooled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139,549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Walked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26,586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Public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18,009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79" name="Table 1"/>
          <p:cNvGraphicFramePr>
            <a:graphicFrameLocks noGrp="1"/>
          </p:cNvGraphicFramePr>
          <p:nvPr>
            <p:extLst>
              <p:ext uri="{D42A27DB-BD31-4B8C-83A1-F6EECF244321}">
                <p14:modId xmlns:p14="http://schemas.microsoft.com/office/powerpoint/2010/main" val="1579011935"/>
              </p:ext>
            </p:extLst>
          </p:nvPr>
        </p:nvGraphicFramePr>
        <p:xfrm>
          <a:off x="5669280" y="3154680"/>
          <a:ext cx="5943600" cy="914400"/>
        </p:xfrm>
        <a:graphic>
          <a:graphicData uri="http://schemas.openxmlformats.org/drawingml/2006/table">
            <a:tbl>
              <a:tblPr/>
              <a:tblGrid>
                <a:gridCol w="731520"/>
                <a:gridCol w="1463040"/>
                <a:gridCol w="1280160"/>
                <a:gridCol w="1188720"/>
                <a:gridCol w="128016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West Coast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U.S.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 airfare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Car cost per mile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$292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$0.72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$3.10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County Transportation Profile (Orange County) and Transportation Economic Trends; Azira via Symphony.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Rail already brings visitors to OC Vibe's front door at ARTIC</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Amtrak at Anaheim (ANA), 2018–2024 · Metrolink lines serving Anaheim, Oct.–Dec. 2025</a:t>
            </a:r>
            <a:endParaRPr lang="en-US" sz="12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4023360" cy="914400"/>
        </p:xfrm>
        <a:graphic>
          <a:graphicData uri="http://schemas.openxmlformats.org/drawingml/2006/table">
            <a:tbl>
              <a:tblPr/>
              <a:tblGrid>
                <a:gridCol w="1097280"/>
                <a:gridCol w="173736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Passengers (thousands)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vs. 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191.2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81" name="Table 1"/>
          <p:cNvGraphicFramePr>
            <a:graphicFrameLocks noGrp="1"/>
          </p:cNvGraphicFramePr>
          <p:nvPr>
            <p:extLst>
              <p:ext uri="{D42A27DB-BD31-4B8C-83A1-F6EECF244321}">
                <p14:modId xmlns:p14="http://schemas.microsoft.com/office/powerpoint/2010/main" val="1579011935"/>
              </p:ext>
            </p:extLst>
          </p:nvPr>
        </p:nvGraphicFramePr>
        <p:xfrm>
          <a:off x="4754880" y="1463040"/>
          <a:ext cx="6888175" cy="914400"/>
        </p:xfrm>
        <a:graphic>
          <a:graphicData uri="http://schemas.openxmlformats.org/drawingml/2006/table">
            <a:tbl>
              <a:tblPr/>
              <a:tblGrid>
                <a:gridCol w="2377440"/>
                <a:gridCol w="1143000"/>
                <a:gridCol w="3364992"/>
              </a:tblGrid>
              <a:tr h="42062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Amtrak passengers,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191,153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trip 76 miles; average fare $28.00; 89.5% of trips under 100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Top Amtrak city pairs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 Diego, Los Angeles, San Diego Old Town, Solana Beach, Oceanside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People within 25 / 50 miles of the station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7.9M / 15.6M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Association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 vs. a year earlier; 50,778 weekend riders in the quarter (−6%)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Inland Empire–Orange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 15,964 weekend riders (−41%)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trips that are not commutes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Rider median household income $90,399; average trip 38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Text 2"/>
          <p:cNvSpPr txBox="1"/>
          <p:nvPr/>
        </p:nvSpPr>
        <p:spPr>
          <a:xfrm>
            <a:off x="548640" y="4343400"/>
            <a:ext cx="4023360"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Rail already brings visitors to OC Vibe's front door: </a:t>
            </a:r>
            <a:pPr indent="0" marL="0">
              <a:buNone/>
            </a:pPr>
            <a:r>
              <a:rPr lang="en-US" sz="1050" b="1" dirty="0">
                <a:solidFill>
                  <a:srgbClr val="125C60"/>
                </a:solidFill>
                <a:latin typeface="Proxima Nova" pitchFamily="34" charset="0"/>
                <a:ea typeface="Proxima Nova" pitchFamily="34" charset="-122"/>
                <a:cs typeface="Proxima Nova" pitchFamily="34" charset="-120"/>
              </a:rPr>
              <a:t>191,153</a:t>
            </a:r>
            <a:pPr indent="0" marL="0">
              <a:buNone/>
            </a:pPr>
            <a:r>
              <a:rPr lang="en-US" sz="1050" dirty="0">
                <a:solidFill>
                  <a:srgbClr val="231F20"/>
                </a:solidFill>
                <a:latin typeface="Proxima Nova" pitchFamily="34" charset="0"/>
                <a:ea typeface="Proxima Nova" pitchFamily="34" charset="-122"/>
                <a:cs typeface="Proxima Nova" pitchFamily="34" charset="-120"/>
              </a:rPr>
              <a:t> Amtrak passengers used the Anaheim station at ARTIC in 2024 (</a:t>
            </a:r>
            <a:pPr indent="0" marL="0">
              <a:buNone/>
            </a:pPr>
            <a:r>
              <a:rPr lang="en-US" sz="1050" b="1" dirty="0">
                <a:solidFill>
                  <a:srgbClr val="125C60"/>
                </a:solidFill>
                <a:latin typeface="Proxima Nova" pitchFamily="34" charset="0"/>
                <a:ea typeface="Proxima Nova" pitchFamily="34" charset="-122"/>
                <a:cs typeface="Proxima Nova" pitchFamily="34" charset="-120"/>
              </a:rPr>
              <a:t>79%</a:t>
            </a:r>
            <a:pPr indent="0" marL="0">
              <a:buNone/>
            </a:pPr>
            <a:r>
              <a:rPr lang="en-US" sz="1050" dirty="0">
                <a:solidFill>
                  <a:srgbClr val="231F20"/>
                </a:solidFill>
                <a:latin typeface="Proxima Nova" pitchFamily="34" charset="0"/>
                <a:ea typeface="Proxima Nova" pitchFamily="34" charset="-122"/>
                <a:cs typeface="Proxima Nova" pitchFamily="34" charset="-120"/>
              </a:rPr>
              <a:t> of the 2018 level), mostly on trips under 100 miles from San Diego and Los Angeles. </a:t>
            </a:r>
            <a:pPr indent="0" marL="0">
              <a:buNone/>
            </a:pPr>
            <a:r>
              <a:rPr lang="en-US" sz="1050" b="1" dirty="0">
                <a:solidFill>
                  <a:srgbClr val="125C60"/>
                </a:solidFill>
                <a:latin typeface="Proxima Nova" pitchFamily="34" charset="0"/>
                <a:ea typeface="Proxima Nova" pitchFamily="34" charset="-122"/>
                <a:cs typeface="Proxima Nova" pitchFamily="34" charset="-120"/>
              </a:rPr>
              <a:t>15.6 million</a:t>
            </a:r>
            <a:pPr indent="0" marL="0">
              <a:buNone/>
            </a:pPr>
            <a:r>
              <a:rPr lang="en-US" sz="1050" dirty="0">
                <a:solidFill>
                  <a:srgbClr val="231F20"/>
                </a:solidFill>
                <a:latin typeface="Proxima Nova" pitchFamily="34" charset="0"/>
                <a:ea typeface="Proxima Nova" pitchFamily="34" charset="-122"/>
                <a:cs typeface="Proxima Nova" pitchFamily="34" charset="-120"/>
              </a:rPr>
              <a:t> people live within 50 miles of the station.</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Rail Passengers Association, Amtrak ANA fact sheet (Oct. 27, 2025; 2018–2024 data); Metrolink Fact Sheet FY2025-26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Transit ridership fell 38% from 2007 to 2017 while the bus fleet grew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transit passengers and vehicles · all operators · data ends in 2017</a:t>
            </a:r>
            <a:endParaRPr lang="en-US" sz="12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640080"/>
                <a:gridCol w="1143000"/>
                <a:gridCol w="914400"/>
                <a:gridCol w="1143000"/>
                <a:gridCol w="1005840"/>
                <a:gridCol w="914400"/>
                <a:gridCol w="1280160"/>
              </a:tblGrid>
              <a:tr h="26517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Passengers,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Bus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Demand response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OCTA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All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Expenses per passenger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1.61M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1,066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1,577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1,078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$5.80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1,591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1,646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55.8M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876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1,481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1,157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70.7M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$3.59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0.91M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Orange County transit ridership peaked at </a:t>
            </a:r>
            <a:pPr indent="0" marL="0">
              <a:buNone/>
            </a:pPr>
            <a:r>
              <a:rPr lang="en-US" sz="1050" b="1" dirty="0">
                <a:solidFill>
                  <a:srgbClr val="125C60"/>
                </a:solidFill>
                <a:latin typeface="Proxima Nova" pitchFamily="34" charset="0"/>
                <a:ea typeface="Proxima Nova" pitchFamily="34" charset="-122"/>
                <a:cs typeface="Proxima Nova" pitchFamily="34" charset="-120"/>
              </a:rPr>
              <a:t>70.7M</a:t>
            </a:r>
            <a:pPr indent="0" marL="0">
              <a:buNone/>
            </a:pPr>
            <a:r>
              <a:rPr lang="en-US" sz="1050" dirty="0">
                <a:solidFill>
                  <a:srgbClr val="231F20"/>
                </a:solidFill>
                <a:latin typeface="Proxima Nova" pitchFamily="34" charset="0"/>
                <a:ea typeface="Proxima Nova" pitchFamily="34" charset="-122"/>
                <a:cs typeface="Proxima Nova" pitchFamily="34" charset="-120"/>
              </a:rPr>
              <a:t> passengers in 2007 and fell to </a:t>
            </a:r>
            <a:pPr indent="0" marL="0">
              <a:buNone/>
            </a:pPr>
            <a:r>
              <a:rPr lang="en-US" sz="1050" b="1" dirty="0">
                <a:solidFill>
                  <a:srgbClr val="125C60"/>
                </a:solidFill>
                <a:latin typeface="Proxima Nova" pitchFamily="34" charset="0"/>
                <a:ea typeface="Proxima Nova" pitchFamily="34" charset="-122"/>
                <a:cs typeface="Proxima Nova" pitchFamily="34" charset="-120"/>
              </a:rPr>
              <a:t>43.8M</a:t>
            </a:r>
            <a:pPr indent="0" marL="0">
              <a:buNone/>
            </a:pPr>
            <a:r>
              <a:rPr lang="en-US" sz="1050" dirty="0">
                <a:solidFill>
                  <a:srgbClr val="231F20"/>
                </a:solidFill>
                <a:latin typeface="Proxima Nova" pitchFamily="34" charset="0"/>
                <a:ea typeface="Proxima Nova" pitchFamily="34" charset="-122"/>
                <a:cs typeface="Proxima Nova" pitchFamily="34" charset="-120"/>
              </a:rPr>
              <a:t> by 2017 (</a:t>
            </a:r>
            <a:pPr indent="0" marL="0">
              <a:buNone/>
            </a:pPr>
            <a:r>
              <a:rPr lang="en-US" sz="1050" b="1" dirty="0">
                <a:solidFill>
                  <a:srgbClr val="125C60"/>
                </a:solidFill>
                <a:latin typeface="Proxima Nova" pitchFamily="34" charset="0"/>
                <a:ea typeface="Proxima Nova" pitchFamily="34" charset="-122"/>
                <a:cs typeface="Proxima Nova" pitchFamily="34" charset="-120"/>
              </a:rPr>
              <a:t>-38%</a:t>
            </a:r>
            <a:pPr indent="0" marL="0">
              <a:buNone/>
            </a:pPr>
            <a:r>
              <a:rPr lang="en-US" sz="1050" dirty="0">
                <a:solidFill>
                  <a:srgbClr val="231F20"/>
                </a:solidFill>
                <a:latin typeface="Proxima Nova" pitchFamily="34" charset="0"/>
                <a:ea typeface="Proxima Nova" pitchFamily="34" charset="-122"/>
                <a:cs typeface="Proxima Nova" pitchFamily="34" charset="-120"/>
              </a:rPr>
              <a:t>), while OCTA's vehicle fleet grew from </a:t>
            </a:r>
            <a:pPr indent="0" marL="0">
              <a:buNone/>
            </a:pPr>
            <a:r>
              <a:rPr lang="en-US" sz="1050" b="1" dirty="0">
                <a:solidFill>
                  <a:srgbClr val="125C60"/>
                </a:solidFill>
                <a:latin typeface="Proxima Nova" pitchFamily="34" charset="0"/>
                <a:ea typeface="Proxima Nova" pitchFamily="34" charset="-122"/>
                <a:cs typeface="Proxima Nova" pitchFamily="34" charset="-120"/>
              </a:rPr>
              <a:t>615 to 1,066</a:t>
            </a:r>
            <a:pPr indent="0" marL="0">
              <a:buNone/>
            </a:pPr>
            <a:r>
              <a:rPr lang="en-US" sz="1050" dirty="0">
                <a:solidFill>
                  <a:srgbClr val="231F20"/>
                </a:solidFill>
                <a:latin typeface="Proxima Nova" pitchFamily="34" charset="0"/>
                <a:ea typeface="Proxima Nova" pitchFamily="34" charset="-122"/>
                <a:cs typeface="Proxima Nova" pitchFamily="34" charset="-120"/>
              </a:rPr>
              <a:t>. Expenses per passenger rose from </a:t>
            </a:r>
            <a:pPr indent="0" marL="0">
              <a:buNone/>
            </a:pPr>
            <a:r>
              <a:rPr lang="en-US" sz="1050" b="1" dirty="0">
                <a:solidFill>
                  <a:srgbClr val="125C60"/>
                </a:solidFill>
                <a:latin typeface="Proxima Nova" pitchFamily="34" charset="0"/>
                <a:ea typeface="Proxima Nova" pitchFamily="34" charset="-122"/>
                <a:cs typeface="Proxima Nova" pitchFamily="34" charset="-120"/>
              </a:rPr>
              <a:t>$3.28 to $7.00</a:t>
            </a:r>
            <a:pPr indent="0" marL="0">
              <a:buNone/>
            </a:pPr>
            <a:r>
              <a:rPr lang="en-US" sz="1050" dirty="0">
                <a:solidFill>
                  <a:srgbClr val="231F20"/>
                </a:solidFill>
                <a:latin typeface="Proxima Nova" pitchFamily="34" charset="0"/>
                <a:ea typeface="Proxima Nova" pitchFamily="34" charset="-122"/>
                <a:cs typeface="Proxima Nova" pitchFamily="34" charset="-120"/>
              </a:rPr>
              <a:t>. For OC Vibe this means most guests will drive, and that buses have spare seats outside peak hours. Solution: pair event-night service requests with ticket-and-transit promotions so added buses fill.</a:t>
            </a:r>
            <a:endParaRPr lang="en-US" sz="10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Expenses per passenger is a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fewer staff and rising costs, 2003–2017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OCTA specialized service and Laguna Beach · nominal dollars · data ends in 2017</a:t>
            </a:r>
            <a:endParaRPr lang="en-US" sz="12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548640"/>
                <a:gridCol w="868680"/>
                <a:gridCol w="1051560"/>
                <a:gridCol w="1051560"/>
                <a:gridCol w="1234440"/>
                <a:gridCol w="1005840"/>
                <a:gridCol w="1280160"/>
              </a:tblGrid>
              <a:tr h="27432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1,526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$227.9M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618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2,176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1,486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633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$70.3M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2,208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$216.9M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$48.5M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2,199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1,585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$237.5M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822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2,489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2,235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647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1,854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577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1,929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627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1,786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85"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7040880" cy="914400"/>
        </p:xfrm>
        <a:graphic>
          <a:graphicData uri="http://schemas.openxmlformats.org/drawingml/2006/table">
            <a:tbl>
              <a:tblPr/>
              <a:tblGrid>
                <a:gridCol w="548640"/>
                <a:gridCol w="1097280"/>
                <a:gridCol w="1097280"/>
                <a:gridCol w="1463040"/>
                <a:gridCol w="1280160"/>
                <a:gridCol w="1554480"/>
              </a:tblGrid>
              <a:tr h="2468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 less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$305.2M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−$0.9M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$264.1M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$33.3M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$321.7M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$34.9M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$212.7M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$279.8M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transit, 2003–2017: OCTA's staff fell </a:t>
            </a:r>
            <a:pPr indent="0" marL="0">
              <a:buNone/>
            </a:pPr>
            <a:r>
              <a:rPr lang="en-US" sz="1000" b="1" dirty="0">
                <a:solidFill>
                  <a:srgbClr val="125C60"/>
                </a:solidFill>
                <a:latin typeface="Proxima Nova" pitchFamily="34" charset="0"/>
                <a:ea typeface="Proxima Nova" pitchFamily="34" charset="-122"/>
                <a:cs typeface="Proxima Nova" pitchFamily="34" charset="-120"/>
              </a:rPr>
              <a:t>14.6%</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1,786 to 1,526</a:t>
            </a:r>
            <a:pPr indent="0" marL="0">
              <a:buNone/>
            </a:pPr>
            <a:r>
              <a:rPr lang="en-US" sz="1000" dirty="0">
                <a:solidFill>
                  <a:srgbClr val="231F20"/>
                </a:solidFill>
                <a:latin typeface="Proxima Nova" pitchFamily="34" charset="0"/>
                <a:ea typeface="Proxima Nova" pitchFamily="34" charset="-122"/>
                <a:cs typeface="Proxima Nova" pitchFamily="34" charset="-120"/>
              </a:rPr>
              <a:t>), with the largest drop after 2009 (</a:t>
            </a:r>
            <a:pPr indent="0" marL="0">
              <a:buNone/>
            </a:pPr>
            <a:r>
              <a:rPr lang="en-US" sz="1000" b="1" dirty="0">
                <a:solidFill>
                  <a:srgbClr val="125C60"/>
                </a:solidFill>
                <a:latin typeface="Proxima Nova" pitchFamily="34" charset="0"/>
                <a:ea typeface="Proxima Nova" pitchFamily="34" charset="-122"/>
                <a:cs typeface="Proxima Nova" pitchFamily="34" charset="-120"/>
              </a:rPr>
              <a:t>2,235 to 1,585</a:t>
            </a:r>
            <a:pPr indent="0" marL="0">
              <a:buNone/>
            </a:pPr>
            <a:r>
              <a:rPr lang="en-US" sz="1000" dirty="0">
                <a:solidFill>
                  <a:srgbClr val="231F20"/>
                </a:solidFill>
                <a:latin typeface="Proxima Nova" pitchFamily="34" charset="0"/>
                <a:ea typeface="Proxima Nova" pitchFamily="34" charset="-122"/>
                <a:cs typeface="Proxima Nova" pitchFamily="34" charset="-120"/>
              </a:rPr>
              <a:t>), while its expenses rose </a:t>
            </a:r>
            <a:pPr indent="0" marL="0">
              <a:buNone/>
            </a:pPr>
            <a:r>
              <a:rPr lang="en-US" sz="1000" b="1" dirty="0">
                <a:solidFill>
                  <a:srgbClr val="125C60"/>
                </a:solidFill>
                <a:latin typeface="Proxima Nova" pitchFamily="34" charset="0"/>
                <a:ea typeface="Proxima Nova" pitchFamily="34" charset="-122"/>
                <a:cs typeface="Proxima Nova" pitchFamily="34" charset="-120"/>
              </a:rPr>
              <a:t>17.9%</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$193.4M to $227.9M</a:t>
            </a:r>
            <a:pPr indent="0" marL="0">
              <a:buNone/>
            </a:pPr>
            <a:r>
              <a:rPr lang="en-US" sz="1000" dirty="0">
                <a:solidFill>
                  <a:srgbClr val="231F20"/>
                </a:solidFill>
                <a:latin typeface="Proxima Nova" pitchFamily="34" charset="0"/>
                <a:ea typeface="Proxima Nova" pitchFamily="34" charset="-122"/>
                <a:cs typeface="Proxima Nova" pitchFamily="34" charset="-120"/>
              </a:rPr>
              <a:t>), or from </a:t>
            </a:r>
            <a:pPr indent="0" marL="0">
              <a:buNone/>
            </a:pPr>
            <a:r>
              <a:rPr lang="en-US" sz="1000" b="1" dirty="0">
                <a:solidFill>
                  <a:srgbClr val="125C60"/>
                </a:solidFill>
                <a:latin typeface="Proxima Nova" pitchFamily="34" charset="0"/>
                <a:ea typeface="Proxima Nova" pitchFamily="34" charset="-122"/>
                <a:cs typeface="Proxima Nova" pitchFamily="34" charset="-120"/>
              </a:rPr>
              <a:t>$108K to $149K</a:t>
            </a:r>
            <a:pPr indent="0" marL="0">
              <a:buNone/>
            </a:pPr>
            <a:r>
              <a:rPr lang="en-US" sz="1000" dirty="0">
                <a:solidFill>
                  <a:srgbClr val="231F20"/>
                </a:solidFill>
                <a:latin typeface="Proxima Nova" pitchFamily="34" charset="0"/>
                <a:ea typeface="Proxima Nova" pitchFamily="34" charset="-122"/>
                <a:cs typeface="Proxima Nova" pitchFamily="34" charset="-120"/>
              </a:rPr>
              <a:t> per employee. Specialized service expenses grew fastest (</a:t>
            </a:r>
            <a:pPr indent="0" marL="0">
              <a:buNone/>
            </a:pPr>
            <a:r>
              <a:rPr lang="en-US" sz="1000" b="1" dirty="0">
                <a:solidFill>
                  <a:srgbClr val="125C60"/>
                </a:solidFill>
                <a:latin typeface="Proxima Nova" pitchFamily="34" charset="0"/>
                <a:ea typeface="Proxima Nova" pitchFamily="34" charset="-122"/>
                <a:cs typeface="Proxima Nova" pitchFamily="34" charset="-120"/>
              </a:rPr>
              <a:t>$23.0M to $75.1M</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+227%</a:t>
            </a:r>
            <a:pPr indent="0" marL="0">
              <a:buNone/>
            </a:pPr>
            <a:r>
              <a:rPr lang="en-US" sz="1000" dirty="0">
                <a:solidFill>
                  <a:srgbClr val="231F20"/>
                </a:solidFill>
                <a:latin typeface="Proxima Nova" pitchFamily="34" charset="0"/>
                <a:ea typeface="Proxima Nova" pitchFamily="34" charset="-122"/>
                <a:cs typeface="Proxima Nova" pitchFamily="34" charset="-120"/>
              </a:rPr>
              <a:t>). Countywide, expenses exceeded revenues in 10 of 15 years (2017: </a:t>
            </a:r>
            <a:pPr indent="0" marL="0">
              <a:buNone/>
            </a:pPr>
            <a:r>
              <a:rPr lang="en-US" sz="1000" b="1" dirty="0">
                <a:solidFill>
                  <a:srgbClr val="125C60"/>
                </a:solidFill>
                <a:latin typeface="Proxima Nova" pitchFamily="34" charset="0"/>
                <a:ea typeface="Proxima Nova" pitchFamily="34" charset="-122"/>
                <a:cs typeface="Proxima Nova" pitchFamily="34" charset="-120"/>
              </a:rPr>
              <a:t>−$0.9M</a:t>
            </a:r>
            <a:pPr indent="0" marL="0">
              <a:buNone/>
            </a:pPr>
            <a:r>
              <a:rPr lang="en-US" sz="1000" dirty="0">
                <a:solidFill>
                  <a:srgbClr val="231F20"/>
                </a:solidFill>
                <a:latin typeface="Proxima Nova" pitchFamily="34" charset="0"/>
                <a:ea typeface="Proxima Nova" pitchFamily="34" charset="-122"/>
                <a:cs typeface="Proxima Nova" pitchFamily="34" charset="-120"/>
              </a:rPr>
              <a:t>).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sz="100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Selected years shown; all years in the dashboard. * 2006 total includes a Laguna Beach reporting outlier.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riders fell 38% from the 2007 peak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Total passengers a year, all operators, millions · 2003–2017 (latest available)</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trips from within 50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Vehicles on SR-57 beside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(Caltrans 2024 count on OCTA's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275,000 a weekday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Weekday bus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Route 50 (100) + route 53 (102) + route 553 (75) weekday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schedules (Aug.–Nov. 2026); BI count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(Aug. 2026); OCTA (Aug. 2026); OCTA schedules (Aug.–Nov. 2026); BI count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100" b="1" dirty="0">
                <a:solidFill>
                  <a:srgbClr val="125C60"/>
                </a:solidFill>
                <a:latin typeface="Proxima Nova" pitchFamily="34" charset="0"/>
                <a:ea typeface="Proxima Nova" pitchFamily="34" charset="-122"/>
                <a:cs typeface="Proxima Nova" pitchFamily="34" charset="-120"/>
              </a:rPr>
              <a:t>74.0%</a:t>
            </a:r>
            <a:pPr indent="0" marL="0">
              <a:buNone/>
            </a:pPr>
            <a:r>
              <a:rPr lang="en-US" sz="110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1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10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A large drive market: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20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people live within 90 miles,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15.6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within 50 miles of ARTIC.</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transit front door: 277 weekday bus trips at ARTIC, Amtrak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passengers in 2024), Metrolink's Orange County Line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5,116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weekday riders,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and the 2028 Katella bridge.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Travelers already ask Visit Anaheim's trip planner about ARTIC parking, Honda Center events and OC Vibe's opening.</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Operations: An event-night plan: Honda Center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18,300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seats) and the concert hall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can hold events the same night, and the City lists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planned parking spaces.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Late-night service requested early: only 11 OCTA buses leave ARTIC after 10 p.m.; OCTA's staff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2003 to 2017 and county transit riders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2007 to 2017. [Calculation: OCTA staff: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1,786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(2003 to 2017); county transit riders: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(2017)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70.7M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(2007)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One 'getting to OC Vibe' page covering parking, bus, Amtrak and Metrolink.</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 CoStar reports and export (data through Aug. 2026; pulled Oct. 12, 2026); Mindtrip trip planner messages (Oct. 1, 2025–Oct. 11, 2026); LARC Market Intelligence Reports (Jan.–Sept. 2026); OCVIBE concert hall release, PR Newswire (Mar. 12, 2026); City of Anaheim OCVibe page (2026); OCVIBE fact sheet (Apr. 2024);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 Anaheim marketing drove 368,416 observed visits this year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Marketing reach · Ad exposures Jan. 1–Aug. 31, 2026 · U.S. audiences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350" b="1" dirty="0">
                <a:solidFill>
                  <a:srgbClr val="125C60"/>
                </a:solidFill>
                <a:latin typeface="Proxima Nova" pitchFamily="34" charset="0"/>
                <a:ea typeface="Proxima Nova" pitchFamily="34" charset="-122"/>
                <a:cs typeface="Proxima Nova" pitchFamily="34" charset="-120"/>
              </a:rPr>
              <a:t>31.0M</a:t>
            </a:r>
            <a:pPr indent="0" marL="0">
              <a:buNone/>
            </a:pPr>
            <a:r>
              <a:rPr lang="en-US" sz="135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350" b="1" dirty="0">
                <a:solidFill>
                  <a:srgbClr val="125C60"/>
                </a:solidFill>
                <a:latin typeface="Proxima Nova" pitchFamily="34" charset="0"/>
                <a:ea typeface="Proxima Nova" pitchFamily="34" charset="-122"/>
                <a:cs typeface="Proxima Nova" pitchFamily="34" charset="-120"/>
              </a:rPr>
              <a:t>368,416</a:t>
            </a:r>
            <a:pPr indent="0" marL="0">
              <a:buNone/>
            </a:pPr>
            <a:r>
              <a:rPr lang="en-US" sz="135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350" b="1" dirty="0">
                <a:solidFill>
                  <a:srgbClr val="125C60"/>
                </a:solidFill>
                <a:latin typeface="Proxima Nova" pitchFamily="34" charset="0"/>
                <a:ea typeface="Proxima Nova" pitchFamily="34" charset="-122"/>
                <a:cs typeface="Proxima Nova" pitchFamily="34" charset="-120"/>
              </a:rPr>
              <a:t>39 days</a:t>
            </a:r>
            <a:pPr indent="0" marL="0">
              <a:buNone/>
            </a:pPr>
            <a:r>
              <a:rPr lang="en-US" sz="1350" dirty="0">
                <a:solidFill>
                  <a:srgbClr val="231F20"/>
                </a:solidFill>
                <a:latin typeface="Proxima Nova" pitchFamily="34" charset="0"/>
                <a:ea typeface="Proxima Nova" pitchFamily="34" charset="-122"/>
                <a:cs typeface="Proxima Nova" pitchFamily="34" charset="-120"/>
              </a:rPr>
              <a:t> after seeing an ad.</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Paid media already moves people to travel to Anaheim, which gives OC Vibe a proven channel. Azira matched </a:t>
            </a:r>
            <a:pPr indent="0" marL="0">
              <a:buNone/>
            </a:pPr>
            <a:r>
              <a:rPr lang="en-US" sz="1250" b="1" dirty="0">
                <a:solidFill>
                  <a:srgbClr val="125C60"/>
                </a:solidFill>
                <a:latin typeface="Proxima Nova" pitchFamily="34" charset="0"/>
                <a:ea typeface="Proxima Nova" pitchFamily="34" charset="-122"/>
                <a:cs typeface="Proxima Nova" pitchFamily="34" charset="-120"/>
              </a:rPr>
              <a:t>368,416</a:t>
            </a:r>
            <a:pPr indent="0" marL="0">
              <a:buNone/>
            </a:pPr>
            <a:r>
              <a:rPr lang="en-US" sz="1250" dirty="0">
                <a:solidFill>
                  <a:srgbClr val="231F20"/>
                </a:solidFill>
                <a:latin typeface="Proxima Nova" pitchFamily="34" charset="0"/>
                <a:ea typeface="Proxima Nova" pitchFamily="34" charset="-122"/>
                <a:cs typeface="Proxima Nova" pitchFamily="34" charset="-120"/>
              </a:rPr>
              <a:t> visits to </a:t>
            </a:r>
            <a:pPr indent="0" marL="0">
              <a:buNone/>
            </a:pPr>
            <a:r>
              <a:rPr lang="en-US" sz="1250" b="1" dirty="0">
                <a:solidFill>
                  <a:srgbClr val="125C60"/>
                </a:solidFill>
                <a:latin typeface="Proxima Nova" pitchFamily="34" charset="0"/>
                <a:ea typeface="Proxima Nova" pitchFamily="34" charset="-122"/>
                <a:cs typeface="Proxima Nova" pitchFamily="34" charset="-120"/>
              </a:rPr>
              <a:t>31.0 million</a:t>
            </a:r>
            <a:pPr indent="0" marL="0">
              <a:buNone/>
            </a:pPr>
            <a:r>
              <a:rPr lang="en-US" sz="1250" dirty="0">
                <a:solidFill>
                  <a:srgbClr val="231F20"/>
                </a:solidFill>
                <a:latin typeface="Proxima Nova" pitchFamily="34" charset="0"/>
                <a:ea typeface="Proxima Nova" pitchFamily="34" charset="-122"/>
                <a:cs typeface="Proxima Nova" pitchFamily="34" charset="-120"/>
              </a:rPr>
              <a:t> measurable impressions, or </a:t>
            </a:r>
            <a:pPr indent="0" marL="0">
              <a:buNone/>
            </a:pPr>
            <a:r>
              <a:rPr lang="en-US" sz="1250" b="1" dirty="0">
                <a:solidFill>
                  <a:srgbClr val="125C60"/>
                </a:solidFill>
                <a:latin typeface="Proxima Nova" pitchFamily="34" charset="0"/>
                <a:ea typeface="Proxima Nova" pitchFamily="34" charset="-122"/>
                <a:cs typeface="Proxima Nova" pitchFamily="34" charset="-120"/>
              </a:rPr>
              <a:t>11.9</a:t>
            </a:r>
            <a:pPr indent="0" marL="0">
              <a:buNone/>
            </a:pPr>
            <a:r>
              <a:rPr lang="en-US" sz="1250" dirty="0">
                <a:solidFill>
                  <a:srgbClr val="231F20"/>
                </a:solidFill>
                <a:latin typeface="Proxima Nova" pitchFamily="34" charset="0"/>
                <a:ea typeface="Proxima Nova" pitchFamily="34" charset="-122"/>
                <a:cs typeface="Proxima Nova" pitchFamily="34" charset="-120"/>
              </a:rPr>
              <a:t> visits per </a:t>
            </a:r>
            <a:pPr indent="0" marL="0">
              <a:buNone/>
            </a:pPr>
            <a:r>
              <a:rPr lang="en-US" sz="1250" b="1" dirty="0">
                <a:solidFill>
                  <a:srgbClr val="125C60"/>
                </a:solidFill>
                <a:latin typeface="Proxima Nova" pitchFamily="34" charset="0"/>
                <a:ea typeface="Proxima Nova" pitchFamily="34" charset="-122"/>
                <a:cs typeface="Proxima Nova" pitchFamily="34" charset="-120"/>
              </a:rPr>
              <a:t>1,000,</a:t>
            </a:r>
            <a:pPr indent="0" marL="0">
              <a:buNone/>
            </a:pPr>
            <a:r>
              <a:rPr lang="en-US" sz="1250" dirty="0">
                <a:solidFill>
                  <a:srgbClr val="231F20"/>
                </a:solidFill>
                <a:latin typeface="Proxima Nova" pitchFamily="34" charset="0"/>
                <a:ea typeface="Proxima Nova" pitchFamily="34" charset="-122"/>
                <a:cs typeface="Proxima Nova" pitchFamily="34" charset="-120"/>
              </a:rPr>
              <a:t> from Jan. 1 to Aug. 31,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LUXURY CAMPAIGN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People who saw Visit Anaheim paid media and later visited Anaheim.</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observed visits after ad exposure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368,416</a:t>
            </a:r>
            <a:pPr indent="0" marL="0">
              <a:buNone/>
            </a:pPr>
            <a:r>
              <a:rPr lang="en-US" sz="950" dirty="0">
                <a:solidFill>
                  <a:srgbClr val="231F20"/>
                </a:solidFill>
                <a:latin typeface="Proxima Nova" pitchFamily="34" charset="0"/>
                <a:ea typeface="Proxima Nova" pitchFamily="34" charset="-122"/>
                <a:cs typeface="Proxima Nova" pitchFamily="34" charset="-120"/>
              </a:rPr>
              <a:t> observed visits from </a:t>
            </a:r>
            <a:pPr indent="0" marL="0">
              <a:buNone/>
            </a:pPr>
            <a:r>
              <a:rPr lang="en-US" sz="950" b="1" dirty="0">
                <a:solidFill>
                  <a:srgbClr val="125C60"/>
                </a:solidFill>
                <a:latin typeface="Proxima Nova" pitchFamily="34" charset="0"/>
                <a:ea typeface="Proxima Nova" pitchFamily="34" charset="-122"/>
                <a:cs typeface="Proxima Nova" pitchFamily="34" charset="-120"/>
              </a:rPr>
              <a:t>31.0M</a:t>
            </a:r>
            <a:pPr indent="0" marL="0">
              <a:buNone/>
            </a:pPr>
            <a:r>
              <a:rPr lang="en-US" sz="950" dirty="0">
                <a:solidFill>
                  <a:srgbClr val="231F20"/>
                </a:solidFill>
                <a:latin typeface="Proxima Nova" pitchFamily="34" charset="0"/>
                <a:ea typeface="Proxima Nova" pitchFamily="34" charset="-122"/>
                <a:cs typeface="Proxima Nova" pitchFamily="34" charset="-120"/>
              </a:rPr>
              <a:t> measurable impressions (</a:t>
            </a:r>
            <a:pPr indent="0" marL="0">
              <a:buNone/>
            </a:pPr>
            <a:r>
              <a:rPr lang="en-US" sz="950" b="1" dirty="0">
                <a:solidFill>
                  <a:srgbClr val="125C60"/>
                </a:solidFill>
                <a:latin typeface="Proxima Nova" pitchFamily="34" charset="0"/>
                <a:ea typeface="Proxima Nova" pitchFamily="34" charset="-122"/>
                <a:cs typeface="Proxima Nova" pitchFamily="34" charset="-120"/>
              </a:rPr>
              <a:t>11.9</a:t>
            </a:r>
            <a:pPr indent="0" marL="0">
              <a:buNone/>
            </a:pPr>
            <a:r>
              <a:rPr lang="en-US" sz="950" dirty="0">
                <a:solidFill>
                  <a:srgbClr val="231F20"/>
                </a:solidFill>
                <a:latin typeface="Proxima Nova" pitchFamily="34" charset="0"/>
                <a:ea typeface="Proxima Nova" pitchFamily="34" charset="-122"/>
                <a:cs typeface="Proxima Nova" pitchFamily="34" charset="-120"/>
              </a:rPr>
              <a:t> per </a:t>
            </a:r>
            <a:pPr indent="0" marL="0">
              <a:buNone/>
            </a:pPr>
            <a:r>
              <a:rPr lang="en-US" sz="950" b="1" dirty="0">
                <a:solidFill>
                  <a:srgbClr val="125C60"/>
                </a:solidFill>
                <a:latin typeface="Proxima Nova" pitchFamily="34" charset="0"/>
                <a:ea typeface="Proxima Nova" pitchFamily="34" charset="-122"/>
                <a:cs typeface="Proxima Nova" pitchFamily="34" charset="-120"/>
              </a:rPr>
              <a:t>1,000</a:t>
            </a:r>
            <a:pPr indent="0" marL="0">
              <a:buNone/>
            </a:pPr>
            <a:r>
              <a:rPr lang="en-US" sz="950" dirty="0">
                <a:solidFill>
                  <a:srgbClr val="231F20"/>
                </a:solidFill>
                <a:latin typeface="Proxima Nova" pitchFamily="34" charset="0"/>
                <a:ea typeface="Proxima Nova" pitchFamily="34" charset="-122"/>
                <a:cs typeface="Proxima Nova" pitchFamily="34" charset="-120"/>
              </a:rPr>
              <a:t>); luxury placements returned </a:t>
            </a:r>
            <a:pPr indent="0" marL="0">
              <a:buNone/>
            </a:pPr>
            <a:r>
              <a:rPr lang="en-US" sz="950" b="1" dirty="0">
                <a:solidFill>
                  <a:srgbClr val="125C60"/>
                </a:solidFill>
                <a:latin typeface="Proxima Nova" pitchFamily="34" charset="0"/>
                <a:ea typeface="Proxima Nova" pitchFamily="34" charset="-122"/>
                <a:cs typeface="Proxima Nova" pitchFamily="34" charset="-120"/>
              </a:rPr>
              <a:t>34.4</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39 days</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average time from ad to visit</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Ad exposures Jan. 1–Aug. 31,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U.S.</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audiences; visits observed in Anaheim</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U.S. audiences; visits observed in Anaheim.</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Campaigns can put OC Vibe in front of audiences who already convert to visits.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11.9</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368,416 ÷ 31.0M × 1,000</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matches exposed devices to later visits (first visit at least three days after exposure).</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From ad impressions to visits in Anaheim</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 Anaheim paid media, ad exposures Jan. 1–Aug. 31, 2026</a:t>
            </a:r>
            <a:endParaRPr lang="en-US" sz="950" dirty="0"/>
          </a:p>
        </p:txBody>
      </p:sp>
      <p:sp>
        <p:nvSpPr>
          <p:cNvPr id="6" name="Shape 4"/>
          <p:cNvSpPr/>
          <p:nvPr/>
        </p:nvSpPr>
        <p:spPr>
          <a:xfrm flipV="1">
            <a:off x="1103361" y="2075688"/>
            <a:ext cx="9984974" cy="822960"/>
          </a:xfrm>
          <a:prstGeom prst="trapezoid">
            <a:avLst/>
          </a:prstGeom>
          <a:solidFill>
            <a:srgbClr val="B4D9E3"/>
          </a:solidFill>
          <a:ln w="12700">
            <a:solidFill>
              <a:srgbClr val="FFFFFF"/>
            </a:solidFill>
            <a:prstDash val="solid"/>
          </a:ln>
        </p:spPr>
      </p:sp>
      <p:sp>
        <p:nvSpPr>
          <p:cNvPr id="7" name="Text 5"/>
          <p:cNvSpPr txBox="1"/>
          <p:nvPr/>
        </p:nvSpPr>
        <p:spPr>
          <a:xfrm>
            <a:off x="1103361" y="2148840"/>
            <a:ext cx="9984974"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1103361" y="2551176"/>
            <a:ext cx="9984974"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Shape 7"/>
          <p:cNvSpPr/>
          <p:nvPr/>
        </p:nvSpPr>
        <p:spPr>
          <a:xfrm flipV="1">
            <a:off x="3322244" y="2990088"/>
            <a:ext cx="5547208" cy="822960"/>
          </a:xfrm>
          <a:prstGeom prst="trapezoid">
            <a:avLst/>
          </a:prstGeom>
          <a:solidFill>
            <a:srgbClr val="43A3A3"/>
          </a:solidFill>
          <a:ln w="12700">
            <a:solidFill>
              <a:srgbClr val="FFFFFF"/>
            </a:solidFill>
            <a:prstDash val="solid"/>
          </a:ln>
        </p:spPr>
      </p:sp>
      <p:sp>
        <p:nvSpPr>
          <p:cNvPr id="10" name="Text 8"/>
          <p:cNvSpPr txBox="1"/>
          <p:nvPr/>
        </p:nvSpPr>
        <p:spPr>
          <a:xfrm>
            <a:off x="3322244" y="3063240"/>
            <a:ext cx="5547208"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368,416</a:t>
            </a:r>
            <a:endParaRPr lang="en-US" sz="2200" dirty="0"/>
          </a:p>
        </p:txBody>
      </p:sp>
      <p:sp>
        <p:nvSpPr>
          <p:cNvPr id="11" name="Text 9"/>
          <p:cNvSpPr txBox="1"/>
          <p:nvPr/>
        </p:nvSpPr>
        <p:spPr>
          <a:xfrm>
            <a:off x="3322244" y="3465576"/>
            <a:ext cx="5547208"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observed visits (first visit 3+ days after exposure)</a:t>
            </a:r>
            <a:endParaRPr lang="en-US" sz="1000" dirty="0"/>
          </a:p>
        </p:txBody>
      </p:sp>
      <p:sp>
        <p:nvSpPr>
          <p:cNvPr id="12" name="Shape 10"/>
          <p:cNvSpPr/>
          <p:nvPr/>
        </p:nvSpPr>
        <p:spPr>
          <a:xfrm>
            <a:off x="548640" y="4041648"/>
            <a:ext cx="5410048" cy="45720"/>
          </a:xfrm>
          <a:prstGeom prst="rect">
            <a:avLst/>
          </a:prstGeom>
          <a:solidFill>
            <a:srgbClr val="125C60"/>
          </a:solidFill>
          <a:ln w="12700">
            <a:solidFill>
              <a:srgbClr val="125C60"/>
            </a:solidFill>
            <a:prstDash val="solid"/>
          </a:ln>
        </p:spPr>
      </p:sp>
      <p:sp>
        <p:nvSpPr>
          <p:cNvPr id="13" name="Text 11"/>
          <p:cNvSpPr txBox="1"/>
          <p:nvPr/>
        </p:nvSpPr>
        <p:spPr>
          <a:xfrm>
            <a:off x="548640"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11.9</a:t>
            </a:r>
            <a:endParaRPr lang="en-US" sz="2000" dirty="0"/>
          </a:p>
        </p:txBody>
      </p:sp>
      <p:sp>
        <p:nvSpPr>
          <p:cNvPr id="14" name="Text 12"/>
          <p:cNvSpPr txBox="1"/>
          <p:nvPr/>
        </p:nvSpPr>
        <p:spPr>
          <a:xfrm>
            <a:off x="548640"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all campaigns</a:t>
            </a:r>
            <a:endParaRPr lang="en-US" sz="1050" dirty="0"/>
          </a:p>
        </p:txBody>
      </p:sp>
      <p:sp>
        <p:nvSpPr>
          <p:cNvPr id="15" name="Text 13"/>
          <p:cNvSpPr txBox="1"/>
          <p:nvPr/>
        </p:nvSpPr>
        <p:spPr>
          <a:xfrm>
            <a:off x="548640"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368,416 ÷ 31.0M × 1,000</a:t>
            </a:r>
            <a:endParaRPr lang="en-US" sz="900" dirty="0"/>
          </a:p>
        </p:txBody>
      </p:sp>
      <p:sp>
        <p:nvSpPr>
          <p:cNvPr id="16" name="Shape 14"/>
          <p:cNvSpPr/>
          <p:nvPr/>
        </p:nvSpPr>
        <p:spPr>
          <a:xfrm>
            <a:off x="6233008" y="4041648"/>
            <a:ext cx="5410048" cy="45720"/>
          </a:xfrm>
          <a:prstGeom prst="rect">
            <a:avLst/>
          </a:prstGeom>
          <a:solidFill>
            <a:srgbClr val="125C60"/>
          </a:solidFill>
          <a:ln w="12700">
            <a:solidFill>
              <a:srgbClr val="125C60"/>
            </a:solidFill>
            <a:prstDash val="solid"/>
          </a:ln>
        </p:spPr>
      </p:sp>
      <p:sp>
        <p:nvSpPr>
          <p:cNvPr id="17" name="Text 15"/>
          <p:cNvSpPr txBox="1"/>
          <p:nvPr/>
        </p:nvSpPr>
        <p:spPr>
          <a:xfrm>
            <a:off x="6233008"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34.4</a:t>
            </a:r>
            <a:endParaRPr lang="en-US" sz="2000" dirty="0"/>
          </a:p>
        </p:txBody>
      </p:sp>
      <p:sp>
        <p:nvSpPr>
          <p:cNvPr id="18" name="Text 16"/>
          <p:cNvSpPr txBox="1"/>
          <p:nvPr/>
        </p:nvSpPr>
        <p:spPr>
          <a:xfrm>
            <a:off x="6233008"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50" dirty="0"/>
          </a:p>
        </p:txBody>
      </p:sp>
      <p:sp>
        <p:nvSpPr>
          <p:cNvPr id="19" name="Text 17"/>
          <p:cNvSpPr txBox="1"/>
          <p:nvPr/>
        </p:nvSpPr>
        <p:spPr>
          <a:xfrm>
            <a:off x="6233008"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2.9× the all-campaign rate: 34.4 ÷ 11.9</a:t>
            </a:r>
            <a:endParaRPr lang="en-US" sz="900" dirty="0"/>
          </a:p>
        </p:txBody>
      </p:sp>
      <p:sp>
        <p:nvSpPr>
          <p:cNvPr id="2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placements turn impressions into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media attribution · ad exposures Jan. 1–Aug. 31,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31.0M</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U.S. audiences, Jan.–Aug. 2026</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368,416</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11.9 per 1,000 impressions · visit rate 1.19%</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LUXURY CAMPAIGN</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34.4</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visits per 1,000 impressions</a:t>
            </a:r>
            <a:endParaRPr lang="en-US" sz="10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6766560" cy="914400"/>
        </p:xfrm>
        <a:graphic>
          <a:graphicData uri="http://schemas.openxmlformats.org/drawingml/2006/table">
            <a:tbl>
              <a:tblPr/>
              <a:tblGrid>
                <a:gridCol w="1737360"/>
                <a:gridCol w="1737360"/>
                <a:gridCol w="1188720"/>
                <a:gridCol w="1005840"/>
                <a:gridCol w="1097280"/>
              </a:tblGrid>
              <a:tr h="24688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Campaign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Channel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Impressions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per 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8,100.7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TripAdvisor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4,019.4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2,236.7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Travelzoo</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1,062.3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New Brand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8,675.5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2,259.3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2,177.3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74.9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763.8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Priceline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698.6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Fall/Winter 25–26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1" name="callout"/>
          <p:cNvSpPr/>
          <p:nvPr/>
        </p:nvSpPr>
        <p:spPr>
          <a:xfrm>
            <a:off x="7589520" y="3108960"/>
            <a:ext cx="4023360" cy="2194560"/>
          </a:xfrm>
          <a:prstGeom prst="roundRect">
            <a:avLst>
              <a:gd name="adj" fmla="val 2500"/>
            </a:avLst>
          </a:prstGeom>
          <a:solidFill>
            <a:srgbClr val="F9F9F2"/>
          </a:solidFill>
          <a:ln w="12700">
            <a:solidFill>
              <a:srgbClr val="125C60"/>
            </a:solidFill>
            <a:prstDash val="solid"/>
          </a:ln>
        </p:spPr>
      </p:sp>
      <p:sp>
        <p:nvSpPr>
          <p:cNvPr id="22" name="Text 18"/>
          <p:cNvSpPr txBox="1"/>
          <p:nvPr/>
        </p:nvSpPr>
        <p:spPr>
          <a:xfrm>
            <a:off x="7772400" y="3246120"/>
            <a:ext cx="3657600" cy="192024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Opportunity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luxury and travel-planning placements convert best (up to 34.4 visits per 1,000 impressions). OC Vibe events and dining can be featured in this content.</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Media Attribution (first visit at least three days after exposure)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Measurable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Observed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368,416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368,416 observed visits ÷ 31.0M impressions × 1,000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Days from ad to visit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(Jan.–Aug.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100" b="1" dirty="0">
                <a:solidFill>
                  <a:srgbClr val="125C60"/>
                </a:solidFill>
                <a:latin typeface="Proxima Nova" pitchFamily="34" charset="0"/>
                <a:ea typeface="Proxima Nova" pitchFamily="34" charset="-122"/>
                <a:cs typeface="Proxima Nova" pitchFamily="34" charset="-120"/>
              </a:rPr>
              <a:t>31.0M</a:t>
            </a:r>
            <a:pPr indent="0" marL="0">
              <a:buNone/>
            </a:pPr>
            <a:r>
              <a:rPr lang="en-US" sz="11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100" b="1" dirty="0">
                <a:solidFill>
                  <a:srgbClr val="125C60"/>
                </a:solidFill>
                <a:latin typeface="Proxima Nova" pitchFamily="34" charset="0"/>
                <a:ea typeface="Proxima Nova" pitchFamily="34" charset="-122"/>
                <a:cs typeface="Proxima Nova" pitchFamily="34" charset="-120"/>
              </a:rPr>
              <a:t>368,416</a:t>
            </a:r>
            <a:pPr indent="0" marL="0">
              <a:buNone/>
            </a:pPr>
            <a:r>
              <a:rPr lang="en-US" sz="110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100" b="1" dirty="0">
                <a:solidFill>
                  <a:srgbClr val="125C60"/>
                </a:solidFill>
                <a:latin typeface="Proxima Nova" pitchFamily="34" charset="0"/>
                <a:ea typeface="Proxima Nova" pitchFamily="34" charset="-122"/>
                <a:cs typeface="Proxima Nova" pitchFamily="34" charset="-120"/>
              </a:rPr>
              <a:t>39 days</a:t>
            </a:r>
            <a:pPr indent="0" marL="0">
              <a:buNone/>
            </a:pPr>
            <a:r>
              <a:rPr lang="en-US" sz="1100" dirty="0">
                <a:solidFill>
                  <a:srgbClr val="231F20"/>
                </a:solidFill>
                <a:latin typeface="Proxima Nova" pitchFamily="34" charset="0"/>
                <a:ea typeface="Proxima Nova" pitchFamily="34" charset="-122"/>
                <a:cs typeface="Proxima Nova" pitchFamily="34" charset="-120"/>
              </a:rPr>
              <a:t> after seeing an ad.</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Reach that converts: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overall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the best luxury placements.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368,416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observed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74.9K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2,177.3K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(Basis DSP luxury placements)]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measurable channel: attribution can track visits from target markets once OC Vibe appears in campaigns.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Timing: visitors arrive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after an ad, so events can be marketed six to eight weeks ahead.</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An event calendar shared with Visit Anaheim six to eight weeks ahead.</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OC Vibe venue, dining and opening content for Visit Anaheim's luxury and travel-planning channels.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Control markets for key campaigns, since attribution shows association, not cause.</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hotel revenue per room up 11.4% as OC Vibe nears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 outlook · LARC Market Intelligence Reports, Jan.–Sept.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350" b="1" dirty="0">
                <a:solidFill>
                  <a:srgbClr val="125C60"/>
                </a:solidFill>
                <a:latin typeface="Proxima Nova" pitchFamily="34" charset="0"/>
                <a:ea typeface="Proxima Nova" pitchFamily="34" charset="-122"/>
                <a:cs typeface="Proxima Nova" pitchFamily="34" charset="-120"/>
              </a:rPr>
              <a:t>11.4%</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350" b="1" dirty="0">
                <a:solidFill>
                  <a:srgbClr val="125C60"/>
                </a:solidFill>
                <a:latin typeface="Proxima Nova" pitchFamily="34" charset="0"/>
                <a:ea typeface="Proxima Nova" pitchFamily="34" charset="-122"/>
                <a:cs typeface="Proxima Nova" pitchFamily="34" charset="-120"/>
              </a:rPr>
              <a:t>+5.7%</a:t>
            </a:r>
            <a:pPr indent="0" marL="0">
              <a:buNone/>
            </a:pPr>
            <a:r>
              <a:rPr lang="en-US" sz="135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350" b="1" dirty="0">
                <a:solidFill>
                  <a:srgbClr val="125C60"/>
                </a:solidFill>
                <a:latin typeface="Proxima Nova" pitchFamily="34" charset="0"/>
                <a:ea typeface="Proxima Nova" pitchFamily="34" charset="-122"/>
                <a:cs typeface="Proxima Nova" pitchFamily="34" charset="-120"/>
              </a:rPr>
              <a:t>+12%</a:t>
            </a:r>
            <a:pPr indent="0" marL="0">
              <a:buNone/>
            </a:pPr>
            <a:r>
              <a:rPr lang="en-US" sz="135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350" b="1" dirty="0">
                <a:solidFill>
                  <a:srgbClr val="125C60"/>
                </a:solidFill>
                <a:latin typeface="Proxima Nova" pitchFamily="34" charset="0"/>
                <a:ea typeface="Proxima Nova" pitchFamily="34" charset="-122"/>
                <a:cs typeface="Proxima Nova" pitchFamily="34" charset="-120"/>
              </a:rPr>
              <a:t>+17%</a:t>
            </a:r>
            <a:pPr indent="0" marL="0">
              <a:buNone/>
            </a:pPr>
            <a:r>
              <a:rPr lang="en-US" sz="135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350" b="1" dirty="0">
                <a:solidFill>
                  <a:srgbClr val="125C60"/>
                </a:solidFill>
                <a:latin typeface="Proxima Nova" pitchFamily="34" charset="0"/>
                <a:ea typeface="Proxima Nova" pitchFamily="34" charset="-122"/>
                <a:cs typeface="Proxima Nova" pitchFamily="34" charset="-120"/>
              </a:rPr>
              <a:t>3.2%</a:t>
            </a:r>
            <a:pPr indent="0" marL="0">
              <a:buNone/>
            </a:pPr>
            <a:r>
              <a:rPr lang="en-US" sz="135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350" b="1" dirty="0">
                <a:solidFill>
                  <a:srgbClr val="125C60"/>
                </a:solidFill>
                <a:latin typeface="Proxima Nova" pitchFamily="34" charset="0"/>
                <a:ea typeface="Proxima Nova" pitchFamily="34" charset="-122"/>
                <a:cs typeface="Proxima Nova" pitchFamily="34" charset="-120"/>
              </a:rPr>
              <a:t>6%</a:t>
            </a:r>
            <a:pPr indent="0" marL="0">
              <a:buNone/>
            </a:pPr>
            <a:r>
              <a:rPr lang="en-US" sz="1350" dirty="0">
                <a:solidFill>
                  <a:srgbClr val="231F20"/>
                </a:solidFill>
                <a:latin typeface="Proxima Nova" pitchFamily="34" charset="0"/>
                <a:ea typeface="Proxima Nova" pitchFamily="34" charset="-122"/>
                <a:cs typeface="Proxima Nova" pitchFamily="34" charset="-120"/>
              </a:rPr>
              <a:t>.</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opens into a market with rising hotel revenue and strong convention pace, along with rising costs. LARC reports Anaheim revenue per available room up </a:t>
            </a:r>
            <a:pPr indent="0" marL="0">
              <a:buNone/>
            </a:pPr>
            <a:r>
              <a:rPr lang="en-US" sz="1250" b="1" dirty="0">
                <a:solidFill>
                  <a:srgbClr val="125C60"/>
                </a:solidFill>
                <a:latin typeface="Proxima Nova" pitchFamily="34" charset="0"/>
                <a:ea typeface="Proxima Nova" pitchFamily="34" charset="-122"/>
                <a:cs typeface="Proxima Nova" pitchFamily="34" charset="-120"/>
              </a:rPr>
              <a:t>11.4%</a:t>
            </a:r>
            <a:pPr indent="0" marL="0">
              <a:buNone/>
            </a:pPr>
            <a:r>
              <a:rPr lang="en-US" sz="1250" dirty="0">
                <a:solidFill>
                  <a:srgbClr val="231F20"/>
                </a:solidFill>
                <a:latin typeface="Proxima Nova" pitchFamily="34" charset="0"/>
                <a:ea typeface="Proxima Nova" pitchFamily="34" charset="-122"/>
                <a:cs typeface="Proxima Nova" pitchFamily="34" charset="-120"/>
              </a:rPr>
              <a:t> in Q2 2026 and convention room nights pacing </a:t>
            </a:r>
            <a:pPr indent="0" marL="0">
              <a:buNone/>
            </a:pPr>
            <a:r>
              <a:rPr lang="en-US" sz="1250" b="1" dirty="0">
                <a:solidFill>
                  <a:srgbClr val="125C60"/>
                </a:solidFill>
                <a:latin typeface="Proxima Nova" pitchFamily="34" charset="0"/>
                <a:ea typeface="Proxima Nova" pitchFamily="34" charset="-122"/>
                <a:cs typeface="Proxima Nova" pitchFamily="34" charset="-120"/>
              </a:rPr>
              <a:t>17%</a:t>
            </a:r>
            <a:pPr indent="0" marL="0">
              <a:buNone/>
            </a:pPr>
            <a:r>
              <a:rPr lang="en-US" sz="1250" dirty="0">
                <a:solidFill>
                  <a:srgbClr val="231F20"/>
                </a:solidFill>
                <a:latin typeface="Proxima Nova" pitchFamily="34" charset="0"/>
                <a:ea typeface="Proxima Nova" pitchFamily="34" charset="-122"/>
                <a:cs typeface="Proxima Nova" pitchFamily="34" charset="-120"/>
              </a:rPr>
              <a:t> ahead for 2027, with inflation about </a:t>
            </a:r>
            <a:pPr indent="0" marL="0">
              <a:buNone/>
            </a:pPr>
            <a:r>
              <a:rPr lang="en-US" sz="1250" b="1" dirty="0">
                <a:solidFill>
                  <a:srgbClr val="125C60"/>
                </a:solidFill>
                <a:latin typeface="Proxima Nova" pitchFamily="34" charset="0"/>
                <a:ea typeface="Proxima Nova" pitchFamily="34" charset="-122"/>
                <a:cs typeface="Proxima Nova" pitchFamily="34" charset="-120"/>
              </a:rPr>
              <a:t>3.2%</a:t>
            </a:r>
            <a:pPr indent="0" marL="0">
              <a:buNone/>
            </a:pPr>
            <a:r>
              <a:rPr lang="en-US" sz="1250" dirty="0">
                <a:solidFill>
                  <a:srgbClr val="231F20"/>
                </a:solidFill>
                <a:latin typeface="Proxima Nova" pitchFamily="34" charset="0"/>
                <a:ea typeface="Proxima Nova" pitchFamily="34" charset="-122"/>
                <a:cs typeface="Proxima Nova" pitchFamily="34" charset="-120"/>
              </a:rPr>
              <a:t> a year.</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MARKET, Q2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+11.4%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CONVENTION CENTER</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+12%</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Room nights on the books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INFLATION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 a year</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Consumer prices, 3-year average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LARC/Moody's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+12%</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2026</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Anaheim's hotel market, Anaheim Convention Center groups, and developers near OC Vibe.</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hotel revenue per room, Q2 2026 (U.S. +5.7%)</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Q2 2026 hotel revenue per room </a:t>
            </a:r>
            <a:pPr indent="0" marL="0">
              <a:buNone/>
            </a:pPr>
            <a:r>
              <a:rPr lang="en-US" sz="950" b="1" dirty="0">
                <a:solidFill>
                  <a:srgbClr val="125C60"/>
                </a:solidFill>
                <a:latin typeface="Proxima Nova" pitchFamily="34" charset="0"/>
                <a:ea typeface="Proxima Nova" pitchFamily="34" charset="-122"/>
                <a:cs typeface="Proxima Nova" pitchFamily="34" charset="-120"/>
              </a:rPr>
              <a:t>+11.4%</a:t>
            </a:r>
            <a:pPr indent="0" marL="0">
              <a:buNone/>
            </a:pPr>
            <a:r>
              <a:rPr lang="en-US" sz="950" dirty="0">
                <a:solidFill>
                  <a:srgbClr val="231F20"/>
                </a:solidFill>
                <a:latin typeface="Proxima Nova" pitchFamily="34" charset="0"/>
                <a:ea typeface="Proxima Nova" pitchFamily="34" charset="-122"/>
                <a:cs typeface="Proxima Nova" pitchFamily="34" charset="-120"/>
              </a:rPr>
              <a:t> (U.S. </a:t>
            </a:r>
            <a:pPr indent="0" marL="0">
              <a:buNone/>
            </a:pPr>
            <a:r>
              <a:rPr lang="en-US" sz="950" b="1" dirty="0">
                <a:solidFill>
                  <a:srgbClr val="125C60"/>
                </a:solidFill>
                <a:latin typeface="Proxima Nova" pitchFamily="34" charset="0"/>
                <a:ea typeface="Proxima Nova" pitchFamily="34" charset="-122"/>
                <a:cs typeface="Proxima Nova" pitchFamily="34" charset="-120"/>
              </a:rPr>
              <a:t>+5.7%</a:t>
            </a:r>
            <a:pPr indent="0" marL="0">
              <a:buNone/>
            </a:pPr>
            <a:r>
              <a:rPr lang="en-US" sz="950" dirty="0">
                <a:solidFill>
                  <a:srgbClr val="231F20"/>
                </a:solidFill>
                <a:latin typeface="Proxima Nova" pitchFamily="34" charset="0"/>
                <a:ea typeface="Proxima Nova" pitchFamily="34" charset="-122"/>
                <a:cs typeface="Proxima Nova" pitchFamily="34" charset="-120"/>
              </a:rPr>
              <a:t>); convention room nights pacing </a:t>
            </a:r>
            <a:pPr indent="0" marL="0">
              <a:buNone/>
            </a:pPr>
            <a:r>
              <a:rPr lang="en-US" sz="950" b="1" dirty="0">
                <a:solidFill>
                  <a:srgbClr val="125C60"/>
                </a:solidFill>
                <a:latin typeface="Proxima Nova" pitchFamily="34" charset="0"/>
                <a:ea typeface="Proxima Nova" pitchFamily="34" charset="-122"/>
                <a:cs typeface="Proxima Nova" pitchFamily="34" charset="-120"/>
              </a:rPr>
              <a:t>+12%</a:t>
            </a:r>
            <a:pPr indent="0" marL="0">
              <a:buNone/>
            </a:pPr>
            <a:r>
              <a:rPr lang="en-US" sz="950" dirty="0">
                <a:solidFill>
                  <a:srgbClr val="231F20"/>
                </a:solidFill>
                <a:latin typeface="Proxima Nova" pitchFamily="34" charset="0"/>
                <a:ea typeface="Proxima Nova" pitchFamily="34" charset="-122"/>
                <a:cs typeface="Proxima Nova" pitchFamily="34" charset="-120"/>
              </a:rPr>
              <a:t> (2026) and </a:t>
            </a:r>
            <a:pPr indent="0" marL="0">
              <a:buNone/>
            </a:pPr>
            <a:r>
              <a:rPr lang="en-US" sz="950" b="1" dirty="0">
                <a:solidFill>
                  <a:srgbClr val="125C60"/>
                </a:solidFill>
                <a:latin typeface="Proxima Nova" pitchFamily="34" charset="0"/>
                <a:ea typeface="Proxima Nova" pitchFamily="34" charset="-122"/>
                <a:cs typeface="Proxima Nova" pitchFamily="34" charset="-120"/>
              </a:rPr>
              <a:t>+17%</a:t>
            </a:r>
            <a:pPr indent="0" marL="0">
              <a:buNone/>
            </a:pPr>
            <a:r>
              <a:rPr lang="en-US" sz="950" dirty="0">
                <a:solidFill>
                  <a:srgbClr val="231F20"/>
                </a:solidFill>
                <a:latin typeface="Proxima Nova" pitchFamily="34" charset="0"/>
                <a:ea typeface="Proxima Nova" pitchFamily="34" charset="-122"/>
                <a:cs typeface="Proxima Nova" pitchFamily="34" charset="-120"/>
              </a:rPr>
              <a:t> (2027); inflation about </a:t>
            </a:r>
            <a:pPr indent="0" marL="0">
              <a:buNone/>
            </a:pPr>
            <a:r>
              <a:rPr lang="en-US" sz="950" b="1" dirty="0">
                <a:solidFill>
                  <a:srgbClr val="125C60"/>
                </a:solidFill>
                <a:latin typeface="Proxima Nova" pitchFamily="34" charset="0"/>
                <a:ea typeface="Proxima Nova" pitchFamily="34" charset="-122"/>
                <a:cs typeface="Proxima Nova" pitchFamily="34" charset="-120"/>
              </a:rPr>
              <a:t>3.2%</a:t>
            </a:r>
            <a:pPr indent="0" marL="0">
              <a:buNone/>
            </a:pPr>
            <a:r>
              <a:rPr lang="en-US" sz="950" dirty="0">
                <a:solidFill>
                  <a:srgbClr val="231F20"/>
                </a:solidFill>
                <a:latin typeface="Proxima Nova" pitchFamily="34" charset="0"/>
                <a:ea typeface="Proxima Nova" pitchFamily="34" charset="-122"/>
                <a:cs typeface="Proxima Nova" pitchFamily="34" charset="-120"/>
              </a:rPr>
              <a:t> a year.</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Jan.–Sept.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LARC report editions; forecasts to 2030</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reports January–September 2026; forecasts to 2030.</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market, CoStar basis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hotel market (CoStar basis), OC Vibe and nearby developments.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 market OC Vibe opens into sets its pricing power and costs.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inflation a year (Moody's Analytics via LARC)</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analysis of CoStar data, convention pace and Moody's Analytics economic forecasts.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Anaheim vs. the U.S. and the year ahead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Market Intelligence Reports, Jan.–Sept. 2026</a:t>
            </a:r>
            <a:endParaRPr lang="en-US" sz="950" dirty="0"/>
          </a:p>
        </p:txBody>
      </p:sp>
      <p:sp>
        <p:nvSpPr>
          <p:cNvPr id="6" name="Text 4"/>
          <p:cNvSpPr txBox="1"/>
          <p:nvPr/>
        </p:nvSpPr>
        <p:spPr>
          <a:xfrm>
            <a:off x="548640" y="207568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Hotel revenue per room, Q2 2026</a:t>
            </a:r>
            <a:endParaRPr lang="en-US" sz="1200" dirty="0"/>
          </a:p>
        </p:txBody>
      </p:sp>
      <p:sp>
        <p:nvSpPr>
          <p:cNvPr id="7" name="Shape 5"/>
          <p:cNvSpPr/>
          <p:nvPr/>
        </p:nvSpPr>
        <p:spPr>
          <a:xfrm>
            <a:off x="3474720" y="2121408"/>
            <a:ext cx="8168335" cy="329184"/>
          </a:xfrm>
          <a:prstGeom prst="rect">
            <a:avLst/>
          </a:prstGeom>
          <a:solidFill>
            <a:srgbClr val="F9F9F2"/>
          </a:solidFill>
          <a:ln w="12700">
            <a:solidFill>
              <a:srgbClr val="F9F9F2"/>
            </a:solidFill>
            <a:prstDash val="solid"/>
          </a:ln>
        </p:spPr>
      </p:sp>
      <p:sp>
        <p:nvSpPr>
          <p:cNvPr id="8" name="Shape 6"/>
          <p:cNvSpPr/>
          <p:nvPr/>
        </p:nvSpPr>
        <p:spPr>
          <a:xfrm>
            <a:off x="3474720" y="2121408"/>
            <a:ext cx="5477589" cy="329184"/>
          </a:xfrm>
          <a:prstGeom prst="rect">
            <a:avLst/>
          </a:prstGeom>
          <a:solidFill>
            <a:srgbClr val="43A3A3"/>
          </a:solidFill>
          <a:ln w="12700">
            <a:solidFill>
              <a:srgbClr val="43A3A3"/>
            </a:solidFill>
            <a:prstDash val="solid"/>
          </a:ln>
        </p:spPr>
      </p:sp>
      <p:sp>
        <p:nvSpPr>
          <p:cNvPr id="9" name="Text 7"/>
          <p:cNvSpPr txBox="1"/>
          <p:nvPr/>
        </p:nvSpPr>
        <p:spPr>
          <a:xfrm>
            <a:off x="3566160" y="212140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a:t>
            </a:r>
            <a:pPr indent="0" marL="0">
              <a:buNone/>
            </a:pPr>
            <a:r>
              <a:rPr lang="en-US" sz="1100" b="1" dirty="0">
                <a:solidFill>
                  <a:srgbClr val="231F20"/>
                </a:solidFill>
                <a:latin typeface="Proxima Nova" pitchFamily="34" charset="0"/>
                <a:ea typeface="Proxima Nova" pitchFamily="34" charset="-122"/>
                <a:cs typeface="Proxima Nova" pitchFamily="34" charset="-120"/>
              </a:rPr>
              <a:t>+11.4%</a:t>
            </a:r>
            <a:endParaRPr lang="en-US" sz="1050" dirty="0"/>
          </a:p>
        </p:txBody>
      </p:sp>
      <p:sp>
        <p:nvSpPr>
          <p:cNvPr id="10" name="Shape 8"/>
          <p:cNvSpPr/>
          <p:nvPr/>
        </p:nvSpPr>
        <p:spPr>
          <a:xfrm>
            <a:off x="3474720" y="2505456"/>
            <a:ext cx="8168335" cy="329184"/>
          </a:xfrm>
          <a:prstGeom prst="rect">
            <a:avLst/>
          </a:prstGeom>
          <a:solidFill>
            <a:srgbClr val="F9F9F2"/>
          </a:solidFill>
          <a:ln w="12700">
            <a:solidFill>
              <a:srgbClr val="F9F9F2"/>
            </a:solidFill>
            <a:prstDash val="solid"/>
          </a:ln>
        </p:spPr>
      </p:sp>
      <p:sp>
        <p:nvSpPr>
          <p:cNvPr id="11" name="Shape 9"/>
          <p:cNvSpPr/>
          <p:nvPr/>
        </p:nvSpPr>
        <p:spPr>
          <a:xfrm>
            <a:off x="3474720" y="2505456"/>
            <a:ext cx="2738795" cy="329184"/>
          </a:xfrm>
          <a:prstGeom prst="rect">
            <a:avLst/>
          </a:prstGeom>
          <a:solidFill>
            <a:srgbClr val="B4D9E3"/>
          </a:solidFill>
          <a:ln w="12700">
            <a:solidFill>
              <a:srgbClr val="B4D9E3"/>
            </a:solidFill>
            <a:prstDash val="solid"/>
          </a:ln>
        </p:spPr>
      </p:sp>
      <p:sp>
        <p:nvSpPr>
          <p:cNvPr id="12" name="Text 10"/>
          <p:cNvSpPr txBox="1"/>
          <p:nvPr/>
        </p:nvSpPr>
        <p:spPr>
          <a:xfrm>
            <a:off x="3566160" y="250545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U.S. </a:t>
            </a:r>
            <a:pPr indent="0" marL="0">
              <a:buNone/>
            </a:pPr>
            <a:r>
              <a:rPr lang="en-US" sz="1100" b="1" dirty="0">
                <a:solidFill>
                  <a:srgbClr val="231F20"/>
                </a:solidFill>
                <a:latin typeface="Proxima Nova" pitchFamily="34" charset="0"/>
                <a:ea typeface="Proxima Nova" pitchFamily="34" charset="-122"/>
                <a:cs typeface="Proxima Nova" pitchFamily="34" charset="-120"/>
              </a:rPr>
              <a:t>+5.7%</a:t>
            </a:r>
            <a:endParaRPr lang="en-US" sz="1050" dirty="0"/>
          </a:p>
        </p:txBody>
      </p:sp>
      <p:sp>
        <p:nvSpPr>
          <p:cNvPr id="13" name="Text 11"/>
          <p:cNvSpPr txBox="1"/>
          <p:nvPr/>
        </p:nvSpPr>
        <p:spPr>
          <a:xfrm>
            <a:off x="548640" y="312724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Convention room nights on the books</a:t>
            </a:r>
            <a:endParaRPr lang="en-US" sz="1200" dirty="0"/>
          </a:p>
        </p:txBody>
      </p:sp>
      <p:sp>
        <p:nvSpPr>
          <p:cNvPr id="14" name="Shape 12"/>
          <p:cNvSpPr/>
          <p:nvPr/>
        </p:nvSpPr>
        <p:spPr>
          <a:xfrm>
            <a:off x="3474720" y="3172968"/>
            <a:ext cx="8168335" cy="329184"/>
          </a:xfrm>
          <a:prstGeom prst="rect">
            <a:avLst/>
          </a:prstGeom>
          <a:solidFill>
            <a:srgbClr val="F9F9F2"/>
          </a:solidFill>
          <a:ln w="12700">
            <a:solidFill>
              <a:srgbClr val="F9F9F2"/>
            </a:solidFill>
            <a:prstDash val="solid"/>
          </a:ln>
        </p:spPr>
      </p:sp>
      <p:sp>
        <p:nvSpPr>
          <p:cNvPr id="15" name="Shape 13"/>
          <p:cNvSpPr/>
          <p:nvPr/>
        </p:nvSpPr>
        <p:spPr>
          <a:xfrm>
            <a:off x="3474720" y="3172968"/>
            <a:ext cx="8168335" cy="329184"/>
          </a:xfrm>
          <a:prstGeom prst="rect">
            <a:avLst/>
          </a:prstGeom>
          <a:solidFill>
            <a:srgbClr val="43A3A3"/>
          </a:solidFill>
          <a:ln w="12700">
            <a:solidFill>
              <a:srgbClr val="43A3A3"/>
            </a:solidFill>
            <a:prstDash val="solid"/>
          </a:ln>
        </p:spPr>
      </p:sp>
      <p:sp>
        <p:nvSpPr>
          <p:cNvPr id="16" name="Text 14"/>
          <p:cNvSpPr txBox="1"/>
          <p:nvPr/>
        </p:nvSpPr>
        <p:spPr>
          <a:xfrm>
            <a:off x="3566160" y="317296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2027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+17%</a:t>
            </a:r>
            <a:endParaRPr lang="en-US" sz="1050" dirty="0"/>
          </a:p>
        </p:txBody>
      </p:sp>
      <p:sp>
        <p:nvSpPr>
          <p:cNvPr id="17" name="Shape 15"/>
          <p:cNvSpPr/>
          <p:nvPr/>
        </p:nvSpPr>
        <p:spPr>
          <a:xfrm>
            <a:off x="3474720" y="3557016"/>
            <a:ext cx="8168335" cy="329184"/>
          </a:xfrm>
          <a:prstGeom prst="rect">
            <a:avLst/>
          </a:prstGeom>
          <a:solidFill>
            <a:srgbClr val="F9F9F2"/>
          </a:solidFill>
          <a:ln w="12700">
            <a:solidFill>
              <a:srgbClr val="F9F9F2"/>
            </a:solidFill>
            <a:prstDash val="solid"/>
          </a:ln>
        </p:spPr>
      </p:sp>
      <p:sp>
        <p:nvSpPr>
          <p:cNvPr id="18" name="Shape 16"/>
          <p:cNvSpPr/>
          <p:nvPr/>
        </p:nvSpPr>
        <p:spPr>
          <a:xfrm>
            <a:off x="3474720" y="3557016"/>
            <a:ext cx="5765884" cy="329184"/>
          </a:xfrm>
          <a:prstGeom prst="rect">
            <a:avLst/>
          </a:prstGeom>
          <a:solidFill>
            <a:srgbClr val="B4D9E3"/>
          </a:solidFill>
          <a:ln w="12700">
            <a:solidFill>
              <a:srgbClr val="B4D9E3"/>
            </a:solidFill>
            <a:prstDash val="solid"/>
          </a:ln>
        </p:spPr>
      </p:sp>
      <p:sp>
        <p:nvSpPr>
          <p:cNvPr id="19" name="Text 17"/>
          <p:cNvSpPr txBox="1"/>
          <p:nvPr/>
        </p:nvSpPr>
        <p:spPr>
          <a:xfrm>
            <a:off x="3566160" y="355701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2026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+12%</a:t>
            </a:r>
            <a:endParaRPr lang="en-US" sz="1050" dirty="0"/>
          </a:p>
        </p:txBody>
      </p:sp>
      <p:sp>
        <p:nvSpPr>
          <p:cNvPr id="20" name="Text 18"/>
          <p:cNvSpPr txBox="1"/>
          <p:nvPr/>
        </p:nvSpPr>
        <p:spPr>
          <a:xfrm>
            <a:off x="548640" y="417880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Costs, a year</a:t>
            </a:r>
            <a:endParaRPr lang="en-US" sz="1200" dirty="0"/>
          </a:p>
        </p:txBody>
      </p:sp>
      <p:sp>
        <p:nvSpPr>
          <p:cNvPr id="21" name="Shape 19"/>
          <p:cNvSpPr/>
          <p:nvPr/>
        </p:nvSpPr>
        <p:spPr>
          <a:xfrm>
            <a:off x="3474720" y="4224528"/>
            <a:ext cx="8168335" cy="329184"/>
          </a:xfrm>
          <a:prstGeom prst="rect">
            <a:avLst/>
          </a:prstGeom>
          <a:solidFill>
            <a:srgbClr val="F9F9F2"/>
          </a:solidFill>
          <a:ln w="12700">
            <a:solidFill>
              <a:srgbClr val="F9F9F2"/>
            </a:solidFill>
            <a:prstDash val="solid"/>
          </a:ln>
        </p:spPr>
      </p:sp>
      <p:sp>
        <p:nvSpPr>
          <p:cNvPr id="22" name="Shape 20"/>
          <p:cNvSpPr/>
          <p:nvPr/>
        </p:nvSpPr>
        <p:spPr>
          <a:xfrm>
            <a:off x="3474720" y="4224528"/>
            <a:ext cx="2882942" cy="329184"/>
          </a:xfrm>
          <a:prstGeom prst="rect">
            <a:avLst/>
          </a:prstGeom>
          <a:solidFill>
            <a:srgbClr val="43A3A3"/>
          </a:solidFill>
          <a:ln w="12700">
            <a:solidFill>
              <a:srgbClr val="43A3A3"/>
            </a:solidFill>
            <a:prstDash val="solid"/>
          </a:ln>
        </p:spPr>
      </p:sp>
      <p:sp>
        <p:nvSpPr>
          <p:cNvPr id="23" name="Text 21"/>
          <p:cNvSpPr txBox="1"/>
          <p:nvPr/>
        </p:nvSpPr>
        <p:spPr>
          <a:xfrm>
            <a:off x="3566160" y="422452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Hotel labor (about) </a:t>
            </a:r>
            <a:pPr indent="0" marL="0">
              <a:buNone/>
            </a:pPr>
            <a:r>
              <a:rPr lang="en-US" sz="1100" b="1" dirty="0">
                <a:solidFill>
                  <a:srgbClr val="231F20"/>
                </a:solidFill>
                <a:latin typeface="Proxima Nova" pitchFamily="34" charset="0"/>
                <a:ea typeface="Proxima Nova" pitchFamily="34" charset="-122"/>
                <a:cs typeface="Proxima Nova" pitchFamily="34" charset="-120"/>
              </a:rPr>
              <a:t>+6%</a:t>
            </a:r>
            <a:endParaRPr lang="en-US" sz="1050" dirty="0"/>
          </a:p>
        </p:txBody>
      </p:sp>
      <p:sp>
        <p:nvSpPr>
          <p:cNvPr id="24" name="Shape 22"/>
          <p:cNvSpPr/>
          <p:nvPr/>
        </p:nvSpPr>
        <p:spPr>
          <a:xfrm>
            <a:off x="3474720" y="4608576"/>
            <a:ext cx="8168335" cy="329184"/>
          </a:xfrm>
          <a:prstGeom prst="rect">
            <a:avLst/>
          </a:prstGeom>
          <a:solidFill>
            <a:srgbClr val="F9F9F2"/>
          </a:solidFill>
          <a:ln w="12700">
            <a:solidFill>
              <a:srgbClr val="F9F9F2"/>
            </a:solidFill>
            <a:prstDash val="solid"/>
          </a:ln>
        </p:spPr>
      </p:sp>
      <p:sp>
        <p:nvSpPr>
          <p:cNvPr id="25" name="Shape 23"/>
          <p:cNvSpPr/>
          <p:nvPr/>
        </p:nvSpPr>
        <p:spPr>
          <a:xfrm>
            <a:off x="3474720" y="4608576"/>
            <a:ext cx="1537569" cy="329184"/>
          </a:xfrm>
          <a:prstGeom prst="rect">
            <a:avLst/>
          </a:prstGeom>
          <a:solidFill>
            <a:srgbClr val="B4D9E3"/>
          </a:solidFill>
          <a:ln w="12700">
            <a:solidFill>
              <a:srgbClr val="B4D9E3"/>
            </a:solidFill>
            <a:prstDash val="solid"/>
          </a:ln>
        </p:spPr>
      </p:sp>
      <p:sp>
        <p:nvSpPr>
          <p:cNvPr id="26" name="Text 24"/>
          <p:cNvSpPr txBox="1"/>
          <p:nvPr/>
        </p:nvSpPr>
        <p:spPr>
          <a:xfrm>
            <a:off x="3566160" y="460857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prices </a:t>
            </a:r>
            <a:pPr indent="0" marL="0">
              <a:buNone/>
            </a:pPr>
            <a:r>
              <a:rPr lang="en-US" sz="1100" b="1" dirty="0">
                <a:solidFill>
                  <a:srgbClr val="231F20"/>
                </a:solidFill>
                <a:latin typeface="Proxima Nova" pitchFamily="34" charset="0"/>
                <a:ea typeface="Proxima Nova" pitchFamily="34" charset="-122"/>
                <a:cs typeface="Proxima Nova" pitchFamily="34" charset="-120"/>
              </a:rPr>
              <a:t>+3.2%</a:t>
            </a:r>
            <a:endParaRPr lang="en-US" sz="105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first buildings are up; market hall and plaza open in 2027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 Vibe and nearby developments as reported in LARC market reports, June–Sept. 2026</a:t>
            </a:r>
            <a:endParaRPr lang="en-US" sz="1200" dirty="0"/>
          </a:p>
        </p:txBody>
      </p:sp>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675120" cy="914400"/>
        </p:xfrm>
        <a:graphic>
          <a:graphicData uri="http://schemas.openxmlformats.org/drawingml/2006/table">
            <a:tbl>
              <a:tblPr/>
              <a:tblGrid>
                <a:gridCol w="1554480"/>
                <a:gridCol w="5120640"/>
              </a:tblGrid>
              <a:tr h="438912">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Element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Detail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Scale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100-acre, $5 billion mixed-use district; approved Oct. 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Office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 million sq ft; The Weave (168,000 sq ft, six stories)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835,500+ sq ft incl. Honda Center (18,300+ seats) and 185,500+ sq ft new (8,400+ seats); 104,000 sq ft concert hall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Two hotels, 550 rooms (Arena Hotel 320, Meadow Hotel 230), in planning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Residential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2,500+ units, 15% low-income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Dining and 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~172,000 sq ft restaurant and outdoor dining; ~57,000 sq ft new retail plus 25,000 sq ft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Public space and parking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 acres of parks and plazas, 3 miles of trails, OC River Walk (1.7 miles, $100M+); ~13,000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Timing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Katella Commons market hall (50,000 sq ft) and public plaza in 2027; final phase by 2033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211" name="Table 1"/>
          <p:cNvGraphicFramePr>
            <a:graphicFrameLocks noGrp="1"/>
          </p:cNvGraphicFramePr>
          <p:nvPr>
            <p:extLst>
              <p:ext uri="{D42A27DB-BD31-4B8C-83A1-F6EECF244321}">
                <p14:modId xmlns:p14="http://schemas.microsoft.com/office/powerpoint/2010/main" val="1579011935"/>
              </p:ext>
            </p:extLst>
          </p:nvPr>
        </p:nvGraphicFramePr>
        <p:xfrm>
          <a:off x="7498080" y="1463040"/>
          <a:ext cx="4114800" cy="914400"/>
        </p:xfrm>
        <a:graphic>
          <a:graphicData uri="http://schemas.openxmlformats.org/drawingml/2006/table">
            <a:tbl>
              <a:tblPr/>
              <a:tblGrid>
                <a:gridCol w="2286000"/>
                <a:gridCol w="548640"/>
                <a:gridCol w="1280160"/>
              </a:tblGrid>
              <a:tr h="38404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Project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Arena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320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Meadow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Nickelodeon Hotel &amp; Resort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Le Méridien Anaheim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GardenWalk Hotel Two (Westgate)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Disneyland Forward Hotel 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TownePlace Suites Anaheim Resort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Roadhouse Tribute Portfolio Anaheim Downtown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Construction, opening 1Q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Lodging Analytics Research &amp; Consulting (LARC), Anaheim Market Intelligence Reports (June, July and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Hotel demand and conventions are strong; costs are the main headwind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LARC market outlook · Anaheim vs. U.S. · forecasts to 2030</a:t>
            </a:r>
            <a:endParaRPr lang="en-US" sz="1200" dirty="0"/>
          </a:p>
        </p:txBody>
      </p:sp>
      <p:sp>
        <p:nvSpPr>
          <p:cNvPr id="4" name="chart-title"/>
          <p:cNvSpPr txBox="1"/>
          <p:nvPr/>
        </p:nvSpPr>
        <p:spPr>
          <a:xfrm>
            <a:off x="548640" y="1463040"/>
            <a:ext cx="49377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change vs. last year</a:t>
            </a:r>
            <a:endParaRPr lang="en-US" sz="1300" dirty="0"/>
          </a:p>
        </p:txBody>
      </p:sp>
      <p:graphicFrame>
        <p:nvGraphicFramePr>
          <p:cNvPr id="5" name="chart" descr=""/>
          <p:cNvGraphicFramePr/>
          <p:nvPr/>
        </p:nvGraphicFramePr>
        <p:xfrm>
          <a:off x="548640" y="1828800"/>
          <a:ext cx="493776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852160" cy="914400"/>
        </p:xfrm>
        <a:graphic>
          <a:graphicData uri="http://schemas.openxmlformats.org/drawingml/2006/table">
            <a:tbl>
              <a:tblPr/>
              <a:tblGrid>
                <a:gridCol w="1005840"/>
                <a:gridCol w="1097280"/>
                <a:gridCol w="1371600"/>
                <a:gridCol w="1371600"/>
                <a:gridCol w="100584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Occupancy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Average nightly rate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Revenue per available room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$207.82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$148.93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−1.5%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$209.68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$151.58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$219.53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$162.18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$169.95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+4.8%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$244.80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$175.90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2029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$255.09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$182.20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2030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$264.56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$188.33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4343400"/>
            <a:ext cx="11094415" cy="160020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Conventions: room nights on the books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2026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2027 (Sept.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Events: 2028 Olympics cycling and volleyball in Anaheim; the 2026 World Cup boost turns into a tough comparison in Q2–Q3 2027.</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Inflation: Anaheim prices forecast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 (3 yrs), above the U.S.; hotel labor costs about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Risks: gas prices and airfares (Iran conflict), possible federal shutdown, slower U.S. job growth.</a:t>
            </a:r>
            <a:endParaRPr lang="en-US" sz="11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Anaheim Market Intelligence Report, Sept. 2026 (Moody's Analytics economic inputs). F = forecast.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in recent public sources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Phasing, venues and events as reported · figures differ by source</a:t>
            </a:r>
            <a:endParaRPr lang="en-US" sz="12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6035040"/>
                <a:gridCol w="3227832"/>
              </a:tblGrid>
              <a:tr h="50292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Item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As reported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 and date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Phase 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Opens early 2027: concert hall, Katella Commons market hall, The Weave office and Urban Park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Concert hall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 capacity; concerts, comedy, televised and award shows, esports and private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OCVIBE concert hall release, PR Newswire (Mar. 12,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Commons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50,000 sq ft food hall with 21 culinary concepts and six bars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Parking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Two of three new garages open; parking in the two new garages is free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Honda Center hosts LA28 indoor volleyball; first hotel and Katella bridge to ARTIC</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 LARC Market Intelligence Reports (Jan.–Sept.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Honda Center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D23 evening showcases: 36,000+ guests over three nights, alongside the Convention Center expo (Aug.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BizBash (Sept. 16,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Full build-out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About 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Business Journal (June 1, 2026); OCVIBE concert hall release, PR Newswire (Mar. 12, 2026); BizBash (Sept. 16, 2026); LARC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Convention bookings for 2027 strengthened through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Convention Center room nights on the books vs. same point last year, by LARC report edition</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100" b="1" dirty="0">
                <a:solidFill>
                  <a:srgbClr val="125C60"/>
                </a:solidFill>
                <a:latin typeface="Proxima Nova" pitchFamily="34" charset="0"/>
                <a:ea typeface="Proxima Nova" pitchFamily="34" charset="-122"/>
                <a:cs typeface="Proxima Nova" pitchFamily="34" charset="-120"/>
              </a:rPr>
              <a:t>11.4%</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100" b="1" dirty="0">
                <a:solidFill>
                  <a:srgbClr val="125C60"/>
                </a:solidFill>
                <a:latin typeface="Proxima Nova" pitchFamily="34" charset="0"/>
                <a:ea typeface="Proxima Nova" pitchFamily="34" charset="-122"/>
                <a:cs typeface="Proxima Nova" pitchFamily="34" charset="-120"/>
              </a:rPr>
              <a:t>+5.7%</a:t>
            </a:r>
            <a:pPr indent="0" marL="0">
              <a:buNone/>
            </a:pPr>
            <a:r>
              <a:rPr lang="en-US" sz="110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100" b="1" dirty="0">
                <a:solidFill>
                  <a:srgbClr val="125C60"/>
                </a:solidFill>
                <a:latin typeface="Proxima Nova" pitchFamily="34" charset="0"/>
                <a:ea typeface="Proxima Nova" pitchFamily="34" charset="-122"/>
                <a:cs typeface="Proxima Nova" pitchFamily="34" charset="-120"/>
              </a:rPr>
              <a:t>+12%</a:t>
            </a:r>
            <a:pPr indent="0" marL="0">
              <a:buNone/>
            </a:pPr>
            <a:r>
              <a:rPr lang="en-US" sz="110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100" b="1" dirty="0">
                <a:solidFill>
                  <a:srgbClr val="125C60"/>
                </a:solidFill>
                <a:latin typeface="Proxima Nova" pitchFamily="34" charset="0"/>
                <a:ea typeface="Proxima Nova" pitchFamily="34" charset="-122"/>
                <a:cs typeface="Proxima Nova" pitchFamily="34" charset="-120"/>
              </a:rPr>
              <a:t>+17%</a:t>
            </a:r>
            <a:pPr indent="0" marL="0">
              <a:buNone/>
            </a:pPr>
            <a:r>
              <a:rPr lang="en-US" sz="110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100" b="1" dirty="0">
                <a:solidFill>
                  <a:srgbClr val="125C60"/>
                </a:solidFill>
                <a:latin typeface="Proxima Nova" pitchFamily="34" charset="0"/>
                <a:ea typeface="Proxima Nova" pitchFamily="34" charset="-122"/>
                <a:cs typeface="Proxima Nova" pitchFamily="34" charset="-120"/>
              </a:rPr>
              <a:t>3.2%</a:t>
            </a:r>
            <a:pPr indent="0" marL="0">
              <a:buNone/>
            </a:pPr>
            <a:r>
              <a:rPr lang="en-US" sz="110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100" b="1" dirty="0">
                <a:solidFill>
                  <a:srgbClr val="125C60"/>
                </a:solidFill>
                <a:latin typeface="Proxima Nova" pitchFamily="34" charset="0"/>
                <a:ea typeface="Proxima Nova" pitchFamily="34" charset="-122"/>
                <a:cs typeface="Proxima Nova" pitchFamily="34" charset="-120"/>
              </a:rPr>
              <a:t>6%</a:t>
            </a:r>
            <a:pPr indent="0" marL="0">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Opens into growth: 2027 convention pacing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coincides with OC Vibe's first venues, and conventions (142 events secured for 2026,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600,000 room nights</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bring weekday guests.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 proven pairing: D23's evening showcases at Honda Center drew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36,000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guests over three nights alongside the Convention Center expo (Aug.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The 2028 Olympics bring indoor volleyball to Honda Center the same year OC Vibe's first hotel and the Katella bridge open.</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Evening-event packages for 2027 Convention Center groups, sold with Visit Anaheim's sales team.</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2027 targets set against 2025 as well as 2026, since the 2026 World Cup makes Q2–Q3 2027 a tough comparison.</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Staffing and pricing plans with labor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and price growth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built in.</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 Visit Anaheim via CoStar (2026 bookings); BizBash (Sept. 16, 2026); Orange County Business Journal (June 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and OC Vibe today</a:t>
            </a:r>
            <a:endParaRPr lang="en-US" sz="13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forecasts Anaheim visitor spending of </a:t>
                      </a:r>
                      <a:pPr algn="l" indent="0" marL="0">
                        <a:buNone/>
                      </a:pPr>
                      <a:r>
                        <a:rPr lang="en-US" sz="750" b="1" dirty="0">
                          <a:solidFill>
                            <a:srgbClr val="125C60"/>
                          </a:solidFill>
                          <a:latin typeface="Proxima Nova" pitchFamily="34" charset="0"/>
                          <a:ea typeface="Proxima Nova" pitchFamily="34" charset="-122"/>
                          <a:cs typeface="Proxima Nova" pitchFamily="34" charset="-120"/>
                        </a:rPr>
                        <a:t>$7.2B</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2026,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5.6%</a:t>
                      </a:r>
                      <a:pPr algn="l" indent="0" marL="0">
                        <a:buNone/>
                      </a:pPr>
                      <a:r>
                        <a:rPr lang="en-US" sz="750" dirty="0">
                          <a:solidFill>
                            <a:srgbClr val="231F20"/>
                          </a:solidFill>
                          <a:latin typeface="Proxima Nova" pitchFamily="34" charset="0"/>
                          <a:ea typeface="Proxima Nova" pitchFamily="34" charset="-122"/>
                          <a:cs typeface="Proxima Nova" pitchFamily="34" charset="-120"/>
                        </a:rPr>
                        <a:t>, with visitors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1.9% to 27.0M</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OC Vibe area already accounts for </a:t>
                      </a:r>
                      <a:pPr algn="l" indent="0" marL="0">
                        <a:buNone/>
                      </a:pPr>
                      <a:r>
                        <a:rPr lang="en-US" sz="750" b="1" dirty="0">
                          <a:solidFill>
                            <a:srgbClr val="125C60"/>
                          </a:solidFill>
                          <a:latin typeface="Proxima Nova" pitchFamily="34" charset="0"/>
                          <a:ea typeface="Proxima Nova" pitchFamily="34" charset="-122"/>
                          <a:cs typeface="Proxima Nova" pitchFamily="34" charset="-120"/>
                        </a:rPr>
                        <a:t>5.2%</a:t>
                      </a:r>
                      <a:pPr algn="l" indent="0" marL="0">
                        <a:buNone/>
                      </a:pPr>
                      <a:r>
                        <a:rPr lang="en-US" sz="750" dirty="0">
                          <a:solidFill>
                            <a:srgbClr val="231F20"/>
                          </a:solidFill>
                          <a:latin typeface="Proxima Nova" pitchFamily="34" charset="0"/>
                          <a:ea typeface="Proxima Nova" pitchFamily="34" charset="-122"/>
                          <a:cs typeface="Proxima Nova" pitchFamily="34" charset="-120"/>
                        </a:rPr>
                        <a:t> of Anaheim visitor days, a measured starting 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Capture ticket-buyer ZIP codes from the first 2027 shows so OC Vibe's visitors can be measured, not estimated.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OC Vibe attendance, ticketing or hotel data exists yet.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Agree a quarterly data exchange with Visit Anaheim BI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Citywide Tourism Economics totals do not measure OC Vibe.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OC Vibe with its own ticketing, hotel and card data and Datafy's area share, not a share of city totals.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measures visitors and spending for the City of Anaheim; Datafy and Azira measure activity in specific areas, such as the OC Vibe area and District 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tourism</a:t>
            </a:r>
            <a:endParaRPr lang="en-US" sz="1300" dirty="0"/>
          </a:p>
        </p:txBody>
      </p:sp>
      <p:graphicFrame>
        <p:nvGraphicFramePr>
          <p:cNvPr id="221"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Orange County visitors rose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39.0M</a:t>
                      </a:r>
                      <a:pPr algn="l" indent="0" marL="0">
                        <a:buNone/>
                      </a:pPr>
                      <a:r>
                        <a:rPr lang="en-US" sz="750" dirty="0">
                          <a:solidFill>
                            <a:srgbClr val="231F20"/>
                          </a:solidFill>
                          <a:latin typeface="Proxima Nova" pitchFamily="34" charset="0"/>
                          <a:ea typeface="Proxima Nova" pitchFamily="34" charset="-122"/>
                          <a:cs typeface="Proxima Nova" pitchFamily="34" charset="-120"/>
                        </a:rPr>
                        <a:t> (2021) to </a:t>
                      </a:r>
                      <a:pPr algn="l" indent="0" marL="0">
                        <a:buNone/>
                      </a:pPr>
                      <a:r>
                        <a:rPr lang="en-US" sz="750" b="1" dirty="0">
                          <a:solidFill>
                            <a:srgbClr val="125C60"/>
                          </a:solidFill>
                          <a:latin typeface="Proxima Nova" pitchFamily="34" charset="0"/>
                          <a:ea typeface="Proxima Nova" pitchFamily="34" charset="-122"/>
                          <a:cs typeface="Proxima Nova" pitchFamily="34" charset="-120"/>
                        </a:rPr>
                        <a:t>51.3M</a:t>
                      </a:r>
                      <a:pPr algn="l" indent="0" marL="0">
                        <a:buNone/>
                      </a:pPr>
                      <a:r>
                        <a:rPr lang="en-US" sz="750" dirty="0">
                          <a:solidFill>
                            <a:srgbClr val="231F20"/>
                          </a:solidFill>
                          <a:latin typeface="Proxima Nova" pitchFamily="34" charset="0"/>
                          <a:ea typeface="Proxima Nova" pitchFamily="34" charset="-122"/>
                          <a:cs typeface="Proxima Nova" pitchFamily="34" charset="-120"/>
                        </a:rPr>
                        <a:t> (2025),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a:t>
                      </a:r>
                      <a:pPr algn="l" indent="0" marL="0">
                        <a:buNone/>
                      </a:pPr>
                      <a:r>
                        <a:rPr lang="en-US" sz="750" dirty="0">
                          <a:solidFill>
                            <a:srgbClr val="231F20"/>
                          </a:solidFill>
                          <a:latin typeface="Proxima Nova" pitchFamily="34" charset="0"/>
                          <a:ea typeface="Proxima Nova" pitchFamily="34" charset="-122"/>
                          <a:cs typeface="Proxima Nova" pitchFamily="34" charset="-120"/>
                        </a:rPr>
                        <a:t>; visitor spending in 2025p was </a:t>
                      </a:r>
                      <a:pPr algn="l" indent="0" marL="0">
                        <a:buNone/>
                      </a:pPr>
                      <a:r>
                        <a:rPr lang="en-US" sz="750" b="1" dirty="0">
                          <a:solidFill>
                            <a:srgbClr val="125C60"/>
                          </a:solidFill>
                          <a:latin typeface="Proxima Nova" pitchFamily="34" charset="0"/>
                          <a:ea typeface="Proxima Nova" pitchFamily="34" charset="-122"/>
                          <a:cs typeface="Proxima Nova" pitchFamily="34" charset="-120"/>
                        </a:rPr>
                        <a:t>21.5%</a:t>
                      </a:r>
                      <a:pPr algn="l" indent="0" marL="0">
                        <a:buNone/>
                      </a:pPr>
                      <a:r>
                        <a:rPr lang="en-US" sz="750" dirty="0">
                          <a:solidFill>
                            <a:srgbClr val="231F20"/>
                          </a:solidFill>
                          <a:latin typeface="Proxima Nova" pitchFamily="34" charset="0"/>
                          <a:ea typeface="Proxima Nova" pitchFamily="34" charset="-122"/>
                          <a:cs typeface="Proxima Nova" pitchFamily="34" charset="-120"/>
                        </a:rPr>
                        <a:t> above 2019.</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January (</a:t>
                      </a:r>
                      <a:pPr algn="l" indent="0" marL="0">
                        <a:buNone/>
                      </a:pPr>
                      <a:r>
                        <a:rPr lang="en-US" sz="750" b="1" dirty="0">
                          <a:solidFill>
                            <a:srgbClr val="125C60"/>
                          </a:solidFill>
                          <a:latin typeface="Proxima Nova" pitchFamily="34" charset="0"/>
                          <a:ea typeface="Proxima Nova" pitchFamily="34" charset="-122"/>
                          <a:cs typeface="Proxima Nova" pitchFamily="34" charset="-120"/>
                        </a:rPr>
                        <a:t>61.2%</a:t>
                      </a:r>
                      <a:pPr algn="l" indent="0" marL="0">
                        <a:buNone/>
                      </a:pPr>
                      <a:r>
                        <a:rPr lang="en-US" sz="750" dirty="0">
                          <a:solidFill>
                            <a:srgbClr val="231F20"/>
                          </a:solidFill>
                          <a:latin typeface="Proxima Nova" pitchFamily="34" charset="0"/>
                          <a:ea typeface="Proxima Nova" pitchFamily="34" charset="-122"/>
                          <a:cs typeface="Proxima Nova" pitchFamily="34" charset="-120"/>
                        </a:rPr>
                        <a:t>), December (</a:t>
                      </a:r>
                      <a:pPr algn="l" indent="0" marL="0">
                        <a:buNone/>
                      </a:pPr>
                      <a:r>
                        <a:rPr lang="en-US" sz="750" b="1" dirty="0">
                          <a:solidFill>
                            <a:srgbClr val="125C60"/>
                          </a:solidFill>
                          <a:latin typeface="Proxima Nova" pitchFamily="34" charset="0"/>
                          <a:ea typeface="Proxima Nova" pitchFamily="34" charset="-122"/>
                          <a:cs typeface="Proxima Nova" pitchFamily="34" charset="-120"/>
                        </a:rPr>
                        <a:t>68.9%</a:t>
                      </a:r>
                      <a:pPr algn="l" indent="0" marL="0">
                        <a:buNone/>
                      </a:pPr>
                      <a:r>
                        <a:rPr lang="en-US" sz="750" dirty="0">
                          <a:solidFill>
                            <a:srgbClr val="231F20"/>
                          </a:solidFill>
                          <a:latin typeface="Proxima Nova" pitchFamily="34" charset="0"/>
                          <a:ea typeface="Proxima Nova" pitchFamily="34" charset="-122"/>
                          <a:cs typeface="Proxima Nova" pitchFamily="34" charset="-120"/>
                        </a:rPr>
                        <a:t>) and February (</a:t>
                      </a:r>
                      <a:pPr algn="l" indent="0" marL="0">
                        <a:buNone/>
                      </a:pPr>
                      <a:r>
                        <a:rPr lang="en-US" sz="750" b="1" dirty="0">
                          <a:solidFill>
                            <a:srgbClr val="125C60"/>
                          </a:solidFill>
                          <a:latin typeface="Proxima Nova" pitchFamily="34" charset="0"/>
                          <a:ea typeface="Proxima Nova" pitchFamily="34" charset="-122"/>
                          <a:cs typeface="Proxima Nova" pitchFamily="34" charset="-120"/>
                        </a:rPr>
                        <a:t>69.0%</a:t>
                      </a:r>
                      <a:pPr algn="l" indent="0" marL="0">
                        <a:buNone/>
                      </a:pPr>
                      <a:r>
                        <a:rPr lang="en-US" sz="750" dirty="0">
                          <a:solidFill>
                            <a:srgbClr val="231F20"/>
                          </a:solidFill>
                          <a:latin typeface="Proxima Nova" pitchFamily="34" charset="0"/>
                          <a:ea typeface="Proxima Nova" pitchFamily="34" charset="-122"/>
                          <a:cs typeface="Proxima Nova" pitchFamily="34" charset="-120"/>
                        </a:rPr>
                        <a:t>) are the most open hotel months (2023-2025 averages).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OC Vibe events that draw overnight guests in those months and share dates with Visit Anaheim for hotel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2019 CIC profile answers purpose, party size and children for both Orange County and Anaheim.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it now as the labeled 2019 baseline in ECA's study; it is in the Reports and data library.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Orange County visitor count is published for 2020 or 2026 year to date, and the two visitor series use different methods.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Request 2019-2020 and 2026 county estimates from Tourism Economics; until they arrive, show Anaheim's Jan.-June 2026 count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and county hotel data as the current read.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Los Angeles-Long Beach-Anaheim metro area includes Orange County, so 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44.7%</a:t>
                      </a:r>
                      <a:pPr algn="l" indent="0" marL="0">
                        <a:buNone/>
                      </a:pPr>
                      <a:r>
                        <a:rPr lang="en-US" sz="750" dirty="0">
                          <a:solidFill>
                            <a:srgbClr val="231F20"/>
                          </a:solidFill>
                          <a:latin typeface="Proxima Nova" pitchFamily="34" charset="0"/>
                          <a:ea typeface="Proxima Nova" pitchFamily="34" charset="-122"/>
                          <a:cs typeface="Proxima Nova" pitchFamily="34" charset="-120"/>
                        </a:rPr>
                        <a:t> share mixes local and Los Angeles County trips; Azira has no ZIP codes.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metro-level shares with that note; a county or ZIP origin split would require a custom pull from Symphony or a new survey.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length of stay and distance shares shifted in 2026 (trips under 50 miles rose to </a:t>
                      </a:r>
                      <a:pPr algn="l" indent="0" marL="0">
                        <a:buNone/>
                      </a:pPr>
                      <a:r>
                        <a:rPr lang="en-US" sz="750" b="1" dirty="0">
                          <a:solidFill>
                            <a:srgbClr val="125C60"/>
                          </a:solidFill>
                          <a:latin typeface="Proxima Nova" pitchFamily="34" charset="0"/>
                          <a:ea typeface="Proxima Nova" pitchFamily="34" charset="-122"/>
                          <a:cs typeface="Proxima Nova" pitchFamily="34" charset="-120"/>
                        </a:rPr>
                        <a:t>73.9%-83.4%</a:t>
                      </a:r>
                      <a:pPr algn="l" indent="0" marL="0">
                        <a:buNone/>
                      </a:pPr>
                      <a:r>
                        <a:rPr lang="en-US" sz="750" dirty="0">
                          <a:solidFill>
                            <a:srgbClr val="231F20"/>
                          </a:solidFill>
                          <a:latin typeface="Proxima Nova" pitchFamily="34" charset="0"/>
                          <a:ea typeface="Proxima Nova" pitchFamily="34" charset="-122"/>
                          <a:cs typeface="Proxima Nova" pitchFamily="34" charset="-120"/>
                        </a:rPr>
                        <a:t>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59%-66%</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Treat 2026 Azira trends as a method change until Symphony confirms; compare within 2026 only.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Anaheim and OC Vibe today: Tourism Economics, Anaheim Travel Forecast (Sept. 2026); Datafy Anaheim visitor report (calendar 2024) | Orange County tourism: Tourism Economics, Economic Impact of Visitors to Orange County, 2025 (pub. May 2026); Dean Runyan Associates for Visit California, The Economic Impact of Travel in California, 2025p (Apr. 2026), Orange County detail;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Who visits</a:t>
            </a:r>
            <a:endParaRPr lang="en-US" sz="13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85.8%</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stay overnight.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44%</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5's domestic visitors come from outside California; fly-in markets include Seattle, Phoenix, Las Vegas, Orlando and New York.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Package OC Vibe with Anaheim Resort stays (</a:t>
                      </a:r>
                      <a:pPr algn="l" indent="0" marL="0">
                        <a:buNone/>
                      </a:pPr>
                      <a:r>
                        <a:rPr lang="en-US" sz="750" b="1" dirty="0">
                          <a:solidFill>
                            <a:srgbClr val="125C60"/>
                          </a:solidFill>
                          <a:latin typeface="Proxima Nova" pitchFamily="34" charset="0"/>
                          <a:ea typeface="Proxima Nova" pitchFamily="34" charset="-122"/>
                          <a:cs typeface="Proxima Nova" pitchFamily="34" charset="-120"/>
                        </a:rPr>
                        <a:t>13.7%</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go there).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restaurant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19.1%</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menus and promotions aimed at Mexico and Canada visitors, the largest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Datafy and Visa count visitors differently.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Compare trends within each source, not levels across sources.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counts devices seen in District 5 (sample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1,003,735,</a:t>
                      </a:r>
                      <a:pPr algn="l" indent="0" marL="0">
                        <a:buNone/>
                      </a:pPr>
                      <a:r>
                        <a:rPr lang="en-US" sz="750" dirty="0">
                          <a:solidFill>
                            <a:srgbClr val="231F20"/>
                          </a:solidFill>
                          <a:latin typeface="Proxima Nova" pitchFamily="34" charset="0"/>
                          <a:ea typeface="Proxima Nova" pitchFamily="34" charset="-122"/>
                          <a:cs typeface="Proxima Nova" pitchFamily="34" charset="-120"/>
                        </a:rPr>
                        <a:t> Jan.–May 2026); Datafy measures Anaheim visitor days in 2024. Both describe the area before OC Vibe's new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spending</a:t>
            </a:r>
            <a:endParaRPr lang="en-US" sz="1300" dirty="0"/>
          </a:p>
        </p:txBody>
      </p:sp>
      <p:graphicFrame>
        <p:nvGraphicFramePr>
          <p:cNvPr id="223"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grows faster than visits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+4.1%</a:t>
                      </a:r>
                      <a:pPr algn="l" indent="0" marL="0">
                        <a:buNone/>
                      </a:pPr>
                      <a:r>
                        <a:rPr lang="en-US" sz="750" dirty="0">
                          <a:solidFill>
                            <a:srgbClr val="231F20"/>
                          </a:solidFill>
                          <a:latin typeface="Proxima Nova" pitchFamily="34" charset="0"/>
                          <a:ea typeface="Proxima Nova" pitchFamily="34" charset="-122"/>
                          <a:cs typeface="Proxima Nova" pitchFamily="34" charset="-120"/>
                        </a:rPr>
                        <a:t> vs. </a:t>
                      </a:r>
                      <a:pPr algn="l" indent="0" marL="0">
                        <a:buNone/>
                      </a:pPr>
                      <a:r>
                        <a:rPr lang="en-US" sz="750" b="1" dirty="0">
                          <a:solidFill>
                            <a:srgbClr val="125C60"/>
                          </a:solidFill>
                          <a:latin typeface="Proxima Nova" pitchFamily="34" charset="0"/>
                          <a:ea typeface="Proxima Nova" pitchFamily="34" charset="-122"/>
                          <a:cs typeface="Proxima Nova" pitchFamily="34" charset="-120"/>
                        </a:rPr>
                        <a:t>+1.4%</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to 2028), so spending per visitor rises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Visa spending per card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4.7% to $85</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 visitors are spending more per trip.</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Price OC Vibe dining and event packages for visitors, not only locals.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card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5.0%</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Feature OC Vibe in Visit Anaheim's Mexico, Canada and Japan efforts, the top three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prices can inflate spending without more visitors.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Track visits and spending per visitor together, not spending alone.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grows faster than visits because spending per trip rises with prices (Anaheim inflation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3.2%</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while visitor counts grow slowly.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Who visits: Azira via Symphony (District 5, Jan. 1–May 31, 2026; domestic visitors, Aug. 2026); Azira via Symphony (District 5, Jan. 1–May 31, 2026; domestic visitors, Aug. 2026); Visa Destination Insights via Symphony (Aug. 2026 vs. Aug. 2025) | Visitor spending: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Jobs and economy</a:t>
            </a:r>
            <a:endParaRPr lang="en-US" sz="13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grew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2025; jobs supported reached </a:t>
                      </a:r>
                      <a:pPr algn="l" indent="0" marL="0">
                        <a:buNone/>
                      </a:pPr>
                      <a:r>
                        <a:rPr lang="en-US" sz="750" b="1" dirty="0">
                          <a:solidFill>
                            <a:srgbClr val="125C60"/>
                          </a:solidFill>
                          <a:latin typeface="Proxima Nova" pitchFamily="34" charset="0"/>
                          <a:ea typeface="Proxima Nova" pitchFamily="34" charset="-122"/>
                          <a:cs typeface="Proxima Nova" pitchFamily="34" charset="-120"/>
                        </a:rPr>
                        <a:t>67,817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Food and beverage was the fastest-growing category (</a:t>
                      </a:r>
                      <a:pPr algn="l" indent="0" marL="0">
                        <a:buNone/>
                      </a:pPr>
                      <a:r>
                        <a:rPr lang="en-US" sz="750" b="1" dirty="0">
                          <a:solidFill>
                            <a:srgbClr val="125C60"/>
                          </a:solidFill>
                          <a:latin typeface="Proxima Nova" pitchFamily="34" charset="0"/>
                          <a:ea typeface="Proxima Nova" pitchFamily="34" charset="-122"/>
                          <a:cs typeface="Proxima Nova" pitchFamily="34" charset="-120"/>
                        </a:rPr>
                        <a:t>+5.5%</a:t>
                      </a:r>
                      <a:pPr algn="l" indent="0" marL="0">
                        <a:buNone/>
                      </a:pPr>
                      <a:r>
                        <a:rPr lang="en-US" sz="750" dirty="0">
                          <a:solidFill>
                            <a:srgbClr val="231F20"/>
                          </a:solidFill>
                          <a:latin typeface="Proxima Nova" pitchFamily="34" charset="0"/>
                          <a:ea typeface="Proxima Nova" pitchFamily="34" charset="-122"/>
                          <a:cs typeface="Proxima Nova" pitchFamily="34" charset="-120"/>
                        </a:rPr>
                        <a:t>) and OC Vibe plans 35+ restaurants.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Recruit restaurant staff through local hospitality programs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Labor costs are rising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Plan staffing and pricing with those costs built in; cross-train staff across venues.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Applying Anaheim's average ratios to a different mix of spending can misstate jobs.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Refine with OC Vibe's actual category mix once venues report sales.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converts visitor spending into direct, indirect and induced jobs and taxes; Anaheim's 2025 ratio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$1.53</a:t>
                      </a:r>
                      <a:pPr algn="l" indent="0" marL="0">
                        <a:buNone/>
                      </a:pPr>
                      <a:r>
                        <a:rPr lang="en-US" sz="750" dirty="0">
                          <a:solidFill>
                            <a:srgbClr val="231F20"/>
                          </a:solidFill>
                          <a:latin typeface="Proxima Nova" pitchFamily="34" charset="0"/>
                          <a:ea typeface="Proxima Nova" pitchFamily="34" charset="-122"/>
                          <a:cs typeface="Proxima Nova" pitchFamily="34" charset="-120"/>
                        </a:rPr>
                        <a:t> of total impact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market</a:t>
            </a:r>
            <a:endParaRPr lang="en-US" sz="1300" dirty="0"/>
          </a:p>
        </p:txBody>
      </p:sp>
      <p:graphicFrame>
        <p:nvGraphicFramePr>
          <p:cNvPr id="225"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Resort-area hotel revenue per room was up in 8 of 8 months of 2026 (</a:t>
                      </a:r>
                      <a:pPr algn="l" indent="0" marL="0">
                        <a:buNone/>
                      </a:pPr>
                      <a:r>
                        <a:rPr lang="en-US" sz="750" b="1" dirty="0">
                          <a:solidFill>
                            <a:srgbClr val="125C60"/>
                          </a:solidFill>
                          <a:latin typeface="Proxima Nova" pitchFamily="34" charset="0"/>
                          <a:ea typeface="Proxima Nova" pitchFamily="34" charset="-122"/>
                          <a:cs typeface="Proxima Nova" pitchFamily="34" charset="-120"/>
                        </a:rPr>
                        <a:t>+10.9%</a:t>
                      </a:r>
                      <a:pPr algn="l" indent="0" marL="0">
                        <a:buNone/>
                      </a:pPr>
                      <a:r>
                        <a:rPr lang="en-US" sz="750" dirty="0">
                          <a:solidFill>
                            <a:srgbClr val="231F20"/>
                          </a:solidFill>
                          <a:latin typeface="Proxima Nova" pitchFamily="34" charset="0"/>
                          <a:ea typeface="Proxima Nova" pitchFamily="34" charset="-122"/>
                          <a:cs typeface="Proxima Nova" pitchFamily="34" charset="-120"/>
                        </a:rPr>
                        <a:t> year to date).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Sunday–Monday occupancy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750" dirty="0">
                          <a:solidFill>
                            <a:srgbClr val="231F20"/>
                          </a:solidFill>
                          <a:latin typeface="Proxima Nova" pitchFamily="34" charset="0"/>
                          <a:ea typeface="Proxima Nova" pitchFamily="34" charset="-122"/>
                          <a:cs typeface="Proxima Nova" pitchFamily="34" charset="-120"/>
                        </a:rPr>
                        <a:t> below Friday–Saturday; each point is worth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$5.1M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Sunday shows and Monday conventions-plus-concert nights.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Construction and financing costs limit new hotels (</a:t>
                      </a:r>
                      <a:pPr algn="l" indent="0" marL="0">
                        <a:buNone/>
                      </a:pPr>
                      <a:r>
                        <a:rPr lang="en-US" sz="75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750" dirty="0">
                          <a:solidFill>
                            <a:srgbClr val="231F20"/>
                          </a:solidFill>
                          <a:latin typeface="Proxima Nova" pitchFamily="34" charset="0"/>
                          <a:ea typeface="Proxima Nova" pitchFamily="34" charset="-122"/>
                          <a:cs typeface="Proxima Nova" pitchFamily="34" charset="-120"/>
                        </a:rPr>
                        <a:t> under construction countywide).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Phase OC Vibe's hotels with pre-sold group blocks from the convention center.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Pricing OC Vibe hotels at resort-area rates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without resort-area demand.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Benchmark against both the Anaheim (</a:t>
                      </a:r>
                      <a:pPr algn="l" indent="0" marL="0">
                        <a:buNone/>
                      </a:pPr>
                      <a:r>
                        <a:rPr lang="en-US" sz="750" b="1" dirty="0">
                          <a:solidFill>
                            <a:srgbClr val="125C60"/>
                          </a:solidFill>
                          <a:latin typeface="Proxima Nova" pitchFamily="34" charset="0"/>
                          <a:ea typeface="Proxima Nova" pitchFamily="34" charset="-122"/>
                          <a:cs typeface="Proxima Nova" pitchFamily="34" charset="-120"/>
                        </a:rPr>
                        <a:t>$130</a:t>
                      </a:r>
                      <a:pPr algn="l" indent="0" marL="0">
                        <a:buNone/>
                      </a:pPr>
                      <a:r>
                        <a:rPr lang="en-US" sz="750" dirty="0">
                          <a:solidFill>
                            <a:srgbClr val="231F20"/>
                          </a:solidFill>
                          <a:latin typeface="Proxima Nova" pitchFamily="34" charset="0"/>
                          <a:ea typeface="Proxima Nova" pitchFamily="34" charset="-122"/>
                          <a:cs typeface="Proxima Nova" pitchFamily="34" charset="-120"/>
                        </a:rPr>
                        <a:t>) and Disneyland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submarkets and adjust by night of week.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covers submarkets and STR covers Visit Anaheim's hotel sets; the two use different hotels, so compare trends, not levels.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Jobs and economy: Tourism Economics, Economic Impact 2025 (pub. Apr.–May 2026); Tourism Economics, Economic Impact 2025 (pub. Apr.–May 2026); City of Anaheim OCVibe page (2026); OCVIBE fact sheet (Apr. 2024) | Hotel market: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a:t>
            </a:r>
            <a:endParaRPr lang="en-US" sz="13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Each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Two in three Anaheim visitors (</a:t>
                      </a:r>
                      <a:pPr algn="l" indent="0" marL="0">
                        <a:buNone/>
                      </a:pPr>
                      <a:r>
                        <a:rPr lang="en-US" sz="750" b="1" dirty="0">
                          <a:solidFill>
                            <a:srgbClr val="125C60"/>
                          </a:solidFill>
                          <a:latin typeface="Proxima Nova" pitchFamily="34" charset="0"/>
                          <a:ea typeface="Proxima Nova" pitchFamily="34" charset="-122"/>
                          <a:cs typeface="Proxima Nova" pitchFamily="34" charset="-120"/>
                        </a:rPr>
                        <a:t>67.5%</a:t>
                      </a:r>
                      <a:pPr algn="l" indent="0" marL="0">
                        <a:buNone/>
                      </a:pPr>
                      <a:r>
                        <a:rPr lang="en-US" sz="750" dirty="0">
                          <a:solidFill>
                            <a:srgbClr val="231F20"/>
                          </a:solidFill>
                          <a:latin typeface="Proxima Nova" pitchFamily="34" charset="0"/>
                          <a:ea typeface="Proxima Nova" pitchFamily="34" charset="-122"/>
                          <a:cs typeface="Proxima Nova" pitchFamily="34" charset="-120"/>
                        </a:rPr>
                        <a:t>) are day visitors who could be converted to overnight stays.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Bundle evening shows with hotel nights and late checkout.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OC Vibe's own hotels do not open until 2028.</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Partner with nearby Anaheim hotels for 2027 show-and-stay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$3.15B</a:t>
                      </a:r>
                      <a:pPr algn="l" indent="0" marL="0">
                        <a:buNone/>
                      </a:pPr>
                      <a:r>
                        <a:rPr lang="en-US" sz="750" dirty="0">
                          <a:solidFill>
                            <a:srgbClr val="231F20"/>
                          </a:solidFill>
                          <a:latin typeface="Proxima Nova" pitchFamily="34" charset="0"/>
                          <a:ea typeface="Proxima Nova" pitchFamily="34" charset="-122"/>
                          <a:cs typeface="Proxima Nova" pitchFamily="34" charset="-120"/>
                        </a:rPr>
                        <a:t> upper bound assumes every visitor adds a 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lodging figure or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-step values when planning.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divides 2025 lodging spending (</a:t>
                      </a:r>
                      <a:pPr algn="l" indent="0" marL="0">
                        <a:buNone/>
                      </a:pPr>
                      <a:r>
                        <a:rPr lang="en-US" sz="750" b="1" dirty="0">
                          <a:solidFill>
                            <a:srgbClr val="125C60"/>
                          </a:solidFill>
                          <a:latin typeface="Proxima Nova" pitchFamily="34" charset="0"/>
                          <a:ea typeface="Proxima Nova" pitchFamily="34" charset="-122"/>
                          <a:cs typeface="Proxima Nova" pitchFamily="34" charset="-120"/>
                        </a:rPr>
                        <a:t>$1.72B</a:t>
                      </a:r>
                      <a:pPr algn="l" indent="0" marL="0">
                        <a:buNone/>
                      </a:pPr>
                      <a:r>
                        <a:rPr lang="en-US" sz="750" dirty="0">
                          <a:solidFill>
                            <a:srgbClr val="231F20"/>
                          </a:solidFill>
                          <a:latin typeface="Proxima Nova" pitchFamily="34" charset="0"/>
                          <a:ea typeface="Proxima Nova" pitchFamily="34" charset="-122"/>
                          <a:cs typeface="Proxima Nova" pitchFamily="34" charset="-120"/>
                        </a:rPr>
                        <a:t>) by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2.17</a:t>
                      </a:r>
                      <a:pPr algn="l" indent="0" marL="0">
                        <a:buNone/>
                      </a:pPr>
                      <a:r>
                        <a:rPr lang="en-US" sz="750" dirty="0">
                          <a:solidFill>
                            <a:srgbClr val="231F20"/>
                          </a:solidFill>
                          <a:latin typeface="Proxima Nova" pitchFamily="34" charset="0"/>
                          <a:ea typeface="Proxima Nova" pitchFamily="34" charset="-122"/>
                          <a:cs typeface="Proxima Nova" pitchFamily="34" charset="-120"/>
                        </a:rPr>
                        <a:t>-day average stay; it assumes spending per night stays the same.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Getting here</a:t>
            </a:r>
            <a:endParaRPr lang="en-US" sz="1300" dirty="0"/>
          </a:p>
        </p:txBody>
      </p:sp>
      <p:graphicFrame>
        <p:nvGraphicFramePr>
          <p:cNvPr id="227"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Metrolink's Orange County Line weekday riders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15.6 million</a:t>
                      </a:r>
                      <a:pPr algn="l" indent="0" marL="0">
                        <a:buNone/>
                      </a:pPr>
                      <a:r>
                        <a:rPr lang="en-US" sz="750" dirty="0">
                          <a:solidFill>
                            <a:srgbClr val="231F20"/>
                          </a:solidFill>
                          <a:latin typeface="Proxima Nova" pitchFamily="34" charset="0"/>
                          <a:ea typeface="Proxima Nova" pitchFamily="34" charset="-122"/>
                          <a:cs typeface="Proxima Nova" pitchFamily="34" charset="-120"/>
                        </a:rPr>
                        <a:t> people live within 50 miles of the ARTIC rail station.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Publish one 'getting to OC Vibe' page with parking, bus, Amtrak and Metrolink options.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Only 11 buses leave ARTIC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Ask OCTA for event-night extra trips; set rideshare zones at ARTIC.</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Honda Center and the concert hall can both hold events on the same night, while late transit is thin (11 buses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Coordinate event start times and parking plans with Honda Center, and ask OCTA for event-night service.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Driving dominates because most visitors live within 50 miles and county transit riders fell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70.7M</a:t>
                      </a:r>
                      <a:pPr algn="l" indent="0" marL="0">
                        <a:buNone/>
                      </a:pPr>
                      <a:r>
                        <a:rPr lang="en-US" sz="750" dirty="0">
                          <a:solidFill>
                            <a:srgbClr val="231F20"/>
                          </a:solidFill>
                          <a:latin typeface="Proxima Nova" pitchFamily="34" charset="0"/>
                          <a:ea typeface="Proxima Nova" pitchFamily="34" charset="-122"/>
                          <a:cs typeface="Proxima Nova" pitchFamily="34" charset="-120"/>
                        </a:rPr>
                        <a:t> in 2007 to 43.8M in 2017; driving cost </a:t>
                      </a:r>
                      <a:pPr algn="l" indent="0" marL="0">
                        <a:buNone/>
                      </a:pPr>
                      <a:r>
                        <a:rPr lang="en-US" sz="750" b="1" dirty="0">
                          <a:solidFill>
                            <a:srgbClr val="125C60"/>
                          </a:solidFill>
                          <a:latin typeface="Proxima Nova" pitchFamily="34" charset="0"/>
                          <a:ea typeface="Proxima Nova" pitchFamily="34" charset="-122"/>
                          <a:cs typeface="Proxima Nova" pitchFamily="34" charset="-120"/>
                        </a:rPr>
                        <a:t>$0.82</a:t>
                      </a:r>
                      <a:pPr algn="l" indent="0" marL="0">
                        <a:buNone/>
                      </a:pPr>
                      <a:r>
                        <a:rPr lang="en-US" sz="750" dirty="0">
                          <a:solidFill>
                            <a:srgbClr val="231F20"/>
                          </a:solidFill>
                          <a:latin typeface="Proxima Nova" pitchFamily="34" charset="0"/>
                          <a:ea typeface="Proxima Nova" pitchFamily="34" charset="-122"/>
                          <a:cs typeface="Proxima Nova" pitchFamily="34" charset="-120"/>
                        </a:rPr>
                        <a:t> a mile in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One more night: Visit Anaheim BI, Extra Night study (2025 inputs; recalculated Oct. 12, 2026); Tourism Economics, Economic Impact 2025 (pub. Apr.–May 2026) | Getting here: Amtrak ANA fact sheet (2024 data; pub. Oct. 27, 2025); Metrolink FY26 Q2 (Oct.–Dec. 2025); OCTA Traffic Flow Map (pub. Aug. 2026) and bus schedules (Aug. 9–Nov. 7,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Marketing reach</a:t>
            </a:r>
            <a:endParaRPr lang="en-US" sz="13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Paid media drove </a:t>
                      </a:r>
                      <a:pPr algn="l" indent="0" marL="0">
                        <a:buNone/>
                      </a:pPr>
                      <a:r>
                        <a:rPr lang="en-US" sz="750" b="1" dirty="0">
                          <a:solidFill>
                            <a:srgbClr val="125C60"/>
                          </a:solidFill>
                          <a:latin typeface="Proxima Nova" pitchFamily="34" charset="0"/>
                          <a:ea typeface="Proxima Nova" pitchFamily="34" charset="-122"/>
                          <a:cs typeface="Proxima Nova" pitchFamily="34" charset="-120"/>
                        </a:rPr>
                        <a:t>368,416</a:t>
                      </a:r>
                      <a:pPr algn="l" indent="0" marL="0">
                        <a:buNone/>
                      </a:pPr>
                      <a:r>
                        <a:rPr lang="en-US" sz="750" dirty="0">
                          <a:solidFill>
                            <a:srgbClr val="231F20"/>
                          </a:solidFill>
                          <a:latin typeface="Proxima Nova" pitchFamily="34" charset="0"/>
                          <a:ea typeface="Proxima Nova" pitchFamily="34" charset="-122"/>
                          <a:cs typeface="Proxima Nova" pitchFamily="34" charset="-120"/>
                        </a:rPr>
                        <a:t> observed visits in eight months of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Luxury placements returned </a:t>
                      </a:r>
                      <a:pPr algn="l" indent="0" marL="0">
                        <a:buNone/>
                      </a:pPr>
                      <a:r>
                        <a:rPr lang="en-US" sz="750" b="1" dirty="0">
                          <a:solidFill>
                            <a:srgbClr val="125C60"/>
                          </a:solidFill>
                          <a:latin typeface="Proxima Nova" pitchFamily="34" charset="0"/>
                          <a:ea typeface="Proxima Nova" pitchFamily="34" charset="-122"/>
                          <a:cs typeface="Proxima Nova" pitchFamily="34" charset="-120"/>
                        </a:rPr>
                        <a:t>34.4</a:t>
                      </a:r>
                      <a:pPr algn="l" indent="0" marL="0">
                        <a:buNone/>
                      </a:pPr>
                      <a:r>
                        <a:rPr lang="en-US" sz="75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1,000</a:t>
                      </a:r>
                      <a:pPr algn="l" indent="0" marL="0">
                        <a:buNone/>
                      </a:pPr>
                      <a:r>
                        <a:rPr lang="en-US" sz="750" dirty="0">
                          <a:solidFill>
                            <a:srgbClr val="231F20"/>
                          </a:solidFill>
                          <a:latin typeface="Proxima Nova" pitchFamily="34" charset="0"/>
                          <a:ea typeface="Proxima Nova" pitchFamily="34" charset="-122"/>
                          <a:cs typeface="Proxima Nova" pitchFamily="34" charset="-120"/>
                        </a:rPr>
                        <a:t> impressions, nearly three times the average.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Add OC Vibe venues and dining to Visit Anaheim's luxury and travel-planning content.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arrive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39 days</a:t>
                      </a:r>
                      <a:pPr algn="l" indent="0" marL="0">
                        <a:buNone/>
                      </a:pPr>
                      <a:r>
                        <a:rPr lang="en-US" sz="750" dirty="0">
                          <a:solidFill>
                            <a:srgbClr val="231F20"/>
                          </a:solidFill>
                          <a:latin typeface="Proxima Nova" pitchFamily="34" charset="0"/>
                          <a:ea typeface="Proxima Nova" pitchFamily="34" charset="-122"/>
                          <a:cs typeface="Proxima Nova" pitchFamily="34" charset="-120"/>
                        </a:rPr>
                        <a:t> after an 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Share OC Vibe event calendars six to eight weeks ahead.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shows association, not proof that an ad caused a visit.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control markets or holdout tests for key campaigns.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matches devices that saw an ad with devices later seen in Anaheim; it measures visits after exposure, not proof the ad caused them.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 outlook</a:t>
            </a:r>
            <a:endParaRPr lang="en-US" sz="1300" dirty="0"/>
          </a:p>
        </p:txBody>
      </p:sp>
      <p:graphicFrame>
        <p:nvGraphicFramePr>
          <p:cNvPr id="229"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Q2 2026 hotel revenue per room </a:t>
                      </a:r>
                      <a:pPr algn="l" indent="0" marL="0">
                        <a:buNone/>
                      </a:pPr>
                      <a:r>
                        <a:rPr lang="en-US" sz="750" b="1" dirty="0">
                          <a:solidFill>
                            <a:srgbClr val="125C60"/>
                          </a:solidFill>
                          <a:latin typeface="Proxima Nova" pitchFamily="34" charset="0"/>
                          <a:ea typeface="Proxima Nova" pitchFamily="34" charset="-122"/>
                          <a:cs typeface="Proxima Nova" pitchFamily="34" charset="-120"/>
                        </a:rPr>
                        <a:t>+11.4%</a:t>
                      </a:r>
                      <a:pPr algn="l" indent="0" marL="0">
                        <a:buNone/>
                      </a:pPr>
                      <a:r>
                        <a:rPr lang="en-US" sz="750" dirty="0">
                          <a:solidFill>
                            <a:srgbClr val="231F20"/>
                          </a:solidFill>
                          <a:latin typeface="Proxima Nova" pitchFamily="34" charset="0"/>
                          <a:ea typeface="Proxima Nova" pitchFamily="34" charset="-122"/>
                          <a:cs typeface="Proxima Nova" pitchFamily="34" charset="-120"/>
                        </a:rPr>
                        <a:t>, double the U.S. (</a:t>
                      </a:r>
                      <a:pPr algn="l" indent="0" marL="0">
                        <a:buNone/>
                      </a:pPr>
                      <a:r>
                        <a:rPr lang="en-US" sz="750" b="1" dirty="0">
                          <a:solidFill>
                            <a:srgbClr val="125C60"/>
                          </a:solidFill>
                          <a:latin typeface="Proxima Nova" pitchFamily="34" charset="0"/>
                          <a:ea typeface="Proxima Nova" pitchFamily="34" charset="-122"/>
                          <a:cs typeface="Proxima Nova" pitchFamily="34" charset="-120"/>
                        </a:rPr>
                        <a:t>+5.7%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Convention room nights pace </a:t>
                      </a:r>
                      <a:pPr algn="l" indent="0" marL="0">
                        <a:buNone/>
                      </a:pPr>
                      <a:r>
                        <a:rPr lang="en-US" sz="750" b="1" dirty="0">
                          <a:solidFill>
                            <a:srgbClr val="125C60"/>
                          </a:solidFill>
                          <a:latin typeface="Proxima Nova" pitchFamily="34" charset="0"/>
                          <a:ea typeface="Proxima Nova" pitchFamily="34" charset="-122"/>
                          <a:cs typeface="Proxima Nova" pitchFamily="34" charset="-120"/>
                        </a:rPr>
                        <a:t>+17%</a:t>
                      </a:r>
                      <a:pPr algn="l" indent="0" marL="0">
                        <a:buNone/>
                      </a:pPr>
                      <a:r>
                        <a:rPr lang="en-US" sz="750" dirty="0">
                          <a:solidFill>
                            <a:srgbClr val="231F20"/>
                          </a:solidFill>
                          <a:latin typeface="Proxima Nova" pitchFamily="34" charset="0"/>
                          <a:ea typeface="Proxima Nova" pitchFamily="34" charset="-122"/>
                          <a:cs typeface="Proxima Nova" pitchFamily="34" charset="-120"/>
                        </a:rPr>
                        <a:t> for 2027, the year OC Vibe's first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convention groups OC Vibe evening events in 2027 sales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2026 World Cup makes Q2–Q3 2027 a tough comparison.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Set 2027 targets against 2025 as well as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gas prices and airfares, a possible federal shutdown and slower job growth could soften travel.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Lean on drive markets within 90 miles and flexible, refundable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Booking pace compares convention room nights on the books with the same point a year earlier; LARC combines CoStar hotel data, Moody's economics and Visit Anaheim pacing.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Marketing reach: Azira media attribution via Symphony (ad exposures Jan. 1–Aug. 31, 2026) | Market outlook: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one-pagers, 2025: Orange County,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Annual Profile of Visitors to Anaheim and Orange County,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Research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2019; visitor volume 2009-2019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The Economic Impact of Travel in California,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2015-2025p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Impacts by Assembly District,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Forecast data,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2019-2030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State and Regional Lodging Forecast,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2013-2029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Travel Indicators,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8,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Resident Sentiment on Travel and Tourism, 2022-2025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 (Omnitrak)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2022-2025 survey waves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Mar. 24,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length of stay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distance share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metro area (MSA),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TV market (DMA),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international average length of stay,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Sept. 2026 (Q2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Q2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June 2026 (Q1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Q1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study (Extra Night Calculation)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recalculated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workbook (TID Request data)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 (Symphony, STR, Simpleview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2020–2025; hotel nights July 2024–2025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Jan. 20,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District 5 visitor profile (POI Analysis)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1–May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Domestic visitors to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Visitor card spending by visitor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International card activity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 tables export, Anaheim, 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1–Dec. 31, 2025 (trends 2023–2025)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Feb. 17,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Marketing attribution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Media attribution summary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 attribution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Exposures Jan. 1–Aug.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Disneyland hospitality submarket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capital markets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submarket export,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Processed 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daily hotel data, Visit Anaheim hotel sets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1–Oct. 3, 2026, daily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1Q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2Q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3Q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Jan.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Apr.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June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July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Sept.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 Traffic Flow Map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Counts 2021–2024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OCTA bus schedules (GTFS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Service Aug. 9–Nov. 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ZIP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Amtrak service in Anaheim, CA (ANA)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Rail Passengers Association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2018–2024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27,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fact sheet, 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(SCRRA)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Oct.–Dec.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American Community Survey (year not stated)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data: demographics and the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As in the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Transportation Economic Trends: table guide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All TET tables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Accessed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total passengers by mode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(third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Destination program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Program of Experiences, 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report (PDF)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deck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Questions answered: Anaheim, Orange County and U.S.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14,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Public sources used (links)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Published by others and linked rather than hosted</a:t>
            </a:r>
            <a:endParaRPr lang="en-US" sz="1200" dirty="0"/>
          </a:p>
        </p:txBody>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4023360"/>
                <a:gridCol w="3230575"/>
              </a:tblGrid>
              <a:tr h="54864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What it is used for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The Economic Impact of Travel in California, 2025p (Dean Runyan Associates, Apr. 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California and Orange County travel spending, jobs and taxes; statewide spending on local transportation, gas and visitor air.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https://www.visitvisalia.com//caeconomicimpactreport_2025-low-res.pdf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 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travel spending ($1.360T in 2025) and trips (2.46B), real 2025 dollars.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https://www.ustravel.org/sites/default/files/2026-05/US_Travel-Forecast_Spring26.pdf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Economic Impact of the U.S. Travel Industry (2025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jobs supported (15M+), economic output ($3.0T) and state and local taxes ($92B).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https://www.ustravel.org/sites/default/files/media_root/economic-impact/pdf/DCH26_EconImp_National_FIN.pdf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2025 report summary (Rural County Representatives of California,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of the statewide 2025 results.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https://www.rcrcnet.org/general/visit-california-releases-2025-economic-impact-report-a-story-of-resilience/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 Transportation Economic Trends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 prices, airfares and car costs, 2019–2025 (Tables 3.1, 3.4, 6.6).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https://data.bts.gov/resource/tcq5-4pgu.json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Economic Analysis: Travel and Tourism Satellite Account, 2018–2023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National tourism output ($1.52T direct, 2023) and 6.5M direct tourism jobs.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https://apps.bea.gov/scb/issues/2025/02-february/0225-travel-tourism-satellite-account.htm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Accessed dates as listed.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Visit Anaheim data can help OC Vibe succeed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Recommendations from Visit Anaheim BI · for discussion</a:t>
            </a:r>
            <a:endParaRPr lang="en-US" sz="1200" dirty="0"/>
          </a:p>
        </p:txBody>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2011680"/>
                <a:gridCol w="1645920"/>
                <a:gridCol w="2743200"/>
                <a:gridCol w="2039112"/>
              </a:tblGrid>
              <a:tr h="53035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What to do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we'll measure it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Share ticket-buyer ZIP codes and hotel package results with Visit 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ticketing and hotels;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the first 2027 shows;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No OC Vibe visitor data exists yet; ZIP codes and hotel results measure OC Vibe's visitors directly instead of estimating them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Share of attendees from 50+ miles; extra nights booked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Program evening events with hotel packages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venues; Anaheim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2027 (partner hotels); 2028 (OC Vibe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t>
                      </a:r>
                      <a:pPr algn="l" indent="0" marL="0">
                        <a:buNone/>
                      </a:pPr>
                      <a:r>
                        <a:rPr lang="en-US" sz="900" b="1" dirty="0">
                          <a:solidFill>
                            <a:srgbClr val="125C60"/>
                          </a:solidFill>
                          <a:latin typeface="Proxima Nova" pitchFamily="34" charset="0"/>
                          <a:ea typeface="Proxima Nova" pitchFamily="34" charset="-122"/>
                          <a:cs typeface="Proxima Nova" pitchFamily="34" charset="-120"/>
                        </a:rPr>
                        <a:t>1%</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$31.5M</a:t>
                      </a:r>
                      <a:pPr algn="l" indent="0" marL="0">
                        <a:buNone/>
                      </a:pPr>
                      <a:r>
                        <a:rPr lang="en-US" sz="900" dirty="0">
                          <a:solidFill>
                            <a:srgbClr val="231F20"/>
                          </a:solidFill>
                          <a:latin typeface="Proxima Nova" pitchFamily="34" charset="0"/>
                          <a:ea typeface="Proxima Nova" pitchFamily="34" charset="-122"/>
                          <a:cs typeface="Proxima Nova" pitchFamily="34" charset="-120"/>
                        </a:rPr>
                        <a:t> a 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Overnight share; average stay vs. </a:t>
                      </a:r>
                      <a:pPr algn="l" indent="0" marL="0">
                        <a:buNone/>
                      </a:pPr>
                      <a:r>
                        <a:rPr lang="en-US" sz="900" b="1" dirty="0">
                          <a:solidFill>
                            <a:srgbClr val="125C60"/>
                          </a:solidFill>
                          <a:latin typeface="Proxima Nova" pitchFamily="34" charset="0"/>
                          <a:ea typeface="Proxima Nova" pitchFamily="34" charset="-122"/>
                          <a:cs typeface="Proxima Nova" pitchFamily="34" charset="-120"/>
                        </a:rPr>
                        <a:t>2.17 days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Fill Sunday and Monday nights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programming; Visit Anaheim sales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hotel occupancy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900" dirty="0">
                          <a:solidFill>
                            <a:srgbClr val="231F20"/>
                          </a:solidFill>
                          <a:latin typeface="Proxima Nova" pitchFamily="34" charset="0"/>
                          <a:ea typeface="Proxima Nova" pitchFamily="34" charset="-122"/>
                          <a:cs typeface="Proxima Nova" pitchFamily="34" charset="-120"/>
                        </a:rPr>
                        <a:t> below Fri–Sat; each point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occupancy (STR)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Feature OC Vibe in Visit Anaheim campaigns for luxury and fly-in markets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 Anaheim marketing;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Six to eight weeks before each event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Luxury placements return </a:t>
                      </a:r>
                      <a:pPr algn="l" indent="0" marL="0">
                        <a:buNone/>
                      </a:pPr>
                      <a:r>
                        <a:rPr lang="en-US" sz="900" b="1" dirty="0">
                          <a:solidFill>
                            <a:srgbClr val="125C60"/>
                          </a:solidFill>
                          <a:latin typeface="Proxima Nova" pitchFamily="34" charset="0"/>
                          <a:ea typeface="Proxima Nova" pitchFamily="34" charset="-122"/>
                          <a:cs typeface="Proxima Nova" pitchFamily="34" charset="-120"/>
                        </a:rPr>
                        <a:t>34.4</a:t>
                      </a:r>
                      <a:pPr algn="l" indent="0" marL="0">
                        <a:buNone/>
                      </a:pPr>
                      <a:r>
                        <a:rPr lang="en-US" sz="90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 (Azira)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Add late-night transit and a single access page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OCTA; City of Anaheim;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the 2027 openings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11 buses leave ARTIC after 10 p.m.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Event-night transit riders; parking fill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Use the tight hotel pipeline to support OC Vibe's hotels and dining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development team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2026–2028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a:t>
                      </a:r>
                      <a:pPr algn="l" indent="0" marL="0">
                        <a:buNone/>
                      </a:pPr>
                      <a:r>
                        <a:rPr lang="en-US" sz="90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900" dirty="0">
                          <a:solidFill>
                            <a:srgbClr val="231F20"/>
                          </a:solidFill>
                          <a:latin typeface="Proxima Nova" pitchFamily="34" charset="0"/>
                          <a:ea typeface="Proxima Nova" pitchFamily="34" charset="-122"/>
                          <a:cs typeface="Proxima Nova" pitchFamily="34" charset="-120"/>
                        </a:rPr>
                        <a:t> are under construction countywide; hotel F&amp;B revenue is growing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hotel occupancy and rate vs. market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Set traffic and visitation baselines before opening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City of Anaheim;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Current Katella counts date from 2021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counts on Katella Ave and SR-57; Datafy share </a:t>
                      </a:r>
                      <a:pPr algn="l" indent="0" marL="0">
                        <a:buNone/>
                      </a:pPr>
                      <a:r>
                        <a:rPr lang="en-US" sz="900" b="1" dirty="0">
                          <a:solidFill>
                            <a:srgbClr val="125C6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577840"/>
            <a:ext cx="11094415" cy="365760"/>
          </a:xfrm>
          <a:prstGeom prst="rect">
            <a:avLst/>
          </a:prstGeom>
          <a:noFill/>
          <a:ln/>
        </p:spPr>
        <p:txBody>
          <a:bodyPr wrap="square" lIns="0" tIns="0" rIns="0" bIns="0" rtlCol="0" anchor="ctr"/>
          <a:lstStyle/>
          <a:p>
            <a:pPr indent="0" marL="0">
              <a:buNone/>
            </a:pPr>
            <a:r>
              <a:rPr lang="en-US" sz="1150" b="1" dirty="0">
                <a:solidFill>
                  <a:srgbClr val="125C60"/>
                </a:solidFill>
                <a:latin typeface="Proxima Nova" pitchFamily="34" charset="0"/>
                <a:ea typeface="Proxima Nova" pitchFamily="34" charset="-122"/>
                <a:cs typeface="Proxima Nova" pitchFamily="34" charset="-120"/>
              </a:rPr>
              <a:t>Visit Anaheim can refresh these measures quarterly and add OC Vibe-specific tracking (visitation, spending, length of stay) as venues open.</a:t>
            </a:r>
            <a:endParaRPr lang="en-US" sz="11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source with period covered, date published or pulled, and how BI checked it</a:t>
            </a:r>
            <a:endParaRPr lang="en-US" sz="1200" dirty="0"/>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Travel Forecast, client preliminary (June and Sept. 2026 editions)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 actuals; Q1–Q2 2026; forecast to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2026 (data through 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preliminary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Visitors 2025: Anaheim, Garden Grove,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 vs.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Apr.–May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reports reviewed; marked client preliminary by Tourism Economics;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BI</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Extra Night Calculation deck; TID Request workbook (Simpleview export)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inputs; TID events 2022–2034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Workbook exported Jan. 20, 2025; recalculated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Recalculated; deck total $9.9B vs. $9.98B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POI Analysis (District 5); Domestic Visitors by Geography; Media Attribution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1–May 31, 2026; Aug. 2026; Jan. 1–Aug.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2026 (project files)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some charts only partly readable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Datafy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visitor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Market Intelligence Reports; Forecasts Combined 1Q–3Q-26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data to Q2 2026; forecasts to 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Apr., June, July,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and workbooks reviewed; full files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Hospitality Market, Disneyland Submarket and Capital Markets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Trailing 12 months and YTD through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text-vs-table differences noted;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Traffic Flow Map (Caltrans and city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Counts 2021–2024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map reviewed; roads located with GTFS stop coordinates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Bus schedules (GTFS feed)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Service Aug. 9–Nov. 7,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Analyzed by BI from raw files; recounted independently Oct. 12, 2026 (277 trips: 227 departing, 50 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American Community Survey (year not stated in file)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File reviewed; confirm data year on 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Transportation Economic Trends, Tables 3.1, 3.4, 6.6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 (data.bts.gov)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from BTS open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City of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project page and fact sheet; Transient Occupancy Tax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through about 2030–2032; TOT 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versions;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Official city pages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OCVIBE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as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Apr. 2024; website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Developer-published;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(visitanaheim.org)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meetings page; articles (June 24, 2020, DTA estimates; June 3,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visitor results; 2020 estimates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dated;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Reviewed; site lists 5,700 seats and 865,000 sq ft office, which differ from the 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Travel in 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Released Apr. 2026 (summary by RCRC,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confirm with Visit California's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Mindtrip (Visit Anaheim trip planner)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Traveler chat messages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1, 2025–Oct. 11,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Live search of chat messages; small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set for $1.1B overhaul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1993–2025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Third-party reporting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STR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Daily hotel data, Visit Anaheim hotel sets (Anaheim+, Anaheim-Garden Grove+,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1–Oct. 3, 2026 (daily; by segment)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and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Totals recomputed from daily supply, demand and revenue; partial October excluded from monthly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Submarket analytic export (Anaheim, Disneyland, Newport Beach/Dana Point, Santa Ana/Costa Mesa, Northwest/Fullerton)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Jan.–Aug.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Last processed Aug. 31, 2026;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12-month figures match the CoStar PDF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Visa Destination Insights (via Symphony)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Type; International Card Activity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vs. Aug.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two identical copies received; confirm the geography set in the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Passengers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Amtrak service in Anaheim, CA (ANA) station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2018–2024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27,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2023 figure unusually 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Metrolink (SCRRA)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FY2025-26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Oct.–Dec.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FY2025-26 Q2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line totals, not ARTIC station boardings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First Phase of $4B OCVibe Takes Shape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Phase 1 status as of 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Matched against City of Anaheim and OCVIBE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Aims to be 365-Day-a-Year Destination; The Weave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Plans as of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30, 2025; Sept.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Timeline cross-checked with June 2026 article; older dates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 (PR Newswire)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Concert hall design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of Mar.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Compared with City of Anaheim (5,613) and OCVIBE fact sheet 2024 (5,700); difference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BizBash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D23 evening showcases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event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16,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Attendance as reported;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special events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Current offering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Public page; no figures used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passengers by operator and by mode; revenue vehicle inventory)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and mode passenger totals match each other; rows sum to totals; zero-passenger years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employees); Transit Financial Data by operator (revenues, expenses) and by type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rows sum to totals; operator totals match county revenues and expenses; revenues less expenses recomputed; Laguna Beach 2006 outlier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2024–2026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Spring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Values read from the published forecast tables; real 2025 dollars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the U.S. Travel Industry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(Dean Runyan Associates)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The Economic Impact of Travel in California, 2025p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6,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Primary report reviewed; preliminary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CIC Research for Visit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Annual Profile of Visitors to Anaheim and 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2019 (volume 2009-2019)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2020; found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latest edition found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Dean Runyan Associates for 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The Economic Impact of Travel in California, 2025p; Travel Impacts by Assembly District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2015-2025p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preliminary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market monthly and segmentation tables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1987-Sept.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Licensed export; summary figures only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Domestic and International Visitors views (Anaheim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 2023-Aug.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2026; confirmed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Geography and period confirmed with BI; 2026 method shift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Travel Indicators (Aug. 2026); Resident Sentiment 2025; Travel and Lodging Forecasts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2013-2030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Mar.-Oct.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files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Tourism Economics figures cover the City of Anaheim. They are not allocated to OC Vibe, and this report contains no estimate of OC Vibe's impact; OC Vibe's results will be measured once its venues open.</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Years: 2025 figures are measured results that Tourism Economics published in 2026; 2026 figures are Tourism Economics' forecast (Sept. 2026) and are labeled as such.</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Spending per visitor is calculated from rounded Tourism Economics totals and is approximate.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Traffic counts near OC Vibe on the 2026 map date from 2021–2024; freeway volumes are Caltrans 2024 counts.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Symphony, Datafy and Tourism Economics use different methods, device panels and periods; compare them as context, not like-for-like.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LARC's Anaheim market tables (CoStar) and Visit Anaheim hotel set tables use different bases.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figures are trailing 12 months or year to date through Aug. 2026. CoStar's own text and tables differ in a few places: the Disneyland submarket 12-month rate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text,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Orange County 12-month sales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$218.1M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headline,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$234.2M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and the name of the 352-room hotel sold in May 2026 (two names given; address shown instead).</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hotel revenue mix comes from a sample of reporting hotels and may not represent every property.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OC Vibe's cost and timeline differ between CoStar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buildout by 2028) and LARC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final phase by 2033); OC Vibe's own figures should be used.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Not yet received: Tourism Economics transportation impact data.</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Mindtrip counts are small (53 of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3,149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messages) and include six quiz entries; treat them as signals, not measures.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Published OC Vibe program figures differ by source: concert hall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5,613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(City, 2026)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(OCVIBE 2024; visitanaheim.org); office up to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563,875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(City)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865,000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(visitanaheim.org). The model uses the City's figures. OCVIBE's newest figure is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(concert hall release, Mar. 12,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California's 2025 statewide figures come from a secondary summary of Visit California's report; confirm against the primary report before external use.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Visa figures come from Visit Anaheim's Visa Destination Insights view in Symphony; confirm the geography it covers before comparing it with other sources. The two Visitor Type files received are identical.</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Amtrak's 2023 count at Anaheim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70,700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unusually low compared with 2022 and 2024; check it before using it in a trend.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STR and CoStar measure different hotel sets (Visit Anaheim sets vs. CoStar submarkets) and should not be compared directly.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systems snapshots: the latest year is 2017, so they show trend, not current staffing or budgets. Dollars are nominal (not adjusted for inflation). The two operator files are expenses and revenues: their totals match the county Expenses and Revenues rows exactly. Laguna Beach shows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1,647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employees in 2006 (14–125 in other years), which points to a reporting error; the 2006 all-operator staff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4,091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affected. The OCTA rows are consistent.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passenger and vehicle snapshots: Laguna Beach reports 0 passengers in 2013 and the mode file reports 0 "Other" passengers in 2007 and 2010, which look like missing reports. Demand-response passengers in 2010 differ by file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2.33M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by mode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1.48M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OCTA specialized service), though the county totals match. OCTA specialized service lists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848 vehicles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2016 (486–587 around it), likely a reporting outlier. Two uploads were duplicates (Snapshot 3 and Snapshot 4) and were counted once.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Average spend compares per-visitor values (Tourism Economics) with per-trip values (U.S. Travel Association, in 2025 dollars); compare direction, not exact levels.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Visitor transportation shares differ by source: Visit California counts visitor air fares and statewide ground travel; Tourism Economics' city figures count spending inside the city (Anaheim has no commercial airport).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 California's Orange County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$17.1B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direct travel spending, 2025p) uses a different method from Tourism Economics'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$17.99B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 spending); use one source at a time.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Orange County visitor counts come from two methods (CIC Research 2009-2019; Tourism Economics 2021-2025) and are shown as separate series; 2020 and 2026 year to date are not published for the county.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Azira files cover Anaheim and Garden Grove, not Orange County, and carry no ZIP codes; 2026 length of stay and distance shares reflect a likely method change.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The latest Orange County visitor profile (trip purpose, party size, children) is CIC Research's 2019 study.</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each source updates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19, 2026 · Next scheduled update Jan. 15, 2027</a:t>
            </a:r>
            <a:endParaRPr lang="en-US" sz="12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108960"/>
                <a:gridCol w="2377440"/>
                <a:gridCol w="2514600"/>
                <a:gridCol w="3090672"/>
              </a:tblGrid>
              <a:tr h="43891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Source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often it publishes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In this edition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At each quarterly update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Anaheim Travel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with the newest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Economic Impact of Visitors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Annual (spring)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Calendar 2025 (pub.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when the new year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LARC Market Intelligence Reports; quarterly forecasts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 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and forecast added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STR daily data (Visit Anaheim hotel sets)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1 to Oct. 3,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export pulled through the latest 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CoStar reports and export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Through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reports and export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Azira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period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Visa Destination Insights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OCTA, Amtrak, Metrolink</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When a new schedule or fact sheet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to Nov. 2026; 2018 to 2024; FY26 Q2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Updated only if a new one is out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Datafy, U.S. BTS, California transit snapshots, City and OC Vibe public sources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As released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See the source register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Kept at their dated values until a new release is received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Visit Anaheim BI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Planned data sources (not in this edition)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Planned for a more complete view of OC Vibe visitors · not in this edition</a:t>
            </a:r>
            <a:endParaRPr lang="en-US" sz="1200" dirty="0"/>
          </a:p>
        </p:txBody>
      </p:sp>
      <p:graphicFrame>
        <p:nvGraphicFramePr>
          <p:cNvPr id="13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468880"/>
                <a:gridCol w="2651760"/>
                <a:gridCol w="3502152"/>
                <a:gridCol w="2468880"/>
              </a:tblGrid>
              <a:tr h="7772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What it would add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How it would tie in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Status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Ticketmaster ticketing data, Honda Center (from OC Vibe)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Tickets sold by event and ticket-buyer home ZIP code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Shows how far event audiences travel; matched to STR nights and Visa spending on event dates; feeds Who visits and Hotel market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request from OC Vibe through a data-sharing agreement;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Placer.ai foot-traffic data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Visits, visitor home areas, dwell time and repeat visits at OC Vibe venues and the OC Vibe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Compared with Azira for District 5; tracks the OC Vibe area as venues open; feeds Who visits and Getting here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source; license holder to be confirmed;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Text 2"/>
          <p:cNvSpPr txBox="1"/>
          <p:nvPr/>
        </p:nvSpPr>
        <p:spPr>
          <a:xfrm>
            <a:off x="548640" y="4114800"/>
            <a:ext cx="11094415" cy="82296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No figures from these sources appear until the data is received, checked and cleared for sharing. Each is added at the next quarterly update after it arrives. Ticketing and foot-traffic data are licensed or partner data: the report would show summaries only.</a:t>
            </a:r>
            <a:endParaRPr lang="en-US" sz="120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data plan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with the 2025 inputs worked through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$6,832M ÷ 26.5M = $258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(domestic share × 1.9) + (international share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 ÷ 26.5 × 1.9) + (1.8 ÷ 26.5 × 5.9)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per visitor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$1,724M ÷ 2.17 = $794M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1%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 1% × 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 = $31.5M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one Sun–Mon occupancy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 1% × 104 nights × Sun–Mon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21,318 × 1% × 104 × $230 = $5.1M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78.4% × $255 = $200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available a night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Annual available room nights / days in the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21,400,998 / 365 = 58,633 (Orange County,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Seasonality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 in 2023 + 2024 + 2025) / 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(80.7 + 80.0 + 81.2) / 3 = 80.6% (July)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Year-to-date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This year's months / same months last year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13.06M / 12.67M - 1 = +3.1% (Anaheim, Jan.-June)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ADR (average daily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revenue divided by rooms sold; the 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ADT (average daily 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number of vehicles passing a point on a weekday, both directions.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feature part of each section: charts, tables, what the data means for OC Vibe, and compare and contrast. Built only on the facts reported above 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AP style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Associated Press rules for dates, numbers, titles and punctuation (for example, Oct. 13, 2026; 9 p.m.;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Naming the source and date of every fact. No unsourced statements and no first person in news reports.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Cap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hotel's net operating income divided by its value; a measure of investment return.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place and date that open a news report: ANAHEIM, Calif.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travels 50+ miles but does not stay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Direct, indirect and induced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itself (direct), supplier purchases it triggers (indirect), and spending of wages it supports (induced).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DMA (designated market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TV market defined by Nielsen; used for media planning and origin reporting.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Group vs. transient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in blocks (conventions, tours) vs. rooms sold individually.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GTFS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General Transit Feed Specification: the public format for bus and rail schedules.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Inverted pyramid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Most important facts first, then supporting details in descending order of importance.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Full- and part-time jobs, including proprietors, sustained by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opening sentence or paragraph that gives the core of the story; here, the key insight after the 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 (LOS)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Days per visit; Anaheim's weighted average is 2.17 days (domestic 1.9, international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MSA (metropolitan statistical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federal metro-area definition; Los Angeles-Long Beach-Anaheim includes Los Angeles and Orange counties.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Multiplier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Total economic impact per $1 of visitor spending (Anaheim 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 report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 objective, factual account of the five Ws (who, what, when, where, why) plus how, written in an inverted pyramid. Each section opens with one.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Nut graph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paragraph that explains the context and why the story matters ("Why it matters").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divided by rooms available.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Overnight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stays at least one night in paid or unpaid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scheduled refresh of this report on the 15th of January, April, July and October, after Tourism Economics' quarterly forecast. Only figures with a new published value change. Next scheduled update: Jan. 15,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Revenue per available room: room revenue divided by rooms available (occupancy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geographic area CoStar uses to group hotels (for example, Disneyland or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Tourism Improvement District: a hotel assessment that funds incentives and marketing.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Transient occupancy tax: Anaheim's 15% tax on hotel room charges.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Transient, group and contract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rooms sold to individual travelers, to groups of 10+ rooms, and under long-term contracts (for example, airline crews).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Travel party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people traveling together on one trip, counted per group.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VFR (visiting friends or relatives)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trip whose main purpose is to see friends or family; often combined with pleasure in surveys.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3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Someone who travels 50+ miles or stays overnight (Tourism Economics definition).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One visitor on one day; visitors ×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Year to date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From Jan. 1 to the latest month with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divided by weighted length of stay; scenarios hold spending per day constant.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Economic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Input-output model (direct, indirect, induced) from visitor surveys, spending data and industry accounts.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pub. Apr.–May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device panels matched to places; visitors defined by distance and dwell time.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Card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Visa card transactions, classified by cardholder origin and merchant category.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Visa via Symphony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performance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Census and sample of hotel-reported rooms, rates and revenue.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CoStar (through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Bus service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Raw GTFS schedules for a typical weekday (Wed. Oct. 14, 2026); trips stopping at ARTIC docks 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9–Nov. 7,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Weekday average daily traffic from Caltrans and city counts on the OCTA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(pub.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Exposed devices matched to later visits at least three days after exposure.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Newsroom structure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Each section is written as a broadsheet news report (dateline, lede, nut graph and six detail cards) followed by analysis. No editorial or opinion content.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Oct. 13, 2026; AP Stylebook conventions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 because Tourism Economics, the core of the report, delivers quarterly; weekly and monthly sources (STR, CoStar, Visa, Azira) are pulled at the same time so all figures share one as-of date. Each quarter, BI finds the newest file from each source, replaces only figures with a new published or measured value (with the new period and publication date), checks every number against its source, and republishes the dashboard, deck and data tables. Sources with nothing new keep their dated figures.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quarterly refresh runbook (Oct. 13, 2026; cadence confirmed Oct. 14,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 profile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2,686 intercept interviews at 36 Orange County locations plus an internet panel of 2,087 households; 4,040 visitor groups.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model (2021-2025) and CIC estimates (2009-2019) are separate series; not combined.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 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Seasonality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monthly hotel occupancy and ADR used as the monthly measure; 2023-2025 average by month.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136</Slides>
  <Notes>136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136</vt:i4>
      </vt:variant>
    </vt:vector>
  </HeadingPairs>
  <TitlesOfParts>
    <vt:vector size="1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dc:title>
  <dc:subject>PptxGenJS Presentation</dc:subject>
  <dc:creator>Visit Anaheim Business Intelligence</dc:creator>
  <cp:lastModifiedBy>Visit Anaheim Business Intelligence</cp:lastModifiedBy>
  <cp:revision>1</cp:revision>
  <dcterms:created xsi:type="dcterms:W3CDTF">2026-10-19T20:49:53Z</dcterms:created>
  <dcterms:modified xsi:type="dcterms:W3CDTF">2026-10-19T20:49:53Z</dcterms:modified>
</cp:coreProperties>
</file>