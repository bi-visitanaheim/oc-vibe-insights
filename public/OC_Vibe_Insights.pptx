
<file path=[Content_Types].xml><?xml version="1.0" encoding="utf-8"?>
<Types xmlns="http://schemas.openxmlformats.org/package/2006/content-types">
  <Default Extension="gif" ContentType="image/gif"/>
  <Default Extension="jpeg" ContentType="image/jpeg"/>
  <Default Extension="jpg" ContentType="image/jpg"/>
  <Default Extension="m4v" ContentType="video/mp4"/>
  <Default Extension="mp4" ContentType="video/mp4"/>
  <Default Extension="png" ContentType="image/png"/>
  <Default Extension="rels" ContentType="application/vnd.openxmlformats-package.relationships+xml"/>
  <Default Extension="svg" ContentType="image/svg+xml"/>
  <Default Extension="vml" ContentType="application/vnd.openxmlformats-officedocument.vmlDrawing"/>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theme/theme1.xml" ContentType="application/vnd.openxmlformats-officedocument.theme+xml"/>
  <Override PartName="/ppt/presentation.xml" ContentType="application/vnd.openxmlformats-officedocument.presentationml.presentation.main+xml"/>
  <Override PartName="/ppt/presProps.xml" ContentType="application/vnd.openxmlformats-officedocument.presentationml.presProps+xml"/>
  <Override PartName="/ppt/tableStyles.xml" ContentType="application/vnd.openxmlformats-officedocument.presentationml.tableStyles+xml"/>
  <Override PartName="/ppt/viewProps.xml" ContentType="application/vnd.openxmlformats-officedocument.presentationml.viewProp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Override PartName="/ppt/slides/slide63.xml" ContentType="application/vnd.openxmlformats-officedocument.presentationml.slide+xml"/>
  <Override PartName="/ppt/notesSlides/notesSlide63.xml" ContentType="application/vnd.openxmlformats-officedocument.presentationml.notesSlide+xml"/>
  <Override PartName="/ppt/slides/slide64.xml" ContentType="application/vnd.openxmlformats-officedocument.presentationml.slide+xml"/>
  <Override PartName="/ppt/notesSlides/notesSlide64.xml" ContentType="application/vnd.openxmlformats-officedocument.presentationml.notesSlide+xml"/>
  <Override PartName="/ppt/slides/slide65.xml" ContentType="application/vnd.openxmlformats-officedocument.presentationml.slide+xml"/>
  <Override PartName="/ppt/notesSlides/notesSlide65.xml" ContentType="application/vnd.openxmlformats-officedocument.presentationml.notesSlide+xml"/>
  <Override PartName="/ppt/slides/slide66.xml" ContentType="application/vnd.openxmlformats-officedocument.presentationml.slide+xml"/>
  <Override PartName="/ppt/notesSlides/notesSlide66.xml" ContentType="application/vnd.openxmlformats-officedocument.presentationml.notesSlide+xml"/>
  <Override PartName="/ppt/slides/slide67.xml" ContentType="application/vnd.openxmlformats-officedocument.presentationml.slide+xml"/>
  <Override PartName="/ppt/notesSlides/notesSlide67.xml" ContentType="application/vnd.openxmlformats-officedocument.presentationml.notesSlide+xml"/>
  <Override PartName="/ppt/slides/slide68.xml" ContentType="application/vnd.openxmlformats-officedocument.presentationml.slide+xml"/>
  <Override PartName="/ppt/notesSlides/notesSlide68.xml" ContentType="application/vnd.openxmlformats-officedocument.presentationml.notesSlide+xml"/>
  <Override PartName="/ppt/slides/slide69.xml" ContentType="application/vnd.openxmlformats-officedocument.presentationml.slide+xml"/>
  <Override PartName="/ppt/notesSlides/notesSlide69.xml" ContentType="application/vnd.openxmlformats-officedocument.presentationml.notesSlide+xml"/>
  <Override PartName="/ppt/slides/slide70.xml" ContentType="application/vnd.openxmlformats-officedocument.presentationml.slide+xml"/>
  <Override PartName="/ppt/notesSlides/notesSlide70.xml" ContentType="application/vnd.openxmlformats-officedocument.presentationml.notesSlide+xml"/>
  <Override PartName="/ppt/slides/slide71.xml" ContentType="application/vnd.openxmlformats-officedocument.presentationml.slide+xml"/>
  <Override PartName="/ppt/notesSlides/notesSlide71.xml" ContentType="application/vnd.openxmlformats-officedocument.presentationml.notesSlide+xml"/>
  <Override PartName="/ppt/slides/slide72.xml" ContentType="application/vnd.openxmlformats-officedocument.presentationml.slide+xml"/>
  <Override PartName="/ppt/notesSlides/notesSlide72.xml" ContentType="application/vnd.openxmlformats-officedocument.presentationml.notesSlide+xml"/>
  <Override PartName="/ppt/slides/slide73.xml" ContentType="application/vnd.openxmlformats-officedocument.presentationml.slide+xml"/>
  <Override PartName="/ppt/notesSlides/notesSlide73.xml" ContentType="application/vnd.openxmlformats-officedocument.presentationml.notesSlide+xml"/>
  <Override PartName="/ppt/slides/slide74.xml" ContentType="application/vnd.openxmlformats-officedocument.presentationml.slide+xml"/>
  <Override PartName="/ppt/notesSlides/notesSlide74.xml" ContentType="application/vnd.openxmlformats-officedocument.presentationml.notesSlide+xml"/>
  <Override PartName="/ppt/slides/slide75.xml" ContentType="application/vnd.openxmlformats-officedocument.presentationml.slide+xml"/>
  <Override PartName="/ppt/notesSlides/notesSlide75.xml" ContentType="application/vnd.openxmlformats-officedocument.presentationml.notesSlide+xml"/>
  <Override PartName="/ppt/slides/slide76.xml" ContentType="application/vnd.openxmlformats-officedocument.presentationml.slide+xml"/>
  <Override PartName="/ppt/notesSlides/notesSlide76.xml" ContentType="application/vnd.openxmlformats-officedocument.presentationml.notesSlide+xml"/>
  <Override PartName="/ppt/slides/slide77.xml" ContentType="application/vnd.openxmlformats-officedocument.presentationml.slide+xml"/>
  <Override PartName="/ppt/notesSlides/notesSlide77.xml" ContentType="application/vnd.openxmlformats-officedocument.presentationml.notesSlide+xml"/>
  <Override PartName="/ppt/slides/slide78.xml" ContentType="application/vnd.openxmlformats-officedocument.presentationml.slide+xml"/>
  <Override PartName="/ppt/notesSlides/notesSlide78.xml" ContentType="application/vnd.openxmlformats-officedocument.presentationml.notesSlide+xml"/>
  <Override PartName="/ppt/slides/slide79.xml" ContentType="application/vnd.openxmlformats-officedocument.presentationml.slide+xml"/>
  <Override PartName="/ppt/notesSlides/notesSlide79.xml" ContentType="application/vnd.openxmlformats-officedocument.presentationml.notesSlide+xml"/>
  <Override PartName="/ppt/slides/slide80.xml" ContentType="application/vnd.openxmlformats-officedocument.presentationml.slide+xml"/>
  <Override PartName="/ppt/notesSlides/notesSlide80.xml" ContentType="application/vnd.openxmlformats-officedocument.presentationml.notesSlide+xml"/>
  <Override PartName="/ppt/slides/slide81.xml" ContentType="application/vnd.openxmlformats-officedocument.presentationml.slide+xml"/>
  <Override PartName="/ppt/notesSlides/notesSlide81.xml" ContentType="application/vnd.openxmlformats-officedocument.presentationml.notesSlide+xml"/>
  <Override PartName="/ppt/slides/slide82.xml" ContentType="application/vnd.openxmlformats-officedocument.presentationml.slide+xml"/>
  <Override PartName="/ppt/notesSlides/notesSlide82.xml" ContentType="application/vnd.openxmlformats-officedocument.presentationml.notesSlide+xml"/>
  <Override PartName="/ppt/slides/slide83.xml" ContentType="application/vnd.openxmlformats-officedocument.presentationml.slide+xml"/>
  <Override PartName="/ppt/notesSlides/notesSlide83.xml" ContentType="application/vnd.openxmlformats-officedocument.presentationml.notesSlide+xml"/>
  <Override PartName="/ppt/slides/slide84.xml" ContentType="application/vnd.openxmlformats-officedocument.presentationml.slide+xml"/>
  <Override PartName="/ppt/notesSlides/notesSlide84.xml" ContentType="application/vnd.openxmlformats-officedocument.presentationml.notesSlide+xml"/>
  <Override PartName="/ppt/slides/slide85.xml" ContentType="application/vnd.openxmlformats-officedocument.presentationml.slide+xml"/>
  <Override PartName="/ppt/notesSlides/notesSlide85.xml" ContentType="application/vnd.openxmlformats-officedocument.presentationml.notesSlide+xml"/>
  <Override PartName="/ppt/slides/slide86.xml" ContentType="application/vnd.openxmlformats-officedocument.presentationml.slide+xml"/>
  <Override PartName="/ppt/notesSlides/notesSlide86.xml" ContentType="application/vnd.openxmlformats-officedocument.presentationml.notesSlide+xml"/>
  <Override PartName="/ppt/slides/slide87.xml" ContentType="application/vnd.openxmlformats-officedocument.presentationml.slide+xml"/>
  <Override PartName="/ppt/notesSlides/notesSlide87.xml" ContentType="application/vnd.openxmlformats-officedocument.presentationml.notesSlide+xml"/>
  <Override PartName="/ppt/slides/slide88.xml" ContentType="application/vnd.openxmlformats-officedocument.presentationml.slide+xml"/>
  <Override PartName="/ppt/notesSlides/notesSlide88.xml" ContentType="application/vnd.openxmlformats-officedocument.presentationml.notesSlide+xml"/>
  <Override PartName="/ppt/slides/slide89.xml" ContentType="application/vnd.openxmlformats-officedocument.presentationml.slide+xml"/>
  <Override PartName="/ppt/notesSlides/notesSlide89.xml" ContentType="application/vnd.openxmlformats-officedocument.presentationml.notesSlide+xml"/>
  <Override PartName="/ppt/slides/slide90.xml" ContentType="application/vnd.openxmlformats-officedocument.presentationml.slide+xml"/>
  <Override PartName="/ppt/notesSlides/notesSlide90.xml" ContentType="application/vnd.openxmlformats-officedocument.presentationml.notesSlide+xml"/>
  <Override PartName="/ppt/slides/slide91.xml" ContentType="application/vnd.openxmlformats-officedocument.presentationml.slide+xml"/>
  <Override PartName="/ppt/notesSlides/notesSlide91.xml" ContentType="application/vnd.openxmlformats-officedocument.presentationml.notesSlide+xml"/>
  <Override PartName="/ppt/slides/slide92.xml" ContentType="application/vnd.openxmlformats-officedocument.presentationml.slide+xml"/>
  <Override PartName="/ppt/notesSlides/notesSlide92.xml" ContentType="application/vnd.openxmlformats-officedocument.presentationml.notesSlide+xml"/>
  <Override PartName="/ppt/slides/slide93.xml" ContentType="application/vnd.openxmlformats-officedocument.presentationml.slide+xml"/>
  <Override PartName="/ppt/notesSlides/notesSlide93.xml" ContentType="application/vnd.openxmlformats-officedocument.presentationml.notesSlide+xml"/>
  <Override PartName="/ppt/slides/slide94.xml" ContentType="application/vnd.openxmlformats-officedocument.presentationml.slide+xml"/>
  <Override PartName="/ppt/notesSlides/notesSlide94.xml" ContentType="application/vnd.openxmlformats-officedocument.presentationml.notesSlide+xml"/>
  <Override PartName="/ppt/slides/slide95.xml" ContentType="application/vnd.openxmlformats-officedocument.presentationml.slide+xml"/>
  <Override PartName="/ppt/notesSlides/notesSlide95.xml" ContentType="application/vnd.openxmlformats-officedocument.presentationml.notesSlide+xml"/>
  <Override PartName="/ppt/slides/slide96.xml" ContentType="application/vnd.openxmlformats-officedocument.presentationml.slide+xml"/>
  <Override PartName="/ppt/notesSlides/notesSlide96.xml" ContentType="application/vnd.openxmlformats-officedocument.presentationml.notesSlide+xml"/>
  <Override PartName="/ppt/slides/slide97.xml" ContentType="application/vnd.openxmlformats-officedocument.presentationml.slide+xml"/>
  <Override PartName="/ppt/notesSlides/notesSlide97.xml" ContentType="application/vnd.openxmlformats-officedocument.presentationml.notesSlide+xml"/>
  <Override PartName="/ppt/slides/slide98.xml" ContentType="application/vnd.openxmlformats-officedocument.presentationml.slide+xml"/>
  <Override PartName="/ppt/notesSlides/notesSlide98.xml" ContentType="application/vnd.openxmlformats-officedocument.presentationml.notesSlide+xml"/>
  <Override PartName="/ppt/slides/slide99.xml" ContentType="application/vnd.openxmlformats-officedocument.presentationml.slide+xml"/>
  <Override PartName="/ppt/notesSlides/notesSlide99.xml" ContentType="application/vnd.openxmlformats-officedocument.presentationml.notesSlide+xml"/>
  <Override PartName="/ppt/slides/slide100.xml" ContentType="application/vnd.openxmlformats-officedocument.presentationml.slide+xml"/>
  <Override PartName="/ppt/notesSlides/notesSlide100.xml" ContentType="application/vnd.openxmlformats-officedocument.presentationml.notesSlide+xml"/>
  <Override PartName="/ppt/slides/slide101.xml" ContentType="application/vnd.openxmlformats-officedocument.presentationml.slide+xml"/>
  <Override PartName="/ppt/notesSlides/notesSlide101.xml" ContentType="application/vnd.openxmlformats-officedocument.presentationml.notesSlide+xml"/>
  <Override PartName="/ppt/slides/slide102.xml" ContentType="application/vnd.openxmlformats-officedocument.presentationml.slide+xml"/>
  <Override PartName="/ppt/notesSlides/notesSlide102.xml" ContentType="application/vnd.openxmlformats-officedocument.presentationml.notesSlide+xml"/>
  <Override PartName="/ppt/slides/slide103.xml" ContentType="application/vnd.openxmlformats-officedocument.presentationml.slide+xml"/>
  <Override PartName="/ppt/notesSlides/notesSlide103.xml" ContentType="application/vnd.openxmlformats-officedocument.presentationml.notesSlide+xml"/>
  <Override PartName="/ppt/slides/slide104.xml" ContentType="application/vnd.openxmlformats-officedocument.presentationml.slide+xml"/>
  <Override PartName="/ppt/notesSlides/notesSlide104.xml" ContentType="application/vnd.openxmlformats-officedocument.presentationml.notesSlide+xml"/>
  <Override PartName="/ppt/slides/slide105.xml" ContentType="application/vnd.openxmlformats-officedocument.presentationml.slide+xml"/>
  <Override PartName="/ppt/notesSlides/notesSlide105.xml" ContentType="application/vnd.openxmlformats-officedocument.presentationml.notesSlide+xml"/>
  <Override PartName="/ppt/slides/slide106.xml" ContentType="application/vnd.openxmlformats-officedocument.presentationml.slide+xml"/>
  <Override PartName="/ppt/notesSlides/notesSlide106.xml" ContentType="application/vnd.openxmlformats-officedocument.presentationml.notesSlide+xml"/>
  <Override PartName="/ppt/slides/slide107.xml" ContentType="application/vnd.openxmlformats-officedocument.presentationml.slide+xml"/>
  <Override PartName="/ppt/notesSlides/notesSlide107.xml" ContentType="application/vnd.openxmlformats-officedocument.presentationml.notesSlide+xml"/>
  <Override PartName="/ppt/slides/slide108.xml" ContentType="application/vnd.openxmlformats-officedocument.presentationml.slide+xml"/>
  <Override PartName="/ppt/notesSlides/notesSlide108.xml" ContentType="application/vnd.openxmlformats-officedocument.presentationml.notesSlide+xml"/>
  <Override PartName="/ppt/slides/slide109.xml" ContentType="application/vnd.openxmlformats-officedocument.presentationml.slide+xml"/>
  <Override PartName="/ppt/notesSlides/notesSlide109.xml" ContentType="application/vnd.openxmlformats-officedocument.presentationml.notesSlide+xml"/>
  <Override PartName="/ppt/slides/slide110.xml" ContentType="application/vnd.openxmlformats-officedocument.presentationml.slide+xml"/>
  <Override PartName="/ppt/notesSlides/notesSlide110.xml" ContentType="application/vnd.openxmlformats-officedocument.presentationml.notesSlide+xml"/>
  <Override PartName="/ppt/slides/slide111.xml" ContentType="application/vnd.openxmlformats-officedocument.presentationml.slide+xml"/>
  <Override PartName="/ppt/notesSlides/notesSlide111.xml" ContentType="application/vnd.openxmlformats-officedocument.presentationml.notesSlide+xml"/>
  <Override PartName="/ppt/slides/slide112.xml" ContentType="application/vnd.openxmlformats-officedocument.presentationml.slide+xml"/>
  <Override PartName="/ppt/notesSlides/notesSlide112.xml" ContentType="application/vnd.openxmlformats-officedocument.presentationml.notesSlide+xml"/>
  <Override PartName="/ppt/slides/slide113.xml" ContentType="application/vnd.openxmlformats-officedocument.presentationml.slide+xml"/>
  <Override PartName="/ppt/notesSlides/notesSlide113.xml" ContentType="application/vnd.openxmlformats-officedocument.presentationml.notesSlide+xml"/>
  <Override PartName="/ppt/slides/slide114.xml" ContentType="application/vnd.openxmlformats-officedocument.presentationml.slide+xml"/>
  <Override PartName="/ppt/notesSlides/notesSlide114.xml" ContentType="application/vnd.openxmlformats-officedocument.presentationml.notesSlide+xml"/>
  <Override PartName="/ppt/slides/slide115.xml" ContentType="application/vnd.openxmlformats-officedocument.presentationml.slide+xml"/>
  <Override PartName="/ppt/notesSlides/notesSlide115.xml" ContentType="application/vnd.openxmlformats-officedocument.presentationml.notesSlide+xml"/>
  <Override PartName="/ppt/slides/slide116.xml" ContentType="application/vnd.openxmlformats-officedocument.presentationml.slide+xml"/>
  <Override PartName="/ppt/notesSlides/notesSlide116.xml" ContentType="application/vnd.openxmlformats-officedocument.presentationml.notesSlide+xml"/>
  <Override PartName="/ppt/slides/slide117.xml" ContentType="application/vnd.openxmlformats-officedocument.presentationml.slide+xml"/>
  <Override PartName="/ppt/notesSlides/notesSlide117.xml" ContentType="application/vnd.openxmlformats-officedocument.presentationml.notesSlide+xml"/>
  <Override PartName="/ppt/slides/slide118.xml" ContentType="application/vnd.openxmlformats-officedocument.presentationml.slide+xml"/>
  <Override PartName="/ppt/notesSlides/notesSlide118.xml" ContentType="application/vnd.openxmlformats-officedocument.presentationml.notesSlide+xml"/>
  <Override PartName="/ppt/slides/slide119.xml" ContentType="application/vnd.openxmlformats-officedocument.presentationml.slide+xml"/>
  <Override PartName="/ppt/notesSlides/notesSlide119.xml" ContentType="application/vnd.openxmlformats-officedocument.presentationml.notesSlide+xml"/>
  <Override PartName="/ppt/slides/slide120.xml" ContentType="application/vnd.openxmlformats-officedocument.presentationml.slide+xml"/>
  <Override PartName="/ppt/notesSlides/notesSlide120.xml" ContentType="application/vnd.openxmlformats-officedocument.presentationml.notesSlide+xml"/>
  <Override PartName="/ppt/slides/slide121.xml" ContentType="application/vnd.openxmlformats-officedocument.presentationml.slide+xml"/>
  <Override PartName="/ppt/notesSlides/notesSlide121.xml" ContentType="application/vnd.openxmlformats-officedocument.presentationml.notesSlide+xml"/>
  <Override PartName="/ppt/slides/slide122.xml" ContentType="application/vnd.openxmlformats-officedocument.presentationml.slide+xml"/>
  <Override PartName="/ppt/notesSlides/notesSlide122.xml" ContentType="application/vnd.openxmlformats-officedocument.presentationml.notesSlide+xml"/>
  <Override PartName="/ppt/slides/slide123.xml" ContentType="application/vnd.openxmlformats-officedocument.presentationml.slide+xml"/>
  <Override PartName="/ppt/notesSlides/notesSlide123.xml" ContentType="application/vnd.openxmlformats-officedocument.presentationml.notesSlide+xml"/>
  <Override PartName="/ppt/slides/slide124.xml" ContentType="application/vnd.openxmlformats-officedocument.presentationml.slide+xml"/>
  <Override PartName="/ppt/notesSlides/notesSlide124.xml" ContentType="application/vnd.openxmlformats-officedocument.presentationml.notesSlide+xml"/>
  <Override PartName="/ppt/slides/slide125.xml" ContentType="application/vnd.openxmlformats-officedocument.presentationml.slide+xml"/>
  <Override PartName="/ppt/notesSlides/notesSlide125.xml" ContentType="application/vnd.openxmlformats-officedocument.presentationml.notesSlide+xml"/>
  <Override PartName="/ppt/slides/slide126.xml" ContentType="application/vnd.openxmlformats-officedocument.presentationml.slide+xml"/>
  <Override PartName="/ppt/notesSlides/notesSlide126.xml" ContentType="application/vnd.openxmlformats-officedocument.presentationml.notesSlide+xml"/>
  <Override PartName="/ppt/slides/slide127.xml" ContentType="application/vnd.openxmlformats-officedocument.presentationml.slide+xml"/>
  <Override PartName="/ppt/notesSlides/notesSlide127.xml" ContentType="application/vnd.openxmlformats-officedocument.presentationml.notesSlide+xml"/>
  <Override PartName="/ppt/slides/slide128.xml" ContentType="application/vnd.openxmlformats-officedocument.presentationml.slide+xml"/>
  <Override PartName="/ppt/notesSlides/notesSlide128.xml" ContentType="application/vnd.openxmlformats-officedocument.presentationml.notesSlide+xml"/>
  <Override PartName="/ppt/slides/slide129.xml" ContentType="application/vnd.openxmlformats-officedocument.presentationml.slide+xml"/>
  <Override PartName="/ppt/notesSlides/notesSlide129.xml" ContentType="application/vnd.openxmlformats-officedocument.presentationml.notesSlide+xml"/>
  <Override PartName="/ppt/slides/slide130.xml" ContentType="application/vnd.openxmlformats-officedocument.presentationml.slide+xml"/>
  <Override PartName="/ppt/notesSlides/notesSlide130.xml" ContentType="application/vnd.openxmlformats-officedocument.presentationml.notesSlide+xml"/>
  <Override PartName="/ppt/slides/slide131.xml" ContentType="application/vnd.openxmlformats-officedocument.presentationml.slide+xml"/>
  <Override PartName="/ppt/notesSlides/notesSlide131.xml" ContentType="application/vnd.openxmlformats-officedocument.presentationml.notesSlide+xml"/>
  <Override PartName="/ppt/slides/slide132.xml" ContentType="application/vnd.openxmlformats-officedocument.presentationml.slide+xml"/>
  <Override PartName="/ppt/notesSlides/notesSlide132.xml" ContentType="application/vnd.openxmlformats-officedocument.presentationml.notesSlide+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officeDocument" Target="ppt/presentation.xml"/><Relationship Id="rId2" Type="http://schemas.openxmlformats.org/package/2006/relationships/metadata/core-properties" Target="docProps/core.xml"/><Relationship Id="rId1"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Lst>
  <p:notesMasterIdLst>
    <p:notesMasterId r:id="rId13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f33f48a8-67c4-0ebe-2362-197f46fb1093}">
          <p14:sldIdLst>
            <p14:sldId id="256"/>
            <p14:sldId id="257"/>
            <p14:sldId id="258"/>
            <p14:sldId id="259"/>
            <p14:sldId id="260"/>
            <p14:sldId id="261"/>
            <p14:sldId id="262"/>
          </p14:sldIdLst>
        </p14:section>
        <p14:section name="Questions answered" id="{c87b9831-4656-0706-b29c-a0f5c7547671}">
          <p14:sldIdLst>
            <p14:sldId id="263"/>
            <p14:sldId id="264"/>
            <p14:sldId id="265"/>
            <p14:sldId id="266"/>
            <p14:sldId id="267"/>
            <p14:sldId id="268"/>
            <p14:sldId id="269"/>
            <p14:sldId id="270"/>
            <p14:sldId id="271"/>
            <p14:sldId id="272"/>
          </p14:sldIdLst>
        </p14:section>
        <p14:section name="Anaheim and OC Vibe today" id="{9b3d23c5-38d3-dff8-bcd1-278d8815423d}">
          <p14:sldIdLst>
            <p14:sldId id="273"/>
            <p14:sldId id="274"/>
            <p14:sldId id="275"/>
            <p14:sldId id="276"/>
            <p14:sldId id="277"/>
            <p14:sldId id="278"/>
            <p14:sldId id="279"/>
            <p14:sldId id="280"/>
            <p14:sldId id="281"/>
            <p14:sldId id="282"/>
            <p14:sldId id="283"/>
          </p14:sldIdLst>
        </p14:section>
        <p14:section name="Orange County tourism" id="{670355bd-2a17-cbdf-5114-bfd43c5e98ef}">
          <p14:sldIdLst>
            <p14:sldId id="284"/>
            <p14:sldId id="285"/>
            <p14:sldId id="286"/>
            <p14:sldId id="287"/>
            <p14:sldId id="288"/>
            <p14:sldId id="289"/>
            <p14:sldId id="290"/>
            <p14:sldId id="291"/>
            <p14:sldId id="292"/>
            <p14:sldId id="293"/>
            <p14:sldId id="294"/>
            <p14:sldId id="295"/>
            <p14:sldId id="296"/>
          </p14:sldIdLst>
        </p14:section>
        <p14:section name="Who visits" id="{2b9a31fb-80a7-4da5-0290-eb8f6e001ca6}">
          <p14:sldIdLst>
            <p14:sldId id="297"/>
            <p14:sldId id="298"/>
            <p14:sldId id="299"/>
            <p14:sldId id="300"/>
            <p14:sldId id="301"/>
            <p14:sldId id="302"/>
            <p14:sldId id="303"/>
            <p14:sldId id="304"/>
          </p14:sldIdLst>
        </p14:section>
        <p14:section name="Visitor spending" id="{e4a87287-bd71-b801-8182-bb5711f4625c}">
          <p14:sldIdLst>
            <p14:sldId id="305"/>
            <p14:sldId id="306"/>
            <p14:sldId id="307"/>
            <p14:sldId id="308"/>
            <p14:sldId id="309"/>
            <p14:sldId id="310"/>
            <p14:sldId id="311"/>
            <p14:sldId id="312"/>
            <p14:sldId id="313"/>
          </p14:sldIdLst>
        </p14:section>
        <p14:section name="Jobs and economy" id="{dcae3b50-ebb1-8ffe-0d7e-1405f8efd69f}">
          <p14:sldIdLst>
            <p14:sldId id="314"/>
            <p14:sldId id="315"/>
            <p14:sldId id="316"/>
            <p14:sldId id="317"/>
            <p14:sldId id="318"/>
          </p14:sldIdLst>
        </p14:section>
        <p14:section name="Hotel market" id="{6646b4df-255b-8d9d-f350-79f7bb470793}">
          <p14:sldIdLst>
            <p14:sldId id="319"/>
            <p14:sldId id="320"/>
            <p14:sldId id="321"/>
            <p14:sldId id="322"/>
            <p14:sldId id="323"/>
            <p14:sldId id="324"/>
            <p14:sldId id="325"/>
            <p14:sldId id="326"/>
            <p14:sldId id="327"/>
          </p14:sldIdLst>
        </p14:section>
        <p14:section name="One more night" id="{3c6f6288-b932-b373-818f-7315c264b644}">
          <p14:sldIdLst>
            <p14:sldId id="328"/>
            <p14:sldId id="329"/>
            <p14:sldId id="330"/>
            <p14:sldId id="331"/>
            <p14:sldId id="332"/>
            <p14:sldId id="333"/>
            <p14:sldId id="334"/>
          </p14:sldIdLst>
        </p14:section>
        <p14:section name="Getting here" id="{4befd9ab-5a87-bfcc-30cd-e57abbc21d63}">
          <p14:sldIdLst>
            <p14:sldId id="335"/>
            <p14:sldId id="336"/>
            <p14:sldId id="337"/>
            <p14:sldId id="338"/>
            <p14:sldId id="339"/>
            <p14:sldId id="340"/>
            <p14:sldId id="341"/>
            <p14:sldId id="342"/>
            <p14:sldId id="343"/>
            <p14:sldId id="344"/>
            <p14:sldId id="345"/>
            <p14:sldId id="346"/>
          </p14:sldIdLst>
        </p14:section>
        <p14:section name="Marketing reach" id="{d1a5d0a9-1cd4-18cc-5dfc-1466500fcbda}">
          <p14:sldIdLst>
            <p14:sldId id="347"/>
            <p14:sldId id="348"/>
            <p14:sldId id="349"/>
            <p14:sldId id="350"/>
            <p14:sldId id="351"/>
            <p14:sldId id="352"/>
          </p14:sldIdLst>
        </p14:section>
        <p14:section name="Market outlook" id="{add860cb-1c80-cfcd-6987-c901ab724dfc}">
          <p14:sldIdLst>
            <p14:sldId id="353"/>
            <p14:sldId id="354"/>
            <p14:sldId id="355"/>
            <p14:sldId id="356"/>
            <p14:sldId id="357"/>
            <p14:sldId id="358"/>
            <p14:sldId id="359"/>
            <p14:sldId id="360"/>
          </p14:sldIdLst>
        </p14:section>
        <p14:section name="Compare and contrast" id="{5b90cd46-f0d8-caff-97f8-2ff7a6495df6}">
          <p14:sldIdLst>
            <p14:sldId id="361"/>
            <p14:sldId id="362"/>
            <p14:sldId id="363"/>
            <p14:sldId id="364"/>
            <p14:sldId id="365"/>
          </p14:sldIdLst>
        </p14:section>
        <p14:section name="Reports and data library" id="{2c0a7a21-6864-7c0e-1deb-76ae61354e3a}">
          <p14:sldIdLst>
            <p14:sldId id="366"/>
            <p14:sldId id="367"/>
            <p14:sldId id="368"/>
            <p14:sldId id="369"/>
            <p14:sldId id="370"/>
            <p14:sldId id="371"/>
          </p14:sldIdLst>
        </p14:section>
        <p14:section name="Next steps" id="{da127e17-5a64-488d-9379-8cc4ce332485}">
          <p14:sldIdLst>
            <p14:sldId id="372"/>
            <p14:sldId id="373"/>
            <p14:sldId id="374"/>
            <p14:sldId id="375"/>
            <p14:sldId id="376"/>
            <p14:sldId id="377"/>
            <p14:sldId id="378"/>
            <p14:sldId id="379"/>
            <p14:sldId id="380"/>
            <p14:sldId id="381"/>
          </p14:sldIdLst>
        </p14:section>
        <p14:section name="Appendix" id="{5e3c8bef-4d95-df86-dfcd-81cacea16ff4}">
          <p14:sldIdLst>
            <p14:sldId id="382"/>
            <p14:sldId id="383"/>
            <p14:sldId id="384"/>
            <p14:sldId id="385"/>
            <p14:sldId id="386"/>
            <p14:sldId id="38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tableStyles" Target="tableStyles.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28" Type="http://schemas.openxmlformats.org/officeDocument/2006/relationships/slide" Target="slides/slide127.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slide" Target="slides/slide112.xml"/><Relationship Id="rId118" Type="http://schemas.openxmlformats.org/officeDocument/2006/relationships/slide" Target="slides/slide117.xml"/><Relationship Id="rId134" Type="http://schemas.openxmlformats.org/officeDocument/2006/relationships/notesMaster" Target="notesMasters/notesMaster1.xml"/><Relationship Id="rId139" Type="http://schemas.openxmlformats.org/officeDocument/2006/relationships/customXml" Target="../customXml/item1.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slide" Target="slides/slide123.xml"/><Relationship Id="rId129" Type="http://schemas.openxmlformats.org/officeDocument/2006/relationships/slide" Target="slides/slide128.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40" Type="http://schemas.openxmlformats.org/officeDocument/2006/relationships/customXml" Target="../customXml/item2.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0" Type="http://schemas.openxmlformats.org/officeDocument/2006/relationships/slide" Target="slides/slide129.xml"/><Relationship Id="rId135" Type="http://schemas.openxmlformats.org/officeDocument/2006/relationships/presProps" Target="presProps.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141" Type="http://schemas.openxmlformats.org/officeDocument/2006/relationships/customXml" Target="../customXml/item3.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slide" Target="slides/slide130.xml"/><Relationship Id="rId136" Type="http://schemas.openxmlformats.org/officeDocument/2006/relationships/viewProps" Target="viewProps.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theme" Target="theme/theme1.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4" Type="http://schemas.openxmlformats.org/officeDocument/2006/relationships/slide" Target="slides/slide3.xml"/><Relationship Id="rId9" Type="http://schemas.openxmlformats.org/officeDocument/2006/relationships/slide" Target="slides/slide8.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6" Type="http://schemas.openxmlformats.org/officeDocument/2006/relationships/slide" Target="slides/slide15.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Spending per visitor or trip, 2025</c:v>
                </c:pt>
              </c:strCache>
            </c:strRef>
          </c:tx>
          <c:spPr>
            <a:solidFill>
              <a:srgbClr val="B4D9E3"/>
            </a:solidFill>
            <a:effectLst/>
          </c:spPr>
          <c:invertIfNegative val="0"/>
          <c:dLbls>
            <c:numFmt formatCode="&quot;$&quot;#,##0"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B4D9E3"/>
              </a:solidFill>
              <a:effectLst/>
            </c:spPr>
          </c:dPt>
          <c:dPt>
            <c:idx val="1"/>
            <c:invertIfNegative val="0"/>
            <c:bubble3D val="0"/>
            <c:spPr>
              <a:solidFill>
                <a:srgbClr val="43A3A3"/>
              </a:solidFill>
              <a:effectLst/>
            </c:spPr>
          </c:dPt>
          <c:dPt>
            <c:idx val="2"/>
            <c:invertIfNegative val="0"/>
            <c:bubble3D val="0"/>
            <c:spPr>
              <a:solidFill>
                <a:srgbClr val="B4D9E3"/>
              </a:solidFill>
              <a:effectLst/>
            </c:spPr>
          </c:dPt>
          <c:dPt>
            <c:idx val="3"/>
            <c:invertIfNegative val="0"/>
            <c:bubble3D val="0"/>
            <c:spPr>
              <a:solidFill>
                <a:srgbClr val="B4D9E3"/>
              </a:solidFill>
              <a:effectLst/>
            </c:spPr>
          </c:dPt>
          <c:cat>
            <c:multiLvlStrRef>
              <c:f>Sheet1!$A$2:$A$5</c:f>
              <c:multiLvlStrCache>
                <c:ptCount val="4"/>
                <c:lvl>
                  <c:pt idx="0">
                    <c:v>Garden Grove</c:v>
                  </c:pt>
                  <c:pt idx="1">
                    <c:v>Anaheim</c:v>
                  </c:pt>
                  <c:pt idx="2">
                    <c:v>Orange County</c:v>
                  </c:pt>
                  <c:pt idx="3">
                    <c:v>U.S. (per trip)</c:v>
                  </c:pt>
                </c:lvl>
              </c:multiLvlStrCache>
            </c:multiLvlStrRef>
          </c:cat>
          <c:val>
            <c:numRef>
              <c:f>Sheet1!$B$2:$B$5</c:f>
              <c:numCache>
                <c:formatCode>General</c:formatCode>
                <c:ptCount val="4"/>
                <c:pt idx="0">
                  <c:v>237</c:v>
                </c:pt>
                <c:pt idx="1">
                  <c:v>258</c:v>
                </c:pt>
                <c:pt idx="2">
                  <c:v>350</c:v>
                </c:pt>
                <c:pt idx="3">
                  <c:v>553</c:v>
                </c:pt>
              </c:numCache>
            </c:numRef>
          </c:val>
        </c:ser>
        <c:dLbls>
          <c:numFmt formatCode="&quot;$&quot;#,##0"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One more night or day in Anaheim, three ways ($M)</c:v>
                </c:pt>
              </c:strCache>
            </c:strRef>
          </c:tx>
          <c:spPr>
            <a:solidFill>
              <a:srgbClr val="43A3A3"/>
            </a:solidFill>
            <a:effectLst/>
          </c:spPr>
          <c:invertIfNegative val="0"/>
          <c:dLbls>
            <c:numFmt formatCode="&quot;$&quot;#,##0&quot;M&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43A3A3"/>
              </a:solidFill>
              <a:effectLst/>
            </c:spPr>
          </c:dPt>
          <c:dPt>
            <c:idx val="1"/>
            <c:invertIfNegative val="0"/>
            <c:bubble3D val="0"/>
            <c:spPr>
              <a:solidFill>
                <a:srgbClr val="B4D9E3"/>
              </a:solidFill>
              <a:effectLst/>
            </c:spPr>
          </c:dPt>
          <c:dPt>
            <c:idx val="2"/>
            <c:invertIfNegative val="0"/>
            <c:bubble3D val="0"/>
            <c:spPr>
              <a:solidFill>
                <a:srgbClr val="B4D9E3"/>
              </a:solidFill>
              <a:effectLst/>
            </c:spPr>
          </c:dPt>
          <c:cat>
            <c:multiLvlStrRef>
              <c:f>Sheet1!$A$2:$A$4</c:f>
              <c:multiLvlStrCache>
                <c:ptCount val="3"/>
                <c:lvl>
                  <c:pt idx="0">
                    <c:v>Lodging only</c:v>
                  </c:pt>
                  <c:pt idx="1">
                    <c:v>Overnight visitors, all spending</c:v>
                  </c:pt>
                  <c:pt idx="2">
                    <c:v>Every visitor, all spending</c:v>
                  </c:pt>
                </c:lvl>
              </c:multiLvlStrCache>
            </c:multiLvlStrRef>
          </c:cat>
          <c:val>
            <c:numRef>
              <c:f>Sheet1!$B$2:$B$4</c:f>
              <c:numCache>
                <c:formatCode>General</c:formatCode>
                <c:ptCount val="3"/>
                <c:pt idx="0">
                  <c:v>794</c:v>
                </c:pt>
                <c:pt idx="1">
                  <c:v>1021</c:v>
                </c:pt>
                <c:pt idx="2">
                  <c:v>3146</c:v>
                </c:pt>
              </c:numCache>
            </c:numRef>
          </c:val>
        </c:ser>
        <c:dLbls>
          <c:numFmt formatCode="&quot;$&quot;#,##0&quot;M&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Visitor transportation spending, share of all visitor spending, 2025 (%)</c:v>
                </c:pt>
              </c:strCache>
            </c:strRef>
          </c:tx>
          <c:spPr>
            <a:solidFill>
              <a:srgbClr val="43A3A3"/>
            </a:solidFill>
            <a:effectLst/>
          </c:spPr>
          <c:invertIfNegative val="0"/>
          <c:dLbls>
            <c:numFmt formatCode="0.0&quot;%&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43A3A3"/>
              </a:solidFill>
              <a:effectLst/>
            </c:spPr>
          </c:dPt>
          <c:dPt>
            <c:idx val="1"/>
            <c:invertIfNegative val="0"/>
            <c:bubble3D val="0"/>
            <c:spPr>
              <a:solidFill>
                <a:srgbClr val="B4D9E3"/>
              </a:solidFill>
              <a:effectLst/>
            </c:spPr>
          </c:dPt>
          <c:dPt>
            <c:idx val="2"/>
            <c:invertIfNegative val="0"/>
            <c:bubble3D val="0"/>
            <c:spPr>
              <a:solidFill>
                <a:srgbClr val="B4D9E3"/>
              </a:solidFill>
              <a:effectLst/>
            </c:spPr>
          </c:dPt>
          <c:dPt>
            <c:idx val="3"/>
            <c:invertIfNegative val="0"/>
            <c:bubble3D val="0"/>
            <c:spPr>
              <a:solidFill>
                <a:srgbClr val="B4D9E3"/>
              </a:solidFill>
              <a:effectLst/>
            </c:spPr>
          </c:dPt>
          <c:cat>
            <c:multiLvlStrRef>
              <c:f>Sheet1!$A$2:$A$5</c:f>
              <c:multiLvlStrCache>
                <c:ptCount val="4"/>
                <c:lvl>
                  <c:pt idx="0">
                    <c:v>Anaheim</c:v>
                  </c:pt>
                  <c:pt idx="1">
                    <c:v>Orange County</c:v>
                  </c:pt>
                  <c:pt idx="2">
                    <c:v>Garden Grove</c:v>
                  </c:pt>
                  <c:pt idx="3">
                    <c:v>California</c:v>
                  </c:pt>
                </c:lvl>
              </c:multiLvlStrCache>
            </c:multiLvlStrRef>
          </c:cat>
          <c:val>
            <c:numRef>
              <c:f>Sheet1!$B$2:$B$5</c:f>
              <c:numCache>
                <c:formatCode>General</c:formatCode>
                <c:ptCount val="4"/>
                <c:pt idx="0">
                  <c:v>3.3</c:v>
                </c:pt>
                <c:pt idx="1">
                  <c:v>3.9</c:v>
                </c:pt>
                <c:pt idx="2">
                  <c:v>6.1</c:v>
                </c:pt>
                <c:pt idx="3">
                  <c:v>17.9</c:v>
                </c:pt>
              </c:numCache>
            </c:numRef>
          </c:val>
        </c:ser>
        <c:dLbls>
          <c:numFmt formatCode="0.0&quot;%&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Top origin metros for District 5 visitors (% of unique visitors)</c:v>
                </c:pt>
              </c:strCache>
            </c:strRef>
          </c:tx>
          <c:spPr>
            <a:solidFill>
              <a:srgbClr val="43A3A3"/>
            </a:solidFill>
            <a:effectLst/>
          </c:spPr>
          <c:invertIfNegative val="0"/>
          <c:dLbls>
            <c:numFmt formatCode="0.0&quot;%&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43A3A3"/>
              </a:solidFill>
              <a:effectLst/>
            </c:spPr>
          </c:dPt>
          <c:dPt>
            <c:idx val="1"/>
            <c:invertIfNegative val="0"/>
            <c:bubble3D val="0"/>
            <c:spPr>
              <a:solidFill>
                <a:srgbClr val="B4D9E3"/>
              </a:solidFill>
              <a:effectLst/>
            </c:spPr>
          </c:dPt>
          <c:dPt>
            <c:idx val="2"/>
            <c:invertIfNegative val="0"/>
            <c:bubble3D val="0"/>
            <c:spPr>
              <a:solidFill>
                <a:srgbClr val="B4D9E3"/>
              </a:solidFill>
              <a:effectLst/>
            </c:spPr>
          </c:dPt>
          <c:dPt>
            <c:idx val="3"/>
            <c:invertIfNegative val="0"/>
            <c:bubble3D val="0"/>
            <c:spPr>
              <a:solidFill>
                <a:srgbClr val="B4D9E3"/>
              </a:solidFill>
              <a:effectLst/>
            </c:spPr>
          </c:dPt>
          <c:dPt>
            <c:idx val="4"/>
            <c:invertIfNegative val="0"/>
            <c:bubble3D val="0"/>
            <c:spPr>
              <a:solidFill>
                <a:srgbClr val="B4D9E3"/>
              </a:solidFill>
              <a:effectLst/>
            </c:spPr>
          </c:dPt>
          <c:dPt>
            <c:idx val="5"/>
            <c:invertIfNegative val="0"/>
            <c:bubble3D val="0"/>
            <c:spPr>
              <a:solidFill>
                <a:srgbClr val="B4D9E3"/>
              </a:solidFill>
              <a:effectLst/>
            </c:spPr>
          </c:dPt>
          <c:cat>
            <c:multiLvlStrRef>
              <c:f>Sheet1!$A$2:$A$7</c:f>
              <c:multiLvlStrCache>
                <c:ptCount val="6"/>
                <c:lvl>
                  <c:pt idx="0">
                    <c:v>Los Angeles–Long Beach–Anaheim</c:v>
                  </c:pt>
                  <c:pt idx="1">
                    <c:v>Riverside–San Bernardino–Ontario</c:v>
                  </c:pt>
                  <c:pt idx="2">
                    <c:v>Washington–Arlington–Alexandria</c:v>
                  </c:pt>
                  <c:pt idx="3">
                    <c:v>San Diego–Chula Vista–Carlsbad</c:v>
                  </c:pt>
                  <c:pt idx="4">
                    <c:v>New York–Newark–Jersey City</c:v>
                  </c:pt>
                  <c:pt idx="5">
                    <c:v>Phoenix–Mesa–Chandler</c:v>
                  </c:pt>
                </c:lvl>
              </c:multiLvlStrCache>
            </c:multiLvlStrRef>
          </c:cat>
          <c:val>
            <c:numRef>
              <c:f>Sheet1!$B$2:$B$7</c:f>
              <c:numCache>
                <c:formatCode>General</c:formatCode>
                <c:ptCount val="6"/>
                <c:pt idx="0">
                  <c:v>23.6</c:v>
                </c:pt>
                <c:pt idx="1">
                  <c:v>22.6</c:v>
                </c:pt>
                <c:pt idx="2">
                  <c:v>3.6</c:v>
                </c:pt>
                <c:pt idx="3">
                  <c:v>3.2</c:v>
                </c:pt>
                <c:pt idx="4">
                  <c:v>2</c:v>
                </c:pt>
                <c:pt idx="5">
                  <c:v>1.5</c:v>
                </c:pt>
              </c:numCache>
            </c:numRef>
          </c:val>
        </c:ser>
        <c:dLbls>
          <c:numFmt formatCode="0.0&quot;%&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Share of visitor spending, 2025</c:v>
                </c:pt>
              </c:strCache>
            </c:strRef>
          </c:tx>
          <c:spPr>
            <a:solidFill>
              <a:srgbClr val="43A3A3"/>
            </a:solidFill>
            <a:effectLst/>
          </c:spPr>
          <c:invertIfNegative val="0"/>
          <c:dLbls>
            <c:numFmt formatCode="0.0&quot;%&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43A3A3"/>
              </a:solidFill>
              <a:effectLst/>
            </c:spPr>
          </c:dPt>
          <c:dPt>
            <c:idx val="1"/>
            <c:invertIfNegative val="0"/>
            <c:bubble3D val="0"/>
            <c:spPr>
              <a:solidFill>
                <a:srgbClr val="B4D9E3"/>
              </a:solidFill>
              <a:effectLst/>
            </c:spPr>
          </c:dPt>
          <c:dPt>
            <c:idx val="2"/>
            <c:invertIfNegative val="0"/>
            <c:bubble3D val="0"/>
            <c:spPr>
              <a:solidFill>
                <a:srgbClr val="B4D9E3"/>
              </a:solidFill>
              <a:effectLst/>
            </c:spPr>
          </c:dPt>
          <c:dPt>
            <c:idx val="3"/>
            <c:invertIfNegative val="0"/>
            <c:bubble3D val="0"/>
            <c:spPr>
              <a:solidFill>
                <a:srgbClr val="B4D9E3"/>
              </a:solidFill>
              <a:effectLst/>
            </c:spPr>
          </c:dPt>
          <c:dPt>
            <c:idx val="4"/>
            <c:invertIfNegative val="0"/>
            <c:bubble3D val="0"/>
            <c:spPr>
              <a:solidFill>
                <a:srgbClr val="B4D9E3"/>
              </a:solidFill>
              <a:effectLst/>
            </c:spPr>
          </c:dPt>
          <c:cat>
            <c:multiLvlStrRef>
              <c:f>Sheet1!$A$2:$A$6</c:f>
              <c:multiLvlStrCache>
                <c:ptCount val="5"/>
                <c:lvl>
                  <c:pt idx="0">
                    <c:v>Recreation and entertainment</c:v>
                  </c:pt>
                  <c:pt idx="1">
                    <c:v>Lodging</c:v>
                  </c:pt>
                  <c:pt idx="2">
                    <c:v>Retail</c:v>
                  </c:pt>
                  <c:pt idx="3">
                    <c:v>Food and beverage</c:v>
                  </c:pt>
                  <c:pt idx="4">
                    <c:v>Transportation</c:v>
                  </c:pt>
                </c:lvl>
              </c:multiLvlStrCache>
            </c:multiLvlStrRef>
          </c:cat>
          <c:val>
            <c:numRef>
              <c:f>Sheet1!$B$2:$B$6</c:f>
              <c:numCache>
                <c:formatCode>General</c:formatCode>
                <c:ptCount val="5"/>
                <c:pt idx="0">
                  <c:v>34</c:v>
                </c:pt>
                <c:pt idx="1">
                  <c:v>25.2</c:v>
                </c:pt>
                <c:pt idx="2">
                  <c:v>21.9</c:v>
                </c:pt>
                <c:pt idx="3">
                  <c:v>15.6</c:v>
                </c:pt>
                <c:pt idx="4">
                  <c:v>3.3</c:v>
                </c:pt>
              </c:numCache>
            </c:numRef>
          </c:val>
        </c:ser>
        <c:dLbls>
          <c:numFmt formatCode="0.0&quot;%&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Also visited (share of District 5 visitors)</c:v>
                </c:pt>
              </c:strCache>
            </c:strRef>
          </c:tx>
          <c:spPr>
            <a:solidFill>
              <a:srgbClr val="43A3A3"/>
            </a:solidFill>
            <a:effectLst/>
          </c:spPr>
          <c:invertIfNegative val="0"/>
          <c:dLbls>
            <c:numFmt formatCode="0.0%"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43A3A3"/>
              </a:solidFill>
              <a:effectLst/>
            </c:spPr>
          </c:dPt>
          <c:dPt>
            <c:idx val="1"/>
            <c:invertIfNegative val="0"/>
            <c:bubble3D val="0"/>
            <c:spPr>
              <a:solidFill>
                <a:srgbClr val="B4D9E3"/>
              </a:solidFill>
              <a:effectLst/>
            </c:spPr>
          </c:dPt>
          <c:dPt>
            <c:idx val="2"/>
            <c:invertIfNegative val="0"/>
            <c:bubble3D val="0"/>
            <c:spPr>
              <a:solidFill>
                <a:srgbClr val="B4D9E3"/>
              </a:solidFill>
              <a:effectLst/>
            </c:spPr>
          </c:dPt>
          <c:dPt>
            <c:idx val="3"/>
            <c:invertIfNegative val="0"/>
            <c:bubble3D val="0"/>
            <c:spPr>
              <a:solidFill>
                <a:srgbClr val="B4D9E3"/>
              </a:solidFill>
              <a:effectLst/>
            </c:spPr>
          </c:dPt>
          <c:dPt>
            <c:idx val="4"/>
            <c:invertIfNegative val="0"/>
            <c:bubble3D val="0"/>
            <c:spPr>
              <a:solidFill>
                <a:srgbClr val="B4D9E3"/>
              </a:solidFill>
              <a:effectLst/>
            </c:spPr>
          </c:dPt>
          <c:dPt>
            <c:idx val="5"/>
            <c:invertIfNegative val="0"/>
            <c:bubble3D val="0"/>
            <c:spPr>
              <a:solidFill>
                <a:srgbClr val="B4D9E3"/>
              </a:solidFill>
              <a:effectLst/>
            </c:spPr>
          </c:dPt>
          <c:dPt>
            <c:idx val="6"/>
            <c:invertIfNegative val="0"/>
            <c:bubble3D val="0"/>
            <c:spPr>
              <a:solidFill>
                <a:srgbClr val="B4D9E3"/>
              </a:solidFill>
              <a:effectLst/>
            </c:spPr>
          </c:dPt>
          <c:dPt>
            <c:idx val="7"/>
            <c:invertIfNegative val="0"/>
            <c:bubble3D val="0"/>
            <c:spPr>
              <a:solidFill>
                <a:srgbClr val="B4D9E3"/>
              </a:solidFill>
              <a:effectLst/>
            </c:spPr>
          </c:dPt>
          <c:cat>
            <c:multiLvlStrRef>
              <c:f>Sheet1!$A$2:$A$9</c:f>
              <c:multiLvlStrCache>
                <c:ptCount val="8"/>
                <c:lvl>
                  <c:pt idx="0">
                    <c:v>District 3</c:v>
                  </c:pt>
                  <c:pt idx="1">
                    <c:v>District 6</c:v>
                  </c:pt>
                  <c:pt idx="2">
                    <c:v>District 4</c:v>
                  </c:pt>
                  <c:pt idx="3">
                    <c:v>District 2</c:v>
                  </c:pt>
                  <c:pt idx="4">
                    <c:v>Anaheim Resort</c:v>
                  </c:pt>
                  <c:pt idx="5">
                    <c:v>District 1</c:v>
                  </c:pt>
                  <c:pt idx="6">
                    <c:v>Disneyland Resort</c:v>
                  </c:pt>
                  <c:pt idx="7">
                    <c:v>Disney California Adventure</c:v>
                  </c:pt>
                </c:lvl>
              </c:multiLvlStrCache>
            </c:multiLvlStrRef>
          </c:cat>
          <c:val>
            <c:numRef>
              <c:f>Sheet1!$B$2:$B$9</c:f>
              <c:numCache>
                <c:formatCode>General</c:formatCode>
                <c:ptCount val="8"/>
                <c:pt idx="0">
                  <c:v>0.27899999999999997</c:v>
                </c:pt>
                <c:pt idx="1">
                  <c:v>0.192</c:v>
                </c:pt>
                <c:pt idx="2">
                  <c:v>0.184</c:v>
                </c:pt>
                <c:pt idx="3">
                  <c:v>0.172</c:v>
                </c:pt>
                <c:pt idx="4">
                  <c:v>0.13699999999999998</c:v>
                </c:pt>
                <c:pt idx="5">
                  <c:v>0.09</c:v>
                </c:pt>
                <c:pt idx="6">
                  <c:v>0.084</c:v>
                </c:pt>
                <c:pt idx="7">
                  <c:v>0.055</c:v>
                </c:pt>
              </c:numCache>
            </c:numRef>
          </c:val>
        </c:ser>
        <c:dLbls>
          <c:numFmt formatCode="0.0%"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Share of Anaheim visitor days including each cluster</c:v>
                </c:pt>
              </c:strCache>
            </c:strRef>
          </c:tx>
          <c:spPr>
            <a:solidFill>
              <a:srgbClr val="B4D9E3"/>
            </a:solidFill>
            <a:effectLst/>
          </c:spPr>
          <c:invertIfNegative val="0"/>
          <c:dLbls>
            <c:numFmt formatCode="0.0%"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B4D9E3"/>
              </a:solidFill>
              <a:effectLst/>
            </c:spPr>
          </c:dPt>
          <c:dPt>
            <c:idx val="1"/>
            <c:invertIfNegative val="0"/>
            <c:bubble3D val="0"/>
            <c:spPr>
              <a:solidFill>
                <a:srgbClr val="B4D9E3"/>
              </a:solidFill>
              <a:effectLst/>
            </c:spPr>
          </c:dPt>
          <c:dPt>
            <c:idx val="2"/>
            <c:invertIfNegative val="0"/>
            <c:bubble3D val="0"/>
            <c:spPr>
              <a:solidFill>
                <a:srgbClr val="B4D9E3"/>
              </a:solidFill>
              <a:effectLst/>
            </c:spPr>
          </c:dPt>
          <c:dPt>
            <c:idx val="3"/>
            <c:invertIfNegative val="0"/>
            <c:bubble3D val="0"/>
            <c:spPr>
              <a:solidFill>
                <a:srgbClr val="B4D9E3"/>
              </a:solidFill>
              <a:effectLst/>
            </c:spPr>
          </c:dPt>
          <c:dPt>
            <c:idx val="4"/>
            <c:invertIfNegative val="0"/>
            <c:bubble3D val="0"/>
            <c:spPr>
              <a:solidFill>
                <a:srgbClr val="B4D9E3"/>
              </a:solidFill>
              <a:effectLst/>
            </c:spPr>
          </c:dPt>
          <c:dPt>
            <c:idx val="5"/>
            <c:invertIfNegative val="0"/>
            <c:bubble3D val="0"/>
            <c:spPr>
              <a:solidFill>
                <a:srgbClr val="43A3A3"/>
              </a:solidFill>
              <a:effectLst/>
            </c:spPr>
          </c:dPt>
          <c:dPt>
            <c:idx val="6"/>
            <c:invertIfNegative val="0"/>
            <c:bubble3D val="0"/>
            <c:spPr>
              <a:solidFill>
                <a:srgbClr val="B4D9E3"/>
              </a:solidFill>
              <a:effectLst/>
            </c:spPr>
          </c:dPt>
          <c:cat>
            <c:multiLvlStrRef>
              <c:f>Sheet1!$A$2:$A$8</c:f>
              <c:multiLvlStrCache>
                <c:ptCount val="7"/>
                <c:lvl>
                  <c:pt idx="0">
                    <c:v>Attractions and activities</c:v>
                  </c:pt>
                  <c:pt idx="1">
                    <c:v>Disneyland</c:v>
                  </c:pt>
                  <c:pt idx="2">
                    <c:v>Accommodations</c:v>
                  </c:pt>
                  <c:pt idx="3">
                    <c:v>Shopping</c:v>
                  </c:pt>
                  <c:pt idx="4">
                    <c:v>Dining</c:v>
                  </c:pt>
                  <c:pt idx="5">
                    <c:v>OC Vibe</c:v>
                  </c:pt>
                  <c:pt idx="6">
                    <c:v>Meeting services</c:v>
                  </c:pt>
                </c:lvl>
              </c:multiLvlStrCache>
            </c:multiLvlStrRef>
          </c:cat>
          <c:val>
            <c:numRef>
              <c:f>Sheet1!$B$2:$B$8</c:f>
              <c:numCache>
                <c:formatCode>General</c:formatCode>
                <c:ptCount val="7"/>
                <c:pt idx="0">
                  <c:v>0.758</c:v>
                </c:pt>
                <c:pt idx="1">
                  <c:v>0.7440000000000001</c:v>
                </c:pt>
                <c:pt idx="2">
                  <c:v>0.6579999999999999</c:v>
                </c:pt>
                <c:pt idx="3">
                  <c:v>0.511</c:v>
                </c:pt>
                <c:pt idx="4">
                  <c:v>0.287</c:v>
                </c:pt>
                <c:pt idx="5">
                  <c:v>0.052000000000000005</c:v>
                </c:pt>
                <c:pt idx="6">
                  <c:v>0.034</c:v>
                </c:pt>
              </c:numCache>
            </c:numRef>
          </c:val>
        </c:ser>
        <c:dLbls>
          <c:numFmt formatCode="0.0%"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Actual</c:v>
                </c:pt>
              </c:strCache>
            </c:strRef>
          </c:tx>
          <c:spPr>
            <a:solidFill>
              <a:srgbClr val="43A3A3"/>
            </a:solidFill>
            <a:effectLst/>
          </c:spPr>
          <c:invertIfNegative val="0"/>
          <c:dLbls>
            <c:numFmt formatCode="$0;;;" sourceLinked="0"/>
            <c:txPr>
              <a:bodyPr/>
              <a:lstStyle/>
              <a:p>
                <a:pPr>
                  <a:defRPr b="1" i="0" strike="noStrike" sz="1000" u="none">
                    <a:solidFill>
                      <a:srgbClr val="231F20"/>
                    </a:solidFill>
                    <a:latin typeface="Arial"/>
                  </a:defRPr>
                </a:pPr>
              </a:p>
            </c:txPr>
            <c:dLblPos val="inEnd"/>
            <c:showLegendKey val="0"/>
            <c:showVal val="1"/>
            <c:showCatName val="0"/>
            <c:showSerName val="0"/>
            <c:showPercent val="0"/>
            <c:showBubbleSize val="0"/>
            <c:showLeaderLines val="0"/>
          </c:dLbls>
          <c:cat>
            <c:multiLvlStrRef>
              <c:f>Sheet1!$A$2:$A$11</c:f>
              <c:multiLvlStrCache>
                <c:ptCount val="10"/>
                <c:lvl>
                  <c:pt idx="0">
                    <c:v>2019</c:v>
                  </c:pt>
                  <c:pt idx="1">
                    <c:v>2020</c:v>
                  </c:pt>
                  <c:pt idx="2">
                    <c:v>2021</c:v>
                  </c:pt>
                  <c:pt idx="3">
                    <c:v>2022</c:v>
                  </c:pt>
                  <c:pt idx="4">
                    <c:v>2023</c:v>
                  </c:pt>
                  <c:pt idx="5">
                    <c:v>2024</c:v>
                  </c:pt>
                  <c:pt idx="6">
                    <c:v>2025</c:v>
                  </c:pt>
                  <c:pt idx="7">
                    <c:v>2026</c:v>
                  </c:pt>
                  <c:pt idx="8">
                    <c:v>2027</c:v>
                  </c:pt>
                  <c:pt idx="9">
                    <c:v>2028</c:v>
                  </c:pt>
                </c:lvl>
              </c:multiLvlStrCache>
            </c:multiLvlStrRef>
          </c:cat>
          <c:val>
            <c:numRef>
              <c:f>Sheet1!$B$2:$B$11</c:f>
              <c:numCache>
                <c:formatCode>General</c:formatCode>
                <c:ptCount val="10"/>
                <c:pt idx="0">
                  <c:v>223</c:v>
                </c:pt>
                <c:pt idx="1">
                  <c:v>208</c:v>
                </c:pt>
                <c:pt idx="2">
                  <c:v>225</c:v>
                </c:pt>
                <c:pt idx="3">
                  <c:v>242</c:v>
                </c:pt>
                <c:pt idx="4">
                  <c:v>251</c:v>
                </c:pt>
                <c:pt idx="5">
                  <c:v>252</c:v>
                </c:pt>
                <c:pt idx="6">
                  <c:v>258</c:v>
                </c:pt>
                <c:pt idx="7">
                  <c:v>0</c:v>
                </c:pt>
                <c:pt idx="8">
                  <c:v>0</c:v>
                </c:pt>
                <c:pt idx="9">
                  <c:v>0</c:v>
                </c:pt>
              </c:numCache>
            </c:numRef>
          </c:val>
        </c:ser>
        <c:ser>
          <c:idx val="1"/>
          <c:order val="1"/>
          <c:tx>
            <c:strRef>
              <c:f>Sheet1!$C$1</c:f>
              <c:strCache>
                <c:ptCount val="1"/>
                <c:pt idx="0">
                  <c:v>Forecast</c:v>
                </c:pt>
              </c:strCache>
            </c:strRef>
          </c:tx>
          <c:spPr>
            <a:solidFill>
              <a:srgbClr val="B4D9E3"/>
            </a:solidFill>
            <a:effectLst/>
          </c:spPr>
          <c:invertIfNegative val="0"/>
          <c:dLbls>
            <c:numFmt formatCode="$0;;;" sourceLinked="0"/>
            <c:txPr>
              <a:bodyPr/>
              <a:lstStyle/>
              <a:p>
                <a:pPr>
                  <a:defRPr b="1" i="0" strike="noStrike" sz="1000" u="none">
                    <a:solidFill>
                      <a:srgbClr val="231F20"/>
                    </a:solidFill>
                    <a:latin typeface="Arial"/>
                  </a:defRPr>
                </a:pPr>
              </a:p>
            </c:txPr>
            <c:dLblPos val="inEnd"/>
            <c:showLegendKey val="0"/>
            <c:showVal val="1"/>
            <c:showCatName val="0"/>
            <c:showSerName val="0"/>
            <c:showPercent val="0"/>
            <c:showBubbleSize val="0"/>
            <c:showLeaderLines val="0"/>
          </c:dLbls>
          <c:cat>
            <c:multiLvlStrRef>
              <c:f>Sheet1!$A$2:$A$11</c:f>
              <c:multiLvlStrCache>
                <c:ptCount val="10"/>
                <c:lvl>
                  <c:pt idx="0">
                    <c:v>2019</c:v>
                  </c:pt>
                  <c:pt idx="1">
                    <c:v>2020</c:v>
                  </c:pt>
                  <c:pt idx="2">
                    <c:v>2021</c:v>
                  </c:pt>
                  <c:pt idx="3">
                    <c:v>2022</c:v>
                  </c:pt>
                  <c:pt idx="4">
                    <c:v>2023</c:v>
                  </c:pt>
                  <c:pt idx="5">
                    <c:v>2024</c:v>
                  </c:pt>
                  <c:pt idx="6">
                    <c:v>2025</c:v>
                  </c:pt>
                  <c:pt idx="7">
                    <c:v>2026</c:v>
                  </c:pt>
                  <c:pt idx="8">
                    <c:v>2027</c:v>
                  </c:pt>
                  <c:pt idx="9">
                    <c:v>2028</c:v>
                  </c:pt>
                </c:lvl>
              </c:multiLvlStrCache>
            </c:multiLvlStrRef>
          </c:cat>
          <c:val>
            <c:numRef>
              <c:f>Sheet1!$C$2:$C$11</c:f>
              <c:numCache>
                <c:formatCode>General</c:formatCode>
                <c:ptCount val="10"/>
                <c:pt idx="0">
                  <c:v>0</c:v>
                </c:pt>
                <c:pt idx="1">
                  <c:v>0</c:v>
                </c:pt>
                <c:pt idx="2">
                  <c:v>0</c:v>
                </c:pt>
                <c:pt idx="3">
                  <c:v>0</c:v>
                </c:pt>
                <c:pt idx="4">
                  <c:v>0</c:v>
                </c:pt>
                <c:pt idx="5">
                  <c:v>0</c:v>
                </c:pt>
                <c:pt idx="6">
                  <c:v>0</c:v>
                </c:pt>
                <c:pt idx="7">
                  <c:v>267</c:v>
                </c:pt>
                <c:pt idx="8">
                  <c:v>271</c:v>
                </c:pt>
                <c:pt idx="9">
                  <c:v>279</c:v>
                </c:pt>
              </c:numCache>
            </c:numRef>
          </c:val>
        </c:ser>
        <c:dLbls>
          <c:numFmt formatCode="$0;;;" sourceLinked="0"/>
          <c:txPr>
            <a:bodyPr/>
            <a:lstStyle/>
            <a:p>
              <a:pPr>
                <a:defRPr b="1" i="0" strike="noStrike" sz="1000" u="none">
                  <a:solidFill>
                    <a:srgbClr val="231F20"/>
                  </a:solidFill>
                  <a:latin typeface="Arial"/>
                </a:defRPr>
              </a:pPr>
            </a:p>
          </c:txPr>
          <c:dLblPos val="inEnd"/>
          <c:showLegendKey val="0"/>
          <c:showVal val="1"/>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231F20"/>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231F20"/>
              </a:solidFill>
            </a:defRPr>
          </a:pPr>
          <a:endParaRPr lang="en-US"/>
        </a:p>
      </c:txPr>
    </c:legend>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Food and beverage share of visitor-supported jobs</c:v>
                </c:pt>
              </c:strCache>
            </c:strRef>
          </c:tx>
          <c:spPr>
            <a:solidFill>
              <a:srgbClr val="43A3A3"/>
            </a:solidFill>
            <a:effectLst/>
          </c:spPr>
          <c:invertIfNegative val="0"/>
          <c:dLbls>
            <c:numFmt formatCode="0.0%"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43A3A3"/>
              </a:solidFill>
              <a:effectLst/>
            </c:spPr>
          </c:dPt>
          <c:dPt>
            <c:idx val="1"/>
            <c:invertIfNegative val="0"/>
            <c:bubble3D val="0"/>
            <c:spPr>
              <a:solidFill>
                <a:srgbClr val="B4D9E3"/>
              </a:solidFill>
              <a:effectLst/>
            </c:spPr>
          </c:dPt>
          <c:dPt>
            <c:idx val="2"/>
            <c:invertIfNegative val="0"/>
            <c:bubble3D val="0"/>
            <c:spPr>
              <a:solidFill>
                <a:srgbClr val="B4D9E3"/>
              </a:solidFill>
              <a:effectLst/>
            </c:spPr>
          </c:dPt>
          <c:cat>
            <c:multiLvlStrRef>
              <c:f>Sheet1!$A$2:$A$4</c:f>
              <c:multiLvlStrCache>
                <c:ptCount val="3"/>
                <c:lvl>
                  <c:pt idx="0">
                    <c:v>Anaheim</c:v>
                  </c:pt>
                  <c:pt idx="1">
                    <c:v>Garden Grove</c:v>
                  </c:pt>
                  <c:pt idx="2">
                    <c:v>Orange County</c:v>
                  </c:pt>
                </c:lvl>
              </c:multiLvlStrCache>
            </c:multiLvlStrRef>
          </c:cat>
          <c:val>
            <c:numRef>
              <c:f>Sheet1!$B$2:$B$4</c:f>
              <c:numCache>
                <c:formatCode>General</c:formatCode>
                <c:ptCount val="3"/>
                <c:pt idx="0">
                  <c:v>0.16759809487296695</c:v>
                </c:pt>
                <c:pt idx="1">
                  <c:v>0.40648341798625637</c:v>
                </c:pt>
                <c:pt idx="2">
                  <c:v>0.2912597382187198</c:v>
                </c:pt>
              </c:numCache>
            </c:numRef>
          </c:val>
        </c:ser>
        <c:dLbls>
          <c:numFmt formatCode="0.0%"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Revenue per available room, past 12 months</c:v>
                </c:pt>
              </c:strCache>
            </c:strRef>
          </c:tx>
          <c:spPr>
            <a:solidFill>
              <a:srgbClr val="B4D9E3"/>
            </a:solidFill>
            <a:effectLst/>
          </c:spPr>
          <c:invertIfNegative val="0"/>
          <c:dLbls>
            <c:numFmt formatCode="$0"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B4D9E3"/>
              </a:solidFill>
              <a:effectLst/>
            </c:spPr>
          </c:dPt>
          <c:dPt>
            <c:idx val="1"/>
            <c:invertIfNegative val="0"/>
            <c:bubble3D val="0"/>
            <c:spPr>
              <a:solidFill>
                <a:srgbClr val="43A3A3"/>
              </a:solidFill>
              <a:effectLst/>
            </c:spPr>
          </c:dPt>
          <c:dPt>
            <c:idx val="2"/>
            <c:invertIfNegative val="0"/>
            <c:bubble3D val="0"/>
            <c:spPr>
              <a:solidFill>
                <a:srgbClr val="B4D9E3"/>
              </a:solidFill>
              <a:effectLst/>
            </c:spPr>
          </c:dPt>
          <c:dPt>
            <c:idx val="3"/>
            <c:invertIfNegative val="0"/>
            <c:bubble3D val="0"/>
            <c:spPr>
              <a:solidFill>
                <a:srgbClr val="B4D9E3"/>
              </a:solidFill>
              <a:effectLst/>
            </c:spPr>
          </c:dPt>
          <c:dPt>
            <c:idx val="4"/>
            <c:invertIfNegative val="0"/>
            <c:bubble3D val="0"/>
            <c:spPr>
              <a:solidFill>
                <a:srgbClr val="B4D9E3"/>
              </a:solidFill>
              <a:effectLst/>
            </c:spPr>
          </c:dPt>
          <c:dPt>
            <c:idx val="5"/>
            <c:invertIfNegative val="0"/>
            <c:bubble3D val="0"/>
            <c:spPr>
              <a:solidFill>
                <a:srgbClr val="B4D9E3"/>
              </a:solidFill>
              <a:effectLst/>
            </c:spPr>
          </c:dPt>
          <c:cat>
            <c:multiLvlStrRef>
              <c:f>Sheet1!$A$2:$A$7</c:f>
              <c:multiLvlStrCache>
                <c:ptCount val="6"/>
                <c:lvl>
                  <c:pt idx="0">
                    <c:v>Newport Beach/Dana Point</c:v>
                  </c:pt>
                  <c:pt idx="1">
                    <c:v>Disneyland</c:v>
                  </c:pt>
                  <c:pt idx="2">
                    <c:v>Santa Ana/Costa Mesa</c:v>
                  </c:pt>
                  <c:pt idx="3">
                    <c:v>Anaheim</c:v>
                  </c:pt>
                  <c:pt idx="4">
                    <c:v>Orange County Northwest/Fullerton</c:v>
                  </c:pt>
                  <c:pt idx="5">
                    <c:v>Orange County</c:v>
                  </c:pt>
                </c:lvl>
              </c:multiLvlStrCache>
            </c:multiLvlStrRef>
          </c:cat>
          <c:val>
            <c:numRef>
              <c:f>Sheet1!$B$2:$B$7</c:f>
              <c:numCache>
                <c:formatCode>General</c:formatCode>
                <c:ptCount val="6"/>
                <c:pt idx="0">
                  <c:v>212.21</c:v>
                </c:pt>
                <c:pt idx="1">
                  <c:v>199.78</c:v>
                </c:pt>
                <c:pt idx="2">
                  <c:v>126.13</c:v>
                </c:pt>
                <c:pt idx="3">
                  <c:v>93.14</c:v>
                </c:pt>
                <c:pt idx="4">
                  <c:v>92.81</c:v>
                </c:pt>
                <c:pt idx="5">
                  <c:v>162</c:v>
                </c:pt>
              </c:numCache>
            </c:numRef>
          </c:val>
        </c:ser>
        <c:dLbls>
          <c:numFmt formatCode="$0"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Sunday and Monday nights run 16 points below Friday and Saturday</c:v>
                </c:pt>
              </c:strCache>
            </c:strRef>
          </c:tx>
          <c:spPr>
            <a:solidFill>
              <a:srgbClr val="43A3A3"/>
            </a:solidFill>
            <a:effectLst/>
          </c:spPr>
          <c:invertIfNegative val="0"/>
          <c:dLbls>
            <c:numFmt formatCode="0.0%"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43A3A3"/>
              </a:solidFill>
              <a:effectLst/>
            </c:spPr>
          </c:dPt>
          <c:dPt>
            <c:idx val="1"/>
            <c:invertIfNegative val="0"/>
            <c:bubble3D val="0"/>
            <c:spPr>
              <a:solidFill>
                <a:srgbClr val="B4D9E3"/>
              </a:solidFill>
              <a:effectLst/>
            </c:spPr>
          </c:dPt>
          <c:dPt>
            <c:idx val="2"/>
            <c:invertIfNegative val="0"/>
            <c:bubble3D val="0"/>
            <c:spPr>
              <a:solidFill>
                <a:srgbClr val="B4D9E3"/>
              </a:solidFill>
              <a:effectLst/>
            </c:spPr>
          </c:dPt>
          <c:dPt>
            <c:idx val="3"/>
            <c:invertIfNegative val="0"/>
            <c:bubble3D val="0"/>
            <c:spPr>
              <a:solidFill>
                <a:srgbClr val="B4D9E3"/>
              </a:solidFill>
              <a:effectLst/>
            </c:spPr>
          </c:dPt>
          <c:dPt>
            <c:idx val="4"/>
            <c:invertIfNegative val="0"/>
            <c:bubble3D val="0"/>
            <c:spPr>
              <a:solidFill>
                <a:srgbClr val="B4D9E3"/>
              </a:solidFill>
              <a:effectLst/>
            </c:spPr>
          </c:dPt>
          <c:dPt>
            <c:idx val="5"/>
            <c:invertIfNegative val="0"/>
            <c:bubble3D val="0"/>
            <c:spPr>
              <a:solidFill>
                <a:srgbClr val="B4D9E3"/>
              </a:solidFill>
              <a:effectLst/>
            </c:spPr>
          </c:dPt>
          <c:dPt>
            <c:idx val="6"/>
            <c:invertIfNegative val="0"/>
            <c:bubble3D val="0"/>
            <c:spPr>
              <a:solidFill>
                <a:srgbClr val="B4D9E3"/>
              </a:solidFill>
              <a:effectLst/>
            </c:spPr>
          </c:dPt>
          <c:cat>
            <c:multiLvlStrRef>
              <c:f>Sheet1!$A$2:$A$8</c:f>
              <c:multiLvlStrCache>
                <c:ptCount val="7"/>
                <c:lvl>
                  <c:pt idx="0">
                    <c:v>Sunday</c:v>
                  </c:pt>
                  <c:pt idx="1">
                    <c:v>Monday</c:v>
                  </c:pt>
                  <c:pt idx="2">
                    <c:v>Tuesday</c:v>
                  </c:pt>
                  <c:pt idx="3">
                    <c:v>Wednesday</c:v>
                  </c:pt>
                  <c:pt idx="4">
                    <c:v>Thursday</c:v>
                  </c:pt>
                  <c:pt idx="5">
                    <c:v>Friday</c:v>
                  </c:pt>
                  <c:pt idx="6">
                    <c:v>Saturday</c:v>
                  </c:pt>
                </c:lvl>
              </c:multiLvlStrCache>
            </c:multiLvlStrRef>
          </c:cat>
          <c:val>
            <c:numRef>
              <c:f>Sheet1!$B$2:$B$8</c:f>
              <c:numCache>
                <c:formatCode>General</c:formatCode>
                <c:ptCount val="7"/>
                <c:pt idx="0">
                  <c:v>0.7064807052003736</c:v>
                </c:pt>
                <c:pt idx="1">
                  <c:v>0.7052530720770355</c:v>
                </c:pt>
                <c:pt idx="2">
                  <c:v>0.7427291912699991</c:v>
                </c:pt>
                <c:pt idx="3">
                  <c:v>0.7679880802094587</c:v>
                </c:pt>
                <c:pt idx="4">
                  <c:v>0.8018566849415845</c:v>
                </c:pt>
                <c:pt idx="5">
                  <c:v>0.8568872924809107</c:v>
                </c:pt>
                <c:pt idx="6">
                  <c:v>0.86789610322876</c:v>
                </c:pt>
              </c:numCache>
            </c:numRef>
          </c:val>
        </c:ser>
        <c:dLbls>
          <c:numFmt formatCode="0.0%"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Added spending by scenario ($ billions, estimates)</c:v>
                </c:pt>
              </c:strCache>
            </c:strRef>
          </c:tx>
          <c:spPr>
            <a:solidFill>
              <a:srgbClr val="43A3A3"/>
            </a:solidFill>
            <a:effectLst/>
          </c:spPr>
          <c:invertIfNegative val="0"/>
          <c:dLbls>
            <c:numFmt formatCode="$0.00&quot;B&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43A3A3"/>
              </a:solidFill>
              <a:effectLst/>
            </c:spPr>
          </c:dPt>
          <c:dPt>
            <c:idx val="1"/>
            <c:invertIfNegative val="0"/>
            <c:bubble3D val="0"/>
            <c:spPr>
              <a:solidFill>
                <a:srgbClr val="B4D9E3"/>
              </a:solidFill>
              <a:effectLst/>
            </c:spPr>
          </c:dPt>
          <c:dPt>
            <c:idx val="2"/>
            <c:invertIfNegative val="0"/>
            <c:bubble3D val="0"/>
            <c:spPr>
              <a:solidFill>
                <a:srgbClr val="B4D9E3"/>
              </a:solidFill>
              <a:effectLst/>
            </c:spPr>
          </c:dPt>
          <c:dPt>
            <c:idx val="3"/>
            <c:invertIfNegative val="0"/>
            <c:bubble3D val="0"/>
            <c:spPr>
              <a:solidFill>
                <a:srgbClr val="B4D9E3"/>
              </a:solidFill>
              <a:effectLst/>
            </c:spPr>
          </c:dPt>
          <c:cat>
            <c:multiLvlStrRef>
              <c:f>Sheet1!$A$2:$A$5</c:f>
              <c:multiLvlStrCache>
                <c:ptCount val="4"/>
                <c:lvl>
                  <c:pt idx="0">
                    <c:v>Lodging only (headline)</c:v>
                  </c:pt>
                  <c:pt idx="1">
                    <c:v>Overnight visitors, all spending</c:v>
                  </c:pt>
                  <c:pt idx="2">
                    <c:v>Half a day, all visitors</c:v>
                  </c:pt>
                  <c:pt idx="3">
                    <c:v>Full day, all visitors</c:v>
                  </c:pt>
                </c:lvl>
              </c:multiLvlStrCache>
            </c:multiLvlStrRef>
          </c:cat>
          <c:val>
            <c:numRef>
              <c:f>Sheet1!$B$2:$B$5</c:f>
              <c:numCache>
                <c:formatCode>General</c:formatCode>
                <c:ptCount val="4"/>
                <c:pt idx="0">
                  <c:v>0.7938488271068637</c:v>
                </c:pt>
                <c:pt idx="1">
                  <c:v>1.0209417897480453</c:v>
                </c:pt>
                <c:pt idx="2">
                  <c:v>1.5729626411815814</c:v>
                </c:pt>
                <c:pt idx="3">
                  <c:v>3.1459252823631627</c:v>
                </c:pt>
              </c:numCache>
            </c:numRef>
          </c:val>
        </c:ser>
        <c:dLbls>
          <c:numFmt formatCode="$0.00&quot;B&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Room nights by event year (thousands)</c:v>
                </c:pt>
              </c:strCache>
            </c:strRef>
          </c:tx>
          <c:spPr>
            <a:solidFill>
              <a:srgbClr val="B4D9E3"/>
            </a:solidFill>
            <a:effectLst/>
          </c:spPr>
          <c:invertIfNegative val="0"/>
          <c:dLbls>
            <c:numFmt formatCode="0"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B4D9E3"/>
              </a:solidFill>
              <a:effectLst/>
            </c:spPr>
          </c:dPt>
          <c:dPt>
            <c:idx val="1"/>
            <c:invertIfNegative val="0"/>
            <c:bubble3D val="0"/>
            <c:spPr>
              <a:solidFill>
                <a:srgbClr val="B4D9E3"/>
              </a:solidFill>
              <a:effectLst/>
            </c:spPr>
          </c:dPt>
          <c:dPt>
            <c:idx val="2"/>
            <c:invertIfNegative val="0"/>
            <c:bubble3D val="0"/>
            <c:spPr>
              <a:solidFill>
                <a:srgbClr val="B4D9E3"/>
              </a:solidFill>
              <a:effectLst/>
            </c:spPr>
          </c:dPt>
          <c:dPt>
            <c:idx val="3"/>
            <c:invertIfNegative val="0"/>
            <c:bubble3D val="0"/>
            <c:spPr>
              <a:solidFill>
                <a:srgbClr val="B4D9E3"/>
              </a:solidFill>
              <a:effectLst/>
            </c:spPr>
          </c:dPt>
          <c:dPt>
            <c:idx val="4"/>
            <c:invertIfNegative val="0"/>
            <c:bubble3D val="0"/>
            <c:spPr>
              <a:solidFill>
                <a:srgbClr val="43A3A3"/>
              </a:solidFill>
              <a:effectLst/>
            </c:spPr>
          </c:dPt>
          <c:dPt>
            <c:idx val="5"/>
            <c:invertIfNegative val="0"/>
            <c:bubble3D val="0"/>
            <c:spPr>
              <a:solidFill>
                <a:srgbClr val="B4D9E3"/>
              </a:solidFill>
              <a:effectLst/>
            </c:spPr>
          </c:dPt>
          <c:dPt>
            <c:idx val="6"/>
            <c:invertIfNegative val="0"/>
            <c:bubble3D val="0"/>
            <c:spPr>
              <a:solidFill>
                <a:srgbClr val="B4D9E3"/>
              </a:solidFill>
              <a:effectLst/>
            </c:spPr>
          </c:dPt>
          <c:dPt>
            <c:idx val="7"/>
            <c:invertIfNegative val="0"/>
            <c:bubble3D val="0"/>
            <c:spPr>
              <a:solidFill>
                <a:srgbClr val="B4D9E3"/>
              </a:solidFill>
              <a:effectLst/>
            </c:spPr>
          </c:dPt>
          <c:dPt>
            <c:idx val="8"/>
            <c:invertIfNegative val="0"/>
            <c:bubble3D val="0"/>
            <c:spPr>
              <a:solidFill>
                <a:srgbClr val="B4D9E3"/>
              </a:solidFill>
              <a:effectLst/>
            </c:spPr>
          </c:dPt>
          <c:dPt>
            <c:idx val="9"/>
            <c:invertIfNegative val="0"/>
            <c:bubble3D val="0"/>
            <c:spPr>
              <a:solidFill>
                <a:srgbClr val="B4D9E3"/>
              </a:solidFill>
              <a:effectLst/>
            </c:spPr>
          </c:dPt>
          <c:dPt>
            <c:idx val="10"/>
            <c:invertIfNegative val="0"/>
            <c:bubble3D val="0"/>
            <c:spPr>
              <a:solidFill>
                <a:srgbClr val="B4D9E3"/>
              </a:solidFill>
              <a:effectLst/>
            </c:spPr>
          </c:dPt>
          <c:dPt>
            <c:idx val="11"/>
            <c:invertIfNegative val="0"/>
            <c:bubble3D val="0"/>
            <c:spPr>
              <a:solidFill>
                <a:srgbClr val="B4D9E3"/>
              </a:solidFill>
              <a:effectLst/>
            </c:spPr>
          </c:dPt>
          <c:dPt>
            <c:idx val="12"/>
            <c:invertIfNegative val="0"/>
            <c:bubble3D val="0"/>
            <c:spPr>
              <a:solidFill>
                <a:srgbClr val="B4D9E3"/>
              </a:solidFill>
              <a:effectLst/>
            </c:spPr>
          </c:dPt>
          <c:cat>
            <c:multiLvlStrRef>
              <c:f>Sheet1!$A$2:$A$14</c:f>
              <c:multiLvlStrCache>
                <c:ptCount val="13"/>
                <c:lvl>
                  <c:pt idx="0">
                    <c:v>2022</c:v>
                  </c:pt>
                  <c:pt idx="1">
                    <c:v>2023</c:v>
                  </c:pt>
                  <c:pt idx="2">
                    <c:v>2024</c:v>
                  </c:pt>
                  <c:pt idx="3">
                    <c:v>2025</c:v>
                  </c:pt>
                  <c:pt idx="4">
                    <c:v>2026</c:v>
                  </c:pt>
                  <c:pt idx="5">
                    <c:v>2027</c:v>
                  </c:pt>
                  <c:pt idx="6">
                    <c:v>2028</c:v>
                  </c:pt>
                  <c:pt idx="7">
                    <c:v>2029</c:v>
                  </c:pt>
                  <c:pt idx="8">
                    <c:v>2030</c:v>
                  </c:pt>
                  <c:pt idx="9">
                    <c:v>2031</c:v>
                  </c:pt>
                  <c:pt idx="10">
                    <c:v>2032</c:v>
                  </c:pt>
                  <c:pt idx="11">
                    <c:v>2033</c:v>
                  </c:pt>
                  <c:pt idx="12">
                    <c:v>2034</c:v>
                  </c:pt>
                </c:lvl>
              </c:multiLvlStrCache>
            </c:multiLvlStrRef>
          </c:cat>
          <c:val>
            <c:numRef>
              <c:f>Sheet1!$B$2:$B$14</c:f>
              <c:numCache>
                <c:formatCode>General</c:formatCode>
                <c:ptCount val="13"/>
                <c:pt idx="0">
                  <c:v>260.199</c:v>
                </c:pt>
                <c:pt idx="1">
                  <c:v>327.558</c:v>
                </c:pt>
                <c:pt idx="2">
                  <c:v>502.401</c:v>
                </c:pt>
                <c:pt idx="3">
                  <c:v>369.827</c:v>
                </c:pt>
                <c:pt idx="4">
                  <c:v>460.566</c:v>
                </c:pt>
                <c:pt idx="5">
                  <c:v>401.201</c:v>
                </c:pt>
                <c:pt idx="6">
                  <c:v>299.178</c:v>
                </c:pt>
                <c:pt idx="7">
                  <c:v>286.883</c:v>
                </c:pt>
                <c:pt idx="8">
                  <c:v>213.374</c:v>
                </c:pt>
                <c:pt idx="9">
                  <c:v>105.951</c:v>
                </c:pt>
                <c:pt idx="10">
                  <c:v>66.361</c:v>
                </c:pt>
                <c:pt idx="11">
                  <c:v>167.194</c:v>
                </c:pt>
                <c:pt idx="12">
                  <c:v>125.163</c:v>
                </c:pt>
              </c:numCache>
            </c:numRef>
          </c:val>
        </c:ser>
        <c:dLbls>
          <c:numFmt formatCode="0"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Passengers</c:v>
                </c:pt>
              </c:strCache>
            </c:strRef>
          </c:tx>
          <c:spPr>
            <a:solidFill>
              <a:srgbClr val="43A3A3"/>
            </a:solidFill>
            <a:ln w="38100" cap="flat">
              <a:solidFill>
                <a:srgbClr val="43A3A3"/>
              </a:solidFill>
              <a:prstDash val="solid"/>
              <a:round/>
            </a:ln>
            <a:effectLst/>
          </c:spPr>
          <c:invertIfNegative val="0"/>
          <c:dLbls>
            <c:numFmt formatCode="0.0&quot;M&quot;" sourceLinked="0"/>
            <c:txPr>
              <a:bodyPr/>
              <a:lstStyle/>
              <a:p>
                <a:pPr>
                  <a:defRPr b="0" i="0" strike="noStrike" sz="900" u="none">
                    <a:solidFill>
                      <a:srgbClr val="231F20"/>
                    </a:solidFill>
                    <a:latin typeface="Arial"/>
                  </a:defRPr>
                </a:pPr>
              </a:p>
            </c:txPr>
            <c:dLblPos val="t"/>
            <c:showLegendKey val="0"/>
            <c:showVal val="1"/>
            <c:showCatName val="0"/>
            <c:showSerName val="0"/>
            <c:showPercent val="0"/>
            <c:showBubbleSize val="0"/>
            <c:showLeaderLines val="0"/>
          </c:dLbls>
          <c:marker>
            <c:symbol val="circle"/>
            <c:size val="6"/>
            <c:spPr>
              <a:solidFill>
                <a:srgbClr val="43A3A3"/>
              </a:solidFill>
              <a:ln w="9525" cap="flat">
                <a:solidFill>
                  <a:srgbClr val="43A3A3"/>
                </a:solidFill>
                <a:prstDash val="solid"/>
                <a:round/>
              </a:ln>
              <a:effectLst/>
            </c:spPr>
          </c:marker>
          <c:cat>
            <c:multiLvlStrRef>
              <c:f>Sheet1!$A$2:$A$16</c:f>
              <c:multiLvlStrCache>
                <c:ptCount val="15"/>
                <c:lvl>
                  <c:pt idx="0">
                    <c:v>2003</c:v>
                  </c:pt>
                  <c:pt idx="1">
                    <c:v>2004</c:v>
                  </c:pt>
                  <c:pt idx="2">
                    <c:v>2005</c:v>
                  </c:pt>
                  <c:pt idx="3">
                    <c:v>2006</c:v>
                  </c:pt>
                  <c:pt idx="4">
                    <c:v>2007</c:v>
                  </c:pt>
                  <c:pt idx="5">
                    <c:v>2008</c:v>
                  </c:pt>
                  <c:pt idx="6">
                    <c:v>2009</c:v>
                  </c:pt>
                  <c:pt idx="7">
                    <c:v>2010</c:v>
                  </c:pt>
                  <c:pt idx="8">
                    <c:v>2011</c:v>
                  </c:pt>
                  <c:pt idx="9">
                    <c:v>2012</c:v>
                  </c:pt>
                  <c:pt idx="10">
                    <c:v>2013</c:v>
                  </c:pt>
                  <c:pt idx="11">
                    <c:v>2014</c:v>
                  </c:pt>
                  <c:pt idx="12">
                    <c:v>2015</c:v>
                  </c:pt>
                  <c:pt idx="13">
                    <c:v>2016</c:v>
                  </c:pt>
                  <c:pt idx="14">
                    <c:v>2017</c:v>
                  </c:pt>
                </c:lvl>
              </c:multiLvlStrCache>
            </c:multiLvlStrRef>
          </c:cat>
          <c:val>
            <c:numRef>
              <c:f>Sheet1!$B$2:$B$16</c:f>
              <c:numCache>
                <c:formatCode>General</c:formatCode>
                <c:ptCount val="15"/>
                <c:pt idx="0">
                  <c:v>66.4</c:v>
                </c:pt>
                <c:pt idx="1">
                  <c:v>69</c:v>
                </c:pt>
                <c:pt idx="2">
                  <c:v>68.9</c:v>
                </c:pt>
                <c:pt idx="3">
                  <c:v>69.5</c:v>
                </c:pt>
                <c:pt idx="4">
                  <c:v>70.7</c:v>
                </c:pt>
                <c:pt idx="5">
                  <c:v>67.5</c:v>
                </c:pt>
                <c:pt idx="6">
                  <c:v>67.2</c:v>
                </c:pt>
                <c:pt idx="7">
                  <c:v>56.3</c:v>
                </c:pt>
                <c:pt idx="8">
                  <c:v>54.3</c:v>
                </c:pt>
                <c:pt idx="9">
                  <c:v>55.8</c:v>
                </c:pt>
                <c:pt idx="10">
                  <c:v>54.3</c:v>
                </c:pt>
                <c:pt idx="11">
                  <c:v>52.4</c:v>
                </c:pt>
                <c:pt idx="12">
                  <c:v>50.9</c:v>
                </c:pt>
                <c:pt idx="13">
                  <c:v>47.2</c:v>
                </c:pt>
                <c:pt idx="14">
                  <c:v>43.8</c:v>
                </c:pt>
              </c:numCache>
            </c:numRef>
          </c:val>
          <c:smooth val="0"/>
        </c:ser>
        <c:dLbls>
          <c:numFmt formatCode="0.0&quot;M&quot;" sourceLinked="0"/>
          <c:txPr>
            <a:bodyPr/>
            <a:lstStyle/>
            <a:p>
              <a:pPr>
                <a:defRPr b="0" i="0" strike="noStrike" sz="900" u="none">
                  <a:solidFill>
                    <a:srgbClr val="231F20"/>
                  </a:solidFill>
                  <a:latin typeface="Arial"/>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231F20"/>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0&quot;M&quot;"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Revenue per available room, change vs. last year</c:v>
                </c:pt>
              </c:strCache>
            </c:strRef>
          </c:tx>
          <c:spPr>
            <a:solidFill>
              <a:srgbClr val="43A3A3"/>
            </a:solidFill>
            <a:effectLst/>
          </c:spPr>
          <c:invertIfNegative val="0"/>
          <c:dLbls>
            <c:numFmt formatCode="+0.0%"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43A3A3"/>
              </a:solidFill>
              <a:effectLst/>
            </c:spPr>
          </c:dPt>
          <c:dPt>
            <c:idx val="1"/>
            <c:invertIfNegative val="0"/>
            <c:bubble3D val="0"/>
            <c:spPr>
              <a:solidFill>
                <a:srgbClr val="B4D9E3"/>
              </a:solidFill>
              <a:effectLst/>
            </c:spPr>
          </c:dPt>
          <c:dPt>
            <c:idx val="2"/>
            <c:invertIfNegative val="0"/>
            <c:bubble3D val="0"/>
            <c:spPr>
              <a:solidFill>
                <a:srgbClr val="B4D9E3"/>
              </a:solidFill>
              <a:effectLst/>
            </c:spPr>
          </c:dPt>
          <c:dPt>
            <c:idx val="3"/>
            <c:invertIfNegative val="0"/>
            <c:bubble3D val="0"/>
            <c:spPr>
              <a:solidFill>
                <a:srgbClr val="B4D9E3"/>
              </a:solidFill>
              <a:effectLst/>
            </c:spPr>
          </c:dPt>
          <c:dPt>
            <c:idx val="4"/>
            <c:invertIfNegative val="0"/>
            <c:bubble3D val="0"/>
            <c:spPr>
              <a:solidFill>
                <a:srgbClr val="B4D9E3"/>
              </a:solidFill>
              <a:effectLst/>
            </c:spPr>
          </c:dPt>
          <c:cat>
            <c:multiLvlStrRef>
              <c:f>Sheet1!$A$2:$A$6</c:f>
              <c:multiLvlStrCache>
                <c:ptCount val="5"/>
                <c:lvl>
                  <c:pt idx="0">
                    <c:v>Anaheim, Q2 2026</c:v>
                  </c:pt>
                  <c:pt idx="1">
                    <c:v>Anaheim, Q1 2026</c:v>
                  </c:pt>
                  <c:pt idx="2">
                    <c:v>Anaheim, 2026 forecast</c:v>
                  </c:pt>
                  <c:pt idx="3">
                    <c:v>U.S., Q2 2026</c:v>
                  </c:pt>
                  <c:pt idx="4">
                    <c:v>U.S., 2026 forecast</c:v>
                  </c:pt>
                </c:lvl>
              </c:multiLvlStrCache>
            </c:multiLvlStrRef>
          </c:cat>
          <c:val>
            <c:numRef>
              <c:f>Sheet1!$B$2:$B$6</c:f>
              <c:numCache>
                <c:formatCode>General</c:formatCode>
                <c:ptCount val="5"/>
                <c:pt idx="0">
                  <c:v>0.114</c:v>
                </c:pt>
                <c:pt idx="1">
                  <c:v>0.106</c:v>
                </c:pt>
                <c:pt idx="2">
                  <c:v>0.07</c:v>
                </c:pt>
                <c:pt idx="3">
                  <c:v>0.057</c:v>
                </c:pt>
                <c:pt idx="4">
                  <c:v>0.051</c:v>
                </c:pt>
              </c:numCache>
            </c:numRef>
          </c:val>
        </c:ser>
        <c:dLbls>
          <c:numFmt formatCode="+0.0%"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2027 events</c:v>
                </c:pt>
              </c:strCache>
            </c:strRef>
          </c:tx>
          <c:spPr>
            <a:solidFill>
              <a:srgbClr val="43A3A3"/>
            </a:solidFill>
            <a:ln w="38100" cap="flat">
              <a:solidFill>
                <a:srgbClr val="43A3A3"/>
              </a:solidFill>
              <a:prstDash val="solid"/>
              <a:round/>
            </a:ln>
            <a:effectLst/>
          </c:spPr>
          <c:invertIfNegative val="0"/>
          <c:dLbls>
            <c:numFmt formatCode="+0&quot;%&quot;" sourceLinked="0"/>
            <c:txPr>
              <a:bodyPr/>
              <a:lstStyle/>
              <a:p>
                <a:pPr>
                  <a:defRPr b="0" i="0" strike="noStrike" sz="900" u="none">
                    <a:solidFill>
                      <a:srgbClr val="231F20"/>
                    </a:solidFill>
                    <a:latin typeface="Arial"/>
                  </a:defRPr>
                </a:pPr>
              </a:p>
            </c:txPr>
            <c:dLblPos val="t"/>
            <c:showLegendKey val="0"/>
            <c:showVal val="1"/>
            <c:showCatName val="0"/>
            <c:showSerName val="0"/>
            <c:showPercent val="0"/>
            <c:showBubbleSize val="0"/>
            <c:showLeaderLines val="0"/>
          </c:dLbls>
          <c:marker>
            <c:symbol val="circle"/>
            <c:size val="6"/>
            <c:spPr>
              <a:solidFill>
                <a:srgbClr val="43A3A3"/>
              </a:solidFill>
              <a:ln w="9525" cap="flat">
                <a:solidFill>
                  <a:srgbClr val="43A3A3"/>
                </a:solidFill>
                <a:prstDash val="solid"/>
                <a:round/>
              </a:ln>
              <a:effectLst/>
            </c:spPr>
          </c:marker>
          <c:cat>
            <c:multiLvlStrRef>
              <c:f>Sheet1!$A$2:$A$6</c:f>
              <c:multiLvlStrCache>
                <c:ptCount val="5"/>
                <c:lvl>
                  <c:pt idx="0">
                    <c:v>Jan. 2026</c:v>
                  </c:pt>
                  <c:pt idx="1">
                    <c:v>Apr. 2026</c:v>
                  </c:pt>
                  <c:pt idx="2">
                    <c:v>June 2026</c:v>
                  </c:pt>
                  <c:pt idx="3">
                    <c:v>July 2026</c:v>
                  </c:pt>
                  <c:pt idx="4">
                    <c:v>Sept. 2026</c:v>
                  </c:pt>
                </c:lvl>
              </c:multiLvlStrCache>
            </c:multiLvlStrRef>
          </c:cat>
          <c:val>
            <c:numRef>
              <c:f>Sheet1!$B$2:$B$6</c:f>
              <c:numCache>
                <c:formatCode>General</c:formatCode>
                <c:ptCount val="5"/>
                <c:pt idx="0">
                  <c:v>2</c:v>
                </c:pt>
                <c:pt idx="1">
                  <c:v>16</c:v>
                </c:pt>
                <c:pt idx="2">
                  <c:v>16</c:v>
                </c:pt>
                <c:pt idx="3">
                  <c:v>17</c:v>
                </c:pt>
                <c:pt idx="4">
                  <c:v>17</c:v>
                </c:pt>
              </c:numCache>
            </c:numRef>
          </c:val>
          <c:smooth val="0"/>
        </c:ser>
        <c:ser>
          <c:idx val="1"/>
          <c:order val="1"/>
          <c:tx>
            <c:strRef>
              <c:f>Sheet1!$C$1</c:f>
              <c:strCache>
                <c:ptCount val="1"/>
                <c:pt idx="0">
                  <c:v>2026 events</c:v>
                </c:pt>
              </c:strCache>
            </c:strRef>
          </c:tx>
          <c:spPr>
            <a:solidFill>
              <a:srgbClr val="77C7C9"/>
            </a:solidFill>
            <a:ln w="38100" cap="flat">
              <a:solidFill>
                <a:srgbClr val="77C7C9"/>
              </a:solidFill>
              <a:prstDash val="solid"/>
              <a:round/>
            </a:ln>
            <a:effectLst/>
          </c:spPr>
          <c:invertIfNegative val="0"/>
          <c:dLbls>
            <c:numFmt formatCode="+0&quot;%&quot;" sourceLinked="0"/>
            <c:txPr>
              <a:bodyPr/>
              <a:lstStyle/>
              <a:p>
                <a:pPr>
                  <a:defRPr b="0" i="0" strike="noStrike" sz="900" u="none">
                    <a:solidFill>
                      <a:srgbClr val="231F20"/>
                    </a:solidFill>
                    <a:latin typeface="Arial"/>
                  </a:defRPr>
                </a:pPr>
              </a:p>
            </c:txPr>
            <c:dLblPos val="t"/>
            <c:showLegendKey val="0"/>
            <c:showVal val="1"/>
            <c:showCatName val="0"/>
            <c:showSerName val="0"/>
            <c:showPercent val="0"/>
            <c:showBubbleSize val="0"/>
            <c:showLeaderLines val="0"/>
          </c:dLbls>
          <c:marker>
            <c:symbol val="circle"/>
            <c:size val="6"/>
            <c:spPr>
              <a:solidFill>
                <a:srgbClr val="77C7C9"/>
              </a:solidFill>
              <a:ln w="9525" cap="flat">
                <a:solidFill>
                  <a:srgbClr val="77C7C9"/>
                </a:solidFill>
                <a:prstDash val="solid"/>
                <a:round/>
              </a:ln>
              <a:effectLst/>
            </c:spPr>
          </c:marker>
          <c:cat>
            <c:multiLvlStrRef>
              <c:f>Sheet1!$A$2:$A$6</c:f>
              <c:multiLvlStrCache>
                <c:ptCount val="5"/>
                <c:lvl>
                  <c:pt idx="0">
                    <c:v>Jan. 2026</c:v>
                  </c:pt>
                  <c:pt idx="1">
                    <c:v>Apr. 2026</c:v>
                  </c:pt>
                  <c:pt idx="2">
                    <c:v>June 2026</c:v>
                  </c:pt>
                  <c:pt idx="3">
                    <c:v>July 2026</c:v>
                  </c:pt>
                  <c:pt idx="4">
                    <c:v>Sept. 2026</c:v>
                  </c:pt>
                </c:lvl>
              </c:multiLvlStrCache>
            </c:multiLvlStrRef>
          </c:cat>
          <c:val>
            <c:numRef>
              <c:f>Sheet1!$C$2:$C$6</c:f>
              <c:numCache>
                <c:formatCode>General</c:formatCode>
                <c:ptCount val="5"/>
                <c:pt idx="0">
                  <c:v>22</c:v>
                </c:pt>
                <c:pt idx="1">
                  <c:v>16</c:v>
                </c:pt>
                <c:pt idx="2">
                  <c:v>16</c:v>
                </c:pt>
                <c:pt idx="3">
                  <c:v>12</c:v>
                </c:pt>
                <c:pt idx="4">
                  <c:v>12</c:v>
                </c:pt>
              </c:numCache>
            </c:numRef>
          </c:val>
          <c:smooth val="0"/>
        </c:ser>
        <c:dLbls>
          <c:numFmt formatCode="+0&quot;%&quot;" sourceLinked="0"/>
          <c:txPr>
            <a:bodyPr/>
            <a:lstStyle/>
            <a:p>
              <a:pPr>
                <a:defRPr b="0" i="0" strike="noStrike" sz="900" u="none">
                  <a:solidFill>
                    <a:srgbClr val="231F20"/>
                  </a:solidFill>
                  <a:latin typeface="Arial"/>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231F20"/>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_rels/notesSlide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5.xml"/>
		</Relationships>
</file>

<file path=ppt/notesSlides/_rels/notesSlide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6.xml"/>
		</Relationships>
</file>

<file path=ppt/notesSlides/_rels/notesSlide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7.xml"/>
		</Relationships>
</file>

<file path=ppt/notesSlides/_rels/notesSlide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8.xml"/>
		</Relationships>
</file>

<file path=ppt/notesSlides/_rels/notesSlide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9.xml"/>
		</Relationships>
</file>

<file path=ppt/notesSlides/_rels/notesSlide1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0.xml"/>
		</Relationships>
</file>

<file path=ppt/notesSlides/_rels/notesSlide1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1.xml"/>
		</Relationships>
</file>

<file path=ppt/notesSlides/_rels/notesSlide1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2.xml"/>
		</Relationships>
</file>

<file path=ppt/notesSlides/_rels/notesSlide1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3.xml"/>
		</Relationships>
</file>

<file path=ppt/notesSlides/_rels/notesSlide1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4.xml"/>
		</Relationships>
</file>

<file path=ppt/notesSlides/_rels/notesSlide1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5.xml"/>
		</Relationships>
</file>

<file path=ppt/notesSlides/_rels/notesSlide1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6.xml"/>
		</Relationships>
</file>

<file path=ppt/notesSlides/_rels/notesSlide1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7.xml"/>
		</Relationships>
</file>

<file path=ppt/notesSlides/_rels/notesSlide1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8.xml"/>
		</Relationships>
</file>

<file path=ppt/notesSlides/_rels/notesSlide1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9.xml"/>
		</Relationships>
</file>

<file path=ppt/notesSlides/_rels/notesSlide1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0.xml"/>
		</Relationships>
</file>

<file path=ppt/notesSlides/_rels/notesSlide1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1.xml"/>
		</Relationships>
</file>

<file path=ppt/notesSlides/_rels/notesSlide1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2.xml"/>
		</Relationships>
</file>

<file path=ppt/notesSlides/_rels/notesSlide1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3.xml"/>
		</Relationships>
</file>

<file path=ppt/notesSlides/_rels/notesSlide1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4.xml"/>
		</Relationships>
</file>

<file path=ppt/notesSlides/_rels/notesSlide1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5.xml"/>
		</Relationships>
</file>

<file path=ppt/notesSlides/_rels/notesSlide1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6.xml"/>
		</Relationships>
</file>

<file path=ppt/notesSlides/_rels/notesSlide1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7.xml"/>
		</Relationships>
</file>

<file path=ppt/notesSlides/_rels/notesSlide1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8.xml"/>
		</Relationships>
</file>

<file path=ppt/notesSlides/_rels/notesSlide1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9.xml"/>
		</Relationships>
</file>

<file path=ppt/notesSlides/_rels/notesSlide1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0.xml"/>
		</Relationships>
</file>

<file path=ppt/notesSlides/_rels/notesSlide1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1.xml"/>
		</Relationships>
</file>

<file path=ppt/notesSlides/_rels/notesSlide1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2.xml"/>
		</Relationships>
</file>

<file path=ppt/notesSlides/_rels/notesSlide1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3.xml"/>
		</Relationships>
</file>

<file path=ppt/notesSlides/_rels/notesSlide1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4.xml"/>
		</Relationships>
</file>

<file path=ppt/notesSlides/_rels/notesSlide1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5.xml"/>
		</Relationships>
</file>

<file path=ppt/notesSlides/_rels/notesSlide1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6.xml"/>
		</Relationships>
</file>

<file path=ppt/notesSlides/_rels/notesSlide1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7.xml"/>
		</Relationships>
</file>

<file path=ppt/notesSlides/_rels/notesSlide1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8.xml"/>
		</Relationships>
</file>

<file path=ppt/notesSlides/_rels/notesSlide1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9.xml"/>
		</Relationships>
</file>

<file path=ppt/notesSlides/_rels/notesSlide1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0.xml"/>
		</Relationships>
</file>

<file path=ppt/notesSlides/_rels/notesSlide1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1.xml"/>
		</Relationships>
</file>

<file path=ppt/notesSlides/_rels/notesSlide1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Prepared by Visit Anaheim Business Intelligence for OC Vibe (BIREPORTS-966).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Tourism Economics, Travel Forecast (pub. Sept. 2026; data to Aug. 31, 2026); LARC Market Intelligence Reports (Jan.–Sept. 2026); Datafy Anaheim visitor report (calendar 2024); Azira via Symphony (District 5, Jan. 1–May 31, 2026; domestic visitors, Aug. 2026); STR daily data, Visit Anaheim hotel sets (Jan. 1–Oct. 3, 2026); OCTA Traffic Flow Map (pub. Aug. 2026) and bus schedules (Aug. 9–Nov. 7, 2026); BizBash (Sept. 16, 2026); Visa Destination Insights via Symphony (Aug. 2026 vs. Aug. 2025)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Visit Anaheim Business Intelligence updates OC Vibe Insights each quarter, on the 15th of January, April, July and October, after Tourism Economics delivers its quarterly Anaheim Travel Forecast. The data was last updated Oct. 19, 2026; the next scheduled update is Jan. 15, 2027.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Anaheim visitor spent about $258 in 2025. Countywide, the average was $350 per visitor, and across the U.S. travel spending came to about $553 per trip.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Spending per visitor (Tourism Economics) or per trip (U.S. Travel Association). Calculation shown for each 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every Anaheim visitor stayed one more night, lodging spending would rise about $794M. Counting all spending, one more day for overnight visitors is worth about $1.02B, and one more day for every visitor about $3.15B (the study's upper bound).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2025 inputs. Weighted average stay blends domestic and international stays.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Visitors spent $224M on transportation in Anaheim in 2025 (3.3% of spending), supporting 2,080 jobs in transportation and gas stations. Countywide: $707M and 6,141 jobs. Statewide, visitors spent $25.2B on local transportation, gas and air (17.9% of visitor spending).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Visitor transportation spending and the jobs, business sales and labor income it supports in transportation and gas stations (direct + indirect + induced).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85.8% of District 5 visitors stay overnight and 43.8% are first-time visitors (Jan.–May 2026). Their median household income is $85.7K, above the $79.9K for all Anaheim and Garden Grove visitors and the $85.4K U.S. household median.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Share of domestic unique visitors, Jan.–May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Tourism Economics figures cover the City of Anaheim. They are not allocated to OC Vibe, and this report does not estimate OC Vibe's impact: no OC Vibe attendance, ticketing or hotel data exists yet.
2025 figures are measured results published in 2026; 2026 figures are Tourism Economics' forecast (Sept. 2026). Changes for 2026 are as Tourism Economics published them; the rounded values shown may differ slightly.
Change vs. 2024: visitors 26.3M to 26.5M (+0.8%); spending $6.626B to $6.832B (+3.1%), both from Tourism Economics.
Concert hall capacity differs by source: 5,000 (OCVIBE release, Mar. 12, 2026) and 5,613 (City of Anaheim, 2026). Confirm with OC Vibe.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Tourism Economics figures cover the City of Anaheim. They are not allocated to OC Vibe, and this report does not estimate OC Vibe's impact: no OC Vibe attendance, ticketing or hotel data exists yet.
2025 figures are measured results published in 2026; 2026 figures are Tourism Economics' forecast (Sept. 2026). Changes for 2026 are as Tourism Economics published them; the rounded values shown may differ slightly.
Change vs. 2024: visitors 26.3M to 26.5M (+0.8%); spending $6.626B to $6.832B (+3.1%), both from Tourism Economics.
Concert hall capacity differs by source: 5,000 (OCVIBE release, Mar. 12, 2026) and 5,613 (City of Anaheim, 2026). Confirm with OC Vibe.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section follows Anaheim and OC Vibe today: Anaheim sits inside a larger county market. The next section sizes Orange County: arrivals, origins, seasonality, visitor profile and hotels.
The five questions, as sent by Entertainment + Culture Advisors on Oct. 19, 2026: (1) How many visitors came to Orange County each year from 2019 to 2025, and so far in 2026, split by domestic and international and by overnight and day? (2) Where do visitors come from, and can the Los Angeles-Long Beach-Anaheim area be split into Anaheim and outside Anaheim? (3) How does visitation change month by month? (4) What is the purpose of the trip, how long do visitors stay, how large is the travel party and how many travel with children? (5) How many hotel rooms does Orange County have, and what are occupancy and average daily rate?
Two visitor series exist and are kept apart: CIC Research for Visit Anaheim (2009-2019, survey-based) and Tourism Economics (2021-2025, model-based). CIC counted 50.21M visitors in 2019; Tourism Economics counted 51.3M in 2025. Neither publishes 2020 for the county; Dean Runyan Associates shows county visitor spending fell to 46.7% of its 2019 level that year.
Origins can be shown at the metro-area level. The Los Angeles-Long Beach-Anaheim metro area includes all of Orange County, and Azira does not supply ZIP codes, so a split between Anaheim and the rest of the metro area is not available from current sources.
Monthly visitor counts are not published for Orange County. Hotel occupancy is the monthly measure: July averaged 80.6% and January 61.2% over 2023-2025 (CoStar).
The most recent Orange County visitor profile is CIC Research's 2019 study; no newer county survey was found in Visit Anaheim's SharePoint or in Visit California's research (searched Oct. 19,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questions, as sent by Entertainment + Culture Advisors on Oct. 19, 2026: (1) How many visitors came to Orange County each year from 2019 to 2025, and so far in 2026, split by domestic and international and by overnight and day? (2) Where do visitors come from, and can the Los Angeles-Long Beach-Anaheim area be split into Anaheim and outside Anaheim? (3) How does visitation change month by month? (4) What is the purpose of the trip, how long do visitors stay, how large is the travel party and how many travel with children? (5) How many hotel rooms does Orange County have, and what are occupancy and average daily rate?
Two visitor series exist and are kept apart: CIC Research for Visit Anaheim (2009-2019, survey-based) and Tourism Economics (2021-2025, model-based). CIC counted 50.21M visitors in 2019; Tourism Economics counted 51.3M in 2025. Neither publishes 2020 for the county; Dean Runyan Associates shows county visitor spending fell to 46.7% of its 2019 level that year.
Origins can be shown at the metro-area level. The Los Angeles-Long Beach-Anaheim metro area includes all of Orange County, and Azira does not supply ZIP codes, so a split between Anaheim and the rest of the metro area is not available from current sources.
Monthly visitor counts are not published for Orange County. Hotel occupancy is the monthly measure: July averaged 80.6% and January 61.2% over 2023-2025 (CoStar).
The most recent Orange County visitor profile is CIC Research's 2019 study; no newer county survey was found in Visit Anaheim's SharePoint or in Visit California's research (searched Oct. 19,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section follows Orange County tourism: With the county market sized, the next question is who visits the OC Vibe area itself.
Saturday (15.9%) and Sunday (15.3%) are the busiest days for District 5 visits.
Virginia (4.2%) and the Washington, D.C. metro (3.6%) rank unusually high; this may reflect a group event or the device sample, so confirm before citing.
Overnight and new-visitor shares count visitors who stayed 4+ hours, are not commuters and live 50+ miles away (Symphony definition). Datafy covers calendar 2024 and uses a different device panel than Symphony.
District 5 geography is as defined in Symphony; Datafy's OC Vibe cluster is Datafy's own boundary.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Saturday (15.9%) and Sunday (15.3%) are the busiest days for District 5 visits.
Virginia (4.2%) and the Washington, D.C. metro (3.6%) rank unusually high; this may reflect a group event or the device sample, so confirm before citing.
Overnight and new-visitor shares count visitors who stayed 4+ hours, are not commuters and live 50+ miles away (Symphony definition). Datafy covers calendar 2024 and uses a different device panel than Symphony.
District 5 geography is as defined in Symphony; Datafy's OC Vibe cluster is Datafy's own boundary.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 markets: beyond Southern California, the largest visitor spending comes from San Francisco, Seattle, Phoenix, Las Vegas, San Jose, Sacramento, Orlando, New York and Detroit, and internationally from Mexico ($5.2M), Canada and Japan (Visa, Aug. 2026). These are fly-in markets where OC Vibe events can justify a longer trip.
International visitors spent $5.4M on restaurants and dining in August 2026, but that was down 19.1% from a year earlier, while retail rose 9.3% (Visa). Dining is OC Vibe's biggest category and the one to watch with international guests.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section follows Who visits: Knowing who visits leads to what each visitor is worth. Spending per visitor converts audience size into economic value.
Overnight visits are growing faster than day visits (Q2 2026: +4.5% vs. +2.1%); Tourism Economics expects overnight visits to grow 1.9% a year through 2028.
International visits to Anaheim and Garden Grove: 2.16 million forecast for 2026 (+1.0%), spending $2.79 billion; Mexico leads growth (+6.9%).
U.S. context (Tourism Economics, Sept. 2026): consumer spending is increasingly carried by higher-income households; the Federal Reserve is expected to hold rates until Q3 2027.
Spending per visitor is a BI calculation from rounded Tourism Economics totals, so treat values as approximate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Overnight visits are growing faster than day visits (Q2 2026: +4.5% vs. +2.1%); Tourism Economics expects overnight visits to grow 1.9% a year through 2028.
International visits to Anaheim and Garden Grove: 2.16 million forecast for 2026 (+1.0%), spending $2.79 billion; Mexico leads growth (+6.9%).
U.S. context (Tourism Economics, Sept. 2026): consumer spending is increasingly carried by higher-income households; the Federal Reserve is expected to hold rates until Q3 2027.
Spending per visitor is a BI calculation from rounded Tourism Economics totals, so treat values as approximate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section follows Visitor spending: Spending is the input; jobs and tax revenue are the outcome. The next section traces how visitor dollars move through the Anaheim and Orange County economy.
In Anaheim, recreation and entertainment is the largest tourism employer (28,970 jobs), reflecting the theme parks and venues; food and beverage is second (11,366).
Garden Grove's economic impact report shows visitor spending flat at $769.3 million in 2025; its forecast report shows $767.4 million. Values differ slightly between Tourism Economics releases.
Note on sources: the Anaheim and Garden Grove Travel Forecast does not include jobs or spending by category; these come from Tourism Economics' 2025 economic impact reports for each geography.
Ratios from Tourism Economics 2025: about 9.9 jobs and about $142,000 in state and local taxes per $1M of visitor spending (67,817 jobs ÷ $6,832M; $970M ÷ $6,832M).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Anaheim, recreation and entertainment is the largest tourism employer (28,970 jobs), reflecting the theme parks and venues; food and beverage is second (11,366).
Garden Grove's economic impact report shows visitor spending flat at $769.3 million in 2025; its forecast report shows $767.4 million. Values differ slightly between Tourism Economics releases.
Note on sources: the Anaheim and Garden Grove Travel Forecast does not include jobs or spending by category; these come from Tourism Economics' 2025 economic impact reports for each geography.
Ratios from Tourism Economics 2025: about 9.9 jobs and about $142,000 in state and local taxes per $1M of visitor spending (67,817 jobs ÷ $6,832M; $970M ÷ $6,832M).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section follows Jobs and economy: Lodging is one of the largest categories of visitor spending ($1.724B in 2025), so hotel capacity comes next: how full Anaheim hotels are, at what rate, and on which nights rooms are open.
Food and beverage is a growing part of hotel revenue. Over the past 12 months, Disneyland submarket hotels earned 22.4% of revenue from food and beverage, and food revenue per available room rose 28.9%. Countywide the share is 29.4%. Labor is the largest cost: 41.8% of revenue in the Disneyland submarket.
Leisure and hospitality is a specialty of the county: 244K jobs, 1.3 times the U.S. concentration, growing +2.69% vs. +1.59% nationally. Median household income is $121,883, 43% above the U.S. CoStar describes a drive market of 20 million people within 90 miles.
Costs: California's minimum wage is $16.50 (2025), and Anaheim's resort-area living-wage ordinance brought covered Disney wages to $20.42 in 2025.
Conventions, as cited by CoStar from Visit Anaheim: 142 events secured for 2026, projected at about $1.74 billion in economic impact and nearly 600,000 hotel room nights.
Investment: hotel sales slowed with higher borrowing costs. In May 2026 a 352-room hotel at 101 E. Katella Ave. sold for $78.75 million ($223,722 per room). CoStar notes that the OC Vibe district could create opportunities for future hotel investment.
CoStar describes OC Vibe as a $4 billion project with full buildout targeted by 2028. LARC reports $5 billion with a final phase by 2033. OC Vibe's own figures should be used.
CoStar's "Disneyland" and "Anaheim" submarkets split the city's hotels. The exact boundary around OC Vibe could not be confirmed from the CoStar map.
STR hotel sets: groups filled 18.2% of rooms sold at Anaheim+ hotels in 2026 at $228 a night; leisure and other transient guests filled 80.9% at $245.
2026 hotel calendar (STR, Jan.–Sept.): weeknights had the most open rooms in Jan., May, Aug. and Sept. (64%–74% full); July had the most nights at 90%+ (10); groups took the largest share of rooms in Feb. (25.0%) and Mar. (22.2%). Use these windows to schedule events that need hotel rooms, and avoid peak nights for large out-of-town groups.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Food and beverage is a growing part of hotel revenue. Over the past 12 months, Disneyland submarket hotels earned 22.4% of revenue from food and beverage, and food revenue per available room rose 28.9%. Countywide the share is 29.4%. Labor is the largest cost: 41.8% of revenue in the Disneyland submarket.
Leisure and hospitality is a specialty of the county: 244K jobs, 1.3 times the U.S. concentration, growing +2.69% vs. +1.59% nationally. Median household income is $121,883, 43% above the U.S. CoStar describes a drive market of 20 million people within 90 miles.
Costs: California's minimum wage is $16.50 (2025), and Anaheim's resort-area living-wage ordinance brought covered Disney wages to $20.42 in 2025.
Conventions, as cited by CoStar from Visit Anaheim: 142 events secured for 2026, projected at about $1.74 billion in economic impact and nearly 600,000 hotel room nights.
Investment: hotel sales slowed with higher borrowing costs. In May 2026 a 352-room hotel at 101 E. Katella Ave. sold for $78.75 million ($223,722 per room). CoStar notes that the OC Vibe district could create opportunities for future hotel investment.
CoStar describes OC Vibe as a $4 billion project with full buildout targeted by 2028. LARC reports $5 billion with a final phase by 2033. OC Vibe's own figures should be used.
CoStar's "Disneyland" and "Anaheim" submarkets split the city's hotels. The exact boundary around OC Vibe could not be confirmed from the CoStar map.
STR hotel sets: groups filled 18.2% of rooms sold at Anaheim+ hotels in 2026 at $228 a night; leisure and other transient guests filled 80.9% at $245.
2026 hotel calendar (STR, Jan.–Sept.): weeknights had the most open rooms in Jan., May, Aug. and Sept. (64%–74% full); July had the most nights at 90%+ (10); groups took the largest share of rooms in Feb. (25.0%) and Mar. (22.2%). Use these windows to schedule events that need hotel rooms, and avoid peak nights for large out-of-town groups.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Sunday and Monday are the open nights: Visit Anaheim hotels ran 70.6% occupancy on those nights in 2026 vs. 86.2% on Fridays and Saturdays (STR). Each point OC Vibe adds on Sunday and Monday nights is about 22,200 room nights and $5.1M in room revenue a year.
The rest of Anaheim (CoStar's Anaheim submarket) averages $130 a night vs. $255 in the resort area. Where OC Vibe's hotels price between those two will drive their revenue more than occupancy.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section follows Hotel market: Open rooms on Sunday and Monday nights point to the most direct lever, longer stays. The next section measures what one more night per visitor is worth.
Why $0.8 billion is the headline: a night is mainly a lodging decision, and the lodging-only figure matches the earlier BI callout (“half a night longer = $750 million”, built on 2025 forecast inputs).
The $3.15 billion figure from the original Extra Night deck assumes all 26.5 million visitors, including 17.9 million day visitors, add a full day at average spending. Treat it as a ceiling, not a forecast.
All values are estimates that hold spending per day constant.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$0.8 billion is the headline: a night is mainly a lodging decision, and the lodging-only figure matches the earlier BI callout (“half a night longer = $750 million”, built on 2025 forecast inputs).
The $3.15 billion figure from the original Extra Night deck assumes all 26.5 million visitors, including 17.9 million day visitors, add a full day at average spending. Treat it as a ceiling, not a forecast.
All values are estimates that hold spending per day constant.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Room nights and attendees as booked; 2026 onward are future events on the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section follows One more night: Longer stays depend on how easily visitors arrive and leave, especially after evening events. The next section examines road, bus and rail access to the OC Vibe area.
Transit: Route 50 (Katella Ave) reaches the Katella/Harbor resort area from ARTIC in about 14 minutes and Route 553 in about 15. Weekend one-seat service to the resort drops to 29 trips on Saturday (Route 553 does not run). The single-ride bus fare is $2.00.
Late events: 16 weekday bus trips stop at ARTIC after 10 p.m. (11 leaving, 5 ending there); the last departure is at 1:38 a.m.. The bus data does not include Metrolink or Amtrak trains, which also serve ARTIC.
The 2026 traffic map repeats older counts near OC Vibe: freeway volumes are from 2024, and Katella Ave next to the district was last counted in 2021. New counts before OC Vibe's 2027 openings would set a clean baseline.
Cost trends (BTS): driving a car cost $0.82 per mile in 2024, up 32% from 2019; West Coast gasoline averaged $4.09 in 2025, about $1 above the U.S.; domestic airfares averaged $387 (+10% since 2019). LARC and Tourism Economics note gas prices spiked again in spring 2026, which weighs most on drive-market visitors.
County context (BTS): 67.5% of Orange County workers drive alone and 1.2% use public transportation; 4.8% of households (51,573) have no vehicle. The county has one medium-hub airport (John Wayne), 68 miles of passenger rail track and 1,181 bridges (2.8% in poor condition).
Drive market and air (CoStar): about 20 million people live within 90 miles, which makes driving the main way visitors arrive. John Wayne Airport handled a record 11.74 million passengers in 2023 and 11.09 million in 2024, on 13 commercial airlines.
Source note: the 2026 ADT file is OCTA's Traffic Flow Map, not Visit California data. Tourism Economics transportation impact data has not been received yet.
Rail data are station totals (Amtrak) and line totals (Metrolink); ARTIC station-level Metrolink boardings were not available.
Orange County transit ridership peaked at 70.7M passengers in 2007 and fell to 43.8M by 2017 (-38%), while OCTA's vehicle fleet grew from 615 to 1,066. Expenses per passenger rose from $3.28 to $7.00. For OC Vibe this means most guests will drive, and that buses have spare seats outside peak hours. Solution: pair event-night service requests with ticket-and-transit promotions so added buses fill.
Orange County transit, 2003–2017: OCTA's staff fell 14.6% (1,786 to 1,526), with the largest drop after 2009 (2,235 to 1,585), while its expenses rose 17.9% ($193.4M to $227.9M), or from $108K to $149K per employee. Specialized service expenses grew fastest ($23.0M to $75.1M, +227%). Countywide, expenses exceeded revenues in 10 of 15 years (2017: −$0.9M). A leaner, cost-pressured system can limit how much extra event-night service OCTA adds on short notice. Solution: OC Vibe should request event-night service early, share its event calendar with OCTA, and consider co-funding late-night service on its biggest nights. The data ends in 2017, so it shows the long-term trend, not today's budgets.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 Route 50 (Katella Ave) reaches the Katella/Harbor resort area from ARTIC in about 14 minutes and Route 553 in about 15. Weekend one-seat service to the resort drops to 29 trips on Saturday (Route 553 does not run). The single-ride bus fare is $2.00.
Late events: 16 weekday bus trips stop at ARTIC after 10 p.m. (11 leaving, 5 ending there); the last departure is at 1:38 a.m.. The bus data does not include Metrolink or Amtrak trains, which also serve ARTIC.
The 2026 traffic map repeats older counts near OC Vibe: freeway volumes are from 2024, and Katella Ave next to the district was last counted in 2021. New counts before OC Vibe's 2027 openings would set a clean baseline.
Cost trends (BTS): driving a car cost $0.82 per mile in 2024, up 32% from 2019; West Coast gasoline averaged $4.09 in 2025, about $1 above the U.S.; domestic airfares averaged $387 (+10% since 2019). LARC and Tourism Economics note gas prices spiked again in spring 2026, which weighs most on drive-market visitors.
County context (BTS): 67.5% of Orange County workers drive alone and 1.2% use public transportation; 4.8% of households (51,573) have no vehicle. The county has one medium-hub airport (John Wayne), 68 miles of passenger rail track and 1,181 bridges (2.8% in poor condition).
Drive market and air (CoStar): about 20 million people live within 90 miles, which makes driving the main way visitors arrive. John Wayne Airport handled a record 11.74 million passengers in 2023 and 11.09 million in 2024, on 13 commercial airlines.
Source note: the 2026 ADT file is OCTA's Traffic Flow Map, not Visit California data. Tourism Economics transportation impact data has not been received yet.
Rail data are station totals (Amtrak) and line totals (Metrolink); ARTIC station-level Metrolink boardings were not available.
Orange County transit ridership peaked at 70.7M passengers in 2007 and fell to 43.8M by 2017 (-38%), while OCTA's vehicle fleet grew from 615 to 1,066. Expenses per passenger rose from $3.28 to $7.00. For OC Vibe this means most guests will drive, and that buses have spare seats outside peak hours. Solution: pair event-night service requests with ticket-and-transit promotions so added buses fill.
Orange County transit, 2003–2017: OCTA's staff fell 14.6% (1,786 to 1,526), with the largest drop after 2009 (2,235 to 1,585), while its expenses rose 17.9% ($193.4M to $227.9M), or from $108K to $149K per employee. Specialized service expenses grew fastest ($23.0M to $75.1M, +227%). Countywide, expenses exceeded revenues in 10 of 15 years (2017: −$0.9M). A leaner, cost-pressured system can limit how much extra event-night service OCTA adds on short notice. Solution: OC Vibe should request event-night service early, share its event calendar with OCTA, and consider co-funding late-night service on its biggest nights. The data ends in 2017, so it shows the long-term trend, not today's budgets.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Rail already brings visitors to OC Vibe's front door: 191,153 Amtrak passengers used the Anaheim station at ARTIC in 2024 (79% of the 2018 level), mostly on trips under 100 miles from San Diego and Los Angeles. 15.6 million people live within 50 miles of the station.
Metrolink's Orange County Line carries 5,116 weekday riders and is growing (+4%), and 55% of Metrolink trips are not commutes. Weekend ridership is down, so event-night rail service is a gap to raise with Metrolink and OCTA.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section follows Getting here: Access determines who can come; marketing influences who chooses to. The next section shows how paid media converts into measured visits.
Observed visits are counted once per visitor, on the first visit at least three days after exposure.
Campaign-to-district visit shares in the source export could not be matched reliably and are not shown.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Observed visits are counted once per visitor, on the first visit at least three days after exposure.
Campaign-to-district visit shares in the source export could not be matched reliably and are not shown.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section follows Marketing reach: With audience, value, capacity, access and reach measured, the last section looks at the market conditions OC Vibe will open into.
Demand drivers near OC Vibe: Honda Center (Anaheim Ducks and concerts), Angel Stadium, ARTIC, the Anaheim Convention Center (1.8 million sq ft) and DisneylandForward ($1.9 billion; Avengers Campus expansion opening 2027). OC Sports &amp; Entertainment now employs about 3,000 locally (up from 2,000 in the June report).
Events: the 2028 Summer Olympics include cycling and volleyball events in Anaheim, and LARC expects a 2028 hotel lift from them. The 2026 World Cup lifted rates this year but becomes a tough comparison in Q2–Q3 2027. Solution: set 2027 targets against 2025 as well as 2026.
Office: Orange County office vacancy was 14.4% in Q2 2026 (down 3.4 points from a year earlier); Kiln took 39,000 sq ft in the Stadium Area, where The Weave adds 168,000 sq ft of Class A space.
Costs and inflation: Anaheim consumer prices are forecast to rise 3.2% a year over three years (3.3% in 2026, 3.5% in 2027), above the U.S. Hotel wages are forecast to grow 2.6% a year, about 6.0% a year in total labor cost, and LA County's $30 hotel minimum wage (by 2030) may pressure Orange County wages. Solution: build these costs into OC Vibe pricing and staffing plans, and cross-train staff across venues.
Risks LARC flags: higher gas prices and airfares tied to the Iran conflict, a possible 2026 federal shutdown, midterm-election softness in Q4 2026, and slower U.S. job growth. Solution: lean on drive markets within 90 miles, flexible packages and midweek convention groups.
LARC tables use two bases (CoStar Anaheim market vs. Visit Anaheim hotel sets) that should not be compared directly. LARC data © Lodging Analytics Research &amp; Consulting.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Demand drivers near OC Vibe: Honda Center (Anaheim Ducks and concerts), Angel Stadium, ARTIC, the Anaheim Convention Center (1.8 million sq ft) and DisneylandForward ($1.9 billion; Avengers Campus expansion opening 2027). OC Sports &amp; Entertainment now employs about 3,000 locally (up from 2,000 in the June report).
Events: the 2028 Summer Olympics include cycling and volleyball events in Anaheim, and LARC expects a 2028 hotel lift from them. The 2026 World Cup lifted rates this year but becomes a tough comparison in Q2–Q3 2027. Solution: set 2027 targets against 2025 as well as 2026.
Office: Orange County office vacancy was 14.4% in Q2 2026 (down 3.4 points from a year earlier); Kiln took 39,000 sq ft in the Stadium Area, where The Weave adds 168,000 sq ft of Class A space.
Costs and inflation: Anaheim consumer prices are forecast to rise 3.2% a year over three years (3.3% in 2026, 3.5% in 2027), above the U.S. Hotel wages are forecast to grow 2.6% a year, about 6.0% a year in total labor cost, and LA County's $30 hotel minimum wage (by 2030) may pressure Orange County wages. Solution: build these costs into OC Vibe pricing and staffing plans, and cross-train staff across venues.
Risks LARC flags: higher gas prices and airfares tied to the Iran conflict, a possible 2026 federal shutdown, midterm-election softness in Q4 2026, and slower U.S. job growth. Solution: lean on drive markets within 90 miles, flexible packages and midweek convention groups.
LARC tables use two bases (CoStar Anaheim market vs. Visit Anaheim hotel sets) that should not be compared directly. LARC data © Lodging Analytics Research &amp; Consulting.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VA Title">
    <p:bg>
      <p:bgPr>
        <a:solidFill>
          <a:srgbClr val="125C6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331720"/>
            <a:ext cx="8686800" cy="1371600"/>
          </a:xfrm>
          <a:prstGeom prst="rect">
            <a:avLst/>
          </a:prstGeom>
          <a:noFill/>
          <a:ln/>
        </p:spPr>
        <p:txBody>
          <a:bodyPr wrap="square" rtlCol="0"/>
          <a:lstStyle>
            <a:lvl1pPr algn="l" indent="0" marL="0">
              <a:buNone/>
              <a:defRPr lang="en-US" sz="4400" b="1" i="1" dirty="0">
                <a:solidFill>
                  <a:srgbClr val="FFFFFF"/>
                </a:solidFill>
              </a:defRPr>
            </a:lvl1pPr>
          </a:lstStyle>
          <a:p>
            <a:pPr algn="l" indent="0" marL="0">
              <a:buNone/>
            </a:pPr>
            <a:endParaRPr lang="en-US" sz="4400" dirty="0"/>
          </a:p>
        </p:txBody>
      </p:sp>
      <p:sp>
        <p:nvSpPr>
          <p:cNvPr id="3" name="Text 0"/>
          <p:cNvSpPr/>
          <p:nvPr>
            <p:ph idx="101" type="body" hasCustomPrompt="1"/>
          </p:nvPr>
        </p:nvSpPr>
        <p:spPr>
          <a:xfrm>
            <a:off x="548640" y="3794760"/>
            <a:ext cx="8686800" cy="1097280"/>
          </a:xfrm>
          <a:prstGeom prst="rect">
            <a:avLst/>
          </a:prstGeom>
          <a:noFill/>
          <a:ln/>
        </p:spPr>
        <p:txBody>
          <a:bodyPr wrap="square" rtlCol="0"/>
          <a:lstStyle>
            <a:lvl1pPr algn="l" indent="0" marL="0">
              <a:buNone/>
              <a:defRPr lang="en-US" sz="1800" dirty="0">
                <a:solidFill>
                  <a:srgbClr val="FFFFFF"/>
                </a:solidFill>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VA Section">
    <p:bg>
      <p:bgPr>
        <a:solidFill>
          <a:srgbClr val="125C6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651760"/>
            <a:ext cx="10058400" cy="1097280"/>
          </a:xfrm>
          <a:prstGeom prst="rect">
            <a:avLst/>
          </a:prstGeom>
          <a:noFill/>
          <a:ln/>
        </p:spPr>
        <p:txBody>
          <a:bodyPr wrap="square" rtlCol="0"/>
          <a:lstStyle>
            <a:lvl1pPr indent="0" marL="0">
              <a:buNone/>
              <a:defRPr lang="en-US" sz="3600" b="1" i="1" dirty="0">
                <a:solidFill>
                  <a:srgbClr val="FFFFFF"/>
                </a:solidFill>
              </a:defRPr>
            </a:lvl1pPr>
          </a:lstStyle>
          <a:p>
            <a:pPr indent="0" marL="0">
              <a:buNone/>
            </a:pPr>
            <a:endParaRPr lang="en-US" sz="36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VA Content">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10180015" y="274320"/>
            <a:ext cx="1463040" cy="534010"/>
          </a:xfrm>
          <a:prstGeom prst="rect">
            <a:avLst/>
          </a:prstGeom>
        </p:spPr>
      </p:pic>
      <p:sp>
        <p:nvSpPr>
          <p:cNvPr id="3" name="Shape 0"/>
          <p:cNvSpPr/>
          <p:nvPr/>
        </p:nvSpPr>
        <p:spPr>
          <a:xfrm>
            <a:off x="548640" y="6400800"/>
            <a:ext cx="11094415" cy="0"/>
          </a:xfrm>
          <a:prstGeom prst="line">
            <a:avLst/>
          </a:prstGeom>
          <a:noFill/>
          <a:ln w="12700">
            <a:solidFill>
              <a:srgbClr val="43A3A3"/>
            </a:solidFill>
            <a:prstDash val="solid"/>
          </a:ln>
        </p:spPr>
      </p:sp>
      <p:sp>
        <p:nvSpPr>
          <p:cNvPr id="4" name="Text 1"/>
          <p:cNvSpPr/>
          <p:nvPr/>
        </p:nvSpPr>
        <p:spPr>
          <a:xfrm>
            <a:off x="548640" y="6419088"/>
            <a:ext cx="5486400" cy="274320"/>
          </a:xfrm>
          <a:prstGeom prst="rect">
            <a:avLst/>
          </a:prstGeom>
          <a:noFill/>
          <a:ln/>
        </p:spPr>
        <p:txBody>
          <a:bodyPr wrap="square" lIns="0" tIns="0" rIns="0" bIns="0" rtlCol="0" anchor="ctr"/>
          <a:lstStyle/>
          <a:p>
            <a:pPr indent="0" marL="0">
              <a:buNone/>
            </a:pPr>
            <a:r>
              <a:rPr lang="en-US" sz="900" dirty="0">
                <a:solidFill>
                  <a:srgbClr val="231F20"/>
                </a:solidFill>
              </a:rPr>
              <a:t>Visit Anaheim | visitanaheim.org</a:t>
            </a:r>
            <a:endParaRPr lang="en-US" sz="900" dirty="0"/>
          </a:p>
        </p:txBody>
      </p:sp>
      <p:sp>
        <p:nvSpPr>
          <p:cNvPr id="5" name="Text 2"/>
          <p:cNvSpPr/>
          <p:nvPr>
            <p:ph idx="103" type="title" hasCustomPrompt="1"/>
          </p:nvPr>
        </p:nvSpPr>
        <p:spPr>
          <a:xfrm>
            <a:off x="548640" y="274320"/>
            <a:ext cx="9265615" cy="777240"/>
          </a:xfrm>
          <a:prstGeom prst="rect">
            <a:avLst/>
          </a:prstGeom>
          <a:noFill/>
          <a:ln/>
        </p:spPr>
        <p:txBody>
          <a:bodyPr wrap="square" rtlCol="0"/>
          <a:lstStyle>
            <a:lvl1pPr algn="l" indent="0" marL="0">
              <a:buNone/>
              <a:defRPr lang="en-US" sz="2200" b="1" dirty="0">
                <a:solidFill>
                  <a:srgbClr val="125C60"/>
                </a:solidFill>
              </a:defRPr>
            </a:lvl1pPr>
          </a:lstStyle>
          <a:p>
            <a:pPr algn="l" indent="0" marL="0">
              <a:buNone/>
            </a:pPr>
            <a:endParaRPr lang="en-US" sz="2200" dirty="0"/>
          </a:p>
        </p:txBody>
      </p:sp>
      <p:sp>
        <p:nvSpPr>
          <p:cNvPr id="6" name="Text 2"/>
          <p:cNvSpPr/>
          <p:nvPr>
            <p:ph idx="104" type="body" hasCustomPrompt="1"/>
          </p:nvPr>
        </p:nvSpPr>
        <p:spPr>
          <a:xfrm>
            <a:off x="548640" y="1097280"/>
            <a:ext cx="9265615" cy="274320"/>
          </a:xfrm>
          <a:prstGeom prst="rect">
            <a:avLst/>
          </a:prstGeom>
          <a:noFill/>
          <a:ln/>
        </p:spPr>
        <p:txBody>
          <a:bodyPr wrap="square" rtlCol="0"/>
          <a:lstStyle>
            <a:lvl1pPr algn="l" indent="0" marL="0">
              <a:buNone/>
              <a:defRPr lang="en-US" sz="1200" dirty="0">
                <a:solidFill>
                  <a:srgbClr val="231F20"/>
                </a:solidFill>
              </a:defRPr>
            </a:lvl1pPr>
          </a:lstStyle>
          <a:p>
            <a:pPr algn="l" indent="0" marL="0">
              <a:buNone/>
            </a:pPr>
            <a:endParaRPr lang="en-US" sz="12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4.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4.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4.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4.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4.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4.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4.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4.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4.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4.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4.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slideLayout" Target="../slideLayouts/slideLayout4.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slideLayout" Target="../slideLayouts/slideLayout4.xml"/><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slideLayout" Target="../slideLayouts/slideLayout4.xml"/><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slideLayout" Target="../slideLayouts/slideLayout4.xml"/><Relationship Id="rId3"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image" Target="../media/image-83-1.jpeg"/><Relationship Id="rId2" Type="http://schemas.openxmlformats.org/officeDocument/2006/relationships/slideLayout" Target="../slideLayouts/slideLayout4.xml"/><Relationship Id="rId3"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chart" Target="/ppt/charts/chart14.xml"/><Relationship Id="rId2" Type="http://schemas.openxmlformats.org/officeDocument/2006/relationships/slideLayout" Target="../slideLayouts/slideLayout4.xml"/><Relationship Id="rId3"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chart" Target="/ppt/charts/chart15.xml"/><Relationship Id="rId2" Type="http://schemas.openxmlformats.org/officeDocument/2006/relationships/slideLayout" Target="../slideLayouts/slideLayout4.xml"/><Relationship Id="rId3"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chart" Target="/ppt/charts/chart16.xml"/><Relationship Id="rId2" Type="http://schemas.openxmlformats.org/officeDocument/2006/relationships/slideLayout" Target="../slideLayouts/slideLayout4.xml"/><Relationship Id="rId3"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logo-plate"/>
          <p:cNvSpPr/>
          <p:nvPr/>
        </p:nvSpPr>
        <p:spPr>
          <a:xfrm>
            <a:off x="548640" y="640080"/>
            <a:ext cx="2743200" cy="1275588"/>
          </a:xfrm>
          <a:prstGeom prst="roundRect">
            <a:avLst>
              <a:gd name="adj" fmla="val 7168"/>
            </a:avLst>
          </a:prstGeom>
          <a:solidFill>
            <a:srgbClr val="F9F9F2"/>
          </a:solidFill>
          <a:ln w="12700">
            <a:solidFill>
              <a:srgbClr val="F9F9F2"/>
            </a:solidFill>
            <a:prstDash val="solid"/>
          </a:ln>
        </p:spPr>
      </p:sp>
      <p:pic>
        <p:nvPicPr>
          <p:cNvPr id="3" name="Image 0" descr="Visit Anaheim">    </p:cNvPr>
          <p:cNvPicPr>
            <a:picLocks noChangeAspect="1"/>
          </p:cNvPicPr>
          <p:nvPr/>
        </p:nvPicPr>
        <p:blipFill>
          <a:blip r:embed="rId1"/>
          <a:stretch>
            <a:fillRect/>
          </a:stretch>
        </p:blipFill>
        <p:spPr>
          <a:xfrm>
            <a:off x="685800" y="777240"/>
            <a:ext cx="2468880" cy="901141"/>
          </a:xfrm>
          <a:prstGeom prst="rect">
            <a:avLst/>
          </a:prstGeom>
        </p:spPr>
      </p:pic>
      <p:sp>
        <p:nvSpPr>
          <p:cNvPr id="4" name="Text 0"/>
          <p:cNvSpPr/>
          <p:nvPr>
            <p:ph idx="100" type="title" hasCustomPrompt="1"/>
          </p:nvPr>
        </p:nvSpPr>
        <p:spPr>
          <a:xfrm>
            <a:off x="548640" y="2331720"/>
            <a:ext cx="8686800" cy="1371600"/>
          </a:xfrm>
          <a:prstGeom prst="rect">
            <a:avLst/>
          </a:prstGeom>
          <a:noFill/>
          <a:ln/>
        </p:spPr>
        <p:txBody>
          <a:bodyPr wrap="square" lIns="0" tIns="0" rIns="0" bIns="0" rtlCol="0" anchor="t"/>
          <a:lstStyle/>
          <a:p>
            <a:pPr algn="l" indent="0" marL="0">
              <a:buNone/>
            </a:pPr>
            <a:r>
              <a:rPr lang="en-US" sz="4400" b="1" i="1" dirty="0">
                <a:solidFill>
                  <a:srgbClr val="FFFFFF"/>
                </a:solidFill>
              </a:rPr>
              <a:t>Visitor insights for OC Vibe</a:t>
            </a:r>
            <a:endParaRPr lang="en-US" sz="4400" dirty="0"/>
          </a:p>
        </p:txBody>
      </p:sp>
      <p:sp>
        <p:nvSpPr>
          <p:cNvPr id="5" name="Text 0"/>
          <p:cNvSpPr/>
          <p:nvPr>
            <p:ph idx="101" type="body" hasCustomPrompt="1"/>
          </p:nvPr>
        </p:nvSpPr>
        <p:spPr>
          <a:xfrm>
            <a:off x="548640" y="3794760"/>
            <a:ext cx="8686800" cy="1097280"/>
          </a:xfrm>
          <a:prstGeom prst="rect">
            <a:avLst/>
          </a:prstGeom>
          <a:noFill/>
          <a:ln/>
        </p:spPr>
        <p:txBody>
          <a:bodyPr wrap="square" lIns="0" tIns="0" rIns="0" bIns="0" rtlCol="0" anchor="t"/>
          <a:lstStyle/>
          <a:p>
            <a:pPr algn="l" indent="0" marL="0">
              <a:buNone/>
            </a:pPr>
            <a:r>
              <a:rPr lang="en-US" sz="1800" dirty="0">
                <a:solidFill>
                  <a:srgbClr val="FFFFFF"/>
                </a:solidFill>
              </a:rPr>
              <a:t>How Anaheim visitors spend, stay, travel and choose where to go, and what the market outlook means for OC Vibe. Anaheim, Orange County and U.S. data through September 2026.</a:t>
            </a:r>
            <a:endParaRPr lang="en-US" sz="1800" dirty="0"/>
          </a:p>
        </p:txBody>
      </p:sp>
      <p:sp>
        <p:nvSpPr>
          <p:cNvPr id="6" name="Text 3"/>
          <p:cNvSpPr txBox="1"/>
          <p:nvPr/>
        </p:nvSpPr>
        <p:spPr>
          <a:xfrm>
            <a:off x="548640" y="6035040"/>
            <a:ext cx="10058400" cy="365760"/>
          </a:xfrm>
          <a:prstGeom prst="rect">
            <a:avLst/>
          </a:prstGeom>
          <a:noFill/>
          <a:ln/>
        </p:spPr>
        <p:txBody>
          <a:bodyPr wrap="square" lIns="0" tIns="0" rIns="0" bIns="0" rtlCol="0" anchor="ctr"/>
          <a:lstStyle/>
          <a:p>
            <a:pPr indent="0" marL="0">
              <a:buNone/>
            </a:pPr>
            <a:r>
              <a:rPr lang="en-US" sz="1200" dirty="0">
                <a:solidFill>
                  <a:srgbClr val="FFFFFF"/>
                </a:solidFill>
                <a:latin typeface="Proxima Nova" pitchFamily="34" charset="0"/>
                <a:ea typeface="Proxima Nova" pitchFamily="34" charset="-122"/>
                <a:cs typeface="Proxima Nova" pitchFamily="34" charset="-120"/>
              </a:rPr>
              <a:t>Prepared by Visit Anaheim Business Intelligence · October 2026 · Updated quarterly; next update Jan. 15, 2027</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Anaheim's visitor market is growing into OC Vibe's 2027 opening</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Main announcement · Visit Anaheim Business Intelligence · data through Sept. 2026</a:t>
            </a:r>
            <a:endParaRPr lang="en-US" sz="1200" dirty="0"/>
          </a:p>
        </p:txBody>
      </p:sp>
      <p:sp>
        <p:nvSpPr>
          <p:cNvPr id="5" name="Text 2"/>
          <p:cNvSpPr txBox="1"/>
          <p:nvPr/>
        </p:nvSpPr>
        <p:spPr>
          <a:xfrm>
            <a:off x="548640" y="1371600"/>
            <a:ext cx="11094415" cy="457200"/>
          </a:xfrm>
          <a:prstGeom prst="rect">
            <a:avLst/>
          </a:prstGeom>
          <a:noFill/>
          <a:ln/>
        </p:spPr>
        <p:txBody>
          <a:bodyPr wrap="square" lIns="0" tIns="0" rIns="0" bIns="0" rtlCol="0" anchor="t"/>
          <a:lstStyle/>
          <a:p>
            <a:pPr indent="0" marL="0">
              <a:buNone/>
            </a:pPr>
            <a:r>
              <a:rPr lang="en-US" sz="1300" b="1" dirty="0">
                <a:solidFill>
                  <a:srgbClr val="231F20"/>
                </a:solidFill>
                <a:latin typeface="Proxima Nova" pitchFamily="34" charset="0"/>
                <a:ea typeface="Proxima Nova" pitchFamily="34" charset="-122"/>
                <a:cs typeface="Proxima Nova" pitchFamily="34" charset="-120"/>
              </a:rPr>
              <a:t>Visitors spent </a:t>
            </a:r>
            <a:pPr indent="0" marL="0">
              <a:buNone/>
            </a:pPr>
            <a:r>
              <a:rPr lang="en-US" sz="1300" b="1" dirty="0">
                <a:solidFill>
                  <a:srgbClr val="125C60"/>
                </a:solidFill>
                <a:latin typeface="Proxima Nova" pitchFamily="34" charset="0"/>
                <a:ea typeface="Proxima Nova" pitchFamily="34" charset="-122"/>
                <a:cs typeface="Proxima Nova" pitchFamily="34" charset="-120"/>
              </a:rPr>
              <a:t>$1.76 billion</a:t>
            </a:r>
            <a:pPr indent="0" marL="0">
              <a:buNone/>
            </a:pPr>
            <a:r>
              <a:rPr lang="en-US" sz="1300" b="1" dirty="0">
                <a:solidFill>
                  <a:srgbClr val="231F20"/>
                </a:solidFill>
                <a:latin typeface="Proxima Nova" pitchFamily="34" charset="0"/>
                <a:ea typeface="Proxima Nova" pitchFamily="34" charset="-122"/>
                <a:cs typeface="Proxima Nova" pitchFamily="34" charset="-120"/>
              </a:rPr>
              <a:t> in Q2 2026 (</a:t>
            </a:r>
            <a:pPr indent="0" marL="0">
              <a:buNone/>
            </a:pPr>
            <a:r>
              <a:rPr lang="en-US" sz="1300" b="1" dirty="0">
                <a:solidFill>
                  <a:srgbClr val="125C60"/>
                </a:solidFill>
                <a:latin typeface="Proxima Nova" pitchFamily="34" charset="0"/>
                <a:ea typeface="Proxima Nova" pitchFamily="34" charset="-122"/>
                <a:cs typeface="Proxima Nova" pitchFamily="34" charset="-120"/>
              </a:rPr>
              <a:t>+7.8%</a:t>
            </a:r>
            <a:pPr indent="0" marL="0">
              <a:buNone/>
            </a:pPr>
            <a:r>
              <a:rPr lang="en-US" sz="1300" b="1" dirty="0">
                <a:solidFill>
                  <a:srgbClr val="231F20"/>
                </a:solidFill>
                <a:latin typeface="Proxima Nova" pitchFamily="34" charset="0"/>
                <a:ea typeface="Proxima Nova" pitchFamily="34" charset="-122"/>
                <a:cs typeface="Proxima Nova" pitchFamily="34" charset="-120"/>
              </a:rPr>
              <a:t>), hotel revenue per room rose </a:t>
            </a:r>
            <a:pPr indent="0" marL="0">
              <a:buNone/>
            </a:pPr>
            <a:r>
              <a:rPr lang="en-US" sz="1300" b="1" dirty="0">
                <a:solidFill>
                  <a:srgbClr val="125C60"/>
                </a:solidFill>
                <a:latin typeface="Proxima Nova" pitchFamily="34" charset="0"/>
                <a:ea typeface="Proxima Nova" pitchFamily="34" charset="-122"/>
                <a:cs typeface="Proxima Nova" pitchFamily="34" charset="-120"/>
              </a:rPr>
              <a:t>11.4%</a:t>
            </a:r>
            <a:pPr indent="0" marL="0">
              <a:buNone/>
            </a:pPr>
            <a:r>
              <a:rPr lang="en-US" sz="1300" b="1" dirty="0">
                <a:solidFill>
                  <a:srgbClr val="231F20"/>
                </a:solidFill>
                <a:latin typeface="Proxima Nova" pitchFamily="34" charset="0"/>
                <a:ea typeface="Proxima Nova" pitchFamily="34" charset="-122"/>
                <a:cs typeface="Proxima Nova" pitchFamily="34" charset="-120"/>
              </a:rPr>
              <a:t>, and Convention Center room nights for 2027 are pacing </a:t>
            </a:r>
            <a:pPr indent="0" marL="0">
              <a:buNone/>
            </a:pPr>
            <a:r>
              <a:rPr lang="en-US" sz="1300" b="1" dirty="0">
                <a:solidFill>
                  <a:srgbClr val="125C60"/>
                </a:solidFill>
                <a:latin typeface="Proxima Nova" pitchFamily="34" charset="0"/>
                <a:ea typeface="Proxima Nova" pitchFamily="34" charset="-122"/>
                <a:cs typeface="Proxima Nova" pitchFamily="34" charset="-120"/>
              </a:rPr>
              <a:t>17%</a:t>
            </a:r>
            <a:pPr indent="0" marL="0">
              <a:buNone/>
            </a:pPr>
            <a:r>
              <a:rPr lang="en-US" sz="1300" b="1" dirty="0">
                <a:solidFill>
                  <a:srgbClr val="231F20"/>
                </a:solidFill>
                <a:latin typeface="Proxima Nova" pitchFamily="34" charset="0"/>
                <a:ea typeface="Proxima Nova" pitchFamily="34" charset="-122"/>
                <a:cs typeface="Proxima Nova" pitchFamily="34" charset="-120"/>
              </a:rPr>
              <a:t> ahead.</a:t>
            </a:r>
            <a:endParaRPr lang="en-US" sz="1300" dirty="0"/>
          </a:p>
        </p:txBody>
      </p:sp>
      <p:sp>
        <p:nvSpPr>
          <p:cNvPr id="6" name="kpi-card-0"/>
          <p:cNvSpPr/>
          <p:nvPr/>
        </p:nvSpPr>
        <p:spPr>
          <a:xfrm>
            <a:off x="548640" y="1920240"/>
            <a:ext cx="2650160" cy="1234440"/>
          </a:xfrm>
          <a:prstGeom prst="roundRect">
            <a:avLst>
              <a:gd name="adj" fmla="val 5926"/>
            </a:avLst>
          </a:prstGeom>
          <a:solidFill>
            <a:srgbClr val="FFFFFF"/>
          </a:solidFill>
          <a:ln w="12700">
            <a:solidFill>
              <a:srgbClr val="B4D9E3"/>
            </a:solidFill>
            <a:prstDash val="solid"/>
          </a:ln>
        </p:spPr>
      </p:sp>
      <p:sp>
        <p:nvSpPr>
          <p:cNvPr id="7" name="Text 4"/>
          <p:cNvSpPr txBox="1"/>
          <p:nvPr/>
        </p:nvSpPr>
        <p:spPr>
          <a:xfrm>
            <a:off x="713232" y="2048256"/>
            <a:ext cx="232097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TOURISM ECONOMICS (SEPT. 2026)</a:t>
            </a:r>
            <a:endParaRPr lang="en-US" sz="900" dirty="0"/>
          </a:p>
        </p:txBody>
      </p:sp>
      <p:sp>
        <p:nvSpPr>
          <p:cNvPr id="8" name="Text 5"/>
          <p:cNvSpPr txBox="1"/>
          <p:nvPr/>
        </p:nvSpPr>
        <p:spPr>
          <a:xfrm>
            <a:off x="713232" y="2267712"/>
            <a:ext cx="232097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Anaheim visitor spending, Q2 2026 (+7.8%)</a:t>
            </a:r>
            <a:endParaRPr lang="en-US" sz="1050" dirty="0"/>
          </a:p>
        </p:txBody>
      </p:sp>
      <p:sp>
        <p:nvSpPr>
          <p:cNvPr id="9" name="Text 6"/>
          <p:cNvSpPr txBox="1"/>
          <p:nvPr/>
        </p:nvSpPr>
        <p:spPr>
          <a:xfrm>
            <a:off x="713232" y="2542032"/>
            <a:ext cx="2320976" cy="548640"/>
          </a:xfrm>
          <a:prstGeom prst="rect">
            <a:avLst/>
          </a:prstGeom>
          <a:noFill/>
          <a:ln/>
        </p:spPr>
        <p:txBody>
          <a:bodyPr wrap="square" lIns="0" tIns="0" rIns="0" bIns="0" rtlCol="0" anchor="ctr"/>
          <a:lstStyle/>
          <a:p>
            <a:pPr indent="0" marL="0">
              <a:buNone/>
            </a:pPr>
            <a:r>
              <a:rPr lang="en-US" sz="2400" b="1" dirty="0">
                <a:solidFill>
                  <a:srgbClr val="125C60"/>
                </a:solidFill>
                <a:latin typeface="Proxima Nova" pitchFamily="34" charset="0"/>
                <a:ea typeface="Proxima Nova" pitchFamily="34" charset="-122"/>
                <a:cs typeface="Proxima Nova" pitchFamily="34" charset="-120"/>
              </a:rPr>
              <a:t>$1.76B</a:t>
            </a:r>
            <a:endParaRPr lang="en-US" sz="2400" dirty="0"/>
          </a:p>
        </p:txBody>
      </p:sp>
      <p:sp>
        <p:nvSpPr>
          <p:cNvPr id="10" name="Text 7"/>
          <p:cNvSpPr txBox="1"/>
          <p:nvPr/>
        </p:nvSpPr>
        <p:spPr>
          <a:xfrm>
            <a:off x="713232" y="3090672"/>
            <a:ext cx="2320976" cy="-27432"/>
          </a:xfrm>
          <a:prstGeom prst="rect">
            <a:avLst/>
          </a:prstGeom>
          <a:noFill/>
          <a:ln/>
        </p:spPr>
        <p:txBody>
          <a:bodyPr wrap="square" lIns="0" tIns="0" rIns="0" bIns="0" rtlCol="0" anchor="t"/>
          <a:lstStyle/>
          <a:p>
            <a:pPr indent="0" marL="0">
              <a:buNone/>
            </a:pPr>
            <a:endParaRPr lang="en-US" sz="1000" dirty="0"/>
          </a:p>
        </p:txBody>
      </p:sp>
      <p:sp>
        <p:nvSpPr>
          <p:cNvPr id="11" name="kpi-card-1"/>
          <p:cNvSpPr/>
          <p:nvPr/>
        </p:nvSpPr>
        <p:spPr>
          <a:xfrm>
            <a:off x="3363392" y="1920240"/>
            <a:ext cx="2650160" cy="1234440"/>
          </a:xfrm>
          <a:prstGeom prst="roundRect">
            <a:avLst>
              <a:gd name="adj" fmla="val 5926"/>
            </a:avLst>
          </a:prstGeom>
          <a:solidFill>
            <a:srgbClr val="FFFFFF"/>
          </a:solidFill>
          <a:ln w="12700">
            <a:solidFill>
              <a:srgbClr val="B4D9E3"/>
            </a:solidFill>
            <a:prstDash val="solid"/>
          </a:ln>
        </p:spPr>
      </p:sp>
      <p:sp>
        <p:nvSpPr>
          <p:cNvPr id="12" name="Text 9"/>
          <p:cNvSpPr txBox="1"/>
          <p:nvPr/>
        </p:nvSpPr>
        <p:spPr>
          <a:xfrm>
            <a:off x="3527984" y="2048256"/>
            <a:ext cx="232097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LARC (SEPT. 2026)</a:t>
            </a:r>
            <a:endParaRPr lang="en-US" sz="900" dirty="0"/>
          </a:p>
        </p:txBody>
      </p:sp>
      <p:sp>
        <p:nvSpPr>
          <p:cNvPr id="13" name="Text 10"/>
          <p:cNvSpPr txBox="1"/>
          <p:nvPr/>
        </p:nvSpPr>
        <p:spPr>
          <a:xfrm>
            <a:off x="3527984" y="2267712"/>
            <a:ext cx="232097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Anaheim hotel revenue per room, Q2 2026</a:t>
            </a:r>
            <a:endParaRPr lang="en-US" sz="1050" dirty="0"/>
          </a:p>
        </p:txBody>
      </p:sp>
      <p:sp>
        <p:nvSpPr>
          <p:cNvPr id="14" name="Text 11"/>
          <p:cNvSpPr txBox="1"/>
          <p:nvPr/>
        </p:nvSpPr>
        <p:spPr>
          <a:xfrm>
            <a:off x="3527984" y="2542032"/>
            <a:ext cx="2320976" cy="548640"/>
          </a:xfrm>
          <a:prstGeom prst="rect">
            <a:avLst/>
          </a:prstGeom>
          <a:noFill/>
          <a:ln/>
        </p:spPr>
        <p:txBody>
          <a:bodyPr wrap="square" lIns="0" tIns="0" rIns="0" bIns="0" rtlCol="0" anchor="ctr"/>
          <a:lstStyle/>
          <a:p>
            <a:pPr indent="0" marL="0">
              <a:buNone/>
            </a:pPr>
            <a:r>
              <a:rPr lang="en-US" sz="2400" b="1" dirty="0">
                <a:solidFill>
                  <a:srgbClr val="125C60"/>
                </a:solidFill>
                <a:latin typeface="Proxima Nova" pitchFamily="34" charset="0"/>
                <a:ea typeface="Proxima Nova" pitchFamily="34" charset="-122"/>
                <a:cs typeface="Proxima Nova" pitchFamily="34" charset="-120"/>
              </a:rPr>
              <a:t>+11.4%</a:t>
            </a:r>
            <a:endParaRPr lang="en-US" sz="2400" dirty="0"/>
          </a:p>
        </p:txBody>
      </p:sp>
      <p:sp>
        <p:nvSpPr>
          <p:cNvPr id="15" name="Text 12"/>
          <p:cNvSpPr txBox="1"/>
          <p:nvPr/>
        </p:nvSpPr>
        <p:spPr>
          <a:xfrm>
            <a:off x="3527984" y="3090672"/>
            <a:ext cx="2320976" cy="-27432"/>
          </a:xfrm>
          <a:prstGeom prst="rect">
            <a:avLst/>
          </a:prstGeom>
          <a:noFill/>
          <a:ln/>
        </p:spPr>
        <p:txBody>
          <a:bodyPr wrap="square" lIns="0" tIns="0" rIns="0" bIns="0" rtlCol="0" anchor="t"/>
          <a:lstStyle/>
          <a:p>
            <a:pPr indent="0" marL="0">
              <a:buNone/>
            </a:pPr>
            <a:endParaRPr lang="en-US" sz="1000" dirty="0"/>
          </a:p>
        </p:txBody>
      </p:sp>
      <p:sp>
        <p:nvSpPr>
          <p:cNvPr id="16" name="kpi-card-2"/>
          <p:cNvSpPr/>
          <p:nvPr/>
        </p:nvSpPr>
        <p:spPr>
          <a:xfrm>
            <a:off x="6178144" y="1920240"/>
            <a:ext cx="2650160" cy="1234440"/>
          </a:xfrm>
          <a:prstGeom prst="roundRect">
            <a:avLst>
              <a:gd name="adj" fmla="val 5926"/>
            </a:avLst>
          </a:prstGeom>
          <a:solidFill>
            <a:srgbClr val="FFFFFF"/>
          </a:solidFill>
          <a:ln w="12700">
            <a:solidFill>
              <a:srgbClr val="B4D9E3"/>
            </a:solidFill>
            <a:prstDash val="solid"/>
          </a:ln>
        </p:spPr>
      </p:sp>
      <p:sp>
        <p:nvSpPr>
          <p:cNvPr id="17" name="Text 14"/>
          <p:cNvSpPr txBox="1"/>
          <p:nvPr/>
        </p:nvSpPr>
        <p:spPr>
          <a:xfrm>
            <a:off x="6342736" y="2048256"/>
            <a:ext cx="232097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LARC (SEPT. 2026)</a:t>
            </a:r>
            <a:endParaRPr lang="en-US" sz="900" dirty="0"/>
          </a:p>
        </p:txBody>
      </p:sp>
      <p:sp>
        <p:nvSpPr>
          <p:cNvPr id="18" name="Text 15"/>
          <p:cNvSpPr txBox="1"/>
          <p:nvPr/>
        </p:nvSpPr>
        <p:spPr>
          <a:xfrm>
            <a:off x="6342736" y="2267712"/>
            <a:ext cx="232097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Convention Center room nights on the books, 2027</a:t>
            </a:r>
            <a:endParaRPr lang="en-US" sz="1050" dirty="0"/>
          </a:p>
        </p:txBody>
      </p:sp>
      <p:sp>
        <p:nvSpPr>
          <p:cNvPr id="19" name="Text 16"/>
          <p:cNvSpPr txBox="1"/>
          <p:nvPr/>
        </p:nvSpPr>
        <p:spPr>
          <a:xfrm>
            <a:off x="6342736" y="2542032"/>
            <a:ext cx="2320976" cy="548640"/>
          </a:xfrm>
          <a:prstGeom prst="rect">
            <a:avLst/>
          </a:prstGeom>
          <a:noFill/>
          <a:ln/>
        </p:spPr>
        <p:txBody>
          <a:bodyPr wrap="square" lIns="0" tIns="0" rIns="0" bIns="0" rtlCol="0" anchor="ctr"/>
          <a:lstStyle/>
          <a:p>
            <a:pPr indent="0" marL="0">
              <a:buNone/>
            </a:pPr>
            <a:r>
              <a:rPr lang="en-US" sz="2400" b="1" dirty="0">
                <a:solidFill>
                  <a:srgbClr val="125C60"/>
                </a:solidFill>
                <a:latin typeface="Proxima Nova" pitchFamily="34" charset="0"/>
                <a:ea typeface="Proxima Nova" pitchFamily="34" charset="-122"/>
                <a:cs typeface="Proxima Nova" pitchFamily="34" charset="-120"/>
              </a:rPr>
              <a:t>+17%</a:t>
            </a:r>
            <a:endParaRPr lang="en-US" sz="2400" dirty="0"/>
          </a:p>
        </p:txBody>
      </p:sp>
      <p:sp>
        <p:nvSpPr>
          <p:cNvPr id="20" name="Text 17"/>
          <p:cNvSpPr txBox="1"/>
          <p:nvPr/>
        </p:nvSpPr>
        <p:spPr>
          <a:xfrm>
            <a:off x="6342736" y="3090672"/>
            <a:ext cx="2320976" cy="-27432"/>
          </a:xfrm>
          <a:prstGeom prst="rect">
            <a:avLst/>
          </a:prstGeom>
          <a:noFill/>
          <a:ln/>
        </p:spPr>
        <p:txBody>
          <a:bodyPr wrap="square" lIns="0" tIns="0" rIns="0" bIns="0" rtlCol="0" anchor="t"/>
          <a:lstStyle/>
          <a:p>
            <a:pPr indent="0" marL="0">
              <a:buNone/>
            </a:pPr>
            <a:endParaRPr lang="en-US" sz="1000" dirty="0"/>
          </a:p>
        </p:txBody>
      </p:sp>
      <p:sp>
        <p:nvSpPr>
          <p:cNvPr id="21" name="kpi-card-3"/>
          <p:cNvSpPr/>
          <p:nvPr/>
        </p:nvSpPr>
        <p:spPr>
          <a:xfrm>
            <a:off x="8992895" y="1920240"/>
            <a:ext cx="2650160" cy="1234440"/>
          </a:xfrm>
          <a:prstGeom prst="roundRect">
            <a:avLst>
              <a:gd name="adj" fmla="val 5926"/>
            </a:avLst>
          </a:prstGeom>
          <a:solidFill>
            <a:srgbClr val="FFFFFF"/>
          </a:solidFill>
          <a:ln w="12700">
            <a:solidFill>
              <a:srgbClr val="B4D9E3"/>
            </a:solidFill>
            <a:prstDash val="solid"/>
          </a:ln>
        </p:spPr>
      </p:sp>
      <p:sp>
        <p:nvSpPr>
          <p:cNvPr id="22" name="Text 19"/>
          <p:cNvSpPr txBox="1"/>
          <p:nvPr/>
        </p:nvSpPr>
        <p:spPr>
          <a:xfrm>
            <a:off x="9157487" y="2048256"/>
            <a:ext cx="232097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DATAFY (2024)</a:t>
            </a:r>
            <a:endParaRPr lang="en-US" sz="900" dirty="0"/>
          </a:p>
        </p:txBody>
      </p:sp>
      <p:sp>
        <p:nvSpPr>
          <p:cNvPr id="23" name="Text 20"/>
          <p:cNvSpPr txBox="1"/>
          <p:nvPr/>
        </p:nvSpPr>
        <p:spPr>
          <a:xfrm>
            <a:off x="9157487" y="2267712"/>
            <a:ext cx="232097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OC Vibe area share of Anaheim visitor days</a:t>
            </a:r>
            <a:endParaRPr lang="en-US" sz="1050" dirty="0"/>
          </a:p>
        </p:txBody>
      </p:sp>
      <p:sp>
        <p:nvSpPr>
          <p:cNvPr id="24" name="Text 21"/>
          <p:cNvSpPr txBox="1"/>
          <p:nvPr/>
        </p:nvSpPr>
        <p:spPr>
          <a:xfrm>
            <a:off x="9157487" y="2542032"/>
            <a:ext cx="2320976" cy="548640"/>
          </a:xfrm>
          <a:prstGeom prst="rect">
            <a:avLst/>
          </a:prstGeom>
          <a:noFill/>
          <a:ln/>
        </p:spPr>
        <p:txBody>
          <a:bodyPr wrap="square" lIns="0" tIns="0" rIns="0" bIns="0" rtlCol="0" anchor="ctr"/>
          <a:lstStyle/>
          <a:p>
            <a:pPr indent="0" marL="0">
              <a:buNone/>
            </a:pPr>
            <a:r>
              <a:rPr lang="en-US" sz="2400" b="1" dirty="0">
                <a:solidFill>
                  <a:srgbClr val="125C60"/>
                </a:solidFill>
                <a:latin typeface="Proxima Nova" pitchFamily="34" charset="0"/>
                <a:ea typeface="Proxima Nova" pitchFamily="34" charset="-122"/>
                <a:cs typeface="Proxima Nova" pitchFamily="34" charset="-120"/>
              </a:rPr>
              <a:t>5.2%</a:t>
            </a:r>
            <a:endParaRPr lang="en-US" sz="2400" dirty="0"/>
          </a:p>
        </p:txBody>
      </p:sp>
      <p:sp>
        <p:nvSpPr>
          <p:cNvPr id="25" name="Text 22"/>
          <p:cNvSpPr txBox="1"/>
          <p:nvPr/>
        </p:nvSpPr>
        <p:spPr>
          <a:xfrm>
            <a:off x="9157487" y="3090672"/>
            <a:ext cx="2320976" cy="-27432"/>
          </a:xfrm>
          <a:prstGeom prst="rect">
            <a:avLst/>
          </a:prstGeom>
          <a:noFill/>
          <a:ln/>
        </p:spPr>
        <p:txBody>
          <a:bodyPr wrap="square" lIns="0" tIns="0" rIns="0" bIns="0" rtlCol="0" anchor="t"/>
          <a:lstStyle/>
          <a:p>
            <a:pPr indent="0" marL="0">
              <a:buNone/>
            </a:pPr>
            <a:endParaRPr lang="en-US" sz="1000" dirty="0"/>
          </a:p>
        </p:txBody>
      </p:sp>
      <p:sp>
        <p:nvSpPr>
          <p:cNvPr id="26" name="Text 23"/>
          <p:cNvSpPr txBox="1"/>
          <p:nvPr/>
        </p:nvSpPr>
        <p:spPr>
          <a:xfrm>
            <a:off x="548640" y="3291840"/>
            <a:ext cx="11094415" cy="2651760"/>
          </a:xfrm>
          <a:prstGeom prst="rect">
            <a:avLst/>
          </a:prstGeom>
          <a:noFill/>
          <a:ln/>
        </p:spPr>
        <p:txBody>
          <a:bodyPr wrap="square" lIns="0" tIns="0" rIns="0" bIns="0" rtlCol="0" anchor="t"/>
          <a:lstStyle/>
          <a:p>
            <a:pPr algn="l" indent="0" marL="0">
              <a:spcAft>
                <a:spcPts val="800"/>
              </a:spcAft>
              <a:buNone/>
            </a:pPr>
            <a:r>
              <a:rPr lang="en-US" sz="1100" dirty="0">
                <a:solidFill>
                  <a:srgbClr val="231F20"/>
                </a:solidFill>
                <a:latin typeface="Proxima Nova" pitchFamily="34" charset="0"/>
                <a:ea typeface="Proxima Nova" pitchFamily="34" charset="-122"/>
                <a:cs typeface="Proxima Nova" pitchFamily="34" charset="-120"/>
              </a:rPr>
              <a:t>ANAHEIM, Calif. (Oct. 13, 2026): Anaheim's visitor economy is expanding ahead of OC Vibe's first openings in early 2027, Visit Anaheim Business Intelligence reported. Visitors spent </a:t>
            </a:r>
            <a:pPr algn="l" indent="0" marL="0">
              <a:spcAft>
                <a:spcPts val="800"/>
              </a:spcAft>
              <a:buNone/>
            </a:pPr>
            <a:r>
              <a:rPr lang="en-US" sz="1100" b="1" dirty="0">
                <a:solidFill>
                  <a:srgbClr val="125C60"/>
                </a:solidFill>
                <a:latin typeface="Proxima Nova" pitchFamily="34" charset="0"/>
                <a:ea typeface="Proxima Nova" pitchFamily="34" charset="-122"/>
                <a:cs typeface="Proxima Nova" pitchFamily="34" charset="-120"/>
              </a:rPr>
              <a:t>$1.76 billion</a:t>
            </a:r>
            <a:pPr algn="l" indent="0" marL="0">
              <a:spcAft>
                <a:spcPts val="800"/>
              </a:spcAft>
              <a:buNone/>
            </a:pPr>
            <a:r>
              <a:rPr lang="en-US" sz="1100" dirty="0">
                <a:solidFill>
                  <a:srgbClr val="231F20"/>
                </a:solidFill>
                <a:latin typeface="Proxima Nova" pitchFamily="34" charset="0"/>
                <a:ea typeface="Proxima Nova" pitchFamily="34" charset="-122"/>
                <a:cs typeface="Proxima Nova" pitchFamily="34" charset="-120"/>
              </a:rPr>
              <a:t> in the second quarter of 2026, up </a:t>
            </a:r>
            <a:pPr algn="l" indent="0" marL="0">
              <a:spcAft>
                <a:spcPts val="800"/>
              </a:spcAft>
              <a:buNone/>
            </a:pPr>
            <a:r>
              <a:rPr lang="en-US" sz="1100" b="1" dirty="0">
                <a:solidFill>
                  <a:srgbClr val="125C60"/>
                </a:solidFill>
                <a:latin typeface="Proxima Nova" pitchFamily="34" charset="0"/>
                <a:ea typeface="Proxima Nova" pitchFamily="34" charset="-122"/>
                <a:cs typeface="Proxima Nova" pitchFamily="34" charset="-120"/>
              </a:rPr>
              <a:t>7.8%</a:t>
            </a:r>
            <a:pPr algn="l" indent="0" marL="0">
              <a:spcAft>
                <a:spcPts val="800"/>
              </a:spcAft>
              <a:buNone/>
            </a:pPr>
            <a:r>
              <a:rPr lang="en-US" sz="1100" dirty="0">
                <a:solidFill>
                  <a:srgbClr val="231F20"/>
                </a:solidFill>
                <a:latin typeface="Proxima Nova" pitchFamily="34" charset="0"/>
                <a:ea typeface="Proxima Nova" pitchFamily="34" charset="-122"/>
                <a:cs typeface="Proxima Nova" pitchFamily="34" charset="-120"/>
              </a:rPr>
              <a:t> from a year earlier (Tourism Economics, Sept. 2026), and hotel revenue per available room rose </a:t>
            </a:r>
            <a:pPr algn="l" indent="0" marL="0">
              <a:spcAft>
                <a:spcPts val="800"/>
              </a:spcAft>
              <a:buNone/>
            </a:pPr>
            <a:r>
              <a:rPr lang="en-US" sz="1100" b="1" dirty="0">
                <a:solidFill>
                  <a:srgbClr val="125C60"/>
                </a:solidFill>
                <a:latin typeface="Proxima Nova" pitchFamily="34" charset="0"/>
                <a:ea typeface="Proxima Nova" pitchFamily="34" charset="-122"/>
                <a:cs typeface="Proxima Nova" pitchFamily="34" charset="-120"/>
              </a:rPr>
              <a:t>11.4%</a:t>
            </a:r>
            <a:pPr algn="l" indent="0" marL="0">
              <a:spcAft>
                <a:spcPts val="800"/>
              </a:spcAft>
              <a:buNone/>
            </a:pPr>
            <a:r>
              <a:rPr lang="en-US" sz="1100" dirty="0">
                <a:solidFill>
                  <a:srgbClr val="231F20"/>
                </a:solidFill>
                <a:latin typeface="Proxima Nova" pitchFamily="34" charset="0"/>
                <a:ea typeface="Proxima Nova" pitchFamily="34" charset="-122"/>
                <a:cs typeface="Proxima Nova" pitchFamily="34" charset="-120"/>
              </a:rPr>
              <a:t> (LARC, Sept. 2026).</a:t>
            </a:r>
            <a:endParaRPr lang="en-US" sz="1100" dirty="0"/>
          </a:p>
          <a:p>
            <a:pPr algn="l" indent="0" marL="0">
              <a:spcAft>
                <a:spcPts val="800"/>
              </a:spcAft>
              <a:buNone/>
            </a:pPr>
            <a:r>
              <a:rPr lang="en-US" sz="1100" dirty="0">
                <a:solidFill>
                  <a:srgbClr val="231F20"/>
                </a:solidFill>
                <a:latin typeface="Proxima Nova" pitchFamily="34" charset="0"/>
                <a:ea typeface="Proxima Nova" pitchFamily="34" charset="-122"/>
                <a:cs typeface="Proxima Nova" pitchFamily="34" charset="-120"/>
              </a:rPr>
              <a:t>The OC Vibe area already accounts for </a:t>
            </a:r>
            <a:pPr algn="l" indent="0" marL="0">
              <a:spcAft>
                <a:spcPts val="800"/>
              </a:spcAft>
              <a:buNone/>
            </a:pPr>
            <a:r>
              <a:rPr lang="en-US" sz="1100" b="1" dirty="0">
                <a:solidFill>
                  <a:srgbClr val="125C60"/>
                </a:solidFill>
                <a:latin typeface="Proxima Nova" pitchFamily="34" charset="0"/>
                <a:ea typeface="Proxima Nova" pitchFamily="34" charset="-122"/>
                <a:cs typeface="Proxima Nova" pitchFamily="34" charset="-120"/>
              </a:rPr>
              <a:t>5.2%</a:t>
            </a:r>
            <a:pPr algn="l" indent="0" marL="0">
              <a:spcAft>
                <a:spcPts val="800"/>
              </a:spcAft>
              <a:buNone/>
            </a:pPr>
            <a:r>
              <a:rPr lang="en-US" sz="1100" dirty="0">
                <a:solidFill>
                  <a:srgbClr val="231F20"/>
                </a:solidFill>
                <a:latin typeface="Proxima Nova" pitchFamily="34" charset="0"/>
                <a:ea typeface="Proxima Nova" pitchFamily="34" charset="-122"/>
                <a:cs typeface="Proxima Nova" pitchFamily="34" charset="-120"/>
              </a:rPr>
              <a:t> of Anaheim visitor days (Datafy, 2024). In District 5, </a:t>
            </a:r>
            <a:pPr algn="l" indent="0" marL="0">
              <a:spcAft>
                <a:spcPts val="800"/>
              </a:spcAft>
              <a:buNone/>
            </a:pPr>
            <a:r>
              <a:rPr lang="en-US" sz="1100" b="1" dirty="0">
                <a:solidFill>
                  <a:srgbClr val="125C60"/>
                </a:solidFill>
                <a:latin typeface="Proxima Nova" pitchFamily="34" charset="0"/>
                <a:ea typeface="Proxima Nova" pitchFamily="34" charset="-122"/>
                <a:cs typeface="Proxima Nova" pitchFamily="34" charset="-120"/>
              </a:rPr>
              <a:t>85.8%</a:t>
            </a:r>
            <a:pPr algn="l" indent="0" marL="0">
              <a:spcAft>
                <a:spcPts val="800"/>
              </a:spcAft>
              <a:buNone/>
            </a:pPr>
            <a:r>
              <a:rPr lang="en-US" sz="1100" dirty="0">
                <a:solidFill>
                  <a:srgbClr val="231F20"/>
                </a:solidFill>
                <a:latin typeface="Proxima Nova" pitchFamily="34" charset="0"/>
                <a:ea typeface="Proxima Nova" pitchFamily="34" charset="-122"/>
                <a:cs typeface="Proxima Nova" pitchFamily="34" charset="-120"/>
              </a:rPr>
              <a:t> of visitors stay overnight and </a:t>
            </a:r>
            <a:pPr algn="l" indent="0" marL="0">
              <a:spcAft>
                <a:spcPts val="800"/>
              </a:spcAft>
              <a:buNone/>
            </a:pPr>
            <a:r>
              <a:rPr lang="en-US" sz="1100" b="1" dirty="0">
                <a:solidFill>
                  <a:srgbClr val="125C60"/>
                </a:solidFill>
                <a:latin typeface="Proxima Nova" pitchFamily="34" charset="0"/>
                <a:ea typeface="Proxima Nova" pitchFamily="34" charset="-122"/>
                <a:cs typeface="Proxima Nova" pitchFamily="34" charset="-120"/>
              </a:rPr>
              <a:t>43.8%</a:t>
            </a:r>
            <a:pPr algn="l" indent="0" marL="0">
              <a:spcAft>
                <a:spcPts val="800"/>
              </a:spcAft>
              <a:buNone/>
            </a:pPr>
            <a:r>
              <a:rPr lang="en-US" sz="1100" dirty="0">
                <a:solidFill>
                  <a:srgbClr val="231F20"/>
                </a:solidFill>
                <a:latin typeface="Proxima Nova" pitchFamily="34" charset="0"/>
                <a:ea typeface="Proxima Nova" pitchFamily="34" charset="-122"/>
                <a:cs typeface="Proxima Nova" pitchFamily="34" charset="-120"/>
              </a:rPr>
              <a:t> are first-time visitors (Azira, Jan.–May 2026).</a:t>
            </a:r>
            <a:endParaRPr lang="en-US" sz="1100" dirty="0"/>
          </a:p>
          <a:p>
            <a:pPr algn="l" indent="0" marL="0">
              <a:spcAft>
                <a:spcPts val="800"/>
              </a:spcAft>
              <a:buNone/>
            </a:pPr>
            <a:r>
              <a:rPr lang="en-US" sz="1100" dirty="0">
                <a:solidFill>
                  <a:srgbClr val="231F20"/>
                </a:solidFill>
                <a:latin typeface="Proxima Nova" pitchFamily="34" charset="0"/>
                <a:ea typeface="Proxima Nova" pitchFamily="34" charset="-122"/>
                <a:cs typeface="Proxima Nova" pitchFamily="34" charset="-120"/>
              </a:rPr>
              <a:t>Hotels have room on weeknights. Visit Anaheim's hotels ran </a:t>
            </a:r>
            <a:pPr algn="l" indent="0" marL="0">
              <a:spcAft>
                <a:spcPts val="800"/>
              </a:spcAft>
              <a:buNone/>
            </a:pPr>
            <a:r>
              <a:rPr lang="en-US" sz="1100" b="1" dirty="0">
                <a:solidFill>
                  <a:srgbClr val="125C60"/>
                </a:solidFill>
                <a:latin typeface="Proxima Nova" pitchFamily="34" charset="0"/>
                <a:ea typeface="Proxima Nova" pitchFamily="34" charset="-122"/>
                <a:cs typeface="Proxima Nova" pitchFamily="34" charset="-120"/>
              </a:rPr>
              <a:t>70.6%</a:t>
            </a:r>
            <a:pPr algn="l" indent="0" marL="0">
              <a:spcAft>
                <a:spcPts val="800"/>
              </a:spcAft>
              <a:buNone/>
            </a:pPr>
            <a:r>
              <a:rPr lang="en-US" sz="1100" dirty="0">
                <a:solidFill>
                  <a:srgbClr val="231F20"/>
                </a:solidFill>
                <a:latin typeface="Proxima Nova" pitchFamily="34" charset="0"/>
                <a:ea typeface="Proxima Nova" pitchFamily="34" charset="-122"/>
                <a:cs typeface="Proxima Nova" pitchFamily="34" charset="-120"/>
              </a:rPr>
              <a:t> full on Sunday–Monday nights in 2026 vs. </a:t>
            </a:r>
            <a:pPr algn="l" indent="0" marL="0">
              <a:spcAft>
                <a:spcPts val="800"/>
              </a:spcAft>
              <a:buNone/>
            </a:pPr>
            <a:r>
              <a:rPr lang="en-US" sz="1100" b="1" dirty="0">
                <a:solidFill>
                  <a:srgbClr val="125C60"/>
                </a:solidFill>
                <a:latin typeface="Proxima Nova" pitchFamily="34" charset="0"/>
                <a:ea typeface="Proxima Nova" pitchFamily="34" charset="-122"/>
                <a:cs typeface="Proxima Nova" pitchFamily="34" charset="-120"/>
              </a:rPr>
              <a:t>86.2%</a:t>
            </a:r>
            <a:pPr algn="l" indent="0" marL="0">
              <a:spcAft>
                <a:spcPts val="800"/>
              </a:spcAft>
              <a:buNone/>
            </a:pPr>
            <a:r>
              <a:rPr lang="en-US" sz="1100" dirty="0">
                <a:solidFill>
                  <a:srgbClr val="231F20"/>
                </a:solidFill>
                <a:latin typeface="Proxima Nova" pitchFamily="34" charset="0"/>
                <a:ea typeface="Proxima Nova" pitchFamily="34" charset="-122"/>
                <a:cs typeface="Proxima Nova" pitchFamily="34" charset="-120"/>
              </a:rPr>
              <a:t> on Friday–Saturday, and Jan., May, Aug. and Sept. weeknights had the most open rooms (STR, Jan.–Sept. 2026). Each point of Sunday–Monday occupancy is worth about </a:t>
            </a:r>
            <a:pPr algn="l" indent="0" marL="0">
              <a:spcAft>
                <a:spcPts val="800"/>
              </a:spcAft>
              <a:buNone/>
            </a:pPr>
            <a:r>
              <a:rPr lang="en-US" sz="1100" b="1" dirty="0">
                <a:solidFill>
                  <a:srgbClr val="125C60"/>
                </a:solidFill>
                <a:latin typeface="Proxima Nova" pitchFamily="34" charset="0"/>
                <a:ea typeface="Proxima Nova" pitchFamily="34" charset="-122"/>
                <a:cs typeface="Proxima Nova" pitchFamily="34" charset="-120"/>
              </a:rPr>
              <a:t>$5.1M</a:t>
            </a:r>
            <a:pPr algn="l" indent="0" marL="0">
              <a:spcAft>
                <a:spcPts val="800"/>
              </a:spcAft>
              <a:buNone/>
            </a:pPr>
            <a:r>
              <a:rPr lang="en-US" sz="1100" dirty="0">
                <a:solidFill>
                  <a:srgbClr val="231F20"/>
                </a:solidFill>
                <a:latin typeface="Proxima Nova" pitchFamily="34" charset="0"/>
                <a:ea typeface="Proxima Nova" pitchFamily="34" charset="-122"/>
                <a:cs typeface="Proxima Nova" pitchFamily="34" charset="-120"/>
              </a:rPr>
              <a:t> in room revenue a year (</a:t>
            </a:r>
            <a:pPr algn="l" indent="0" marL="0">
              <a:spcAft>
                <a:spcPts val="800"/>
              </a:spcAft>
              <a:buNone/>
            </a:pPr>
            <a:r>
              <a:rPr lang="en-US" sz="1100" b="1" dirty="0">
                <a:solidFill>
                  <a:srgbClr val="125C60"/>
                </a:solidFill>
                <a:latin typeface="Proxima Nova" pitchFamily="34" charset="0"/>
                <a:ea typeface="Proxima Nova" pitchFamily="34" charset="-122"/>
                <a:cs typeface="Proxima Nova" pitchFamily="34" charset="-120"/>
              </a:rPr>
              <a:t>21,318 rooms</a:t>
            </a:r>
            <a:pPr algn="l" indent="0" marL="0">
              <a:spcAft>
                <a:spcPts val="800"/>
              </a:spcAft>
              <a:buNone/>
            </a:pPr>
            <a:r>
              <a:rPr lang="en-US" sz="1100" dirty="0">
                <a:solidFill>
                  <a:srgbClr val="231F20"/>
                </a:solidFill>
                <a:latin typeface="Proxima Nova" pitchFamily="34" charset="0"/>
                <a:ea typeface="Proxima Nova" pitchFamily="34" charset="-122"/>
                <a:cs typeface="Proxima Nova" pitchFamily="34" charset="-120"/>
              </a:rPr>
              <a:t> × 1 point × 104 Sunday and Monday nights a year = </a:t>
            </a:r>
            <a:pPr algn="l" indent="0" marL="0">
              <a:spcAft>
                <a:spcPts val="800"/>
              </a:spcAft>
              <a:buNone/>
            </a:pPr>
            <a:r>
              <a:rPr lang="en-US" sz="1100" b="1" dirty="0">
                <a:solidFill>
                  <a:srgbClr val="125C60"/>
                </a:solidFill>
                <a:latin typeface="Proxima Nova" pitchFamily="34" charset="0"/>
                <a:ea typeface="Proxima Nova" pitchFamily="34" charset="-122"/>
                <a:cs typeface="Proxima Nova" pitchFamily="34" charset="-120"/>
              </a:rPr>
              <a:t>22,171 room nights</a:t>
            </a:r>
            <a:pPr algn="l" indent="0" marL="0">
              <a:spcAft>
                <a:spcPts val="800"/>
              </a:spcAft>
              <a:buNone/>
            </a:pPr>
            <a:r>
              <a:rPr lang="en-US" sz="1100" dirty="0">
                <a:solidFill>
                  <a:srgbClr val="231F20"/>
                </a:solidFill>
                <a:latin typeface="Proxima Nova" pitchFamily="34" charset="0"/>
                <a:ea typeface="Proxima Nova" pitchFamily="34" charset="-122"/>
                <a:cs typeface="Proxima Nova" pitchFamily="34" charset="-120"/>
              </a:rPr>
              <a:t>; × </a:t>
            </a:r>
            <a:pPr algn="l" indent="0" marL="0">
              <a:spcAft>
                <a:spcPts val="800"/>
              </a:spcAft>
              <a:buNone/>
            </a:pPr>
            <a:r>
              <a:rPr lang="en-US" sz="1100" b="1" dirty="0">
                <a:solidFill>
                  <a:srgbClr val="125C60"/>
                </a:solidFill>
                <a:latin typeface="Proxima Nova" pitchFamily="34" charset="0"/>
                <a:ea typeface="Proxima Nova" pitchFamily="34" charset="-122"/>
                <a:cs typeface="Proxima Nova" pitchFamily="34" charset="-120"/>
              </a:rPr>
              <a:t>$229.90</a:t>
            </a:r>
            <a:pPr algn="l" indent="0" marL="0">
              <a:spcAft>
                <a:spcPts val="800"/>
              </a:spcAft>
              <a:buNone/>
            </a:pPr>
            <a:r>
              <a:rPr lang="en-US" sz="1100" dirty="0">
                <a:solidFill>
                  <a:srgbClr val="231F20"/>
                </a:solidFill>
                <a:latin typeface="Proxima Nova" pitchFamily="34" charset="0"/>
                <a:ea typeface="Proxima Nova" pitchFamily="34" charset="-122"/>
                <a:cs typeface="Proxima Nova" pitchFamily="34" charset="-120"/>
              </a:rPr>
              <a:t> average Sunday–Monday rate = </a:t>
            </a:r>
            <a:pPr algn="l" indent="0" marL="0">
              <a:spcAft>
                <a:spcPts val="800"/>
              </a:spcAft>
              <a:buNone/>
            </a:pPr>
            <a:r>
              <a:rPr lang="en-US" sz="1100" b="1" dirty="0">
                <a:solidFill>
                  <a:srgbClr val="125C60"/>
                </a:solidFill>
                <a:latin typeface="Proxima Nova" pitchFamily="34" charset="0"/>
                <a:ea typeface="Proxima Nova" pitchFamily="34" charset="-122"/>
                <a:cs typeface="Proxima Nova" pitchFamily="34" charset="-120"/>
              </a:rPr>
              <a:t>$5.1M</a:t>
            </a:r>
            <a:pPr algn="l" indent="0" marL="0">
              <a:spcAft>
                <a:spcPts val="800"/>
              </a:spcAft>
              <a:buNone/>
            </a:pPr>
            <a:r>
              <a:rPr lang="en-US" sz="1100" dirty="0">
                <a:solidFill>
                  <a:srgbClr val="231F20"/>
                </a:solidFill>
                <a:latin typeface="Proxima Nova" pitchFamily="34" charset="0"/>
                <a:ea typeface="Proxima Nova" pitchFamily="34" charset="-122"/>
                <a:cs typeface="Proxima Nova" pitchFamily="34" charset="-120"/>
              </a:rPr>
              <a:t>).</a:t>
            </a:r>
            <a:endParaRPr lang="en-US" sz="1100" dirty="0"/>
          </a:p>
        </p:txBody>
      </p:sp>
      <p:sp>
        <p:nvSpPr>
          <p:cNvPr id="27"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Travel Forecast (pub. Sept. 2026; data to Aug. 31, 2026); LARC Market Intelligence Reports (Jan.–Sept. 2026); Datafy Anaheim visitor report (calendar 2024); Azira via Symphony (District 5, Jan. 1–May 31, 2026; domestic visitors, Aug. 2026); STR daily data, Visit Anaheim hotel sets (Jan. 1–Oct. 3, 2026); OCTA Traffic Flow Map (pub. Aug. 2026) and bus schedules (Aug. 9–Nov. 7, 2026); BizBash (Sept. 16, 2026); Visa Destination Insights via Symphony (Aug. 2026 vs. Aug. 2025).</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Main announcement (continued)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Groups, access and what the report covers</a:t>
            </a:r>
            <a:endParaRPr lang="en-US" sz="1200" dirty="0"/>
          </a:p>
        </p:txBody>
      </p:sp>
      <p:sp>
        <p:nvSpPr>
          <p:cNvPr id="4" name="Text 2"/>
          <p:cNvSpPr txBox="1"/>
          <p:nvPr/>
        </p:nvSpPr>
        <p:spPr>
          <a:xfrm>
            <a:off x="548640" y="1463040"/>
            <a:ext cx="11094415" cy="4389120"/>
          </a:xfrm>
          <a:prstGeom prst="rect">
            <a:avLst/>
          </a:prstGeom>
          <a:noFill/>
          <a:ln/>
        </p:spPr>
        <p:txBody>
          <a:bodyPr wrap="square" lIns="0" tIns="0" rIns="0" bIns="0" rtlCol="0" anchor="t"/>
          <a:lstStyle/>
          <a:p>
            <a:pPr algn="l" indent="0" marL="0">
              <a:spcAft>
                <a:spcPts val="800"/>
              </a:spcAft>
              <a:buNone/>
            </a:pPr>
            <a:r>
              <a:rPr lang="en-US" sz="1300" dirty="0">
                <a:solidFill>
                  <a:srgbClr val="231F20"/>
                </a:solidFill>
                <a:latin typeface="Proxima Nova" pitchFamily="34" charset="0"/>
                <a:ea typeface="Proxima Nova" pitchFamily="34" charset="-122"/>
                <a:cs typeface="Proxima Nova" pitchFamily="34" charset="-120"/>
              </a:rPr>
              <a:t>Groups are a growing source of weekday guests. Convention Center room nights for 2027 are pacing </a:t>
            </a:r>
            <a:pPr algn="l" indent="0" marL="0">
              <a:spcAft>
                <a:spcPts val="800"/>
              </a:spcAft>
              <a:buNone/>
            </a:pPr>
            <a:r>
              <a:rPr lang="en-US" sz="1300" b="1" dirty="0">
                <a:solidFill>
                  <a:srgbClr val="125C60"/>
                </a:solidFill>
                <a:latin typeface="Proxima Nova" pitchFamily="34" charset="0"/>
                <a:ea typeface="Proxima Nova" pitchFamily="34" charset="-122"/>
                <a:cs typeface="Proxima Nova" pitchFamily="34" charset="-120"/>
              </a:rPr>
              <a:t>17%</a:t>
            </a:r>
            <a:pPr algn="l" indent="0" marL="0">
              <a:spcAft>
                <a:spcPts val="800"/>
              </a:spcAft>
              <a:buNone/>
            </a:pPr>
            <a:r>
              <a:rPr lang="en-US" sz="1300" dirty="0">
                <a:solidFill>
                  <a:srgbClr val="231F20"/>
                </a:solidFill>
                <a:latin typeface="Proxima Nova" pitchFamily="34" charset="0"/>
                <a:ea typeface="Proxima Nova" pitchFamily="34" charset="-122"/>
                <a:cs typeface="Proxima Nova" pitchFamily="34" charset="-120"/>
              </a:rPr>
              <a:t> ahead (LARC, Sept. 2026), and Disney's D23 evening showcases drew </a:t>
            </a:r>
            <a:pPr algn="l" indent="0" marL="0">
              <a:spcAft>
                <a:spcPts val="800"/>
              </a:spcAft>
              <a:buNone/>
            </a:pPr>
            <a:r>
              <a:rPr lang="en-US" sz="1300" b="1" dirty="0">
                <a:solidFill>
                  <a:srgbClr val="125C60"/>
                </a:solidFill>
                <a:latin typeface="Proxima Nova" pitchFamily="34" charset="0"/>
                <a:ea typeface="Proxima Nova" pitchFamily="34" charset="-122"/>
                <a:cs typeface="Proxima Nova" pitchFamily="34" charset="-120"/>
              </a:rPr>
              <a:t>36,000</a:t>
            </a:r>
            <a:pPr algn="l" indent="0" marL="0">
              <a:spcAft>
                <a:spcPts val="800"/>
              </a:spcAft>
              <a:buNone/>
            </a:pPr>
            <a:r>
              <a:rPr lang="en-US" sz="1300" dirty="0">
                <a:solidFill>
                  <a:srgbClr val="231F20"/>
                </a:solidFill>
                <a:latin typeface="Proxima Nova" pitchFamily="34" charset="0"/>
                <a:ea typeface="Proxima Nova" pitchFamily="34" charset="-122"/>
                <a:cs typeface="Proxima Nova" pitchFamily="34" charset="-120"/>
              </a:rPr>
              <a:t>+ guests to Honda Center over three nights alongside the Convention Center expo (BizBash, Sept. 2026).</a:t>
            </a:r>
            <a:endParaRPr lang="en-US" sz="1300" dirty="0"/>
          </a:p>
          <a:p>
            <a:pPr algn="l" indent="0" marL="0">
              <a:spcAft>
                <a:spcPts val="800"/>
              </a:spcAft>
              <a:buNone/>
            </a:pPr>
            <a:r>
              <a:rPr lang="en-US" sz="1300" dirty="0">
                <a:solidFill>
                  <a:srgbClr val="231F20"/>
                </a:solidFill>
                <a:latin typeface="Proxima Nova" pitchFamily="34" charset="0"/>
                <a:ea typeface="Proxima Nova" pitchFamily="34" charset="-122"/>
                <a:cs typeface="Proxima Nova" pitchFamily="34" charset="-120"/>
              </a:rPr>
              <a:t>Most visitors drive: </a:t>
            </a:r>
            <a:pPr algn="l" indent="0" marL="0">
              <a:spcAft>
                <a:spcPts val="800"/>
              </a:spcAft>
              <a:buNone/>
            </a:pPr>
            <a:r>
              <a:rPr lang="en-US" sz="1300" b="1" dirty="0">
                <a:solidFill>
                  <a:srgbClr val="125C60"/>
                </a:solidFill>
                <a:latin typeface="Proxima Nova" pitchFamily="34" charset="0"/>
                <a:ea typeface="Proxima Nova" pitchFamily="34" charset="-122"/>
                <a:cs typeface="Proxima Nova" pitchFamily="34" charset="-120"/>
              </a:rPr>
              <a:t>74.0%</a:t>
            </a:r>
            <a:pPr algn="l" indent="0" marL="0">
              <a:spcAft>
                <a:spcPts val="800"/>
              </a:spcAft>
              <a:buNone/>
            </a:pPr>
            <a:r>
              <a:rPr lang="en-US" sz="1300" dirty="0">
                <a:solidFill>
                  <a:srgbClr val="231F20"/>
                </a:solidFill>
                <a:latin typeface="Proxima Nova" pitchFamily="34" charset="0"/>
                <a:ea typeface="Proxima Nova" pitchFamily="34" charset="-122"/>
                <a:cs typeface="Proxima Nova" pitchFamily="34" charset="-120"/>
              </a:rPr>
              <a:t> of domestic trips start within 50 miles, and SR-57 beside the district carries about </a:t>
            </a:r>
            <a:pPr algn="l" indent="0" marL="0">
              <a:spcAft>
                <a:spcPts val="800"/>
              </a:spcAft>
              <a:buNone/>
            </a:pPr>
            <a:r>
              <a:rPr lang="en-US" sz="1300" b="1" dirty="0">
                <a:solidFill>
                  <a:srgbClr val="125C60"/>
                </a:solidFill>
                <a:latin typeface="Proxima Nova" pitchFamily="34" charset="0"/>
                <a:ea typeface="Proxima Nova" pitchFamily="34" charset="-122"/>
                <a:cs typeface="Proxima Nova" pitchFamily="34" charset="-120"/>
              </a:rPr>
              <a:t>275,000 vehicles</a:t>
            </a:r>
            <a:pPr algn="l" indent="0" marL="0">
              <a:spcAft>
                <a:spcPts val="800"/>
              </a:spcAft>
              <a:buNone/>
            </a:pPr>
            <a:r>
              <a:rPr lang="en-US" sz="1300" dirty="0">
                <a:solidFill>
                  <a:srgbClr val="231F20"/>
                </a:solidFill>
                <a:latin typeface="Proxima Nova" pitchFamily="34" charset="0"/>
                <a:ea typeface="Proxima Nova" pitchFamily="34" charset="-122"/>
                <a:cs typeface="Proxima Nova" pitchFamily="34" charset="-120"/>
              </a:rPr>
              <a:t> a weekday (Azira, Aug. 2026; OCTA, Aug. 2026). ARTIC adds 277 weekday bus trips, Amtrak and Metrolink, but only 11 buses leave after 10 p.m.</a:t>
            </a:r>
            <a:endParaRPr lang="en-US" sz="1300" dirty="0"/>
          </a:p>
          <a:p>
            <a:pPr algn="l" indent="0" marL="0">
              <a:spcAft>
                <a:spcPts val="800"/>
              </a:spcAft>
              <a:buNone/>
            </a:pPr>
            <a:r>
              <a:rPr lang="en-US" sz="1300" dirty="0">
                <a:solidFill>
                  <a:srgbClr val="231F20"/>
                </a:solidFill>
                <a:latin typeface="Proxima Nova" pitchFamily="34" charset="0"/>
                <a:ea typeface="Proxima Nova" pitchFamily="34" charset="-122"/>
                <a:cs typeface="Proxima Nova" pitchFamily="34" charset="-120"/>
              </a:rPr>
              <a:t>The full report covers Anaheim and the OC Vibe area today, visitor spending, jobs, one more night, getting here, who visits, marketing reach, hotels and the market outlook, with the source and date for every figure.</a:t>
            </a:r>
            <a:endParaRPr lang="en-US" sz="1300" dirty="0"/>
          </a:p>
        </p:txBody>
      </p:sp>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Travel Forecast (pub. Sept. 2026; data to Aug. 31, 2026); LARC Market Intelligence Reports (Jan.–Sept. 2026); Datafy Anaheim visitor report (calendar 2024); Azira via Symphony (District 5, Jan. 1–May 31, 2026; domestic visitors, Aug. 2026); STR daily data, Visit Anaheim hotel sets (Jan. 1–Oct. 3, 2026); OCTA Traffic Flow Map (pub. Aug. 2026) and bus schedules (Aug. 9–Nov. 7, 2026); BizBash (Sept. 16, 2026); Visa Destination Insights via Symphony (Aug. 2026 vs. Aug. 2025).</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Summary of findings</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Each finding with its source and date</a:t>
            </a:r>
            <a:endParaRPr lang="en-US" sz="1200" dirty="0"/>
          </a:p>
        </p:txBody>
      </p:sp>
      <p:sp>
        <p:nvSpPr>
          <p:cNvPr id="4" name="Text 2"/>
          <p:cNvSpPr txBox="1"/>
          <p:nvPr/>
        </p:nvSpPr>
        <p:spPr>
          <a:xfrm>
            <a:off x="548640" y="1417320"/>
            <a:ext cx="11094415" cy="4572000"/>
          </a:xfrm>
          <a:prstGeom prst="rect">
            <a:avLst/>
          </a:prstGeom>
          <a:noFill/>
          <a:ln/>
        </p:spPr>
        <p:txBody>
          <a:bodyPr wrap="square" lIns="0" tIns="0" rIns="0" bIns="0" rtlCol="0" anchor="t"/>
          <a:lstStyle/>
          <a:p>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Anaheim's visitor economy: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26.5M</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visitors spent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$6.83B</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in 2025 and supported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67,817 jobs</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Tourism Economics forecasts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27.0M</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visitors and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$7.2B</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for 2026. These are City of Anaheim totals; the OC Vibe area accounted for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5.2%</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of Anaheim visitor days in 2024. (Source: Tourism Economics, Economic Impact of Visitors (calendar 2025; pub. 2026); Tourism Economics, Anaheim Travel Forecast (Sept. 2026); Datafy Anaheim visitor report (calendar 2024))</a:t>
            </a:r>
            <a:endParaRPr lang="en-US" sz="1000" dirty="0"/>
          </a:p>
          <a:p>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Orange County market: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51.3M</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visitors in 2025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22.1M</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overnight;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93.3%</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domestic);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55.4%</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from Southern California and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37.0%</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traveling with children (2019);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60,224</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hotel rooms at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75.2%</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occupancy and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$221.67</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ADR in Jan.-Aug. 2026, with July the peak month. (Source: Tourism Economics, Economic Impact of Visitors to Orange County, 2025 (pub. May 2026); CIC Research, Annual Profile of Visitors to Anaheim and Orange County, 2019 (for Visit Anaheim, Apr. 2020); CoStar, Orange County hotel market (monthly data through Sept. 2026; market report Oct. 12, 2026))</a:t>
            </a:r>
            <a:endParaRPr lang="en-US" sz="1000" dirty="0"/>
          </a:p>
          <a:p>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Getting to OC Vibe: SR-57 beside the district carries about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275,000 vehicles</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a weekday; ARTIC has 277 weekday bus trips but only 11 leave after 10 p.m.; the City lists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12,369–12,823</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planned parking spaces. (Source: OCTA Traffic Flow Map (pub. Aug. 2026) and bus schedules (Aug. 9–Nov. 7, 2026); City of Anaheim OCVibe page (2026); OCVIBE fact sheet (Apr. 2024))</a:t>
            </a:r>
            <a:endParaRPr lang="en-US" sz="1000" dirty="0"/>
          </a:p>
          <a:p>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Visitors spend more each trip: about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$258</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per Anaheim visitor in 2025, forecast to reach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$279</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by 2028; Q2 2026 spending rose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7.8%</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(Calculation: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$6.83B</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visitor spending ÷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26.5M</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visitors =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$258</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per visitor) (Source: Tourism Economics, Economic Impact 2025 (pub. Apr.–May 2026); Tourism Economics, Travel Forecast (pub. Sept. 2026; data to Aug. 31, 2026))</a:t>
            </a:r>
            <a:endParaRPr lang="en-US" sz="1000" dirty="0"/>
          </a:p>
          <a:p>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The visitor economy supports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67,817</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Anaheim jobs (one in three); food and beverage is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16.8%</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of them,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29.1%</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countywide. (Source: Tourism Economics, Economic Impact 2025 (pub. Apr.–May 2026))</a:t>
            </a:r>
            <a:endParaRPr lang="en-US" sz="1000" dirty="0"/>
          </a:p>
          <a:p>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One more night per visitor is worth about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$794 million</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in lodging spending, and about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$1.0 billion</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counting all spending by overnight visitors. (Calculation: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$1.724B</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2025 lodging spending ÷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2.17</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-day average stay =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$794M</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8.6M</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overnight visitors ×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$118.71</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per visitor day =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$1.02B</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(Source: Visit Anaheim BI, Extra Night study (2025 inputs; recalculated Oct. 12, 2026))</a:t>
            </a:r>
            <a:endParaRPr lang="en-US" sz="1000" dirty="0"/>
          </a:p>
          <a:p>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OC Vibe sits on one of the county's busiest corridors (SR-57, about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275,000 vehicles</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a day) next to ARTIC's 277 weekday bus trips; a resort–ARTIC transit link is under study for 2028. (Source: OCTA Traffic Flow Map (pub. Aug. 2026) and bus schedules (Aug. 9–Nov. 7, 2026))</a:t>
            </a:r>
            <a:endParaRPr lang="en-US" sz="1000" dirty="0"/>
          </a:p>
          <a:p>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District 5 visitors are mostly overnight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85.8%</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and Southern Californian, and Datafy already measures OC Vibe in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5.2%</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of Anaheim visitor days. (Source: Azira via Symphony (District 5, Jan. 1–May 31, 2026; domestic visitors, Aug. 2026); Datafy Anaheim visitor report (calendar 2024))</a:t>
            </a:r>
            <a:endParaRPr lang="en-US" sz="1000" dirty="0"/>
          </a:p>
          <a:p>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Resort-area hotels fill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78.4%</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of rooms (CoStar Disneyland submarket, the highest in the county), and only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668 rooms</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are under construction countywide, so new hotel supply is scarce. (Source: CoStar reports and export (data through Aug. 2026; pulled Oct. 12, 2026))</a:t>
            </a:r>
            <a:endParaRPr lang="en-US" sz="1000" dirty="0"/>
          </a:p>
          <a:p>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Anaheim hotels are outpacing the U.S. (Q2 revenue per room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+11.4%</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vs.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+5.7%</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conventions are pacing ahead, and the 2028 Olympics come to Anaheim; inflation and labor costs are the main headwinds. (Source: LARC Market Intelligence Reports (Jan.–Sept. 2026))</a:t>
            </a:r>
            <a:endParaRPr lang="en-US" sz="1000" dirty="0"/>
          </a:p>
          <a:p>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Hotels near OC Vibe have room on Sunday and Monday nights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70.6%</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occupancy vs.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86.2%</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Friday–Saturday, STR 2026), and visitor card spending rose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8.1%</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in August 2026 (Visa); rail at ARTIC carried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191,153</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Amtrak passengers in 2024. (Calculation: (Sunday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70.6%</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 Monday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70.5%</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 2 =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70.6%</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(Friday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85.7%</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 Saturday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86.8%</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 2 =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86.2%</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(Source: STR daily data, Visit Anaheim hotel sets (Jan. 1–Oct. 3, 2026); Visa Destination Insights via Symphony (Aug. 2026 vs. Aug. 2025); Amtrak ANA fact sheet (2024 data; pub. Oct. 27, 2025); Metrolink FY26 Q2 (Oct.–Dec. 2025))</a:t>
            </a:r>
            <a:endParaRPr lang="en-US" sz="1000" dirty="0"/>
          </a:p>
        </p:txBody>
      </p:sp>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Sources and dates are shown with each finding; full source register on the Sources slides.</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Key takeaways</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The headline number from each section, with its period</a:t>
            </a:r>
            <a:endParaRPr lang="en-US" sz="1200" dirty="0"/>
          </a:p>
        </p:txBody>
      </p:sp>
      <p:sp>
        <p:nvSpPr>
          <p:cNvPr id="4" name="Shape 2"/>
          <p:cNvSpPr/>
          <p:nvPr/>
        </p:nvSpPr>
        <p:spPr>
          <a:xfrm>
            <a:off x="548640" y="1371600"/>
            <a:ext cx="3588410" cy="1417320"/>
          </a:xfrm>
          <a:prstGeom prst="rect">
            <a:avLst/>
          </a:prstGeom>
          <a:solidFill>
            <a:srgbClr val="FFFFFF"/>
          </a:solidFill>
          <a:ln w="12700">
            <a:solidFill>
              <a:srgbClr val="B4D9E3"/>
            </a:solidFill>
            <a:prstDash val="solid"/>
          </a:ln>
        </p:spPr>
      </p:sp>
      <p:sp>
        <p:nvSpPr>
          <p:cNvPr id="5" name="Shape 3"/>
          <p:cNvSpPr/>
          <p:nvPr/>
        </p:nvSpPr>
        <p:spPr>
          <a:xfrm>
            <a:off x="548640" y="1371600"/>
            <a:ext cx="3588410" cy="54864"/>
          </a:xfrm>
          <a:prstGeom prst="rect">
            <a:avLst/>
          </a:prstGeom>
          <a:solidFill>
            <a:srgbClr val="43A3A3"/>
          </a:solidFill>
          <a:ln w="12700">
            <a:solidFill>
              <a:srgbClr val="43A3A3"/>
            </a:solidFill>
            <a:prstDash val="solid"/>
          </a:ln>
        </p:spPr>
      </p:sp>
      <p:sp>
        <p:nvSpPr>
          <p:cNvPr id="6" name="Text 4"/>
          <p:cNvSpPr txBox="1"/>
          <p:nvPr/>
        </p:nvSpPr>
        <p:spPr>
          <a:xfrm>
            <a:off x="658368" y="1463040"/>
            <a:ext cx="3368954"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ANAHEIM AND OC VIBE TODAY</a:t>
            </a:r>
            <a:endParaRPr lang="en-US" sz="850" dirty="0"/>
          </a:p>
        </p:txBody>
      </p:sp>
      <p:sp>
        <p:nvSpPr>
          <p:cNvPr id="7" name="Text 5"/>
          <p:cNvSpPr txBox="1"/>
          <p:nvPr/>
        </p:nvSpPr>
        <p:spPr>
          <a:xfrm>
            <a:off x="658368" y="1664208"/>
            <a:ext cx="1737360" cy="457200"/>
          </a:xfrm>
          <a:prstGeom prst="rect">
            <a:avLst/>
          </a:prstGeom>
          <a:noFill/>
          <a:ln/>
        </p:spPr>
        <p:txBody>
          <a:bodyPr wrap="square" lIns="0" tIns="0" rIns="0" bIns="0" rtlCol="0" anchor="ctr">
            <a:normAutofit/>
          </a:bodyPr>
          <a:lstStyle/>
          <a:p>
            <a:pPr indent="0" marL="0">
              <a:buNone/>
            </a:pPr>
            <a:r>
              <a:rPr lang="en-US" sz="2400" b="1" i="1" dirty="0">
                <a:solidFill>
                  <a:srgbClr val="125C60"/>
                </a:solidFill>
                <a:latin typeface="Proxima Nova" pitchFamily="34" charset="0"/>
                <a:ea typeface="Proxima Nova" pitchFamily="34" charset="-122"/>
                <a:cs typeface="Proxima Nova" pitchFamily="34" charset="-120"/>
              </a:rPr>
              <a:t>$6.83B</a:t>
            </a:r>
            <a:endParaRPr lang="en-US" sz="2400" dirty="0"/>
          </a:p>
        </p:txBody>
      </p:sp>
      <p:sp>
        <p:nvSpPr>
          <p:cNvPr id="8" name="Text 6"/>
          <p:cNvSpPr txBox="1"/>
          <p:nvPr/>
        </p:nvSpPr>
        <p:spPr>
          <a:xfrm>
            <a:off x="2423160" y="1682496"/>
            <a:ext cx="1622450" cy="438912"/>
          </a:xfrm>
          <a:prstGeom prst="rect">
            <a:avLst/>
          </a:prstGeom>
          <a:noFill/>
          <a:ln/>
        </p:spPr>
        <p:txBody>
          <a:bodyPr wrap="square" lIns="0" tIns="0" rIns="0" bIns="0" rtlCol="0" anchor="ctr">
            <a:normAutofit/>
          </a:bodyPr>
          <a:lstStyle/>
          <a:p>
            <a:pPr indent="0" marL="0">
              <a:buNone/>
            </a:pPr>
            <a:r>
              <a:rPr lang="en-US" sz="950" b="1" dirty="0">
                <a:solidFill>
                  <a:srgbClr val="231F20"/>
                </a:solidFill>
                <a:latin typeface="Proxima Nova" pitchFamily="34" charset="0"/>
                <a:ea typeface="Proxima Nova" pitchFamily="34" charset="-122"/>
                <a:cs typeface="Proxima Nova" pitchFamily="34" charset="-120"/>
              </a:rPr>
              <a:t>Anaheim visitor spending, 2025 (Tourism Economics)</a:t>
            </a:r>
            <a:endParaRPr lang="en-US" sz="950" dirty="0"/>
          </a:p>
        </p:txBody>
      </p:sp>
      <p:sp>
        <p:nvSpPr>
          <p:cNvPr id="9" name="Text 7"/>
          <p:cNvSpPr txBox="1"/>
          <p:nvPr/>
        </p:nvSpPr>
        <p:spPr>
          <a:xfrm>
            <a:off x="658368" y="2157984"/>
            <a:ext cx="3368954" cy="566928"/>
          </a:xfrm>
          <a:prstGeom prst="rect">
            <a:avLst/>
          </a:prstGeom>
          <a:noFill/>
          <a:ln/>
        </p:spPr>
        <p:txBody>
          <a:bodyPr wrap="square" lIns="0" tIns="0" rIns="0" bIns="0" rtlCol="0" anchor="t">
            <a:normAutofit/>
          </a:bodyPr>
          <a:lstStyle/>
          <a:p>
            <a:pPr indent="0" marL="0">
              <a:buNone/>
            </a:pPr>
            <a:r>
              <a:rPr lang="en-US" sz="1000" dirty="0">
                <a:solidFill>
                  <a:srgbClr val="231F20"/>
                </a:solidFill>
                <a:latin typeface="Proxima Nova" pitchFamily="34" charset="0"/>
                <a:ea typeface="Proxima Nova" pitchFamily="34" charset="-122"/>
                <a:cs typeface="Proxima Nova" pitchFamily="34" charset="-120"/>
              </a:rPr>
              <a:t>Anaheim welcomed </a:t>
            </a:r>
            <a:pPr indent="0" marL="0">
              <a:buNone/>
            </a:pPr>
            <a:r>
              <a:rPr lang="en-US" sz="1000" b="1" dirty="0">
                <a:solidFill>
                  <a:srgbClr val="125C60"/>
                </a:solidFill>
                <a:latin typeface="Proxima Nova" pitchFamily="34" charset="0"/>
                <a:ea typeface="Proxima Nova" pitchFamily="34" charset="-122"/>
                <a:cs typeface="Proxima Nova" pitchFamily="34" charset="-120"/>
              </a:rPr>
              <a:t>26.5 million</a:t>
            </a:r>
            <a:pPr indent="0" marL="0">
              <a:buNone/>
            </a:pPr>
            <a:r>
              <a:rPr lang="en-US" sz="1000" dirty="0">
                <a:solidFill>
                  <a:srgbClr val="231F20"/>
                </a:solidFill>
                <a:latin typeface="Proxima Nova" pitchFamily="34" charset="0"/>
                <a:ea typeface="Proxima Nova" pitchFamily="34" charset="-122"/>
                <a:cs typeface="Proxima Nova" pitchFamily="34" charset="-120"/>
              </a:rPr>
              <a:t> visitors who spent </a:t>
            </a:r>
            <a:pPr indent="0" marL="0">
              <a:buNone/>
            </a:pPr>
            <a:r>
              <a:rPr lang="en-US" sz="1000" b="1" dirty="0">
                <a:solidFill>
                  <a:srgbClr val="125C60"/>
                </a:solidFill>
                <a:latin typeface="Proxima Nova" pitchFamily="34" charset="0"/>
                <a:ea typeface="Proxima Nova" pitchFamily="34" charset="-122"/>
                <a:cs typeface="Proxima Nova" pitchFamily="34" charset="-120"/>
              </a:rPr>
              <a:t>$6.83 billion</a:t>
            </a:r>
            <a:pPr indent="0" marL="0">
              <a:buNone/>
            </a:pPr>
            <a:r>
              <a:rPr lang="en-US" sz="1000" dirty="0">
                <a:solidFill>
                  <a:srgbClr val="231F20"/>
                </a:solidFill>
                <a:latin typeface="Proxima Nova" pitchFamily="34" charset="0"/>
                <a:ea typeface="Proxima Nova" pitchFamily="34" charset="-122"/>
                <a:cs typeface="Proxima Nova" pitchFamily="34" charset="-120"/>
              </a:rPr>
              <a:t> in 2025</a:t>
            </a:r>
            <a:endParaRPr lang="en-US" sz="1000" dirty="0"/>
          </a:p>
        </p:txBody>
      </p:sp>
      <p:sp>
        <p:nvSpPr>
          <p:cNvPr id="10" name="Shape 8"/>
          <p:cNvSpPr/>
          <p:nvPr/>
        </p:nvSpPr>
        <p:spPr>
          <a:xfrm>
            <a:off x="4301642" y="1371600"/>
            <a:ext cx="3588410" cy="1417320"/>
          </a:xfrm>
          <a:prstGeom prst="rect">
            <a:avLst/>
          </a:prstGeom>
          <a:solidFill>
            <a:srgbClr val="FFFFFF"/>
          </a:solidFill>
          <a:ln w="12700">
            <a:solidFill>
              <a:srgbClr val="B4D9E3"/>
            </a:solidFill>
            <a:prstDash val="solid"/>
          </a:ln>
        </p:spPr>
      </p:sp>
      <p:sp>
        <p:nvSpPr>
          <p:cNvPr id="11" name="Shape 9"/>
          <p:cNvSpPr/>
          <p:nvPr/>
        </p:nvSpPr>
        <p:spPr>
          <a:xfrm>
            <a:off x="4301642" y="1371600"/>
            <a:ext cx="3588410" cy="54864"/>
          </a:xfrm>
          <a:prstGeom prst="rect">
            <a:avLst/>
          </a:prstGeom>
          <a:solidFill>
            <a:srgbClr val="43A3A3"/>
          </a:solidFill>
          <a:ln w="12700">
            <a:solidFill>
              <a:srgbClr val="43A3A3"/>
            </a:solidFill>
            <a:prstDash val="solid"/>
          </a:ln>
        </p:spPr>
      </p:sp>
      <p:sp>
        <p:nvSpPr>
          <p:cNvPr id="12" name="Text 10"/>
          <p:cNvSpPr txBox="1"/>
          <p:nvPr/>
        </p:nvSpPr>
        <p:spPr>
          <a:xfrm>
            <a:off x="4411370" y="1463040"/>
            <a:ext cx="3368954"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ORANGE COUNTY TOURISM</a:t>
            </a:r>
            <a:endParaRPr lang="en-US" sz="850" dirty="0"/>
          </a:p>
        </p:txBody>
      </p:sp>
      <p:sp>
        <p:nvSpPr>
          <p:cNvPr id="13" name="Text 11"/>
          <p:cNvSpPr txBox="1"/>
          <p:nvPr/>
        </p:nvSpPr>
        <p:spPr>
          <a:xfrm>
            <a:off x="4411370" y="1664208"/>
            <a:ext cx="1737360" cy="457200"/>
          </a:xfrm>
          <a:prstGeom prst="rect">
            <a:avLst/>
          </a:prstGeom>
          <a:noFill/>
          <a:ln/>
        </p:spPr>
        <p:txBody>
          <a:bodyPr wrap="square" lIns="0" tIns="0" rIns="0" bIns="0" rtlCol="0" anchor="ctr">
            <a:normAutofit/>
          </a:bodyPr>
          <a:lstStyle/>
          <a:p>
            <a:pPr indent="0" marL="0">
              <a:buNone/>
            </a:pPr>
            <a:r>
              <a:rPr lang="en-US" sz="2400" b="1" i="1" dirty="0">
                <a:solidFill>
                  <a:srgbClr val="125C60"/>
                </a:solidFill>
                <a:latin typeface="Proxima Nova" pitchFamily="34" charset="0"/>
                <a:ea typeface="Proxima Nova" pitchFamily="34" charset="-122"/>
                <a:cs typeface="Proxima Nova" pitchFamily="34" charset="-120"/>
              </a:rPr>
              <a:t>51.3M</a:t>
            </a:r>
            <a:endParaRPr lang="en-US" sz="2400" dirty="0"/>
          </a:p>
        </p:txBody>
      </p:sp>
      <p:sp>
        <p:nvSpPr>
          <p:cNvPr id="14" name="Text 12"/>
          <p:cNvSpPr txBox="1"/>
          <p:nvPr/>
        </p:nvSpPr>
        <p:spPr>
          <a:xfrm>
            <a:off x="6176162" y="1682496"/>
            <a:ext cx="1622450" cy="438912"/>
          </a:xfrm>
          <a:prstGeom prst="rect">
            <a:avLst/>
          </a:prstGeom>
          <a:noFill/>
          <a:ln/>
        </p:spPr>
        <p:txBody>
          <a:bodyPr wrap="square" lIns="0" tIns="0" rIns="0" bIns="0" rtlCol="0" anchor="ctr">
            <a:normAutofit/>
          </a:bodyPr>
          <a:lstStyle/>
          <a:p>
            <a:pPr indent="0" marL="0">
              <a:buNone/>
            </a:pPr>
            <a:r>
              <a:rPr lang="en-US" sz="950" b="1" dirty="0">
                <a:solidFill>
                  <a:srgbClr val="231F20"/>
                </a:solidFill>
                <a:latin typeface="Proxima Nova" pitchFamily="34" charset="0"/>
                <a:ea typeface="Proxima Nova" pitchFamily="34" charset="-122"/>
                <a:cs typeface="Proxima Nova" pitchFamily="34" charset="-120"/>
              </a:rPr>
              <a:t>Orange County visitors, 2025 (Tourism Economics)</a:t>
            </a:r>
            <a:endParaRPr lang="en-US" sz="950" dirty="0"/>
          </a:p>
        </p:txBody>
      </p:sp>
      <p:sp>
        <p:nvSpPr>
          <p:cNvPr id="15" name="Text 13"/>
          <p:cNvSpPr txBox="1"/>
          <p:nvPr/>
        </p:nvSpPr>
        <p:spPr>
          <a:xfrm>
            <a:off x="4411370" y="2157984"/>
            <a:ext cx="3368954" cy="566928"/>
          </a:xfrm>
          <a:prstGeom prst="rect">
            <a:avLst/>
          </a:prstGeom>
          <a:noFill/>
          <a:ln/>
        </p:spPr>
        <p:txBody>
          <a:bodyPr wrap="square" lIns="0" tIns="0" rIns="0" bIns="0" rtlCol="0" anchor="t">
            <a:normAutofit/>
          </a:bodyPr>
          <a:lstStyle/>
          <a:p>
            <a:pPr indent="0" marL="0">
              <a:buNone/>
            </a:pPr>
            <a:r>
              <a:rPr lang="en-US" sz="1000" dirty="0">
                <a:solidFill>
                  <a:srgbClr val="231F20"/>
                </a:solidFill>
                <a:latin typeface="Proxima Nova" pitchFamily="34" charset="0"/>
                <a:ea typeface="Proxima Nova" pitchFamily="34" charset="-122"/>
                <a:cs typeface="Proxima Nova" pitchFamily="34" charset="-120"/>
              </a:rPr>
              <a:t>Orange County draws </a:t>
            </a:r>
            <a:pPr indent="0" marL="0">
              <a:buNone/>
            </a:pPr>
            <a:r>
              <a:rPr lang="en-US" sz="1000" b="1" dirty="0">
                <a:solidFill>
                  <a:srgbClr val="125C60"/>
                </a:solidFill>
                <a:latin typeface="Proxima Nova" pitchFamily="34" charset="0"/>
                <a:ea typeface="Proxima Nova" pitchFamily="34" charset="-122"/>
                <a:cs typeface="Proxima Nova" pitchFamily="34" charset="-120"/>
              </a:rPr>
              <a:t>51.3 million</a:t>
            </a:r>
            <a:pPr indent="0" marL="0">
              <a:buNone/>
            </a:pPr>
            <a:r>
              <a:rPr lang="en-US" sz="1000" dirty="0">
                <a:solidFill>
                  <a:srgbClr val="231F20"/>
                </a:solidFill>
                <a:latin typeface="Proxima Nova" pitchFamily="34" charset="0"/>
                <a:ea typeface="Proxima Nova" pitchFamily="34" charset="-122"/>
                <a:cs typeface="Proxima Nova" pitchFamily="34" charset="-120"/>
              </a:rPr>
              <a:t> visitors a year; hotels fill </a:t>
            </a:r>
            <a:pPr indent="0" marL="0">
              <a:buNone/>
            </a:pPr>
            <a:r>
              <a:rPr lang="en-US" sz="1000" b="1" dirty="0">
                <a:solidFill>
                  <a:srgbClr val="125C60"/>
                </a:solidFill>
                <a:latin typeface="Proxima Nova" pitchFamily="34" charset="0"/>
                <a:ea typeface="Proxima Nova" pitchFamily="34" charset="-122"/>
                <a:cs typeface="Proxima Nova" pitchFamily="34" charset="-120"/>
              </a:rPr>
              <a:t>75%</a:t>
            </a:r>
            <a:pPr indent="0" marL="0">
              <a:buNone/>
            </a:pPr>
            <a:r>
              <a:rPr lang="en-US" sz="1000" dirty="0">
                <a:solidFill>
                  <a:srgbClr val="231F20"/>
                </a:solidFill>
                <a:latin typeface="Proxima Nova" pitchFamily="34" charset="0"/>
                <a:ea typeface="Proxima Nova" pitchFamily="34" charset="-122"/>
                <a:cs typeface="Proxima Nova" pitchFamily="34" charset="-120"/>
              </a:rPr>
              <a:t> of rooms in 2026</a:t>
            </a:r>
            <a:endParaRPr lang="en-US" sz="1000" dirty="0"/>
          </a:p>
        </p:txBody>
      </p:sp>
      <p:sp>
        <p:nvSpPr>
          <p:cNvPr id="16" name="Shape 14"/>
          <p:cNvSpPr/>
          <p:nvPr/>
        </p:nvSpPr>
        <p:spPr>
          <a:xfrm>
            <a:off x="8054645" y="1371600"/>
            <a:ext cx="3588410" cy="1417320"/>
          </a:xfrm>
          <a:prstGeom prst="rect">
            <a:avLst/>
          </a:prstGeom>
          <a:solidFill>
            <a:srgbClr val="FFFFFF"/>
          </a:solidFill>
          <a:ln w="12700">
            <a:solidFill>
              <a:srgbClr val="B4D9E3"/>
            </a:solidFill>
            <a:prstDash val="solid"/>
          </a:ln>
        </p:spPr>
      </p:sp>
      <p:sp>
        <p:nvSpPr>
          <p:cNvPr id="17" name="Shape 15"/>
          <p:cNvSpPr/>
          <p:nvPr/>
        </p:nvSpPr>
        <p:spPr>
          <a:xfrm>
            <a:off x="8054645" y="1371600"/>
            <a:ext cx="3588410" cy="54864"/>
          </a:xfrm>
          <a:prstGeom prst="rect">
            <a:avLst/>
          </a:prstGeom>
          <a:solidFill>
            <a:srgbClr val="43A3A3"/>
          </a:solidFill>
          <a:ln w="12700">
            <a:solidFill>
              <a:srgbClr val="43A3A3"/>
            </a:solidFill>
            <a:prstDash val="solid"/>
          </a:ln>
        </p:spPr>
      </p:sp>
      <p:sp>
        <p:nvSpPr>
          <p:cNvPr id="18" name="Text 16"/>
          <p:cNvSpPr txBox="1"/>
          <p:nvPr/>
        </p:nvSpPr>
        <p:spPr>
          <a:xfrm>
            <a:off x="8164373" y="1463040"/>
            <a:ext cx="3368954"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WHO VISITS</a:t>
            </a:r>
            <a:endParaRPr lang="en-US" sz="850" dirty="0"/>
          </a:p>
        </p:txBody>
      </p:sp>
      <p:sp>
        <p:nvSpPr>
          <p:cNvPr id="19" name="Text 17"/>
          <p:cNvSpPr txBox="1"/>
          <p:nvPr/>
        </p:nvSpPr>
        <p:spPr>
          <a:xfrm>
            <a:off x="8164373" y="1664208"/>
            <a:ext cx="1737360" cy="457200"/>
          </a:xfrm>
          <a:prstGeom prst="rect">
            <a:avLst/>
          </a:prstGeom>
          <a:noFill/>
          <a:ln/>
        </p:spPr>
        <p:txBody>
          <a:bodyPr wrap="square" lIns="0" tIns="0" rIns="0" bIns="0" rtlCol="0" anchor="ctr">
            <a:normAutofit/>
          </a:bodyPr>
          <a:lstStyle/>
          <a:p>
            <a:pPr indent="0" marL="0">
              <a:buNone/>
            </a:pPr>
            <a:r>
              <a:rPr lang="en-US" sz="2400" b="1" i="1" dirty="0">
                <a:solidFill>
                  <a:srgbClr val="125C60"/>
                </a:solidFill>
                <a:latin typeface="Proxima Nova" pitchFamily="34" charset="0"/>
                <a:ea typeface="Proxima Nova" pitchFamily="34" charset="-122"/>
                <a:cs typeface="Proxima Nova" pitchFamily="34" charset="-120"/>
              </a:rPr>
              <a:t>85.8%</a:t>
            </a:r>
            <a:endParaRPr lang="en-US" sz="2400" dirty="0"/>
          </a:p>
        </p:txBody>
      </p:sp>
      <p:sp>
        <p:nvSpPr>
          <p:cNvPr id="20" name="Text 18"/>
          <p:cNvSpPr txBox="1"/>
          <p:nvPr/>
        </p:nvSpPr>
        <p:spPr>
          <a:xfrm>
            <a:off x="9929165" y="1682496"/>
            <a:ext cx="1622450" cy="438912"/>
          </a:xfrm>
          <a:prstGeom prst="rect">
            <a:avLst/>
          </a:prstGeom>
          <a:noFill/>
          <a:ln/>
        </p:spPr>
        <p:txBody>
          <a:bodyPr wrap="square" lIns="0" tIns="0" rIns="0" bIns="0" rtlCol="0" anchor="ctr">
            <a:normAutofit/>
          </a:bodyPr>
          <a:lstStyle/>
          <a:p>
            <a:pPr indent="0" marL="0">
              <a:buNone/>
            </a:pPr>
            <a:r>
              <a:rPr lang="en-US" sz="950" b="1" dirty="0">
                <a:solidFill>
                  <a:srgbClr val="231F20"/>
                </a:solidFill>
                <a:latin typeface="Proxima Nova" pitchFamily="34" charset="0"/>
                <a:ea typeface="Proxima Nova" pitchFamily="34" charset="-122"/>
                <a:cs typeface="Proxima Nova" pitchFamily="34" charset="-120"/>
              </a:rPr>
              <a:t>of District 5 visitors stay overnight</a:t>
            </a:r>
            <a:endParaRPr lang="en-US" sz="950" dirty="0"/>
          </a:p>
        </p:txBody>
      </p:sp>
      <p:sp>
        <p:nvSpPr>
          <p:cNvPr id="21" name="Text 19"/>
          <p:cNvSpPr txBox="1"/>
          <p:nvPr/>
        </p:nvSpPr>
        <p:spPr>
          <a:xfrm>
            <a:off x="8164373" y="2157984"/>
            <a:ext cx="3368954" cy="566928"/>
          </a:xfrm>
          <a:prstGeom prst="rect">
            <a:avLst/>
          </a:prstGeom>
          <a:noFill/>
          <a:ln/>
        </p:spPr>
        <p:txBody>
          <a:bodyPr wrap="square" lIns="0" tIns="0" rIns="0" bIns="0" rtlCol="0" anchor="t">
            <a:normAutofit/>
          </a:bodyPr>
          <a:lstStyle/>
          <a:p>
            <a:pPr indent="0" marL="0">
              <a:buNone/>
            </a:pPr>
            <a:r>
              <a:rPr lang="en-US" sz="1000" dirty="0">
                <a:solidFill>
                  <a:srgbClr val="231F20"/>
                </a:solidFill>
                <a:latin typeface="Proxima Nova" pitchFamily="34" charset="0"/>
                <a:ea typeface="Proxima Nova" pitchFamily="34" charset="-122"/>
                <a:cs typeface="Proxima Nova" pitchFamily="34" charset="-120"/>
              </a:rPr>
              <a:t>Most District 5 visitors stay overnight, and </a:t>
            </a:r>
            <a:pPr indent="0" marL="0">
              <a:buNone/>
            </a:pPr>
            <a:r>
              <a:rPr lang="en-US" sz="1000" b="1" dirty="0">
                <a:solidFill>
                  <a:srgbClr val="125C60"/>
                </a:solidFill>
                <a:latin typeface="Proxima Nova" pitchFamily="34" charset="0"/>
                <a:ea typeface="Proxima Nova" pitchFamily="34" charset="-122"/>
                <a:cs typeface="Proxima Nova" pitchFamily="34" charset="-120"/>
              </a:rPr>
              <a:t>44%</a:t>
            </a:r>
            <a:pPr indent="0" marL="0">
              <a:buNone/>
            </a:pPr>
            <a:r>
              <a:rPr lang="en-US" sz="1000" dirty="0">
                <a:solidFill>
                  <a:srgbClr val="231F20"/>
                </a:solidFill>
                <a:latin typeface="Proxima Nova" pitchFamily="34" charset="0"/>
                <a:ea typeface="Proxima Nova" pitchFamily="34" charset="-122"/>
                <a:cs typeface="Proxima Nova" pitchFamily="34" charset="-120"/>
              </a:rPr>
              <a:t> are new</a:t>
            </a:r>
            <a:endParaRPr lang="en-US" sz="1000" dirty="0"/>
          </a:p>
        </p:txBody>
      </p:sp>
      <p:sp>
        <p:nvSpPr>
          <p:cNvPr id="22" name="Shape 20"/>
          <p:cNvSpPr/>
          <p:nvPr/>
        </p:nvSpPr>
        <p:spPr>
          <a:xfrm>
            <a:off x="548640" y="2880360"/>
            <a:ext cx="3588410" cy="1417320"/>
          </a:xfrm>
          <a:prstGeom prst="rect">
            <a:avLst/>
          </a:prstGeom>
          <a:solidFill>
            <a:srgbClr val="FFFFFF"/>
          </a:solidFill>
          <a:ln w="12700">
            <a:solidFill>
              <a:srgbClr val="B4D9E3"/>
            </a:solidFill>
            <a:prstDash val="solid"/>
          </a:ln>
        </p:spPr>
      </p:sp>
      <p:sp>
        <p:nvSpPr>
          <p:cNvPr id="23" name="Shape 21"/>
          <p:cNvSpPr/>
          <p:nvPr/>
        </p:nvSpPr>
        <p:spPr>
          <a:xfrm>
            <a:off x="548640" y="2880360"/>
            <a:ext cx="3588410" cy="54864"/>
          </a:xfrm>
          <a:prstGeom prst="rect">
            <a:avLst/>
          </a:prstGeom>
          <a:solidFill>
            <a:srgbClr val="43A3A3"/>
          </a:solidFill>
          <a:ln w="12700">
            <a:solidFill>
              <a:srgbClr val="43A3A3"/>
            </a:solidFill>
            <a:prstDash val="solid"/>
          </a:ln>
        </p:spPr>
      </p:sp>
      <p:sp>
        <p:nvSpPr>
          <p:cNvPr id="24" name="Text 22"/>
          <p:cNvSpPr txBox="1"/>
          <p:nvPr/>
        </p:nvSpPr>
        <p:spPr>
          <a:xfrm>
            <a:off x="658368" y="2971800"/>
            <a:ext cx="3368954"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VISITOR SPENDING</a:t>
            </a:r>
            <a:endParaRPr lang="en-US" sz="850" dirty="0"/>
          </a:p>
        </p:txBody>
      </p:sp>
      <p:sp>
        <p:nvSpPr>
          <p:cNvPr id="25" name="Text 23"/>
          <p:cNvSpPr txBox="1"/>
          <p:nvPr/>
        </p:nvSpPr>
        <p:spPr>
          <a:xfrm>
            <a:off x="658368" y="3172968"/>
            <a:ext cx="1737360" cy="457200"/>
          </a:xfrm>
          <a:prstGeom prst="rect">
            <a:avLst/>
          </a:prstGeom>
          <a:noFill/>
          <a:ln/>
        </p:spPr>
        <p:txBody>
          <a:bodyPr wrap="square" lIns="0" tIns="0" rIns="0" bIns="0" rtlCol="0" anchor="ctr">
            <a:normAutofit/>
          </a:bodyPr>
          <a:lstStyle/>
          <a:p>
            <a:pPr indent="0" marL="0">
              <a:buNone/>
            </a:pPr>
            <a:r>
              <a:rPr lang="en-US" sz="2400" b="1" i="1" dirty="0">
                <a:solidFill>
                  <a:srgbClr val="125C60"/>
                </a:solidFill>
                <a:latin typeface="Proxima Nova" pitchFamily="34" charset="0"/>
                <a:ea typeface="Proxima Nova" pitchFamily="34" charset="-122"/>
                <a:cs typeface="Proxima Nova" pitchFamily="34" charset="-120"/>
              </a:rPr>
              <a:t>$258</a:t>
            </a:r>
            <a:endParaRPr lang="en-US" sz="2400" dirty="0"/>
          </a:p>
        </p:txBody>
      </p:sp>
      <p:sp>
        <p:nvSpPr>
          <p:cNvPr id="26" name="Text 24"/>
          <p:cNvSpPr txBox="1"/>
          <p:nvPr/>
        </p:nvSpPr>
        <p:spPr>
          <a:xfrm>
            <a:off x="2423160" y="3191256"/>
            <a:ext cx="1622450" cy="438912"/>
          </a:xfrm>
          <a:prstGeom prst="rect">
            <a:avLst/>
          </a:prstGeom>
          <a:noFill/>
          <a:ln/>
        </p:spPr>
        <p:txBody>
          <a:bodyPr wrap="square" lIns="0" tIns="0" rIns="0" bIns="0" rtlCol="0" anchor="ctr">
            <a:normAutofit/>
          </a:bodyPr>
          <a:lstStyle/>
          <a:p>
            <a:pPr indent="0" marL="0">
              <a:buNone/>
            </a:pPr>
            <a:r>
              <a:rPr lang="en-US" sz="950" b="1" dirty="0">
                <a:solidFill>
                  <a:srgbClr val="231F20"/>
                </a:solidFill>
                <a:latin typeface="Proxima Nova" pitchFamily="34" charset="0"/>
                <a:ea typeface="Proxima Nova" pitchFamily="34" charset="-122"/>
                <a:cs typeface="Proxima Nova" pitchFamily="34" charset="-120"/>
              </a:rPr>
              <a:t>spent per Anaheim visitor, 2025</a:t>
            </a:r>
            <a:endParaRPr lang="en-US" sz="950" dirty="0"/>
          </a:p>
        </p:txBody>
      </p:sp>
      <p:sp>
        <p:nvSpPr>
          <p:cNvPr id="27" name="Text 25"/>
          <p:cNvSpPr txBox="1"/>
          <p:nvPr/>
        </p:nvSpPr>
        <p:spPr>
          <a:xfrm>
            <a:off x="658368" y="3666744"/>
            <a:ext cx="3368954" cy="566928"/>
          </a:xfrm>
          <a:prstGeom prst="rect">
            <a:avLst/>
          </a:prstGeom>
          <a:noFill/>
          <a:ln/>
        </p:spPr>
        <p:txBody>
          <a:bodyPr wrap="square" lIns="0" tIns="0" rIns="0" bIns="0" rtlCol="0" anchor="t">
            <a:normAutofit/>
          </a:bodyPr>
          <a:lstStyle/>
          <a:p>
            <a:pPr indent="0" marL="0">
              <a:buNone/>
            </a:pPr>
            <a:r>
              <a:rPr lang="en-US" sz="1000" dirty="0">
                <a:solidFill>
                  <a:srgbClr val="231F20"/>
                </a:solidFill>
                <a:latin typeface="Proxima Nova" pitchFamily="34" charset="0"/>
                <a:ea typeface="Proxima Nova" pitchFamily="34" charset="-122"/>
                <a:cs typeface="Proxima Nova" pitchFamily="34" charset="-120"/>
              </a:rPr>
              <a:t>Anaheim visitors spent </a:t>
            </a:r>
            <a:pPr indent="0" marL="0">
              <a:buNone/>
            </a:pPr>
            <a:r>
              <a:rPr lang="en-US" sz="1000" b="1" dirty="0">
                <a:solidFill>
                  <a:srgbClr val="125C60"/>
                </a:solidFill>
                <a:latin typeface="Proxima Nova" pitchFamily="34" charset="0"/>
                <a:ea typeface="Proxima Nova" pitchFamily="34" charset="-122"/>
                <a:cs typeface="Proxima Nova" pitchFamily="34" charset="-120"/>
              </a:rPr>
              <a:t>$1.76 billion</a:t>
            </a:r>
            <a:pPr indent="0" marL="0">
              <a:buNone/>
            </a:pPr>
            <a:r>
              <a:rPr lang="en-US" sz="1000" dirty="0">
                <a:solidFill>
                  <a:srgbClr val="231F20"/>
                </a:solidFill>
                <a:latin typeface="Proxima Nova" pitchFamily="34" charset="0"/>
                <a:ea typeface="Proxima Nova" pitchFamily="34" charset="-122"/>
                <a:cs typeface="Proxima Nova" pitchFamily="34" charset="-120"/>
              </a:rPr>
              <a:t> in the second quarter, up </a:t>
            </a:r>
            <a:pPr indent="0" marL="0">
              <a:buNone/>
            </a:pPr>
            <a:r>
              <a:rPr lang="en-US" sz="1000" b="1" dirty="0">
                <a:solidFill>
                  <a:srgbClr val="125C60"/>
                </a:solidFill>
                <a:latin typeface="Proxima Nova" pitchFamily="34" charset="0"/>
                <a:ea typeface="Proxima Nova" pitchFamily="34" charset="-122"/>
                <a:cs typeface="Proxima Nova" pitchFamily="34" charset="-120"/>
              </a:rPr>
              <a:t>7.8%</a:t>
            </a:r>
            <a:endParaRPr lang="en-US" sz="1000" dirty="0"/>
          </a:p>
        </p:txBody>
      </p:sp>
      <p:sp>
        <p:nvSpPr>
          <p:cNvPr id="28" name="Shape 26"/>
          <p:cNvSpPr/>
          <p:nvPr/>
        </p:nvSpPr>
        <p:spPr>
          <a:xfrm>
            <a:off x="4301642" y="2880360"/>
            <a:ext cx="3588410" cy="1417320"/>
          </a:xfrm>
          <a:prstGeom prst="rect">
            <a:avLst/>
          </a:prstGeom>
          <a:solidFill>
            <a:srgbClr val="FFFFFF"/>
          </a:solidFill>
          <a:ln w="12700">
            <a:solidFill>
              <a:srgbClr val="B4D9E3"/>
            </a:solidFill>
            <a:prstDash val="solid"/>
          </a:ln>
        </p:spPr>
      </p:sp>
      <p:sp>
        <p:nvSpPr>
          <p:cNvPr id="29" name="Shape 27"/>
          <p:cNvSpPr/>
          <p:nvPr/>
        </p:nvSpPr>
        <p:spPr>
          <a:xfrm>
            <a:off x="4301642" y="2880360"/>
            <a:ext cx="3588410" cy="54864"/>
          </a:xfrm>
          <a:prstGeom prst="rect">
            <a:avLst/>
          </a:prstGeom>
          <a:solidFill>
            <a:srgbClr val="43A3A3"/>
          </a:solidFill>
          <a:ln w="12700">
            <a:solidFill>
              <a:srgbClr val="43A3A3"/>
            </a:solidFill>
            <a:prstDash val="solid"/>
          </a:ln>
        </p:spPr>
      </p:sp>
      <p:sp>
        <p:nvSpPr>
          <p:cNvPr id="30" name="Text 28"/>
          <p:cNvSpPr txBox="1"/>
          <p:nvPr/>
        </p:nvSpPr>
        <p:spPr>
          <a:xfrm>
            <a:off x="4411370" y="2971800"/>
            <a:ext cx="3368954"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JOBS AND ECONOMY</a:t>
            </a:r>
            <a:endParaRPr lang="en-US" sz="850" dirty="0"/>
          </a:p>
        </p:txBody>
      </p:sp>
      <p:sp>
        <p:nvSpPr>
          <p:cNvPr id="31" name="Text 29"/>
          <p:cNvSpPr txBox="1"/>
          <p:nvPr/>
        </p:nvSpPr>
        <p:spPr>
          <a:xfrm>
            <a:off x="4411370" y="3172968"/>
            <a:ext cx="1737360" cy="457200"/>
          </a:xfrm>
          <a:prstGeom prst="rect">
            <a:avLst/>
          </a:prstGeom>
          <a:noFill/>
          <a:ln/>
        </p:spPr>
        <p:txBody>
          <a:bodyPr wrap="square" lIns="0" tIns="0" rIns="0" bIns="0" rtlCol="0" anchor="ctr">
            <a:normAutofit/>
          </a:bodyPr>
          <a:lstStyle/>
          <a:p>
            <a:pPr indent="0" marL="0">
              <a:buNone/>
            </a:pPr>
            <a:r>
              <a:rPr lang="en-US" sz="2400" b="1" i="1" dirty="0">
                <a:solidFill>
                  <a:srgbClr val="125C60"/>
                </a:solidFill>
                <a:latin typeface="Proxima Nova" pitchFamily="34" charset="0"/>
                <a:ea typeface="Proxima Nova" pitchFamily="34" charset="-122"/>
                <a:cs typeface="Proxima Nova" pitchFamily="34" charset="-120"/>
              </a:rPr>
              <a:t>67,817</a:t>
            </a:r>
            <a:endParaRPr lang="en-US" sz="2400" dirty="0"/>
          </a:p>
        </p:txBody>
      </p:sp>
      <p:sp>
        <p:nvSpPr>
          <p:cNvPr id="32" name="Text 30"/>
          <p:cNvSpPr txBox="1"/>
          <p:nvPr/>
        </p:nvSpPr>
        <p:spPr>
          <a:xfrm>
            <a:off x="6176162" y="3191256"/>
            <a:ext cx="1622450" cy="438912"/>
          </a:xfrm>
          <a:prstGeom prst="rect">
            <a:avLst/>
          </a:prstGeom>
          <a:noFill/>
          <a:ln/>
        </p:spPr>
        <p:txBody>
          <a:bodyPr wrap="square" lIns="0" tIns="0" rIns="0" bIns="0" rtlCol="0" anchor="ctr">
            <a:normAutofit/>
          </a:bodyPr>
          <a:lstStyle/>
          <a:p>
            <a:pPr indent="0" marL="0">
              <a:buNone/>
            </a:pPr>
            <a:r>
              <a:rPr lang="en-US" sz="950" b="1" dirty="0">
                <a:solidFill>
                  <a:srgbClr val="231F20"/>
                </a:solidFill>
                <a:latin typeface="Proxima Nova" pitchFamily="34" charset="0"/>
                <a:ea typeface="Proxima Nova" pitchFamily="34" charset="-122"/>
                <a:cs typeface="Proxima Nova" pitchFamily="34" charset="-120"/>
              </a:rPr>
              <a:t>Anaheim jobs supported, 2025</a:t>
            </a:r>
            <a:endParaRPr lang="en-US" sz="950" dirty="0"/>
          </a:p>
        </p:txBody>
      </p:sp>
      <p:sp>
        <p:nvSpPr>
          <p:cNvPr id="33" name="Text 31"/>
          <p:cNvSpPr txBox="1"/>
          <p:nvPr/>
        </p:nvSpPr>
        <p:spPr>
          <a:xfrm>
            <a:off x="4411370" y="3666744"/>
            <a:ext cx="3368954" cy="566928"/>
          </a:xfrm>
          <a:prstGeom prst="rect">
            <a:avLst/>
          </a:prstGeom>
          <a:noFill/>
          <a:ln/>
        </p:spPr>
        <p:txBody>
          <a:bodyPr wrap="square" lIns="0" tIns="0" rIns="0" bIns="0" rtlCol="0" anchor="t">
            <a:normAutofit/>
          </a:bodyPr>
          <a:lstStyle/>
          <a:p>
            <a:pPr indent="0" marL="0">
              <a:buNone/>
            </a:pPr>
            <a:r>
              <a:rPr lang="en-US" sz="1000" dirty="0">
                <a:solidFill>
                  <a:srgbClr val="231F20"/>
                </a:solidFill>
                <a:latin typeface="Proxima Nova" pitchFamily="34" charset="0"/>
                <a:ea typeface="Proxima Nova" pitchFamily="34" charset="-122"/>
                <a:cs typeface="Proxima Nova" pitchFamily="34" charset="-120"/>
              </a:rPr>
              <a:t>Visitors supported </a:t>
            </a:r>
            <a:pPr indent="0" marL="0">
              <a:buNone/>
            </a:pPr>
            <a:r>
              <a:rPr lang="en-US" sz="1000" b="1" dirty="0">
                <a:solidFill>
                  <a:srgbClr val="125C60"/>
                </a:solidFill>
                <a:latin typeface="Proxima Nova" pitchFamily="34" charset="0"/>
                <a:ea typeface="Proxima Nova" pitchFamily="34" charset="-122"/>
                <a:cs typeface="Proxima Nova" pitchFamily="34" charset="-120"/>
              </a:rPr>
              <a:t>67,817</a:t>
            </a:r>
            <a:pPr indent="0" marL="0">
              <a:buNone/>
            </a:pPr>
            <a:r>
              <a:rPr lang="en-US" sz="1000" dirty="0">
                <a:solidFill>
                  <a:srgbClr val="231F20"/>
                </a:solidFill>
                <a:latin typeface="Proxima Nova" pitchFamily="34" charset="0"/>
                <a:ea typeface="Proxima Nova" pitchFamily="34" charset="-122"/>
                <a:cs typeface="Proxima Nova" pitchFamily="34" charset="-120"/>
              </a:rPr>
              <a:t> Anaheim jobs in 2025, one in three</a:t>
            </a:r>
            <a:endParaRPr lang="en-US" sz="1000" dirty="0"/>
          </a:p>
        </p:txBody>
      </p:sp>
      <p:sp>
        <p:nvSpPr>
          <p:cNvPr id="34" name="Shape 32"/>
          <p:cNvSpPr/>
          <p:nvPr/>
        </p:nvSpPr>
        <p:spPr>
          <a:xfrm>
            <a:off x="8054645" y="2880360"/>
            <a:ext cx="3588410" cy="1417320"/>
          </a:xfrm>
          <a:prstGeom prst="rect">
            <a:avLst/>
          </a:prstGeom>
          <a:solidFill>
            <a:srgbClr val="FFFFFF"/>
          </a:solidFill>
          <a:ln w="12700">
            <a:solidFill>
              <a:srgbClr val="B4D9E3"/>
            </a:solidFill>
            <a:prstDash val="solid"/>
          </a:ln>
        </p:spPr>
      </p:sp>
      <p:sp>
        <p:nvSpPr>
          <p:cNvPr id="35" name="Shape 33"/>
          <p:cNvSpPr/>
          <p:nvPr/>
        </p:nvSpPr>
        <p:spPr>
          <a:xfrm>
            <a:off x="8054645" y="2880360"/>
            <a:ext cx="3588410" cy="54864"/>
          </a:xfrm>
          <a:prstGeom prst="rect">
            <a:avLst/>
          </a:prstGeom>
          <a:solidFill>
            <a:srgbClr val="43A3A3"/>
          </a:solidFill>
          <a:ln w="12700">
            <a:solidFill>
              <a:srgbClr val="43A3A3"/>
            </a:solidFill>
            <a:prstDash val="solid"/>
          </a:ln>
        </p:spPr>
      </p:sp>
      <p:sp>
        <p:nvSpPr>
          <p:cNvPr id="36" name="Text 34"/>
          <p:cNvSpPr txBox="1"/>
          <p:nvPr/>
        </p:nvSpPr>
        <p:spPr>
          <a:xfrm>
            <a:off x="8164373" y="2971800"/>
            <a:ext cx="3368954"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HOTEL MARKET</a:t>
            </a:r>
            <a:endParaRPr lang="en-US" sz="850" dirty="0"/>
          </a:p>
        </p:txBody>
      </p:sp>
      <p:sp>
        <p:nvSpPr>
          <p:cNvPr id="37" name="Text 35"/>
          <p:cNvSpPr txBox="1"/>
          <p:nvPr/>
        </p:nvSpPr>
        <p:spPr>
          <a:xfrm>
            <a:off x="8164373" y="3172968"/>
            <a:ext cx="1737360" cy="457200"/>
          </a:xfrm>
          <a:prstGeom prst="rect">
            <a:avLst/>
          </a:prstGeom>
          <a:noFill/>
          <a:ln/>
        </p:spPr>
        <p:txBody>
          <a:bodyPr wrap="square" lIns="0" tIns="0" rIns="0" bIns="0" rtlCol="0" anchor="ctr">
            <a:normAutofit/>
          </a:bodyPr>
          <a:lstStyle/>
          <a:p>
            <a:pPr indent="0" marL="0">
              <a:buNone/>
            </a:pPr>
            <a:r>
              <a:rPr lang="en-US" sz="2400" b="1" i="1" dirty="0">
                <a:solidFill>
                  <a:srgbClr val="125C60"/>
                </a:solidFill>
                <a:latin typeface="Proxima Nova" pitchFamily="34" charset="0"/>
                <a:ea typeface="Proxima Nova" pitchFamily="34" charset="-122"/>
                <a:cs typeface="Proxima Nova" pitchFamily="34" charset="-120"/>
              </a:rPr>
              <a:t>78.4%</a:t>
            </a:r>
            <a:endParaRPr lang="en-US" sz="2400" dirty="0"/>
          </a:p>
        </p:txBody>
      </p:sp>
      <p:sp>
        <p:nvSpPr>
          <p:cNvPr id="38" name="Text 36"/>
          <p:cNvSpPr txBox="1"/>
          <p:nvPr/>
        </p:nvSpPr>
        <p:spPr>
          <a:xfrm>
            <a:off x="9929165" y="3191256"/>
            <a:ext cx="1622450" cy="438912"/>
          </a:xfrm>
          <a:prstGeom prst="rect">
            <a:avLst/>
          </a:prstGeom>
          <a:noFill/>
          <a:ln/>
        </p:spPr>
        <p:txBody>
          <a:bodyPr wrap="square" lIns="0" tIns="0" rIns="0" bIns="0" rtlCol="0" anchor="ctr">
            <a:normAutofit/>
          </a:bodyPr>
          <a:lstStyle/>
          <a:p>
            <a:pPr indent="0" marL="0">
              <a:buNone/>
            </a:pPr>
            <a:r>
              <a:rPr lang="en-US" sz="950" b="1" dirty="0">
                <a:solidFill>
                  <a:srgbClr val="231F20"/>
                </a:solidFill>
                <a:latin typeface="Proxima Nova" pitchFamily="34" charset="0"/>
                <a:ea typeface="Proxima Nova" pitchFamily="34" charset="-122"/>
                <a:cs typeface="Proxima Nova" pitchFamily="34" charset="-120"/>
              </a:rPr>
              <a:t>Disneyland submarket hotel occupancy, past 12 months</a:t>
            </a:r>
            <a:endParaRPr lang="en-US" sz="950" dirty="0"/>
          </a:p>
        </p:txBody>
      </p:sp>
      <p:sp>
        <p:nvSpPr>
          <p:cNvPr id="39" name="Text 37"/>
          <p:cNvSpPr txBox="1"/>
          <p:nvPr/>
        </p:nvSpPr>
        <p:spPr>
          <a:xfrm>
            <a:off x="8164373" y="3666744"/>
            <a:ext cx="3368954" cy="566928"/>
          </a:xfrm>
          <a:prstGeom prst="rect">
            <a:avLst/>
          </a:prstGeom>
          <a:noFill/>
          <a:ln/>
        </p:spPr>
        <p:txBody>
          <a:bodyPr wrap="square" lIns="0" tIns="0" rIns="0" bIns="0" rtlCol="0" anchor="t">
            <a:normAutofit/>
          </a:bodyPr>
          <a:lstStyle/>
          <a:p>
            <a:pPr indent="0" marL="0">
              <a:buNone/>
            </a:pPr>
            <a:r>
              <a:rPr lang="en-US" sz="1000" dirty="0">
                <a:solidFill>
                  <a:srgbClr val="231F20"/>
                </a:solidFill>
                <a:latin typeface="Proxima Nova" pitchFamily="34" charset="0"/>
                <a:ea typeface="Proxima Nova" pitchFamily="34" charset="-122"/>
                <a:cs typeface="Proxima Nova" pitchFamily="34" charset="-120"/>
              </a:rPr>
              <a:t>Resort-area hotels fill </a:t>
            </a:r>
            <a:pPr indent="0" marL="0">
              <a:buNone/>
            </a:pPr>
            <a:r>
              <a:rPr lang="en-US" sz="1000" b="1" dirty="0">
                <a:solidFill>
                  <a:srgbClr val="125C60"/>
                </a:solidFill>
                <a:latin typeface="Proxima Nova" pitchFamily="34" charset="0"/>
                <a:ea typeface="Proxima Nova" pitchFamily="34" charset="-122"/>
                <a:cs typeface="Proxima Nova" pitchFamily="34" charset="-120"/>
              </a:rPr>
              <a:t>78%</a:t>
            </a:r>
            <a:pPr indent="0" marL="0">
              <a:buNone/>
            </a:pPr>
            <a:r>
              <a:rPr lang="en-US" sz="1000" dirty="0">
                <a:solidFill>
                  <a:srgbClr val="231F20"/>
                </a:solidFill>
                <a:latin typeface="Proxima Nova" pitchFamily="34" charset="0"/>
                <a:ea typeface="Proxima Nova" pitchFamily="34" charset="-122"/>
                <a:cs typeface="Proxima Nova" pitchFamily="34" charset="-120"/>
              </a:rPr>
              <a:t> of rooms while new supply stays scarce</a:t>
            </a:r>
            <a:endParaRPr lang="en-US" sz="1000" dirty="0"/>
          </a:p>
        </p:txBody>
      </p:sp>
      <p:sp>
        <p:nvSpPr>
          <p:cNvPr id="40" name="Shape 38"/>
          <p:cNvSpPr/>
          <p:nvPr/>
        </p:nvSpPr>
        <p:spPr>
          <a:xfrm>
            <a:off x="548640" y="4389120"/>
            <a:ext cx="3588410" cy="1417320"/>
          </a:xfrm>
          <a:prstGeom prst="rect">
            <a:avLst/>
          </a:prstGeom>
          <a:solidFill>
            <a:srgbClr val="FFFFFF"/>
          </a:solidFill>
          <a:ln w="12700">
            <a:solidFill>
              <a:srgbClr val="B4D9E3"/>
            </a:solidFill>
            <a:prstDash val="solid"/>
          </a:ln>
        </p:spPr>
      </p:sp>
      <p:sp>
        <p:nvSpPr>
          <p:cNvPr id="41" name="Shape 39"/>
          <p:cNvSpPr/>
          <p:nvPr/>
        </p:nvSpPr>
        <p:spPr>
          <a:xfrm>
            <a:off x="548640" y="4389120"/>
            <a:ext cx="3588410" cy="54864"/>
          </a:xfrm>
          <a:prstGeom prst="rect">
            <a:avLst/>
          </a:prstGeom>
          <a:solidFill>
            <a:srgbClr val="43A3A3"/>
          </a:solidFill>
          <a:ln w="12700">
            <a:solidFill>
              <a:srgbClr val="43A3A3"/>
            </a:solidFill>
            <a:prstDash val="solid"/>
          </a:ln>
        </p:spPr>
      </p:sp>
      <p:sp>
        <p:nvSpPr>
          <p:cNvPr id="42" name="Text 40"/>
          <p:cNvSpPr txBox="1"/>
          <p:nvPr/>
        </p:nvSpPr>
        <p:spPr>
          <a:xfrm>
            <a:off x="658368" y="4480560"/>
            <a:ext cx="3368954"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ONE MORE NIGHT</a:t>
            </a:r>
            <a:endParaRPr lang="en-US" sz="850" dirty="0"/>
          </a:p>
        </p:txBody>
      </p:sp>
      <p:sp>
        <p:nvSpPr>
          <p:cNvPr id="43" name="Text 41"/>
          <p:cNvSpPr txBox="1"/>
          <p:nvPr/>
        </p:nvSpPr>
        <p:spPr>
          <a:xfrm>
            <a:off x="658368" y="4681728"/>
            <a:ext cx="1737360" cy="457200"/>
          </a:xfrm>
          <a:prstGeom prst="rect">
            <a:avLst/>
          </a:prstGeom>
          <a:noFill/>
          <a:ln/>
        </p:spPr>
        <p:txBody>
          <a:bodyPr wrap="square" lIns="0" tIns="0" rIns="0" bIns="0" rtlCol="0" anchor="ctr">
            <a:normAutofit/>
          </a:bodyPr>
          <a:lstStyle/>
          <a:p>
            <a:pPr indent="0" marL="0">
              <a:buNone/>
            </a:pPr>
            <a:r>
              <a:rPr lang="en-US" sz="2400" b="1" i="1" dirty="0">
                <a:solidFill>
                  <a:srgbClr val="125C60"/>
                </a:solidFill>
                <a:latin typeface="Proxima Nova" pitchFamily="34" charset="0"/>
                <a:ea typeface="Proxima Nova" pitchFamily="34" charset="-122"/>
                <a:cs typeface="Proxima Nova" pitchFamily="34" charset="-120"/>
              </a:rPr>
              <a:t>$794M</a:t>
            </a:r>
            <a:endParaRPr lang="en-US" sz="2400" dirty="0"/>
          </a:p>
        </p:txBody>
      </p:sp>
      <p:sp>
        <p:nvSpPr>
          <p:cNvPr id="44" name="Text 42"/>
          <p:cNvSpPr txBox="1"/>
          <p:nvPr/>
        </p:nvSpPr>
        <p:spPr>
          <a:xfrm>
            <a:off x="2423160" y="4700016"/>
            <a:ext cx="1622450" cy="438912"/>
          </a:xfrm>
          <a:prstGeom prst="rect">
            <a:avLst/>
          </a:prstGeom>
          <a:noFill/>
          <a:ln/>
        </p:spPr>
        <p:txBody>
          <a:bodyPr wrap="square" lIns="0" tIns="0" rIns="0" bIns="0" rtlCol="0" anchor="ctr">
            <a:normAutofit/>
          </a:bodyPr>
          <a:lstStyle/>
          <a:p>
            <a:pPr indent="0" marL="0">
              <a:buNone/>
            </a:pPr>
            <a:r>
              <a:rPr lang="en-US" sz="950" b="1" dirty="0">
                <a:solidFill>
                  <a:srgbClr val="231F20"/>
                </a:solidFill>
                <a:latin typeface="Proxima Nova" pitchFamily="34" charset="0"/>
                <a:ea typeface="Proxima Nova" pitchFamily="34" charset="-122"/>
                <a:cs typeface="Proxima Nova" pitchFamily="34" charset="-120"/>
              </a:rPr>
              <a:t>one more night of lodging spending</a:t>
            </a:r>
            <a:endParaRPr lang="en-US" sz="950" dirty="0"/>
          </a:p>
        </p:txBody>
      </p:sp>
      <p:sp>
        <p:nvSpPr>
          <p:cNvPr id="45" name="Text 43"/>
          <p:cNvSpPr txBox="1"/>
          <p:nvPr/>
        </p:nvSpPr>
        <p:spPr>
          <a:xfrm>
            <a:off x="658368" y="5175504"/>
            <a:ext cx="3368954" cy="566928"/>
          </a:xfrm>
          <a:prstGeom prst="rect">
            <a:avLst/>
          </a:prstGeom>
          <a:noFill/>
          <a:ln/>
        </p:spPr>
        <p:txBody>
          <a:bodyPr wrap="square" lIns="0" tIns="0" rIns="0" bIns="0" rtlCol="0" anchor="t">
            <a:normAutofit/>
          </a:bodyPr>
          <a:lstStyle/>
          <a:p>
            <a:pPr indent="0" marL="0">
              <a:buNone/>
            </a:pPr>
            <a:r>
              <a:rPr lang="en-US" sz="1000" dirty="0">
                <a:solidFill>
                  <a:srgbClr val="231F20"/>
                </a:solidFill>
                <a:latin typeface="Proxima Nova" pitchFamily="34" charset="0"/>
                <a:ea typeface="Proxima Nova" pitchFamily="34" charset="-122"/>
                <a:cs typeface="Proxima Nova" pitchFamily="34" charset="-120"/>
              </a:rPr>
              <a:t>One more night per visitor is worth about </a:t>
            </a:r>
            <a:pPr indent="0" marL="0">
              <a:buNone/>
            </a:pPr>
            <a:r>
              <a:rPr lang="en-US" sz="1000" b="1" dirty="0">
                <a:solidFill>
                  <a:srgbClr val="125C60"/>
                </a:solidFill>
                <a:latin typeface="Proxima Nova" pitchFamily="34" charset="0"/>
                <a:ea typeface="Proxima Nova" pitchFamily="34" charset="-122"/>
                <a:cs typeface="Proxima Nova" pitchFamily="34" charset="-120"/>
              </a:rPr>
              <a:t>$794 million</a:t>
            </a:r>
            <a:pPr indent="0" marL="0">
              <a:buNone/>
            </a:pPr>
            <a:r>
              <a:rPr lang="en-US" sz="1000" dirty="0">
                <a:solidFill>
                  <a:srgbClr val="231F20"/>
                </a:solidFill>
                <a:latin typeface="Proxima Nova" pitchFamily="34" charset="0"/>
                <a:ea typeface="Proxima Nova" pitchFamily="34" charset="-122"/>
                <a:cs typeface="Proxima Nova" pitchFamily="34" charset="-120"/>
              </a:rPr>
              <a:t> in lodging</a:t>
            </a:r>
            <a:endParaRPr lang="en-US" sz="1000" dirty="0"/>
          </a:p>
        </p:txBody>
      </p:sp>
      <p:sp>
        <p:nvSpPr>
          <p:cNvPr id="46" name="Shape 44"/>
          <p:cNvSpPr/>
          <p:nvPr/>
        </p:nvSpPr>
        <p:spPr>
          <a:xfrm>
            <a:off x="4301642" y="4389120"/>
            <a:ext cx="3588410" cy="1417320"/>
          </a:xfrm>
          <a:prstGeom prst="rect">
            <a:avLst/>
          </a:prstGeom>
          <a:solidFill>
            <a:srgbClr val="FFFFFF"/>
          </a:solidFill>
          <a:ln w="12700">
            <a:solidFill>
              <a:srgbClr val="B4D9E3"/>
            </a:solidFill>
            <a:prstDash val="solid"/>
          </a:ln>
        </p:spPr>
      </p:sp>
      <p:sp>
        <p:nvSpPr>
          <p:cNvPr id="47" name="Shape 45"/>
          <p:cNvSpPr/>
          <p:nvPr/>
        </p:nvSpPr>
        <p:spPr>
          <a:xfrm>
            <a:off x="4301642" y="4389120"/>
            <a:ext cx="3588410" cy="54864"/>
          </a:xfrm>
          <a:prstGeom prst="rect">
            <a:avLst/>
          </a:prstGeom>
          <a:solidFill>
            <a:srgbClr val="43A3A3"/>
          </a:solidFill>
          <a:ln w="12700">
            <a:solidFill>
              <a:srgbClr val="43A3A3"/>
            </a:solidFill>
            <a:prstDash val="solid"/>
          </a:ln>
        </p:spPr>
      </p:sp>
      <p:sp>
        <p:nvSpPr>
          <p:cNvPr id="48" name="Text 46"/>
          <p:cNvSpPr txBox="1"/>
          <p:nvPr/>
        </p:nvSpPr>
        <p:spPr>
          <a:xfrm>
            <a:off x="4411370" y="4480560"/>
            <a:ext cx="3368954"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GETTING HERE</a:t>
            </a:r>
            <a:endParaRPr lang="en-US" sz="850" dirty="0"/>
          </a:p>
        </p:txBody>
      </p:sp>
      <p:sp>
        <p:nvSpPr>
          <p:cNvPr id="49" name="Text 47"/>
          <p:cNvSpPr txBox="1"/>
          <p:nvPr/>
        </p:nvSpPr>
        <p:spPr>
          <a:xfrm>
            <a:off x="4411370" y="4681728"/>
            <a:ext cx="1737360" cy="457200"/>
          </a:xfrm>
          <a:prstGeom prst="rect">
            <a:avLst/>
          </a:prstGeom>
          <a:noFill/>
          <a:ln/>
        </p:spPr>
        <p:txBody>
          <a:bodyPr wrap="square" lIns="0" tIns="0" rIns="0" bIns="0" rtlCol="0" anchor="ctr">
            <a:normAutofit/>
          </a:bodyPr>
          <a:lstStyle/>
          <a:p>
            <a:pPr indent="0" marL="0">
              <a:buNone/>
            </a:pPr>
            <a:r>
              <a:rPr lang="en-US" sz="2400" b="1" i="1" dirty="0">
                <a:solidFill>
                  <a:srgbClr val="125C60"/>
                </a:solidFill>
                <a:latin typeface="Proxima Nova" pitchFamily="34" charset="0"/>
                <a:ea typeface="Proxima Nova" pitchFamily="34" charset="-122"/>
                <a:cs typeface="Proxima Nova" pitchFamily="34" charset="-120"/>
              </a:rPr>
              <a:t>275K</a:t>
            </a:r>
            <a:endParaRPr lang="en-US" sz="2400" dirty="0"/>
          </a:p>
        </p:txBody>
      </p:sp>
      <p:sp>
        <p:nvSpPr>
          <p:cNvPr id="50" name="Text 48"/>
          <p:cNvSpPr txBox="1"/>
          <p:nvPr/>
        </p:nvSpPr>
        <p:spPr>
          <a:xfrm>
            <a:off x="6176162" y="4700016"/>
            <a:ext cx="1622450" cy="438912"/>
          </a:xfrm>
          <a:prstGeom prst="rect">
            <a:avLst/>
          </a:prstGeom>
          <a:noFill/>
          <a:ln/>
        </p:spPr>
        <p:txBody>
          <a:bodyPr wrap="square" lIns="0" tIns="0" rIns="0" bIns="0" rtlCol="0" anchor="ctr">
            <a:normAutofit/>
          </a:bodyPr>
          <a:lstStyle/>
          <a:p>
            <a:pPr indent="0" marL="0">
              <a:buNone/>
            </a:pPr>
            <a:r>
              <a:rPr lang="en-US" sz="950" b="1" dirty="0">
                <a:solidFill>
                  <a:srgbClr val="231F20"/>
                </a:solidFill>
                <a:latin typeface="Proxima Nova" pitchFamily="34" charset="0"/>
                <a:ea typeface="Proxima Nova" pitchFamily="34" charset="-122"/>
                <a:cs typeface="Proxima Nova" pitchFamily="34" charset="-120"/>
              </a:rPr>
              <a:t>vehicles a day on SR-57 at OC Vibe</a:t>
            </a:r>
            <a:endParaRPr lang="en-US" sz="950" dirty="0"/>
          </a:p>
        </p:txBody>
      </p:sp>
      <p:sp>
        <p:nvSpPr>
          <p:cNvPr id="51" name="Text 49"/>
          <p:cNvSpPr txBox="1"/>
          <p:nvPr/>
        </p:nvSpPr>
        <p:spPr>
          <a:xfrm>
            <a:off x="4411370" y="5175504"/>
            <a:ext cx="3368954" cy="566928"/>
          </a:xfrm>
          <a:prstGeom prst="rect">
            <a:avLst/>
          </a:prstGeom>
          <a:noFill/>
          <a:ln/>
        </p:spPr>
        <p:txBody>
          <a:bodyPr wrap="square" lIns="0" tIns="0" rIns="0" bIns="0" rtlCol="0" anchor="t">
            <a:normAutofit/>
          </a:bodyPr>
          <a:lstStyle/>
          <a:p>
            <a:pPr indent="0" marL="0">
              <a:buNone/>
            </a:pPr>
            <a:r>
              <a:rPr lang="en-US" sz="1000" b="1" dirty="0">
                <a:solidFill>
                  <a:srgbClr val="125C60"/>
                </a:solidFill>
                <a:latin typeface="Proxima Nova" pitchFamily="34" charset="0"/>
                <a:ea typeface="Proxima Nova" pitchFamily="34" charset="-122"/>
                <a:cs typeface="Proxima Nova" pitchFamily="34" charset="-120"/>
              </a:rPr>
              <a:t>275,000 vehicles</a:t>
            </a:r>
            <a:pPr indent="0" marL="0">
              <a:buNone/>
            </a:pPr>
            <a:r>
              <a:rPr lang="en-US" sz="1000" dirty="0">
                <a:solidFill>
                  <a:srgbClr val="231F20"/>
                </a:solidFill>
                <a:latin typeface="Proxima Nova" pitchFamily="34" charset="0"/>
                <a:ea typeface="Proxima Nova" pitchFamily="34" charset="-122"/>
                <a:cs typeface="Proxima Nova" pitchFamily="34" charset="-120"/>
              </a:rPr>
              <a:t> a day pass OC Vibe on SR-57</a:t>
            </a:r>
            <a:endParaRPr lang="en-US" sz="1000" dirty="0"/>
          </a:p>
        </p:txBody>
      </p:sp>
      <p:sp>
        <p:nvSpPr>
          <p:cNvPr id="52" name="Shape 50"/>
          <p:cNvSpPr/>
          <p:nvPr/>
        </p:nvSpPr>
        <p:spPr>
          <a:xfrm>
            <a:off x="8054645" y="4389120"/>
            <a:ext cx="3588410" cy="1417320"/>
          </a:xfrm>
          <a:prstGeom prst="rect">
            <a:avLst/>
          </a:prstGeom>
          <a:solidFill>
            <a:srgbClr val="FFFFFF"/>
          </a:solidFill>
          <a:ln w="12700">
            <a:solidFill>
              <a:srgbClr val="B4D9E3"/>
            </a:solidFill>
            <a:prstDash val="solid"/>
          </a:ln>
        </p:spPr>
      </p:sp>
      <p:sp>
        <p:nvSpPr>
          <p:cNvPr id="53" name="Shape 51"/>
          <p:cNvSpPr/>
          <p:nvPr/>
        </p:nvSpPr>
        <p:spPr>
          <a:xfrm>
            <a:off x="8054645" y="4389120"/>
            <a:ext cx="3588410" cy="54864"/>
          </a:xfrm>
          <a:prstGeom prst="rect">
            <a:avLst/>
          </a:prstGeom>
          <a:solidFill>
            <a:srgbClr val="43A3A3"/>
          </a:solidFill>
          <a:ln w="12700">
            <a:solidFill>
              <a:srgbClr val="43A3A3"/>
            </a:solidFill>
            <a:prstDash val="solid"/>
          </a:ln>
        </p:spPr>
      </p:sp>
      <p:sp>
        <p:nvSpPr>
          <p:cNvPr id="54" name="Text 52"/>
          <p:cNvSpPr txBox="1"/>
          <p:nvPr/>
        </p:nvSpPr>
        <p:spPr>
          <a:xfrm>
            <a:off x="8164373" y="4480560"/>
            <a:ext cx="3368954"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MARKETING REACH</a:t>
            </a:r>
            <a:endParaRPr lang="en-US" sz="850" dirty="0"/>
          </a:p>
        </p:txBody>
      </p:sp>
      <p:sp>
        <p:nvSpPr>
          <p:cNvPr id="55" name="Text 53"/>
          <p:cNvSpPr txBox="1"/>
          <p:nvPr/>
        </p:nvSpPr>
        <p:spPr>
          <a:xfrm>
            <a:off x="8164373" y="4681728"/>
            <a:ext cx="1737360" cy="457200"/>
          </a:xfrm>
          <a:prstGeom prst="rect">
            <a:avLst/>
          </a:prstGeom>
          <a:noFill/>
          <a:ln/>
        </p:spPr>
        <p:txBody>
          <a:bodyPr wrap="square" lIns="0" tIns="0" rIns="0" bIns="0" rtlCol="0" anchor="ctr">
            <a:normAutofit/>
          </a:bodyPr>
          <a:lstStyle/>
          <a:p>
            <a:pPr indent="0" marL="0">
              <a:buNone/>
            </a:pPr>
            <a:r>
              <a:rPr lang="en-US" sz="2400" b="1" i="1" dirty="0">
                <a:solidFill>
                  <a:srgbClr val="125C60"/>
                </a:solidFill>
                <a:latin typeface="Proxima Nova" pitchFamily="34" charset="0"/>
                <a:ea typeface="Proxima Nova" pitchFamily="34" charset="-122"/>
                <a:cs typeface="Proxima Nova" pitchFamily="34" charset="-120"/>
              </a:rPr>
              <a:t>368,416</a:t>
            </a:r>
            <a:endParaRPr lang="en-US" sz="2400" dirty="0"/>
          </a:p>
        </p:txBody>
      </p:sp>
      <p:sp>
        <p:nvSpPr>
          <p:cNvPr id="56" name="Text 54"/>
          <p:cNvSpPr txBox="1"/>
          <p:nvPr/>
        </p:nvSpPr>
        <p:spPr>
          <a:xfrm>
            <a:off x="9929165" y="4700016"/>
            <a:ext cx="1622450" cy="438912"/>
          </a:xfrm>
          <a:prstGeom prst="rect">
            <a:avLst/>
          </a:prstGeom>
          <a:noFill/>
          <a:ln/>
        </p:spPr>
        <p:txBody>
          <a:bodyPr wrap="square" lIns="0" tIns="0" rIns="0" bIns="0" rtlCol="0" anchor="ctr">
            <a:normAutofit/>
          </a:bodyPr>
          <a:lstStyle/>
          <a:p>
            <a:pPr indent="0" marL="0">
              <a:buNone/>
            </a:pPr>
            <a:r>
              <a:rPr lang="en-US" sz="950" b="1" dirty="0">
                <a:solidFill>
                  <a:srgbClr val="231F20"/>
                </a:solidFill>
                <a:latin typeface="Proxima Nova" pitchFamily="34" charset="0"/>
                <a:ea typeface="Proxima Nova" pitchFamily="34" charset="-122"/>
                <a:cs typeface="Proxima Nova" pitchFamily="34" charset="-120"/>
              </a:rPr>
              <a:t>observed visits after ad exposure</a:t>
            </a:r>
            <a:endParaRPr lang="en-US" sz="950" dirty="0"/>
          </a:p>
        </p:txBody>
      </p:sp>
      <p:sp>
        <p:nvSpPr>
          <p:cNvPr id="57" name="Text 55"/>
          <p:cNvSpPr txBox="1"/>
          <p:nvPr/>
        </p:nvSpPr>
        <p:spPr>
          <a:xfrm>
            <a:off x="8164373" y="5175504"/>
            <a:ext cx="3368954" cy="566928"/>
          </a:xfrm>
          <a:prstGeom prst="rect">
            <a:avLst/>
          </a:prstGeom>
          <a:noFill/>
          <a:ln/>
        </p:spPr>
        <p:txBody>
          <a:bodyPr wrap="square" lIns="0" tIns="0" rIns="0" bIns="0" rtlCol="0" anchor="t">
            <a:normAutofit/>
          </a:bodyPr>
          <a:lstStyle/>
          <a:p>
            <a:pPr indent="0" marL="0">
              <a:buNone/>
            </a:pPr>
            <a:r>
              <a:rPr lang="en-US" sz="1000" dirty="0">
                <a:solidFill>
                  <a:srgbClr val="231F20"/>
                </a:solidFill>
                <a:latin typeface="Proxima Nova" pitchFamily="34" charset="0"/>
                <a:ea typeface="Proxima Nova" pitchFamily="34" charset="-122"/>
                <a:cs typeface="Proxima Nova" pitchFamily="34" charset="-120"/>
              </a:rPr>
              <a:t>Visit Anaheim marketing drove </a:t>
            </a:r>
            <a:pPr indent="0" marL="0">
              <a:buNone/>
            </a:pPr>
            <a:r>
              <a:rPr lang="en-US" sz="1000" b="1" dirty="0">
                <a:solidFill>
                  <a:srgbClr val="125C60"/>
                </a:solidFill>
                <a:latin typeface="Proxima Nova" pitchFamily="34" charset="0"/>
                <a:ea typeface="Proxima Nova" pitchFamily="34" charset="-122"/>
                <a:cs typeface="Proxima Nova" pitchFamily="34" charset="-120"/>
              </a:rPr>
              <a:t>368,416</a:t>
            </a:r>
            <a:pPr indent="0" marL="0">
              <a:buNone/>
            </a:pPr>
            <a:r>
              <a:rPr lang="en-US" sz="1000" dirty="0">
                <a:solidFill>
                  <a:srgbClr val="231F20"/>
                </a:solidFill>
                <a:latin typeface="Proxima Nova" pitchFamily="34" charset="0"/>
                <a:ea typeface="Proxima Nova" pitchFamily="34" charset="-122"/>
                <a:cs typeface="Proxima Nova" pitchFamily="34" charset="-120"/>
              </a:rPr>
              <a:t> observed visits this year</a:t>
            </a:r>
            <a:endParaRPr lang="en-US" sz="1000" dirty="0"/>
          </a:p>
        </p:txBody>
      </p:sp>
      <p:sp>
        <p:nvSpPr>
          <p:cNvPr id="58" name="Shape 56"/>
          <p:cNvSpPr/>
          <p:nvPr/>
        </p:nvSpPr>
        <p:spPr>
          <a:xfrm>
            <a:off x="548640" y="5897880"/>
            <a:ext cx="3588410" cy="1417320"/>
          </a:xfrm>
          <a:prstGeom prst="rect">
            <a:avLst/>
          </a:prstGeom>
          <a:solidFill>
            <a:srgbClr val="FFFFFF"/>
          </a:solidFill>
          <a:ln w="12700">
            <a:solidFill>
              <a:srgbClr val="B4D9E3"/>
            </a:solidFill>
            <a:prstDash val="solid"/>
          </a:ln>
        </p:spPr>
      </p:sp>
      <p:sp>
        <p:nvSpPr>
          <p:cNvPr id="59" name="Shape 57"/>
          <p:cNvSpPr/>
          <p:nvPr/>
        </p:nvSpPr>
        <p:spPr>
          <a:xfrm>
            <a:off x="548640" y="5897880"/>
            <a:ext cx="3588410" cy="54864"/>
          </a:xfrm>
          <a:prstGeom prst="rect">
            <a:avLst/>
          </a:prstGeom>
          <a:solidFill>
            <a:srgbClr val="43A3A3"/>
          </a:solidFill>
          <a:ln w="12700">
            <a:solidFill>
              <a:srgbClr val="43A3A3"/>
            </a:solidFill>
            <a:prstDash val="solid"/>
          </a:ln>
        </p:spPr>
      </p:sp>
      <p:sp>
        <p:nvSpPr>
          <p:cNvPr id="60" name="Text 58"/>
          <p:cNvSpPr txBox="1"/>
          <p:nvPr/>
        </p:nvSpPr>
        <p:spPr>
          <a:xfrm>
            <a:off x="658368" y="5989320"/>
            <a:ext cx="3368954"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MARKET OUTLOOK</a:t>
            </a:r>
            <a:endParaRPr lang="en-US" sz="850" dirty="0"/>
          </a:p>
        </p:txBody>
      </p:sp>
      <p:sp>
        <p:nvSpPr>
          <p:cNvPr id="61" name="Text 59"/>
          <p:cNvSpPr txBox="1"/>
          <p:nvPr/>
        </p:nvSpPr>
        <p:spPr>
          <a:xfrm>
            <a:off x="658368" y="6190488"/>
            <a:ext cx="1737360" cy="457200"/>
          </a:xfrm>
          <a:prstGeom prst="rect">
            <a:avLst/>
          </a:prstGeom>
          <a:noFill/>
          <a:ln/>
        </p:spPr>
        <p:txBody>
          <a:bodyPr wrap="square" lIns="0" tIns="0" rIns="0" bIns="0" rtlCol="0" anchor="ctr">
            <a:normAutofit/>
          </a:bodyPr>
          <a:lstStyle/>
          <a:p>
            <a:pPr indent="0" marL="0">
              <a:buNone/>
            </a:pPr>
            <a:r>
              <a:rPr lang="en-US" sz="2400" b="1" i="1" dirty="0">
                <a:solidFill>
                  <a:srgbClr val="125C60"/>
                </a:solidFill>
                <a:latin typeface="Proxima Nova" pitchFamily="34" charset="0"/>
                <a:ea typeface="Proxima Nova" pitchFamily="34" charset="-122"/>
                <a:cs typeface="Proxima Nova" pitchFamily="34" charset="-120"/>
              </a:rPr>
              <a:t>+11.4%</a:t>
            </a:r>
            <a:endParaRPr lang="en-US" sz="2400" dirty="0"/>
          </a:p>
        </p:txBody>
      </p:sp>
      <p:sp>
        <p:nvSpPr>
          <p:cNvPr id="62" name="Text 60"/>
          <p:cNvSpPr txBox="1"/>
          <p:nvPr/>
        </p:nvSpPr>
        <p:spPr>
          <a:xfrm>
            <a:off x="2423160" y="6208776"/>
            <a:ext cx="1622450" cy="438912"/>
          </a:xfrm>
          <a:prstGeom prst="rect">
            <a:avLst/>
          </a:prstGeom>
          <a:noFill/>
          <a:ln/>
        </p:spPr>
        <p:txBody>
          <a:bodyPr wrap="square" lIns="0" tIns="0" rIns="0" bIns="0" rtlCol="0" anchor="ctr">
            <a:normAutofit/>
          </a:bodyPr>
          <a:lstStyle/>
          <a:p>
            <a:pPr indent="0" marL="0">
              <a:buNone/>
            </a:pPr>
            <a:r>
              <a:rPr lang="en-US" sz="950" b="1" dirty="0">
                <a:solidFill>
                  <a:srgbClr val="231F20"/>
                </a:solidFill>
                <a:latin typeface="Proxima Nova" pitchFamily="34" charset="0"/>
                <a:ea typeface="Proxima Nova" pitchFamily="34" charset="-122"/>
                <a:cs typeface="Proxima Nova" pitchFamily="34" charset="-120"/>
              </a:rPr>
              <a:t>Anaheim hotel revenue per room, Q2 2026</a:t>
            </a:r>
            <a:endParaRPr lang="en-US" sz="950" dirty="0"/>
          </a:p>
        </p:txBody>
      </p:sp>
      <p:sp>
        <p:nvSpPr>
          <p:cNvPr id="63" name="Text 61"/>
          <p:cNvSpPr txBox="1"/>
          <p:nvPr/>
        </p:nvSpPr>
        <p:spPr>
          <a:xfrm>
            <a:off x="658368" y="6684264"/>
            <a:ext cx="3368954" cy="566928"/>
          </a:xfrm>
          <a:prstGeom prst="rect">
            <a:avLst/>
          </a:prstGeom>
          <a:noFill/>
          <a:ln/>
        </p:spPr>
        <p:txBody>
          <a:bodyPr wrap="square" lIns="0" tIns="0" rIns="0" bIns="0" rtlCol="0" anchor="t">
            <a:normAutofit/>
          </a:bodyPr>
          <a:lstStyle/>
          <a:p>
            <a:pPr indent="0" marL="0">
              <a:buNone/>
            </a:pPr>
            <a:r>
              <a:rPr lang="en-US" sz="1000" dirty="0">
                <a:solidFill>
                  <a:srgbClr val="231F20"/>
                </a:solidFill>
                <a:latin typeface="Proxima Nova" pitchFamily="34" charset="0"/>
                <a:ea typeface="Proxima Nova" pitchFamily="34" charset="-122"/>
                <a:cs typeface="Proxima Nova" pitchFamily="34" charset="-120"/>
              </a:rPr>
              <a:t>Anaheim hotel revenue per room up </a:t>
            </a:r>
            <a:pPr indent="0" marL="0">
              <a:buNone/>
            </a:pPr>
            <a:r>
              <a:rPr lang="en-US" sz="1000" b="1" dirty="0">
                <a:solidFill>
                  <a:srgbClr val="125C60"/>
                </a:solidFill>
                <a:latin typeface="Proxima Nova" pitchFamily="34" charset="0"/>
                <a:ea typeface="Proxima Nova" pitchFamily="34" charset="-122"/>
                <a:cs typeface="Proxima Nova" pitchFamily="34" charset="-120"/>
              </a:rPr>
              <a:t>11.4%</a:t>
            </a:r>
            <a:pPr indent="0" marL="0">
              <a:buNone/>
            </a:pPr>
            <a:r>
              <a:rPr lang="en-US" sz="1000" dirty="0">
                <a:solidFill>
                  <a:srgbClr val="231F20"/>
                </a:solidFill>
                <a:latin typeface="Proxima Nova" pitchFamily="34" charset="0"/>
                <a:ea typeface="Proxima Nova" pitchFamily="34" charset="-122"/>
                <a:cs typeface="Proxima Nova" pitchFamily="34" charset="-120"/>
              </a:rPr>
              <a:t> as OC Vibe nears opening</a:t>
            </a:r>
            <a:endParaRPr lang="en-US" sz="1000" dirty="0"/>
          </a:p>
        </p:txBody>
      </p:sp>
      <p:sp>
        <p:nvSpPr>
          <p:cNvPr id="64"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Each figure with its source and period on its section slides. Visit Anaheim Business Intelligence (Oct. 13,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How this report reads</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Each section is a news report (lede, why it matters, the details) followed by analysis · sections in reading order</a:t>
            </a:r>
            <a:endParaRPr lang="en-US" sz="1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828800"/>
                <a:gridCol w="3749040"/>
                <a:gridCol w="5513832"/>
              </a:tblGrid>
              <a:tr h="457200">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Section</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The question it answers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Why the next section follows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5720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Anaheim and OC Vibe today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Where do Anaheim's visitor economy and the OC Vibe area stand today?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Orange County tourism: Anaheim sits inside a larger county market. The next section sizes Orange County: arrivals, origins, seasonality, visitor profile and hotels.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Orange County tourism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How many visitors come to Orange County, from where and when, who are they, and what hotel capacity serves them?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Who visits: With the county market sized, the next question is who visits the OC Vibe area itself.</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Who visits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Who visits District 5 and the OC Vibe area, and where do they come from?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Visitor spending: Knowing who visits leads to what each visitor is worth. Spending per visitor converts audience size into economic value.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Visitor spending</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How much does each visitor spend, and how is that changing?</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Jobs and economy: Spending is the input; jobs and tax revenue are the outcome. The next section traces how visitor dollars move through the Anaheim and Orange County economy.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Jobs and economy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What does the visitor economy support in Anaheim, Garden Grove and Orange County?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Hotel market: Lodging is one of the largest categories of visitor spending ($1.724B in 2025), so hotel capacity comes next: how full Anaheim hotels are, at what rate, and on which nights rooms are open.</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Hotel market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How are hotels around OC Vibe performing, and is there room for more?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One more night: Open rooms on Sunday and Monday nights point to the most direct lever, longer stays. The next section measures what one more night per visitor is worth.</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One more night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What is one more night per visitor worth to Anaheim?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Getting here: Longer stays depend on how easily visitors arrive and leave, especially after evening events. The next section examines road, bus and rail access to the OC Vibe area.</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Getting here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How do people get to OC Vibe, and what transportation changes are coming?</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Marketing reach: Access determines who can come; marketing influences who chooses to. The next section shows how paid media converts into measured visits.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Marketing reach</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Does Visit Anaheim's marketing bring visitors who can reach OC Vibe?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Market outlook: With audience, value, capacity, access and reach measured, the last section looks at the market conditions OC Vibe will open into.</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Market outlook</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What in the hotel and market outlook will affect OC Vibe?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Reports and data library: Every report and data file behind these sections can be opened or downloaded in the library; the Appendix and Sources follow.</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Business Intelligence (Oct. 13, 2026). Facts only; no editorial or opinion content.</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How this report is updated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Updated quarterly · Data last updated Oct. 19, 2026 · Next scheduled update Jan. 15, 2027</a:t>
            </a:r>
            <a:endParaRPr lang="en-US" sz="1200" dirty="0"/>
          </a:p>
        </p:txBody>
      </p:sp>
      <p:sp>
        <p:nvSpPr>
          <p:cNvPr id="5" name="Text 2"/>
          <p:cNvSpPr txBox="1"/>
          <p:nvPr/>
        </p:nvSpPr>
        <p:spPr>
          <a:xfrm>
            <a:off x="548640" y="1325880"/>
            <a:ext cx="11094415" cy="566928"/>
          </a:xfrm>
          <a:prstGeom prst="rect">
            <a:avLst/>
          </a:prstGeom>
          <a:noFill/>
          <a:ln/>
        </p:spPr>
        <p:txBody>
          <a:bodyPr wrap="square" lIns="0" tIns="0" rIns="0" bIns="0" rtlCol="0" anchor="t"/>
          <a:lstStyle/>
          <a:p>
            <a:pPr indent="0" marL="0">
              <a:buNone/>
            </a:pPr>
            <a:r>
              <a:rPr lang="en-US" sz="1200" dirty="0">
                <a:solidFill>
                  <a:srgbClr val="231F20"/>
                </a:solidFill>
                <a:latin typeface="Proxima Nova" pitchFamily="34" charset="0"/>
                <a:ea typeface="Proxima Nova" pitchFamily="34" charset="-122"/>
                <a:cs typeface="Proxima Nova" pitchFamily="34" charset="-120"/>
              </a:rPr>
              <a:t>Visit Anaheim Business Intelligence updates OC Vibe Insights each quarter, on the 15th of January, April, July and October, after Tourism Economics delivers its quarterly Anaheim Travel Forecast. The data was last updated Oct. 19, 2026; the next scheduled update is Jan. 15, 2027.</a:t>
            </a:r>
            <a:endParaRPr lang="en-US" sz="1200" dirty="0"/>
          </a:p>
        </p:txBody>
      </p:sp>
      <p:sp>
        <p:nvSpPr>
          <p:cNvPr id="6" name="update-card-0"/>
          <p:cNvSpPr/>
          <p:nvPr/>
        </p:nvSpPr>
        <p:spPr>
          <a:xfrm>
            <a:off x="548640" y="1965960"/>
            <a:ext cx="3588410" cy="1920240"/>
          </a:xfrm>
          <a:prstGeom prst="rect">
            <a:avLst/>
          </a:prstGeom>
          <a:solidFill>
            <a:srgbClr val="FFFFFF"/>
          </a:solidFill>
          <a:ln w="12700">
            <a:solidFill>
              <a:srgbClr val="B4D9E3"/>
            </a:solidFill>
            <a:prstDash val="solid"/>
          </a:ln>
        </p:spPr>
      </p:sp>
      <p:sp>
        <p:nvSpPr>
          <p:cNvPr id="7" name="Shape 4"/>
          <p:cNvSpPr/>
          <p:nvPr/>
        </p:nvSpPr>
        <p:spPr>
          <a:xfrm>
            <a:off x="548640" y="1965960"/>
            <a:ext cx="3588410" cy="64008"/>
          </a:xfrm>
          <a:prstGeom prst="rect">
            <a:avLst/>
          </a:prstGeom>
          <a:solidFill>
            <a:srgbClr val="43A3A3"/>
          </a:solidFill>
          <a:ln w="12700">
            <a:solidFill>
              <a:srgbClr val="43A3A3"/>
            </a:solidFill>
            <a:prstDash val="solid"/>
          </a:ln>
        </p:spPr>
      </p:sp>
      <p:sp>
        <p:nvSpPr>
          <p:cNvPr id="8" name="Text 5"/>
          <p:cNvSpPr txBox="1"/>
          <p:nvPr/>
        </p:nvSpPr>
        <p:spPr>
          <a:xfrm>
            <a:off x="685800" y="2084832"/>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WHO</a:t>
            </a:r>
            <a:endParaRPr lang="en-US" sz="900" dirty="0"/>
          </a:p>
        </p:txBody>
      </p:sp>
      <p:sp>
        <p:nvSpPr>
          <p:cNvPr id="9" name="Text 6"/>
          <p:cNvSpPr txBox="1"/>
          <p:nvPr/>
        </p:nvSpPr>
        <p:spPr>
          <a:xfrm>
            <a:off x="685800" y="2276856"/>
            <a:ext cx="3314090" cy="384048"/>
          </a:xfrm>
          <a:prstGeom prst="rect">
            <a:avLst/>
          </a:prstGeom>
          <a:noFill/>
          <a:ln/>
        </p:spPr>
        <p:txBody>
          <a:bodyPr wrap="square" lIns="0" tIns="0" rIns="0" bIns="0" rtlCol="0" anchor="ctr">
            <a:normAutofit/>
          </a:bodyPr>
          <a:lstStyle/>
          <a:p>
            <a:pPr indent="0" marL="0">
              <a:buNone/>
            </a:pPr>
            <a:r>
              <a:rPr lang="en-US" sz="2000" b="1" i="1" dirty="0">
                <a:solidFill>
                  <a:srgbClr val="125C60"/>
                </a:solidFill>
                <a:latin typeface="Proxima Nova" pitchFamily="34" charset="0"/>
                <a:ea typeface="Proxima Nova" pitchFamily="34" charset="-122"/>
                <a:cs typeface="Proxima Nova" pitchFamily="34" charset="-120"/>
              </a:rPr>
              <a:t>Visit Anaheim BI</a:t>
            </a:r>
            <a:endParaRPr lang="en-US" sz="2000" dirty="0"/>
          </a:p>
        </p:txBody>
      </p:sp>
      <p:sp>
        <p:nvSpPr>
          <p:cNvPr id="10" name="Text 7"/>
          <p:cNvSpPr txBox="1"/>
          <p:nvPr/>
        </p:nvSpPr>
        <p:spPr>
          <a:xfrm>
            <a:off x="685800" y="2660904"/>
            <a:ext cx="3314090" cy="256032"/>
          </a:xfrm>
          <a:prstGeom prst="rect">
            <a:avLst/>
          </a:prstGeom>
          <a:noFill/>
          <a:ln/>
        </p:spPr>
        <p:txBody>
          <a:bodyPr wrap="square" lIns="0" tIns="0" rIns="0" bIns="0" rtlCol="0" anchor="ctr">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Business Intelligence team</a:t>
            </a:r>
            <a:endParaRPr lang="en-US" sz="1000" dirty="0"/>
          </a:p>
        </p:txBody>
      </p:sp>
      <p:sp>
        <p:nvSpPr>
          <p:cNvPr id="11" name="Text 8"/>
          <p:cNvSpPr txBox="1"/>
          <p:nvPr/>
        </p:nvSpPr>
        <p:spPr>
          <a:xfrm>
            <a:off x="685800" y="2926080"/>
            <a:ext cx="3314090" cy="68580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Prepares each update and checks every figure against its source before it is published. Questions go to bi@visitanaheim.org.</a:t>
            </a:r>
            <a:endParaRPr lang="en-US" sz="900" dirty="0"/>
          </a:p>
        </p:txBody>
      </p:sp>
      <p:sp>
        <p:nvSpPr>
          <p:cNvPr id="12" name="Text 9"/>
          <p:cNvSpPr txBox="1"/>
          <p:nvPr/>
        </p:nvSpPr>
        <p:spPr>
          <a:xfrm>
            <a:off x="685800" y="3611880"/>
            <a:ext cx="3314090" cy="237744"/>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Visit Anaheim BI, quarterly refresh runbook (Oct. 13, 2026; cadence confirmed Oct. 14, 2026)</a:t>
            </a:r>
            <a:endParaRPr lang="en-US" sz="700" dirty="0"/>
          </a:p>
        </p:txBody>
      </p:sp>
      <p:sp>
        <p:nvSpPr>
          <p:cNvPr id="13" name="update-card-1"/>
          <p:cNvSpPr/>
          <p:nvPr/>
        </p:nvSpPr>
        <p:spPr>
          <a:xfrm>
            <a:off x="4301642" y="1965960"/>
            <a:ext cx="3588410" cy="1920240"/>
          </a:xfrm>
          <a:prstGeom prst="rect">
            <a:avLst/>
          </a:prstGeom>
          <a:solidFill>
            <a:srgbClr val="FFFFFF"/>
          </a:solidFill>
          <a:ln w="12700">
            <a:solidFill>
              <a:srgbClr val="B4D9E3"/>
            </a:solidFill>
            <a:prstDash val="solid"/>
          </a:ln>
        </p:spPr>
      </p:sp>
      <p:sp>
        <p:nvSpPr>
          <p:cNvPr id="14" name="Shape 11"/>
          <p:cNvSpPr/>
          <p:nvPr/>
        </p:nvSpPr>
        <p:spPr>
          <a:xfrm>
            <a:off x="4301642" y="1965960"/>
            <a:ext cx="3588410" cy="64008"/>
          </a:xfrm>
          <a:prstGeom prst="rect">
            <a:avLst/>
          </a:prstGeom>
          <a:solidFill>
            <a:srgbClr val="43A3A3"/>
          </a:solidFill>
          <a:ln w="12700">
            <a:solidFill>
              <a:srgbClr val="43A3A3"/>
            </a:solidFill>
            <a:prstDash val="solid"/>
          </a:ln>
        </p:spPr>
      </p:sp>
      <p:sp>
        <p:nvSpPr>
          <p:cNvPr id="15" name="Text 12"/>
          <p:cNvSpPr txBox="1"/>
          <p:nvPr/>
        </p:nvSpPr>
        <p:spPr>
          <a:xfrm>
            <a:off x="4438802" y="2084832"/>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WHAT</a:t>
            </a:r>
            <a:endParaRPr lang="en-US" sz="900" dirty="0"/>
          </a:p>
        </p:txBody>
      </p:sp>
      <p:sp>
        <p:nvSpPr>
          <p:cNvPr id="16" name="Text 13"/>
          <p:cNvSpPr txBox="1"/>
          <p:nvPr/>
        </p:nvSpPr>
        <p:spPr>
          <a:xfrm>
            <a:off x="4438802" y="2276856"/>
            <a:ext cx="3314090" cy="384048"/>
          </a:xfrm>
          <a:prstGeom prst="rect">
            <a:avLst/>
          </a:prstGeom>
          <a:noFill/>
          <a:ln/>
        </p:spPr>
        <p:txBody>
          <a:bodyPr wrap="square" lIns="0" tIns="0" rIns="0" bIns="0" rtlCol="0" anchor="ctr">
            <a:normAutofit/>
          </a:bodyPr>
          <a:lstStyle/>
          <a:p>
            <a:pPr indent="0" marL="0">
              <a:buNone/>
            </a:pPr>
            <a:r>
              <a:rPr lang="en-US" sz="2000" b="1" i="1" dirty="0">
                <a:solidFill>
                  <a:srgbClr val="125C60"/>
                </a:solidFill>
                <a:latin typeface="Proxima Nova" pitchFamily="34" charset="0"/>
                <a:ea typeface="Proxima Nova" pitchFamily="34" charset="-122"/>
                <a:cs typeface="Proxima Nova" pitchFamily="34" charset="-120"/>
              </a:rPr>
              <a:t>Changed figures only</a:t>
            </a:r>
            <a:endParaRPr lang="en-US" sz="2000" dirty="0"/>
          </a:p>
        </p:txBody>
      </p:sp>
      <p:sp>
        <p:nvSpPr>
          <p:cNvPr id="17" name="Text 14"/>
          <p:cNvSpPr txBox="1"/>
          <p:nvPr/>
        </p:nvSpPr>
        <p:spPr>
          <a:xfrm>
            <a:off x="4438802" y="2660904"/>
            <a:ext cx="3314090" cy="256032"/>
          </a:xfrm>
          <a:prstGeom prst="rect">
            <a:avLst/>
          </a:prstGeom>
          <a:noFill/>
          <a:ln/>
        </p:spPr>
        <p:txBody>
          <a:bodyPr wrap="square" lIns="0" tIns="0" rIns="0" bIns="0" rtlCol="0" anchor="ctr">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New published or measured values</a:t>
            </a:r>
            <a:endParaRPr lang="en-US" sz="1000" dirty="0"/>
          </a:p>
        </p:txBody>
      </p:sp>
      <p:sp>
        <p:nvSpPr>
          <p:cNvPr id="18" name="Text 15"/>
          <p:cNvSpPr txBox="1"/>
          <p:nvPr/>
        </p:nvSpPr>
        <p:spPr>
          <a:xfrm>
            <a:off x="4438802" y="2926080"/>
            <a:ext cx="3314090" cy="68580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Each update replaces only figures that have a new published or measured value, with the new period and publication date, and rewrites any sentence that cites them. A source with nothing new keeps its current, dated figures; no figure is estimated to fill a gap.</a:t>
            </a:r>
            <a:endParaRPr lang="en-US" sz="900" dirty="0"/>
          </a:p>
        </p:txBody>
      </p:sp>
      <p:sp>
        <p:nvSpPr>
          <p:cNvPr id="19" name="Text 16"/>
          <p:cNvSpPr txBox="1"/>
          <p:nvPr/>
        </p:nvSpPr>
        <p:spPr>
          <a:xfrm>
            <a:off x="4438802" y="3611880"/>
            <a:ext cx="3314090" cy="237744"/>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Visit Anaheim BI, quarterly refresh runbook (Oct. 13, 2026; cadence confirmed Oct. 14, 2026)</a:t>
            </a:r>
            <a:endParaRPr lang="en-US" sz="700" dirty="0"/>
          </a:p>
        </p:txBody>
      </p:sp>
      <p:sp>
        <p:nvSpPr>
          <p:cNvPr id="20" name="update-card-2"/>
          <p:cNvSpPr/>
          <p:nvPr/>
        </p:nvSpPr>
        <p:spPr>
          <a:xfrm>
            <a:off x="8054645" y="1965960"/>
            <a:ext cx="3588410" cy="1920240"/>
          </a:xfrm>
          <a:prstGeom prst="rect">
            <a:avLst/>
          </a:prstGeom>
          <a:solidFill>
            <a:srgbClr val="FFFFFF"/>
          </a:solidFill>
          <a:ln w="12700">
            <a:solidFill>
              <a:srgbClr val="B4D9E3"/>
            </a:solidFill>
            <a:prstDash val="solid"/>
          </a:ln>
        </p:spPr>
      </p:sp>
      <p:sp>
        <p:nvSpPr>
          <p:cNvPr id="21" name="Shape 18"/>
          <p:cNvSpPr/>
          <p:nvPr/>
        </p:nvSpPr>
        <p:spPr>
          <a:xfrm>
            <a:off x="8054645" y="1965960"/>
            <a:ext cx="3588410" cy="64008"/>
          </a:xfrm>
          <a:prstGeom prst="rect">
            <a:avLst/>
          </a:prstGeom>
          <a:solidFill>
            <a:srgbClr val="43A3A3"/>
          </a:solidFill>
          <a:ln w="12700">
            <a:solidFill>
              <a:srgbClr val="43A3A3"/>
            </a:solidFill>
            <a:prstDash val="solid"/>
          </a:ln>
        </p:spPr>
      </p:sp>
      <p:sp>
        <p:nvSpPr>
          <p:cNvPr id="22" name="Text 19"/>
          <p:cNvSpPr txBox="1"/>
          <p:nvPr/>
        </p:nvSpPr>
        <p:spPr>
          <a:xfrm>
            <a:off x="8191805" y="2084832"/>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WHEN</a:t>
            </a:r>
            <a:endParaRPr lang="en-US" sz="900" dirty="0"/>
          </a:p>
        </p:txBody>
      </p:sp>
      <p:sp>
        <p:nvSpPr>
          <p:cNvPr id="23" name="Text 20"/>
          <p:cNvSpPr txBox="1"/>
          <p:nvPr/>
        </p:nvSpPr>
        <p:spPr>
          <a:xfrm>
            <a:off x="8191805" y="2276856"/>
            <a:ext cx="3314090" cy="384048"/>
          </a:xfrm>
          <a:prstGeom prst="rect">
            <a:avLst/>
          </a:prstGeom>
          <a:noFill/>
          <a:ln/>
        </p:spPr>
        <p:txBody>
          <a:bodyPr wrap="square" lIns="0" tIns="0" rIns="0" bIns="0" rtlCol="0" anchor="ctr">
            <a:normAutofit/>
          </a:bodyPr>
          <a:lstStyle/>
          <a:p>
            <a:pPr indent="0" marL="0">
              <a:buNone/>
            </a:pPr>
            <a:r>
              <a:rPr lang="en-US" sz="2000" b="1" i="1" dirty="0">
                <a:solidFill>
                  <a:srgbClr val="125C60"/>
                </a:solidFill>
                <a:latin typeface="Proxima Nova" pitchFamily="34" charset="0"/>
                <a:ea typeface="Proxima Nova" pitchFamily="34" charset="-122"/>
                <a:cs typeface="Proxima Nova" pitchFamily="34" charset="-120"/>
              </a:rPr>
              <a:t>Quarterly</a:t>
            </a:r>
            <a:endParaRPr lang="en-US" sz="2000" dirty="0"/>
          </a:p>
        </p:txBody>
      </p:sp>
      <p:sp>
        <p:nvSpPr>
          <p:cNvPr id="24" name="Text 21"/>
          <p:cNvSpPr txBox="1"/>
          <p:nvPr/>
        </p:nvSpPr>
        <p:spPr>
          <a:xfrm>
            <a:off x="8191805" y="2660904"/>
            <a:ext cx="3314090" cy="256032"/>
          </a:xfrm>
          <a:prstGeom prst="rect">
            <a:avLst/>
          </a:prstGeom>
          <a:noFill/>
          <a:ln/>
        </p:spPr>
        <p:txBody>
          <a:bodyPr wrap="square" lIns="0" tIns="0" rIns="0" bIns="0" rtlCol="0" anchor="ctr">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15th of Jan., April, July and Oct.</a:t>
            </a:r>
            <a:endParaRPr lang="en-US" sz="1000" dirty="0"/>
          </a:p>
        </p:txBody>
      </p:sp>
      <p:sp>
        <p:nvSpPr>
          <p:cNvPr id="25" name="Text 22"/>
          <p:cNvSpPr txBox="1"/>
          <p:nvPr/>
        </p:nvSpPr>
        <p:spPr>
          <a:xfrm>
            <a:off x="8191805" y="2926080"/>
            <a:ext cx="3314090" cy="68580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Updates run on a fixed schedule at about 9 a.m. Pacific. Data last updated Oct. 19, 2026; next scheduled update Jan. 15, 2027.</a:t>
            </a:r>
            <a:endParaRPr lang="en-US" sz="900" dirty="0"/>
          </a:p>
        </p:txBody>
      </p:sp>
      <p:sp>
        <p:nvSpPr>
          <p:cNvPr id="26" name="Text 23"/>
          <p:cNvSpPr txBox="1"/>
          <p:nvPr/>
        </p:nvSpPr>
        <p:spPr>
          <a:xfrm>
            <a:off x="8191805" y="3611880"/>
            <a:ext cx="3314090" cy="237744"/>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Visit Anaheim BI, quarterly refresh runbook (Oct. 13, 2026; cadence confirmed Oct. 14, 2026)</a:t>
            </a:r>
            <a:endParaRPr lang="en-US" sz="700" dirty="0"/>
          </a:p>
        </p:txBody>
      </p:sp>
      <p:sp>
        <p:nvSpPr>
          <p:cNvPr id="27" name="update-card-3"/>
          <p:cNvSpPr/>
          <p:nvPr/>
        </p:nvSpPr>
        <p:spPr>
          <a:xfrm>
            <a:off x="548640" y="3977640"/>
            <a:ext cx="3588410" cy="1920240"/>
          </a:xfrm>
          <a:prstGeom prst="rect">
            <a:avLst/>
          </a:prstGeom>
          <a:solidFill>
            <a:srgbClr val="FFFFFF"/>
          </a:solidFill>
          <a:ln w="12700">
            <a:solidFill>
              <a:srgbClr val="B4D9E3"/>
            </a:solidFill>
            <a:prstDash val="solid"/>
          </a:ln>
        </p:spPr>
      </p:sp>
      <p:sp>
        <p:nvSpPr>
          <p:cNvPr id="28" name="Shape 25"/>
          <p:cNvSpPr/>
          <p:nvPr/>
        </p:nvSpPr>
        <p:spPr>
          <a:xfrm>
            <a:off x="548640" y="3977640"/>
            <a:ext cx="3588410" cy="64008"/>
          </a:xfrm>
          <a:prstGeom prst="rect">
            <a:avLst/>
          </a:prstGeom>
          <a:solidFill>
            <a:srgbClr val="43A3A3"/>
          </a:solidFill>
          <a:ln w="12700">
            <a:solidFill>
              <a:srgbClr val="43A3A3"/>
            </a:solidFill>
            <a:prstDash val="solid"/>
          </a:ln>
        </p:spPr>
      </p:sp>
      <p:sp>
        <p:nvSpPr>
          <p:cNvPr id="29" name="Text 26"/>
          <p:cNvSpPr txBox="1"/>
          <p:nvPr/>
        </p:nvSpPr>
        <p:spPr>
          <a:xfrm>
            <a:off x="685800" y="4096512"/>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WHERE</a:t>
            </a:r>
            <a:endParaRPr lang="en-US" sz="900" dirty="0"/>
          </a:p>
        </p:txBody>
      </p:sp>
      <p:sp>
        <p:nvSpPr>
          <p:cNvPr id="30" name="Text 27"/>
          <p:cNvSpPr txBox="1"/>
          <p:nvPr/>
        </p:nvSpPr>
        <p:spPr>
          <a:xfrm>
            <a:off x="685800" y="4288536"/>
            <a:ext cx="3314090" cy="384048"/>
          </a:xfrm>
          <a:prstGeom prst="rect">
            <a:avLst/>
          </a:prstGeom>
          <a:noFill/>
          <a:ln/>
        </p:spPr>
        <p:txBody>
          <a:bodyPr wrap="square" lIns="0" tIns="0" rIns="0" bIns="0" rtlCol="0" anchor="ctr">
            <a:normAutofit/>
          </a:bodyPr>
          <a:lstStyle/>
          <a:p>
            <a:pPr indent="0" marL="0">
              <a:buNone/>
            </a:pPr>
            <a:r>
              <a:rPr lang="en-US" sz="2000" b="1" i="1" dirty="0">
                <a:solidFill>
                  <a:srgbClr val="125C60"/>
                </a:solidFill>
                <a:latin typeface="Proxima Nova" pitchFamily="34" charset="0"/>
                <a:ea typeface="Proxima Nova" pitchFamily="34" charset="-122"/>
                <a:cs typeface="Proxima Nova" pitchFamily="34" charset="-120"/>
              </a:rPr>
              <a:t>3 formats</a:t>
            </a:r>
            <a:endParaRPr lang="en-US" sz="2000" dirty="0"/>
          </a:p>
        </p:txBody>
      </p:sp>
      <p:sp>
        <p:nvSpPr>
          <p:cNvPr id="31" name="Text 28"/>
          <p:cNvSpPr txBox="1"/>
          <p:nvPr/>
        </p:nvSpPr>
        <p:spPr>
          <a:xfrm>
            <a:off x="685800" y="4672584"/>
            <a:ext cx="3314090" cy="256032"/>
          </a:xfrm>
          <a:prstGeom prst="rect">
            <a:avLst/>
          </a:prstGeom>
          <a:noFill/>
          <a:ln/>
        </p:spPr>
        <p:txBody>
          <a:bodyPr wrap="square" lIns="0" tIns="0" rIns="0" bIns="0" rtlCol="0" anchor="ctr">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Dashboard, deck and data tables</a:t>
            </a:r>
            <a:endParaRPr lang="en-US" sz="1000" dirty="0"/>
          </a:p>
        </p:txBody>
      </p:sp>
      <p:sp>
        <p:nvSpPr>
          <p:cNvPr id="32" name="Text 29"/>
          <p:cNvSpPr txBox="1"/>
          <p:nvPr/>
        </p:nvSpPr>
        <p:spPr>
          <a:xfrm>
            <a:off x="685800" y="4937760"/>
            <a:ext cx="3314090" cy="68580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Each update is published to the dashboard (oc-vibe-insights.vercel.app and the claude.ai dashboard), the downloadable PowerPoint deck and the data tables (Excel and CSV).</a:t>
            </a:r>
            <a:endParaRPr lang="en-US" sz="900" dirty="0"/>
          </a:p>
        </p:txBody>
      </p:sp>
      <p:sp>
        <p:nvSpPr>
          <p:cNvPr id="33" name="Text 30"/>
          <p:cNvSpPr txBox="1"/>
          <p:nvPr/>
        </p:nvSpPr>
        <p:spPr>
          <a:xfrm>
            <a:off x="685800" y="5623560"/>
            <a:ext cx="3314090" cy="237744"/>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Visit Anaheim BI, quarterly refresh runbook (Oct. 13, 2026; cadence confirmed Oct. 14, 2026)</a:t>
            </a:r>
            <a:endParaRPr lang="en-US" sz="700" dirty="0"/>
          </a:p>
        </p:txBody>
      </p:sp>
      <p:sp>
        <p:nvSpPr>
          <p:cNvPr id="34" name="update-card-4"/>
          <p:cNvSpPr/>
          <p:nvPr/>
        </p:nvSpPr>
        <p:spPr>
          <a:xfrm>
            <a:off x="4301642" y="3977640"/>
            <a:ext cx="3588410" cy="1920240"/>
          </a:xfrm>
          <a:prstGeom prst="rect">
            <a:avLst/>
          </a:prstGeom>
          <a:solidFill>
            <a:srgbClr val="FFFFFF"/>
          </a:solidFill>
          <a:ln w="12700">
            <a:solidFill>
              <a:srgbClr val="B4D9E3"/>
            </a:solidFill>
            <a:prstDash val="solid"/>
          </a:ln>
        </p:spPr>
      </p:sp>
      <p:sp>
        <p:nvSpPr>
          <p:cNvPr id="35" name="Shape 32"/>
          <p:cNvSpPr/>
          <p:nvPr/>
        </p:nvSpPr>
        <p:spPr>
          <a:xfrm>
            <a:off x="4301642" y="3977640"/>
            <a:ext cx="3588410" cy="64008"/>
          </a:xfrm>
          <a:prstGeom prst="rect">
            <a:avLst/>
          </a:prstGeom>
          <a:solidFill>
            <a:srgbClr val="43A3A3"/>
          </a:solidFill>
          <a:ln w="12700">
            <a:solidFill>
              <a:srgbClr val="43A3A3"/>
            </a:solidFill>
            <a:prstDash val="solid"/>
          </a:ln>
        </p:spPr>
      </p:sp>
      <p:sp>
        <p:nvSpPr>
          <p:cNvPr id="36" name="Text 33"/>
          <p:cNvSpPr txBox="1"/>
          <p:nvPr/>
        </p:nvSpPr>
        <p:spPr>
          <a:xfrm>
            <a:off x="4438802" y="4096512"/>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WHY</a:t>
            </a:r>
            <a:endParaRPr lang="en-US" sz="900" dirty="0"/>
          </a:p>
        </p:txBody>
      </p:sp>
      <p:sp>
        <p:nvSpPr>
          <p:cNvPr id="37" name="Text 34"/>
          <p:cNvSpPr txBox="1"/>
          <p:nvPr/>
        </p:nvSpPr>
        <p:spPr>
          <a:xfrm>
            <a:off x="4438802" y="4288536"/>
            <a:ext cx="3314090" cy="384048"/>
          </a:xfrm>
          <a:prstGeom prst="rect">
            <a:avLst/>
          </a:prstGeom>
          <a:noFill/>
          <a:ln/>
        </p:spPr>
        <p:txBody>
          <a:bodyPr wrap="square" lIns="0" tIns="0" rIns="0" bIns="0" rtlCol="0" anchor="ctr">
            <a:normAutofit/>
          </a:bodyPr>
          <a:lstStyle/>
          <a:p>
            <a:pPr indent="0" marL="0">
              <a:buNone/>
            </a:pPr>
            <a:r>
              <a:rPr lang="en-US" sz="2000" b="1" i="1" dirty="0">
                <a:solidFill>
                  <a:srgbClr val="125C60"/>
                </a:solidFill>
                <a:latin typeface="Proxima Nova" pitchFamily="34" charset="0"/>
                <a:ea typeface="Proxima Nova" pitchFamily="34" charset="-122"/>
                <a:cs typeface="Proxima Nova" pitchFamily="34" charset="-120"/>
              </a:rPr>
              <a:t>Every quarter</a:t>
            </a:r>
            <a:endParaRPr lang="en-US" sz="2000" dirty="0"/>
          </a:p>
        </p:txBody>
      </p:sp>
      <p:sp>
        <p:nvSpPr>
          <p:cNvPr id="38" name="Text 35"/>
          <p:cNvSpPr txBox="1"/>
          <p:nvPr/>
        </p:nvSpPr>
        <p:spPr>
          <a:xfrm>
            <a:off x="4438802" y="4672584"/>
            <a:ext cx="3314090" cy="256032"/>
          </a:xfrm>
          <a:prstGeom prst="rect">
            <a:avLst/>
          </a:prstGeom>
          <a:noFill/>
          <a:ln/>
        </p:spPr>
        <p:txBody>
          <a:bodyPr wrap="square" lIns="0" tIns="0" rIns="0" bIns="0" rtlCol="0" anchor="ctr">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Tourism Economics forecast cycle</a:t>
            </a:r>
            <a:endParaRPr lang="en-US" sz="1000" dirty="0"/>
          </a:p>
        </p:txBody>
      </p:sp>
      <p:sp>
        <p:nvSpPr>
          <p:cNvPr id="39" name="Text 36"/>
          <p:cNvSpPr txBox="1"/>
          <p:nvPr/>
        </p:nvSpPr>
        <p:spPr>
          <a:xfrm>
            <a:off x="4438802" y="4937760"/>
            <a:ext cx="3314090" cy="68580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Tourism Economics data is the core of this report (Anaheim's visitor volume, spending and forecast), and its Anaheim Travel Forecast arrives each quarter. STR, CoStar and Visa are available weekly or monthly and Azira monthly; they are pulled at the same time, so every figure in an edition shares one as-of date.</a:t>
            </a:r>
            <a:endParaRPr lang="en-US" sz="900" dirty="0"/>
          </a:p>
        </p:txBody>
      </p:sp>
      <p:sp>
        <p:nvSpPr>
          <p:cNvPr id="40" name="Text 37"/>
          <p:cNvSpPr txBox="1"/>
          <p:nvPr/>
        </p:nvSpPr>
        <p:spPr>
          <a:xfrm>
            <a:off x="4438802" y="5623560"/>
            <a:ext cx="3314090" cy="237744"/>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Tourism Economics, Anaheim Travel Forecast (quarterly); Visit Anaheim BI, quarterly refresh runbook (Oct. 13, 2026; cadence confirmed Oct. 14, 2026)</a:t>
            </a:r>
            <a:endParaRPr lang="en-US" sz="700" dirty="0"/>
          </a:p>
        </p:txBody>
      </p:sp>
      <p:sp>
        <p:nvSpPr>
          <p:cNvPr id="41" name="update-card-5"/>
          <p:cNvSpPr/>
          <p:nvPr/>
        </p:nvSpPr>
        <p:spPr>
          <a:xfrm>
            <a:off x="8054645" y="3977640"/>
            <a:ext cx="3588410" cy="1920240"/>
          </a:xfrm>
          <a:prstGeom prst="rect">
            <a:avLst/>
          </a:prstGeom>
          <a:solidFill>
            <a:srgbClr val="FFFFFF"/>
          </a:solidFill>
          <a:ln w="12700">
            <a:solidFill>
              <a:srgbClr val="B4D9E3"/>
            </a:solidFill>
            <a:prstDash val="solid"/>
          </a:ln>
        </p:spPr>
      </p:sp>
      <p:sp>
        <p:nvSpPr>
          <p:cNvPr id="42" name="Shape 39"/>
          <p:cNvSpPr/>
          <p:nvPr/>
        </p:nvSpPr>
        <p:spPr>
          <a:xfrm>
            <a:off x="8054645" y="3977640"/>
            <a:ext cx="3588410" cy="64008"/>
          </a:xfrm>
          <a:prstGeom prst="rect">
            <a:avLst/>
          </a:prstGeom>
          <a:solidFill>
            <a:srgbClr val="43A3A3"/>
          </a:solidFill>
          <a:ln w="12700">
            <a:solidFill>
              <a:srgbClr val="43A3A3"/>
            </a:solidFill>
            <a:prstDash val="solid"/>
          </a:ln>
        </p:spPr>
      </p:sp>
      <p:sp>
        <p:nvSpPr>
          <p:cNvPr id="43" name="Text 40"/>
          <p:cNvSpPr txBox="1"/>
          <p:nvPr/>
        </p:nvSpPr>
        <p:spPr>
          <a:xfrm>
            <a:off x="8191805" y="4096512"/>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HOW</a:t>
            </a:r>
            <a:endParaRPr lang="en-US" sz="900" dirty="0"/>
          </a:p>
        </p:txBody>
      </p:sp>
      <p:sp>
        <p:nvSpPr>
          <p:cNvPr id="44" name="Text 41"/>
          <p:cNvSpPr txBox="1"/>
          <p:nvPr/>
        </p:nvSpPr>
        <p:spPr>
          <a:xfrm>
            <a:off x="8191805" y="4288536"/>
            <a:ext cx="3314090" cy="384048"/>
          </a:xfrm>
          <a:prstGeom prst="rect">
            <a:avLst/>
          </a:prstGeom>
          <a:noFill/>
          <a:ln/>
        </p:spPr>
        <p:txBody>
          <a:bodyPr wrap="square" lIns="0" tIns="0" rIns="0" bIns="0" rtlCol="0" anchor="ctr">
            <a:normAutofit/>
          </a:bodyPr>
          <a:lstStyle/>
          <a:p>
            <a:pPr indent="0" marL="0">
              <a:buNone/>
            </a:pPr>
            <a:r>
              <a:rPr lang="en-US" sz="2000" b="1" i="1" dirty="0">
                <a:solidFill>
                  <a:srgbClr val="125C60"/>
                </a:solidFill>
                <a:latin typeface="Proxima Nova" pitchFamily="34" charset="0"/>
                <a:ea typeface="Proxima Nova" pitchFamily="34" charset="-122"/>
                <a:cs typeface="Proxima Nova" pitchFamily="34" charset="-120"/>
              </a:rPr>
              <a:t>4 steps</a:t>
            </a:r>
            <a:endParaRPr lang="en-US" sz="2000" dirty="0"/>
          </a:p>
        </p:txBody>
      </p:sp>
      <p:sp>
        <p:nvSpPr>
          <p:cNvPr id="45" name="Text 42"/>
          <p:cNvSpPr txBox="1"/>
          <p:nvPr/>
        </p:nvSpPr>
        <p:spPr>
          <a:xfrm>
            <a:off x="8191805" y="4672584"/>
            <a:ext cx="3314090" cy="256032"/>
          </a:xfrm>
          <a:prstGeom prst="rect">
            <a:avLst/>
          </a:prstGeom>
          <a:noFill/>
          <a:ln/>
        </p:spPr>
        <p:txBody>
          <a:bodyPr wrap="square" lIns="0" tIns="0" rIns="0" bIns="0" rtlCol="0" anchor="ctr">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Find, update, check, publish</a:t>
            </a:r>
            <a:endParaRPr lang="en-US" sz="1000" dirty="0"/>
          </a:p>
        </p:txBody>
      </p:sp>
      <p:sp>
        <p:nvSpPr>
          <p:cNvPr id="46" name="Text 43"/>
          <p:cNvSpPr txBox="1"/>
          <p:nvPr/>
        </p:nvSpPr>
        <p:spPr>
          <a:xfrm>
            <a:off x="8191805" y="4937760"/>
            <a:ext cx="3314090" cy="68580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Find the newest file from each source; update only changed figures and the sentences that cite them; check every number against its table and source; republish the dashboard, deck and data tables with the new dates.</a:t>
            </a:r>
            <a:endParaRPr lang="en-US" sz="900" dirty="0"/>
          </a:p>
        </p:txBody>
      </p:sp>
      <p:sp>
        <p:nvSpPr>
          <p:cNvPr id="47" name="Text 44"/>
          <p:cNvSpPr txBox="1"/>
          <p:nvPr/>
        </p:nvSpPr>
        <p:spPr>
          <a:xfrm>
            <a:off x="8191805" y="5623560"/>
            <a:ext cx="3314090" cy="237744"/>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Visit Anaheim BI, quarterly refresh runbook (Oct. 13, 2026; cadence confirmed Oct. 14, 2026)</a:t>
            </a:r>
            <a:endParaRPr lang="en-US" sz="700" dirty="0"/>
          </a:p>
        </p:txBody>
      </p:sp>
      <p:sp>
        <p:nvSpPr>
          <p:cNvPr id="48"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BI, quarterly refresh runbook (Oct. 13, 2026; cadence confirmed Oct. 14, 2026). Contact: bi@visitanaheim.org.</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Questions answered: the four core questions</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Anaheim, Orange County and U.S. · each answer has a summary, a visual, the method and the files to read more</a:t>
            </a:r>
            <a:endParaRPr lang="en-US" sz="1200" dirty="0"/>
          </a:p>
        </p:txBody>
      </p:sp>
      <p:sp>
        <p:nvSpPr>
          <p:cNvPr id="4" name="kpi-card-0"/>
          <p:cNvSpPr/>
          <p:nvPr/>
        </p:nvSpPr>
        <p:spPr>
          <a:xfrm>
            <a:off x="548640" y="1463040"/>
            <a:ext cx="2650160" cy="2194560"/>
          </a:xfrm>
          <a:prstGeom prst="roundRect">
            <a:avLst>
              <a:gd name="adj" fmla="val 3333"/>
            </a:avLst>
          </a:prstGeom>
          <a:solidFill>
            <a:srgbClr val="FFFFFF"/>
          </a:solidFill>
          <a:ln w="12700">
            <a:solidFill>
              <a:srgbClr val="B4D9E3"/>
            </a:solidFill>
            <a:prstDash val="solid"/>
          </a:ln>
        </p:spPr>
      </p:sp>
      <p:sp>
        <p:nvSpPr>
          <p:cNvPr id="5" name="Text 3"/>
          <p:cNvSpPr txBox="1"/>
          <p:nvPr/>
        </p:nvSpPr>
        <p:spPr>
          <a:xfrm>
            <a:off x="713232" y="1591056"/>
            <a:ext cx="232097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VISITOR SPENDING</a:t>
            </a:r>
            <a:endParaRPr lang="en-US" sz="900" dirty="0"/>
          </a:p>
        </p:txBody>
      </p:sp>
      <p:sp>
        <p:nvSpPr>
          <p:cNvPr id="6" name="Text 4"/>
          <p:cNvSpPr txBox="1"/>
          <p:nvPr/>
        </p:nvSpPr>
        <p:spPr>
          <a:xfrm>
            <a:off x="713232" y="1810512"/>
            <a:ext cx="232097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per Anaheim visitor, 2025</a:t>
            </a:r>
            <a:endParaRPr lang="en-US" sz="1050" dirty="0"/>
          </a:p>
        </p:txBody>
      </p:sp>
      <p:sp>
        <p:nvSpPr>
          <p:cNvPr id="7" name="Text 5"/>
          <p:cNvSpPr txBox="1"/>
          <p:nvPr/>
        </p:nvSpPr>
        <p:spPr>
          <a:xfrm>
            <a:off x="713232" y="2084832"/>
            <a:ext cx="2320976" cy="548640"/>
          </a:xfrm>
          <a:prstGeom prst="rect">
            <a:avLst/>
          </a:prstGeom>
          <a:noFill/>
          <a:ln/>
        </p:spPr>
        <p:txBody>
          <a:bodyPr wrap="square" lIns="0" tIns="0" rIns="0" bIns="0" rtlCol="0" anchor="ctr"/>
          <a:lstStyle/>
          <a:p>
            <a:pPr indent="0" marL="0">
              <a:buNone/>
            </a:pPr>
            <a:r>
              <a:rPr lang="en-US" sz="2600" b="1" dirty="0">
                <a:solidFill>
                  <a:srgbClr val="125C60"/>
                </a:solidFill>
                <a:latin typeface="Proxima Nova" pitchFamily="34" charset="0"/>
                <a:ea typeface="Proxima Nova" pitchFamily="34" charset="-122"/>
                <a:cs typeface="Proxima Nova" pitchFamily="34" charset="-120"/>
              </a:rPr>
              <a:t>$258</a:t>
            </a:r>
            <a:endParaRPr lang="en-US" sz="2600" dirty="0"/>
          </a:p>
        </p:txBody>
      </p:sp>
      <p:sp>
        <p:nvSpPr>
          <p:cNvPr id="8" name="Text 6"/>
          <p:cNvSpPr txBox="1"/>
          <p:nvPr/>
        </p:nvSpPr>
        <p:spPr>
          <a:xfrm>
            <a:off x="713232" y="2633472"/>
            <a:ext cx="2320976" cy="93268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What does the average visitor spend?</a:t>
            </a:r>
            <a:endParaRPr lang="en-US" sz="1000" dirty="0"/>
          </a:p>
        </p:txBody>
      </p:sp>
      <p:sp>
        <p:nvSpPr>
          <p:cNvPr id="9" name="kpi-card-1"/>
          <p:cNvSpPr/>
          <p:nvPr/>
        </p:nvSpPr>
        <p:spPr>
          <a:xfrm>
            <a:off x="3363392" y="1463040"/>
            <a:ext cx="2650160" cy="2194560"/>
          </a:xfrm>
          <a:prstGeom prst="roundRect">
            <a:avLst>
              <a:gd name="adj" fmla="val 3333"/>
            </a:avLst>
          </a:prstGeom>
          <a:solidFill>
            <a:srgbClr val="FFFFFF"/>
          </a:solidFill>
          <a:ln w="12700">
            <a:solidFill>
              <a:srgbClr val="B4D9E3"/>
            </a:solidFill>
            <a:prstDash val="solid"/>
          </a:ln>
        </p:spPr>
      </p:sp>
      <p:sp>
        <p:nvSpPr>
          <p:cNvPr id="10" name="Text 8"/>
          <p:cNvSpPr txBox="1"/>
          <p:nvPr/>
        </p:nvSpPr>
        <p:spPr>
          <a:xfrm>
            <a:off x="3527984" y="1591056"/>
            <a:ext cx="232097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ONE MORE NIGHT</a:t>
            </a:r>
            <a:endParaRPr lang="en-US" sz="900" dirty="0"/>
          </a:p>
        </p:txBody>
      </p:sp>
      <p:sp>
        <p:nvSpPr>
          <p:cNvPr id="11" name="Text 9"/>
          <p:cNvSpPr txBox="1"/>
          <p:nvPr/>
        </p:nvSpPr>
        <p:spPr>
          <a:xfrm>
            <a:off x="3527984" y="1810512"/>
            <a:ext cx="232097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one more night of Anaheim lodging spending</a:t>
            </a:r>
            <a:endParaRPr lang="en-US" sz="1050" dirty="0"/>
          </a:p>
        </p:txBody>
      </p:sp>
      <p:sp>
        <p:nvSpPr>
          <p:cNvPr id="12" name="Text 10"/>
          <p:cNvSpPr txBox="1"/>
          <p:nvPr/>
        </p:nvSpPr>
        <p:spPr>
          <a:xfrm>
            <a:off x="3527984" y="2084832"/>
            <a:ext cx="2320976" cy="548640"/>
          </a:xfrm>
          <a:prstGeom prst="rect">
            <a:avLst/>
          </a:prstGeom>
          <a:noFill/>
          <a:ln/>
        </p:spPr>
        <p:txBody>
          <a:bodyPr wrap="square" lIns="0" tIns="0" rIns="0" bIns="0" rtlCol="0" anchor="ctr"/>
          <a:lstStyle/>
          <a:p>
            <a:pPr indent="0" marL="0">
              <a:buNone/>
            </a:pPr>
            <a:r>
              <a:rPr lang="en-US" sz="2600" b="1" dirty="0">
                <a:solidFill>
                  <a:srgbClr val="125C60"/>
                </a:solidFill>
                <a:latin typeface="Proxima Nova" pitchFamily="34" charset="0"/>
                <a:ea typeface="Proxima Nova" pitchFamily="34" charset="-122"/>
                <a:cs typeface="Proxima Nova" pitchFamily="34" charset="-120"/>
              </a:rPr>
              <a:t>$794M</a:t>
            </a:r>
            <a:endParaRPr lang="en-US" sz="2600" dirty="0"/>
          </a:p>
        </p:txBody>
      </p:sp>
      <p:sp>
        <p:nvSpPr>
          <p:cNvPr id="13" name="Text 11"/>
          <p:cNvSpPr txBox="1"/>
          <p:nvPr/>
        </p:nvSpPr>
        <p:spPr>
          <a:xfrm>
            <a:off x="3527984" y="2633472"/>
            <a:ext cx="2320976" cy="93268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What is one more night per visitor worth?</a:t>
            </a:r>
            <a:endParaRPr lang="en-US" sz="1000" dirty="0"/>
          </a:p>
        </p:txBody>
      </p:sp>
      <p:sp>
        <p:nvSpPr>
          <p:cNvPr id="14" name="kpi-card-2"/>
          <p:cNvSpPr/>
          <p:nvPr/>
        </p:nvSpPr>
        <p:spPr>
          <a:xfrm>
            <a:off x="6178144" y="1463040"/>
            <a:ext cx="2650160" cy="2194560"/>
          </a:xfrm>
          <a:prstGeom prst="roundRect">
            <a:avLst>
              <a:gd name="adj" fmla="val 3333"/>
            </a:avLst>
          </a:prstGeom>
          <a:solidFill>
            <a:srgbClr val="FFFFFF"/>
          </a:solidFill>
          <a:ln w="12700">
            <a:solidFill>
              <a:srgbClr val="B4D9E3"/>
            </a:solidFill>
            <a:prstDash val="solid"/>
          </a:ln>
        </p:spPr>
      </p:sp>
      <p:sp>
        <p:nvSpPr>
          <p:cNvPr id="15" name="Text 13"/>
          <p:cNvSpPr txBox="1"/>
          <p:nvPr/>
        </p:nvSpPr>
        <p:spPr>
          <a:xfrm>
            <a:off x="6342736" y="1591056"/>
            <a:ext cx="232097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TRANSPORTATION</a:t>
            </a:r>
            <a:endParaRPr lang="en-US" sz="900" dirty="0"/>
          </a:p>
        </p:txBody>
      </p:sp>
      <p:sp>
        <p:nvSpPr>
          <p:cNvPr id="16" name="Text 14"/>
          <p:cNvSpPr txBox="1"/>
          <p:nvPr/>
        </p:nvSpPr>
        <p:spPr>
          <a:xfrm>
            <a:off x="6342736" y="1810512"/>
            <a:ext cx="232097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Anaheim transportation and gas station jobs supported by visitors, 2025</a:t>
            </a:r>
            <a:endParaRPr lang="en-US" sz="1050" dirty="0"/>
          </a:p>
        </p:txBody>
      </p:sp>
      <p:sp>
        <p:nvSpPr>
          <p:cNvPr id="17" name="Text 15"/>
          <p:cNvSpPr txBox="1"/>
          <p:nvPr/>
        </p:nvSpPr>
        <p:spPr>
          <a:xfrm>
            <a:off x="6342736" y="2084832"/>
            <a:ext cx="2320976" cy="548640"/>
          </a:xfrm>
          <a:prstGeom prst="rect">
            <a:avLst/>
          </a:prstGeom>
          <a:noFill/>
          <a:ln/>
        </p:spPr>
        <p:txBody>
          <a:bodyPr wrap="square" lIns="0" tIns="0" rIns="0" bIns="0" rtlCol="0" anchor="ctr"/>
          <a:lstStyle/>
          <a:p>
            <a:pPr indent="0" marL="0">
              <a:buNone/>
            </a:pPr>
            <a:r>
              <a:rPr lang="en-US" sz="2600" b="1" dirty="0">
                <a:solidFill>
                  <a:srgbClr val="125C60"/>
                </a:solidFill>
                <a:latin typeface="Proxima Nova" pitchFamily="34" charset="0"/>
                <a:ea typeface="Proxima Nova" pitchFamily="34" charset="-122"/>
                <a:cs typeface="Proxima Nova" pitchFamily="34" charset="-120"/>
              </a:rPr>
              <a:t>2,080</a:t>
            </a:r>
            <a:endParaRPr lang="en-US" sz="2600" dirty="0"/>
          </a:p>
        </p:txBody>
      </p:sp>
      <p:sp>
        <p:nvSpPr>
          <p:cNvPr id="18" name="Text 16"/>
          <p:cNvSpPr txBox="1"/>
          <p:nvPr/>
        </p:nvSpPr>
        <p:spPr>
          <a:xfrm>
            <a:off x="6342736" y="2633472"/>
            <a:ext cx="2320976" cy="93268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What is the economic impact of visitor transportation?</a:t>
            </a:r>
            <a:endParaRPr lang="en-US" sz="1000" dirty="0"/>
          </a:p>
        </p:txBody>
      </p:sp>
      <p:sp>
        <p:nvSpPr>
          <p:cNvPr id="19" name="kpi-card-3"/>
          <p:cNvSpPr/>
          <p:nvPr/>
        </p:nvSpPr>
        <p:spPr>
          <a:xfrm>
            <a:off x="8992895" y="1463040"/>
            <a:ext cx="2650160" cy="2194560"/>
          </a:xfrm>
          <a:prstGeom prst="roundRect">
            <a:avLst>
              <a:gd name="adj" fmla="val 3333"/>
            </a:avLst>
          </a:prstGeom>
          <a:solidFill>
            <a:srgbClr val="FFFFFF"/>
          </a:solidFill>
          <a:ln w="12700">
            <a:solidFill>
              <a:srgbClr val="B4D9E3"/>
            </a:solidFill>
            <a:prstDash val="solid"/>
          </a:ln>
        </p:spPr>
      </p:sp>
      <p:sp>
        <p:nvSpPr>
          <p:cNvPr id="20" name="Text 18"/>
          <p:cNvSpPr txBox="1"/>
          <p:nvPr/>
        </p:nvSpPr>
        <p:spPr>
          <a:xfrm>
            <a:off x="9157487" y="1591056"/>
            <a:ext cx="232097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DISTRICT 5 AND WHO VISITS</a:t>
            </a:r>
            <a:endParaRPr lang="en-US" sz="900" dirty="0"/>
          </a:p>
        </p:txBody>
      </p:sp>
      <p:sp>
        <p:nvSpPr>
          <p:cNvPr id="21" name="Text 19"/>
          <p:cNvSpPr txBox="1"/>
          <p:nvPr/>
        </p:nvSpPr>
        <p:spPr>
          <a:xfrm>
            <a:off x="9157487" y="1810512"/>
            <a:ext cx="232097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of District 5 visitors stay overnight</a:t>
            </a:r>
            <a:endParaRPr lang="en-US" sz="1050" dirty="0"/>
          </a:p>
        </p:txBody>
      </p:sp>
      <p:sp>
        <p:nvSpPr>
          <p:cNvPr id="22" name="Text 20"/>
          <p:cNvSpPr txBox="1"/>
          <p:nvPr/>
        </p:nvSpPr>
        <p:spPr>
          <a:xfrm>
            <a:off x="9157487" y="2084832"/>
            <a:ext cx="2320976" cy="548640"/>
          </a:xfrm>
          <a:prstGeom prst="rect">
            <a:avLst/>
          </a:prstGeom>
          <a:noFill/>
          <a:ln/>
        </p:spPr>
        <p:txBody>
          <a:bodyPr wrap="square" lIns="0" tIns="0" rIns="0" bIns="0" rtlCol="0" anchor="ctr"/>
          <a:lstStyle/>
          <a:p>
            <a:pPr indent="0" marL="0">
              <a:buNone/>
            </a:pPr>
            <a:r>
              <a:rPr lang="en-US" sz="2600" b="1" dirty="0">
                <a:solidFill>
                  <a:srgbClr val="125C60"/>
                </a:solidFill>
                <a:latin typeface="Proxima Nova" pitchFamily="34" charset="0"/>
                <a:ea typeface="Proxima Nova" pitchFamily="34" charset="-122"/>
                <a:cs typeface="Proxima Nova" pitchFamily="34" charset="-120"/>
              </a:rPr>
              <a:t>85.8%</a:t>
            </a:r>
            <a:endParaRPr lang="en-US" sz="2600" dirty="0"/>
          </a:p>
        </p:txBody>
      </p:sp>
      <p:sp>
        <p:nvSpPr>
          <p:cNvPr id="23" name="Text 21"/>
          <p:cNvSpPr txBox="1"/>
          <p:nvPr/>
        </p:nvSpPr>
        <p:spPr>
          <a:xfrm>
            <a:off x="9157487" y="2633472"/>
            <a:ext cx="2320976" cy="93268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Who visits District 5, where OC Vibe is being built?</a:t>
            </a:r>
            <a:endParaRPr lang="en-US" sz="10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3794760"/>
          <a:ext cx="11094415" cy="914400"/>
        </p:xfrm>
        <a:graphic>
          <a:graphicData uri="http://schemas.openxmlformats.org/drawingml/2006/table">
            <a:tbl>
              <a:tblPr/>
              <a:tblGrid>
                <a:gridCol w="3108960"/>
                <a:gridCol w="7985455"/>
              </a:tblGrid>
              <a:tr h="457200">
                <a:tc>
                  <a:txBody>
                    <a:bodyPr/>
                    <a:lstStyle/>
                    <a:p>
                      <a:pPr algn="l" indent="0" marL="0">
                        <a:buNone/>
                      </a:pPr>
                      <a:r>
                        <a:rPr lang="en-US" sz="900" b="1" dirty="0">
                          <a:solidFill>
                            <a:srgbClr val="FFFFFF"/>
                          </a:solidFill>
                          <a:latin typeface="Proxima Nova" pitchFamily="34" charset="0"/>
                          <a:ea typeface="Proxima Nova" pitchFamily="34" charset="-122"/>
                          <a:cs typeface="Proxima Nova" pitchFamily="34" charset="-120"/>
                        </a:rPr>
                        <a:t>Question</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00" b="1" dirty="0">
                          <a:solidFill>
                            <a:srgbClr val="FFFFFF"/>
                          </a:solidFill>
                          <a:latin typeface="Proxima Nova" pitchFamily="34" charset="0"/>
                          <a:ea typeface="Proxima Nova" pitchFamily="34" charset="-122"/>
                          <a:cs typeface="Proxima Nova" pitchFamily="34" charset="-120"/>
                        </a:rPr>
                        <a:t>Short answer</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57200">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What does the average visitor spend?</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Each Anaheim visitor spent about </a:t>
                      </a:r>
                      <a:pPr algn="l" indent="0" marL="0">
                        <a:buNone/>
                      </a:pPr>
                      <a:r>
                        <a:rPr lang="en-US" sz="900" b="1" dirty="0">
                          <a:solidFill>
                            <a:srgbClr val="125C60"/>
                          </a:solidFill>
                          <a:latin typeface="Proxima Nova" pitchFamily="34" charset="0"/>
                          <a:ea typeface="Proxima Nova" pitchFamily="34" charset="-122"/>
                          <a:cs typeface="Proxima Nova" pitchFamily="34" charset="-120"/>
                        </a:rPr>
                        <a:t>$258</a:t>
                      </a:r>
                      <a:pPr algn="l" indent="0" marL="0">
                        <a:buNone/>
                      </a:pPr>
                      <a:r>
                        <a:rPr lang="en-US" sz="900" dirty="0">
                          <a:solidFill>
                            <a:srgbClr val="231F20"/>
                          </a:solidFill>
                          <a:latin typeface="Proxima Nova" pitchFamily="34" charset="0"/>
                          <a:ea typeface="Proxima Nova" pitchFamily="34" charset="-122"/>
                          <a:cs typeface="Proxima Nova" pitchFamily="34" charset="-120"/>
                        </a:rPr>
                        <a:t> in 2025. Countywide, the average was </a:t>
                      </a:r>
                      <a:pPr algn="l" indent="0" marL="0">
                        <a:buNone/>
                      </a:pPr>
                      <a:r>
                        <a:rPr lang="en-US" sz="900" b="1" dirty="0">
                          <a:solidFill>
                            <a:srgbClr val="125C60"/>
                          </a:solidFill>
                          <a:latin typeface="Proxima Nova" pitchFamily="34" charset="0"/>
                          <a:ea typeface="Proxima Nova" pitchFamily="34" charset="-122"/>
                          <a:cs typeface="Proxima Nova" pitchFamily="34" charset="-120"/>
                        </a:rPr>
                        <a:t>$350</a:t>
                      </a:r>
                      <a:pPr algn="l" indent="0" marL="0">
                        <a:buNone/>
                      </a:pPr>
                      <a:r>
                        <a:rPr lang="en-US" sz="900" dirty="0">
                          <a:solidFill>
                            <a:srgbClr val="231F20"/>
                          </a:solidFill>
                          <a:latin typeface="Proxima Nova" pitchFamily="34" charset="0"/>
                          <a:ea typeface="Proxima Nova" pitchFamily="34" charset="-122"/>
                          <a:cs typeface="Proxima Nova" pitchFamily="34" charset="-120"/>
                        </a:rPr>
                        <a:t> per visitor, and across the U.S. travel spending came to about </a:t>
                      </a:r>
                      <a:pPr algn="l" indent="0" marL="0">
                        <a:buNone/>
                      </a:pPr>
                      <a:r>
                        <a:rPr lang="en-US" sz="900" b="1" dirty="0">
                          <a:solidFill>
                            <a:srgbClr val="125C60"/>
                          </a:solidFill>
                          <a:latin typeface="Proxima Nova" pitchFamily="34" charset="0"/>
                          <a:ea typeface="Proxima Nova" pitchFamily="34" charset="-122"/>
                          <a:cs typeface="Proxima Nova" pitchFamily="34" charset="-120"/>
                        </a:rPr>
                        <a:t>$553</a:t>
                      </a:r>
                      <a:pPr algn="l" indent="0" marL="0">
                        <a:buNone/>
                      </a:pPr>
                      <a:r>
                        <a:rPr lang="en-US" sz="900" dirty="0">
                          <a:solidFill>
                            <a:srgbClr val="231F20"/>
                          </a:solidFill>
                          <a:latin typeface="Proxima Nova" pitchFamily="34" charset="0"/>
                          <a:ea typeface="Proxima Nova" pitchFamily="34" charset="-122"/>
                          <a:cs typeface="Proxima Nova" pitchFamily="34" charset="-120"/>
                        </a:rPr>
                        <a:t> per trip.</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What is one more night per visitor worth?</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If every Anaheim visitor stayed one more night, lodging spending would rise about </a:t>
                      </a:r>
                      <a:pPr algn="l" indent="0" marL="0">
                        <a:buNone/>
                      </a:pPr>
                      <a:r>
                        <a:rPr lang="en-US" sz="900" b="1" dirty="0">
                          <a:solidFill>
                            <a:srgbClr val="125C60"/>
                          </a:solidFill>
                          <a:latin typeface="Proxima Nova" pitchFamily="34" charset="0"/>
                          <a:ea typeface="Proxima Nova" pitchFamily="34" charset="-122"/>
                          <a:cs typeface="Proxima Nova" pitchFamily="34" charset="-120"/>
                        </a:rPr>
                        <a:t>$794M</a:t>
                      </a:r>
                      <a:pPr algn="l" indent="0" marL="0">
                        <a:buNone/>
                      </a:pPr>
                      <a:r>
                        <a:rPr lang="en-US" sz="900" dirty="0">
                          <a:solidFill>
                            <a:srgbClr val="231F20"/>
                          </a:solidFill>
                          <a:latin typeface="Proxima Nova" pitchFamily="34" charset="0"/>
                          <a:ea typeface="Proxima Nova" pitchFamily="34" charset="-122"/>
                          <a:cs typeface="Proxima Nova" pitchFamily="34" charset="-120"/>
                        </a:rPr>
                        <a:t>. Counting all spending, one more day for overnight visitors is worth about </a:t>
                      </a:r>
                      <a:pPr algn="l" indent="0" marL="0">
                        <a:buNone/>
                      </a:pPr>
                      <a:r>
                        <a:rPr lang="en-US" sz="900" b="1" dirty="0">
                          <a:solidFill>
                            <a:srgbClr val="125C60"/>
                          </a:solidFill>
                          <a:latin typeface="Proxima Nova" pitchFamily="34" charset="0"/>
                          <a:ea typeface="Proxima Nova" pitchFamily="34" charset="-122"/>
                          <a:cs typeface="Proxima Nova" pitchFamily="34" charset="-120"/>
                        </a:rPr>
                        <a:t>$1.02B</a:t>
                      </a:r>
                      <a:pPr algn="l" indent="0" marL="0">
                        <a:buNone/>
                      </a:pPr>
                      <a:r>
                        <a:rPr lang="en-US" sz="900" dirty="0">
                          <a:solidFill>
                            <a:srgbClr val="231F20"/>
                          </a:solidFill>
                          <a:latin typeface="Proxima Nova" pitchFamily="34" charset="0"/>
                          <a:ea typeface="Proxima Nova" pitchFamily="34" charset="-122"/>
                          <a:cs typeface="Proxima Nova" pitchFamily="34" charset="-120"/>
                        </a:rPr>
                        <a:t>, and one more day for every visitor about </a:t>
                      </a:r>
                      <a:pPr algn="l" indent="0" marL="0">
                        <a:buNone/>
                      </a:pPr>
                      <a:r>
                        <a:rPr lang="en-US" sz="900" b="1" dirty="0">
                          <a:solidFill>
                            <a:srgbClr val="125C60"/>
                          </a:solidFill>
                          <a:latin typeface="Proxima Nova" pitchFamily="34" charset="0"/>
                          <a:ea typeface="Proxima Nova" pitchFamily="34" charset="-122"/>
                          <a:cs typeface="Proxima Nova" pitchFamily="34" charset="-120"/>
                        </a:rPr>
                        <a:t>$3.15B</a:t>
                      </a:r>
                      <a:pPr algn="l" indent="0" marL="0">
                        <a:buNone/>
                      </a:pPr>
                      <a:r>
                        <a:rPr lang="en-US" sz="900" dirty="0">
                          <a:solidFill>
                            <a:srgbClr val="231F20"/>
                          </a:solidFill>
                          <a:latin typeface="Proxima Nova" pitchFamily="34" charset="0"/>
                          <a:ea typeface="Proxima Nova" pitchFamily="34" charset="-122"/>
                          <a:cs typeface="Proxima Nova" pitchFamily="34" charset="-120"/>
                        </a:rPr>
                        <a:t> (the study's upper bound).</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What is the economic impact of visitor transportation?</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Visitors spent </a:t>
                      </a:r>
                      <a:pPr algn="l" indent="0" marL="0">
                        <a:buNone/>
                      </a:pPr>
                      <a:r>
                        <a:rPr lang="en-US" sz="900" b="1" dirty="0">
                          <a:solidFill>
                            <a:srgbClr val="125C60"/>
                          </a:solidFill>
                          <a:latin typeface="Proxima Nova" pitchFamily="34" charset="0"/>
                          <a:ea typeface="Proxima Nova" pitchFamily="34" charset="-122"/>
                          <a:cs typeface="Proxima Nova" pitchFamily="34" charset="-120"/>
                        </a:rPr>
                        <a:t>$224M</a:t>
                      </a:r>
                      <a:pPr algn="l" indent="0" marL="0">
                        <a:buNone/>
                      </a:pPr>
                      <a:r>
                        <a:rPr lang="en-US" sz="900" dirty="0">
                          <a:solidFill>
                            <a:srgbClr val="231F20"/>
                          </a:solidFill>
                          <a:latin typeface="Proxima Nova" pitchFamily="34" charset="0"/>
                          <a:ea typeface="Proxima Nova" pitchFamily="34" charset="-122"/>
                          <a:cs typeface="Proxima Nova" pitchFamily="34" charset="-120"/>
                        </a:rPr>
                        <a:t> on transportation in Anaheim in 2025 (</a:t>
                      </a:r>
                      <a:pPr algn="l" indent="0" marL="0">
                        <a:buNone/>
                      </a:pPr>
                      <a:r>
                        <a:rPr lang="en-US" sz="900" b="1" dirty="0">
                          <a:solidFill>
                            <a:srgbClr val="125C60"/>
                          </a:solidFill>
                          <a:latin typeface="Proxima Nova" pitchFamily="34" charset="0"/>
                          <a:ea typeface="Proxima Nova" pitchFamily="34" charset="-122"/>
                          <a:cs typeface="Proxima Nova" pitchFamily="34" charset="-120"/>
                        </a:rPr>
                        <a:t>3.3%</a:t>
                      </a:r>
                      <a:pPr algn="l" indent="0" marL="0">
                        <a:buNone/>
                      </a:pPr>
                      <a:r>
                        <a:rPr lang="en-US" sz="900" dirty="0">
                          <a:solidFill>
                            <a:srgbClr val="231F20"/>
                          </a:solidFill>
                          <a:latin typeface="Proxima Nova" pitchFamily="34" charset="0"/>
                          <a:ea typeface="Proxima Nova" pitchFamily="34" charset="-122"/>
                          <a:cs typeface="Proxima Nova" pitchFamily="34" charset="-120"/>
                        </a:rPr>
                        <a:t> of spending), supporting </a:t>
                      </a:r>
                      <a:pPr algn="l" indent="0" marL="0">
                        <a:buNone/>
                      </a:pPr>
                      <a:r>
                        <a:rPr lang="en-US" sz="900" b="1" dirty="0">
                          <a:solidFill>
                            <a:srgbClr val="125C60"/>
                          </a:solidFill>
                          <a:latin typeface="Proxima Nova" pitchFamily="34" charset="0"/>
                          <a:ea typeface="Proxima Nova" pitchFamily="34" charset="-122"/>
                          <a:cs typeface="Proxima Nova" pitchFamily="34" charset="-120"/>
                        </a:rPr>
                        <a:t>2,080 jobs</a:t>
                      </a:r>
                      <a:pPr algn="l" indent="0" marL="0">
                        <a:buNone/>
                      </a:pPr>
                      <a:r>
                        <a:rPr lang="en-US" sz="900" dirty="0">
                          <a:solidFill>
                            <a:srgbClr val="231F20"/>
                          </a:solidFill>
                          <a:latin typeface="Proxima Nova" pitchFamily="34" charset="0"/>
                          <a:ea typeface="Proxima Nova" pitchFamily="34" charset="-122"/>
                          <a:cs typeface="Proxima Nova" pitchFamily="34" charset="-120"/>
                        </a:rPr>
                        <a:t> in transportation and gas stations. Countywide: </a:t>
                      </a:r>
                      <a:pPr algn="l" indent="0" marL="0">
                        <a:buNone/>
                      </a:pPr>
                      <a:r>
                        <a:rPr lang="en-US" sz="900" b="1" dirty="0">
                          <a:solidFill>
                            <a:srgbClr val="125C60"/>
                          </a:solidFill>
                          <a:latin typeface="Proxima Nova" pitchFamily="34" charset="0"/>
                          <a:ea typeface="Proxima Nova" pitchFamily="34" charset="-122"/>
                          <a:cs typeface="Proxima Nova" pitchFamily="34" charset="-120"/>
                        </a:rPr>
                        <a:t>$707M</a:t>
                      </a:r>
                      <a:pPr algn="l" indent="0" marL="0">
                        <a:buNone/>
                      </a:pPr>
                      <a:r>
                        <a:rPr lang="en-US" sz="900" dirty="0">
                          <a:solidFill>
                            <a:srgbClr val="231F20"/>
                          </a:solidFill>
                          <a:latin typeface="Proxima Nova" pitchFamily="34" charset="0"/>
                          <a:ea typeface="Proxima Nova" pitchFamily="34" charset="-122"/>
                          <a:cs typeface="Proxima Nova" pitchFamily="34" charset="-120"/>
                        </a:rPr>
                        <a:t> and </a:t>
                      </a:r>
                      <a:pPr algn="l" indent="0" marL="0">
                        <a:buNone/>
                      </a:pPr>
                      <a:r>
                        <a:rPr lang="en-US" sz="900" b="1" dirty="0">
                          <a:solidFill>
                            <a:srgbClr val="125C60"/>
                          </a:solidFill>
                          <a:latin typeface="Proxima Nova" pitchFamily="34" charset="0"/>
                          <a:ea typeface="Proxima Nova" pitchFamily="34" charset="-122"/>
                          <a:cs typeface="Proxima Nova" pitchFamily="34" charset="-120"/>
                        </a:rPr>
                        <a:t>6,141 jobs</a:t>
                      </a:r>
                      <a:pPr algn="l" indent="0" marL="0">
                        <a:buNone/>
                      </a:pPr>
                      <a:r>
                        <a:rPr lang="en-US" sz="900" dirty="0">
                          <a:solidFill>
                            <a:srgbClr val="231F20"/>
                          </a:solidFill>
                          <a:latin typeface="Proxima Nova" pitchFamily="34" charset="0"/>
                          <a:ea typeface="Proxima Nova" pitchFamily="34" charset="-122"/>
                          <a:cs typeface="Proxima Nova" pitchFamily="34" charset="-120"/>
                        </a:rPr>
                        <a:t>. Statewide, visitors spent </a:t>
                      </a:r>
                      <a:pPr algn="l" indent="0" marL="0">
                        <a:buNone/>
                      </a:pPr>
                      <a:r>
                        <a:rPr lang="en-US" sz="900" b="1" dirty="0">
                          <a:solidFill>
                            <a:srgbClr val="125C60"/>
                          </a:solidFill>
                          <a:latin typeface="Proxima Nova" pitchFamily="34" charset="0"/>
                          <a:ea typeface="Proxima Nova" pitchFamily="34" charset="-122"/>
                          <a:cs typeface="Proxima Nova" pitchFamily="34" charset="-120"/>
                        </a:rPr>
                        <a:t>$25.2B</a:t>
                      </a:r>
                      <a:pPr algn="l" indent="0" marL="0">
                        <a:buNone/>
                      </a:pPr>
                      <a:r>
                        <a:rPr lang="en-US" sz="900" dirty="0">
                          <a:solidFill>
                            <a:srgbClr val="231F20"/>
                          </a:solidFill>
                          <a:latin typeface="Proxima Nova" pitchFamily="34" charset="0"/>
                          <a:ea typeface="Proxima Nova" pitchFamily="34" charset="-122"/>
                          <a:cs typeface="Proxima Nova" pitchFamily="34" charset="-120"/>
                        </a:rPr>
                        <a:t> on local transportation, gas and air (</a:t>
                      </a:r>
                      <a:pPr algn="l" indent="0" marL="0">
                        <a:buNone/>
                      </a:pPr>
                      <a:r>
                        <a:rPr lang="en-US" sz="900" b="1" dirty="0">
                          <a:solidFill>
                            <a:srgbClr val="125C60"/>
                          </a:solidFill>
                          <a:latin typeface="Proxima Nova" pitchFamily="34" charset="0"/>
                          <a:ea typeface="Proxima Nova" pitchFamily="34" charset="-122"/>
                          <a:cs typeface="Proxima Nova" pitchFamily="34" charset="-120"/>
                        </a:rPr>
                        <a:t>17.9%</a:t>
                      </a:r>
                      <a:pPr algn="l" indent="0" marL="0">
                        <a:buNone/>
                      </a:pPr>
                      <a:r>
                        <a:rPr lang="en-US" sz="900" dirty="0">
                          <a:solidFill>
                            <a:srgbClr val="231F20"/>
                          </a:solidFill>
                          <a:latin typeface="Proxima Nova" pitchFamily="34" charset="0"/>
                          <a:ea typeface="Proxima Nova" pitchFamily="34" charset="-122"/>
                          <a:cs typeface="Proxima Nova" pitchFamily="34" charset="-120"/>
                        </a:rPr>
                        <a:t> of visitor spending).</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Who visits District 5, where OC Vibe is being built?</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b="1" dirty="0">
                          <a:solidFill>
                            <a:srgbClr val="125C60"/>
                          </a:solidFill>
                          <a:latin typeface="Proxima Nova" pitchFamily="34" charset="0"/>
                          <a:ea typeface="Proxima Nova" pitchFamily="34" charset="-122"/>
                          <a:cs typeface="Proxima Nova" pitchFamily="34" charset="-120"/>
                        </a:rPr>
                        <a:t>85.8%</a:t>
                      </a:r>
                      <a:pPr algn="l" indent="0" marL="0">
                        <a:buNone/>
                      </a:pPr>
                      <a:r>
                        <a:rPr lang="en-US" sz="900" dirty="0">
                          <a:solidFill>
                            <a:srgbClr val="231F20"/>
                          </a:solidFill>
                          <a:latin typeface="Proxima Nova" pitchFamily="34" charset="0"/>
                          <a:ea typeface="Proxima Nova" pitchFamily="34" charset="-122"/>
                          <a:cs typeface="Proxima Nova" pitchFamily="34" charset="-120"/>
                        </a:rPr>
                        <a:t> of District 5 visitors stay overnight and </a:t>
                      </a:r>
                      <a:pPr algn="l" indent="0" marL="0">
                        <a:buNone/>
                      </a:pPr>
                      <a:r>
                        <a:rPr lang="en-US" sz="900" b="1" dirty="0">
                          <a:solidFill>
                            <a:srgbClr val="125C60"/>
                          </a:solidFill>
                          <a:latin typeface="Proxima Nova" pitchFamily="34" charset="0"/>
                          <a:ea typeface="Proxima Nova" pitchFamily="34" charset="-122"/>
                          <a:cs typeface="Proxima Nova" pitchFamily="34" charset="-120"/>
                        </a:rPr>
                        <a:t>43.8%</a:t>
                      </a:r>
                      <a:pPr algn="l" indent="0" marL="0">
                        <a:buNone/>
                      </a:pPr>
                      <a:r>
                        <a:rPr lang="en-US" sz="900" dirty="0">
                          <a:solidFill>
                            <a:srgbClr val="231F20"/>
                          </a:solidFill>
                          <a:latin typeface="Proxima Nova" pitchFamily="34" charset="0"/>
                          <a:ea typeface="Proxima Nova" pitchFamily="34" charset="-122"/>
                          <a:cs typeface="Proxima Nova" pitchFamily="34" charset="-120"/>
                        </a:rPr>
                        <a:t> are first-time visitors (Jan.–May 2026). Their median household income is </a:t>
                      </a:r>
                      <a:pPr algn="l" indent="0" marL="0">
                        <a:buNone/>
                      </a:pPr>
                      <a:r>
                        <a:rPr lang="en-US" sz="900" b="1" dirty="0">
                          <a:solidFill>
                            <a:srgbClr val="125C60"/>
                          </a:solidFill>
                          <a:latin typeface="Proxima Nova" pitchFamily="34" charset="0"/>
                          <a:ea typeface="Proxima Nova" pitchFamily="34" charset="-122"/>
                          <a:cs typeface="Proxima Nova" pitchFamily="34" charset="-120"/>
                        </a:rPr>
                        <a:t>$85.7K</a:t>
                      </a:r>
                      <a:pPr algn="l" indent="0" marL="0">
                        <a:buNone/>
                      </a:pPr>
                      <a:r>
                        <a:rPr lang="en-US" sz="900" dirty="0">
                          <a:solidFill>
                            <a:srgbClr val="231F20"/>
                          </a:solidFill>
                          <a:latin typeface="Proxima Nova" pitchFamily="34" charset="0"/>
                          <a:ea typeface="Proxima Nova" pitchFamily="34" charset="-122"/>
                          <a:cs typeface="Proxima Nova" pitchFamily="34" charset="-120"/>
                        </a:rPr>
                        <a:t>, above the </a:t>
                      </a:r>
                      <a:pPr algn="l" indent="0" marL="0">
                        <a:buNone/>
                      </a:pPr>
                      <a:r>
                        <a:rPr lang="en-US" sz="900" b="1" dirty="0">
                          <a:solidFill>
                            <a:srgbClr val="125C60"/>
                          </a:solidFill>
                          <a:latin typeface="Proxima Nova" pitchFamily="34" charset="0"/>
                          <a:ea typeface="Proxima Nova" pitchFamily="34" charset="-122"/>
                          <a:cs typeface="Proxima Nova" pitchFamily="34" charset="-120"/>
                        </a:rPr>
                        <a:t>$79.9K</a:t>
                      </a:r>
                      <a:pPr algn="l" indent="0" marL="0">
                        <a:buNone/>
                      </a:pPr>
                      <a:r>
                        <a:rPr lang="en-US" sz="900" dirty="0">
                          <a:solidFill>
                            <a:srgbClr val="231F20"/>
                          </a:solidFill>
                          <a:latin typeface="Proxima Nova" pitchFamily="34" charset="0"/>
                          <a:ea typeface="Proxima Nova" pitchFamily="34" charset="-122"/>
                          <a:cs typeface="Proxima Nova" pitchFamily="34" charset="-120"/>
                        </a:rPr>
                        <a:t> for all Anaheim and Garden Grove visitors and the </a:t>
                      </a:r>
                      <a:pPr algn="l" indent="0" marL="0">
                        <a:buNone/>
                      </a:pPr>
                      <a:r>
                        <a:rPr lang="en-US" sz="900" b="1" dirty="0">
                          <a:solidFill>
                            <a:srgbClr val="125C60"/>
                          </a:solidFill>
                          <a:latin typeface="Proxima Nova" pitchFamily="34" charset="0"/>
                          <a:ea typeface="Proxima Nova" pitchFamily="34" charset="-122"/>
                          <a:cs typeface="Proxima Nova" pitchFamily="34" charset="-120"/>
                        </a:rPr>
                        <a:t>$85.4K</a:t>
                      </a:r>
                      <a:pPr algn="l" indent="0" marL="0">
                        <a:buNone/>
                      </a:pPr>
                      <a:r>
                        <a:rPr lang="en-US" sz="900" dirty="0">
                          <a:solidFill>
                            <a:srgbClr val="231F20"/>
                          </a:solidFill>
                          <a:latin typeface="Proxima Nova" pitchFamily="34" charset="0"/>
                          <a:ea typeface="Proxima Nova" pitchFamily="34" charset="-122"/>
                          <a:cs typeface="Proxima Nova" pitchFamily="34" charset="-120"/>
                        </a:rPr>
                        <a:t> U.S. household median.</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2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Business Intelligence (Oct. 14, 2026); sources on each question slide.</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What does the average visitor spend?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Visitor spending · Anaheim, Orange County and U.S.</a:t>
            </a:r>
            <a:endParaRPr lang="en-US" sz="1200" dirty="0"/>
          </a:p>
        </p:txBody>
      </p:sp>
      <p:sp>
        <p:nvSpPr>
          <p:cNvPr id="5" name="Text 2"/>
          <p:cNvSpPr txBox="1"/>
          <p:nvPr/>
        </p:nvSpPr>
        <p:spPr>
          <a:xfrm>
            <a:off x="548640" y="1371600"/>
            <a:ext cx="6629400" cy="868680"/>
          </a:xfrm>
          <a:prstGeom prst="rect">
            <a:avLst/>
          </a:prstGeom>
          <a:noFill/>
          <a:ln/>
        </p:spPr>
        <p:txBody>
          <a:bodyPr wrap="square" lIns="0" tIns="0" rIns="0" bIns="0" rtlCol="0" anchor="t">
            <a:normAutofit/>
          </a:bodyPr>
          <a:lstStyle/>
          <a:p>
            <a:pPr indent="0" marL="0">
              <a:buNone/>
            </a:pPr>
            <a:r>
              <a:rPr lang="en-US" sz="1200" dirty="0">
                <a:solidFill>
                  <a:srgbClr val="231F20"/>
                </a:solidFill>
                <a:latin typeface="Proxima Nova" pitchFamily="34" charset="0"/>
                <a:ea typeface="Proxima Nova" pitchFamily="34" charset="-122"/>
                <a:cs typeface="Proxima Nova" pitchFamily="34" charset="-120"/>
              </a:rPr>
              <a:t>Each Anaheim visitor spent about </a:t>
            </a:r>
            <a:pPr indent="0" marL="0">
              <a:buNone/>
            </a:pPr>
            <a:r>
              <a:rPr lang="en-US" sz="1200" b="1" dirty="0">
                <a:solidFill>
                  <a:srgbClr val="125C60"/>
                </a:solidFill>
                <a:latin typeface="Proxima Nova" pitchFamily="34" charset="0"/>
                <a:ea typeface="Proxima Nova" pitchFamily="34" charset="-122"/>
                <a:cs typeface="Proxima Nova" pitchFamily="34" charset="-120"/>
              </a:rPr>
              <a:t>$258</a:t>
            </a:r>
            <a:pPr indent="0" marL="0">
              <a:buNone/>
            </a:pPr>
            <a:r>
              <a:rPr lang="en-US" sz="1200" dirty="0">
                <a:solidFill>
                  <a:srgbClr val="231F20"/>
                </a:solidFill>
                <a:latin typeface="Proxima Nova" pitchFamily="34" charset="0"/>
                <a:ea typeface="Proxima Nova" pitchFamily="34" charset="-122"/>
                <a:cs typeface="Proxima Nova" pitchFamily="34" charset="-120"/>
              </a:rPr>
              <a:t> in 2025. Countywide, the average was </a:t>
            </a:r>
            <a:pPr indent="0" marL="0">
              <a:buNone/>
            </a:pPr>
            <a:r>
              <a:rPr lang="en-US" sz="1200" b="1" dirty="0">
                <a:solidFill>
                  <a:srgbClr val="125C60"/>
                </a:solidFill>
                <a:latin typeface="Proxima Nova" pitchFamily="34" charset="0"/>
                <a:ea typeface="Proxima Nova" pitchFamily="34" charset="-122"/>
                <a:cs typeface="Proxima Nova" pitchFamily="34" charset="-120"/>
              </a:rPr>
              <a:t>$350</a:t>
            </a:r>
            <a:pPr indent="0" marL="0">
              <a:buNone/>
            </a:pPr>
            <a:r>
              <a:rPr lang="en-US" sz="1200" dirty="0">
                <a:solidFill>
                  <a:srgbClr val="231F20"/>
                </a:solidFill>
                <a:latin typeface="Proxima Nova" pitchFamily="34" charset="0"/>
                <a:ea typeface="Proxima Nova" pitchFamily="34" charset="-122"/>
                <a:cs typeface="Proxima Nova" pitchFamily="34" charset="-120"/>
              </a:rPr>
              <a:t> per visitor, and across the U.S. travel spending came to about </a:t>
            </a:r>
            <a:pPr indent="0" marL="0">
              <a:buNone/>
            </a:pPr>
            <a:r>
              <a:rPr lang="en-US" sz="1200" b="1" dirty="0">
                <a:solidFill>
                  <a:srgbClr val="125C60"/>
                </a:solidFill>
                <a:latin typeface="Proxima Nova" pitchFamily="34" charset="0"/>
                <a:ea typeface="Proxima Nova" pitchFamily="34" charset="-122"/>
                <a:cs typeface="Proxima Nova" pitchFamily="34" charset="-120"/>
              </a:rPr>
              <a:t>$553</a:t>
            </a:r>
            <a:pPr indent="0" marL="0">
              <a:buNone/>
            </a:pPr>
            <a:r>
              <a:rPr lang="en-US" sz="1200" dirty="0">
                <a:solidFill>
                  <a:srgbClr val="231F20"/>
                </a:solidFill>
                <a:latin typeface="Proxima Nova" pitchFamily="34" charset="0"/>
                <a:ea typeface="Proxima Nova" pitchFamily="34" charset="-122"/>
                <a:cs typeface="Proxima Nova" pitchFamily="34" charset="-120"/>
              </a:rPr>
              <a:t> per trip.</a:t>
            </a:r>
            <a:endParaRPr lang="en-US" sz="1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2331720"/>
          <a:ext cx="6629400" cy="914400"/>
        </p:xfrm>
        <a:graphic>
          <a:graphicData uri="http://schemas.openxmlformats.org/drawingml/2006/table">
            <a:tbl>
              <a:tblPr/>
              <a:tblGrid>
                <a:gridCol w="1600200"/>
                <a:gridCol w="1600200"/>
                <a:gridCol w="3429000"/>
              </a:tblGrid>
              <a:tr h="384048">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Geography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Value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Detail</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Anaheim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$258</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$6.832B ÷ 26.5M visitors (2025)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Garden Grove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$237</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$769.3M ÷ 3.24M visitors (2025)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Orange County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$350</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Published by Tourism Economics; day visitors $58, overnight $737 (2025)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U.S.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$553 per trip</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$1.360T ÷ 2.46B trips (2025, real 2025 dollars); domestic $494</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7" name="chart-title"/>
          <p:cNvSpPr txBox="1"/>
          <p:nvPr/>
        </p:nvSpPr>
        <p:spPr>
          <a:xfrm>
            <a:off x="7406640" y="1325880"/>
            <a:ext cx="4236415"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Spending per visitor or trip, 2025</a:t>
            </a:r>
            <a:endParaRPr lang="en-US" sz="1300" dirty="0"/>
          </a:p>
        </p:txBody>
      </p:sp>
      <p:graphicFrame>
        <p:nvGraphicFramePr>
          <p:cNvPr id="8" name="chart" descr=""/>
          <p:cNvGraphicFramePr/>
          <p:nvPr/>
        </p:nvGraphicFramePr>
        <p:xfrm>
          <a:off x="7406640" y="1691640"/>
          <a:ext cx="4236415" cy="2148840"/>
        </p:xfrm>
        <a:graphic xmlns:a="http://schemas.openxmlformats.org/drawingml/2006/main">
          <a:graphicData uri="http://schemas.openxmlformats.org/drawingml/2006/chart">
            <c:chart xmlns:c="http://schemas.openxmlformats.org/drawingml/2006/chart" r:id="rId1"/>
          </a:graphicData>
        </a:graphic>
      </p:graphicFrame>
      <p:sp>
        <p:nvSpPr>
          <p:cNvPr id="9" name="note-How it is calculated"/>
          <p:cNvSpPr/>
          <p:nvPr/>
        </p:nvSpPr>
        <p:spPr>
          <a:xfrm>
            <a:off x="7406640" y="3931920"/>
            <a:ext cx="4236415" cy="987552"/>
          </a:xfrm>
          <a:prstGeom prst="rect">
            <a:avLst/>
          </a:prstGeom>
          <a:solidFill>
            <a:srgbClr val="F9F9F2"/>
          </a:solidFill>
          <a:ln w="9525">
            <a:solidFill>
              <a:srgbClr val="B4D9E3"/>
            </a:solidFill>
            <a:prstDash val="solid"/>
          </a:ln>
        </p:spPr>
      </p:sp>
      <p:sp>
        <p:nvSpPr>
          <p:cNvPr id="10" name="Text 5"/>
          <p:cNvSpPr txBox="1"/>
          <p:nvPr/>
        </p:nvSpPr>
        <p:spPr>
          <a:xfrm>
            <a:off x="7516368" y="400507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HOW IT IS CALCULATED</a:t>
            </a:r>
            <a:endParaRPr lang="en-US" sz="850" dirty="0"/>
          </a:p>
        </p:txBody>
      </p:sp>
      <p:sp>
        <p:nvSpPr>
          <p:cNvPr id="11" name="Text 6"/>
          <p:cNvSpPr txBox="1"/>
          <p:nvPr/>
        </p:nvSpPr>
        <p:spPr>
          <a:xfrm>
            <a:off x="7516368" y="4224528"/>
            <a:ext cx="4016959" cy="621792"/>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Spending per visitor = visitor spending ÷ visitors. Tourism Economics counts a visitor as anyone who stays overnight or travels more than 50 miles. The U.S. figure is per trip (domestic and international), in 2025 dollars.</a:t>
            </a:r>
            <a:endParaRPr lang="en-US" sz="900" dirty="0"/>
          </a:p>
        </p:txBody>
      </p:sp>
      <p:sp>
        <p:nvSpPr>
          <p:cNvPr id="12" name="note-Keep in mind"/>
          <p:cNvSpPr/>
          <p:nvPr/>
        </p:nvSpPr>
        <p:spPr>
          <a:xfrm>
            <a:off x="7406640" y="4983480"/>
            <a:ext cx="4236415" cy="914400"/>
          </a:xfrm>
          <a:prstGeom prst="rect">
            <a:avLst/>
          </a:prstGeom>
          <a:solidFill>
            <a:srgbClr val="F9F9F2"/>
          </a:solidFill>
          <a:ln w="9525">
            <a:solidFill>
              <a:srgbClr val="B4D9E3"/>
            </a:solidFill>
            <a:prstDash val="solid"/>
          </a:ln>
        </p:spPr>
      </p:sp>
      <p:sp>
        <p:nvSpPr>
          <p:cNvPr id="13" name="Text 8"/>
          <p:cNvSpPr txBox="1"/>
          <p:nvPr/>
        </p:nvSpPr>
        <p:spPr>
          <a:xfrm>
            <a:off x="7516368" y="505663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KEEP IN MIND</a:t>
            </a:r>
            <a:endParaRPr lang="en-US" sz="850" dirty="0"/>
          </a:p>
        </p:txBody>
      </p:sp>
      <p:sp>
        <p:nvSpPr>
          <p:cNvPr id="14" name="Text 9"/>
          <p:cNvSpPr txBox="1"/>
          <p:nvPr/>
        </p:nvSpPr>
        <p:spPr>
          <a:xfrm>
            <a:off x="7516368" y="5276088"/>
            <a:ext cx="4016959"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Day trips pull averages down: </a:t>
            </a:r>
            <a:pPr indent="0" marL="0">
              <a:buNone/>
            </a:pPr>
            <a:r>
              <a:rPr lang="en-US" sz="900" b="1" dirty="0">
                <a:solidFill>
                  <a:srgbClr val="125C60"/>
                </a:solidFill>
                <a:latin typeface="Proxima Nova" pitchFamily="34" charset="0"/>
                <a:ea typeface="Proxima Nova" pitchFamily="34" charset="-122"/>
                <a:cs typeface="Proxima Nova" pitchFamily="34" charset="-120"/>
              </a:rPr>
              <a:t>67.5%</a:t>
            </a:r>
            <a:pPr indent="0" marL="0">
              <a:buNone/>
            </a:pPr>
            <a:r>
              <a:rPr lang="en-US" sz="900" dirty="0">
                <a:solidFill>
                  <a:srgbClr val="231F20"/>
                </a:solidFill>
                <a:latin typeface="Proxima Nova" pitchFamily="34" charset="0"/>
                <a:ea typeface="Proxima Nova" pitchFamily="34" charset="-122"/>
                <a:cs typeface="Proxima Nova" pitchFamily="34" charset="-120"/>
              </a:rPr>
              <a:t> of Anaheim visitors are day visitors vs. </a:t>
            </a:r>
            <a:pPr indent="0" marL="0">
              <a:buNone/>
            </a:pPr>
            <a:r>
              <a:rPr lang="en-US" sz="900" b="1" dirty="0">
                <a:solidFill>
                  <a:srgbClr val="125C60"/>
                </a:solidFill>
                <a:latin typeface="Proxima Nova" pitchFamily="34" charset="0"/>
                <a:ea typeface="Proxima Nova" pitchFamily="34" charset="-122"/>
                <a:cs typeface="Proxima Nova" pitchFamily="34" charset="-120"/>
              </a:rPr>
              <a:t>57.0%</a:t>
            </a:r>
            <a:pPr indent="0" marL="0">
              <a:buNone/>
            </a:pPr>
            <a:r>
              <a:rPr lang="en-US" sz="900" dirty="0">
                <a:solidFill>
                  <a:srgbClr val="231F20"/>
                </a:solidFill>
                <a:latin typeface="Proxima Nova" pitchFamily="34" charset="0"/>
                <a:ea typeface="Proxima Nova" pitchFamily="34" charset="-122"/>
                <a:cs typeface="Proxima Nova" pitchFamily="34" charset="-120"/>
              </a:rPr>
              <a:t> countywide, and Orange County overnight visitors spend </a:t>
            </a:r>
            <a:pPr indent="0" marL="0">
              <a:buNone/>
            </a:pPr>
            <a:r>
              <a:rPr lang="en-US" sz="900" b="1" dirty="0">
                <a:solidFill>
                  <a:srgbClr val="125C60"/>
                </a:solidFill>
                <a:latin typeface="Proxima Nova" pitchFamily="34" charset="0"/>
                <a:ea typeface="Proxima Nova" pitchFamily="34" charset="-122"/>
                <a:cs typeface="Proxima Nova" pitchFamily="34" charset="-120"/>
              </a:rPr>
              <a:t>$737</a:t>
            </a:r>
            <a:pPr indent="0" marL="0">
              <a:buNone/>
            </a:pPr>
            <a:r>
              <a:rPr lang="en-US" sz="900" dirty="0">
                <a:solidFill>
                  <a:srgbClr val="231F20"/>
                </a:solidFill>
                <a:latin typeface="Proxima Nova" pitchFamily="34" charset="0"/>
                <a:ea typeface="Proxima Nova" pitchFamily="34" charset="-122"/>
                <a:cs typeface="Proxima Nova" pitchFamily="34" charset="-120"/>
              </a:rPr>
              <a:t> each vs. </a:t>
            </a:r>
            <a:pPr indent="0" marL="0">
              <a:buNone/>
            </a:pPr>
            <a:r>
              <a:rPr lang="en-US" sz="900" b="1" dirty="0">
                <a:solidFill>
                  <a:srgbClr val="125C60"/>
                </a:solidFill>
                <a:latin typeface="Proxima Nova" pitchFamily="34" charset="0"/>
                <a:ea typeface="Proxima Nova" pitchFamily="34" charset="-122"/>
                <a:cs typeface="Proxima Nova" pitchFamily="34" charset="-120"/>
              </a:rPr>
              <a:t>$58</a:t>
            </a:r>
            <a:pPr indent="0" marL="0">
              <a:buNone/>
            </a:pPr>
            <a:r>
              <a:rPr lang="en-US" sz="900" dirty="0">
                <a:solidFill>
                  <a:srgbClr val="231F20"/>
                </a:solidFill>
                <a:latin typeface="Proxima Nova" pitchFamily="34" charset="0"/>
                <a:ea typeface="Proxima Nova" pitchFamily="34" charset="-122"/>
                <a:cs typeface="Proxima Nova" pitchFamily="34" charset="-120"/>
              </a:rPr>
              <a:t> for day visitors. Compare direction, not exact levels, across sources.</a:t>
            </a:r>
            <a:endParaRPr lang="en-US" sz="900" dirty="0"/>
          </a:p>
        </p:txBody>
      </p:sp>
      <p:sp>
        <p:nvSpPr>
          <p:cNvPr id="1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of Visitors 2025 (pub. Apr.–May 2026); U.S. Travel Association and Tourism Economics, Travel Forecast, Spring 2026 (real 2025 dollars). Files in the app library: Economic Impact of Visitors to Anaheim, 2025; Economic Impact of Visitors to Garden Grove, 2025; Economic Impact of Visitors to Orange County, 2025; Anaheim and Garden Grove Travel Forecast, Sept. 2026 (Q2 2026 results).</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Average spend: Anaheim, Orange County, California and U.S.</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The detail behind: What does the average visitor spend?</a:t>
            </a:r>
            <a:endParaRPr lang="en-US" sz="1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377440"/>
                <a:gridCol w="2011680"/>
                <a:gridCol w="5120640"/>
                <a:gridCol w="1584655"/>
              </a:tblGrid>
              <a:tr h="274320">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Geography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Spending per visitor or trip</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How it is calculated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Year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Anaheim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$258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$6.832B ÷ 26.5M visitors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Garden Grove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$237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$769.3M ÷ 3.24M visitors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Orange County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$350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Published by Tourism Economics (day $58, overnight $737)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U.S., per trip</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$553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$1.360T ÷ 2.46B trips (real 2025 dollars)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U.S., per domestic trip</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$494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$1.185T ÷ 2.40B domestic trips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6" name="note-How it is calculated"/>
          <p:cNvSpPr/>
          <p:nvPr/>
        </p:nvSpPr>
        <p:spPr>
          <a:xfrm>
            <a:off x="548640" y="4983480"/>
            <a:ext cx="5455768" cy="914400"/>
          </a:xfrm>
          <a:prstGeom prst="rect">
            <a:avLst/>
          </a:prstGeom>
          <a:solidFill>
            <a:srgbClr val="F9F9F2"/>
          </a:solidFill>
          <a:ln w="9525">
            <a:solidFill>
              <a:srgbClr val="B4D9E3"/>
            </a:solidFill>
            <a:prstDash val="solid"/>
          </a:ln>
        </p:spPr>
      </p:sp>
      <p:sp>
        <p:nvSpPr>
          <p:cNvPr id="7" name="Text 3"/>
          <p:cNvSpPr txBox="1"/>
          <p:nvPr/>
        </p:nvSpPr>
        <p:spPr>
          <a:xfrm>
            <a:off x="658368" y="5056632"/>
            <a:ext cx="5236312"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HOW IT IS CALCULATED</a:t>
            </a:r>
            <a:endParaRPr lang="en-US" sz="850" dirty="0"/>
          </a:p>
        </p:txBody>
      </p:sp>
      <p:sp>
        <p:nvSpPr>
          <p:cNvPr id="8" name="Text 4"/>
          <p:cNvSpPr txBox="1"/>
          <p:nvPr/>
        </p:nvSpPr>
        <p:spPr>
          <a:xfrm>
            <a:off x="658368" y="5276088"/>
            <a:ext cx="5236312"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Spending per visitor = visitor spending ÷ visitors. Tourism Economics counts a visitor as anyone who stays overnight or travels more than 50 miles. The U.S. figure is per trip (domestic and international), in 2025 dollars.</a:t>
            </a:r>
            <a:endParaRPr lang="en-US" sz="900" dirty="0"/>
          </a:p>
        </p:txBody>
      </p:sp>
      <p:sp>
        <p:nvSpPr>
          <p:cNvPr id="9" name="note-Keep in mind"/>
          <p:cNvSpPr/>
          <p:nvPr/>
        </p:nvSpPr>
        <p:spPr>
          <a:xfrm>
            <a:off x="6187288" y="4983480"/>
            <a:ext cx="5455768" cy="914400"/>
          </a:xfrm>
          <a:prstGeom prst="rect">
            <a:avLst/>
          </a:prstGeom>
          <a:solidFill>
            <a:srgbClr val="F9F9F2"/>
          </a:solidFill>
          <a:ln w="9525">
            <a:solidFill>
              <a:srgbClr val="B4D9E3"/>
            </a:solidFill>
            <a:prstDash val="solid"/>
          </a:ln>
        </p:spPr>
      </p:sp>
      <p:sp>
        <p:nvSpPr>
          <p:cNvPr id="10" name="Text 6"/>
          <p:cNvSpPr txBox="1"/>
          <p:nvPr/>
        </p:nvSpPr>
        <p:spPr>
          <a:xfrm>
            <a:off x="6297016" y="5056632"/>
            <a:ext cx="5236312"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KEEP IN MIND</a:t>
            </a:r>
            <a:endParaRPr lang="en-US" sz="850" dirty="0"/>
          </a:p>
        </p:txBody>
      </p:sp>
      <p:sp>
        <p:nvSpPr>
          <p:cNvPr id="11" name="Text 7"/>
          <p:cNvSpPr txBox="1"/>
          <p:nvPr/>
        </p:nvSpPr>
        <p:spPr>
          <a:xfrm>
            <a:off x="6297016" y="5276088"/>
            <a:ext cx="5236312"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Day trips pull averages down: </a:t>
            </a:r>
            <a:pPr indent="0" marL="0">
              <a:buNone/>
            </a:pPr>
            <a:r>
              <a:rPr lang="en-US" sz="900" b="1" dirty="0">
                <a:solidFill>
                  <a:srgbClr val="125C60"/>
                </a:solidFill>
                <a:latin typeface="Proxima Nova" pitchFamily="34" charset="0"/>
                <a:ea typeface="Proxima Nova" pitchFamily="34" charset="-122"/>
                <a:cs typeface="Proxima Nova" pitchFamily="34" charset="-120"/>
              </a:rPr>
              <a:t>67.5%</a:t>
            </a:r>
            <a:pPr indent="0" marL="0">
              <a:buNone/>
            </a:pPr>
            <a:r>
              <a:rPr lang="en-US" sz="900" dirty="0">
                <a:solidFill>
                  <a:srgbClr val="231F20"/>
                </a:solidFill>
                <a:latin typeface="Proxima Nova" pitchFamily="34" charset="0"/>
                <a:ea typeface="Proxima Nova" pitchFamily="34" charset="-122"/>
                <a:cs typeface="Proxima Nova" pitchFamily="34" charset="-120"/>
              </a:rPr>
              <a:t> of Anaheim visitors are day visitors vs. </a:t>
            </a:r>
            <a:pPr indent="0" marL="0">
              <a:buNone/>
            </a:pPr>
            <a:r>
              <a:rPr lang="en-US" sz="900" b="1" dirty="0">
                <a:solidFill>
                  <a:srgbClr val="125C60"/>
                </a:solidFill>
                <a:latin typeface="Proxima Nova" pitchFamily="34" charset="0"/>
                <a:ea typeface="Proxima Nova" pitchFamily="34" charset="-122"/>
                <a:cs typeface="Proxima Nova" pitchFamily="34" charset="-120"/>
              </a:rPr>
              <a:t>57.0%</a:t>
            </a:r>
            <a:pPr indent="0" marL="0">
              <a:buNone/>
            </a:pPr>
            <a:r>
              <a:rPr lang="en-US" sz="900" dirty="0">
                <a:solidFill>
                  <a:srgbClr val="231F20"/>
                </a:solidFill>
                <a:latin typeface="Proxima Nova" pitchFamily="34" charset="0"/>
                <a:ea typeface="Proxima Nova" pitchFamily="34" charset="-122"/>
                <a:cs typeface="Proxima Nova" pitchFamily="34" charset="-120"/>
              </a:rPr>
              <a:t> countywide, and Orange County overnight visitors spend </a:t>
            </a:r>
            <a:pPr indent="0" marL="0">
              <a:buNone/>
            </a:pPr>
            <a:r>
              <a:rPr lang="en-US" sz="900" b="1" dirty="0">
                <a:solidFill>
                  <a:srgbClr val="125C60"/>
                </a:solidFill>
                <a:latin typeface="Proxima Nova" pitchFamily="34" charset="0"/>
                <a:ea typeface="Proxima Nova" pitchFamily="34" charset="-122"/>
                <a:cs typeface="Proxima Nova" pitchFamily="34" charset="-120"/>
              </a:rPr>
              <a:t>$737</a:t>
            </a:r>
            <a:pPr indent="0" marL="0">
              <a:buNone/>
            </a:pPr>
            <a:r>
              <a:rPr lang="en-US" sz="900" dirty="0">
                <a:solidFill>
                  <a:srgbClr val="231F20"/>
                </a:solidFill>
                <a:latin typeface="Proxima Nova" pitchFamily="34" charset="0"/>
                <a:ea typeface="Proxima Nova" pitchFamily="34" charset="-122"/>
                <a:cs typeface="Proxima Nova" pitchFamily="34" charset="-120"/>
              </a:rPr>
              <a:t> each vs. </a:t>
            </a:r>
            <a:pPr indent="0" marL="0">
              <a:buNone/>
            </a:pPr>
            <a:r>
              <a:rPr lang="en-US" sz="900" b="1" dirty="0">
                <a:solidFill>
                  <a:srgbClr val="125C60"/>
                </a:solidFill>
                <a:latin typeface="Proxima Nova" pitchFamily="34" charset="0"/>
                <a:ea typeface="Proxima Nova" pitchFamily="34" charset="-122"/>
                <a:cs typeface="Proxima Nova" pitchFamily="34" charset="-120"/>
              </a:rPr>
              <a:t>$58</a:t>
            </a:r>
            <a:pPr indent="0" marL="0">
              <a:buNone/>
            </a:pPr>
            <a:r>
              <a:rPr lang="en-US" sz="900" dirty="0">
                <a:solidFill>
                  <a:srgbClr val="231F20"/>
                </a:solidFill>
                <a:latin typeface="Proxima Nova" pitchFamily="34" charset="0"/>
                <a:ea typeface="Proxima Nova" pitchFamily="34" charset="-122"/>
                <a:cs typeface="Proxima Nova" pitchFamily="34" charset="-120"/>
              </a:rPr>
              <a:t> for day visitors. Compare direction, not exact levels, across sources.</a:t>
            </a:r>
            <a:endParaRPr lang="en-US" sz="900" dirty="0"/>
          </a:p>
        </p:txBody>
      </p:sp>
      <p:sp>
        <p:nvSpPr>
          <p:cNvPr id="12"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of Visitors 2025 (pub. Apr.–May 2026); U.S. Travel Association and Tourism Economics, Travel Forecast, Spring 2026 (real 2025 dollars) (accessed Oct. 14,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What is one more night per visitor worth?</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One more night · Anaheim, Orange County and U.S.</a:t>
            </a:r>
            <a:endParaRPr lang="en-US" sz="1200" dirty="0"/>
          </a:p>
        </p:txBody>
      </p:sp>
      <p:sp>
        <p:nvSpPr>
          <p:cNvPr id="5" name="Text 2"/>
          <p:cNvSpPr txBox="1"/>
          <p:nvPr/>
        </p:nvSpPr>
        <p:spPr>
          <a:xfrm>
            <a:off x="548640" y="1371600"/>
            <a:ext cx="6629400" cy="868680"/>
          </a:xfrm>
          <a:prstGeom prst="rect">
            <a:avLst/>
          </a:prstGeom>
          <a:noFill/>
          <a:ln/>
        </p:spPr>
        <p:txBody>
          <a:bodyPr wrap="square" lIns="0" tIns="0" rIns="0" bIns="0" rtlCol="0" anchor="t">
            <a:normAutofit/>
          </a:bodyPr>
          <a:lstStyle/>
          <a:p>
            <a:pPr indent="0" marL="0">
              <a:buNone/>
            </a:pPr>
            <a:r>
              <a:rPr lang="en-US" sz="1200" dirty="0">
                <a:solidFill>
                  <a:srgbClr val="231F20"/>
                </a:solidFill>
                <a:latin typeface="Proxima Nova" pitchFamily="34" charset="0"/>
                <a:ea typeface="Proxima Nova" pitchFamily="34" charset="-122"/>
                <a:cs typeface="Proxima Nova" pitchFamily="34" charset="-120"/>
              </a:rPr>
              <a:t>If every Anaheim visitor stayed one more night, lodging spending would rise about </a:t>
            </a:r>
            <a:pPr indent="0" marL="0">
              <a:buNone/>
            </a:pPr>
            <a:r>
              <a:rPr lang="en-US" sz="1200" b="1" dirty="0">
                <a:solidFill>
                  <a:srgbClr val="125C60"/>
                </a:solidFill>
                <a:latin typeface="Proxima Nova" pitchFamily="34" charset="0"/>
                <a:ea typeface="Proxima Nova" pitchFamily="34" charset="-122"/>
                <a:cs typeface="Proxima Nova" pitchFamily="34" charset="-120"/>
              </a:rPr>
              <a:t>$794M</a:t>
            </a:r>
            <a:pPr indent="0" marL="0">
              <a:buNone/>
            </a:pPr>
            <a:r>
              <a:rPr lang="en-US" sz="1200" dirty="0">
                <a:solidFill>
                  <a:srgbClr val="231F20"/>
                </a:solidFill>
                <a:latin typeface="Proxima Nova" pitchFamily="34" charset="0"/>
                <a:ea typeface="Proxima Nova" pitchFamily="34" charset="-122"/>
                <a:cs typeface="Proxima Nova" pitchFamily="34" charset="-120"/>
              </a:rPr>
              <a:t>. Counting all spending, one more day for overnight visitors is worth about </a:t>
            </a:r>
            <a:pPr indent="0" marL="0">
              <a:buNone/>
            </a:pPr>
            <a:r>
              <a:rPr lang="en-US" sz="1200" b="1" dirty="0">
                <a:solidFill>
                  <a:srgbClr val="125C60"/>
                </a:solidFill>
                <a:latin typeface="Proxima Nova" pitchFamily="34" charset="0"/>
                <a:ea typeface="Proxima Nova" pitchFamily="34" charset="-122"/>
                <a:cs typeface="Proxima Nova" pitchFamily="34" charset="-120"/>
              </a:rPr>
              <a:t>$1.02B</a:t>
            </a:r>
            <a:pPr indent="0" marL="0">
              <a:buNone/>
            </a:pPr>
            <a:r>
              <a:rPr lang="en-US" sz="1200" dirty="0">
                <a:solidFill>
                  <a:srgbClr val="231F20"/>
                </a:solidFill>
                <a:latin typeface="Proxima Nova" pitchFamily="34" charset="0"/>
                <a:ea typeface="Proxima Nova" pitchFamily="34" charset="-122"/>
                <a:cs typeface="Proxima Nova" pitchFamily="34" charset="-120"/>
              </a:rPr>
              <a:t>, and one more day for every visitor about </a:t>
            </a:r>
            <a:pPr indent="0" marL="0">
              <a:buNone/>
            </a:pPr>
            <a:r>
              <a:rPr lang="en-US" sz="1200" b="1" dirty="0">
                <a:solidFill>
                  <a:srgbClr val="125C60"/>
                </a:solidFill>
                <a:latin typeface="Proxima Nova" pitchFamily="34" charset="0"/>
                <a:ea typeface="Proxima Nova" pitchFamily="34" charset="-122"/>
                <a:cs typeface="Proxima Nova" pitchFamily="34" charset="-120"/>
              </a:rPr>
              <a:t>$3.15B</a:t>
            </a:r>
            <a:pPr indent="0" marL="0">
              <a:buNone/>
            </a:pPr>
            <a:r>
              <a:rPr lang="en-US" sz="1200" dirty="0">
                <a:solidFill>
                  <a:srgbClr val="231F20"/>
                </a:solidFill>
                <a:latin typeface="Proxima Nova" pitchFamily="34" charset="0"/>
                <a:ea typeface="Proxima Nova" pitchFamily="34" charset="-122"/>
                <a:cs typeface="Proxima Nova" pitchFamily="34" charset="-120"/>
              </a:rPr>
              <a:t> (the study's upper bound).</a:t>
            </a:r>
            <a:endParaRPr lang="en-US" sz="12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2331720"/>
          <a:ext cx="6629400" cy="914400"/>
        </p:xfrm>
        <a:graphic>
          <a:graphicData uri="http://schemas.openxmlformats.org/drawingml/2006/table">
            <a:tbl>
              <a:tblPr/>
              <a:tblGrid>
                <a:gridCol w="1600200"/>
                <a:gridCol w="1600200"/>
                <a:gridCol w="3429000"/>
              </a:tblGrid>
              <a:tr h="384048">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Geography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Value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Detail</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Anaheim, lodging (headline)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$794M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$1.724B lodging spending ÷ 2.17-day weighted average stay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Anaheim, overnight visitors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$1.02B</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8.6M overnight visitors × $118.71 per visitor-day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Anaheim, every visitor (upper bound)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$3.15B</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$6.832B ÷ 2.17 days; total with the extra day $9.98B</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Orange County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$737 vs. $58</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Spending per overnight visitor vs. per day visitor (2025), 12.7 times as much</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7" name="chart-title"/>
          <p:cNvSpPr txBox="1"/>
          <p:nvPr/>
        </p:nvSpPr>
        <p:spPr>
          <a:xfrm>
            <a:off x="7406640" y="1325880"/>
            <a:ext cx="4236415"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One more night or day in Anaheim, three ways ($M)</a:t>
            </a:r>
            <a:endParaRPr lang="en-US" sz="1300" dirty="0"/>
          </a:p>
        </p:txBody>
      </p:sp>
      <p:graphicFrame>
        <p:nvGraphicFramePr>
          <p:cNvPr id="8" name="chart" descr=""/>
          <p:cNvGraphicFramePr/>
          <p:nvPr/>
        </p:nvGraphicFramePr>
        <p:xfrm>
          <a:off x="7406640" y="1691640"/>
          <a:ext cx="4236415" cy="2148840"/>
        </p:xfrm>
        <a:graphic xmlns:a="http://schemas.openxmlformats.org/drawingml/2006/main">
          <a:graphicData uri="http://schemas.openxmlformats.org/drawingml/2006/chart">
            <c:chart xmlns:c="http://schemas.openxmlformats.org/drawingml/2006/chart" r:id="rId1"/>
          </a:graphicData>
        </a:graphic>
      </p:graphicFrame>
      <p:sp>
        <p:nvSpPr>
          <p:cNvPr id="9" name="note-How it is calculated"/>
          <p:cNvSpPr/>
          <p:nvPr/>
        </p:nvSpPr>
        <p:spPr>
          <a:xfrm>
            <a:off x="7406640" y="3931920"/>
            <a:ext cx="4236415" cy="987552"/>
          </a:xfrm>
          <a:prstGeom prst="rect">
            <a:avLst/>
          </a:prstGeom>
          <a:solidFill>
            <a:srgbClr val="F9F9F2"/>
          </a:solidFill>
          <a:ln w="9525">
            <a:solidFill>
              <a:srgbClr val="B4D9E3"/>
            </a:solidFill>
            <a:prstDash val="solid"/>
          </a:ln>
        </p:spPr>
      </p:sp>
      <p:sp>
        <p:nvSpPr>
          <p:cNvPr id="10" name="Text 5"/>
          <p:cNvSpPr txBox="1"/>
          <p:nvPr/>
        </p:nvSpPr>
        <p:spPr>
          <a:xfrm>
            <a:off x="7516368" y="400507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HOW IT IS CALCULATED</a:t>
            </a:r>
            <a:endParaRPr lang="en-US" sz="850" dirty="0"/>
          </a:p>
        </p:txBody>
      </p:sp>
      <p:sp>
        <p:nvSpPr>
          <p:cNvPr id="11" name="Text 6"/>
          <p:cNvSpPr txBox="1"/>
          <p:nvPr/>
        </p:nvSpPr>
        <p:spPr>
          <a:xfrm>
            <a:off x="7516368" y="4224528"/>
            <a:ext cx="4016959" cy="621792"/>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Weighted average stay = </a:t>
            </a:r>
            <a:pPr indent="0" marL="0">
              <a:buNone/>
            </a:pPr>
            <a:r>
              <a:rPr lang="en-US" sz="900" b="1" dirty="0">
                <a:solidFill>
                  <a:srgbClr val="125C60"/>
                </a:solidFill>
                <a:latin typeface="Proxima Nova" pitchFamily="34" charset="0"/>
                <a:ea typeface="Proxima Nova" pitchFamily="34" charset="-122"/>
                <a:cs typeface="Proxima Nova" pitchFamily="34" charset="-120"/>
              </a:rPr>
              <a:t>93.2%</a:t>
            </a:r>
            <a:pPr indent="0" marL="0">
              <a:buNone/>
            </a:pPr>
            <a:r>
              <a:rPr lang="en-US" sz="900" dirty="0">
                <a:solidFill>
                  <a:srgbClr val="231F20"/>
                </a:solidFill>
                <a:latin typeface="Proxima Nova" pitchFamily="34" charset="0"/>
                <a:ea typeface="Proxima Nova" pitchFamily="34" charset="-122"/>
                <a:cs typeface="Proxima Nova" pitchFamily="34" charset="-120"/>
              </a:rPr>
              <a:t> domestic × </a:t>
            </a:r>
            <a:pPr indent="0" marL="0">
              <a:buNone/>
            </a:pPr>
            <a:r>
              <a:rPr lang="en-US" sz="900" b="1" dirty="0">
                <a:solidFill>
                  <a:srgbClr val="125C60"/>
                </a:solidFill>
                <a:latin typeface="Proxima Nova" pitchFamily="34" charset="0"/>
                <a:ea typeface="Proxima Nova" pitchFamily="34" charset="-122"/>
                <a:cs typeface="Proxima Nova" pitchFamily="34" charset="-120"/>
              </a:rPr>
              <a:t>1.9 days</a:t>
            </a:r>
            <a:pPr indent="0" marL="0">
              <a:buNone/>
            </a:pPr>
            <a:r>
              <a:rPr lang="en-US" sz="900" dirty="0">
                <a:solidFill>
                  <a:srgbClr val="231F20"/>
                </a:solidFill>
                <a:latin typeface="Proxima Nova" pitchFamily="34" charset="0"/>
                <a:ea typeface="Proxima Nova" pitchFamily="34" charset="-122"/>
                <a:cs typeface="Proxima Nova" pitchFamily="34" charset="-120"/>
              </a:rPr>
              <a:t> + </a:t>
            </a:r>
            <a:pPr indent="0" marL="0">
              <a:buNone/>
            </a:pPr>
            <a:r>
              <a:rPr lang="en-US" sz="900" b="1" dirty="0">
                <a:solidFill>
                  <a:srgbClr val="125C60"/>
                </a:solidFill>
                <a:latin typeface="Proxima Nova" pitchFamily="34" charset="0"/>
                <a:ea typeface="Proxima Nova" pitchFamily="34" charset="-122"/>
                <a:cs typeface="Proxima Nova" pitchFamily="34" charset="-120"/>
              </a:rPr>
              <a:t>6.8%</a:t>
            </a:r>
            <a:pPr indent="0" marL="0">
              <a:buNone/>
            </a:pPr>
            <a:r>
              <a:rPr lang="en-US" sz="900" dirty="0">
                <a:solidFill>
                  <a:srgbClr val="231F20"/>
                </a:solidFill>
                <a:latin typeface="Proxima Nova" pitchFamily="34" charset="0"/>
                <a:ea typeface="Proxima Nova" pitchFamily="34" charset="-122"/>
                <a:cs typeface="Proxima Nova" pitchFamily="34" charset="-120"/>
              </a:rPr>
              <a:t> international × </a:t>
            </a:r>
            <a:pPr indent="0" marL="0">
              <a:buNone/>
            </a:pPr>
            <a:r>
              <a:rPr lang="en-US" sz="900" b="1" dirty="0">
                <a:solidFill>
                  <a:srgbClr val="125C60"/>
                </a:solidFill>
                <a:latin typeface="Proxima Nova" pitchFamily="34" charset="0"/>
                <a:ea typeface="Proxima Nova" pitchFamily="34" charset="-122"/>
                <a:cs typeface="Proxima Nova" pitchFamily="34" charset="-120"/>
              </a:rPr>
              <a:t>5.9 days</a:t>
            </a:r>
            <a:pPr indent="0" marL="0">
              <a:buNone/>
            </a:pPr>
            <a:r>
              <a:rPr lang="en-US" sz="900" dirty="0">
                <a:solidFill>
                  <a:srgbClr val="231F20"/>
                </a:solidFill>
                <a:latin typeface="Proxima Nova" pitchFamily="34" charset="0"/>
                <a:ea typeface="Proxima Nova" pitchFamily="34" charset="-122"/>
                <a:cs typeface="Proxima Nova" pitchFamily="34" charset="-120"/>
              </a:rPr>
              <a:t> = </a:t>
            </a:r>
            <a:pPr indent="0" marL="0">
              <a:buNone/>
            </a:pPr>
            <a:r>
              <a:rPr lang="en-US" sz="900" b="1" dirty="0">
                <a:solidFill>
                  <a:srgbClr val="125C60"/>
                </a:solidFill>
                <a:latin typeface="Proxima Nova" pitchFamily="34" charset="0"/>
                <a:ea typeface="Proxima Nova" pitchFamily="34" charset="-122"/>
                <a:cs typeface="Proxima Nova" pitchFamily="34" charset="-120"/>
              </a:rPr>
              <a:t>2.17 days</a:t>
            </a:r>
            <a:pPr indent="0" marL="0">
              <a:buNone/>
            </a:pPr>
            <a:r>
              <a:rPr lang="en-US" sz="900" dirty="0">
                <a:solidFill>
                  <a:srgbClr val="231F20"/>
                </a:solidFill>
                <a:latin typeface="Proxima Nova" pitchFamily="34" charset="0"/>
                <a:ea typeface="Proxima Nova" pitchFamily="34" charset="-122"/>
                <a:cs typeface="Proxima Nova" pitchFamily="34" charset="-120"/>
              </a:rPr>
              <a:t> (Azira stays; Tourism Economics visitor mix). Spending per day = 2025 spending ÷ </a:t>
            </a:r>
            <a:pPr indent="0" marL="0">
              <a:buNone/>
            </a:pPr>
            <a:r>
              <a:rPr lang="en-US" sz="900" b="1" dirty="0">
                <a:solidFill>
                  <a:srgbClr val="125C60"/>
                </a:solidFill>
                <a:latin typeface="Proxima Nova" pitchFamily="34" charset="0"/>
                <a:ea typeface="Proxima Nova" pitchFamily="34" charset="-122"/>
                <a:cs typeface="Proxima Nova" pitchFamily="34" charset="-120"/>
              </a:rPr>
              <a:t>2.17</a:t>
            </a:r>
            <a:pPr indent="0" marL="0">
              <a:buNone/>
            </a:pPr>
            <a:r>
              <a:rPr lang="en-US" sz="900" dirty="0">
                <a:solidFill>
                  <a:srgbClr val="231F20"/>
                </a:solidFill>
                <a:latin typeface="Proxima Nova" pitchFamily="34" charset="0"/>
                <a:ea typeface="Proxima Nova" pitchFamily="34" charset="-122"/>
                <a:cs typeface="Proxima Nova" pitchFamily="34" charset="-120"/>
              </a:rPr>
              <a:t>. Spending per visitor-day = </a:t>
            </a:r>
            <a:pPr indent="0" marL="0">
              <a:buNone/>
            </a:pPr>
            <a:r>
              <a:rPr lang="en-US" sz="900" b="1" dirty="0">
                <a:solidFill>
                  <a:srgbClr val="125C60"/>
                </a:solidFill>
                <a:latin typeface="Proxima Nova" pitchFamily="34" charset="0"/>
                <a:ea typeface="Proxima Nova" pitchFamily="34" charset="-122"/>
                <a:cs typeface="Proxima Nova" pitchFamily="34" charset="-120"/>
              </a:rPr>
              <a:t>$6.832B</a:t>
            </a:r>
            <a:pPr indent="0" marL="0">
              <a:buNone/>
            </a:pPr>
            <a:r>
              <a:rPr lang="en-US" sz="900" dirty="0">
                <a:solidFill>
                  <a:srgbClr val="231F20"/>
                </a:solidFill>
                <a:latin typeface="Proxima Nova" pitchFamily="34" charset="0"/>
                <a:ea typeface="Proxima Nova" pitchFamily="34" charset="-122"/>
                <a:cs typeface="Proxima Nova" pitchFamily="34" charset="-120"/>
              </a:rPr>
              <a:t> ÷ (</a:t>
            </a:r>
            <a:pPr indent="0" marL="0">
              <a:buNone/>
            </a:pPr>
            <a:r>
              <a:rPr lang="en-US" sz="900" b="1" dirty="0">
                <a:solidFill>
                  <a:srgbClr val="125C60"/>
                </a:solidFill>
                <a:latin typeface="Proxima Nova" pitchFamily="34" charset="0"/>
                <a:ea typeface="Proxima Nova" pitchFamily="34" charset="-122"/>
                <a:cs typeface="Proxima Nova" pitchFamily="34" charset="-120"/>
              </a:rPr>
              <a:t>26.5M</a:t>
            </a:r>
            <a:pPr indent="0" marL="0">
              <a:buNone/>
            </a:pPr>
            <a:r>
              <a:rPr lang="en-US" sz="900" dirty="0">
                <a:solidFill>
                  <a:srgbClr val="231F20"/>
                </a:solidFill>
                <a:latin typeface="Proxima Nova" pitchFamily="34" charset="0"/>
                <a:ea typeface="Proxima Nova" pitchFamily="34" charset="-122"/>
                <a:cs typeface="Proxima Nova" pitchFamily="34" charset="-120"/>
              </a:rPr>
              <a:t> × </a:t>
            </a:r>
            <a:pPr indent="0" marL="0">
              <a:buNone/>
            </a:pPr>
            <a:r>
              <a:rPr lang="en-US" sz="900" b="1" dirty="0">
                <a:solidFill>
                  <a:srgbClr val="125C60"/>
                </a:solidFill>
                <a:latin typeface="Proxima Nova" pitchFamily="34" charset="0"/>
                <a:ea typeface="Proxima Nova" pitchFamily="34" charset="-122"/>
                <a:cs typeface="Proxima Nova" pitchFamily="34" charset="-120"/>
              </a:rPr>
              <a:t>2.17</a:t>
            </a:r>
            <a:pPr indent="0" marL="0">
              <a:buNone/>
            </a:pPr>
            <a:r>
              <a:rPr lang="en-US" sz="900" dirty="0">
                <a:solidFill>
                  <a:srgbClr val="231F20"/>
                </a:solidFill>
                <a:latin typeface="Proxima Nova" pitchFamily="34" charset="0"/>
                <a:ea typeface="Proxima Nova" pitchFamily="34" charset="-122"/>
                <a:cs typeface="Proxima Nova" pitchFamily="34" charset="-120"/>
              </a:rPr>
              <a:t>) = </a:t>
            </a:r>
            <a:pPr indent="0" marL="0">
              <a:buNone/>
            </a:pPr>
            <a:r>
              <a:rPr lang="en-US" sz="900" b="1" dirty="0">
                <a:solidFill>
                  <a:srgbClr val="125C60"/>
                </a:solidFill>
                <a:latin typeface="Proxima Nova" pitchFamily="34" charset="0"/>
                <a:ea typeface="Proxima Nova" pitchFamily="34" charset="-122"/>
                <a:cs typeface="Proxima Nova" pitchFamily="34" charset="-120"/>
              </a:rPr>
              <a:t>$118.71</a:t>
            </a:r>
            <a:pPr indent="0" marL="0">
              <a:buNone/>
            </a:pPr>
            <a:r>
              <a:rPr lang="en-US" sz="900" dirty="0">
                <a:solidFill>
                  <a:srgbClr val="231F20"/>
                </a:solidFill>
                <a:latin typeface="Proxima Nova" pitchFamily="34" charset="0"/>
                <a:ea typeface="Proxima Nova" pitchFamily="34" charset="-122"/>
                <a:cs typeface="Proxima Nova" pitchFamily="34" charset="-120"/>
              </a:rPr>
              <a:t>.</a:t>
            </a:r>
            <a:endParaRPr lang="en-US" sz="900" dirty="0"/>
          </a:p>
        </p:txBody>
      </p:sp>
      <p:sp>
        <p:nvSpPr>
          <p:cNvPr id="12" name="note-Keep in mind"/>
          <p:cNvSpPr/>
          <p:nvPr/>
        </p:nvSpPr>
        <p:spPr>
          <a:xfrm>
            <a:off x="7406640" y="4983480"/>
            <a:ext cx="4236415" cy="914400"/>
          </a:xfrm>
          <a:prstGeom prst="rect">
            <a:avLst/>
          </a:prstGeom>
          <a:solidFill>
            <a:srgbClr val="F9F9F2"/>
          </a:solidFill>
          <a:ln w="9525">
            <a:solidFill>
              <a:srgbClr val="B4D9E3"/>
            </a:solidFill>
            <a:prstDash val="solid"/>
          </a:ln>
        </p:spPr>
      </p:sp>
      <p:sp>
        <p:nvSpPr>
          <p:cNvPr id="13" name="Text 8"/>
          <p:cNvSpPr txBox="1"/>
          <p:nvPr/>
        </p:nvSpPr>
        <p:spPr>
          <a:xfrm>
            <a:off x="7516368" y="505663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KEEP IN MIND</a:t>
            </a:r>
            <a:endParaRPr lang="en-US" sz="850" dirty="0"/>
          </a:p>
        </p:txBody>
      </p:sp>
      <p:sp>
        <p:nvSpPr>
          <p:cNvPr id="14" name="Text 9"/>
          <p:cNvSpPr txBox="1"/>
          <p:nvPr/>
        </p:nvSpPr>
        <p:spPr>
          <a:xfrm>
            <a:off x="7516368" y="5276088"/>
            <a:ext cx="4016959"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These are scenarios that hold spending per day constant; they are not forecasts. The study deck shows </a:t>
            </a:r>
            <a:pPr indent="0" marL="0">
              <a:buNone/>
            </a:pPr>
            <a:r>
              <a:rPr lang="en-US" sz="900" b="1" dirty="0">
                <a:solidFill>
                  <a:srgbClr val="125C60"/>
                </a:solidFill>
                <a:latin typeface="Proxima Nova" pitchFamily="34" charset="0"/>
                <a:ea typeface="Proxima Nova" pitchFamily="34" charset="-122"/>
                <a:cs typeface="Proxima Nova" pitchFamily="34" charset="-120"/>
              </a:rPr>
              <a:t>$9.9B</a:t>
            </a:r>
            <a:pPr indent="0" marL="0">
              <a:buNone/>
            </a:pPr>
            <a:r>
              <a:rPr lang="en-US" sz="900" dirty="0">
                <a:solidFill>
                  <a:srgbClr val="231F20"/>
                </a:solidFill>
                <a:latin typeface="Proxima Nova" pitchFamily="34" charset="0"/>
                <a:ea typeface="Proxima Nova" pitchFamily="34" charset="-122"/>
                <a:cs typeface="Proxima Nova" pitchFamily="34" charset="-120"/>
              </a:rPr>
              <a:t> for the total; the calculation gives </a:t>
            </a:r>
            <a:pPr indent="0" marL="0">
              <a:buNone/>
            </a:pPr>
            <a:r>
              <a:rPr lang="en-US" sz="900" b="1" dirty="0">
                <a:solidFill>
                  <a:srgbClr val="125C60"/>
                </a:solidFill>
                <a:latin typeface="Proxima Nova" pitchFamily="34" charset="0"/>
                <a:ea typeface="Proxima Nova" pitchFamily="34" charset="-122"/>
                <a:cs typeface="Proxima Nova" pitchFamily="34" charset="-120"/>
              </a:rPr>
              <a:t>$9.98B</a:t>
            </a:r>
            <a:pPr indent="0" marL="0">
              <a:buNone/>
            </a:pPr>
            <a:r>
              <a:rPr lang="en-US" sz="900" dirty="0">
                <a:solidFill>
                  <a:srgbClr val="231F20"/>
                </a:solidFill>
                <a:latin typeface="Proxima Nova" pitchFamily="34" charset="0"/>
                <a:ea typeface="Proxima Nova" pitchFamily="34" charset="-122"/>
                <a:cs typeface="Proxima Nova" pitchFamily="34" charset="-120"/>
              </a:rPr>
              <a:t>. A countywide version needs Orange County length of stay, which can be pulled from Azira at the next update.</a:t>
            </a:r>
            <a:endParaRPr lang="en-US" sz="900" dirty="0"/>
          </a:p>
        </p:txBody>
      </p:sp>
      <p:sp>
        <p:nvSpPr>
          <p:cNvPr id="1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Extra Night study; Tourism Economics, Economic Impact of Visitors 2025 (pub. Apr.–May 2026); Visit Anaheim BI calculation; Visit Anaheim Extra Night study; Tourism Economics, Economic Impact of Visitors 2025 (pub. Apr.–May 2026). Files in the app library: One more night study (Extra Night Calculation); One more night workbook (TID Request data); Economic Impact of Visitors to Anaheim, 2025; Economic Impact of Visitors to Orange County, 2025.</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How the one-more-night estimate is built</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The detail behind: What is one more night per visitor worth?</a:t>
            </a:r>
            <a:endParaRPr lang="en-US" sz="12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291840"/>
                <a:gridCol w="2194560"/>
                <a:gridCol w="5608015"/>
              </a:tblGrid>
              <a:tr h="274320">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Step</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Value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Basis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Visitors, 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26.5M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Domestic / international share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93.2% / 6.8%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24.7M ÷ 26.5M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Average stay, domestic / international</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1.9 / 5.9 days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Azira location data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Weighted average stay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2.17 days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93.2% × 1.9 + 6.8% × 5.9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Lodging spending, 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$1.72B</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 (all accommodation types)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One more night of lodging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$794M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$1.72B ÷ 2.17 days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Total visitor spending, 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$6.83B</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Spending per visitor-day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$118.71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$6.83B ÷ (26.5M × 2.17)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One more day, overnight visitors only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$1.02B</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8.6M × spending per visitor-day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One more day, every visitor (upper bound)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$3.15B</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$6.83B ÷ 2.17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6" name="note-How it is calculated"/>
          <p:cNvSpPr/>
          <p:nvPr/>
        </p:nvSpPr>
        <p:spPr>
          <a:xfrm>
            <a:off x="548640" y="4983480"/>
            <a:ext cx="5455768" cy="914400"/>
          </a:xfrm>
          <a:prstGeom prst="rect">
            <a:avLst/>
          </a:prstGeom>
          <a:solidFill>
            <a:srgbClr val="F9F9F2"/>
          </a:solidFill>
          <a:ln w="9525">
            <a:solidFill>
              <a:srgbClr val="B4D9E3"/>
            </a:solidFill>
            <a:prstDash val="solid"/>
          </a:ln>
        </p:spPr>
      </p:sp>
      <p:sp>
        <p:nvSpPr>
          <p:cNvPr id="7" name="Text 3"/>
          <p:cNvSpPr txBox="1"/>
          <p:nvPr/>
        </p:nvSpPr>
        <p:spPr>
          <a:xfrm>
            <a:off x="658368" y="5056632"/>
            <a:ext cx="5236312"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HOW IT IS CALCULATED</a:t>
            </a:r>
            <a:endParaRPr lang="en-US" sz="850" dirty="0"/>
          </a:p>
        </p:txBody>
      </p:sp>
      <p:sp>
        <p:nvSpPr>
          <p:cNvPr id="8" name="Text 4"/>
          <p:cNvSpPr txBox="1"/>
          <p:nvPr/>
        </p:nvSpPr>
        <p:spPr>
          <a:xfrm>
            <a:off x="658368" y="5276088"/>
            <a:ext cx="5236312"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Weighted average stay = </a:t>
            </a:r>
            <a:pPr indent="0" marL="0">
              <a:buNone/>
            </a:pPr>
            <a:r>
              <a:rPr lang="en-US" sz="900" b="1" dirty="0">
                <a:solidFill>
                  <a:srgbClr val="125C60"/>
                </a:solidFill>
                <a:latin typeface="Proxima Nova" pitchFamily="34" charset="0"/>
                <a:ea typeface="Proxima Nova" pitchFamily="34" charset="-122"/>
                <a:cs typeface="Proxima Nova" pitchFamily="34" charset="-120"/>
              </a:rPr>
              <a:t>93.2%</a:t>
            </a:r>
            <a:pPr indent="0" marL="0">
              <a:buNone/>
            </a:pPr>
            <a:r>
              <a:rPr lang="en-US" sz="900" dirty="0">
                <a:solidFill>
                  <a:srgbClr val="231F20"/>
                </a:solidFill>
                <a:latin typeface="Proxima Nova" pitchFamily="34" charset="0"/>
                <a:ea typeface="Proxima Nova" pitchFamily="34" charset="-122"/>
                <a:cs typeface="Proxima Nova" pitchFamily="34" charset="-120"/>
              </a:rPr>
              <a:t> domestic × </a:t>
            </a:r>
            <a:pPr indent="0" marL="0">
              <a:buNone/>
            </a:pPr>
            <a:r>
              <a:rPr lang="en-US" sz="900" b="1" dirty="0">
                <a:solidFill>
                  <a:srgbClr val="125C60"/>
                </a:solidFill>
                <a:latin typeface="Proxima Nova" pitchFamily="34" charset="0"/>
                <a:ea typeface="Proxima Nova" pitchFamily="34" charset="-122"/>
                <a:cs typeface="Proxima Nova" pitchFamily="34" charset="-120"/>
              </a:rPr>
              <a:t>1.9 days</a:t>
            </a:r>
            <a:pPr indent="0" marL="0">
              <a:buNone/>
            </a:pPr>
            <a:r>
              <a:rPr lang="en-US" sz="900" dirty="0">
                <a:solidFill>
                  <a:srgbClr val="231F20"/>
                </a:solidFill>
                <a:latin typeface="Proxima Nova" pitchFamily="34" charset="0"/>
                <a:ea typeface="Proxima Nova" pitchFamily="34" charset="-122"/>
                <a:cs typeface="Proxima Nova" pitchFamily="34" charset="-120"/>
              </a:rPr>
              <a:t> + </a:t>
            </a:r>
            <a:pPr indent="0" marL="0">
              <a:buNone/>
            </a:pPr>
            <a:r>
              <a:rPr lang="en-US" sz="900" b="1" dirty="0">
                <a:solidFill>
                  <a:srgbClr val="125C60"/>
                </a:solidFill>
                <a:latin typeface="Proxima Nova" pitchFamily="34" charset="0"/>
                <a:ea typeface="Proxima Nova" pitchFamily="34" charset="-122"/>
                <a:cs typeface="Proxima Nova" pitchFamily="34" charset="-120"/>
              </a:rPr>
              <a:t>6.8%</a:t>
            </a:r>
            <a:pPr indent="0" marL="0">
              <a:buNone/>
            </a:pPr>
            <a:r>
              <a:rPr lang="en-US" sz="900" dirty="0">
                <a:solidFill>
                  <a:srgbClr val="231F20"/>
                </a:solidFill>
                <a:latin typeface="Proxima Nova" pitchFamily="34" charset="0"/>
                <a:ea typeface="Proxima Nova" pitchFamily="34" charset="-122"/>
                <a:cs typeface="Proxima Nova" pitchFamily="34" charset="-120"/>
              </a:rPr>
              <a:t> international × </a:t>
            </a:r>
            <a:pPr indent="0" marL="0">
              <a:buNone/>
            </a:pPr>
            <a:r>
              <a:rPr lang="en-US" sz="900" b="1" dirty="0">
                <a:solidFill>
                  <a:srgbClr val="125C60"/>
                </a:solidFill>
                <a:latin typeface="Proxima Nova" pitchFamily="34" charset="0"/>
                <a:ea typeface="Proxima Nova" pitchFamily="34" charset="-122"/>
                <a:cs typeface="Proxima Nova" pitchFamily="34" charset="-120"/>
              </a:rPr>
              <a:t>5.9 days</a:t>
            </a:r>
            <a:pPr indent="0" marL="0">
              <a:buNone/>
            </a:pPr>
            <a:r>
              <a:rPr lang="en-US" sz="900" dirty="0">
                <a:solidFill>
                  <a:srgbClr val="231F20"/>
                </a:solidFill>
                <a:latin typeface="Proxima Nova" pitchFamily="34" charset="0"/>
                <a:ea typeface="Proxima Nova" pitchFamily="34" charset="-122"/>
                <a:cs typeface="Proxima Nova" pitchFamily="34" charset="-120"/>
              </a:rPr>
              <a:t> = </a:t>
            </a:r>
            <a:pPr indent="0" marL="0">
              <a:buNone/>
            </a:pPr>
            <a:r>
              <a:rPr lang="en-US" sz="900" b="1" dirty="0">
                <a:solidFill>
                  <a:srgbClr val="125C60"/>
                </a:solidFill>
                <a:latin typeface="Proxima Nova" pitchFamily="34" charset="0"/>
                <a:ea typeface="Proxima Nova" pitchFamily="34" charset="-122"/>
                <a:cs typeface="Proxima Nova" pitchFamily="34" charset="-120"/>
              </a:rPr>
              <a:t>2.17 days</a:t>
            </a:r>
            <a:pPr indent="0" marL="0">
              <a:buNone/>
            </a:pPr>
            <a:r>
              <a:rPr lang="en-US" sz="900" dirty="0">
                <a:solidFill>
                  <a:srgbClr val="231F20"/>
                </a:solidFill>
                <a:latin typeface="Proxima Nova" pitchFamily="34" charset="0"/>
                <a:ea typeface="Proxima Nova" pitchFamily="34" charset="-122"/>
                <a:cs typeface="Proxima Nova" pitchFamily="34" charset="-120"/>
              </a:rPr>
              <a:t> (Azira stays; Tourism Economics visitor mix). Spending per day = 2025 spending ÷ </a:t>
            </a:r>
            <a:pPr indent="0" marL="0">
              <a:buNone/>
            </a:pPr>
            <a:r>
              <a:rPr lang="en-US" sz="900" b="1" dirty="0">
                <a:solidFill>
                  <a:srgbClr val="125C60"/>
                </a:solidFill>
                <a:latin typeface="Proxima Nova" pitchFamily="34" charset="0"/>
                <a:ea typeface="Proxima Nova" pitchFamily="34" charset="-122"/>
                <a:cs typeface="Proxima Nova" pitchFamily="34" charset="-120"/>
              </a:rPr>
              <a:t>2.17</a:t>
            </a:r>
            <a:pPr indent="0" marL="0">
              <a:buNone/>
            </a:pPr>
            <a:r>
              <a:rPr lang="en-US" sz="900" dirty="0">
                <a:solidFill>
                  <a:srgbClr val="231F20"/>
                </a:solidFill>
                <a:latin typeface="Proxima Nova" pitchFamily="34" charset="0"/>
                <a:ea typeface="Proxima Nova" pitchFamily="34" charset="-122"/>
                <a:cs typeface="Proxima Nova" pitchFamily="34" charset="-120"/>
              </a:rPr>
              <a:t>. Spending per visitor-day = </a:t>
            </a:r>
            <a:pPr indent="0" marL="0">
              <a:buNone/>
            </a:pPr>
            <a:r>
              <a:rPr lang="en-US" sz="900" b="1" dirty="0">
                <a:solidFill>
                  <a:srgbClr val="125C60"/>
                </a:solidFill>
                <a:latin typeface="Proxima Nova" pitchFamily="34" charset="0"/>
                <a:ea typeface="Proxima Nova" pitchFamily="34" charset="-122"/>
                <a:cs typeface="Proxima Nova" pitchFamily="34" charset="-120"/>
              </a:rPr>
              <a:t>$6.832B</a:t>
            </a:r>
            <a:pPr indent="0" marL="0">
              <a:buNone/>
            </a:pPr>
            <a:r>
              <a:rPr lang="en-US" sz="900" dirty="0">
                <a:solidFill>
                  <a:srgbClr val="231F20"/>
                </a:solidFill>
                <a:latin typeface="Proxima Nova" pitchFamily="34" charset="0"/>
                <a:ea typeface="Proxima Nova" pitchFamily="34" charset="-122"/>
                <a:cs typeface="Proxima Nova" pitchFamily="34" charset="-120"/>
              </a:rPr>
              <a:t> ÷ (</a:t>
            </a:r>
            <a:pPr indent="0" marL="0">
              <a:buNone/>
            </a:pPr>
            <a:r>
              <a:rPr lang="en-US" sz="900" b="1" dirty="0">
                <a:solidFill>
                  <a:srgbClr val="125C60"/>
                </a:solidFill>
                <a:latin typeface="Proxima Nova" pitchFamily="34" charset="0"/>
                <a:ea typeface="Proxima Nova" pitchFamily="34" charset="-122"/>
                <a:cs typeface="Proxima Nova" pitchFamily="34" charset="-120"/>
              </a:rPr>
              <a:t>26.5M</a:t>
            </a:r>
            <a:pPr indent="0" marL="0">
              <a:buNone/>
            </a:pPr>
            <a:r>
              <a:rPr lang="en-US" sz="900" dirty="0">
                <a:solidFill>
                  <a:srgbClr val="231F20"/>
                </a:solidFill>
                <a:latin typeface="Proxima Nova" pitchFamily="34" charset="0"/>
                <a:ea typeface="Proxima Nova" pitchFamily="34" charset="-122"/>
                <a:cs typeface="Proxima Nova" pitchFamily="34" charset="-120"/>
              </a:rPr>
              <a:t> × </a:t>
            </a:r>
            <a:pPr indent="0" marL="0">
              <a:buNone/>
            </a:pPr>
            <a:r>
              <a:rPr lang="en-US" sz="900" b="1" dirty="0">
                <a:solidFill>
                  <a:srgbClr val="125C60"/>
                </a:solidFill>
                <a:latin typeface="Proxima Nova" pitchFamily="34" charset="0"/>
                <a:ea typeface="Proxima Nova" pitchFamily="34" charset="-122"/>
                <a:cs typeface="Proxima Nova" pitchFamily="34" charset="-120"/>
              </a:rPr>
              <a:t>2.17</a:t>
            </a:r>
            <a:pPr indent="0" marL="0">
              <a:buNone/>
            </a:pPr>
            <a:r>
              <a:rPr lang="en-US" sz="900" dirty="0">
                <a:solidFill>
                  <a:srgbClr val="231F20"/>
                </a:solidFill>
                <a:latin typeface="Proxima Nova" pitchFamily="34" charset="0"/>
                <a:ea typeface="Proxima Nova" pitchFamily="34" charset="-122"/>
                <a:cs typeface="Proxima Nova" pitchFamily="34" charset="-120"/>
              </a:rPr>
              <a:t>) = </a:t>
            </a:r>
            <a:pPr indent="0" marL="0">
              <a:buNone/>
            </a:pPr>
            <a:r>
              <a:rPr lang="en-US" sz="900" b="1" dirty="0">
                <a:solidFill>
                  <a:srgbClr val="125C60"/>
                </a:solidFill>
                <a:latin typeface="Proxima Nova" pitchFamily="34" charset="0"/>
                <a:ea typeface="Proxima Nova" pitchFamily="34" charset="-122"/>
                <a:cs typeface="Proxima Nova" pitchFamily="34" charset="-120"/>
              </a:rPr>
              <a:t>$118.71</a:t>
            </a:r>
            <a:pPr indent="0" marL="0">
              <a:buNone/>
            </a:pPr>
            <a:r>
              <a:rPr lang="en-US" sz="900" dirty="0">
                <a:solidFill>
                  <a:srgbClr val="231F20"/>
                </a:solidFill>
                <a:latin typeface="Proxima Nova" pitchFamily="34" charset="0"/>
                <a:ea typeface="Proxima Nova" pitchFamily="34" charset="-122"/>
                <a:cs typeface="Proxima Nova" pitchFamily="34" charset="-120"/>
              </a:rPr>
              <a:t>.</a:t>
            </a:r>
            <a:endParaRPr lang="en-US" sz="900" dirty="0"/>
          </a:p>
        </p:txBody>
      </p:sp>
      <p:sp>
        <p:nvSpPr>
          <p:cNvPr id="9" name="note-Keep in mind"/>
          <p:cNvSpPr/>
          <p:nvPr/>
        </p:nvSpPr>
        <p:spPr>
          <a:xfrm>
            <a:off x="6187288" y="4983480"/>
            <a:ext cx="5455768" cy="914400"/>
          </a:xfrm>
          <a:prstGeom prst="rect">
            <a:avLst/>
          </a:prstGeom>
          <a:solidFill>
            <a:srgbClr val="F9F9F2"/>
          </a:solidFill>
          <a:ln w="9525">
            <a:solidFill>
              <a:srgbClr val="B4D9E3"/>
            </a:solidFill>
            <a:prstDash val="solid"/>
          </a:ln>
        </p:spPr>
      </p:sp>
      <p:sp>
        <p:nvSpPr>
          <p:cNvPr id="10" name="Text 6"/>
          <p:cNvSpPr txBox="1"/>
          <p:nvPr/>
        </p:nvSpPr>
        <p:spPr>
          <a:xfrm>
            <a:off x="6297016" y="5056632"/>
            <a:ext cx="5236312"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KEEP IN MIND</a:t>
            </a:r>
            <a:endParaRPr lang="en-US" sz="850" dirty="0"/>
          </a:p>
        </p:txBody>
      </p:sp>
      <p:sp>
        <p:nvSpPr>
          <p:cNvPr id="11" name="Text 7"/>
          <p:cNvSpPr txBox="1"/>
          <p:nvPr/>
        </p:nvSpPr>
        <p:spPr>
          <a:xfrm>
            <a:off x="6297016" y="5276088"/>
            <a:ext cx="5236312"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These are scenarios that hold spending per day constant; they are not forecasts. The study deck shows </a:t>
            </a:r>
            <a:pPr indent="0" marL="0">
              <a:buNone/>
            </a:pPr>
            <a:r>
              <a:rPr lang="en-US" sz="900" b="1" dirty="0">
                <a:solidFill>
                  <a:srgbClr val="125C60"/>
                </a:solidFill>
                <a:latin typeface="Proxima Nova" pitchFamily="34" charset="0"/>
                <a:ea typeface="Proxima Nova" pitchFamily="34" charset="-122"/>
                <a:cs typeface="Proxima Nova" pitchFamily="34" charset="-120"/>
              </a:rPr>
              <a:t>$9.9B</a:t>
            </a:r>
            <a:pPr indent="0" marL="0">
              <a:buNone/>
            </a:pPr>
            <a:r>
              <a:rPr lang="en-US" sz="900" dirty="0">
                <a:solidFill>
                  <a:srgbClr val="231F20"/>
                </a:solidFill>
                <a:latin typeface="Proxima Nova" pitchFamily="34" charset="0"/>
                <a:ea typeface="Proxima Nova" pitchFamily="34" charset="-122"/>
                <a:cs typeface="Proxima Nova" pitchFamily="34" charset="-120"/>
              </a:rPr>
              <a:t> for the total; the calculation gives </a:t>
            </a:r>
            <a:pPr indent="0" marL="0">
              <a:buNone/>
            </a:pPr>
            <a:r>
              <a:rPr lang="en-US" sz="900" b="1" dirty="0">
                <a:solidFill>
                  <a:srgbClr val="125C60"/>
                </a:solidFill>
                <a:latin typeface="Proxima Nova" pitchFamily="34" charset="0"/>
                <a:ea typeface="Proxima Nova" pitchFamily="34" charset="-122"/>
                <a:cs typeface="Proxima Nova" pitchFamily="34" charset="-120"/>
              </a:rPr>
              <a:t>$9.98B</a:t>
            </a:r>
            <a:pPr indent="0" marL="0">
              <a:buNone/>
            </a:pPr>
            <a:r>
              <a:rPr lang="en-US" sz="900" dirty="0">
                <a:solidFill>
                  <a:srgbClr val="231F20"/>
                </a:solidFill>
                <a:latin typeface="Proxima Nova" pitchFamily="34" charset="0"/>
                <a:ea typeface="Proxima Nova" pitchFamily="34" charset="-122"/>
                <a:cs typeface="Proxima Nova" pitchFamily="34" charset="-120"/>
              </a:rPr>
              <a:t>. A countywide version needs Orange County length of stay, which can be pulled from Azira at the next update.</a:t>
            </a:r>
            <a:endParaRPr lang="en-US" sz="900" dirty="0"/>
          </a:p>
        </p:txBody>
      </p:sp>
      <p:sp>
        <p:nvSpPr>
          <p:cNvPr id="12"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BI, Extra Night Calculation deck and TID Request workbook (2025 Tourism Economics and Azira inputs; recalculated Oct. 12,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What is the economic impact of visitor transportation?</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Transportation · Anaheim, Orange County and U.S.</a:t>
            </a:r>
            <a:endParaRPr lang="en-US" sz="1200" dirty="0"/>
          </a:p>
        </p:txBody>
      </p:sp>
      <p:sp>
        <p:nvSpPr>
          <p:cNvPr id="5" name="Text 2"/>
          <p:cNvSpPr txBox="1"/>
          <p:nvPr/>
        </p:nvSpPr>
        <p:spPr>
          <a:xfrm>
            <a:off x="548640" y="1371600"/>
            <a:ext cx="6629400" cy="868680"/>
          </a:xfrm>
          <a:prstGeom prst="rect">
            <a:avLst/>
          </a:prstGeom>
          <a:noFill/>
          <a:ln/>
        </p:spPr>
        <p:txBody>
          <a:bodyPr wrap="square" lIns="0" tIns="0" rIns="0" bIns="0" rtlCol="0" anchor="t">
            <a:normAutofit/>
          </a:bodyPr>
          <a:lstStyle/>
          <a:p>
            <a:pPr indent="0" marL="0">
              <a:buNone/>
            </a:pPr>
            <a:r>
              <a:rPr lang="en-US" sz="1200" dirty="0">
                <a:solidFill>
                  <a:srgbClr val="231F20"/>
                </a:solidFill>
                <a:latin typeface="Proxima Nova" pitchFamily="34" charset="0"/>
                <a:ea typeface="Proxima Nova" pitchFamily="34" charset="-122"/>
                <a:cs typeface="Proxima Nova" pitchFamily="34" charset="-120"/>
              </a:rPr>
              <a:t>Visitors spent </a:t>
            </a:r>
            <a:pPr indent="0" marL="0">
              <a:buNone/>
            </a:pPr>
            <a:r>
              <a:rPr lang="en-US" sz="1200" b="1" dirty="0">
                <a:solidFill>
                  <a:srgbClr val="125C60"/>
                </a:solidFill>
                <a:latin typeface="Proxima Nova" pitchFamily="34" charset="0"/>
                <a:ea typeface="Proxima Nova" pitchFamily="34" charset="-122"/>
                <a:cs typeface="Proxima Nova" pitchFamily="34" charset="-120"/>
              </a:rPr>
              <a:t>$224M</a:t>
            </a:r>
            <a:pPr indent="0" marL="0">
              <a:buNone/>
            </a:pPr>
            <a:r>
              <a:rPr lang="en-US" sz="1200" dirty="0">
                <a:solidFill>
                  <a:srgbClr val="231F20"/>
                </a:solidFill>
                <a:latin typeface="Proxima Nova" pitchFamily="34" charset="0"/>
                <a:ea typeface="Proxima Nova" pitchFamily="34" charset="-122"/>
                <a:cs typeface="Proxima Nova" pitchFamily="34" charset="-120"/>
              </a:rPr>
              <a:t> on transportation in Anaheim in 2025 (</a:t>
            </a:r>
            <a:pPr indent="0" marL="0">
              <a:buNone/>
            </a:pPr>
            <a:r>
              <a:rPr lang="en-US" sz="1200" b="1" dirty="0">
                <a:solidFill>
                  <a:srgbClr val="125C60"/>
                </a:solidFill>
                <a:latin typeface="Proxima Nova" pitchFamily="34" charset="0"/>
                <a:ea typeface="Proxima Nova" pitchFamily="34" charset="-122"/>
                <a:cs typeface="Proxima Nova" pitchFamily="34" charset="-120"/>
              </a:rPr>
              <a:t>3.3%</a:t>
            </a:r>
            <a:pPr indent="0" marL="0">
              <a:buNone/>
            </a:pPr>
            <a:r>
              <a:rPr lang="en-US" sz="1200" dirty="0">
                <a:solidFill>
                  <a:srgbClr val="231F20"/>
                </a:solidFill>
                <a:latin typeface="Proxima Nova" pitchFamily="34" charset="0"/>
                <a:ea typeface="Proxima Nova" pitchFamily="34" charset="-122"/>
                <a:cs typeface="Proxima Nova" pitchFamily="34" charset="-120"/>
              </a:rPr>
              <a:t> of spending), supporting </a:t>
            </a:r>
            <a:pPr indent="0" marL="0">
              <a:buNone/>
            </a:pPr>
            <a:r>
              <a:rPr lang="en-US" sz="1200" b="1" dirty="0">
                <a:solidFill>
                  <a:srgbClr val="125C60"/>
                </a:solidFill>
                <a:latin typeface="Proxima Nova" pitchFamily="34" charset="0"/>
                <a:ea typeface="Proxima Nova" pitchFamily="34" charset="-122"/>
                <a:cs typeface="Proxima Nova" pitchFamily="34" charset="-120"/>
              </a:rPr>
              <a:t>2,080 jobs</a:t>
            </a:r>
            <a:pPr indent="0" marL="0">
              <a:buNone/>
            </a:pPr>
            <a:r>
              <a:rPr lang="en-US" sz="1200" dirty="0">
                <a:solidFill>
                  <a:srgbClr val="231F20"/>
                </a:solidFill>
                <a:latin typeface="Proxima Nova" pitchFamily="34" charset="0"/>
                <a:ea typeface="Proxima Nova" pitchFamily="34" charset="-122"/>
                <a:cs typeface="Proxima Nova" pitchFamily="34" charset="-120"/>
              </a:rPr>
              <a:t> in transportation and gas stations. Countywide: </a:t>
            </a:r>
            <a:pPr indent="0" marL="0">
              <a:buNone/>
            </a:pPr>
            <a:r>
              <a:rPr lang="en-US" sz="1200" b="1" dirty="0">
                <a:solidFill>
                  <a:srgbClr val="125C60"/>
                </a:solidFill>
                <a:latin typeface="Proxima Nova" pitchFamily="34" charset="0"/>
                <a:ea typeface="Proxima Nova" pitchFamily="34" charset="-122"/>
                <a:cs typeface="Proxima Nova" pitchFamily="34" charset="-120"/>
              </a:rPr>
              <a:t>$707M</a:t>
            </a:r>
            <a:pPr indent="0" marL="0">
              <a:buNone/>
            </a:pPr>
            <a:r>
              <a:rPr lang="en-US" sz="1200" dirty="0">
                <a:solidFill>
                  <a:srgbClr val="231F20"/>
                </a:solidFill>
                <a:latin typeface="Proxima Nova" pitchFamily="34" charset="0"/>
                <a:ea typeface="Proxima Nova" pitchFamily="34" charset="-122"/>
                <a:cs typeface="Proxima Nova" pitchFamily="34" charset="-120"/>
              </a:rPr>
              <a:t> and </a:t>
            </a:r>
            <a:pPr indent="0" marL="0">
              <a:buNone/>
            </a:pPr>
            <a:r>
              <a:rPr lang="en-US" sz="1200" b="1" dirty="0">
                <a:solidFill>
                  <a:srgbClr val="125C60"/>
                </a:solidFill>
                <a:latin typeface="Proxima Nova" pitchFamily="34" charset="0"/>
                <a:ea typeface="Proxima Nova" pitchFamily="34" charset="-122"/>
                <a:cs typeface="Proxima Nova" pitchFamily="34" charset="-120"/>
              </a:rPr>
              <a:t>6,141 jobs</a:t>
            </a:r>
            <a:pPr indent="0" marL="0">
              <a:buNone/>
            </a:pPr>
            <a:r>
              <a:rPr lang="en-US" sz="1200" dirty="0">
                <a:solidFill>
                  <a:srgbClr val="231F20"/>
                </a:solidFill>
                <a:latin typeface="Proxima Nova" pitchFamily="34" charset="0"/>
                <a:ea typeface="Proxima Nova" pitchFamily="34" charset="-122"/>
                <a:cs typeface="Proxima Nova" pitchFamily="34" charset="-120"/>
              </a:rPr>
              <a:t>. Statewide, visitors spent </a:t>
            </a:r>
            <a:pPr indent="0" marL="0">
              <a:buNone/>
            </a:pPr>
            <a:r>
              <a:rPr lang="en-US" sz="1200" b="1" dirty="0">
                <a:solidFill>
                  <a:srgbClr val="125C60"/>
                </a:solidFill>
                <a:latin typeface="Proxima Nova" pitchFamily="34" charset="0"/>
                <a:ea typeface="Proxima Nova" pitchFamily="34" charset="-122"/>
                <a:cs typeface="Proxima Nova" pitchFamily="34" charset="-120"/>
              </a:rPr>
              <a:t>$25.2B</a:t>
            </a:r>
            <a:pPr indent="0" marL="0">
              <a:buNone/>
            </a:pPr>
            <a:r>
              <a:rPr lang="en-US" sz="1200" dirty="0">
                <a:solidFill>
                  <a:srgbClr val="231F20"/>
                </a:solidFill>
                <a:latin typeface="Proxima Nova" pitchFamily="34" charset="0"/>
                <a:ea typeface="Proxima Nova" pitchFamily="34" charset="-122"/>
                <a:cs typeface="Proxima Nova" pitchFamily="34" charset="-120"/>
              </a:rPr>
              <a:t> on local transportation, gas and air (</a:t>
            </a:r>
            <a:pPr indent="0" marL="0">
              <a:buNone/>
            </a:pPr>
            <a:r>
              <a:rPr lang="en-US" sz="1200" b="1" dirty="0">
                <a:solidFill>
                  <a:srgbClr val="125C60"/>
                </a:solidFill>
                <a:latin typeface="Proxima Nova" pitchFamily="34" charset="0"/>
                <a:ea typeface="Proxima Nova" pitchFamily="34" charset="-122"/>
                <a:cs typeface="Proxima Nova" pitchFamily="34" charset="-120"/>
              </a:rPr>
              <a:t>17.9%</a:t>
            </a:r>
            <a:pPr indent="0" marL="0">
              <a:buNone/>
            </a:pPr>
            <a:r>
              <a:rPr lang="en-US" sz="1200" dirty="0">
                <a:solidFill>
                  <a:srgbClr val="231F20"/>
                </a:solidFill>
                <a:latin typeface="Proxima Nova" pitchFamily="34" charset="0"/>
                <a:ea typeface="Proxima Nova" pitchFamily="34" charset="-122"/>
                <a:cs typeface="Proxima Nova" pitchFamily="34" charset="-120"/>
              </a:rPr>
              <a:t> of visitor spending).</a:t>
            </a:r>
            <a:endParaRPr lang="en-US" sz="12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2331720"/>
          <a:ext cx="6629400" cy="914400"/>
        </p:xfrm>
        <a:graphic>
          <a:graphicData uri="http://schemas.openxmlformats.org/drawingml/2006/table">
            <a:tbl>
              <a:tblPr/>
              <a:tblGrid>
                <a:gridCol w="1600200"/>
                <a:gridCol w="1600200"/>
                <a:gridCol w="3429000"/>
              </a:tblGrid>
              <a:tr h="384048">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Geography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Value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Detail</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Anaheim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$224M · 2,080 jobs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3.3% of spending; business sales $298M (other transport $159M + gas stations $139M); labor income $45M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Garden Grove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$46.9M · 326 jobs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6.1% of spending; business sales $51.8M; labor income $7.0M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Orange County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$707M · 6,141 jobs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3.9% of spending; business sales $973M (other transport $496M + gas $349M + air $128M); labor income $143M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California</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$25.2B · 73,100 jobs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Local transportation and gas $18.7B + visitor air $6.5B; direct jobs: ground 46,900 + air 26,200 (2025p)</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U.S. costs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$3.10 vs. $4.09</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Gasoline per gallon, U.S. vs. West Coast (2025); average domestic airfare $387</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7" name="chart-title"/>
          <p:cNvSpPr txBox="1"/>
          <p:nvPr/>
        </p:nvSpPr>
        <p:spPr>
          <a:xfrm>
            <a:off x="7406640" y="1325880"/>
            <a:ext cx="4236415"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Visitor transportation spending, share of all visitor spending, 2025 (%)</a:t>
            </a:r>
            <a:endParaRPr lang="en-US" sz="1300" dirty="0"/>
          </a:p>
        </p:txBody>
      </p:sp>
      <p:graphicFrame>
        <p:nvGraphicFramePr>
          <p:cNvPr id="8" name="chart" descr=""/>
          <p:cNvGraphicFramePr/>
          <p:nvPr/>
        </p:nvGraphicFramePr>
        <p:xfrm>
          <a:off x="7406640" y="1691640"/>
          <a:ext cx="4236415" cy="2148840"/>
        </p:xfrm>
        <a:graphic xmlns:a="http://schemas.openxmlformats.org/drawingml/2006/main">
          <a:graphicData uri="http://schemas.openxmlformats.org/drawingml/2006/chart">
            <c:chart xmlns:c="http://schemas.openxmlformats.org/drawingml/2006/chart" r:id="rId1"/>
          </a:graphicData>
        </a:graphic>
      </p:graphicFrame>
      <p:sp>
        <p:nvSpPr>
          <p:cNvPr id="9" name="note-How it is calculated"/>
          <p:cNvSpPr/>
          <p:nvPr/>
        </p:nvSpPr>
        <p:spPr>
          <a:xfrm>
            <a:off x="7406640" y="3931920"/>
            <a:ext cx="4236415" cy="987552"/>
          </a:xfrm>
          <a:prstGeom prst="rect">
            <a:avLst/>
          </a:prstGeom>
          <a:solidFill>
            <a:srgbClr val="F9F9F2"/>
          </a:solidFill>
          <a:ln w="9525">
            <a:solidFill>
              <a:srgbClr val="B4D9E3"/>
            </a:solidFill>
            <a:prstDash val="solid"/>
          </a:ln>
        </p:spPr>
      </p:sp>
      <p:sp>
        <p:nvSpPr>
          <p:cNvPr id="10" name="Text 5"/>
          <p:cNvSpPr txBox="1"/>
          <p:nvPr/>
        </p:nvSpPr>
        <p:spPr>
          <a:xfrm>
            <a:off x="7516368" y="400507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HOW IT IS CALCULATED</a:t>
            </a:r>
            <a:endParaRPr lang="en-US" sz="850" dirty="0"/>
          </a:p>
        </p:txBody>
      </p:sp>
      <p:sp>
        <p:nvSpPr>
          <p:cNvPr id="11" name="Text 6"/>
          <p:cNvSpPr txBox="1"/>
          <p:nvPr/>
        </p:nvSpPr>
        <p:spPr>
          <a:xfrm>
            <a:off x="7516368" y="4224528"/>
            <a:ext cx="4016959" cy="621792"/>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Tourism Economics transportation = ride share, taxis, trains, rental cars, buses and gasoline bought locally, plus the local share of air travel where an airport exists. Jobs and sales add the 'other transport', 'gas stations' and 'air transport' rows (direct, indirect and induced) of each report's industry tables.</a:t>
            </a:r>
            <a:endParaRPr lang="en-US" sz="900" dirty="0"/>
          </a:p>
        </p:txBody>
      </p:sp>
      <p:sp>
        <p:nvSpPr>
          <p:cNvPr id="12" name="note-Keep in mind"/>
          <p:cNvSpPr/>
          <p:nvPr/>
        </p:nvSpPr>
        <p:spPr>
          <a:xfrm>
            <a:off x="7406640" y="4983480"/>
            <a:ext cx="4236415" cy="914400"/>
          </a:xfrm>
          <a:prstGeom prst="rect">
            <a:avLst/>
          </a:prstGeom>
          <a:solidFill>
            <a:srgbClr val="F9F9F2"/>
          </a:solidFill>
          <a:ln w="9525">
            <a:solidFill>
              <a:srgbClr val="B4D9E3"/>
            </a:solidFill>
            <a:prstDash val="solid"/>
          </a:ln>
        </p:spPr>
      </p:sp>
      <p:sp>
        <p:nvSpPr>
          <p:cNvPr id="13" name="Text 8"/>
          <p:cNvSpPr txBox="1"/>
          <p:nvPr/>
        </p:nvSpPr>
        <p:spPr>
          <a:xfrm>
            <a:off x="7516368" y="505663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KEEP IN MIND</a:t>
            </a:r>
            <a:endParaRPr lang="en-US" sz="850" dirty="0"/>
          </a:p>
        </p:txBody>
      </p:sp>
      <p:sp>
        <p:nvSpPr>
          <p:cNvPr id="14" name="Text 9"/>
          <p:cNvSpPr txBox="1"/>
          <p:nvPr/>
        </p:nvSpPr>
        <p:spPr>
          <a:xfrm>
            <a:off x="7516368" y="5276088"/>
            <a:ext cx="4016959"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Shares differ because Visit California counts visitor air fares and statewide ground travel, while Anaheim (no commercial airport) counts spending inside the city. A dedicated Tourism Economics transportation impact analysis has been requested and will be added at the next quarterly update after it arrives.</a:t>
            </a:r>
            <a:endParaRPr lang="en-US" sz="900" dirty="0"/>
          </a:p>
        </p:txBody>
      </p:sp>
      <p:sp>
        <p:nvSpPr>
          <p:cNvPr id="1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of Visitors 2025 (pub. Apr.–May 2026); Visit California, The Economic Impact of Travel in California, 2025p (Dean Runyan Associates, Apr. 6, 2026); U.S. Bureau of Transportation Statistics, Transportation Economic Trends. Files in the app library: Economic Impact of Visitors to Anaheim, 2025; Economic Impact of Visitors to Garden Grove, 2025; Economic Impact of Visitors to Orange County, 2025; Transportation Economic Trends: table guide.</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Economic impact of visitor transportation, 2025</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The detail behind: What is the economic impact of visitor transportation?</a:t>
            </a:r>
            <a:endParaRPr lang="en-US" sz="12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849069"/>
                <a:gridCol w="1849069"/>
                <a:gridCol w="1849069"/>
                <a:gridCol w="1849069"/>
                <a:gridCol w="1849069"/>
                <a:gridCol w="1849069"/>
              </a:tblGrid>
              <a:tr h="274320">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Geography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Visitor transportation spending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Share of visitor spending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Business sales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Jobs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Labor income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Anaheim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$224M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3.3%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$298M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2,080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$45M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Garden Grove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$46.9M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6.1%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$51.8M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$7.0M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Orange County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$707M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$973M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6,141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$143M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California (direct only)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$25.2B</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17.9%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Not published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73,100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Not published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6" name="note-How it is calculated"/>
          <p:cNvSpPr/>
          <p:nvPr/>
        </p:nvSpPr>
        <p:spPr>
          <a:xfrm>
            <a:off x="548640" y="4983480"/>
            <a:ext cx="5455768" cy="914400"/>
          </a:xfrm>
          <a:prstGeom prst="rect">
            <a:avLst/>
          </a:prstGeom>
          <a:solidFill>
            <a:srgbClr val="F9F9F2"/>
          </a:solidFill>
          <a:ln w="9525">
            <a:solidFill>
              <a:srgbClr val="B4D9E3"/>
            </a:solidFill>
            <a:prstDash val="solid"/>
          </a:ln>
        </p:spPr>
      </p:sp>
      <p:sp>
        <p:nvSpPr>
          <p:cNvPr id="7" name="Text 3"/>
          <p:cNvSpPr txBox="1"/>
          <p:nvPr/>
        </p:nvSpPr>
        <p:spPr>
          <a:xfrm>
            <a:off x="658368" y="5056632"/>
            <a:ext cx="5236312"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HOW IT IS CALCULATED</a:t>
            </a:r>
            <a:endParaRPr lang="en-US" sz="850" dirty="0"/>
          </a:p>
        </p:txBody>
      </p:sp>
      <p:sp>
        <p:nvSpPr>
          <p:cNvPr id="8" name="Text 4"/>
          <p:cNvSpPr txBox="1"/>
          <p:nvPr/>
        </p:nvSpPr>
        <p:spPr>
          <a:xfrm>
            <a:off x="658368" y="5276088"/>
            <a:ext cx="5236312"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Tourism Economics transportation = ride share, taxis, trains, rental cars, buses and gasoline bought locally, plus the local share of air travel where an airport exists. Jobs and sales add the 'other transport', 'gas stations' and 'air transport' rows (direct, indirect and induced) of each report's industry tables.</a:t>
            </a:r>
            <a:endParaRPr lang="en-US" sz="900" dirty="0"/>
          </a:p>
        </p:txBody>
      </p:sp>
      <p:sp>
        <p:nvSpPr>
          <p:cNvPr id="9" name="note-Keep in mind"/>
          <p:cNvSpPr/>
          <p:nvPr/>
        </p:nvSpPr>
        <p:spPr>
          <a:xfrm>
            <a:off x="6187288" y="4983480"/>
            <a:ext cx="5455768" cy="914400"/>
          </a:xfrm>
          <a:prstGeom prst="rect">
            <a:avLst/>
          </a:prstGeom>
          <a:solidFill>
            <a:srgbClr val="F9F9F2"/>
          </a:solidFill>
          <a:ln w="9525">
            <a:solidFill>
              <a:srgbClr val="B4D9E3"/>
            </a:solidFill>
            <a:prstDash val="solid"/>
          </a:ln>
        </p:spPr>
      </p:sp>
      <p:sp>
        <p:nvSpPr>
          <p:cNvPr id="10" name="Text 6"/>
          <p:cNvSpPr txBox="1"/>
          <p:nvPr/>
        </p:nvSpPr>
        <p:spPr>
          <a:xfrm>
            <a:off x="6297016" y="5056632"/>
            <a:ext cx="5236312"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KEEP IN MIND</a:t>
            </a:r>
            <a:endParaRPr lang="en-US" sz="850" dirty="0"/>
          </a:p>
        </p:txBody>
      </p:sp>
      <p:sp>
        <p:nvSpPr>
          <p:cNvPr id="11" name="Text 7"/>
          <p:cNvSpPr txBox="1"/>
          <p:nvPr/>
        </p:nvSpPr>
        <p:spPr>
          <a:xfrm>
            <a:off x="6297016" y="5276088"/>
            <a:ext cx="5236312"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Shares differ because Visit California counts visitor air fares and statewide ground travel, while Anaheim (no commercial airport) counts spending inside the city. A dedicated Tourism Economics transportation impact analysis has been requested and will be added at the next quarterly update after it arrives.</a:t>
            </a:r>
            <a:endParaRPr lang="en-US" sz="900" dirty="0"/>
          </a:p>
        </p:txBody>
      </p:sp>
      <p:sp>
        <p:nvSpPr>
          <p:cNvPr id="12"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of Visitors 2025 (pub. Apr.–May 2026) (industry tables: other transport, gas stations, air transport); Visit California, The Economic Impact of Travel in California, 2025p (Dean Runyan Associates, Apr. 6, 2026) (accessed Oct. 14,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Who visits District 5, where OC Vibe is being built?</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District 5 and who visits · Anaheim, Orange County and U.S.</a:t>
            </a:r>
            <a:endParaRPr lang="en-US" sz="1200" dirty="0"/>
          </a:p>
        </p:txBody>
      </p:sp>
      <p:sp>
        <p:nvSpPr>
          <p:cNvPr id="5" name="Text 2"/>
          <p:cNvSpPr txBox="1"/>
          <p:nvPr/>
        </p:nvSpPr>
        <p:spPr>
          <a:xfrm>
            <a:off x="548640" y="1371600"/>
            <a:ext cx="6629400" cy="868680"/>
          </a:xfrm>
          <a:prstGeom prst="rect">
            <a:avLst/>
          </a:prstGeom>
          <a:noFill/>
          <a:ln/>
        </p:spPr>
        <p:txBody>
          <a:bodyPr wrap="square" lIns="0" tIns="0" rIns="0" bIns="0" rtlCol="0" anchor="t">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85.8%</a:t>
            </a:r>
            <a:pPr indent="0" marL="0">
              <a:buNone/>
            </a:pPr>
            <a:r>
              <a:rPr lang="en-US" sz="1200" dirty="0">
                <a:solidFill>
                  <a:srgbClr val="231F20"/>
                </a:solidFill>
                <a:latin typeface="Proxima Nova" pitchFamily="34" charset="0"/>
                <a:ea typeface="Proxima Nova" pitchFamily="34" charset="-122"/>
                <a:cs typeface="Proxima Nova" pitchFamily="34" charset="-120"/>
              </a:rPr>
              <a:t> of District 5 visitors stay overnight and </a:t>
            </a:r>
            <a:pPr indent="0" marL="0">
              <a:buNone/>
            </a:pPr>
            <a:r>
              <a:rPr lang="en-US" sz="1200" b="1" dirty="0">
                <a:solidFill>
                  <a:srgbClr val="125C60"/>
                </a:solidFill>
                <a:latin typeface="Proxima Nova" pitchFamily="34" charset="0"/>
                <a:ea typeface="Proxima Nova" pitchFamily="34" charset="-122"/>
                <a:cs typeface="Proxima Nova" pitchFamily="34" charset="-120"/>
              </a:rPr>
              <a:t>43.8%</a:t>
            </a:r>
            <a:pPr indent="0" marL="0">
              <a:buNone/>
            </a:pPr>
            <a:r>
              <a:rPr lang="en-US" sz="1200" dirty="0">
                <a:solidFill>
                  <a:srgbClr val="231F20"/>
                </a:solidFill>
                <a:latin typeface="Proxima Nova" pitchFamily="34" charset="0"/>
                <a:ea typeface="Proxima Nova" pitchFamily="34" charset="-122"/>
                <a:cs typeface="Proxima Nova" pitchFamily="34" charset="-120"/>
              </a:rPr>
              <a:t> are first-time visitors (Jan.–May 2026). Their median household income is </a:t>
            </a:r>
            <a:pPr indent="0" marL="0">
              <a:buNone/>
            </a:pPr>
            <a:r>
              <a:rPr lang="en-US" sz="1200" b="1" dirty="0">
                <a:solidFill>
                  <a:srgbClr val="125C60"/>
                </a:solidFill>
                <a:latin typeface="Proxima Nova" pitchFamily="34" charset="0"/>
                <a:ea typeface="Proxima Nova" pitchFamily="34" charset="-122"/>
                <a:cs typeface="Proxima Nova" pitchFamily="34" charset="-120"/>
              </a:rPr>
              <a:t>$85.7K</a:t>
            </a:r>
            <a:pPr indent="0" marL="0">
              <a:buNone/>
            </a:pPr>
            <a:r>
              <a:rPr lang="en-US" sz="1200" dirty="0">
                <a:solidFill>
                  <a:srgbClr val="231F20"/>
                </a:solidFill>
                <a:latin typeface="Proxima Nova" pitchFamily="34" charset="0"/>
                <a:ea typeface="Proxima Nova" pitchFamily="34" charset="-122"/>
                <a:cs typeface="Proxima Nova" pitchFamily="34" charset="-120"/>
              </a:rPr>
              <a:t>, above the </a:t>
            </a:r>
            <a:pPr indent="0" marL="0">
              <a:buNone/>
            </a:pPr>
            <a:r>
              <a:rPr lang="en-US" sz="1200" b="1" dirty="0">
                <a:solidFill>
                  <a:srgbClr val="125C60"/>
                </a:solidFill>
                <a:latin typeface="Proxima Nova" pitchFamily="34" charset="0"/>
                <a:ea typeface="Proxima Nova" pitchFamily="34" charset="-122"/>
                <a:cs typeface="Proxima Nova" pitchFamily="34" charset="-120"/>
              </a:rPr>
              <a:t>$79.9K</a:t>
            </a:r>
            <a:pPr indent="0" marL="0">
              <a:buNone/>
            </a:pPr>
            <a:r>
              <a:rPr lang="en-US" sz="1200" dirty="0">
                <a:solidFill>
                  <a:srgbClr val="231F20"/>
                </a:solidFill>
                <a:latin typeface="Proxima Nova" pitchFamily="34" charset="0"/>
                <a:ea typeface="Proxima Nova" pitchFamily="34" charset="-122"/>
                <a:cs typeface="Proxima Nova" pitchFamily="34" charset="-120"/>
              </a:rPr>
              <a:t> for all Anaheim and Garden Grove visitors and the </a:t>
            </a:r>
            <a:pPr indent="0" marL="0">
              <a:buNone/>
            </a:pPr>
            <a:r>
              <a:rPr lang="en-US" sz="1200" b="1" dirty="0">
                <a:solidFill>
                  <a:srgbClr val="125C60"/>
                </a:solidFill>
                <a:latin typeface="Proxima Nova" pitchFamily="34" charset="0"/>
                <a:ea typeface="Proxima Nova" pitchFamily="34" charset="-122"/>
                <a:cs typeface="Proxima Nova" pitchFamily="34" charset="-120"/>
              </a:rPr>
              <a:t>$85.4K</a:t>
            </a:r>
            <a:pPr indent="0" marL="0">
              <a:buNone/>
            </a:pPr>
            <a:r>
              <a:rPr lang="en-US" sz="1200" dirty="0">
                <a:solidFill>
                  <a:srgbClr val="231F20"/>
                </a:solidFill>
                <a:latin typeface="Proxima Nova" pitchFamily="34" charset="0"/>
                <a:ea typeface="Proxima Nova" pitchFamily="34" charset="-122"/>
                <a:cs typeface="Proxima Nova" pitchFamily="34" charset="-120"/>
              </a:rPr>
              <a:t> U.S. household median.</a:t>
            </a:r>
            <a:endParaRPr lang="en-US" sz="12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2331720"/>
          <a:ext cx="6629400" cy="914400"/>
        </p:xfrm>
        <a:graphic>
          <a:graphicData uri="http://schemas.openxmlformats.org/drawingml/2006/table">
            <a:tbl>
              <a:tblPr/>
              <a:tblGrid>
                <a:gridCol w="1600200"/>
                <a:gridCol w="1600200"/>
                <a:gridCol w="3429000"/>
              </a:tblGrid>
              <a:tr h="384048">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Geography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Value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Detail</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District 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85.8% overnight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43.8% new · median income $85.7K · 56.0% from California · sample 1,003,735 devices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Anaheim and Garden Grove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81.7% overnight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82.5% repeat · 1.3-day stay · median income $79.9K · 93.3% of trips from California</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Orange County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$121.9K</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Median household income of residents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U.S.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$85.4K</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Median household income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7" name="chart-title"/>
          <p:cNvSpPr txBox="1"/>
          <p:nvPr/>
        </p:nvSpPr>
        <p:spPr>
          <a:xfrm>
            <a:off x="7406640" y="1325880"/>
            <a:ext cx="4236415"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Top origin metros for District 5 visitors (% of unique visitors)</a:t>
            </a:r>
            <a:endParaRPr lang="en-US" sz="1300" dirty="0"/>
          </a:p>
        </p:txBody>
      </p:sp>
      <p:graphicFrame>
        <p:nvGraphicFramePr>
          <p:cNvPr id="8" name="chart" descr=""/>
          <p:cNvGraphicFramePr/>
          <p:nvPr/>
        </p:nvGraphicFramePr>
        <p:xfrm>
          <a:off x="7406640" y="1691640"/>
          <a:ext cx="4236415" cy="2148840"/>
        </p:xfrm>
        <a:graphic xmlns:a="http://schemas.openxmlformats.org/drawingml/2006/main">
          <a:graphicData uri="http://schemas.openxmlformats.org/drawingml/2006/chart">
            <c:chart xmlns:c="http://schemas.openxmlformats.org/drawingml/2006/chart" r:id="rId1"/>
          </a:graphicData>
        </a:graphic>
      </p:graphicFrame>
      <p:sp>
        <p:nvSpPr>
          <p:cNvPr id="9" name="note-How it is calculated"/>
          <p:cNvSpPr/>
          <p:nvPr/>
        </p:nvSpPr>
        <p:spPr>
          <a:xfrm>
            <a:off x="7406640" y="3931920"/>
            <a:ext cx="4236415" cy="987552"/>
          </a:xfrm>
          <a:prstGeom prst="rect">
            <a:avLst/>
          </a:prstGeom>
          <a:solidFill>
            <a:srgbClr val="F9F9F2"/>
          </a:solidFill>
          <a:ln w="9525">
            <a:solidFill>
              <a:srgbClr val="B4D9E3"/>
            </a:solidFill>
            <a:prstDash val="solid"/>
          </a:ln>
        </p:spPr>
      </p:sp>
      <p:sp>
        <p:nvSpPr>
          <p:cNvPr id="10" name="Text 5"/>
          <p:cNvSpPr txBox="1"/>
          <p:nvPr/>
        </p:nvSpPr>
        <p:spPr>
          <a:xfrm>
            <a:off x="7516368" y="400507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HOW IT IS CALCULATED</a:t>
            </a:r>
            <a:endParaRPr lang="en-US" sz="850" dirty="0"/>
          </a:p>
        </p:txBody>
      </p:sp>
      <p:sp>
        <p:nvSpPr>
          <p:cNvPr id="11" name="Text 6"/>
          <p:cNvSpPr txBox="1"/>
          <p:nvPr/>
        </p:nvSpPr>
        <p:spPr>
          <a:xfrm>
            <a:off x="7516368" y="4224528"/>
            <a:ext cx="4016959" cy="621792"/>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Azira counts mobile devices seen in District 5. Overnight and new-visitor shares cover visitors who stayed 4+ hours, are not commuters and live 50+ miles away. Income is matched from U.S. Census data for home areas.</a:t>
            </a:r>
            <a:endParaRPr lang="en-US" sz="900" dirty="0"/>
          </a:p>
        </p:txBody>
      </p:sp>
      <p:sp>
        <p:nvSpPr>
          <p:cNvPr id="12" name="note-Keep in mind"/>
          <p:cNvSpPr/>
          <p:nvPr/>
        </p:nvSpPr>
        <p:spPr>
          <a:xfrm>
            <a:off x="7406640" y="4983480"/>
            <a:ext cx="4236415" cy="914400"/>
          </a:xfrm>
          <a:prstGeom prst="rect">
            <a:avLst/>
          </a:prstGeom>
          <a:solidFill>
            <a:srgbClr val="F9F9F2"/>
          </a:solidFill>
          <a:ln w="9525">
            <a:solidFill>
              <a:srgbClr val="B4D9E3"/>
            </a:solidFill>
            <a:prstDash val="solid"/>
          </a:ln>
        </p:spPr>
      </p:sp>
      <p:sp>
        <p:nvSpPr>
          <p:cNvPr id="13" name="Text 8"/>
          <p:cNvSpPr txBox="1"/>
          <p:nvPr/>
        </p:nvSpPr>
        <p:spPr>
          <a:xfrm>
            <a:off x="7516368" y="505663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KEEP IN MIND</a:t>
            </a:r>
            <a:endParaRPr lang="en-US" sz="850" dirty="0"/>
          </a:p>
        </p:txBody>
      </p:sp>
      <p:sp>
        <p:nvSpPr>
          <p:cNvPr id="14" name="Text 9"/>
          <p:cNvSpPr txBox="1"/>
          <p:nvPr/>
        </p:nvSpPr>
        <p:spPr>
          <a:xfrm>
            <a:off x="7516368" y="5276088"/>
            <a:ext cx="4016959"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Location samples describe visitor mix; they are not visitor counts. Compare within Azira, not with Datafy or Visa.</a:t>
            </a:r>
            <a:endParaRPr lang="en-US" sz="900" dirty="0"/>
          </a:p>
        </p:txBody>
      </p:sp>
      <p:sp>
        <p:nvSpPr>
          <p:cNvPr id="1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Azira via Symphony (Jan. 1–May 31, 2026); Azira via Symphony (Aug. 2026); Oxford Economics via CoStar (Oct. 12, 2026). Files in the app library: District 5 visitor profile (POI Analysis); Domestic visitors to Anaheim and Garden Grove; Orange County hospitality market report.</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Where District 5 visitors come from</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The detail behind: Who visits District 5, where OC Vibe is being built?</a:t>
            </a:r>
            <a:endParaRPr lang="en-US" sz="12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5547208"/>
                <a:gridCol w="5547208"/>
              </a:tblGrid>
              <a:tr h="274320">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Metro area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Share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Los Angeles–Long Beach–Anaheim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23.6%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Riverside–San Bernardino–Ontario</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Washington–Arlington–Alexandria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San Diego–Chula Vista–Carlsbad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New York–Newark–Jersey City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Bakersfield–Delano</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Phoenix–Mesa–Chandler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Dallas–Fort Worth–Arlington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Las Vegas–Henderson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Chicago–Naperville–Elgin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Oxnard–Thousand Oaks–Ventura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6" name="note-How it is calculated"/>
          <p:cNvSpPr/>
          <p:nvPr/>
        </p:nvSpPr>
        <p:spPr>
          <a:xfrm>
            <a:off x="548640" y="4983480"/>
            <a:ext cx="5455768" cy="914400"/>
          </a:xfrm>
          <a:prstGeom prst="rect">
            <a:avLst/>
          </a:prstGeom>
          <a:solidFill>
            <a:srgbClr val="F9F9F2"/>
          </a:solidFill>
          <a:ln w="9525">
            <a:solidFill>
              <a:srgbClr val="B4D9E3"/>
            </a:solidFill>
            <a:prstDash val="solid"/>
          </a:ln>
        </p:spPr>
      </p:sp>
      <p:sp>
        <p:nvSpPr>
          <p:cNvPr id="7" name="Text 3"/>
          <p:cNvSpPr txBox="1"/>
          <p:nvPr/>
        </p:nvSpPr>
        <p:spPr>
          <a:xfrm>
            <a:off x="658368" y="5056632"/>
            <a:ext cx="5236312"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HOW IT IS CALCULATED</a:t>
            </a:r>
            <a:endParaRPr lang="en-US" sz="850" dirty="0"/>
          </a:p>
        </p:txBody>
      </p:sp>
      <p:sp>
        <p:nvSpPr>
          <p:cNvPr id="8" name="Text 4"/>
          <p:cNvSpPr txBox="1"/>
          <p:nvPr/>
        </p:nvSpPr>
        <p:spPr>
          <a:xfrm>
            <a:off x="658368" y="5276088"/>
            <a:ext cx="5236312"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Azira counts mobile devices seen in District 5. Overnight and new-visitor shares cover visitors who stayed 4+ hours, are not commuters and live 50+ miles away. Income is matched from U.S. Census data for home areas.</a:t>
            </a:r>
            <a:endParaRPr lang="en-US" sz="900" dirty="0"/>
          </a:p>
        </p:txBody>
      </p:sp>
      <p:sp>
        <p:nvSpPr>
          <p:cNvPr id="9" name="note-Keep in mind"/>
          <p:cNvSpPr/>
          <p:nvPr/>
        </p:nvSpPr>
        <p:spPr>
          <a:xfrm>
            <a:off x="6187288" y="4983480"/>
            <a:ext cx="5455768" cy="914400"/>
          </a:xfrm>
          <a:prstGeom prst="rect">
            <a:avLst/>
          </a:prstGeom>
          <a:solidFill>
            <a:srgbClr val="F9F9F2"/>
          </a:solidFill>
          <a:ln w="9525">
            <a:solidFill>
              <a:srgbClr val="B4D9E3"/>
            </a:solidFill>
            <a:prstDash val="solid"/>
          </a:ln>
        </p:spPr>
      </p:sp>
      <p:sp>
        <p:nvSpPr>
          <p:cNvPr id="10" name="Text 6"/>
          <p:cNvSpPr txBox="1"/>
          <p:nvPr/>
        </p:nvSpPr>
        <p:spPr>
          <a:xfrm>
            <a:off x="6297016" y="5056632"/>
            <a:ext cx="5236312"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KEEP IN MIND</a:t>
            </a:r>
            <a:endParaRPr lang="en-US" sz="850" dirty="0"/>
          </a:p>
        </p:txBody>
      </p:sp>
      <p:sp>
        <p:nvSpPr>
          <p:cNvPr id="11" name="Text 7"/>
          <p:cNvSpPr txBox="1"/>
          <p:nvPr/>
        </p:nvSpPr>
        <p:spPr>
          <a:xfrm>
            <a:off x="6297016" y="5276088"/>
            <a:ext cx="5236312"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Location samples describe visitor mix; they are not visitor counts. Compare within Azira, not with Datafy or Visa.</a:t>
            </a:r>
            <a:endParaRPr lang="en-US" sz="900" dirty="0"/>
          </a:p>
        </p:txBody>
      </p:sp>
      <p:sp>
        <p:nvSpPr>
          <p:cNvPr id="12"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Symphony | Tourism Economics, Azira POI Analysis: District 5 (Jan. 1–May 31,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Every question answered in this report</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Find the slide or open the app: Questions answered</a:t>
            </a:r>
            <a:endParaRPr lang="en-US" sz="12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2011680"/>
                <a:gridCol w="4572000"/>
                <a:gridCol w="4510735"/>
              </a:tblGrid>
              <a:tr h="210312">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Topic</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Question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Headline answer</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Orange County tourism statistics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How many visitors come to Orange County, and how many stay overnight?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51.3M Orange County visitors,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Orange County tourism statistics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Where do Orange County visitors come from?</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55.4% of Orange County visitors from Southern California, 2019</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Orange County tourism statistics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When is Orange County busiest?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80.6% July hotel occupancy, 2023-2025 average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Orange County tourism statistics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Why do people visit Orange County, and who travels with them?</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37.0% of Orange County visitors traveled with children, 2019</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Orange County tourism statistics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How many hotel rooms does Orange County have, and how full are they?</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75.2% Orange County hotel occupancy, Jan.-Aug.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Visitor spending</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What does the average visitor spend?</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$258 per Anaheim visitor,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Visitor spending</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Is visitor spending growing?</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+7.8% Anaheim visitor spending, Q2 2026 vs. Q2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Visitor spending</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What did the latest quarterly Tourism Economics report (Q2 2026) show?</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$1.76B Anaheim visitor spending, Q2 2026 (+7.8%)</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Visitor spending</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Where do visitor dollars go?</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34.0% of Anaheim visitor spending goes to recreation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Jobs and economy</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How many jobs does the visitor economy support?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67,817 Anaheim jobs supported by visitors,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Jobs and economy</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What share of visitor-supported jobs are in food and beverage?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29.1% of Orange County visitor-supported jobs are in food and beverage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Jobs and economy</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What is the total economic impact of visitors?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$10.4B Anaheim total economic impact,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Jobs and economy</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How much tax revenue do visitors generate?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$970M Anaheim state and local taxes from visitors,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One more night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What is one more night per visitor worth?</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$794M one more night of Anaheim lodging spending</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One more night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What is each 1% of visitors staying a day longer worth?</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$31.5M per 1% of Anaheim visitors adding a day</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Transportation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What is the economic impact of visitor transportation?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2,080 Anaheim transportation and gas station jobs supported by visitors,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Transportation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How do people get to the OC Vibe area?</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275,000 vehicles a weekday on SR-57 beside OC Vibe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Transportation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What does it cost to travel here?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$4.09 West Coast gasoline per gallon,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District 5 and who visits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Who visits District 5, where OC Vibe is being built?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85.8% of District 5 visitors stay overnight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District 5 and who visits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How much Anaheim visitor activity already includes the OC Vibe area?</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5.2% of Anaheim visitor days included the OC Vibe area, 2024</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District 5 and who visits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Which markets bring visitors and spending?</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46.2% of District 5 visitors come from the Los Angeles and Riverside metros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District 5 and who visits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Does Visit Anaheim's marketing bring visitors?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368,416 observed visits after ad exposure, Jan.–Aug.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Hotels and outlook</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How are hotels performing?</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78.4% Disneyland submarket hotel occupancy, 12 months to Aug.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Hotels and outlook</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What is the outlook to 2028?</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$7.7B Anaheim visitor spending forecast, 2028</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About this report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Where can I get the full reports and data behind this app?</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45 source files to view or download</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About this report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How often is this updated, and what is coming next?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Quarterly next updates Jan. 15, Apr. 15, July 15 and Oct. 15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Business Intelligence (Oct. 14,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Anaheim welcomed 26.5 million visitors who spent $6.83 billion in 2025</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Anaheim and OC Vibe today · Tourism Economics: 2025 results (pub. 2026) and 2026 forecast (Sept. 2026) · Datafy 2024 · Azira Jan.–May 2026</a:t>
            </a:r>
            <a:endParaRPr lang="en-US" sz="1200" dirty="0"/>
          </a:p>
        </p:txBody>
      </p:sp>
      <p:sp>
        <p:nvSpPr>
          <p:cNvPr id="5" name="Text 2"/>
          <p:cNvSpPr txBox="1"/>
          <p:nvPr/>
        </p:nvSpPr>
        <p:spPr>
          <a:xfrm>
            <a:off x="548640" y="1481328"/>
            <a:ext cx="7086600"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THE LEDE</a:t>
            </a:r>
            <a:endParaRPr lang="en-US" sz="1000" dirty="0"/>
          </a:p>
        </p:txBody>
      </p:sp>
      <p:sp>
        <p:nvSpPr>
          <p:cNvPr id="6" name="Text 3"/>
          <p:cNvSpPr txBox="1"/>
          <p:nvPr/>
        </p:nvSpPr>
        <p:spPr>
          <a:xfrm>
            <a:off x="548640" y="1737360"/>
            <a:ext cx="7086600" cy="1965960"/>
          </a:xfrm>
          <a:prstGeom prst="rect">
            <a:avLst/>
          </a:prstGeom>
          <a:noFill/>
          <a:ln/>
        </p:spPr>
        <p:txBody>
          <a:bodyPr wrap="square" lIns="0" tIns="0" rIns="0" bIns="0" rtlCol="0" anchor="t"/>
          <a:lstStyle/>
          <a:p>
            <a:pPr indent="0" marL="0">
              <a:buNone/>
            </a:pPr>
            <a:r>
              <a:rPr lang="en-US" sz="1350" b="1" dirty="0">
                <a:solidFill>
                  <a:srgbClr val="125C60"/>
                </a:solidFill>
                <a:latin typeface="Proxima Nova" pitchFamily="34" charset="0"/>
                <a:ea typeface="Proxima Nova" pitchFamily="34" charset="-122"/>
                <a:cs typeface="Proxima Nova" pitchFamily="34" charset="-120"/>
              </a:rPr>
              <a:t>ANAHEIM, Calif. (Oct. 13, 2026): </a:t>
            </a:r>
            <a:pPr indent="0" marL="0">
              <a:buNone/>
            </a:pPr>
            <a:r>
              <a:rPr lang="en-US" sz="1350" dirty="0">
                <a:solidFill>
                  <a:srgbClr val="231F20"/>
                </a:solidFill>
                <a:latin typeface="Proxima Nova" pitchFamily="34" charset="0"/>
                <a:ea typeface="Proxima Nova" pitchFamily="34" charset="-122"/>
                <a:cs typeface="Proxima Nova" pitchFamily="34" charset="-120"/>
              </a:rPr>
              <a:t>In 2025, </a:t>
            </a:r>
            <a:pPr indent="0" marL="0">
              <a:buNone/>
            </a:pPr>
            <a:r>
              <a:rPr lang="en-US" sz="1350" b="1" dirty="0">
                <a:solidFill>
                  <a:srgbClr val="125C60"/>
                </a:solidFill>
                <a:latin typeface="Proxima Nova" pitchFamily="34" charset="0"/>
                <a:ea typeface="Proxima Nova" pitchFamily="34" charset="-122"/>
                <a:cs typeface="Proxima Nova" pitchFamily="34" charset="-120"/>
              </a:rPr>
              <a:t>26.5M</a:t>
            </a:r>
            <a:pPr indent="0" marL="0">
              <a:buNone/>
            </a:pPr>
            <a:r>
              <a:rPr lang="en-US" sz="1350" dirty="0">
                <a:solidFill>
                  <a:srgbClr val="231F20"/>
                </a:solidFill>
                <a:latin typeface="Proxima Nova" pitchFamily="34" charset="0"/>
                <a:ea typeface="Proxima Nova" pitchFamily="34" charset="-122"/>
                <a:cs typeface="Proxima Nova" pitchFamily="34" charset="-120"/>
              </a:rPr>
              <a:t> visitors spent </a:t>
            </a:r>
            <a:pPr indent="0" marL="0">
              <a:buNone/>
            </a:pPr>
            <a:r>
              <a:rPr lang="en-US" sz="1350" b="1" dirty="0">
                <a:solidFill>
                  <a:srgbClr val="125C60"/>
                </a:solidFill>
                <a:latin typeface="Proxima Nova" pitchFamily="34" charset="0"/>
                <a:ea typeface="Proxima Nova" pitchFamily="34" charset="-122"/>
                <a:cs typeface="Proxima Nova" pitchFamily="34" charset="-120"/>
              </a:rPr>
              <a:t>$6.83B</a:t>
            </a:r>
            <a:pPr indent="0" marL="0">
              <a:buNone/>
            </a:pPr>
            <a:r>
              <a:rPr lang="en-US" sz="1350" dirty="0">
                <a:solidFill>
                  <a:srgbClr val="231F20"/>
                </a:solidFill>
                <a:latin typeface="Proxima Nova" pitchFamily="34" charset="0"/>
                <a:ea typeface="Proxima Nova" pitchFamily="34" charset="-122"/>
                <a:cs typeface="Proxima Nova" pitchFamily="34" charset="-120"/>
              </a:rPr>
              <a:t> in Anaheim, </a:t>
            </a:r>
            <a:pPr indent="0" marL="0">
              <a:buNone/>
            </a:pPr>
            <a:r>
              <a:rPr lang="en-US" sz="1350" b="1" dirty="0">
                <a:solidFill>
                  <a:srgbClr val="125C60"/>
                </a:solidFill>
                <a:latin typeface="Proxima Nova" pitchFamily="34" charset="0"/>
                <a:ea typeface="Proxima Nova" pitchFamily="34" charset="-122"/>
                <a:cs typeface="Proxima Nova" pitchFamily="34" charset="-120"/>
              </a:rPr>
              <a:t>$258</a:t>
            </a:r>
            <a:pPr indent="0" marL="0">
              <a:buNone/>
            </a:pPr>
            <a:r>
              <a:rPr lang="en-US" sz="1350" dirty="0">
                <a:solidFill>
                  <a:srgbClr val="231F20"/>
                </a:solidFill>
                <a:latin typeface="Proxima Nova" pitchFamily="34" charset="0"/>
                <a:ea typeface="Proxima Nova" pitchFamily="34" charset="-122"/>
                <a:cs typeface="Proxima Nova" pitchFamily="34" charset="-120"/>
              </a:rPr>
              <a:t> each (</a:t>
            </a:r>
            <a:pPr indent="0" marL="0">
              <a:buNone/>
            </a:pPr>
            <a:r>
              <a:rPr lang="en-US" sz="1350" b="1" dirty="0">
                <a:solidFill>
                  <a:srgbClr val="125C60"/>
                </a:solidFill>
                <a:latin typeface="Proxima Nova" pitchFamily="34" charset="0"/>
                <a:ea typeface="Proxima Nova" pitchFamily="34" charset="-122"/>
                <a:cs typeface="Proxima Nova" pitchFamily="34" charset="-120"/>
              </a:rPr>
              <a:t>$6.832B</a:t>
            </a:r>
            <a:pPr indent="0" marL="0">
              <a:buNone/>
            </a:pPr>
            <a:r>
              <a:rPr lang="en-US" sz="1350" dirty="0">
                <a:solidFill>
                  <a:srgbClr val="231F20"/>
                </a:solidFill>
                <a:latin typeface="Proxima Nova" pitchFamily="34" charset="0"/>
                <a:ea typeface="Proxima Nova" pitchFamily="34" charset="-122"/>
                <a:cs typeface="Proxima Nova" pitchFamily="34" charset="-120"/>
              </a:rPr>
              <a:t> ÷ </a:t>
            </a:r>
            <a:pPr indent="0" marL="0">
              <a:buNone/>
            </a:pPr>
            <a:r>
              <a:rPr lang="en-US" sz="1350" b="1" dirty="0">
                <a:solidFill>
                  <a:srgbClr val="125C60"/>
                </a:solidFill>
                <a:latin typeface="Proxima Nova" pitchFamily="34" charset="0"/>
                <a:ea typeface="Proxima Nova" pitchFamily="34" charset="-122"/>
                <a:cs typeface="Proxima Nova" pitchFamily="34" charset="-120"/>
              </a:rPr>
              <a:t>26.5M</a:t>
            </a:r>
            <a:pPr indent="0" marL="0">
              <a:buNone/>
            </a:pPr>
            <a:r>
              <a:rPr lang="en-US" sz="1350" dirty="0">
                <a:solidFill>
                  <a:srgbClr val="231F20"/>
                </a:solidFill>
                <a:latin typeface="Proxima Nova" pitchFamily="34" charset="0"/>
                <a:ea typeface="Proxima Nova" pitchFamily="34" charset="-122"/>
                <a:cs typeface="Proxima Nova" pitchFamily="34" charset="-120"/>
              </a:rPr>
              <a:t>), and supported </a:t>
            </a:r>
            <a:pPr indent="0" marL="0">
              <a:buNone/>
            </a:pPr>
            <a:r>
              <a:rPr lang="en-US" sz="1350" b="1" dirty="0">
                <a:solidFill>
                  <a:srgbClr val="125C60"/>
                </a:solidFill>
                <a:latin typeface="Proxima Nova" pitchFamily="34" charset="0"/>
                <a:ea typeface="Proxima Nova" pitchFamily="34" charset="-122"/>
                <a:cs typeface="Proxima Nova" pitchFamily="34" charset="-120"/>
              </a:rPr>
              <a:t>67,817 jobs</a:t>
            </a:r>
            <a:pPr indent="0" marL="0">
              <a:buNone/>
            </a:pPr>
            <a:r>
              <a:rPr lang="en-US" sz="1350" dirty="0">
                <a:solidFill>
                  <a:srgbClr val="231F20"/>
                </a:solidFill>
                <a:latin typeface="Proxima Nova" pitchFamily="34" charset="0"/>
                <a:ea typeface="Proxima Nova" pitchFamily="34" charset="-122"/>
                <a:cs typeface="Proxima Nova" pitchFamily="34" charset="-120"/>
              </a:rPr>
              <a:t> (Tourism Economics, published 2026). Tourism Economics forecasts </a:t>
            </a:r>
            <a:pPr indent="0" marL="0">
              <a:buNone/>
            </a:pPr>
            <a:r>
              <a:rPr lang="en-US" sz="1350" b="1" dirty="0">
                <a:solidFill>
                  <a:srgbClr val="125C60"/>
                </a:solidFill>
                <a:latin typeface="Proxima Nova" pitchFamily="34" charset="0"/>
                <a:ea typeface="Proxima Nova" pitchFamily="34" charset="-122"/>
                <a:cs typeface="Proxima Nova" pitchFamily="34" charset="-120"/>
              </a:rPr>
              <a:t>27.0M</a:t>
            </a:r>
            <a:pPr indent="0" marL="0">
              <a:buNone/>
            </a:pPr>
            <a:r>
              <a:rPr lang="en-US" sz="1350" dirty="0">
                <a:solidFill>
                  <a:srgbClr val="231F20"/>
                </a:solidFill>
                <a:latin typeface="Proxima Nova" pitchFamily="34" charset="0"/>
                <a:ea typeface="Proxima Nova" pitchFamily="34" charset="-122"/>
                <a:cs typeface="Proxima Nova" pitchFamily="34" charset="-120"/>
              </a:rPr>
              <a:t> visitors (</a:t>
            </a:r>
            <a:pPr indent="0" marL="0">
              <a:buNone/>
            </a:pPr>
            <a:r>
              <a:rPr lang="en-US" sz="1350" b="1" dirty="0">
                <a:solidFill>
                  <a:srgbClr val="125C60"/>
                </a:solidFill>
                <a:latin typeface="Proxima Nova" pitchFamily="34" charset="0"/>
                <a:ea typeface="Proxima Nova" pitchFamily="34" charset="-122"/>
                <a:cs typeface="Proxima Nova" pitchFamily="34" charset="-120"/>
              </a:rPr>
              <a:t>+1.9%</a:t>
            </a:r>
            <a:pPr indent="0" marL="0">
              <a:buNone/>
            </a:pPr>
            <a:r>
              <a:rPr lang="en-US" sz="1350" dirty="0">
                <a:solidFill>
                  <a:srgbClr val="231F20"/>
                </a:solidFill>
                <a:latin typeface="Proxima Nova" pitchFamily="34" charset="0"/>
                <a:ea typeface="Proxima Nova" pitchFamily="34" charset="-122"/>
                <a:cs typeface="Proxima Nova" pitchFamily="34" charset="-120"/>
              </a:rPr>
              <a:t>) and </a:t>
            </a:r>
            <a:pPr indent="0" marL="0">
              <a:buNone/>
            </a:pPr>
            <a:r>
              <a:rPr lang="en-US" sz="1350" b="1" dirty="0">
                <a:solidFill>
                  <a:srgbClr val="125C60"/>
                </a:solidFill>
                <a:latin typeface="Proxima Nova" pitchFamily="34" charset="0"/>
                <a:ea typeface="Proxima Nova" pitchFamily="34" charset="-122"/>
                <a:cs typeface="Proxima Nova" pitchFamily="34" charset="-120"/>
              </a:rPr>
              <a:t>$7.2B</a:t>
            </a:r>
            <a:pPr indent="0" marL="0">
              <a:buNone/>
            </a:pPr>
            <a:r>
              <a:rPr lang="en-US" sz="1350" dirty="0">
                <a:solidFill>
                  <a:srgbClr val="231F20"/>
                </a:solidFill>
                <a:latin typeface="Proxima Nova" pitchFamily="34" charset="0"/>
                <a:ea typeface="Proxima Nova" pitchFamily="34" charset="-122"/>
                <a:cs typeface="Proxima Nova" pitchFamily="34" charset="-120"/>
              </a:rPr>
              <a:t> (</a:t>
            </a:r>
            <a:pPr indent="0" marL="0">
              <a:buNone/>
            </a:pPr>
            <a:r>
              <a:rPr lang="en-US" sz="1350" b="1" dirty="0">
                <a:solidFill>
                  <a:srgbClr val="125C60"/>
                </a:solidFill>
                <a:latin typeface="Proxima Nova" pitchFamily="34" charset="0"/>
                <a:ea typeface="Proxima Nova" pitchFamily="34" charset="-122"/>
                <a:cs typeface="Proxima Nova" pitchFamily="34" charset="-120"/>
              </a:rPr>
              <a:t>+5.6%</a:t>
            </a:r>
            <a:pPr indent="0" marL="0">
              <a:buNone/>
            </a:pPr>
            <a:r>
              <a:rPr lang="en-US" sz="1350" dirty="0">
                <a:solidFill>
                  <a:srgbClr val="231F20"/>
                </a:solidFill>
                <a:latin typeface="Proxima Nova" pitchFamily="34" charset="0"/>
                <a:ea typeface="Proxima Nova" pitchFamily="34" charset="-122"/>
                <a:cs typeface="Proxima Nova" pitchFamily="34" charset="-120"/>
              </a:rPr>
              <a:t>) for 2026. These are City of Anaheim totals; they do not measure OC Vibe. For the OC Vibe area today, Datafy measured </a:t>
            </a:r>
            <a:pPr indent="0" marL="0">
              <a:buNone/>
            </a:pPr>
            <a:r>
              <a:rPr lang="en-US" sz="1350" b="1" dirty="0">
                <a:solidFill>
                  <a:srgbClr val="125C60"/>
                </a:solidFill>
                <a:latin typeface="Proxima Nova" pitchFamily="34" charset="0"/>
                <a:ea typeface="Proxima Nova" pitchFamily="34" charset="-122"/>
                <a:cs typeface="Proxima Nova" pitchFamily="34" charset="-120"/>
              </a:rPr>
              <a:t>5.2%</a:t>
            </a:r>
            <a:pPr indent="0" marL="0">
              <a:buNone/>
            </a:pPr>
            <a:r>
              <a:rPr lang="en-US" sz="1350" dirty="0">
                <a:solidFill>
                  <a:srgbClr val="231F20"/>
                </a:solidFill>
                <a:latin typeface="Proxima Nova" pitchFamily="34" charset="0"/>
                <a:ea typeface="Proxima Nova" pitchFamily="34" charset="-122"/>
                <a:cs typeface="Proxima Nova" pitchFamily="34" charset="-120"/>
              </a:rPr>
              <a:t> of Anaheim visitor days in 2024, and </a:t>
            </a:r>
            <a:pPr indent="0" marL="0">
              <a:buNone/>
            </a:pPr>
            <a:r>
              <a:rPr lang="en-US" sz="1350" b="1" dirty="0">
                <a:solidFill>
                  <a:srgbClr val="125C60"/>
                </a:solidFill>
                <a:latin typeface="Proxima Nova" pitchFamily="34" charset="0"/>
                <a:ea typeface="Proxima Nova" pitchFamily="34" charset="-122"/>
                <a:cs typeface="Proxima Nova" pitchFamily="34" charset="-120"/>
              </a:rPr>
              <a:t>85.8%</a:t>
            </a:r>
            <a:pPr indent="0" marL="0">
              <a:buNone/>
            </a:pPr>
            <a:r>
              <a:rPr lang="en-US" sz="1350" dirty="0">
                <a:solidFill>
                  <a:srgbClr val="231F20"/>
                </a:solidFill>
                <a:latin typeface="Proxima Nova" pitchFamily="34" charset="0"/>
                <a:ea typeface="Proxima Nova" pitchFamily="34" charset="-122"/>
                <a:cs typeface="Proxima Nova" pitchFamily="34" charset="-120"/>
              </a:rPr>
              <a:t> of District 5 visitors stay overnight (Azira, Jan.–May 2026).</a:t>
            </a:r>
            <a:endParaRPr lang="en-US" sz="1350" dirty="0"/>
          </a:p>
        </p:txBody>
      </p:sp>
      <p:sp>
        <p:nvSpPr>
          <p:cNvPr id="7" name="Shape 4"/>
          <p:cNvSpPr/>
          <p:nvPr/>
        </p:nvSpPr>
        <p:spPr>
          <a:xfrm>
            <a:off x="548640" y="3822192"/>
            <a:ext cx="7086600" cy="45720"/>
          </a:xfrm>
          <a:prstGeom prst="rect">
            <a:avLst/>
          </a:prstGeom>
          <a:solidFill>
            <a:srgbClr val="125C60"/>
          </a:solidFill>
          <a:ln w="12700">
            <a:solidFill>
              <a:srgbClr val="125C60"/>
            </a:solidFill>
            <a:prstDash val="solid"/>
          </a:ln>
        </p:spPr>
      </p:sp>
      <p:sp>
        <p:nvSpPr>
          <p:cNvPr id="8" name="Text 5"/>
          <p:cNvSpPr txBox="1"/>
          <p:nvPr/>
        </p:nvSpPr>
        <p:spPr>
          <a:xfrm>
            <a:off x="548640" y="3931920"/>
            <a:ext cx="7086600"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WHY IT MATTERS</a:t>
            </a:r>
            <a:endParaRPr lang="en-US" sz="1000" dirty="0"/>
          </a:p>
        </p:txBody>
      </p:sp>
      <p:sp>
        <p:nvSpPr>
          <p:cNvPr id="9" name="Text 6"/>
          <p:cNvSpPr txBox="1"/>
          <p:nvPr/>
        </p:nvSpPr>
        <p:spPr>
          <a:xfrm>
            <a:off x="548640" y="4187952"/>
            <a:ext cx="7086600" cy="1691640"/>
          </a:xfrm>
          <a:prstGeom prst="rect">
            <a:avLst/>
          </a:prstGeom>
          <a:noFill/>
          <a:ln/>
        </p:spPr>
        <p:txBody>
          <a:bodyPr wrap="square" lIns="0" tIns="0" rIns="0" bIns="0" rtlCol="0" anchor="t"/>
          <a:lstStyle/>
          <a:p>
            <a:pPr indent="0" marL="0">
              <a:buNone/>
            </a:pPr>
            <a:r>
              <a:rPr lang="en-US" sz="1250" dirty="0">
                <a:solidFill>
                  <a:srgbClr val="231F20"/>
                </a:solidFill>
                <a:latin typeface="Proxima Nova" pitchFamily="34" charset="0"/>
                <a:ea typeface="Proxima Nova" pitchFamily="34" charset="-122"/>
                <a:cs typeface="Proxima Nova" pitchFamily="34" charset="-120"/>
              </a:rPr>
              <a:t>These are City of Anaheim totals, measured before OC Vibe's first venues open in 2027, so they set the baseline that OC Vibe's own results can be compared with later. Tourism Economics does not measure OC Vibe; the OC Vibe area's </a:t>
            </a:r>
            <a:pPr indent="0" marL="0">
              <a:buNone/>
            </a:pPr>
            <a:r>
              <a:rPr lang="en-US" sz="1250" b="1" dirty="0">
                <a:solidFill>
                  <a:srgbClr val="125C60"/>
                </a:solidFill>
                <a:latin typeface="Proxima Nova" pitchFamily="34" charset="0"/>
                <a:ea typeface="Proxima Nova" pitchFamily="34" charset="-122"/>
                <a:cs typeface="Proxima Nova" pitchFamily="34" charset="-120"/>
              </a:rPr>
              <a:t>5.2%</a:t>
            </a:r>
            <a:pPr indent="0" marL="0">
              <a:buNone/>
            </a:pPr>
            <a:r>
              <a:rPr lang="en-US" sz="1250" dirty="0">
                <a:solidFill>
                  <a:srgbClr val="231F20"/>
                </a:solidFill>
                <a:latin typeface="Proxima Nova" pitchFamily="34" charset="0"/>
                <a:ea typeface="Proxima Nova" pitchFamily="34" charset="-122"/>
                <a:cs typeface="Proxima Nova" pitchFamily="34" charset="-120"/>
              </a:rPr>
              <a:t> share of Anaheim visitor days comes from Datafy (calendar 2024).</a:t>
            </a:r>
            <a:endParaRPr lang="en-US" sz="1250" dirty="0"/>
          </a:p>
        </p:txBody>
      </p:sp>
      <p:sp>
        <p:nvSpPr>
          <p:cNvPr id="10" name="Text 7"/>
          <p:cNvSpPr txBox="1"/>
          <p:nvPr/>
        </p:nvSpPr>
        <p:spPr>
          <a:xfrm>
            <a:off x="8001000" y="1481328"/>
            <a:ext cx="3642055"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BY THE NUMBERS</a:t>
            </a:r>
            <a:endParaRPr lang="en-US" sz="1000" dirty="0"/>
          </a:p>
        </p:txBody>
      </p:sp>
      <p:sp>
        <p:nvSpPr>
          <p:cNvPr id="11" name="news-stat-0"/>
          <p:cNvSpPr/>
          <p:nvPr/>
        </p:nvSpPr>
        <p:spPr>
          <a:xfrm>
            <a:off x="8001000" y="1755648"/>
            <a:ext cx="3642055" cy="1280160"/>
          </a:xfrm>
          <a:prstGeom prst="roundRect">
            <a:avLst>
              <a:gd name="adj" fmla="val 4286"/>
            </a:avLst>
          </a:prstGeom>
          <a:solidFill>
            <a:srgbClr val="FFFFFF"/>
          </a:solidFill>
          <a:ln w="12700">
            <a:solidFill>
              <a:srgbClr val="B4D9E3"/>
            </a:solidFill>
            <a:prstDash val="solid"/>
          </a:ln>
        </p:spPr>
      </p:sp>
      <p:sp>
        <p:nvSpPr>
          <p:cNvPr id="12" name="Text 9"/>
          <p:cNvSpPr txBox="1"/>
          <p:nvPr/>
        </p:nvSpPr>
        <p:spPr>
          <a:xfrm>
            <a:off x="8138160" y="18288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ANAHEIM, 2025</a:t>
            </a:r>
            <a:endParaRPr lang="en-US" sz="850" dirty="0"/>
          </a:p>
        </p:txBody>
      </p:sp>
      <p:sp>
        <p:nvSpPr>
          <p:cNvPr id="13" name="Text 10"/>
          <p:cNvSpPr txBox="1"/>
          <p:nvPr/>
        </p:nvSpPr>
        <p:spPr>
          <a:xfrm>
            <a:off x="8138160" y="20299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26.5M</a:t>
            </a:r>
            <a:endParaRPr lang="en-US" sz="2200" dirty="0"/>
          </a:p>
        </p:txBody>
      </p:sp>
      <p:sp>
        <p:nvSpPr>
          <p:cNvPr id="14" name="Text 11"/>
          <p:cNvSpPr txBox="1"/>
          <p:nvPr/>
        </p:nvSpPr>
        <p:spPr>
          <a:xfrm>
            <a:off x="8138160" y="24505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Visitors</a:t>
            </a:r>
            <a:endParaRPr lang="en-US" sz="1050" dirty="0"/>
          </a:p>
        </p:txBody>
      </p:sp>
      <p:sp>
        <p:nvSpPr>
          <p:cNvPr id="15" name="Text 12"/>
          <p:cNvSpPr txBox="1"/>
          <p:nvPr/>
        </p:nvSpPr>
        <p:spPr>
          <a:xfrm>
            <a:off x="8138160" y="27249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Tourism Economics (2025; pub. 2026)</a:t>
            </a:r>
            <a:endParaRPr lang="en-US" sz="750" dirty="0"/>
          </a:p>
        </p:txBody>
      </p:sp>
      <p:sp>
        <p:nvSpPr>
          <p:cNvPr id="16" name="news-stat-1"/>
          <p:cNvSpPr/>
          <p:nvPr/>
        </p:nvSpPr>
        <p:spPr>
          <a:xfrm>
            <a:off x="8001000" y="3127248"/>
            <a:ext cx="3642055" cy="1280160"/>
          </a:xfrm>
          <a:prstGeom prst="roundRect">
            <a:avLst>
              <a:gd name="adj" fmla="val 4286"/>
            </a:avLst>
          </a:prstGeom>
          <a:solidFill>
            <a:srgbClr val="FFFFFF"/>
          </a:solidFill>
          <a:ln w="12700">
            <a:solidFill>
              <a:srgbClr val="B4D9E3"/>
            </a:solidFill>
            <a:prstDash val="solid"/>
          </a:ln>
        </p:spPr>
      </p:sp>
      <p:sp>
        <p:nvSpPr>
          <p:cNvPr id="17" name="Text 14"/>
          <p:cNvSpPr txBox="1"/>
          <p:nvPr/>
        </p:nvSpPr>
        <p:spPr>
          <a:xfrm>
            <a:off x="8138160" y="32004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ANAHEIM, 2025</a:t>
            </a:r>
            <a:endParaRPr lang="en-US" sz="850" dirty="0"/>
          </a:p>
        </p:txBody>
      </p:sp>
      <p:sp>
        <p:nvSpPr>
          <p:cNvPr id="18" name="Text 15"/>
          <p:cNvSpPr txBox="1"/>
          <p:nvPr/>
        </p:nvSpPr>
        <p:spPr>
          <a:xfrm>
            <a:off x="8138160" y="34015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$6.83B</a:t>
            </a:r>
            <a:endParaRPr lang="en-US" sz="2200" dirty="0"/>
          </a:p>
        </p:txBody>
      </p:sp>
      <p:sp>
        <p:nvSpPr>
          <p:cNvPr id="19" name="Text 16"/>
          <p:cNvSpPr txBox="1"/>
          <p:nvPr/>
        </p:nvSpPr>
        <p:spPr>
          <a:xfrm>
            <a:off x="8138160" y="38221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Visitor spending</a:t>
            </a:r>
            <a:endParaRPr lang="en-US" sz="1050" dirty="0"/>
          </a:p>
        </p:txBody>
      </p:sp>
      <p:sp>
        <p:nvSpPr>
          <p:cNvPr id="20" name="Text 17"/>
          <p:cNvSpPr txBox="1"/>
          <p:nvPr/>
        </p:nvSpPr>
        <p:spPr>
          <a:xfrm>
            <a:off x="8138160" y="40965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Tourism Economics (2025; pub. 2026)</a:t>
            </a:r>
            <a:endParaRPr lang="en-US" sz="750" dirty="0"/>
          </a:p>
        </p:txBody>
      </p:sp>
      <p:sp>
        <p:nvSpPr>
          <p:cNvPr id="21" name="news-stat-2"/>
          <p:cNvSpPr/>
          <p:nvPr/>
        </p:nvSpPr>
        <p:spPr>
          <a:xfrm>
            <a:off x="8001000" y="4498848"/>
            <a:ext cx="3642055" cy="1280160"/>
          </a:xfrm>
          <a:prstGeom prst="roundRect">
            <a:avLst>
              <a:gd name="adj" fmla="val 4286"/>
            </a:avLst>
          </a:prstGeom>
          <a:solidFill>
            <a:srgbClr val="FFFFFF"/>
          </a:solidFill>
          <a:ln w="12700">
            <a:solidFill>
              <a:srgbClr val="B4D9E3"/>
            </a:solidFill>
            <a:prstDash val="solid"/>
          </a:ln>
        </p:spPr>
      </p:sp>
      <p:sp>
        <p:nvSpPr>
          <p:cNvPr id="22" name="Text 19"/>
          <p:cNvSpPr txBox="1"/>
          <p:nvPr/>
        </p:nvSpPr>
        <p:spPr>
          <a:xfrm>
            <a:off x="8138160" y="45720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ANAHEIM, 2025</a:t>
            </a:r>
            <a:endParaRPr lang="en-US" sz="850" dirty="0"/>
          </a:p>
        </p:txBody>
      </p:sp>
      <p:sp>
        <p:nvSpPr>
          <p:cNvPr id="23" name="Text 20"/>
          <p:cNvSpPr txBox="1"/>
          <p:nvPr/>
        </p:nvSpPr>
        <p:spPr>
          <a:xfrm>
            <a:off x="8138160" y="47731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67,817</a:t>
            </a:r>
            <a:endParaRPr lang="en-US" sz="2200" dirty="0"/>
          </a:p>
        </p:txBody>
      </p:sp>
      <p:sp>
        <p:nvSpPr>
          <p:cNvPr id="24" name="Text 21"/>
          <p:cNvSpPr txBox="1"/>
          <p:nvPr/>
        </p:nvSpPr>
        <p:spPr>
          <a:xfrm>
            <a:off x="8138160" y="51937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Jobs supported by visitors</a:t>
            </a:r>
            <a:endParaRPr lang="en-US" sz="1050" dirty="0"/>
          </a:p>
        </p:txBody>
      </p:sp>
      <p:sp>
        <p:nvSpPr>
          <p:cNvPr id="25" name="Text 22"/>
          <p:cNvSpPr txBox="1"/>
          <p:nvPr/>
        </p:nvSpPr>
        <p:spPr>
          <a:xfrm>
            <a:off x="8138160" y="54681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Tourism Economics (2025; pub. 2026)</a:t>
            </a:r>
            <a:endParaRPr lang="en-US" sz="750" dirty="0"/>
          </a:p>
        </p:txBody>
      </p:sp>
      <p:sp>
        <p:nvSpPr>
          <p:cNvPr id="2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of Visitors (calendar 2025; pub. 2026); Tourism Economics, Anaheim Travel Forecast (Sept. 2026); Datafy Anaheim visitor report (calendar 2024); Azira via Symphony (District 5, Jan. 1–May 31, 2026; domestic visitors, Aug.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The details: Anaheim and OC Vibe today</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who, what, when, where, why and how, each with its figure, source and date</a:t>
            </a:r>
            <a:endParaRPr lang="en-US" sz="1200" dirty="0"/>
          </a:p>
        </p:txBody>
      </p:sp>
      <p:sp>
        <p:nvSpPr>
          <p:cNvPr id="4" name="detail-card-0"/>
          <p:cNvSpPr/>
          <p:nvPr/>
        </p:nvSpPr>
        <p:spPr>
          <a:xfrm>
            <a:off x="548640" y="1417320"/>
            <a:ext cx="3588410" cy="2176272"/>
          </a:xfrm>
          <a:prstGeom prst="rect">
            <a:avLst/>
          </a:prstGeom>
          <a:solidFill>
            <a:srgbClr val="FFFFFF"/>
          </a:solidFill>
          <a:ln w="12700">
            <a:solidFill>
              <a:srgbClr val="B4D9E3"/>
            </a:solidFill>
            <a:prstDash val="solid"/>
          </a:ln>
        </p:spPr>
      </p:sp>
      <p:sp>
        <p:nvSpPr>
          <p:cNvPr id="5" name="Shape 3"/>
          <p:cNvSpPr/>
          <p:nvPr/>
        </p:nvSpPr>
        <p:spPr>
          <a:xfrm>
            <a:off x="548640" y="1417320"/>
            <a:ext cx="3588410" cy="64008"/>
          </a:xfrm>
          <a:prstGeom prst="rect">
            <a:avLst/>
          </a:prstGeom>
          <a:solidFill>
            <a:srgbClr val="43A3A3"/>
          </a:solidFill>
          <a:ln w="12700">
            <a:solidFill>
              <a:srgbClr val="43A3A3"/>
            </a:solidFill>
            <a:prstDash val="solid"/>
          </a:ln>
        </p:spPr>
      </p:sp>
      <p:sp>
        <p:nvSpPr>
          <p:cNvPr id="6" name="Text 4"/>
          <p:cNvSpPr txBox="1"/>
          <p:nvPr/>
        </p:nvSpPr>
        <p:spPr>
          <a:xfrm>
            <a:off x="685800"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WHO</a:t>
            </a:r>
            <a:endParaRPr lang="en-US" sz="900" dirty="0"/>
          </a:p>
        </p:txBody>
      </p:sp>
      <p:sp>
        <p:nvSpPr>
          <p:cNvPr id="7" name="Text 5"/>
          <p:cNvSpPr txBox="1"/>
          <p:nvPr/>
        </p:nvSpPr>
        <p:spPr>
          <a:xfrm>
            <a:off x="685800"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26.5M</a:t>
            </a:r>
            <a:endParaRPr lang="en-US" sz="2200" dirty="0"/>
          </a:p>
        </p:txBody>
      </p:sp>
      <p:sp>
        <p:nvSpPr>
          <p:cNvPr id="8" name="Text 6"/>
          <p:cNvSpPr txBox="1"/>
          <p:nvPr/>
        </p:nvSpPr>
        <p:spPr>
          <a:xfrm>
            <a:off x="685800"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Anaheim visitors, 2025</a:t>
            </a:r>
            <a:endParaRPr lang="en-US" sz="1000" dirty="0"/>
          </a:p>
        </p:txBody>
      </p:sp>
      <p:sp>
        <p:nvSpPr>
          <p:cNvPr id="9" name="Text 7"/>
          <p:cNvSpPr txBox="1"/>
          <p:nvPr/>
        </p:nvSpPr>
        <p:spPr>
          <a:xfrm>
            <a:off x="685800"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Visitors to the City of Anaheim (travelling 50+ miles or staying overnight) and visitors to District 5, where OC Vibe is being built.</a:t>
            </a:r>
            <a:endParaRPr lang="en-US" sz="950" dirty="0"/>
          </a:p>
        </p:txBody>
      </p:sp>
      <p:sp>
        <p:nvSpPr>
          <p:cNvPr id="10" name="Text 8"/>
          <p:cNvSpPr txBox="1"/>
          <p:nvPr/>
        </p:nvSpPr>
        <p:spPr>
          <a:xfrm>
            <a:off x="685800"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Tourism Economics, Economic Impact of Visitors (calendar 2025; pub. 2026)</a:t>
            </a:r>
            <a:endParaRPr lang="en-US" sz="700" dirty="0"/>
          </a:p>
        </p:txBody>
      </p:sp>
      <p:sp>
        <p:nvSpPr>
          <p:cNvPr id="11" name="detail-card-1"/>
          <p:cNvSpPr/>
          <p:nvPr/>
        </p:nvSpPr>
        <p:spPr>
          <a:xfrm>
            <a:off x="4301642" y="1417320"/>
            <a:ext cx="3588410" cy="2176272"/>
          </a:xfrm>
          <a:prstGeom prst="rect">
            <a:avLst/>
          </a:prstGeom>
          <a:solidFill>
            <a:srgbClr val="FFFFFF"/>
          </a:solidFill>
          <a:ln w="12700">
            <a:solidFill>
              <a:srgbClr val="B4D9E3"/>
            </a:solidFill>
            <a:prstDash val="solid"/>
          </a:ln>
        </p:spPr>
      </p:sp>
      <p:sp>
        <p:nvSpPr>
          <p:cNvPr id="12" name="Shape 10"/>
          <p:cNvSpPr/>
          <p:nvPr/>
        </p:nvSpPr>
        <p:spPr>
          <a:xfrm>
            <a:off x="4301642" y="1417320"/>
            <a:ext cx="3588410" cy="64008"/>
          </a:xfrm>
          <a:prstGeom prst="rect">
            <a:avLst/>
          </a:prstGeom>
          <a:solidFill>
            <a:srgbClr val="43A3A3"/>
          </a:solidFill>
          <a:ln w="12700">
            <a:solidFill>
              <a:srgbClr val="43A3A3"/>
            </a:solidFill>
            <a:prstDash val="solid"/>
          </a:ln>
        </p:spPr>
      </p:sp>
      <p:sp>
        <p:nvSpPr>
          <p:cNvPr id="13" name="Text 11"/>
          <p:cNvSpPr txBox="1"/>
          <p:nvPr/>
        </p:nvSpPr>
        <p:spPr>
          <a:xfrm>
            <a:off x="4438802"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WHAT</a:t>
            </a:r>
            <a:endParaRPr lang="en-US" sz="900" dirty="0"/>
          </a:p>
        </p:txBody>
      </p:sp>
      <p:sp>
        <p:nvSpPr>
          <p:cNvPr id="14" name="Text 12"/>
          <p:cNvSpPr txBox="1"/>
          <p:nvPr/>
        </p:nvSpPr>
        <p:spPr>
          <a:xfrm>
            <a:off x="4438802"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$6.83B</a:t>
            </a:r>
            <a:endParaRPr lang="en-US" sz="2200" dirty="0"/>
          </a:p>
        </p:txBody>
      </p:sp>
      <p:sp>
        <p:nvSpPr>
          <p:cNvPr id="15" name="Text 13"/>
          <p:cNvSpPr txBox="1"/>
          <p:nvPr/>
        </p:nvSpPr>
        <p:spPr>
          <a:xfrm>
            <a:off x="4438802"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visitor spending, 2025</a:t>
            </a:r>
            <a:endParaRPr lang="en-US" sz="1000" dirty="0"/>
          </a:p>
        </p:txBody>
      </p:sp>
      <p:sp>
        <p:nvSpPr>
          <p:cNvPr id="16" name="Text 14"/>
          <p:cNvSpPr txBox="1"/>
          <p:nvPr/>
        </p:nvSpPr>
        <p:spPr>
          <a:xfrm>
            <a:off x="4438802"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Anaheim: </a:t>
            </a:r>
            <a:pPr indent="0" marL="0">
              <a:buNone/>
            </a:pPr>
            <a:r>
              <a:rPr lang="en-US" sz="950" b="1" dirty="0">
                <a:solidFill>
                  <a:srgbClr val="125C60"/>
                </a:solidFill>
                <a:latin typeface="Proxima Nova" pitchFamily="34" charset="0"/>
                <a:ea typeface="Proxima Nova" pitchFamily="34" charset="-122"/>
                <a:cs typeface="Proxima Nova" pitchFamily="34" charset="-120"/>
              </a:rPr>
              <a:t>26.5M</a:t>
            </a:r>
            <a:pPr indent="0" marL="0">
              <a:buNone/>
            </a:pPr>
            <a:r>
              <a:rPr lang="en-US" sz="950" dirty="0">
                <a:solidFill>
                  <a:srgbClr val="231F20"/>
                </a:solidFill>
                <a:latin typeface="Proxima Nova" pitchFamily="34" charset="0"/>
                <a:ea typeface="Proxima Nova" pitchFamily="34" charset="-122"/>
                <a:cs typeface="Proxima Nova" pitchFamily="34" charset="-120"/>
              </a:rPr>
              <a:t> visitors, </a:t>
            </a:r>
            <a:pPr indent="0" marL="0">
              <a:buNone/>
            </a:pPr>
            <a:r>
              <a:rPr lang="en-US" sz="950" b="1" dirty="0">
                <a:solidFill>
                  <a:srgbClr val="125C60"/>
                </a:solidFill>
                <a:latin typeface="Proxima Nova" pitchFamily="34" charset="0"/>
                <a:ea typeface="Proxima Nova" pitchFamily="34" charset="-122"/>
                <a:cs typeface="Proxima Nova" pitchFamily="34" charset="-120"/>
              </a:rPr>
              <a:t>$6.83B</a:t>
            </a:r>
            <a:pPr indent="0" marL="0">
              <a:buNone/>
            </a:pPr>
            <a:r>
              <a:rPr lang="en-US" sz="950" dirty="0">
                <a:solidFill>
                  <a:srgbClr val="231F20"/>
                </a:solidFill>
                <a:latin typeface="Proxima Nova" pitchFamily="34" charset="0"/>
                <a:ea typeface="Proxima Nova" pitchFamily="34" charset="-122"/>
                <a:cs typeface="Proxima Nova" pitchFamily="34" charset="-120"/>
              </a:rPr>
              <a:t> spending, </a:t>
            </a:r>
            <a:pPr indent="0" marL="0">
              <a:buNone/>
            </a:pPr>
            <a:r>
              <a:rPr lang="en-US" sz="950" b="1" dirty="0">
                <a:solidFill>
                  <a:srgbClr val="125C60"/>
                </a:solidFill>
                <a:latin typeface="Proxima Nova" pitchFamily="34" charset="0"/>
                <a:ea typeface="Proxima Nova" pitchFamily="34" charset="-122"/>
                <a:cs typeface="Proxima Nova" pitchFamily="34" charset="-120"/>
              </a:rPr>
              <a:t>67,817 jobs</a:t>
            </a:r>
            <a:pPr indent="0" marL="0">
              <a:buNone/>
            </a:pPr>
            <a:r>
              <a:rPr lang="en-US" sz="950" dirty="0">
                <a:solidFill>
                  <a:srgbClr val="231F20"/>
                </a:solidFill>
                <a:latin typeface="Proxima Nova" pitchFamily="34" charset="0"/>
                <a:ea typeface="Proxima Nova" pitchFamily="34" charset="-122"/>
                <a:cs typeface="Proxima Nova" pitchFamily="34" charset="-120"/>
              </a:rPr>
              <a:t> and </a:t>
            </a:r>
            <a:pPr indent="0" marL="0">
              <a:buNone/>
            </a:pPr>
            <a:r>
              <a:rPr lang="en-US" sz="950" b="1" dirty="0">
                <a:solidFill>
                  <a:srgbClr val="125C60"/>
                </a:solidFill>
                <a:latin typeface="Proxima Nova" pitchFamily="34" charset="0"/>
                <a:ea typeface="Proxima Nova" pitchFamily="34" charset="-122"/>
                <a:cs typeface="Proxima Nova" pitchFamily="34" charset="-120"/>
              </a:rPr>
              <a:t>$970M</a:t>
            </a:r>
            <a:pPr indent="0" marL="0">
              <a:buNone/>
            </a:pPr>
            <a:r>
              <a:rPr lang="en-US" sz="950" dirty="0">
                <a:solidFill>
                  <a:srgbClr val="231F20"/>
                </a:solidFill>
                <a:latin typeface="Proxima Nova" pitchFamily="34" charset="0"/>
                <a:ea typeface="Proxima Nova" pitchFamily="34" charset="-122"/>
                <a:cs typeface="Proxima Nova" pitchFamily="34" charset="-120"/>
              </a:rPr>
              <a:t> state and local taxes in 2025; Tourism Economics forecasts </a:t>
            </a:r>
            <a:pPr indent="0" marL="0">
              <a:buNone/>
            </a:pPr>
            <a:r>
              <a:rPr lang="en-US" sz="950" b="1" dirty="0">
                <a:solidFill>
                  <a:srgbClr val="125C60"/>
                </a:solidFill>
                <a:latin typeface="Proxima Nova" pitchFamily="34" charset="0"/>
                <a:ea typeface="Proxima Nova" pitchFamily="34" charset="-122"/>
                <a:cs typeface="Proxima Nova" pitchFamily="34" charset="-120"/>
              </a:rPr>
              <a:t>27.0M</a:t>
            </a:r>
            <a:pPr indent="0" marL="0">
              <a:buNone/>
            </a:pPr>
            <a:r>
              <a:rPr lang="en-US" sz="950" dirty="0">
                <a:solidFill>
                  <a:srgbClr val="231F20"/>
                </a:solidFill>
                <a:latin typeface="Proxima Nova" pitchFamily="34" charset="0"/>
                <a:ea typeface="Proxima Nova" pitchFamily="34" charset="-122"/>
                <a:cs typeface="Proxima Nova" pitchFamily="34" charset="-120"/>
              </a:rPr>
              <a:t> visitors and </a:t>
            </a:r>
            <a:pPr indent="0" marL="0">
              <a:buNone/>
            </a:pPr>
            <a:r>
              <a:rPr lang="en-US" sz="950" b="1" dirty="0">
                <a:solidFill>
                  <a:srgbClr val="125C60"/>
                </a:solidFill>
                <a:latin typeface="Proxima Nova" pitchFamily="34" charset="0"/>
                <a:ea typeface="Proxima Nova" pitchFamily="34" charset="-122"/>
                <a:cs typeface="Proxima Nova" pitchFamily="34" charset="-120"/>
              </a:rPr>
              <a:t>$7.2B</a:t>
            </a:r>
            <a:pPr indent="0" marL="0">
              <a:buNone/>
            </a:pPr>
            <a:r>
              <a:rPr lang="en-US" sz="950" dirty="0">
                <a:solidFill>
                  <a:srgbClr val="231F20"/>
                </a:solidFill>
                <a:latin typeface="Proxima Nova" pitchFamily="34" charset="0"/>
                <a:ea typeface="Proxima Nova" pitchFamily="34" charset="-122"/>
                <a:cs typeface="Proxima Nova" pitchFamily="34" charset="-120"/>
              </a:rPr>
              <a:t> in 2026. OC Vibe area: </a:t>
            </a:r>
            <a:pPr indent="0" marL="0">
              <a:buNone/>
            </a:pPr>
            <a:r>
              <a:rPr lang="en-US" sz="950" b="1" dirty="0">
                <a:solidFill>
                  <a:srgbClr val="125C60"/>
                </a:solidFill>
                <a:latin typeface="Proxima Nova" pitchFamily="34" charset="0"/>
                <a:ea typeface="Proxima Nova" pitchFamily="34" charset="-122"/>
                <a:cs typeface="Proxima Nova" pitchFamily="34" charset="-120"/>
              </a:rPr>
              <a:t>5.2%</a:t>
            </a:r>
            <a:pPr indent="0" marL="0">
              <a:buNone/>
            </a:pPr>
            <a:r>
              <a:rPr lang="en-US" sz="950" dirty="0">
                <a:solidFill>
                  <a:srgbClr val="231F20"/>
                </a:solidFill>
                <a:latin typeface="Proxima Nova" pitchFamily="34" charset="0"/>
                <a:ea typeface="Proxima Nova" pitchFamily="34" charset="-122"/>
                <a:cs typeface="Proxima Nova" pitchFamily="34" charset="-120"/>
              </a:rPr>
              <a:t> of Anaheim visitor days (2024).</a:t>
            </a:r>
            <a:endParaRPr lang="en-US" sz="950" dirty="0"/>
          </a:p>
        </p:txBody>
      </p:sp>
      <p:sp>
        <p:nvSpPr>
          <p:cNvPr id="17" name="Text 15"/>
          <p:cNvSpPr txBox="1"/>
          <p:nvPr/>
        </p:nvSpPr>
        <p:spPr>
          <a:xfrm>
            <a:off x="4438802"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Tourism Economics, Economic Impact of Visitors (calendar 2025; pub. 2026)</a:t>
            </a:r>
            <a:endParaRPr lang="en-US" sz="700" dirty="0"/>
          </a:p>
        </p:txBody>
      </p:sp>
      <p:sp>
        <p:nvSpPr>
          <p:cNvPr id="18" name="detail-card-2"/>
          <p:cNvSpPr/>
          <p:nvPr/>
        </p:nvSpPr>
        <p:spPr>
          <a:xfrm>
            <a:off x="8054645" y="1417320"/>
            <a:ext cx="3588410" cy="2176272"/>
          </a:xfrm>
          <a:prstGeom prst="rect">
            <a:avLst/>
          </a:prstGeom>
          <a:solidFill>
            <a:srgbClr val="FFFFFF"/>
          </a:solidFill>
          <a:ln w="12700">
            <a:solidFill>
              <a:srgbClr val="B4D9E3"/>
            </a:solidFill>
            <a:prstDash val="solid"/>
          </a:ln>
        </p:spPr>
      </p:sp>
      <p:sp>
        <p:nvSpPr>
          <p:cNvPr id="19" name="Shape 17"/>
          <p:cNvSpPr/>
          <p:nvPr/>
        </p:nvSpPr>
        <p:spPr>
          <a:xfrm>
            <a:off x="8054645" y="1417320"/>
            <a:ext cx="3588410" cy="64008"/>
          </a:xfrm>
          <a:prstGeom prst="rect">
            <a:avLst/>
          </a:prstGeom>
          <a:solidFill>
            <a:srgbClr val="43A3A3"/>
          </a:solidFill>
          <a:ln w="12700">
            <a:solidFill>
              <a:srgbClr val="43A3A3"/>
            </a:solidFill>
            <a:prstDash val="solid"/>
          </a:ln>
        </p:spPr>
      </p:sp>
      <p:sp>
        <p:nvSpPr>
          <p:cNvPr id="20" name="Text 18"/>
          <p:cNvSpPr txBox="1"/>
          <p:nvPr/>
        </p:nvSpPr>
        <p:spPr>
          <a:xfrm>
            <a:off x="8191805"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WHEN</a:t>
            </a:r>
            <a:endParaRPr lang="en-US" sz="900" dirty="0"/>
          </a:p>
        </p:txBody>
      </p:sp>
      <p:sp>
        <p:nvSpPr>
          <p:cNvPr id="21" name="Text 19"/>
          <p:cNvSpPr txBox="1"/>
          <p:nvPr/>
        </p:nvSpPr>
        <p:spPr>
          <a:xfrm>
            <a:off x="8191805"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2025 · 2026</a:t>
            </a:r>
            <a:endParaRPr lang="en-US" sz="2200" dirty="0"/>
          </a:p>
        </p:txBody>
      </p:sp>
      <p:sp>
        <p:nvSpPr>
          <p:cNvPr id="22" name="Text 20"/>
          <p:cNvSpPr txBox="1"/>
          <p:nvPr/>
        </p:nvSpPr>
        <p:spPr>
          <a:xfrm>
            <a:off x="8191805"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measured year · forecast year</a:t>
            </a:r>
            <a:endParaRPr lang="en-US" sz="1000" dirty="0"/>
          </a:p>
        </p:txBody>
      </p:sp>
      <p:sp>
        <p:nvSpPr>
          <p:cNvPr id="23" name="Text 21"/>
          <p:cNvSpPr txBox="1"/>
          <p:nvPr/>
        </p:nvSpPr>
        <p:spPr>
          <a:xfrm>
            <a:off x="8191805"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Calendar 2025 (measured, published 2026); 2026 forecast published Sept. 2026; Datafy calendar 2024; Azira Jan.–May 2026.</a:t>
            </a:r>
            <a:endParaRPr lang="en-US" sz="950" dirty="0"/>
          </a:p>
        </p:txBody>
      </p:sp>
      <p:sp>
        <p:nvSpPr>
          <p:cNvPr id="24" name="Text 22"/>
          <p:cNvSpPr txBox="1"/>
          <p:nvPr/>
        </p:nvSpPr>
        <p:spPr>
          <a:xfrm>
            <a:off x="8191805"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Tourism Economics, Economic Impact of Visitors (calendar 2025; pub. 2026); Tourism Economics, Anaheim Travel Forecast (pub. Sept. 2026)</a:t>
            </a:r>
            <a:endParaRPr lang="en-US" sz="700" dirty="0"/>
          </a:p>
        </p:txBody>
      </p:sp>
      <p:sp>
        <p:nvSpPr>
          <p:cNvPr id="25" name="detail-card-3"/>
          <p:cNvSpPr/>
          <p:nvPr/>
        </p:nvSpPr>
        <p:spPr>
          <a:xfrm>
            <a:off x="548640" y="3685032"/>
            <a:ext cx="3588410" cy="2176272"/>
          </a:xfrm>
          <a:prstGeom prst="rect">
            <a:avLst/>
          </a:prstGeom>
          <a:solidFill>
            <a:srgbClr val="FFFFFF"/>
          </a:solidFill>
          <a:ln w="12700">
            <a:solidFill>
              <a:srgbClr val="B4D9E3"/>
            </a:solidFill>
            <a:prstDash val="solid"/>
          </a:ln>
        </p:spPr>
      </p:sp>
      <p:sp>
        <p:nvSpPr>
          <p:cNvPr id="26" name="Shape 24"/>
          <p:cNvSpPr/>
          <p:nvPr/>
        </p:nvSpPr>
        <p:spPr>
          <a:xfrm>
            <a:off x="548640" y="3685032"/>
            <a:ext cx="3588410" cy="64008"/>
          </a:xfrm>
          <a:prstGeom prst="rect">
            <a:avLst/>
          </a:prstGeom>
          <a:solidFill>
            <a:srgbClr val="43A3A3"/>
          </a:solidFill>
          <a:ln w="12700">
            <a:solidFill>
              <a:srgbClr val="43A3A3"/>
            </a:solidFill>
            <a:prstDash val="solid"/>
          </a:ln>
        </p:spPr>
      </p:sp>
      <p:sp>
        <p:nvSpPr>
          <p:cNvPr id="27" name="Text 25"/>
          <p:cNvSpPr txBox="1"/>
          <p:nvPr/>
        </p:nvSpPr>
        <p:spPr>
          <a:xfrm>
            <a:off x="685800"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WHERE</a:t>
            </a:r>
            <a:endParaRPr lang="en-US" sz="900" dirty="0"/>
          </a:p>
        </p:txBody>
      </p:sp>
      <p:sp>
        <p:nvSpPr>
          <p:cNvPr id="28" name="Text 26"/>
          <p:cNvSpPr txBox="1"/>
          <p:nvPr/>
        </p:nvSpPr>
        <p:spPr>
          <a:xfrm>
            <a:off x="685800"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District 5</a:t>
            </a:r>
            <a:endParaRPr lang="en-US" sz="2200" dirty="0"/>
          </a:p>
        </p:txBody>
      </p:sp>
      <p:sp>
        <p:nvSpPr>
          <p:cNvPr id="29" name="Text 27"/>
          <p:cNvSpPr txBox="1"/>
          <p:nvPr/>
        </p:nvSpPr>
        <p:spPr>
          <a:xfrm>
            <a:off x="685800"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OC Vibe area, beside Honda Center and ARTIC</a:t>
            </a:r>
            <a:endParaRPr lang="en-US" sz="1000" dirty="0"/>
          </a:p>
        </p:txBody>
      </p:sp>
      <p:sp>
        <p:nvSpPr>
          <p:cNvPr id="30" name="Text 28"/>
          <p:cNvSpPr txBox="1"/>
          <p:nvPr/>
        </p:nvSpPr>
        <p:spPr>
          <a:xfrm>
            <a:off x="685800"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City of Anaheim; the OC Vibe area around Honda Center and ARTIC in Council District 5.</a:t>
            </a:r>
            <a:endParaRPr lang="en-US" sz="950" dirty="0"/>
          </a:p>
        </p:txBody>
      </p:sp>
      <p:sp>
        <p:nvSpPr>
          <p:cNvPr id="31" name="Text 29"/>
          <p:cNvSpPr txBox="1"/>
          <p:nvPr/>
        </p:nvSpPr>
        <p:spPr>
          <a:xfrm>
            <a:off x="685800"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Azira via Symphony (District 5, Jan. 1–May 31, 2026); OCVIBE and City of Anaheim public releases (2024–2026)</a:t>
            </a:r>
            <a:endParaRPr lang="en-US" sz="700" dirty="0"/>
          </a:p>
        </p:txBody>
      </p:sp>
      <p:sp>
        <p:nvSpPr>
          <p:cNvPr id="32" name="detail-card-4"/>
          <p:cNvSpPr/>
          <p:nvPr/>
        </p:nvSpPr>
        <p:spPr>
          <a:xfrm>
            <a:off x="4301642" y="3685032"/>
            <a:ext cx="3588410" cy="2176272"/>
          </a:xfrm>
          <a:prstGeom prst="rect">
            <a:avLst/>
          </a:prstGeom>
          <a:solidFill>
            <a:srgbClr val="FFFFFF"/>
          </a:solidFill>
          <a:ln w="12700">
            <a:solidFill>
              <a:srgbClr val="B4D9E3"/>
            </a:solidFill>
            <a:prstDash val="solid"/>
          </a:ln>
        </p:spPr>
      </p:sp>
      <p:sp>
        <p:nvSpPr>
          <p:cNvPr id="33" name="Shape 31"/>
          <p:cNvSpPr/>
          <p:nvPr/>
        </p:nvSpPr>
        <p:spPr>
          <a:xfrm>
            <a:off x="4301642" y="3685032"/>
            <a:ext cx="3588410" cy="64008"/>
          </a:xfrm>
          <a:prstGeom prst="rect">
            <a:avLst/>
          </a:prstGeom>
          <a:solidFill>
            <a:srgbClr val="43A3A3"/>
          </a:solidFill>
          <a:ln w="12700">
            <a:solidFill>
              <a:srgbClr val="43A3A3"/>
            </a:solidFill>
            <a:prstDash val="solid"/>
          </a:ln>
        </p:spPr>
      </p:sp>
      <p:sp>
        <p:nvSpPr>
          <p:cNvPr id="34" name="Text 32"/>
          <p:cNvSpPr txBox="1"/>
          <p:nvPr/>
        </p:nvSpPr>
        <p:spPr>
          <a:xfrm>
            <a:off x="4438802"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WHY</a:t>
            </a:r>
            <a:endParaRPr lang="en-US" sz="900" dirty="0"/>
          </a:p>
        </p:txBody>
      </p:sp>
      <p:sp>
        <p:nvSpPr>
          <p:cNvPr id="35" name="Text 33"/>
          <p:cNvSpPr txBox="1"/>
          <p:nvPr/>
        </p:nvSpPr>
        <p:spPr>
          <a:xfrm>
            <a:off x="4438802"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2027</a:t>
            </a:r>
            <a:endParaRPr lang="en-US" sz="2200" dirty="0"/>
          </a:p>
        </p:txBody>
      </p:sp>
      <p:sp>
        <p:nvSpPr>
          <p:cNvPr id="36" name="Text 34"/>
          <p:cNvSpPr txBox="1"/>
          <p:nvPr/>
        </p:nvSpPr>
        <p:spPr>
          <a:xfrm>
            <a:off x="4438802"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first OC Vibe venues open</a:t>
            </a:r>
            <a:endParaRPr lang="en-US" sz="1000" dirty="0"/>
          </a:p>
        </p:txBody>
      </p:sp>
      <p:sp>
        <p:nvSpPr>
          <p:cNvPr id="37" name="Text 35"/>
          <p:cNvSpPr txBox="1"/>
          <p:nvPr/>
        </p:nvSpPr>
        <p:spPr>
          <a:xfrm>
            <a:off x="4438802"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A measured baseline before OC Vibe's venues open in 2027, so OC Vibe's own results can be compared with it later.</a:t>
            </a:r>
            <a:endParaRPr lang="en-US" sz="950" dirty="0"/>
          </a:p>
        </p:txBody>
      </p:sp>
      <p:sp>
        <p:nvSpPr>
          <p:cNvPr id="38" name="Text 36"/>
          <p:cNvSpPr txBox="1"/>
          <p:nvPr/>
        </p:nvSpPr>
        <p:spPr>
          <a:xfrm>
            <a:off x="4438802"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OCVIBE and City of Anaheim public releases (2024–2026)</a:t>
            </a:r>
            <a:endParaRPr lang="en-US" sz="700" dirty="0"/>
          </a:p>
        </p:txBody>
      </p:sp>
      <p:sp>
        <p:nvSpPr>
          <p:cNvPr id="39" name="detail-card-5"/>
          <p:cNvSpPr/>
          <p:nvPr/>
        </p:nvSpPr>
        <p:spPr>
          <a:xfrm>
            <a:off x="8054645" y="3685032"/>
            <a:ext cx="3588410" cy="2176272"/>
          </a:xfrm>
          <a:prstGeom prst="rect">
            <a:avLst/>
          </a:prstGeom>
          <a:solidFill>
            <a:srgbClr val="FFFFFF"/>
          </a:solidFill>
          <a:ln w="12700">
            <a:solidFill>
              <a:srgbClr val="B4D9E3"/>
            </a:solidFill>
            <a:prstDash val="solid"/>
          </a:ln>
        </p:spPr>
      </p:sp>
      <p:sp>
        <p:nvSpPr>
          <p:cNvPr id="40" name="Shape 38"/>
          <p:cNvSpPr/>
          <p:nvPr/>
        </p:nvSpPr>
        <p:spPr>
          <a:xfrm>
            <a:off x="8054645" y="3685032"/>
            <a:ext cx="3588410" cy="64008"/>
          </a:xfrm>
          <a:prstGeom prst="rect">
            <a:avLst/>
          </a:prstGeom>
          <a:solidFill>
            <a:srgbClr val="43A3A3"/>
          </a:solidFill>
          <a:ln w="12700">
            <a:solidFill>
              <a:srgbClr val="43A3A3"/>
            </a:solidFill>
            <a:prstDash val="solid"/>
          </a:ln>
        </p:spPr>
      </p:sp>
      <p:sp>
        <p:nvSpPr>
          <p:cNvPr id="41" name="Text 39"/>
          <p:cNvSpPr txBox="1"/>
          <p:nvPr/>
        </p:nvSpPr>
        <p:spPr>
          <a:xfrm>
            <a:off x="8191805"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HOW</a:t>
            </a:r>
            <a:endParaRPr lang="en-US" sz="900" dirty="0"/>
          </a:p>
        </p:txBody>
      </p:sp>
      <p:sp>
        <p:nvSpPr>
          <p:cNvPr id="42" name="Text 40"/>
          <p:cNvSpPr txBox="1"/>
          <p:nvPr/>
        </p:nvSpPr>
        <p:spPr>
          <a:xfrm>
            <a:off x="8191805"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3 sources</a:t>
            </a:r>
            <a:endParaRPr lang="en-US" sz="2200" dirty="0"/>
          </a:p>
        </p:txBody>
      </p:sp>
      <p:sp>
        <p:nvSpPr>
          <p:cNvPr id="43" name="Text 41"/>
          <p:cNvSpPr txBox="1"/>
          <p:nvPr/>
        </p:nvSpPr>
        <p:spPr>
          <a:xfrm>
            <a:off x="8191805"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Tourism Economics, Datafy and Azira</a:t>
            </a:r>
            <a:endParaRPr lang="en-US" sz="1000" dirty="0"/>
          </a:p>
        </p:txBody>
      </p:sp>
      <p:sp>
        <p:nvSpPr>
          <p:cNvPr id="44" name="Text 42"/>
          <p:cNvSpPr txBox="1"/>
          <p:nvPr/>
        </p:nvSpPr>
        <p:spPr>
          <a:xfrm>
            <a:off x="8191805"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Tourism Economics visitor and spending models for Anaheim; Datafy and Azira mobile location data for the area; no Visit Anaheim BI assumptions.</a:t>
            </a:r>
            <a:endParaRPr lang="en-US" sz="950" dirty="0"/>
          </a:p>
        </p:txBody>
      </p:sp>
      <p:sp>
        <p:nvSpPr>
          <p:cNvPr id="45" name="Text 43"/>
          <p:cNvSpPr txBox="1"/>
          <p:nvPr/>
        </p:nvSpPr>
        <p:spPr>
          <a:xfrm>
            <a:off x="8191805"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Tourism Economics, Economic Impact of Visitors (calendar 2025; pub. 2026); Datafy Anaheim visitor report (calendar 2024); Azira via Symphony (District 5, Jan. 1–May 31, 2026)</a:t>
            </a:r>
            <a:endParaRPr lang="en-US" sz="700" dirty="0"/>
          </a:p>
        </p:txBody>
      </p:sp>
      <p:sp>
        <p:nvSpPr>
          <p:cNvPr id="4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of Visitors (calendar 2025; pub. 2026); Tourism Economics, Anaheim Travel Forecast (Sept. 2026); Datafy Anaheim visitor report (calendar 2024); Azira via Symphony (District 5, Jan. 1–May 31, 2026; domestic visitors, Aug.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At a glance: Anaheim and OC Vibe today</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data infographic · every figure from this section, with its source and date</a:t>
            </a:r>
            <a:endParaRPr lang="en-US" sz="1200" dirty="0"/>
          </a:p>
        </p:txBody>
      </p:sp>
      <p:sp>
        <p:nvSpPr>
          <p:cNvPr id="4" name="Text 2"/>
          <p:cNvSpPr txBox="1"/>
          <p:nvPr/>
        </p:nvSpPr>
        <p:spPr>
          <a:xfrm>
            <a:off x="548640" y="1417320"/>
            <a:ext cx="11094415" cy="329184"/>
          </a:xfrm>
          <a:prstGeom prst="rect">
            <a:avLst/>
          </a:prstGeom>
          <a:noFill/>
          <a:ln/>
        </p:spPr>
        <p:txBody>
          <a:bodyPr wrap="square" lIns="0" tIns="0" rIns="0" bIns="0" rtlCol="0" anchor="ctr">
            <a:normAutofit/>
          </a:bodyPr>
          <a:lstStyle/>
          <a:p>
            <a:pPr indent="0" marL="0">
              <a:buNone/>
            </a:pPr>
            <a:r>
              <a:rPr lang="en-US" sz="1500" b="1" i="1" dirty="0">
                <a:solidFill>
                  <a:srgbClr val="125C60"/>
                </a:solidFill>
                <a:latin typeface="Proxima Nova" pitchFamily="34" charset="0"/>
                <a:ea typeface="Proxima Nova" pitchFamily="34" charset="-122"/>
                <a:cs typeface="Proxima Nova" pitchFamily="34" charset="-120"/>
              </a:rPr>
              <a:t>How 26.5 million visitors move through Anaheim's economy</a:t>
            </a:r>
            <a:endParaRPr lang="en-US" sz="1500" dirty="0"/>
          </a:p>
        </p:txBody>
      </p:sp>
      <p:sp>
        <p:nvSpPr>
          <p:cNvPr id="5" name="Text 3"/>
          <p:cNvSpPr txBox="1"/>
          <p:nvPr/>
        </p:nvSpPr>
        <p:spPr>
          <a:xfrm>
            <a:off x="548640" y="1746504"/>
            <a:ext cx="11094415" cy="237744"/>
          </a:xfrm>
          <a:prstGeom prst="rect">
            <a:avLst/>
          </a:prstGeom>
          <a:noFill/>
          <a:ln/>
        </p:spPr>
        <p:txBody>
          <a:bodyPr wrap="square" lIns="0" tIns="0" rIns="0" bIns="0" rtlCol="0" anchor="ctr">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City of Anaheim, calendar 2025 · each link shows its calculation</a:t>
            </a:r>
            <a:endParaRPr lang="en-US" sz="950" dirty="0"/>
          </a:p>
        </p:txBody>
      </p:sp>
      <p:sp>
        <p:nvSpPr>
          <p:cNvPr id="6" name="Shape 4"/>
          <p:cNvSpPr/>
          <p:nvPr/>
        </p:nvSpPr>
        <p:spPr>
          <a:xfrm>
            <a:off x="548640" y="2075688"/>
            <a:ext cx="1523939" cy="2011680"/>
          </a:xfrm>
          <a:prstGeom prst="roundRect">
            <a:avLst>
              <a:gd name="adj" fmla="val 3600"/>
            </a:avLst>
          </a:prstGeom>
          <a:solidFill>
            <a:srgbClr val="F9F9F2"/>
          </a:solidFill>
          <a:ln w="12700">
            <a:solidFill>
              <a:srgbClr val="B4D9E3"/>
            </a:solidFill>
            <a:prstDash val="solid"/>
          </a:ln>
        </p:spPr>
      </p:sp>
      <p:sp>
        <p:nvSpPr>
          <p:cNvPr id="7" name="Shape 5"/>
          <p:cNvSpPr/>
          <p:nvPr/>
        </p:nvSpPr>
        <p:spPr>
          <a:xfrm>
            <a:off x="548640" y="2075688"/>
            <a:ext cx="1523939" cy="64008"/>
          </a:xfrm>
          <a:prstGeom prst="rect">
            <a:avLst/>
          </a:prstGeom>
          <a:solidFill>
            <a:srgbClr val="125C60"/>
          </a:solidFill>
          <a:ln w="12700">
            <a:solidFill>
              <a:srgbClr val="125C60"/>
            </a:solidFill>
            <a:prstDash val="solid"/>
          </a:ln>
        </p:spPr>
      </p:sp>
      <p:sp>
        <p:nvSpPr>
          <p:cNvPr id="8" name="Text 6"/>
          <p:cNvSpPr txBox="1"/>
          <p:nvPr/>
        </p:nvSpPr>
        <p:spPr>
          <a:xfrm>
            <a:off x="658368" y="2350008"/>
            <a:ext cx="1304483" cy="685800"/>
          </a:xfrm>
          <a:prstGeom prst="rect">
            <a:avLst/>
          </a:prstGeom>
          <a:noFill/>
          <a:ln/>
        </p:spPr>
        <p:txBody>
          <a:bodyPr wrap="square" lIns="0" tIns="0" rIns="0" bIns="0" rtlCol="0" anchor="ctr">
            <a:normAutofit/>
          </a:bodyPr>
          <a:lstStyle/>
          <a:p>
            <a:pPr indent="0" marL="0">
              <a:buNone/>
            </a:pPr>
            <a:r>
              <a:rPr lang="en-US" sz="2500" b="1" i="1" dirty="0">
                <a:solidFill>
                  <a:srgbClr val="125C60"/>
                </a:solidFill>
                <a:latin typeface="Proxima Nova" pitchFamily="34" charset="0"/>
                <a:ea typeface="Proxima Nova" pitchFamily="34" charset="-122"/>
                <a:cs typeface="Proxima Nova" pitchFamily="34" charset="-120"/>
              </a:rPr>
              <a:t>26.5M</a:t>
            </a:r>
            <a:endParaRPr lang="en-US" sz="2500" dirty="0"/>
          </a:p>
        </p:txBody>
      </p:sp>
      <p:sp>
        <p:nvSpPr>
          <p:cNvPr id="9" name="Text 7"/>
          <p:cNvSpPr txBox="1"/>
          <p:nvPr/>
        </p:nvSpPr>
        <p:spPr>
          <a:xfrm>
            <a:off x="658368" y="3081528"/>
            <a:ext cx="1304483" cy="914400"/>
          </a:xfrm>
          <a:prstGeom prst="rect">
            <a:avLst/>
          </a:prstGeom>
          <a:noFill/>
          <a:ln/>
        </p:spPr>
        <p:txBody>
          <a:bodyPr wrap="square" lIns="0" tIns="0" rIns="0" bIns="0" rtlCol="0" anchor="t">
            <a:normAutofit/>
          </a:bodyPr>
          <a:lstStyle/>
          <a:p>
            <a:pPr indent="0" marL="0">
              <a:buNone/>
            </a:pPr>
            <a:r>
              <a:rPr lang="en-US" sz="1200" b="1" dirty="0">
                <a:solidFill>
                  <a:srgbClr val="231F20"/>
                </a:solidFill>
                <a:latin typeface="Proxima Nova" pitchFamily="34" charset="0"/>
                <a:ea typeface="Proxima Nova" pitchFamily="34" charset="-122"/>
                <a:cs typeface="Proxima Nova" pitchFamily="34" charset="-120"/>
              </a:rPr>
              <a:t>visitors</a:t>
            </a:r>
            <a:endParaRPr lang="en-US" sz="1200" dirty="0"/>
          </a:p>
        </p:txBody>
      </p:sp>
      <p:sp>
        <p:nvSpPr>
          <p:cNvPr id="10" name="Shape 8"/>
          <p:cNvSpPr/>
          <p:nvPr/>
        </p:nvSpPr>
        <p:spPr>
          <a:xfrm>
            <a:off x="2145731" y="2761488"/>
            <a:ext cx="722376" cy="0"/>
          </a:xfrm>
          <a:prstGeom prst="line">
            <a:avLst/>
          </a:prstGeom>
          <a:noFill/>
          <a:ln w="38100">
            <a:solidFill>
              <a:srgbClr val="43A3A3"/>
            </a:solidFill>
            <a:prstDash val="solid"/>
            <a:tailEnd type="triangle"/>
          </a:ln>
        </p:spPr>
      </p:sp>
      <p:sp>
        <p:nvSpPr>
          <p:cNvPr id="11" name="Text 9"/>
          <p:cNvSpPr txBox="1"/>
          <p:nvPr/>
        </p:nvSpPr>
        <p:spPr>
          <a:xfrm>
            <a:off x="2090867" y="2880360"/>
            <a:ext cx="832104" cy="1097280"/>
          </a:xfrm>
          <a:prstGeom prst="rect">
            <a:avLst/>
          </a:prstGeom>
          <a:noFill/>
          <a:ln/>
        </p:spPr>
        <p:txBody>
          <a:bodyPr wrap="square" lIns="0" tIns="0" rIns="0" bIns="0" rtlCol="0" anchor="t">
            <a:normAutofit/>
          </a:bodyPr>
          <a:lstStyle/>
          <a:p>
            <a:pPr algn="ctr" indent="0" marL="0">
              <a:buNone/>
            </a:pPr>
            <a:r>
              <a:rPr lang="en-US" sz="850" dirty="0">
                <a:solidFill>
                  <a:srgbClr val="231F20"/>
                </a:solidFill>
                <a:latin typeface="Proxima Nova" pitchFamily="34" charset="0"/>
                <a:ea typeface="Proxima Nova" pitchFamily="34" charset="-122"/>
                <a:cs typeface="Proxima Nova" pitchFamily="34" charset="-120"/>
              </a:rPr>
              <a:t>$258 each: $6.832B ÷ 26.5M</a:t>
            </a:r>
            <a:endParaRPr lang="en-US" sz="850" dirty="0"/>
          </a:p>
        </p:txBody>
      </p:sp>
      <p:sp>
        <p:nvSpPr>
          <p:cNvPr id="12" name="Shape 10"/>
          <p:cNvSpPr/>
          <p:nvPr/>
        </p:nvSpPr>
        <p:spPr>
          <a:xfrm>
            <a:off x="2941259" y="2075688"/>
            <a:ext cx="1523939" cy="2011680"/>
          </a:xfrm>
          <a:prstGeom prst="roundRect">
            <a:avLst>
              <a:gd name="adj" fmla="val 3600"/>
            </a:avLst>
          </a:prstGeom>
          <a:solidFill>
            <a:srgbClr val="F9F9F2"/>
          </a:solidFill>
          <a:ln w="12700">
            <a:solidFill>
              <a:srgbClr val="B4D9E3"/>
            </a:solidFill>
            <a:prstDash val="solid"/>
          </a:ln>
        </p:spPr>
      </p:sp>
      <p:sp>
        <p:nvSpPr>
          <p:cNvPr id="13" name="Shape 11"/>
          <p:cNvSpPr/>
          <p:nvPr/>
        </p:nvSpPr>
        <p:spPr>
          <a:xfrm>
            <a:off x="2941259" y="2075688"/>
            <a:ext cx="1523939" cy="64008"/>
          </a:xfrm>
          <a:prstGeom prst="rect">
            <a:avLst/>
          </a:prstGeom>
          <a:solidFill>
            <a:srgbClr val="125C60"/>
          </a:solidFill>
          <a:ln w="12700">
            <a:solidFill>
              <a:srgbClr val="125C60"/>
            </a:solidFill>
            <a:prstDash val="solid"/>
          </a:ln>
        </p:spPr>
      </p:sp>
      <p:sp>
        <p:nvSpPr>
          <p:cNvPr id="14" name="Text 12"/>
          <p:cNvSpPr txBox="1"/>
          <p:nvPr/>
        </p:nvSpPr>
        <p:spPr>
          <a:xfrm>
            <a:off x="3050987" y="2350008"/>
            <a:ext cx="1304483" cy="685800"/>
          </a:xfrm>
          <a:prstGeom prst="rect">
            <a:avLst/>
          </a:prstGeom>
          <a:noFill/>
          <a:ln/>
        </p:spPr>
        <p:txBody>
          <a:bodyPr wrap="square" lIns="0" tIns="0" rIns="0" bIns="0" rtlCol="0" anchor="ctr">
            <a:normAutofit/>
          </a:bodyPr>
          <a:lstStyle/>
          <a:p>
            <a:pPr indent="0" marL="0">
              <a:buNone/>
            </a:pPr>
            <a:r>
              <a:rPr lang="en-US" sz="2500" b="1" i="1" dirty="0">
                <a:solidFill>
                  <a:srgbClr val="125C60"/>
                </a:solidFill>
                <a:latin typeface="Proxima Nova" pitchFamily="34" charset="0"/>
                <a:ea typeface="Proxima Nova" pitchFamily="34" charset="-122"/>
                <a:cs typeface="Proxima Nova" pitchFamily="34" charset="-120"/>
              </a:rPr>
              <a:t>$6.83B</a:t>
            </a:r>
            <a:endParaRPr lang="en-US" sz="2500" dirty="0"/>
          </a:p>
        </p:txBody>
      </p:sp>
      <p:sp>
        <p:nvSpPr>
          <p:cNvPr id="15" name="Text 13"/>
          <p:cNvSpPr txBox="1"/>
          <p:nvPr/>
        </p:nvSpPr>
        <p:spPr>
          <a:xfrm>
            <a:off x="3050987" y="3081528"/>
            <a:ext cx="1304483" cy="914400"/>
          </a:xfrm>
          <a:prstGeom prst="rect">
            <a:avLst/>
          </a:prstGeom>
          <a:noFill/>
          <a:ln/>
        </p:spPr>
        <p:txBody>
          <a:bodyPr wrap="square" lIns="0" tIns="0" rIns="0" bIns="0" rtlCol="0" anchor="t">
            <a:normAutofit/>
          </a:bodyPr>
          <a:lstStyle/>
          <a:p>
            <a:pPr indent="0" marL="0">
              <a:buNone/>
            </a:pPr>
            <a:r>
              <a:rPr lang="en-US" sz="1200" b="1" dirty="0">
                <a:solidFill>
                  <a:srgbClr val="231F20"/>
                </a:solidFill>
                <a:latin typeface="Proxima Nova" pitchFamily="34" charset="0"/>
                <a:ea typeface="Proxima Nova" pitchFamily="34" charset="-122"/>
                <a:cs typeface="Proxima Nova" pitchFamily="34" charset="-120"/>
              </a:rPr>
              <a:t>visitor spending</a:t>
            </a:r>
            <a:endParaRPr lang="en-US" sz="1200" dirty="0"/>
          </a:p>
        </p:txBody>
      </p:sp>
      <p:sp>
        <p:nvSpPr>
          <p:cNvPr id="16" name="Shape 14"/>
          <p:cNvSpPr/>
          <p:nvPr/>
        </p:nvSpPr>
        <p:spPr>
          <a:xfrm>
            <a:off x="4538350" y="2761488"/>
            <a:ext cx="722376" cy="0"/>
          </a:xfrm>
          <a:prstGeom prst="line">
            <a:avLst/>
          </a:prstGeom>
          <a:noFill/>
          <a:ln w="38100">
            <a:solidFill>
              <a:srgbClr val="43A3A3"/>
            </a:solidFill>
            <a:prstDash val="solid"/>
            <a:tailEnd type="triangle"/>
          </a:ln>
        </p:spPr>
      </p:sp>
      <p:sp>
        <p:nvSpPr>
          <p:cNvPr id="17" name="Text 15"/>
          <p:cNvSpPr txBox="1"/>
          <p:nvPr/>
        </p:nvSpPr>
        <p:spPr>
          <a:xfrm>
            <a:off x="4483486" y="2880360"/>
            <a:ext cx="832104" cy="1097280"/>
          </a:xfrm>
          <a:prstGeom prst="rect">
            <a:avLst/>
          </a:prstGeom>
          <a:noFill/>
          <a:ln/>
        </p:spPr>
        <p:txBody>
          <a:bodyPr wrap="square" lIns="0" tIns="0" rIns="0" bIns="0" rtlCol="0" anchor="t">
            <a:normAutofit/>
          </a:bodyPr>
          <a:lstStyle/>
          <a:p>
            <a:pPr algn="ctr" indent="0" marL="0">
              <a:buNone/>
            </a:pPr>
            <a:r>
              <a:rPr lang="en-US" sz="850" dirty="0">
                <a:solidFill>
                  <a:srgbClr val="231F20"/>
                </a:solidFill>
                <a:latin typeface="Proxima Nova" pitchFamily="34" charset="0"/>
                <a:ea typeface="Proxima Nova" pitchFamily="34" charset="-122"/>
                <a:cs typeface="Proxima Nova" pitchFamily="34" charset="-120"/>
              </a:rPr>
              <a:t>×1.53: $10.42B ÷ $6.832B</a:t>
            </a:r>
            <a:endParaRPr lang="en-US" sz="850" dirty="0"/>
          </a:p>
        </p:txBody>
      </p:sp>
      <p:sp>
        <p:nvSpPr>
          <p:cNvPr id="18" name="Shape 16"/>
          <p:cNvSpPr/>
          <p:nvPr/>
        </p:nvSpPr>
        <p:spPr>
          <a:xfrm>
            <a:off x="5333878" y="2075688"/>
            <a:ext cx="1523939" cy="2011680"/>
          </a:xfrm>
          <a:prstGeom prst="roundRect">
            <a:avLst>
              <a:gd name="adj" fmla="val 3600"/>
            </a:avLst>
          </a:prstGeom>
          <a:solidFill>
            <a:srgbClr val="F9F9F2"/>
          </a:solidFill>
          <a:ln w="12700">
            <a:solidFill>
              <a:srgbClr val="B4D9E3"/>
            </a:solidFill>
            <a:prstDash val="solid"/>
          </a:ln>
        </p:spPr>
      </p:sp>
      <p:sp>
        <p:nvSpPr>
          <p:cNvPr id="19" name="Shape 17"/>
          <p:cNvSpPr/>
          <p:nvPr/>
        </p:nvSpPr>
        <p:spPr>
          <a:xfrm>
            <a:off x="5333878" y="2075688"/>
            <a:ext cx="1523939" cy="64008"/>
          </a:xfrm>
          <a:prstGeom prst="rect">
            <a:avLst/>
          </a:prstGeom>
          <a:solidFill>
            <a:srgbClr val="125C60"/>
          </a:solidFill>
          <a:ln w="12700">
            <a:solidFill>
              <a:srgbClr val="125C60"/>
            </a:solidFill>
            <a:prstDash val="solid"/>
          </a:ln>
        </p:spPr>
      </p:sp>
      <p:sp>
        <p:nvSpPr>
          <p:cNvPr id="20" name="Text 18"/>
          <p:cNvSpPr txBox="1"/>
          <p:nvPr/>
        </p:nvSpPr>
        <p:spPr>
          <a:xfrm>
            <a:off x="5443606" y="2350008"/>
            <a:ext cx="1304483" cy="685800"/>
          </a:xfrm>
          <a:prstGeom prst="rect">
            <a:avLst/>
          </a:prstGeom>
          <a:noFill/>
          <a:ln/>
        </p:spPr>
        <p:txBody>
          <a:bodyPr wrap="square" lIns="0" tIns="0" rIns="0" bIns="0" rtlCol="0" anchor="ctr">
            <a:normAutofit/>
          </a:bodyPr>
          <a:lstStyle/>
          <a:p>
            <a:pPr indent="0" marL="0">
              <a:buNone/>
            </a:pPr>
            <a:r>
              <a:rPr lang="en-US" sz="2500" b="1" i="1" dirty="0">
                <a:solidFill>
                  <a:srgbClr val="125C60"/>
                </a:solidFill>
                <a:latin typeface="Proxima Nova" pitchFamily="34" charset="0"/>
                <a:ea typeface="Proxima Nova" pitchFamily="34" charset="-122"/>
                <a:cs typeface="Proxima Nova" pitchFamily="34" charset="-120"/>
              </a:rPr>
              <a:t>$10.42B</a:t>
            </a:r>
            <a:endParaRPr lang="en-US" sz="2500" dirty="0"/>
          </a:p>
        </p:txBody>
      </p:sp>
      <p:sp>
        <p:nvSpPr>
          <p:cNvPr id="21" name="Text 19"/>
          <p:cNvSpPr txBox="1"/>
          <p:nvPr/>
        </p:nvSpPr>
        <p:spPr>
          <a:xfrm>
            <a:off x="5443606" y="3081528"/>
            <a:ext cx="1304483" cy="914400"/>
          </a:xfrm>
          <a:prstGeom prst="rect">
            <a:avLst/>
          </a:prstGeom>
          <a:noFill/>
          <a:ln/>
        </p:spPr>
        <p:txBody>
          <a:bodyPr wrap="square" lIns="0" tIns="0" rIns="0" bIns="0" rtlCol="0" anchor="t">
            <a:normAutofit/>
          </a:bodyPr>
          <a:lstStyle/>
          <a:p>
            <a:pPr indent="0" marL="0">
              <a:buNone/>
            </a:pPr>
            <a:r>
              <a:rPr lang="en-US" sz="1200" b="1" dirty="0">
                <a:solidFill>
                  <a:srgbClr val="231F20"/>
                </a:solidFill>
                <a:latin typeface="Proxima Nova" pitchFamily="34" charset="0"/>
                <a:ea typeface="Proxima Nova" pitchFamily="34" charset="-122"/>
                <a:cs typeface="Proxima Nova" pitchFamily="34" charset="-120"/>
              </a:rPr>
              <a:t>total economic impact</a:t>
            </a:r>
            <a:endParaRPr lang="en-US" sz="1200" dirty="0"/>
          </a:p>
        </p:txBody>
      </p:sp>
      <p:sp>
        <p:nvSpPr>
          <p:cNvPr id="22" name="Shape 20"/>
          <p:cNvSpPr/>
          <p:nvPr/>
        </p:nvSpPr>
        <p:spPr>
          <a:xfrm>
            <a:off x="6930969" y="2761488"/>
            <a:ext cx="722376" cy="0"/>
          </a:xfrm>
          <a:prstGeom prst="line">
            <a:avLst/>
          </a:prstGeom>
          <a:noFill/>
          <a:ln w="38100">
            <a:solidFill>
              <a:srgbClr val="43A3A3"/>
            </a:solidFill>
            <a:prstDash val="solid"/>
            <a:tailEnd type="triangle"/>
          </a:ln>
        </p:spPr>
      </p:sp>
      <p:sp>
        <p:nvSpPr>
          <p:cNvPr id="23" name="Text 21"/>
          <p:cNvSpPr txBox="1"/>
          <p:nvPr/>
        </p:nvSpPr>
        <p:spPr>
          <a:xfrm>
            <a:off x="6876105" y="2880360"/>
            <a:ext cx="832104" cy="1097280"/>
          </a:xfrm>
          <a:prstGeom prst="rect">
            <a:avLst/>
          </a:prstGeom>
          <a:noFill/>
          <a:ln/>
        </p:spPr>
        <p:txBody>
          <a:bodyPr wrap="square" lIns="0" tIns="0" rIns="0" bIns="0" rtlCol="0" anchor="t">
            <a:normAutofit/>
          </a:bodyPr>
          <a:lstStyle/>
          <a:p>
            <a:pPr algn="ctr" indent="0" marL="0">
              <a:buNone/>
            </a:pPr>
            <a:r>
              <a:rPr lang="en-US" sz="850" dirty="0">
                <a:solidFill>
                  <a:srgbClr val="231F20"/>
                </a:solidFill>
                <a:latin typeface="Proxima Nova" pitchFamily="34" charset="0"/>
                <a:ea typeface="Proxima Nova" pitchFamily="34" charset="-122"/>
                <a:cs typeface="Proxima Nova" pitchFamily="34" charset="-120"/>
              </a:rPr>
              <a:t>9.9 jobs per $1M: 67,817 ÷ 6,832</a:t>
            </a:r>
            <a:endParaRPr lang="en-US" sz="850" dirty="0"/>
          </a:p>
        </p:txBody>
      </p:sp>
      <p:sp>
        <p:nvSpPr>
          <p:cNvPr id="24" name="Shape 22"/>
          <p:cNvSpPr/>
          <p:nvPr/>
        </p:nvSpPr>
        <p:spPr>
          <a:xfrm>
            <a:off x="7726497" y="2075688"/>
            <a:ext cx="1523939" cy="2011680"/>
          </a:xfrm>
          <a:prstGeom prst="roundRect">
            <a:avLst>
              <a:gd name="adj" fmla="val 3600"/>
            </a:avLst>
          </a:prstGeom>
          <a:solidFill>
            <a:srgbClr val="F9F9F2"/>
          </a:solidFill>
          <a:ln w="12700">
            <a:solidFill>
              <a:srgbClr val="B4D9E3"/>
            </a:solidFill>
            <a:prstDash val="solid"/>
          </a:ln>
        </p:spPr>
      </p:sp>
      <p:sp>
        <p:nvSpPr>
          <p:cNvPr id="25" name="Shape 23"/>
          <p:cNvSpPr/>
          <p:nvPr/>
        </p:nvSpPr>
        <p:spPr>
          <a:xfrm>
            <a:off x="7726497" y="2075688"/>
            <a:ext cx="1523939" cy="64008"/>
          </a:xfrm>
          <a:prstGeom prst="rect">
            <a:avLst/>
          </a:prstGeom>
          <a:solidFill>
            <a:srgbClr val="125C60"/>
          </a:solidFill>
          <a:ln w="12700">
            <a:solidFill>
              <a:srgbClr val="125C60"/>
            </a:solidFill>
            <a:prstDash val="solid"/>
          </a:ln>
        </p:spPr>
      </p:sp>
      <p:sp>
        <p:nvSpPr>
          <p:cNvPr id="26" name="Text 24"/>
          <p:cNvSpPr txBox="1"/>
          <p:nvPr/>
        </p:nvSpPr>
        <p:spPr>
          <a:xfrm>
            <a:off x="7836225" y="2350008"/>
            <a:ext cx="1304483" cy="685800"/>
          </a:xfrm>
          <a:prstGeom prst="rect">
            <a:avLst/>
          </a:prstGeom>
          <a:noFill/>
          <a:ln/>
        </p:spPr>
        <p:txBody>
          <a:bodyPr wrap="square" lIns="0" tIns="0" rIns="0" bIns="0" rtlCol="0" anchor="ctr">
            <a:normAutofit/>
          </a:bodyPr>
          <a:lstStyle/>
          <a:p>
            <a:pPr indent="0" marL="0">
              <a:buNone/>
            </a:pPr>
            <a:r>
              <a:rPr lang="en-US" sz="2500" b="1" i="1" dirty="0">
                <a:solidFill>
                  <a:srgbClr val="125C60"/>
                </a:solidFill>
                <a:latin typeface="Proxima Nova" pitchFamily="34" charset="0"/>
                <a:ea typeface="Proxima Nova" pitchFamily="34" charset="-122"/>
                <a:cs typeface="Proxima Nova" pitchFamily="34" charset="-120"/>
              </a:rPr>
              <a:t>67,817</a:t>
            </a:r>
            <a:endParaRPr lang="en-US" sz="2500" dirty="0"/>
          </a:p>
        </p:txBody>
      </p:sp>
      <p:sp>
        <p:nvSpPr>
          <p:cNvPr id="27" name="Text 25"/>
          <p:cNvSpPr txBox="1"/>
          <p:nvPr/>
        </p:nvSpPr>
        <p:spPr>
          <a:xfrm>
            <a:off x="7836225" y="3081528"/>
            <a:ext cx="1304483" cy="914400"/>
          </a:xfrm>
          <a:prstGeom prst="rect">
            <a:avLst/>
          </a:prstGeom>
          <a:noFill/>
          <a:ln/>
        </p:spPr>
        <p:txBody>
          <a:bodyPr wrap="square" lIns="0" tIns="0" rIns="0" bIns="0" rtlCol="0" anchor="t">
            <a:normAutofit/>
          </a:bodyPr>
          <a:lstStyle/>
          <a:p>
            <a:pPr indent="0" marL="0">
              <a:buNone/>
            </a:pPr>
            <a:r>
              <a:rPr lang="en-US" sz="1200" b="1" dirty="0">
                <a:solidFill>
                  <a:srgbClr val="231F20"/>
                </a:solidFill>
                <a:latin typeface="Proxima Nova" pitchFamily="34" charset="0"/>
                <a:ea typeface="Proxima Nova" pitchFamily="34" charset="-122"/>
                <a:cs typeface="Proxima Nova" pitchFamily="34" charset="-120"/>
              </a:rPr>
              <a:t>jobs supported (32.8% of all Anaheim jobs)</a:t>
            </a:r>
            <a:endParaRPr lang="en-US" sz="1200" dirty="0"/>
          </a:p>
        </p:txBody>
      </p:sp>
      <p:sp>
        <p:nvSpPr>
          <p:cNvPr id="28" name="Shape 26"/>
          <p:cNvSpPr/>
          <p:nvPr/>
        </p:nvSpPr>
        <p:spPr>
          <a:xfrm>
            <a:off x="9323588" y="2761488"/>
            <a:ext cx="722376" cy="0"/>
          </a:xfrm>
          <a:prstGeom prst="line">
            <a:avLst/>
          </a:prstGeom>
          <a:noFill/>
          <a:ln w="38100">
            <a:solidFill>
              <a:srgbClr val="43A3A3"/>
            </a:solidFill>
            <a:prstDash val="solid"/>
            <a:tailEnd type="triangle"/>
          </a:ln>
        </p:spPr>
      </p:sp>
      <p:sp>
        <p:nvSpPr>
          <p:cNvPr id="29" name="Text 27"/>
          <p:cNvSpPr txBox="1"/>
          <p:nvPr/>
        </p:nvSpPr>
        <p:spPr>
          <a:xfrm>
            <a:off x="9268724" y="2880360"/>
            <a:ext cx="832104" cy="1097280"/>
          </a:xfrm>
          <a:prstGeom prst="rect">
            <a:avLst/>
          </a:prstGeom>
          <a:noFill/>
          <a:ln/>
        </p:spPr>
        <p:txBody>
          <a:bodyPr wrap="square" lIns="0" tIns="0" rIns="0" bIns="0" rtlCol="0" anchor="t">
            <a:normAutofit/>
          </a:bodyPr>
          <a:lstStyle/>
          <a:p>
            <a:pPr algn="ctr" indent="0" marL="0">
              <a:buNone/>
            </a:pPr>
            <a:r>
              <a:rPr lang="en-US" sz="850" dirty="0">
                <a:solidFill>
                  <a:srgbClr val="231F20"/>
                </a:solidFill>
                <a:latin typeface="Proxima Nova" pitchFamily="34" charset="0"/>
                <a:ea typeface="Proxima Nova" pitchFamily="34" charset="-122"/>
                <a:cs typeface="Proxima Nova" pitchFamily="34" charset="-120"/>
              </a:rPr>
              <a:t>$142K per $1M: $970M ÷ 6,832</a:t>
            </a:r>
            <a:endParaRPr lang="en-US" sz="850" dirty="0"/>
          </a:p>
        </p:txBody>
      </p:sp>
      <p:sp>
        <p:nvSpPr>
          <p:cNvPr id="30" name="Shape 28"/>
          <p:cNvSpPr/>
          <p:nvPr/>
        </p:nvSpPr>
        <p:spPr>
          <a:xfrm>
            <a:off x="10119116" y="2075688"/>
            <a:ext cx="1523939" cy="2011680"/>
          </a:xfrm>
          <a:prstGeom prst="roundRect">
            <a:avLst>
              <a:gd name="adj" fmla="val 3600"/>
            </a:avLst>
          </a:prstGeom>
          <a:solidFill>
            <a:srgbClr val="F9F9F2"/>
          </a:solidFill>
          <a:ln w="12700">
            <a:solidFill>
              <a:srgbClr val="B4D9E3"/>
            </a:solidFill>
            <a:prstDash val="solid"/>
          </a:ln>
        </p:spPr>
      </p:sp>
      <p:sp>
        <p:nvSpPr>
          <p:cNvPr id="31" name="Shape 29"/>
          <p:cNvSpPr/>
          <p:nvPr/>
        </p:nvSpPr>
        <p:spPr>
          <a:xfrm>
            <a:off x="10119116" y="2075688"/>
            <a:ext cx="1523939" cy="64008"/>
          </a:xfrm>
          <a:prstGeom prst="rect">
            <a:avLst/>
          </a:prstGeom>
          <a:solidFill>
            <a:srgbClr val="125C60"/>
          </a:solidFill>
          <a:ln w="12700">
            <a:solidFill>
              <a:srgbClr val="125C60"/>
            </a:solidFill>
            <a:prstDash val="solid"/>
          </a:ln>
        </p:spPr>
      </p:sp>
      <p:sp>
        <p:nvSpPr>
          <p:cNvPr id="32" name="Text 30"/>
          <p:cNvSpPr txBox="1"/>
          <p:nvPr/>
        </p:nvSpPr>
        <p:spPr>
          <a:xfrm>
            <a:off x="10228844" y="2350008"/>
            <a:ext cx="1304483" cy="685800"/>
          </a:xfrm>
          <a:prstGeom prst="rect">
            <a:avLst/>
          </a:prstGeom>
          <a:noFill/>
          <a:ln/>
        </p:spPr>
        <p:txBody>
          <a:bodyPr wrap="square" lIns="0" tIns="0" rIns="0" bIns="0" rtlCol="0" anchor="ctr">
            <a:normAutofit/>
          </a:bodyPr>
          <a:lstStyle/>
          <a:p>
            <a:pPr indent="0" marL="0">
              <a:buNone/>
            </a:pPr>
            <a:r>
              <a:rPr lang="en-US" sz="2500" b="1" i="1" dirty="0">
                <a:solidFill>
                  <a:srgbClr val="125C60"/>
                </a:solidFill>
                <a:latin typeface="Proxima Nova" pitchFamily="34" charset="0"/>
                <a:ea typeface="Proxima Nova" pitchFamily="34" charset="-122"/>
                <a:cs typeface="Proxima Nova" pitchFamily="34" charset="-120"/>
              </a:rPr>
              <a:t>$970M</a:t>
            </a:r>
            <a:endParaRPr lang="en-US" sz="2500" dirty="0"/>
          </a:p>
        </p:txBody>
      </p:sp>
      <p:sp>
        <p:nvSpPr>
          <p:cNvPr id="33" name="Text 31"/>
          <p:cNvSpPr txBox="1"/>
          <p:nvPr/>
        </p:nvSpPr>
        <p:spPr>
          <a:xfrm>
            <a:off x="10228844" y="3081528"/>
            <a:ext cx="1304483" cy="914400"/>
          </a:xfrm>
          <a:prstGeom prst="rect">
            <a:avLst/>
          </a:prstGeom>
          <a:noFill/>
          <a:ln/>
        </p:spPr>
        <p:txBody>
          <a:bodyPr wrap="square" lIns="0" tIns="0" rIns="0" bIns="0" rtlCol="0" anchor="t">
            <a:normAutofit/>
          </a:bodyPr>
          <a:lstStyle/>
          <a:p>
            <a:pPr indent="0" marL="0">
              <a:buNone/>
            </a:pPr>
            <a:r>
              <a:rPr lang="en-US" sz="1200" b="1" dirty="0">
                <a:solidFill>
                  <a:srgbClr val="231F20"/>
                </a:solidFill>
                <a:latin typeface="Proxima Nova" pitchFamily="34" charset="0"/>
                <a:ea typeface="Proxima Nova" pitchFamily="34" charset="-122"/>
                <a:cs typeface="Proxima Nova" pitchFamily="34" charset="-120"/>
              </a:rPr>
              <a:t>state and local taxes</a:t>
            </a:r>
            <a:endParaRPr lang="en-US" sz="1200" dirty="0"/>
          </a:p>
        </p:txBody>
      </p:sp>
      <p:sp>
        <p:nvSpPr>
          <p:cNvPr id="34" name="Shape 32"/>
          <p:cNvSpPr/>
          <p:nvPr/>
        </p:nvSpPr>
        <p:spPr>
          <a:xfrm>
            <a:off x="548640" y="4389120"/>
            <a:ext cx="11094415" cy="45720"/>
          </a:xfrm>
          <a:prstGeom prst="rect">
            <a:avLst/>
          </a:prstGeom>
          <a:solidFill>
            <a:srgbClr val="125C60"/>
          </a:solidFill>
          <a:ln w="12700">
            <a:solidFill>
              <a:srgbClr val="125C60"/>
            </a:solidFill>
            <a:prstDash val="solid"/>
          </a:ln>
        </p:spPr>
      </p:sp>
      <p:sp>
        <p:nvSpPr>
          <p:cNvPr id="35" name="Text 33"/>
          <p:cNvSpPr txBox="1"/>
          <p:nvPr/>
        </p:nvSpPr>
        <p:spPr>
          <a:xfrm>
            <a:off x="548640" y="4480560"/>
            <a:ext cx="2743200"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WHY IT MATTERS</a:t>
            </a:r>
            <a:endParaRPr lang="en-US" sz="1000" dirty="0"/>
          </a:p>
        </p:txBody>
      </p:sp>
      <p:sp>
        <p:nvSpPr>
          <p:cNvPr id="36" name="Text 34"/>
          <p:cNvSpPr txBox="1"/>
          <p:nvPr/>
        </p:nvSpPr>
        <p:spPr>
          <a:xfrm>
            <a:off x="548640" y="4736592"/>
            <a:ext cx="11094415" cy="1143000"/>
          </a:xfrm>
          <a:prstGeom prst="rect">
            <a:avLst/>
          </a:prstGeom>
          <a:noFill/>
          <a:ln/>
        </p:spPr>
        <p:txBody>
          <a:bodyPr wrap="square" lIns="0" tIns="0" rIns="0" bIns="0" rtlCol="0" anchor="t"/>
          <a:lstStyle/>
          <a:p>
            <a:pPr indent="0" marL="0">
              <a:buNone/>
            </a:pPr>
            <a:r>
              <a:rPr lang="en-US" sz="1250" dirty="0">
                <a:solidFill>
                  <a:srgbClr val="231F20"/>
                </a:solidFill>
                <a:latin typeface="Proxima Nova" pitchFamily="34" charset="0"/>
                <a:ea typeface="Proxima Nova" pitchFamily="34" charset="-122"/>
                <a:cs typeface="Proxima Nova" pitchFamily="34" charset="-120"/>
              </a:rPr>
              <a:t>These are City of Anaheim totals, measured before OC Vibe's first venues open in 2027, so they set the baseline that OC Vibe's own results can be compared with later. Tourism Economics does not measure OC Vibe; the OC Vibe area's </a:t>
            </a:r>
            <a:pPr indent="0" marL="0">
              <a:buNone/>
            </a:pPr>
            <a:r>
              <a:rPr lang="en-US" sz="1250" b="1" dirty="0">
                <a:solidFill>
                  <a:srgbClr val="125C60"/>
                </a:solidFill>
                <a:latin typeface="Proxima Nova" pitchFamily="34" charset="0"/>
                <a:ea typeface="Proxima Nova" pitchFamily="34" charset="-122"/>
                <a:cs typeface="Proxima Nova" pitchFamily="34" charset="-120"/>
              </a:rPr>
              <a:t>5.2%</a:t>
            </a:r>
            <a:pPr indent="0" marL="0">
              <a:buNone/>
            </a:pPr>
            <a:r>
              <a:rPr lang="en-US" sz="1250" dirty="0">
                <a:solidFill>
                  <a:srgbClr val="231F20"/>
                </a:solidFill>
                <a:latin typeface="Proxima Nova" pitchFamily="34" charset="0"/>
                <a:ea typeface="Proxima Nova" pitchFamily="34" charset="-122"/>
                <a:cs typeface="Proxima Nova" pitchFamily="34" charset="-120"/>
              </a:rPr>
              <a:t> share of Anaheim visitor days comes from Datafy (calendar 2024).</a:t>
            </a:r>
            <a:endParaRPr lang="en-US" sz="1250" dirty="0"/>
          </a:p>
        </p:txBody>
      </p:sp>
      <p:sp>
        <p:nvSpPr>
          <p:cNvPr id="37"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of Visitors (calendar 2025; pub.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Anaheim's visitor economy: 2025 results and 2026 forecast</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City of Anaheim only · 2025 measured (Tourism Economics, published 2026) · 2026 = Tourism Economics forecast (Sept. 2026)</a:t>
            </a:r>
            <a:endParaRPr lang="en-US" sz="1200" dirty="0"/>
          </a:p>
        </p:txBody>
      </p:sp>
      <p:sp>
        <p:nvSpPr>
          <p:cNvPr id="5" name="kpi-card-0"/>
          <p:cNvSpPr/>
          <p:nvPr/>
        </p:nvSpPr>
        <p:spPr>
          <a:xfrm>
            <a:off x="548640" y="1417320"/>
            <a:ext cx="2650160" cy="1463040"/>
          </a:xfrm>
          <a:prstGeom prst="roundRect">
            <a:avLst>
              <a:gd name="adj" fmla="val 5000"/>
            </a:avLst>
          </a:prstGeom>
          <a:solidFill>
            <a:srgbClr val="FFFFFF"/>
          </a:solidFill>
          <a:ln w="12700">
            <a:solidFill>
              <a:srgbClr val="B4D9E3"/>
            </a:solidFill>
            <a:prstDash val="solid"/>
          </a:ln>
        </p:spPr>
      </p:sp>
      <p:sp>
        <p:nvSpPr>
          <p:cNvPr id="6" name="Text 3"/>
          <p:cNvSpPr txBox="1"/>
          <p:nvPr/>
        </p:nvSpPr>
        <p:spPr>
          <a:xfrm>
            <a:off x="713232" y="1545336"/>
            <a:ext cx="232097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ANAHEIM, 2025</a:t>
            </a:r>
            <a:endParaRPr lang="en-US" sz="900" dirty="0"/>
          </a:p>
        </p:txBody>
      </p:sp>
      <p:sp>
        <p:nvSpPr>
          <p:cNvPr id="7" name="Text 4"/>
          <p:cNvSpPr txBox="1"/>
          <p:nvPr/>
        </p:nvSpPr>
        <p:spPr>
          <a:xfrm>
            <a:off x="713232" y="1764792"/>
            <a:ext cx="232097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Visitors</a:t>
            </a:r>
            <a:endParaRPr lang="en-US" sz="1050" dirty="0"/>
          </a:p>
        </p:txBody>
      </p:sp>
      <p:sp>
        <p:nvSpPr>
          <p:cNvPr id="8" name="Text 5"/>
          <p:cNvSpPr txBox="1"/>
          <p:nvPr/>
        </p:nvSpPr>
        <p:spPr>
          <a:xfrm>
            <a:off x="713232" y="2039112"/>
            <a:ext cx="2320976" cy="548640"/>
          </a:xfrm>
          <a:prstGeom prst="rect">
            <a:avLst/>
          </a:prstGeom>
          <a:noFill/>
          <a:ln/>
        </p:spPr>
        <p:txBody>
          <a:bodyPr wrap="square" lIns="0" tIns="0" rIns="0" bIns="0" rtlCol="0" anchor="ctr"/>
          <a:lstStyle/>
          <a:p>
            <a:pPr indent="0" marL="0">
              <a:buNone/>
            </a:pPr>
            <a:r>
              <a:rPr lang="en-US" sz="2200" b="1" dirty="0">
                <a:solidFill>
                  <a:srgbClr val="125C60"/>
                </a:solidFill>
                <a:latin typeface="Proxima Nova" pitchFamily="34" charset="0"/>
                <a:ea typeface="Proxima Nova" pitchFamily="34" charset="-122"/>
                <a:cs typeface="Proxima Nova" pitchFamily="34" charset="-120"/>
              </a:rPr>
              <a:t>26.5M</a:t>
            </a:r>
            <a:endParaRPr lang="en-US" sz="2200" dirty="0"/>
          </a:p>
        </p:txBody>
      </p:sp>
      <p:sp>
        <p:nvSpPr>
          <p:cNvPr id="9" name="Text 6"/>
          <p:cNvSpPr txBox="1"/>
          <p:nvPr/>
        </p:nvSpPr>
        <p:spPr>
          <a:xfrm>
            <a:off x="713232" y="2587752"/>
            <a:ext cx="2320976" cy="20116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 +0.8% vs. 2024 · 2026 forecast 27.0M</a:t>
            </a:r>
            <a:endParaRPr lang="en-US" sz="1000" dirty="0"/>
          </a:p>
        </p:txBody>
      </p:sp>
      <p:sp>
        <p:nvSpPr>
          <p:cNvPr id="10" name="kpi-card-1"/>
          <p:cNvSpPr/>
          <p:nvPr/>
        </p:nvSpPr>
        <p:spPr>
          <a:xfrm>
            <a:off x="3363392" y="1417320"/>
            <a:ext cx="2650160" cy="1463040"/>
          </a:xfrm>
          <a:prstGeom prst="roundRect">
            <a:avLst>
              <a:gd name="adj" fmla="val 5000"/>
            </a:avLst>
          </a:prstGeom>
          <a:solidFill>
            <a:srgbClr val="FFFFFF"/>
          </a:solidFill>
          <a:ln w="12700">
            <a:solidFill>
              <a:srgbClr val="B4D9E3"/>
            </a:solidFill>
            <a:prstDash val="solid"/>
          </a:ln>
        </p:spPr>
      </p:sp>
      <p:sp>
        <p:nvSpPr>
          <p:cNvPr id="11" name="Text 8"/>
          <p:cNvSpPr txBox="1"/>
          <p:nvPr/>
        </p:nvSpPr>
        <p:spPr>
          <a:xfrm>
            <a:off x="3527984" y="1545336"/>
            <a:ext cx="232097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ANAHEIM, 2025</a:t>
            </a:r>
            <a:endParaRPr lang="en-US" sz="900" dirty="0"/>
          </a:p>
        </p:txBody>
      </p:sp>
      <p:sp>
        <p:nvSpPr>
          <p:cNvPr id="12" name="Text 9"/>
          <p:cNvSpPr txBox="1"/>
          <p:nvPr/>
        </p:nvSpPr>
        <p:spPr>
          <a:xfrm>
            <a:off x="3527984" y="1764792"/>
            <a:ext cx="232097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Visitor spending</a:t>
            </a:r>
            <a:endParaRPr lang="en-US" sz="1050" dirty="0"/>
          </a:p>
        </p:txBody>
      </p:sp>
      <p:sp>
        <p:nvSpPr>
          <p:cNvPr id="13" name="Text 10"/>
          <p:cNvSpPr txBox="1"/>
          <p:nvPr/>
        </p:nvSpPr>
        <p:spPr>
          <a:xfrm>
            <a:off x="3527984" y="2039112"/>
            <a:ext cx="2320976" cy="548640"/>
          </a:xfrm>
          <a:prstGeom prst="rect">
            <a:avLst/>
          </a:prstGeom>
          <a:noFill/>
          <a:ln/>
        </p:spPr>
        <p:txBody>
          <a:bodyPr wrap="square" lIns="0" tIns="0" rIns="0" bIns="0" rtlCol="0" anchor="ctr"/>
          <a:lstStyle/>
          <a:p>
            <a:pPr indent="0" marL="0">
              <a:buNone/>
            </a:pPr>
            <a:r>
              <a:rPr lang="en-US" sz="2200" b="1" dirty="0">
                <a:solidFill>
                  <a:srgbClr val="125C60"/>
                </a:solidFill>
                <a:latin typeface="Proxima Nova" pitchFamily="34" charset="0"/>
                <a:ea typeface="Proxima Nova" pitchFamily="34" charset="-122"/>
                <a:cs typeface="Proxima Nova" pitchFamily="34" charset="-120"/>
              </a:rPr>
              <a:t>$6.83B</a:t>
            </a:r>
            <a:endParaRPr lang="en-US" sz="2200" dirty="0"/>
          </a:p>
        </p:txBody>
      </p:sp>
      <p:sp>
        <p:nvSpPr>
          <p:cNvPr id="14" name="Text 11"/>
          <p:cNvSpPr txBox="1"/>
          <p:nvPr/>
        </p:nvSpPr>
        <p:spPr>
          <a:xfrm>
            <a:off x="3527984" y="2587752"/>
            <a:ext cx="2320976" cy="20116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 +3.1% vs. 2024 · 2026 forecast $7.2B</a:t>
            </a:r>
            <a:endParaRPr lang="en-US" sz="1000" dirty="0"/>
          </a:p>
        </p:txBody>
      </p:sp>
      <p:sp>
        <p:nvSpPr>
          <p:cNvPr id="15" name="kpi-card-2"/>
          <p:cNvSpPr/>
          <p:nvPr/>
        </p:nvSpPr>
        <p:spPr>
          <a:xfrm>
            <a:off x="6178144" y="1417320"/>
            <a:ext cx="2650160" cy="1463040"/>
          </a:xfrm>
          <a:prstGeom prst="roundRect">
            <a:avLst>
              <a:gd name="adj" fmla="val 5000"/>
            </a:avLst>
          </a:prstGeom>
          <a:solidFill>
            <a:srgbClr val="FFFFFF"/>
          </a:solidFill>
          <a:ln w="12700">
            <a:solidFill>
              <a:srgbClr val="B4D9E3"/>
            </a:solidFill>
            <a:prstDash val="solid"/>
          </a:ln>
        </p:spPr>
      </p:sp>
      <p:sp>
        <p:nvSpPr>
          <p:cNvPr id="16" name="Text 13"/>
          <p:cNvSpPr txBox="1"/>
          <p:nvPr/>
        </p:nvSpPr>
        <p:spPr>
          <a:xfrm>
            <a:off x="6342736" y="1545336"/>
            <a:ext cx="232097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ANAHEIM, 2025</a:t>
            </a:r>
            <a:endParaRPr lang="en-US" sz="900" dirty="0"/>
          </a:p>
        </p:txBody>
      </p:sp>
      <p:sp>
        <p:nvSpPr>
          <p:cNvPr id="17" name="Text 14"/>
          <p:cNvSpPr txBox="1"/>
          <p:nvPr/>
        </p:nvSpPr>
        <p:spPr>
          <a:xfrm>
            <a:off x="6342736" y="1764792"/>
            <a:ext cx="232097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Jobs supported by visitors</a:t>
            </a:r>
            <a:endParaRPr lang="en-US" sz="1050" dirty="0"/>
          </a:p>
        </p:txBody>
      </p:sp>
      <p:sp>
        <p:nvSpPr>
          <p:cNvPr id="18" name="Text 15"/>
          <p:cNvSpPr txBox="1"/>
          <p:nvPr/>
        </p:nvSpPr>
        <p:spPr>
          <a:xfrm>
            <a:off x="6342736" y="2039112"/>
            <a:ext cx="2320976" cy="548640"/>
          </a:xfrm>
          <a:prstGeom prst="rect">
            <a:avLst/>
          </a:prstGeom>
          <a:noFill/>
          <a:ln/>
        </p:spPr>
        <p:txBody>
          <a:bodyPr wrap="square" lIns="0" tIns="0" rIns="0" bIns="0" rtlCol="0" anchor="ctr"/>
          <a:lstStyle/>
          <a:p>
            <a:pPr indent="0" marL="0">
              <a:buNone/>
            </a:pPr>
            <a:r>
              <a:rPr lang="en-US" sz="2200" b="1" dirty="0">
                <a:solidFill>
                  <a:srgbClr val="125C60"/>
                </a:solidFill>
                <a:latin typeface="Proxima Nova" pitchFamily="34" charset="0"/>
                <a:ea typeface="Proxima Nova" pitchFamily="34" charset="-122"/>
                <a:cs typeface="Proxima Nova" pitchFamily="34" charset="-120"/>
              </a:rPr>
              <a:t>67,817</a:t>
            </a:r>
            <a:endParaRPr lang="en-US" sz="2200" dirty="0"/>
          </a:p>
        </p:txBody>
      </p:sp>
      <p:sp>
        <p:nvSpPr>
          <p:cNvPr id="19" name="Text 16"/>
          <p:cNvSpPr txBox="1"/>
          <p:nvPr/>
        </p:nvSpPr>
        <p:spPr>
          <a:xfrm>
            <a:off x="6342736" y="2587752"/>
            <a:ext cx="2320976" cy="20116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32.8% of all jobs · $10.4B total impact</a:t>
            </a:r>
            <a:endParaRPr lang="en-US" sz="1000" dirty="0"/>
          </a:p>
        </p:txBody>
      </p:sp>
      <p:sp>
        <p:nvSpPr>
          <p:cNvPr id="20" name="kpi-card-3"/>
          <p:cNvSpPr/>
          <p:nvPr/>
        </p:nvSpPr>
        <p:spPr>
          <a:xfrm>
            <a:off x="8992895" y="1417320"/>
            <a:ext cx="2650160" cy="1463040"/>
          </a:xfrm>
          <a:prstGeom prst="roundRect">
            <a:avLst>
              <a:gd name="adj" fmla="val 5000"/>
            </a:avLst>
          </a:prstGeom>
          <a:solidFill>
            <a:srgbClr val="FFFFFF"/>
          </a:solidFill>
          <a:ln w="12700">
            <a:solidFill>
              <a:srgbClr val="B4D9E3"/>
            </a:solidFill>
            <a:prstDash val="solid"/>
          </a:ln>
        </p:spPr>
      </p:sp>
      <p:sp>
        <p:nvSpPr>
          <p:cNvPr id="21" name="Text 18"/>
          <p:cNvSpPr txBox="1"/>
          <p:nvPr/>
        </p:nvSpPr>
        <p:spPr>
          <a:xfrm>
            <a:off x="9157487" y="1545336"/>
            <a:ext cx="232097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OC VIBE AREA, 2024</a:t>
            </a:r>
            <a:endParaRPr lang="en-US" sz="900" dirty="0"/>
          </a:p>
        </p:txBody>
      </p:sp>
      <p:sp>
        <p:nvSpPr>
          <p:cNvPr id="22" name="Text 19"/>
          <p:cNvSpPr txBox="1"/>
          <p:nvPr/>
        </p:nvSpPr>
        <p:spPr>
          <a:xfrm>
            <a:off x="9157487" y="1764792"/>
            <a:ext cx="232097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Share of Anaheim visitor days</a:t>
            </a:r>
            <a:endParaRPr lang="en-US" sz="1050" dirty="0"/>
          </a:p>
        </p:txBody>
      </p:sp>
      <p:sp>
        <p:nvSpPr>
          <p:cNvPr id="23" name="Text 20"/>
          <p:cNvSpPr txBox="1"/>
          <p:nvPr/>
        </p:nvSpPr>
        <p:spPr>
          <a:xfrm>
            <a:off x="9157487" y="2039112"/>
            <a:ext cx="2320976" cy="548640"/>
          </a:xfrm>
          <a:prstGeom prst="rect">
            <a:avLst/>
          </a:prstGeom>
          <a:noFill/>
          <a:ln/>
        </p:spPr>
        <p:txBody>
          <a:bodyPr wrap="square" lIns="0" tIns="0" rIns="0" bIns="0" rtlCol="0" anchor="ctr"/>
          <a:lstStyle/>
          <a:p>
            <a:pPr indent="0" marL="0">
              <a:buNone/>
            </a:pPr>
            <a:r>
              <a:rPr lang="en-US" sz="2200" b="1" dirty="0">
                <a:solidFill>
                  <a:srgbClr val="125C60"/>
                </a:solidFill>
                <a:latin typeface="Proxima Nova" pitchFamily="34" charset="0"/>
                <a:ea typeface="Proxima Nova" pitchFamily="34" charset="-122"/>
                <a:cs typeface="Proxima Nova" pitchFamily="34" charset="-120"/>
              </a:rPr>
              <a:t>5.2%</a:t>
            </a:r>
            <a:endParaRPr lang="en-US" sz="2200" dirty="0"/>
          </a:p>
        </p:txBody>
      </p:sp>
      <p:sp>
        <p:nvSpPr>
          <p:cNvPr id="24" name="Text 21"/>
          <p:cNvSpPr txBox="1"/>
          <p:nvPr/>
        </p:nvSpPr>
        <p:spPr>
          <a:xfrm>
            <a:off x="9157487" y="2587752"/>
            <a:ext cx="2320976" cy="20116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Measured before the new venues open</a:t>
            </a:r>
            <a:endParaRPr lang="en-US" sz="10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48640" y="3017520"/>
          <a:ext cx="11094415" cy="914400"/>
        </p:xfrm>
        <a:graphic>
          <a:graphicData uri="http://schemas.openxmlformats.org/drawingml/2006/table">
            <a:tbl>
              <a:tblPr/>
              <a:tblGrid>
                <a:gridCol w="2103120"/>
                <a:gridCol w="1417320"/>
                <a:gridCol w="1417320"/>
                <a:gridCol w="914400"/>
                <a:gridCol w="5239512"/>
              </a:tblGrid>
              <a:tr h="329184">
                <a:tc>
                  <a:txBody>
                    <a:bodyPr/>
                    <a:lstStyle/>
                    <a:p>
                      <a:pPr algn="l" indent="0" marL="0">
                        <a:buNone/>
                      </a:pPr>
                      <a:r>
                        <a:rPr lang="en-US" sz="1000" b="1" dirty="0">
                          <a:solidFill>
                            <a:srgbClr val="FFFFFF"/>
                          </a:solidFill>
                          <a:latin typeface="Proxima Nova" pitchFamily="34" charset="0"/>
                          <a:ea typeface="Proxima Nova" pitchFamily="34" charset="-122"/>
                          <a:cs typeface="Proxima Nova" pitchFamily="34" charset="-120"/>
                        </a:rPr>
                        <a:t>Measure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2025 (measured)</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2026 (forecast)</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Change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1000" b="1" dirty="0">
                          <a:solidFill>
                            <a:srgbClr val="FFFFFF"/>
                          </a:solidFill>
                          <a:latin typeface="Proxima Nova" pitchFamily="34" charset="0"/>
                          <a:ea typeface="Proxima Nova" pitchFamily="34" charset="-122"/>
                          <a:cs typeface="Proxima Nova" pitchFamily="34" charset="-120"/>
                        </a:rPr>
                        <a:t>How it's calculated</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29184">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Visitors</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26.5M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27.0M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+1.9%</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Reported by Tourism Economics; change as published (Sept. 2026 forecast)</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Visitor spending</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$6.83B</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$7.2B</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+5.6%</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Reported by Tourism Economics; change as published (Sept. 2026 forecast)</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29184">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Spending per visitor</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$258</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$267</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+3.5%</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$6.832B ÷ 26.5M = $258; $7.2B ÷ 27.0M = $267</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Total economic impact</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$10.42B</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Not forecast</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n/a</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Reported by Tourism Economics (direct, indirect and induced)</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Jobs supported</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67,817</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Not forecast</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n/a</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Reported by Tourism Economics; 32.8% of all Anaheim jobs</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State and local taxes</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$970M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Not forecast</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n/a</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Reported by Tourism Economics</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Day visitors</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67.5%</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Not forecast</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n/a</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17.9M day visitors ÷ 26.5M visitors (Tourism Economics)</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2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of Visitors (calendar 2025; published 2026); Tourism Economics, Anaheim Travel Forecast (Sept. 2026); Datafy (calendar 2024). City of Anaheim totals; not allocated to OC Vibe.</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The OC Vibe area today, before the new venues open</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Measured or published figures only · each with its period and source</a:t>
            </a:r>
            <a:endParaRPr lang="en-US" sz="12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931920"/>
                <a:gridCol w="2560320"/>
                <a:gridCol w="1920240"/>
                <a:gridCol w="2679192"/>
              </a:tblGrid>
              <a:tr h="338328">
                <a:tc>
                  <a:txBody>
                    <a:bodyPr/>
                    <a:lstStyle/>
                    <a:p>
                      <a:pPr algn="l" indent="0" marL="0">
                        <a:buNone/>
                      </a:pPr>
                      <a:r>
                        <a:rPr lang="en-US" sz="1000" b="1" dirty="0">
                          <a:solidFill>
                            <a:srgbClr val="FFFFFF"/>
                          </a:solidFill>
                          <a:latin typeface="Proxima Nova" pitchFamily="34" charset="0"/>
                          <a:ea typeface="Proxima Nova" pitchFamily="34" charset="-122"/>
                          <a:cs typeface="Proxima Nova" pitchFamily="34" charset="-120"/>
                        </a:rPr>
                        <a:t>Measure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Value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1000" b="1" dirty="0">
                          <a:solidFill>
                            <a:srgbClr val="FFFFFF"/>
                          </a:solidFill>
                          <a:latin typeface="Proxima Nova" pitchFamily="34" charset="0"/>
                          <a:ea typeface="Proxima Nova" pitchFamily="34" charset="-122"/>
                          <a:cs typeface="Proxima Nova" pitchFamily="34" charset="-120"/>
                        </a:rPr>
                        <a:t>Period</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1000" b="1" dirty="0">
                          <a:solidFill>
                            <a:srgbClr val="FFFFFF"/>
                          </a:solidFill>
                          <a:latin typeface="Proxima Nova" pitchFamily="34" charset="0"/>
                          <a:ea typeface="Proxima Nova" pitchFamily="34" charset="-122"/>
                          <a:cs typeface="Proxima Nova" pitchFamily="34" charset="-120"/>
                        </a:rPr>
                        <a:t>Source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3832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OC Vibe area share of Anaheim visitor days</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5.2%</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Calendar 2024</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Datafy</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3832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District 5 visitors who stay overnight</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85.8%</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Jan.–May 2026</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Azira via Symphony</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3832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District 5 first-time visitors</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43.8%</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Jan.–May 2026</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Azira via Symphony</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3832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District 5 domestic visitors from outside California</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44%</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Jan.–May 2026</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Azira via Symphony</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3832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Busiest day for District 5 visits</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Saturday (15.9%)</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Jan.–May 2026</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Azira via Symphony</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3832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Vehicles on SR-57 beside the district</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275,000 a weekday</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Caltrans 2024 count</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OCTA Traffic Flow Map (Aug. 2026)</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3832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Weekday OCTA bus trips stopping at ARTIC</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277 (11 leave after 10 p.m.)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Schedules Aug.–Nov. 2026</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OCTA</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3832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Amtrak passengers at Anaheim (ARTIC)</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191,153</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2024</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Rail Passengers Association</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3832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Honda Center seats</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18,300+</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2026</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LARC (Sept. 2026)</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3832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Concert hall capacity</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5,000 (OCVIBE) / 5,613 (City)</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Mar. 2026 / 2026</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OCVIBE release; City of Anaheim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3832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Planned hotel rooms at OC Vibe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550 (two hotels)</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2026</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City of Anaheim OCVibe page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3832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Planned parking spaces</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12,369–12,823</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2026</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City of Anaheim OCVibe page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Datafy (2024); Azira via Symphony (Jan.–May 2026); OCTA (2026); Rail Passengers Association (2024 data); LARC (Sept. 2026); OCVIBE (Mar. 2026); City of Anaheim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Where Anaheim visitor spending goes, by category</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City of Anaheim, calendar 2025 · Tourism Economics (published 2026) · each share with its calculation</a:t>
            </a:r>
            <a:endParaRPr lang="en-US" sz="12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6949440" cy="914400"/>
        </p:xfrm>
        <a:graphic>
          <a:graphicData uri="http://schemas.openxmlformats.org/drawingml/2006/table">
            <a:tbl>
              <a:tblPr/>
              <a:tblGrid>
                <a:gridCol w="2011680"/>
                <a:gridCol w="1005840"/>
                <a:gridCol w="822960"/>
                <a:gridCol w="3108960"/>
              </a:tblGrid>
              <a:tr h="457200">
                <a:tc>
                  <a:txBody>
                    <a:bodyPr/>
                    <a:lstStyle/>
                    <a:p>
                      <a:pPr algn="l" indent="0" marL="0">
                        <a:buNone/>
                      </a:pPr>
                      <a:r>
                        <a:rPr lang="en-US" sz="1000" b="1" dirty="0">
                          <a:solidFill>
                            <a:srgbClr val="FFFFFF"/>
                          </a:solidFill>
                          <a:latin typeface="Proxima Nova" pitchFamily="34" charset="0"/>
                          <a:ea typeface="Proxima Nova" pitchFamily="34" charset="-122"/>
                          <a:cs typeface="Proxima Nova" pitchFamily="34" charset="-120"/>
                        </a:rPr>
                        <a:t>Category</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Spending</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Share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1000" b="1" dirty="0">
                          <a:solidFill>
                            <a:srgbClr val="FFFFFF"/>
                          </a:solidFill>
                          <a:latin typeface="Proxima Nova" pitchFamily="34" charset="0"/>
                          <a:ea typeface="Proxima Nova" pitchFamily="34" charset="-122"/>
                          <a:cs typeface="Proxima Nova" pitchFamily="34" charset="-120"/>
                        </a:rPr>
                        <a:t>How it's calculated</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57200">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Recreation and entertainment</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$2,321M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34.0%</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$2,321M ÷ $6,832M total visitor spending</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Lodging</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$1,724M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25.2%</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$1,724M ÷ $6,832M total visitor spending</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Retail</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$1,495M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21.9%</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$1,495M ÷ $6,832M total visitor spending</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Food and beverage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$1,067M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15.6%</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$1,067M ÷ $6,832M total visitor spending</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457200">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Transportation</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$224M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3.3%</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$224M ÷ $6,832M total visitor spending</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Total</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$6,831M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100.0%</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Sum of categories; Tourism Economics total $6,832M (difference is rounding)</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5" name="chart-title"/>
          <p:cNvSpPr txBox="1"/>
          <p:nvPr/>
        </p:nvSpPr>
        <p:spPr>
          <a:xfrm>
            <a:off x="7772400" y="1463040"/>
            <a:ext cx="3870655"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Share of visitor spending, 2025</a:t>
            </a:r>
            <a:endParaRPr lang="en-US" sz="1300" dirty="0"/>
          </a:p>
        </p:txBody>
      </p:sp>
      <p:graphicFrame>
        <p:nvGraphicFramePr>
          <p:cNvPr id="6" name="chart" descr=""/>
          <p:cNvGraphicFramePr/>
          <p:nvPr/>
        </p:nvGraphicFramePr>
        <p:xfrm>
          <a:off x="7772400" y="1828800"/>
          <a:ext cx="3870655" cy="3657600"/>
        </p:xfrm>
        <a:graphic xmlns:a="http://schemas.openxmlformats.org/drawingml/2006/main">
          <a:graphicData uri="http://schemas.openxmlformats.org/drawingml/2006/chart">
            <c:chart xmlns:c="http://schemas.openxmlformats.org/drawingml/2006/chart" r:id="rId1"/>
          </a:graphicData>
        </a:graphic>
      </p:graphicFrame>
      <p:sp>
        <p:nvSpPr>
          <p:cNvPr id="7"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of Visitors (calendar 2025; pub.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Measures OC Vibe can build on, with today's baselines</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Measured baselines; OC Vibe adds its own results once its venues open</a:t>
            </a:r>
            <a:endParaRPr lang="en-US" sz="12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94415" cy="914400"/>
        </p:xfrm>
        <a:graphic>
          <a:graphicData uri="http://schemas.openxmlformats.org/drawingml/2006/table">
            <a:tbl>
              <a:tblPr/>
              <a:tblGrid>
                <a:gridCol w="1188720"/>
                <a:gridCol w="3291840"/>
                <a:gridCol w="2651760"/>
                <a:gridCol w="2377440"/>
                <a:gridCol w="1581912"/>
              </a:tblGrid>
              <a:tr h="384048">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Area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Measure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Baseline today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Source and owner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How often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Visitation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OC Vibe share of Anaheim visitor days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5.2% (Datafy, 2024)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 Anaheim BI (Datafy)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Quarterly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Visitation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Visitors from 50+ miles at OC Vibe venues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Set from ticketing data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OC Vibe ticketing (ZIP codes)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Monthly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Length of stay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Average stay of visitors who visit OC Vibe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2.17 days (Anaheim, 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 Anaheim BI (Azira, Datafy)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Quarterly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Length of stay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Overnight share of OC Vibe visitors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85.8% (District 5, Jan.–May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 Anaheim BI (Azira)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Quarterly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Hotel stays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OC Vibe hotel occupancy and average rate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Market: 78.4% and $255 (CoStar)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OC Vibe hotels; CoStar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Monthly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Hotel stays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Sunday–Monday occupancy, Visit Anaheim hotels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70.6% (STR, 2026 YTD)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 Anaheim BI (STR)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Monthly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Hotel stays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Room nights and hotel tax from OC Vibe hotels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Opens 2028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OC Vibe hotels; City of Anaheim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Monthly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New markets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Share of OC Vibe visitors from outside California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44% (District 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 Anaheim BI (Azira)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Quarterly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BI (Oct. 12, 2026); Datafy (calendar 2024); Azira via Symphony (Jan.–Aug. 2026); CoStar (through Aug. 2026); OCTA (2026); Tourism Economics (2025) Continued on next slide.</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Measures OC Vibe can build on (continued)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New markets, spending and access</a:t>
            </a:r>
            <a:endParaRPr lang="en-US" sz="12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94415" cy="914400"/>
        </p:xfrm>
        <a:graphic>
          <a:graphicData uri="http://schemas.openxmlformats.org/drawingml/2006/table">
            <a:tbl>
              <a:tblPr/>
              <a:tblGrid>
                <a:gridCol w="1188720"/>
                <a:gridCol w="3291840"/>
                <a:gridCol w="2651760"/>
                <a:gridCol w="2377440"/>
                <a:gridCol w="1581912"/>
              </a:tblGrid>
              <a:tr h="384048">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Area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Measure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Baseline today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Source and owner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How often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New markets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Visits from Visit Anaheim campaigns featuring OC Vibe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11.9 visits per 1,000 impressions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 Anaheim BI (Azira attribution)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Per campaign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New markets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Visitor spending from fly-in markets (outside Southern California)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Seattle, Phoenix, Las Vegas, Orlando, New York, Mexico, Canada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 Anaheim BI (Visa)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Monthly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Spending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Visitor card spending, Anaheim and the OC Vibe area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$464.6M in Aug. 2026 (citywide view)</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 Anaheim BI (Visa via Symphony)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Monthly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Spending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Visitor card spending at OC Vibe businesses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Set at opening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Datafy or card data; OC Vibe tenants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Quarterly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Access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Event-day transit trips and late-night departures from ARTIC</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277 weekday bus trips; 11 leave after 10 p.m.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OCTA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Quarterly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Access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Traffic on SR-57 and Katella Ave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275,000 and 36,000 vehicles a day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OCTA; City of Anaheim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Annual</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Access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Rail passengers at ARTIC</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191,153 Amtrak (2024); Metrolink line totals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Amtrak; Metrolink; OCTA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Annual</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BI (Oct. 12, 2026); Datafy (calendar 2024); Azira via Symphony (Jan.–Aug. 2026); CoStar (through Aug. 2026); OCTA (2026); Tourism Economics (2025).</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Figures OC Vibe's developers and others have published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Shown as published; not produced or checked by Visit Anaheim BI</a:t>
            </a:r>
            <a:endParaRPr lang="en-US" sz="12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94415" cy="914400"/>
        </p:xfrm>
        <a:graphic>
          <a:graphicData uri="http://schemas.openxmlformats.org/drawingml/2006/table">
            <a:tbl>
              <a:tblPr/>
              <a:tblGrid>
                <a:gridCol w="2926080"/>
                <a:gridCol w="4937760"/>
                <a:gridCol w="3227832"/>
              </a:tblGrid>
              <a:tr h="548640">
                <a:tc>
                  <a:txBody>
                    <a:bodyPr/>
                    <a:lstStyle/>
                    <a:p>
                      <a:pPr algn="l" indent="0" marL="0">
                        <a:buNone/>
                      </a:pPr>
                      <a:r>
                        <a:rPr lang="en-US" sz="1050" b="1" dirty="0">
                          <a:solidFill>
                            <a:srgbClr val="FFFFFF"/>
                          </a:solidFill>
                          <a:latin typeface="Proxima Nova" pitchFamily="34" charset="0"/>
                          <a:ea typeface="Proxima Nova" pitchFamily="34" charset="-122"/>
                          <a:cs typeface="Proxima Nova" pitchFamily="34" charset="-120"/>
                        </a:rPr>
                        <a:t>Published by</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1050" b="1" dirty="0">
                          <a:solidFill>
                            <a:srgbClr val="FFFFFF"/>
                          </a:solidFill>
                          <a:latin typeface="Proxima Nova" pitchFamily="34" charset="0"/>
                          <a:ea typeface="Proxima Nova" pitchFamily="34" charset="-122"/>
                          <a:cs typeface="Proxima Nova" pitchFamily="34" charset="-120"/>
                        </a:rPr>
                        <a:t>Figures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1050" b="1" dirty="0">
                          <a:solidFill>
                            <a:srgbClr val="FFFFFF"/>
                          </a:solidFill>
                          <a:latin typeface="Proxima Nova" pitchFamily="34" charset="0"/>
                          <a:ea typeface="Proxima Nova" pitchFamily="34" charset="-122"/>
                          <a:cs typeface="Proxima Nova" pitchFamily="34" charset="-120"/>
                        </a:rPr>
                        <a:t>Scope</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54864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OCVIBE fact sheet (Apr. 2024)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3,000+ ongoing jobs; about $10M a year in tax revenue to Anaheim; $255M in public benefits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Whole district: office, residents, local patrons and visitors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54864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DTA analysis, cited by Visit Anaheim (June 2020)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More than $400M a year in recurring economic impact; 3,300 permanent jobs; $2B one-time construction impact</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Whole district, earlier and larger program</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OCVIBE fact sheet (Apr. 2024); Visit Anaheim article (June 24, 2020).</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How the numbers are calculated: Anaheim and OC Vibe today</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Each step with its calculation, result and source</a:t>
            </a:r>
            <a:endParaRPr lang="en-US" sz="12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286000"/>
                <a:gridCol w="5120640"/>
                <a:gridCol w="1280160"/>
                <a:gridCol w="2404872"/>
              </a:tblGrid>
              <a:tr h="384048">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Step</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Calculation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Result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Source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Spending per visitor, 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$6.832B ÷ 26.5M visitors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$258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 (2025)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Spending per visitor, 2026 forecast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$7.2B ÷ 27.0M visitors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$267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 forecast (Sept.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Visitors, 2026 vs. 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Reported by source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 forecast (Sept.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Visitor spending, 2026 vs. 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Reported by source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+5.6%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 forecast (Sept.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Jobs supported, 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Reported by source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67,817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 (2025)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OC Vibe area share of visitor days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Reported by source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5.2%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Datafy (2024)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(2025); Tourism Economics forecast (Sept. 2026); Datafy (2024)</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What it means for OC Vibe: Anaheim and OC Vibe today</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What this insight enhances for OC Vibe, and what OC Vibe needs to act on it</a:t>
            </a:r>
            <a:endParaRPr lang="en-US" sz="1200" dirty="0"/>
          </a:p>
        </p:txBody>
      </p:sp>
      <p:sp>
        <p:nvSpPr>
          <p:cNvPr id="4" name="Shape 2"/>
          <p:cNvSpPr/>
          <p:nvPr/>
        </p:nvSpPr>
        <p:spPr>
          <a:xfrm>
            <a:off x="548640" y="1417320"/>
            <a:ext cx="11094415" cy="914400"/>
          </a:xfrm>
          <a:prstGeom prst="rect">
            <a:avLst/>
          </a:prstGeom>
          <a:solidFill>
            <a:srgbClr val="B4D9E3"/>
          </a:solidFill>
          <a:ln w="12700">
            <a:solidFill>
              <a:srgbClr val="B4D9E3"/>
            </a:solidFill>
            <a:prstDash val="solid"/>
          </a:ln>
        </p:spPr>
      </p:sp>
      <p:sp>
        <p:nvSpPr>
          <p:cNvPr id="5" name="Text 3"/>
          <p:cNvSpPr txBox="1"/>
          <p:nvPr/>
        </p:nvSpPr>
        <p:spPr>
          <a:xfrm>
            <a:off x="685800" y="1463040"/>
            <a:ext cx="1828800" cy="201168"/>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KEY INSIGHT</a:t>
            </a:r>
            <a:endParaRPr lang="en-US" sz="900" dirty="0"/>
          </a:p>
        </p:txBody>
      </p:sp>
      <p:sp>
        <p:nvSpPr>
          <p:cNvPr id="6" name="Text 4"/>
          <p:cNvSpPr txBox="1"/>
          <p:nvPr/>
        </p:nvSpPr>
        <p:spPr>
          <a:xfrm>
            <a:off x="685800" y="1664208"/>
            <a:ext cx="10820095" cy="640080"/>
          </a:xfrm>
          <a:prstGeom prst="rect">
            <a:avLst/>
          </a:prstGeom>
          <a:noFill/>
          <a:ln/>
        </p:spPr>
        <p:txBody>
          <a:bodyPr wrap="square" lIns="0" tIns="0" rIns="0" bIns="0" rtlCol="0" anchor="t"/>
          <a:lstStyle/>
          <a:p>
            <a:pPr indent="0" marL="0">
              <a:buNone/>
            </a:pPr>
            <a:r>
              <a:rPr lang="en-US" sz="1100" dirty="0">
                <a:solidFill>
                  <a:srgbClr val="231F20"/>
                </a:solidFill>
                <a:latin typeface="Proxima Nova" pitchFamily="34" charset="0"/>
                <a:ea typeface="Proxima Nova" pitchFamily="34" charset="-122"/>
                <a:cs typeface="Proxima Nova" pitchFamily="34" charset="-120"/>
              </a:rPr>
              <a:t>In 2025, </a:t>
            </a:r>
            <a:pPr indent="0" marL="0">
              <a:buNone/>
            </a:pPr>
            <a:r>
              <a:rPr lang="en-US" sz="1100" b="1" dirty="0">
                <a:solidFill>
                  <a:srgbClr val="125C60"/>
                </a:solidFill>
                <a:latin typeface="Proxima Nova" pitchFamily="34" charset="0"/>
                <a:ea typeface="Proxima Nova" pitchFamily="34" charset="-122"/>
                <a:cs typeface="Proxima Nova" pitchFamily="34" charset="-120"/>
              </a:rPr>
              <a:t>26.5M</a:t>
            </a:r>
            <a:pPr indent="0" marL="0">
              <a:buNone/>
            </a:pPr>
            <a:r>
              <a:rPr lang="en-US" sz="1100" dirty="0">
                <a:solidFill>
                  <a:srgbClr val="231F20"/>
                </a:solidFill>
                <a:latin typeface="Proxima Nova" pitchFamily="34" charset="0"/>
                <a:ea typeface="Proxima Nova" pitchFamily="34" charset="-122"/>
                <a:cs typeface="Proxima Nova" pitchFamily="34" charset="-120"/>
              </a:rPr>
              <a:t> visitors spent </a:t>
            </a:r>
            <a:pPr indent="0" marL="0">
              <a:buNone/>
            </a:pPr>
            <a:r>
              <a:rPr lang="en-US" sz="1100" b="1" dirty="0">
                <a:solidFill>
                  <a:srgbClr val="125C60"/>
                </a:solidFill>
                <a:latin typeface="Proxima Nova" pitchFamily="34" charset="0"/>
                <a:ea typeface="Proxima Nova" pitchFamily="34" charset="-122"/>
                <a:cs typeface="Proxima Nova" pitchFamily="34" charset="-120"/>
              </a:rPr>
              <a:t>$6.83B</a:t>
            </a:r>
            <a:pPr indent="0" marL="0">
              <a:buNone/>
            </a:pPr>
            <a:r>
              <a:rPr lang="en-US" sz="1100" dirty="0">
                <a:solidFill>
                  <a:srgbClr val="231F20"/>
                </a:solidFill>
                <a:latin typeface="Proxima Nova" pitchFamily="34" charset="0"/>
                <a:ea typeface="Proxima Nova" pitchFamily="34" charset="-122"/>
                <a:cs typeface="Proxima Nova" pitchFamily="34" charset="-120"/>
              </a:rPr>
              <a:t> in Anaheim, </a:t>
            </a:r>
            <a:pPr indent="0" marL="0">
              <a:buNone/>
            </a:pPr>
            <a:r>
              <a:rPr lang="en-US" sz="1100" b="1" dirty="0">
                <a:solidFill>
                  <a:srgbClr val="125C60"/>
                </a:solidFill>
                <a:latin typeface="Proxima Nova" pitchFamily="34" charset="0"/>
                <a:ea typeface="Proxima Nova" pitchFamily="34" charset="-122"/>
                <a:cs typeface="Proxima Nova" pitchFamily="34" charset="-120"/>
              </a:rPr>
              <a:t>$258</a:t>
            </a:r>
            <a:pPr indent="0" marL="0">
              <a:buNone/>
            </a:pPr>
            <a:r>
              <a:rPr lang="en-US" sz="1100" dirty="0">
                <a:solidFill>
                  <a:srgbClr val="231F20"/>
                </a:solidFill>
                <a:latin typeface="Proxima Nova" pitchFamily="34" charset="0"/>
                <a:ea typeface="Proxima Nova" pitchFamily="34" charset="-122"/>
                <a:cs typeface="Proxima Nova" pitchFamily="34" charset="-120"/>
              </a:rPr>
              <a:t> each (</a:t>
            </a:r>
            <a:pPr indent="0" marL="0">
              <a:buNone/>
            </a:pPr>
            <a:r>
              <a:rPr lang="en-US" sz="1100" b="1" dirty="0">
                <a:solidFill>
                  <a:srgbClr val="125C60"/>
                </a:solidFill>
                <a:latin typeface="Proxima Nova" pitchFamily="34" charset="0"/>
                <a:ea typeface="Proxima Nova" pitchFamily="34" charset="-122"/>
                <a:cs typeface="Proxima Nova" pitchFamily="34" charset="-120"/>
              </a:rPr>
              <a:t>$6.832B</a:t>
            </a:r>
            <a:pPr indent="0" marL="0">
              <a:buNone/>
            </a:pPr>
            <a:r>
              <a:rPr lang="en-US" sz="1100" dirty="0">
                <a:solidFill>
                  <a:srgbClr val="231F20"/>
                </a:solidFill>
                <a:latin typeface="Proxima Nova" pitchFamily="34" charset="0"/>
                <a:ea typeface="Proxima Nova" pitchFamily="34" charset="-122"/>
                <a:cs typeface="Proxima Nova" pitchFamily="34" charset="-120"/>
              </a:rPr>
              <a:t> ÷ </a:t>
            </a:r>
            <a:pPr indent="0" marL="0">
              <a:buNone/>
            </a:pPr>
            <a:r>
              <a:rPr lang="en-US" sz="1100" b="1" dirty="0">
                <a:solidFill>
                  <a:srgbClr val="125C60"/>
                </a:solidFill>
                <a:latin typeface="Proxima Nova" pitchFamily="34" charset="0"/>
                <a:ea typeface="Proxima Nova" pitchFamily="34" charset="-122"/>
                <a:cs typeface="Proxima Nova" pitchFamily="34" charset="-120"/>
              </a:rPr>
              <a:t>26.5M</a:t>
            </a:r>
            <a:pPr indent="0" marL="0">
              <a:buNone/>
            </a:pPr>
            <a:r>
              <a:rPr lang="en-US" sz="1100" dirty="0">
                <a:solidFill>
                  <a:srgbClr val="231F20"/>
                </a:solidFill>
                <a:latin typeface="Proxima Nova" pitchFamily="34" charset="0"/>
                <a:ea typeface="Proxima Nova" pitchFamily="34" charset="-122"/>
                <a:cs typeface="Proxima Nova" pitchFamily="34" charset="-120"/>
              </a:rPr>
              <a:t>), and supported </a:t>
            </a:r>
            <a:pPr indent="0" marL="0">
              <a:buNone/>
            </a:pPr>
            <a:r>
              <a:rPr lang="en-US" sz="1100" b="1" dirty="0">
                <a:solidFill>
                  <a:srgbClr val="125C60"/>
                </a:solidFill>
                <a:latin typeface="Proxima Nova" pitchFamily="34" charset="0"/>
                <a:ea typeface="Proxima Nova" pitchFamily="34" charset="-122"/>
                <a:cs typeface="Proxima Nova" pitchFamily="34" charset="-120"/>
              </a:rPr>
              <a:t>67,817 jobs</a:t>
            </a:r>
            <a:pPr indent="0" marL="0">
              <a:buNone/>
            </a:pPr>
            <a:r>
              <a:rPr lang="en-US" sz="1100" dirty="0">
                <a:solidFill>
                  <a:srgbClr val="231F20"/>
                </a:solidFill>
                <a:latin typeface="Proxima Nova" pitchFamily="34" charset="0"/>
                <a:ea typeface="Proxima Nova" pitchFamily="34" charset="-122"/>
                <a:cs typeface="Proxima Nova" pitchFamily="34" charset="-120"/>
              </a:rPr>
              <a:t> (Tourism Economics, published 2026). Tourism Economics forecasts </a:t>
            </a:r>
            <a:pPr indent="0" marL="0">
              <a:buNone/>
            </a:pPr>
            <a:r>
              <a:rPr lang="en-US" sz="1100" b="1" dirty="0">
                <a:solidFill>
                  <a:srgbClr val="125C60"/>
                </a:solidFill>
                <a:latin typeface="Proxima Nova" pitchFamily="34" charset="0"/>
                <a:ea typeface="Proxima Nova" pitchFamily="34" charset="-122"/>
                <a:cs typeface="Proxima Nova" pitchFamily="34" charset="-120"/>
              </a:rPr>
              <a:t>27.0M</a:t>
            </a:r>
            <a:pPr indent="0" marL="0">
              <a:buNone/>
            </a:pPr>
            <a:r>
              <a:rPr lang="en-US" sz="1100" dirty="0">
                <a:solidFill>
                  <a:srgbClr val="231F20"/>
                </a:solidFill>
                <a:latin typeface="Proxima Nova" pitchFamily="34" charset="0"/>
                <a:ea typeface="Proxima Nova" pitchFamily="34" charset="-122"/>
                <a:cs typeface="Proxima Nova" pitchFamily="34" charset="-120"/>
              </a:rPr>
              <a:t> visitors (</a:t>
            </a:r>
            <a:pPr indent="0" marL="0">
              <a:buNone/>
            </a:pPr>
            <a:r>
              <a:rPr lang="en-US" sz="1100" b="1" dirty="0">
                <a:solidFill>
                  <a:srgbClr val="125C60"/>
                </a:solidFill>
                <a:latin typeface="Proxima Nova" pitchFamily="34" charset="0"/>
                <a:ea typeface="Proxima Nova" pitchFamily="34" charset="-122"/>
                <a:cs typeface="Proxima Nova" pitchFamily="34" charset="-120"/>
              </a:rPr>
              <a:t>+1.9%</a:t>
            </a:r>
            <a:pPr indent="0" marL="0">
              <a:buNone/>
            </a:pPr>
            <a:r>
              <a:rPr lang="en-US" sz="1100" dirty="0">
                <a:solidFill>
                  <a:srgbClr val="231F20"/>
                </a:solidFill>
                <a:latin typeface="Proxima Nova" pitchFamily="34" charset="0"/>
                <a:ea typeface="Proxima Nova" pitchFamily="34" charset="-122"/>
                <a:cs typeface="Proxima Nova" pitchFamily="34" charset="-120"/>
              </a:rPr>
              <a:t>) and </a:t>
            </a:r>
            <a:pPr indent="0" marL="0">
              <a:buNone/>
            </a:pPr>
            <a:r>
              <a:rPr lang="en-US" sz="1100" b="1" dirty="0">
                <a:solidFill>
                  <a:srgbClr val="125C60"/>
                </a:solidFill>
                <a:latin typeface="Proxima Nova" pitchFamily="34" charset="0"/>
                <a:ea typeface="Proxima Nova" pitchFamily="34" charset="-122"/>
                <a:cs typeface="Proxima Nova" pitchFamily="34" charset="-120"/>
              </a:rPr>
              <a:t>$7.2B</a:t>
            </a:r>
            <a:pPr indent="0" marL="0">
              <a:buNone/>
            </a:pPr>
            <a:r>
              <a:rPr lang="en-US" sz="1100" dirty="0">
                <a:solidFill>
                  <a:srgbClr val="231F20"/>
                </a:solidFill>
                <a:latin typeface="Proxima Nova" pitchFamily="34" charset="0"/>
                <a:ea typeface="Proxima Nova" pitchFamily="34" charset="-122"/>
                <a:cs typeface="Proxima Nova" pitchFamily="34" charset="-120"/>
              </a:rPr>
              <a:t> (</a:t>
            </a:r>
            <a:pPr indent="0" marL="0">
              <a:buNone/>
            </a:pPr>
            <a:r>
              <a:rPr lang="en-US" sz="1100" b="1" dirty="0">
                <a:solidFill>
                  <a:srgbClr val="125C60"/>
                </a:solidFill>
                <a:latin typeface="Proxima Nova" pitchFamily="34" charset="0"/>
                <a:ea typeface="Proxima Nova" pitchFamily="34" charset="-122"/>
                <a:cs typeface="Proxima Nova" pitchFamily="34" charset="-120"/>
              </a:rPr>
              <a:t>+5.6%</a:t>
            </a:r>
            <a:pPr indent="0" marL="0">
              <a:buNone/>
            </a:pPr>
            <a:r>
              <a:rPr lang="en-US" sz="1100" dirty="0">
                <a:solidFill>
                  <a:srgbClr val="231F20"/>
                </a:solidFill>
                <a:latin typeface="Proxima Nova" pitchFamily="34" charset="0"/>
                <a:ea typeface="Proxima Nova" pitchFamily="34" charset="-122"/>
                <a:cs typeface="Proxima Nova" pitchFamily="34" charset="-120"/>
              </a:rPr>
              <a:t>) for 2026. These are City of Anaheim totals; they do not measure OC Vibe. For the OC Vibe area today, Datafy measured </a:t>
            </a:r>
            <a:pPr indent="0" marL="0">
              <a:buNone/>
            </a:pPr>
            <a:r>
              <a:rPr lang="en-US" sz="1100" b="1" dirty="0">
                <a:solidFill>
                  <a:srgbClr val="125C60"/>
                </a:solidFill>
                <a:latin typeface="Proxima Nova" pitchFamily="34" charset="0"/>
                <a:ea typeface="Proxima Nova" pitchFamily="34" charset="-122"/>
                <a:cs typeface="Proxima Nova" pitchFamily="34" charset="-120"/>
              </a:rPr>
              <a:t>5.2%</a:t>
            </a:r>
            <a:pPr indent="0" marL="0">
              <a:buNone/>
            </a:pPr>
            <a:r>
              <a:rPr lang="en-US" sz="1100" dirty="0">
                <a:solidFill>
                  <a:srgbClr val="231F20"/>
                </a:solidFill>
                <a:latin typeface="Proxima Nova" pitchFamily="34" charset="0"/>
                <a:ea typeface="Proxima Nova" pitchFamily="34" charset="-122"/>
                <a:cs typeface="Proxima Nova" pitchFamily="34" charset="-120"/>
              </a:rPr>
              <a:t> of Anaheim visitor days in 2024, and </a:t>
            </a:r>
            <a:pPr indent="0" marL="0">
              <a:buNone/>
            </a:pPr>
            <a:r>
              <a:rPr lang="en-US" sz="1100" b="1" dirty="0">
                <a:solidFill>
                  <a:srgbClr val="125C60"/>
                </a:solidFill>
                <a:latin typeface="Proxima Nova" pitchFamily="34" charset="0"/>
                <a:ea typeface="Proxima Nova" pitchFamily="34" charset="-122"/>
                <a:cs typeface="Proxima Nova" pitchFamily="34" charset="-120"/>
              </a:rPr>
              <a:t>85.8%</a:t>
            </a:r>
            <a:pPr indent="0" marL="0">
              <a:buNone/>
            </a:pPr>
            <a:r>
              <a:rPr lang="en-US" sz="1100" dirty="0">
                <a:solidFill>
                  <a:srgbClr val="231F20"/>
                </a:solidFill>
                <a:latin typeface="Proxima Nova" pitchFamily="34" charset="0"/>
                <a:ea typeface="Proxima Nova" pitchFamily="34" charset="-122"/>
                <a:cs typeface="Proxima Nova" pitchFamily="34" charset="-120"/>
              </a:rPr>
              <a:t> of District 5 visitors stay overnight (Azira, Jan.–May 2026).</a:t>
            </a:r>
            <a:endParaRPr lang="en-US" sz="1100" dirty="0"/>
          </a:p>
        </p:txBody>
      </p:sp>
      <p:sp>
        <p:nvSpPr>
          <p:cNvPr id="7" name="Shape 5"/>
          <p:cNvSpPr/>
          <p:nvPr/>
        </p:nvSpPr>
        <p:spPr>
          <a:xfrm>
            <a:off x="548640" y="2468880"/>
            <a:ext cx="5410048" cy="45720"/>
          </a:xfrm>
          <a:prstGeom prst="rect">
            <a:avLst/>
          </a:prstGeom>
          <a:solidFill>
            <a:srgbClr val="43A3A3"/>
          </a:solidFill>
          <a:ln w="12700">
            <a:solidFill>
              <a:srgbClr val="43A3A3"/>
            </a:solidFill>
            <a:prstDash val="solid"/>
          </a:ln>
        </p:spPr>
      </p:sp>
      <p:sp>
        <p:nvSpPr>
          <p:cNvPr id="8" name="Text 6"/>
          <p:cNvSpPr txBox="1"/>
          <p:nvPr/>
        </p:nvSpPr>
        <p:spPr>
          <a:xfrm>
            <a:off x="548640" y="2560320"/>
            <a:ext cx="5410048" cy="256032"/>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WHAT IT ENHANCES</a:t>
            </a:r>
            <a:endParaRPr lang="en-US" sz="1000" dirty="0"/>
          </a:p>
        </p:txBody>
      </p:sp>
      <p:sp>
        <p:nvSpPr>
          <p:cNvPr id="9" name="Text 7"/>
          <p:cNvSpPr txBox="1"/>
          <p:nvPr/>
        </p:nvSpPr>
        <p:spPr>
          <a:xfrm>
            <a:off x="548640" y="2852928"/>
            <a:ext cx="5410048" cy="3063240"/>
          </a:xfrm>
          <a:prstGeom prst="rect">
            <a:avLst/>
          </a:prstGeom>
          <a:noFill/>
          <a:ln/>
        </p:spPr>
        <p:txBody>
          <a:bodyPr wrap="square" lIns="0" tIns="0" rIns="0" bIns="0" rtlCol="0" anchor="t"/>
          <a:lstStyle/>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Strategy: A measured baseline: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26.5M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visitors and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$6.83B</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spending in 2025, with Tourism Economics forecasting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$7.2B</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for 2026. [Calculation: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$6.832B</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26.5M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$258</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per visitor (2025);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$7.2B</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27.0M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$267</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(2026 forecast)]</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Measurement: The OC Vibe area already accounts for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5.2%</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of Anaheim visitor days (2024), the starting point for measuring growth.</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Marketing: District 5 visitors are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85.8%</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overnight and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43.8%</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first-time, and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44%</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of domestic visitors come from outside California. [Calculation: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100%</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56.0%</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from California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44%</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Programming: Visitors spend most on recreation and entertainment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34.0%</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then lodging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25.2%</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retail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21.9%</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and food and beverage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15.6%</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[Calculation: Recreation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$2,321M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lodging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$1,724M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retail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$1,495M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food and beverage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$1,067M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$6,832M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total]</a:t>
            </a:r>
            <a:endParaRPr lang="en-US" sz="800" dirty="0"/>
          </a:p>
        </p:txBody>
      </p:sp>
      <p:sp>
        <p:nvSpPr>
          <p:cNvPr id="10" name="Shape 8"/>
          <p:cNvSpPr/>
          <p:nvPr/>
        </p:nvSpPr>
        <p:spPr>
          <a:xfrm>
            <a:off x="6233008" y="2468880"/>
            <a:ext cx="5410048" cy="45720"/>
          </a:xfrm>
          <a:prstGeom prst="rect">
            <a:avLst/>
          </a:prstGeom>
          <a:solidFill>
            <a:srgbClr val="125C60"/>
          </a:solidFill>
          <a:ln w="12700">
            <a:solidFill>
              <a:srgbClr val="125C60"/>
            </a:solidFill>
            <a:prstDash val="solid"/>
          </a:ln>
        </p:spPr>
      </p:sp>
      <p:sp>
        <p:nvSpPr>
          <p:cNvPr id="11" name="Text 9"/>
          <p:cNvSpPr txBox="1"/>
          <p:nvPr/>
        </p:nvSpPr>
        <p:spPr>
          <a:xfrm>
            <a:off x="6233008" y="2560320"/>
            <a:ext cx="5410048" cy="256032"/>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WHAT OC VIBE NEEDS</a:t>
            </a:r>
            <a:endParaRPr lang="en-US" sz="1000" dirty="0"/>
          </a:p>
        </p:txBody>
      </p:sp>
      <p:sp>
        <p:nvSpPr>
          <p:cNvPr id="12" name="Text 10"/>
          <p:cNvSpPr txBox="1"/>
          <p:nvPr/>
        </p:nvSpPr>
        <p:spPr>
          <a:xfrm>
            <a:off x="6233008" y="2852928"/>
            <a:ext cx="5410048" cy="3063240"/>
          </a:xfrm>
          <a:prstGeom prst="rect">
            <a:avLst/>
          </a:prstGeom>
          <a:noFill/>
          <a:ln/>
        </p:spPr>
        <p:txBody>
          <a:bodyPr wrap="square" lIns="0" tIns="0" rIns="0" bIns="0" rtlCol="0" anchor="t"/>
          <a:lstStyle/>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Measurement: Ticket-buyer ZIP codes from the first 2027 shows, to measure how many attendees travel 50+ miles.</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Hotels: Occupancy, rate and guest origin from OC Vibe's hotels once open (first hotel 2028), reported monthly.</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Measurement: A confirmed concert hall capacity: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5,000 seats</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(OCVIBE, Mar. 2026) vs.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5,613</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(City of Anaheim, 2026).</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Strategy: One shared scorecard built on today's baselines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5.2%</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of visitor days,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2.17</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-day average stay,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85.8%</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overnight), refreshed quarterly with Visit Anaheim BI. [Calculation: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2.17 days</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93.2%</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domestic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1.9 days</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6.8%</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international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5.9 days</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(Tourism Economics; Azira)]</a:t>
            </a:r>
            <a:endParaRPr lang="en-US" sz="800" dirty="0"/>
          </a:p>
        </p:txBody>
      </p:sp>
      <p:sp>
        <p:nvSpPr>
          <p:cNvPr id="13"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of Visitors (calendar 2025; pub. 2026); Tourism Economics, Anaheim Travel Forecast (Sept. 2026); Datafy Anaheim visitor report (calendar 2024); Azira via Symphony (District 5, Jan. 1–May 31, 2026; domestic visitors, Aug. 2026); Orange County Business Journal (June 1, 2026); OCVIBE concert hall release, PR Newswire (Mar. 12, 2026); City of Anaheim OCVibe page (2026); OCVIBE fact sheet (Apr. 2024)</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Orange County draws 51.3 million visitors a year; hotels fill 75% of rooms in 2026</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Orange County tourism · CIC Research 2009-2019; Tourism Economics 2021-2025; CoStar through Sept. 2026; Azira Jan. 2023-Aug. 2026</a:t>
            </a:r>
            <a:endParaRPr lang="en-US" sz="1200" dirty="0"/>
          </a:p>
        </p:txBody>
      </p:sp>
      <p:sp>
        <p:nvSpPr>
          <p:cNvPr id="5" name="Text 2"/>
          <p:cNvSpPr txBox="1"/>
          <p:nvPr/>
        </p:nvSpPr>
        <p:spPr>
          <a:xfrm>
            <a:off x="548640" y="1481328"/>
            <a:ext cx="7086600"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THE LEDE</a:t>
            </a:r>
            <a:endParaRPr lang="en-US" sz="1000" dirty="0"/>
          </a:p>
        </p:txBody>
      </p:sp>
      <p:sp>
        <p:nvSpPr>
          <p:cNvPr id="6" name="Text 3"/>
          <p:cNvSpPr txBox="1"/>
          <p:nvPr/>
        </p:nvSpPr>
        <p:spPr>
          <a:xfrm>
            <a:off x="548640" y="1737360"/>
            <a:ext cx="7086600" cy="1965960"/>
          </a:xfrm>
          <a:prstGeom prst="rect">
            <a:avLst/>
          </a:prstGeom>
          <a:noFill/>
          <a:ln/>
        </p:spPr>
        <p:txBody>
          <a:bodyPr wrap="square" lIns="0" tIns="0" rIns="0" bIns="0" rtlCol="0" anchor="t"/>
          <a:lstStyle/>
          <a:p>
            <a:pPr indent="0" marL="0">
              <a:buNone/>
            </a:pPr>
            <a:r>
              <a:rPr lang="en-US" sz="1350" b="1" dirty="0">
                <a:solidFill>
                  <a:srgbClr val="125C60"/>
                </a:solidFill>
                <a:latin typeface="Proxima Nova" pitchFamily="34" charset="0"/>
                <a:ea typeface="Proxima Nova" pitchFamily="34" charset="-122"/>
                <a:cs typeface="Proxima Nova" pitchFamily="34" charset="-120"/>
              </a:rPr>
              <a:t>ANAHEIM, Calif. (Oct. 19, 2026): </a:t>
            </a:r>
            <a:pPr indent="0" marL="0">
              <a:buNone/>
            </a:pPr>
            <a:r>
              <a:rPr lang="en-US" sz="1350" dirty="0">
                <a:solidFill>
                  <a:srgbClr val="231F20"/>
                </a:solidFill>
                <a:latin typeface="Proxima Nova" pitchFamily="34" charset="0"/>
                <a:ea typeface="Proxima Nova" pitchFamily="34" charset="-122"/>
                <a:cs typeface="Proxima Nova" pitchFamily="34" charset="-120"/>
              </a:rPr>
              <a:t>Orange County drew </a:t>
            </a:r>
            <a:pPr indent="0" marL="0">
              <a:buNone/>
            </a:pPr>
            <a:r>
              <a:rPr lang="en-US" sz="1350" b="1" dirty="0">
                <a:solidFill>
                  <a:srgbClr val="125C60"/>
                </a:solidFill>
                <a:latin typeface="Proxima Nova" pitchFamily="34" charset="0"/>
                <a:ea typeface="Proxima Nova" pitchFamily="34" charset="-122"/>
                <a:cs typeface="Proxima Nova" pitchFamily="34" charset="-120"/>
              </a:rPr>
              <a:t>51.3M</a:t>
            </a:r>
            <a:pPr indent="0" marL="0">
              <a:buNone/>
            </a:pPr>
            <a:r>
              <a:rPr lang="en-US" sz="1350" dirty="0">
                <a:solidFill>
                  <a:srgbClr val="231F20"/>
                </a:solidFill>
                <a:latin typeface="Proxima Nova" pitchFamily="34" charset="0"/>
                <a:ea typeface="Proxima Nova" pitchFamily="34" charset="-122"/>
                <a:cs typeface="Proxima Nova" pitchFamily="34" charset="-120"/>
              </a:rPr>
              <a:t> visitors in 2025, </a:t>
            </a:r>
            <a:pPr indent="0" marL="0">
              <a:buNone/>
            </a:pPr>
            <a:r>
              <a:rPr lang="en-US" sz="1350" b="1" dirty="0">
                <a:solidFill>
                  <a:srgbClr val="125C60"/>
                </a:solidFill>
                <a:latin typeface="Proxima Nova" pitchFamily="34" charset="0"/>
                <a:ea typeface="Proxima Nova" pitchFamily="34" charset="-122"/>
                <a:cs typeface="Proxima Nova" pitchFamily="34" charset="-120"/>
              </a:rPr>
              <a:t>29.2M</a:t>
            </a:r>
            <a:pPr indent="0" marL="0">
              <a:buNone/>
            </a:pPr>
            <a:r>
              <a:rPr lang="en-US" sz="1350" dirty="0">
                <a:solidFill>
                  <a:srgbClr val="231F20"/>
                </a:solidFill>
                <a:latin typeface="Proxima Nova" pitchFamily="34" charset="0"/>
                <a:ea typeface="Proxima Nova" pitchFamily="34" charset="-122"/>
                <a:cs typeface="Proxima Nova" pitchFamily="34" charset="-120"/>
              </a:rPr>
              <a:t> for the day and </a:t>
            </a:r>
            <a:pPr indent="0" marL="0">
              <a:buNone/>
            </a:pPr>
            <a:r>
              <a:rPr lang="en-US" sz="1350" b="1" dirty="0">
                <a:solidFill>
                  <a:srgbClr val="125C60"/>
                </a:solidFill>
                <a:latin typeface="Proxima Nova" pitchFamily="34" charset="0"/>
                <a:ea typeface="Proxima Nova" pitchFamily="34" charset="-122"/>
                <a:cs typeface="Proxima Nova" pitchFamily="34" charset="-120"/>
              </a:rPr>
              <a:t>22.1M</a:t>
            </a:r>
            <a:pPr indent="0" marL="0">
              <a:buNone/>
            </a:pPr>
            <a:r>
              <a:rPr lang="en-US" sz="1350" dirty="0">
                <a:solidFill>
                  <a:srgbClr val="231F20"/>
                </a:solidFill>
                <a:latin typeface="Proxima Nova" pitchFamily="34" charset="0"/>
                <a:ea typeface="Proxima Nova" pitchFamily="34" charset="-122"/>
                <a:cs typeface="Proxima Nova" pitchFamily="34" charset="-120"/>
              </a:rPr>
              <a:t> overnight, and </a:t>
            </a:r>
            <a:pPr indent="0" marL="0">
              <a:buNone/>
            </a:pPr>
            <a:r>
              <a:rPr lang="en-US" sz="1350" b="1" dirty="0">
                <a:solidFill>
                  <a:srgbClr val="125C60"/>
                </a:solidFill>
                <a:latin typeface="Proxima Nova" pitchFamily="34" charset="0"/>
                <a:ea typeface="Proxima Nova" pitchFamily="34" charset="-122"/>
                <a:cs typeface="Proxima Nova" pitchFamily="34" charset="-120"/>
              </a:rPr>
              <a:t>93.3%</a:t>
            </a:r>
            <a:pPr indent="0" marL="0">
              <a:buNone/>
            </a:pPr>
            <a:r>
              <a:rPr lang="en-US" sz="1350" dirty="0">
                <a:solidFill>
                  <a:srgbClr val="231F20"/>
                </a:solidFill>
                <a:latin typeface="Proxima Nova" pitchFamily="34" charset="0"/>
                <a:ea typeface="Proxima Nova" pitchFamily="34" charset="-122"/>
                <a:cs typeface="Proxima Nova" pitchFamily="34" charset="-120"/>
              </a:rPr>
              <a:t> came from within the U.S. (Tourism Economics). Most come for leisure: in 2019, </a:t>
            </a:r>
            <a:pPr indent="0" marL="0">
              <a:buNone/>
            </a:pPr>
            <a:r>
              <a:rPr lang="en-US" sz="1350" b="1" dirty="0">
                <a:solidFill>
                  <a:srgbClr val="125C60"/>
                </a:solidFill>
                <a:latin typeface="Proxima Nova" pitchFamily="34" charset="0"/>
                <a:ea typeface="Proxima Nova" pitchFamily="34" charset="-122"/>
                <a:cs typeface="Proxima Nova" pitchFamily="34" charset="-120"/>
              </a:rPr>
              <a:t>81.2%</a:t>
            </a:r>
            <a:pPr indent="0" marL="0">
              <a:buNone/>
            </a:pPr>
            <a:r>
              <a:rPr lang="en-US" sz="1350" dirty="0">
                <a:solidFill>
                  <a:srgbClr val="231F20"/>
                </a:solidFill>
                <a:latin typeface="Proxima Nova" pitchFamily="34" charset="0"/>
                <a:ea typeface="Proxima Nova" pitchFamily="34" charset="-122"/>
                <a:cs typeface="Proxima Nova" pitchFamily="34" charset="-120"/>
              </a:rPr>
              <a:t> traveled for pleasure or to see friends and relatives, in parties of </a:t>
            </a:r>
            <a:pPr indent="0" marL="0">
              <a:buNone/>
            </a:pPr>
            <a:r>
              <a:rPr lang="en-US" sz="1350" b="1" dirty="0">
                <a:solidFill>
                  <a:srgbClr val="125C60"/>
                </a:solidFill>
                <a:latin typeface="Proxima Nova" pitchFamily="34" charset="0"/>
                <a:ea typeface="Proxima Nova" pitchFamily="34" charset="-122"/>
                <a:cs typeface="Proxima Nova" pitchFamily="34" charset="-120"/>
              </a:rPr>
              <a:t>2.8</a:t>
            </a:r>
            <a:pPr indent="0" marL="0">
              <a:buNone/>
            </a:pPr>
            <a:r>
              <a:rPr lang="en-US" sz="1350" dirty="0">
                <a:solidFill>
                  <a:srgbClr val="231F20"/>
                </a:solidFill>
                <a:latin typeface="Proxima Nova" pitchFamily="34" charset="0"/>
                <a:ea typeface="Proxima Nova" pitchFamily="34" charset="-122"/>
                <a:cs typeface="Proxima Nova" pitchFamily="34" charset="-120"/>
              </a:rPr>
              <a:t>, and </a:t>
            </a:r>
            <a:pPr indent="0" marL="0">
              <a:buNone/>
            </a:pPr>
            <a:r>
              <a:rPr lang="en-US" sz="1350" b="1" dirty="0">
                <a:solidFill>
                  <a:srgbClr val="125C60"/>
                </a:solidFill>
                <a:latin typeface="Proxima Nova" pitchFamily="34" charset="0"/>
                <a:ea typeface="Proxima Nova" pitchFamily="34" charset="-122"/>
                <a:cs typeface="Proxima Nova" pitchFamily="34" charset="-120"/>
              </a:rPr>
              <a:t>37.0%</a:t>
            </a:r>
            <a:pPr indent="0" marL="0">
              <a:buNone/>
            </a:pPr>
            <a:r>
              <a:rPr lang="en-US" sz="1350" dirty="0">
                <a:solidFill>
                  <a:srgbClr val="231F20"/>
                </a:solidFill>
                <a:latin typeface="Proxima Nova" pitchFamily="34" charset="0"/>
                <a:ea typeface="Proxima Nova" pitchFamily="34" charset="-122"/>
                <a:cs typeface="Proxima Nova" pitchFamily="34" charset="-120"/>
              </a:rPr>
              <a:t> brought children (CIC Research). Hotels filled </a:t>
            </a:r>
            <a:pPr indent="0" marL="0">
              <a:buNone/>
            </a:pPr>
            <a:r>
              <a:rPr lang="en-US" sz="1350" b="1" dirty="0">
                <a:solidFill>
                  <a:srgbClr val="125C60"/>
                </a:solidFill>
                <a:latin typeface="Proxima Nova" pitchFamily="34" charset="0"/>
                <a:ea typeface="Proxima Nova" pitchFamily="34" charset="-122"/>
                <a:cs typeface="Proxima Nova" pitchFamily="34" charset="-120"/>
              </a:rPr>
              <a:t>75.2%</a:t>
            </a:r>
            <a:pPr indent="0" marL="0">
              <a:buNone/>
            </a:pPr>
            <a:r>
              <a:rPr lang="en-US" sz="1350" dirty="0">
                <a:solidFill>
                  <a:srgbClr val="231F20"/>
                </a:solidFill>
                <a:latin typeface="Proxima Nova" pitchFamily="34" charset="0"/>
                <a:ea typeface="Proxima Nova" pitchFamily="34" charset="-122"/>
                <a:cs typeface="Proxima Nova" pitchFamily="34" charset="-120"/>
              </a:rPr>
              <a:t> of </a:t>
            </a:r>
            <a:pPr indent="0" marL="0">
              <a:buNone/>
            </a:pPr>
            <a:r>
              <a:rPr lang="en-US" sz="1350" b="1" dirty="0">
                <a:solidFill>
                  <a:srgbClr val="125C60"/>
                </a:solidFill>
                <a:latin typeface="Proxima Nova" pitchFamily="34" charset="0"/>
                <a:ea typeface="Proxima Nova" pitchFamily="34" charset="-122"/>
                <a:cs typeface="Proxima Nova" pitchFamily="34" charset="-120"/>
              </a:rPr>
              <a:t>60,224 rooms</a:t>
            </a:r>
            <a:pPr indent="0" marL="0">
              <a:buNone/>
            </a:pPr>
            <a:r>
              <a:rPr lang="en-US" sz="1350" dirty="0">
                <a:solidFill>
                  <a:srgbClr val="231F20"/>
                </a:solidFill>
                <a:latin typeface="Proxima Nova" pitchFamily="34" charset="0"/>
                <a:ea typeface="Proxima Nova" pitchFamily="34" charset="-122"/>
                <a:cs typeface="Proxima Nova" pitchFamily="34" charset="-120"/>
              </a:rPr>
              <a:t> at </a:t>
            </a:r>
            <a:pPr indent="0" marL="0">
              <a:buNone/>
            </a:pPr>
            <a:r>
              <a:rPr lang="en-US" sz="1350" b="1" dirty="0">
                <a:solidFill>
                  <a:srgbClr val="125C60"/>
                </a:solidFill>
                <a:latin typeface="Proxima Nova" pitchFamily="34" charset="0"/>
                <a:ea typeface="Proxima Nova" pitchFamily="34" charset="-122"/>
                <a:cs typeface="Proxima Nova" pitchFamily="34" charset="-120"/>
              </a:rPr>
              <a:t>$221.67</a:t>
            </a:r>
            <a:pPr indent="0" marL="0">
              <a:buNone/>
            </a:pPr>
            <a:r>
              <a:rPr lang="en-US" sz="1350" dirty="0">
                <a:solidFill>
                  <a:srgbClr val="231F20"/>
                </a:solidFill>
                <a:latin typeface="Proxima Nova" pitchFamily="34" charset="0"/>
                <a:ea typeface="Proxima Nova" pitchFamily="34" charset="-122"/>
                <a:cs typeface="Proxima Nova" pitchFamily="34" charset="-120"/>
              </a:rPr>
              <a:t> in Jan.-Aug. 2026, with July the busiest month (CoStar).</a:t>
            </a:r>
            <a:endParaRPr lang="en-US" sz="1350" dirty="0"/>
          </a:p>
        </p:txBody>
      </p:sp>
      <p:sp>
        <p:nvSpPr>
          <p:cNvPr id="7" name="Shape 4"/>
          <p:cNvSpPr/>
          <p:nvPr/>
        </p:nvSpPr>
        <p:spPr>
          <a:xfrm>
            <a:off x="548640" y="3822192"/>
            <a:ext cx="7086600" cy="45720"/>
          </a:xfrm>
          <a:prstGeom prst="rect">
            <a:avLst/>
          </a:prstGeom>
          <a:solidFill>
            <a:srgbClr val="125C60"/>
          </a:solidFill>
          <a:ln w="12700">
            <a:solidFill>
              <a:srgbClr val="125C60"/>
            </a:solidFill>
            <a:prstDash val="solid"/>
          </a:ln>
        </p:spPr>
      </p:sp>
      <p:sp>
        <p:nvSpPr>
          <p:cNvPr id="8" name="Text 5"/>
          <p:cNvSpPr txBox="1"/>
          <p:nvPr/>
        </p:nvSpPr>
        <p:spPr>
          <a:xfrm>
            <a:off x="548640" y="3931920"/>
            <a:ext cx="7086600"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WHY IT MATTERS</a:t>
            </a:r>
            <a:endParaRPr lang="en-US" sz="1000" dirty="0"/>
          </a:p>
        </p:txBody>
      </p:sp>
      <p:sp>
        <p:nvSpPr>
          <p:cNvPr id="9" name="Text 6"/>
          <p:cNvSpPr txBox="1"/>
          <p:nvPr/>
        </p:nvSpPr>
        <p:spPr>
          <a:xfrm>
            <a:off x="548640" y="4187952"/>
            <a:ext cx="7086600" cy="1691640"/>
          </a:xfrm>
          <a:prstGeom prst="rect">
            <a:avLst/>
          </a:prstGeom>
          <a:noFill/>
          <a:ln/>
        </p:spPr>
        <p:txBody>
          <a:bodyPr wrap="square" lIns="0" tIns="0" rIns="0" bIns="0" rtlCol="0" anchor="t"/>
          <a:lstStyle/>
          <a:p>
            <a:pPr indent="0" marL="0">
              <a:buNone/>
            </a:pPr>
            <a:r>
              <a:rPr lang="en-US" sz="1250" dirty="0">
                <a:solidFill>
                  <a:srgbClr val="231F20"/>
                </a:solidFill>
                <a:latin typeface="Proxima Nova" pitchFamily="34" charset="0"/>
                <a:ea typeface="Proxima Nova" pitchFamily="34" charset="-122"/>
                <a:cs typeface="Proxima Nova" pitchFamily="34" charset="-120"/>
              </a:rPr>
              <a:t>Entertainment + Culture Advisors asked five questions for OCVIBE's market study. The answers come from five sources with different methods: Tourism Economics for current visitor volume (</a:t>
            </a:r>
            <a:pPr indent="0" marL="0">
              <a:buNone/>
            </a:pPr>
            <a:r>
              <a:rPr lang="en-US" sz="1250" b="1" dirty="0">
                <a:solidFill>
                  <a:srgbClr val="125C60"/>
                </a:solidFill>
                <a:latin typeface="Proxima Nova" pitchFamily="34" charset="0"/>
                <a:ea typeface="Proxima Nova" pitchFamily="34" charset="-122"/>
                <a:cs typeface="Proxima Nova" pitchFamily="34" charset="-120"/>
              </a:rPr>
              <a:t>51.3M</a:t>
            </a:r>
            <a:pPr indent="0" marL="0">
              <a:buNone/>
            </a:pPr>
            <a:r>
              <a:rPr lang="en-US" sz="1250" dirty="0">
                <a:solidFill>
                  <a:srgbClr val="231F20"/>
                </a:solidFill>
                <a:latin typeface="Proxima Nova" pitchFamily="34" charset="0"/>
                <a:ea typeface="Proxima Nova" pitchFamily="34" charset="-122"/>
                <a:cs typeface="Proxima Nova" pitchFamily="34" charset="-120"/>
              </a:rPr>
              <a:t> in 2025), CIC Research for the 2019 baseline and visitor profile, Azira for origins, and CoStar for hotel rooms and seasonality. Gaps are named with their solutions.</a:t>
            </a:r>
            <a:endParaRPr lang="en-US" sz="1250" dirty="0"/>
          </a:p>
        </p:txBody>
      </p:sp>
      <p:sp>
        <p:nvSpPr>
          <p:cNvPr id="10" name="Text 7"/>
          <p:cNvSpPr txBox="1"/>
          <p:nvPr/>
        </p:nvSpPr>
        <p:spPr>
          <a:xfrm>
            <a:off x="8001000" y="1481328"/>
            <a:ext cx="3642055"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BY THE NUMBERS</a:t>
            </a:r>
            <a:endParaRPr lang="en-US" sz="1000" dirty="0"/>
          </a:p>
        </p:txBody>
      </p:sp>
      <p:sp>
        <p:nvSpPr>
          <p:cNvPr id="11" name="news-stat-0"/>
          <p:cNvSpPr/>
          <p:nvPr/>
        </p:nvSpPr>
        <p:spPr>
          <a:xfrm>
            <a:off x="8001000" y="1755648"/>
            <a:ext cx="3642055" cy="1280160"/>
          </a:xfrm>
          <a:prstGeom prst="roundRect">
            <a:avLst>
              <a:gd name="adj" fmla="val 4286"/>
            </a:avLst>
          </a:prstGeom>
          <a:solidFill>
            <a:srgbClr val="FFFFFF"/>
          </a:solidFill>
          <a:ln w="12700">
            <a:solidFill>
              <a:srgbClr val="B4D9E3"/>
            </a:solidFill>
            <a:prstDash val="solid"/>
          </a:ln>
        </p:spPr>
      </p:sp>
      <p:sp>
        <p:nvSpPr>
          <p:cNvPr id="12" name="Text 9"/>
          <p:cNvSpPr txBox="1"/>
          <p:nvPr/>
        </p:nvSpPr>
        <p:spPr>
          <a:xfrm>
            <a:off x="8138160" y="18288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ORANGE COUNTY, 2025</a:t>
            </a:r>
            <a:endParaRPr lang="en-US" sz="850" dirty="0"/>
          </a:p>
        </p:txBody>
      </p:sp>
      <p:sp>
        <p:nvSpPr>
          <p:cNvPr id="13" name="Text 10"/>
          <p:cNvSpPr txBox="1"/>
          <p:nvPr/>
        </p:nvSpPr>
        <p:spPr>
          <a:xfrm>
            <a:off x="8138160" y="20299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51.3M</a:t>
            </a:r>
            <a:endParaRPr lang="en-US" sz="2200" dirty="0"/>
          </a:p>
        </p:txBody>
      </p:sp>
      <p:sp>
        <p:nvSpPr>
          <p:cNvPr id="14" name="Text 11"/>
          <p:cNvSpPr txBox="1"/>
          <p:nvPr/>
        </p:nvSpPr>
        <p:spPr>
          <a:xfrm>
            <a:off x="8138160" y="24505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Visitors</a:t>
            </a:r>
            <a:endParaRPr lang="en-US" sz="1050" dirty="0"/>
          </a:p>
        </p:txBody>
      </p:sp>
      <p:sp>
        <p:nvSpPr>
          <p:cNvPr id="15" name="Text 12"/>
          <p:cNvSpPr txBox="1"/>
          <p:nvPr/>
        </p:nvSpPr>
        <p:spPr>
          <a:xfrm>
            <a:off x="8138160" y="27249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Tourism Economics, Economic Impact of Visitors to Orange County, 2025 (pub. May 2026)</a:t>
            </a:r>
            <a:endParaRPr lang="en-US" sz="750" dirty="0"/>
          </a:p>
        </p:txBody>
      </p:sp>
      <p:sp>
        <p:nvSpPr>
          <p:cNvPr id="16" name="news-stat-1"/>
          <p:cNvSpPr/>
          <p:nvPr/>
        </p:nvSpPr>
        <p:spPr>
          <a:xfrm>
            <a:off x="8001000" y="3127248"/>
            <a:ext cx="3642055" cy="1280160"/>
          </a:xfrm>
          <a:prstGeom prst="roundRect">
            <a:avLst>
              <a:gd name="adj" fmla="val 4286"/>
            </a:avLst>
          </a:prstGeom>
          <a:solidFill>
            <a:srgbClr val="FFFFFF"/>
          </a:solidFill>
          <a:ln w="12700">
            <a:solidFill>
              <a:srgbClr val="B4D9E3"/>
            </a:solidFill>
            <a:prstDash val="solid"/>
          </a:ln>
        </p:spPr>
      </p:sp>
      <p:sp>
        <p:nvSpPr>
          <p:cNvPr id="17" name="Text 14"/>
          <p:cNvSpPr txBox="1"/>
          <p:nvPr/>
        </p:nvSpPr>
        <p:spPr>
          <a:xfrm>
            <a:off x="8138160" y="32004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ORANGE COUNTY, 2019 BASELINE</a:t>
            </a:r>
            <a:endParaRPr lang="en-US" sz="850" dirty="0"/>
          </a:p>
        </p:txBody>
      </p:sp>
      <p:sp>
        <p:nvSpPr>
          <p:cNvPr id="18" name="Text 15"/>
          <p:cNvSpPr txBox="1"/>
          <p:nvPr/>
        </p:nvSpPr>
        <p:spPr>
          <a:xfrm>
            <a:off x="8138160" y="34015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50.21M</a:t>
            </a:r>
            <a:endParaRPr lang="en-US" sz="2200" dirty="0"/>
          </a:p>
        </p:txBody>
      </p:sp>
      <p:sp>
        <p:nvSpPr>
          <p:cNvPr id="19" name="Text 16"/>
          <p:cNvSpPr txBox="1"/>
          <p:nvPr/>
        </p:nvSpPr>
        <p:spPr>
          <a:xfrm>
            <a:off x="8138160" y="38221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Visitors (different method)</a:t>
            </a:r>
            <a:endParaRPr lang="en-US" sz="1050" dirty="0"/>
          </a:p>
        </p:txBody>
      </p:sp>
      <p:sp>
        <p:nvSpPr>
          <p:cNvPr id="20" name="Text 17"/>
          <p:cNvSpPr txBox="1"/>
          <p:nvPr/>
        </p:nvSpPr>
        <p:spPr>
          <a:xfrm>
            <a:off x="8138160" y="40965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CIC Research, Annual Profile of Visitors to Anaheim and Orange County, 2019 (for Visit Anaheim, Apr. 2020)</a:t>
            </a:r>
            <a:endParaRPr lang="en-US" sz="750" dirty="0"/>
          </a:p>
        </p:txBody>
      </p:sp>
      <p:sp>
        <p:nvSpPr>
          <p:cNvPr id="21" name="news-stat-2"/>
          <p:cNvSpPr/>
          <p:nvPr/>
        </p:nvSpPr>
        <p:spPr>
          <a:xfrm>
            <a:off x="8001000" y="4498848"/>
            <a:ext cx="3642055" cy="1280160"/>
          </a:xfrm>
          <a:prstGeom prst="roundRect">
            <a:avLst>
              <a:gd name="adj" fmla="val 4286"/>
            </a:avLst>
          </a:prstGeom>
          <a:solidFill>
            <a:srgbClr val="FFFFFF"/>
          </a:solidFill>
          <a:ln w="12700">
            <a:solidFill>
              <a:srgbClr val="B4D9E3"/>
            </a:solidFill>
            <a:prstDash val="solid"/>
          </a:ln>
        </p:spPr>
      </p:sp>
      <p:sp>
        <p:nvSpPr>
          <p:cNvPr id="22" name="Text 19"/>
          <p:cNvSpPr txBox="1"/>
          <p:nvPr/>
        </p:nvSpPr>
        <p:spPr>
          <a:xfrm>
            <a:off x="8138160" y="45720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ORANGE COUNTY HOTELS, JAN.-AUG. 2026</a:t>
            </a:r>
            <a:endParaRPr lang="en-US" sz="850" dirty="0"/>
          </a:p>
        </p:txBody>
      </p:sp>
      <p:sp>
        <p:nvSpPr>
          <p:cNvPr id="23" name="Text 20"/>
          <p:cNvSpPr txBox="1"/>
          <p:nvPr/>
        </p:nvSpPr>
        <p:spPr>
          <a:xfrm>
            <a:off x="8138160" y="47731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75.2%</a:t>
            </a:r>
            <a:endParaRPr lang="en-US" sz="2200" dirty="0"/>
          </a:p>
        </p:txBody>
      </p:sp>
      <p:sp>
        <p:nvSpPr>
          <p:cNvPr id="24" name="Text 21"/>
          <p:cNvSpPr txBox="1"/>
          <p:nvPr/>
        </p:nvSpPr>
        <p:spPr>
          <a:xfrm>
            <a:off x="8138160" y="51937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Occupancy</a:t>
            </a:r>
            <a:endParaRPr lang="en-US" sz="1050" dirty="0"/>
          </a:p>
        </p:txBody>
      </p:sp>
      <p:sp>
        <p:nvSpPr>
          <p:cNvPr id="25" name="Text 22"/>
          <p:cNvSpPr txBox="1"/>
          <p:nvPr/>
        </p:nvSpPr>
        <p:spPr>
          <a:xfrm>
            <a:off x="8138160" y="54681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CoStar, Orange County hotel market (monthly data through Sept. 2026; market report Oct. 12, 2026)</a:t>
            </a:r>
            <a:endParaRPr lang="en-US" sz="750" dirty="0"/>
          </a:p>
        </p:txBody>
      </p:sp>
      <p:sp>
        <p:nvSpPr>
          <p:cNvPr id="2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of Visitors to Orange County, 2025 (pub. May 2026); CIC Research, Annual Profile of Visitors to Anaheim and Orange County, 2019 (for Visit Anaheim, Apr. 2020); CoStar, Orange County hotel market (monthly data through Sept. 2026; market report Oct. 12,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The details: Orange County tourism</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who, what, when, where, why and how, each with its figure, source and date</a:t>
            </a:r>
            <a:endParaRPr lang="en-US" sz="1200" dirty="0"/>
          </a:p>
        </p:txBody>
      </p:sp>
      <p:sp>
        <p:nvSpPr>
          <p:cNvPr id="4" name="detail-card-0"/>
          <p:cNvSpPr/>
          <p:nvPr/>
        </p:nvSpPr>
        <p:spPr>
          <a:xfrm>
            <a:off x="548640" y="1417320"/>
            <a:ext cx="3588410" cy="2176272"/>
          </a:xfrm>
          <a:prstGeom prst="rect">
            <a:avLst/>
          </a:prstGeom>
          <a:solidFill>
            <a:srgbClr val="FFFFFF"/>
          </a:solidFill>
          <a:ln w="12700">
            <a:solidFill>
              <a:srgbClr val="B4D9E3"/>
            </a:solidFill>
            <a:prstDash val="solid"/>
          </a:ln>
        </p:spPr>
      </p:sp>
      <p:sp>
        <p:nvSpPr>
          <p:cNvPr id="5" name="Shape 3"/>
          <p:cNvSpPr/>
          <p:nvPr/>
        </p:nvSpPr>
        <p:spPr>
          <a:xfrm>
            <a:off x="548640" y="1417320"/>
            <a:ext cx="3588410" cy="64008"/>
          </a:xfrm>
          <a:prstGeom prst="rect">
            <a:avLst/>
          </a:prstGeom>
          <a:solidFill>
            <a:srgbClr val="43A3A3"/>
          </a:solidFill>
          <a:ln w="12700">
            <a:solidFill>
              <a:srgbClr val="43A3A3"/>
            </a:solidFill>
            <a:prstDash val="solid"/>
          </a:ln>
        </p:spPr>
      </p:sp>
      <p:sp>
        <p:nvSpPr>
          <p:cNvPr id="6" name="Text 4"/>
          <p:cNvSpPr txBox="1"/>
          <p:nvPr/>
        </p:nvSpPr>
        <p:spPr>
          <a:xfrm>
            <a:off x="685800"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WHO</a:t>
            </a:r>
            <a:endParaRPr lang="en-US" sz="900" dirty="0"/>
          </a:p>
        </p:txBody>
      </p:sp>
      <p:sp>
        <p:nvSpPr>
          <p:cNvPr id="7" name="Text 5"/>
          <p:cNvSpPr txBox="1"/>
          <p:nvPr/>
        </p:nvSpPr>
        <p:spPr>
          <a:xfrm>
            <a:off x="685800"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51.3M</a:t>
            </a:r>
            <a:endParaRPr lang="en-US" sz="2200" dirty="0"/>
          </a:p>
        </p:txBody>
      </p:sp>
      <p:sp>
        <p:nvSpPr>
          <p:cNvPr id="8" name="Text 6"/>
          <p:cNvSpPr txBox="1"/>
          <p:nvPr/>
        </p:nvSpPr>
        <p:spPr>
          <a:xfrm>
            <a:off x="685800"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Orange County visitors, 2025</a:t>
            </a:r>
            <a:endParaRPr lang="en-US" sz="1000" dirty="0"/>
          </a:p>
        </p:txBody>
      </p:sp>
      <p:sp>
        <p:nvSpPr>
          <p:cNvPr id="9" name="Text 7"/>
          <p:cNvSpPr txBox="1"/>
          <p:nvPr/>
        </p:nvSpPr>
        <p:spPr>
          <a:xfrm>
            <a:off x="685800"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Visitors to Orange County (staying overnight or traveling 50+ miles), the county's hotels, and ECA and OCVIBE as the requesters.</a:t>
            </a:r>
            <a:endParaRPr lang="en-US" sz="950" dirty="0"/>
          </a:p>
        </p:txBody>
      </p:sp>
      <p:sp>
        <p:nvSpPr>
          <p:cNvPr id="10" name="Text 8"/>
          <p:cNvSpPr txBox="1"/>
          <p:nvPr/>
        </p:nvSpPr>
        <p:spPr>
          <a:xfrm>
            <a:off x="685800"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Tourism Economics, Economic Impact of Visitors to Orange County, 2025 (pub. May 2026)</a:t>
            </a:r>
            <a:endParaRPr lang="en-US" sz="700" dirty="0"/>
          </a:p>
        </p:txBody>
      </p:sp>
      <p:sp>
        <p:nvSpPr>
          <p:cNvPr id="11" name="detail-card-1"/>
          <p:cNvSpPr/>
          <p:nvPr/>
        </p:nvSpPr>
        <p:spPr>
          <a:xfrm>
            <a:off x="4301642" y="1417320"/>
            <a:ext cx="3588410" cy="2176272"/>
          </a:xfrm>
          <a:prstGeom prst="rect">
            <a:avLst/>
          </a:prstGeom>
          <a:solidFill>
            <a:srgbClr val="FFFFFF"/>
          </a:solidFill>
          <a:ln w="12700">
            <a:solidFill>
              <a:srgbClr val="B4D9E3"/>
            </a:solidFill>
            <a:prstDash val="solid"/>
          </a:ln>
        </p:spPr>
      </p:sp>
      <p:sp>
        <p:nvSpPr>
          <p:cNvPr id="12" name="Shape 10"/>
          <p:cNvSpPr/>
          <p:nvPr/>
        </p:nvSpPr>
        <p:spPr>
          <a:xfrm>
            <a:off x="4301642" y="1417320"/>
            <a:ext cx="3588410" cy="64008"/>
          </a:xfrm>
          <a:prstGeom prst="rect">
            <a:avLst/>
          </a:prstGeom>
          <a:solidFill>
            <a:srgbClr val="43A3A3"/>
          </a:solidFill>
          <a:ln w="12700">
            <a:solidFill>
              <a:srgbClr val="43A3A3"/>
            </a:solidFill>
            <a:prstDash val="solid"/>
          </a:ln>
        </p:spPr>
      </p:sp>
      <p:sp>
        <p:nvSpPr>
          <p:cNvPr id="13" name="Text 11"/>
          <p:cNvSpPr txBox="1"/>
          <p:nvPr/>
        </p:nvSpPr>
        <p:spPr>
          <a:xfrm>
            <a:off x="4438802"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WHAT</a:t>
            </a:r>
            <a:endParaRPr lang="en-US" sz="900" dirty="0"/>
          </a:p>
        </p:txBody>
      </p:sp>
      <p:sp>
        <p:nvSpPr>
          <p:cNvPr id="14" name="Text 12"/>
          <p:cNvSpPr txBox="1"/>
          <p:nvPr/>
        </p:nvSpPr>
        <p:spPr>
          <a:xfrm>
            <a:off x="4438802"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55.4%</a:t>
            </a:r>
            <a:endParaRPr lang="en-US" sz="2200" dirty="0"/>
          </a:p>
        </p:txBody>
      </p:sp>
      <p:sp>
        <p:nvSpPr>
          <p:cNvPr id="15" name="Text 13"/>
          <p:cNvSpPr txBox="1"/>
          <p:nvPr/>
        </p:nvSpPr>
        <p:spPr>
          <a:xfrm>
            <a:off x="4438802"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of 2019 visitors from Southern California</a:t>
            </a:r>
            <a:endParaRPr lang="en-US" sz="1000" dirty="0"/>
          </a:p>
        </p:txBody>
      </p:sp>
      <p:sp>
        <p:nvSpPr>
          <p:cNvPr id="16" name="Text 14"/>
          <p:cNvSpPr txBox="1"/>
          <p:nvPr/>
        </p:nvSpPr>
        <p:spPr>
          <a:xfrm>
            <a:off x="4438802" y="2551176"/>
            <a:ext cx="3314090" cy="731520"/>
          </a:xfrm>
          <a:prstGeom prst="rect">
            <a:avLst/>
          </a:prstGeom>
          <a:noFill/>
          <a:ln/>
        </p:spPr>
        <p:txBody>
          <a:bodyPr wrap="square" lIns="0" tIns="0" rIns="0" bIns="0" rtlCol="0" anchor="t">
            <a:normAutofit/>
          </a:bodyPr>
          <a:lstStyle/>
          <a:p>
            <a:pPr indent="0" marL="0">
              <a:buNone/>
            </a:pPr>
            <a:r>
              <a:rPr lang="en-US" sz="950" b="1" dirty="0">
                <a:solidFill>
                  <a:srgbClr val="125C60"/>
                </a:solidFill>
                <a:latin typeface="Proxima Nova" pitchFamily="34" charset="0"/>
                <a:ea typeface="Proxima Nova" pitchFamily="34" charset="-122"/>
                <a:cs typeface="Proxima Nova" pitchFamily="34" charset="-120"/>
              </a:rPr>
              <a:t>51.3M</a:t>
            </a:r>
            <a:pPr indent="0" marL="0">
              <a:buNone/>
            </a:pPr>
            <a:r>
              <a:rPr lang="en-US" sz="950" dirty="0">
                <a:solidFill>
                  <a:srgbClr val="231F20"/>
                </a:solidFill>
                <a:latin typeface="Proxima Nova" pitchFamily="34" charset="0"/>
                <a:ea typeface="Proxima Nova" pitchFamily="34" charset="-122"/>
                <a:cs typeface="Proxima Nova" pitchFamily="34" charset="-120"/>
              </a:rPr>
              <a:t> visitors in 2025 (</a:t>
            </a:r>
            <a:pPr indent="0" marL="0">
              <a:buNone/>
            </a:pPr>
            <a:r>
              <a:rPr lang="en-US" sz="950" b="1" dirty="0">
                <a:solidFill>
                  <a:srgbClr val="125C60"/>
                </a:solidFill>
                <a:latin typeface="Proxima Nova" pitchFamily="34" charset="0"/>
                <a:ea typeface="Proxima Nova" pitchFamily="34" charset="-122"/>
                <a:cs typeface="Proxima Nova" pitchFamily="34" charset="-120"/>
              </a:rPr>
              <a:t>29.2M</a:t>
            </a:r>
            <a:pPr indent="0" marL="0">
              <a:buNone/>
            </a:pPr>
            <a:r>
              <a:rPr lang="en-US" sz="950" dirty="0">
                <a:solidFill>
                  <a:srgbClr val="231F20"/>
                </a:solidFill>
                <a:latin typeface="Proxima Nova" pitchFamily="34" charset="0"/>
                <a:ea typeface="Proxima Nova" pitchFamily="34" charset="-122"/>
                <a:cs typeface="Proxima Nova" pitchFamily="34" charset="-120"/>
              </a:rPr>
              <a:t> day, </a:t>
            </a:r>
            <a:pPr indent="0" marL="0">
              <a:buNone/>
            </a:pPr>
            <a:r>
              <a:rPr lang="en-US" sz="950" b="1" dirty="0">
                <a:solidFill>
                  <a:srgbClr val="125C60"/>
                </a:solidFill>
                <a:latin typeface="Proxima Nova" pitchFamily="34" charset="0"/>
                <a:ea typeface="Proxima Nova" pitchFamily="34" charset="-122"/>
                <a:cs typeface="Proxima Nova" pitchFamily="34" charset="-120"/>
              </a:rPr>
              <a:t>22.1M</a:t>
            </a:r>
            <a:pPr indent="0" marL="0">
              <a:buNone/>
            </a:pPr>
            <a:r>
              <a:rPr lang="en-US" sz="950" dirty="0">
                <a:solidFill>
                  <a:srgbClr val="231F20"/>
                </a:solidFill>
                <a:latin typeface="Proxima Nova" pitchFamily="34" charset="0"/>
                <a:ea typeface="Proxima Nova" pitchFamily="34" charset="-122"/>
                <a:cs typeface="Proxima Nova" pitchFamily="34" charset="-120"/>
              </a:rPr>
              <a:t> overnight; </a:t>
            </a:r>
            <a:pPr indent="0" marL="0">
              <a:buNone/>
            </a:pPr>
            <a:r>
              <a:rPr lang="en-US" sz="950" b="1" dirty="0">
                <a:solidFill>
                  <a:srgbClr val="125C60"/>
                </a:solidFill>
                <a:latin typeface="Proxima Nova" pitchFamily="34" charset="0"/>
                <a:ea typeface="Proxima Nova" pitchFamily="34" charset="-122"/>
                <a:cs typeface="Proxima Nova" pitchFamily="34" charset="-120"/>
              </a:rPr>
              <a:t>93.3%</a:t>
            </a:r>
            <a:pPr indent="0" marL="0">
              <a:buNone/>
            </a:pPr>
            <a:r>
              <a:rPr lang="en-US" sz="950" dirty="0">
                <a:solidFill>
                  <a:srgbClr val="231F20"/>
                </a:solidFill>
                <a:latin typeface="Proxima Nova" pitchFamily="34" charset="0"/>
                <a:ea typeface="Proxima Nova" pitchFamily="34" charset="-122"/>
                <a:cs typeface="Proxima Nova" pitchFamily="34" charset="-120"/>
              </a:rPr>
              <a:t> domestic); </a:t>
            </a:r>
            <a:pPr indent="0" marL="0">
              <a:buNone/>
            </a:pPr>
            <a:r>
              <a:rPr lang="en-US" sz="950" b="1" dirty="0">
                <a:solidFill>
                  <a:srgbClr val="125C60"/>
                </a:solidFill>
                <a:latin typeface="Proxima Nova" pitchFamily="34" charset="0"/>
                <a:ea typeface="Proxima Nova" pitchFamily="34" charset="-122"/>
                <a:cs typeface="Proxima Nova" pitchFamily="34" charset="-120"/>
              </a:rPr>
              <a:t>55.4%</a:t>
            </a:r>
            <a:pPr indent="0" marL="0">
              <a:buNone/>
            </a:pPr>
            <a:r>
              <a:rPr lang="en-US" sz="950" dirty="0">
                <a:solidFill>
                  <a:srgbClr val="231F20"/>
                </a:solidFill>
                <a:latin typeface="Proxima Nova" pitchFamily="34" charset="0"/>
                <a:ea typeface="Proxima Nova" pitchFamily="34" charset="-122"/>
                <a:cs typeface="Proxima Nova" pitchFamily="34" charset="-120"/>
              </a:rPr>
              <a:t> from Southern California (2019); July peak; </a:t>
            </a:r>
            <a:pPr indent="0" marL="0">
              <a:buNone/>
            </a:pPr>
            <a:r>
              <a:rPr lang="en-US" sz="950" b="1" dirty="0">
                <a:solidFill>
                  <a:srgbClr val="125C60"/>
                </a:solidFill>
                <a:latin typeface="Proxima Nova" pitchFamily="34" charset="0"/>
                <a:ea typeface="Proxima Nova" pitchFamily="34" charset="-122"/>
                <a:cs typeface="Proxima Nova" pitchFamily="34" charset="-120"/>
              </a:rPr>
              <a:t>81.2%</a:t>
            </a:r>
            <a:pPr indent="0" marL="0">
              <a:buNone/>
            </a:pPr>
            <a:r>
              <a:rPr lang="en-US" sz="950" dirty="0">
                <a:solidFill>
                  <a:srgbClr val="231F20"/>
                </a:solidFill>
                <a:latin typeface="Proxima Nova" pitchFamily="34" charset="0"/>
                <a:ea typeface="Proxima Nova" pitchFamily="34" charset="-122"/>
                <a:cs typeface="Proxima Nova" pitchFamily="34" charset="-120"/>
              </a:rPr>
              <a:t> leisure, party of </a:t>
            </a:r>
            <a:pPr indent="0" marL="0">
              <a:buNone/>
            </a:pPr>
            <a:r>
              <a:rPr lang="en-US" sz="950" b="1" dirty="0">
                <a:solidFill>
                  <a:srgbClr val="125C60"/>
                </a:solidFill>
                <a:latin typeface="Proxima Nova" pitchFamily="34" charset="0"/>
                <a:ea typeface="Proxima Nova" pitchFamily="34" charset="-122"/>
                <a:cs typeface="Proxima Nova" pitchFamily="34" charset="-120"/>
              </a:rPr>
              <a:t>2.8</a:t>
            </a:r>
            <a:pPr indent="0" marL="0">
              <a:buNone/>
            </a:pPr>
            <a:r>
              <a:rPr lang="en-US" sz="950" dirty="0">
                <a:solidFill>
                  <a:srgbClr val="231F20"/>
                </a:solidFill>
                <a:latin typeface="Proxima Nova" pitchFamily="34" charset="0"/>
                <a:ea typeface="Proxima Nova" pitchFamily="34" charset="-122"/>
                <a:cs typeface="Proxima Nova" pitchFamily="34" charset="-120"/>
              </a:rPr>
              <a:t>, </a:t>
            </a:r>
            <a:pPr indent="0" marL="0">
              <a:buNone/>
            </a:pPr>
            <a:r>
              <a:rPr lang="en-US" sz="950" b="1" dirty="0">
                <a:solidFill>
                  <a:srgbClr val="125C60"/>
                </a:solidFill>
                <a:latin typeface="Proxima Nova" pitchFamily="34" charset="0"/>
                <a:ea typeface="Proxima Nova" pitchFamily="34" charset="-122"/>
                <a:cs typeface="Proxima Nova" pitchFamily="34" charset="-120"/>
              </a:rPr>
              <a:t>37.0%</a:t>
            </a:r>
            <a:pPr indent="0" marL="0">
              <a:buNone/>
            </a:pPr>
            <a:r>
              <a:rPr lang="en-US" sz="950" dirty="0">
                <a:solidFill>
                  <a:srgbClr val="231F20"/>
                </a:solidFill>
                <a:latin typeface="Proxima Nova" pitchFamily="34" charset="0"/>
                <a:ea typeface="Proxima Nova" pitchFamily="34" charset="-122"/>
                <a:cs typeface="Proxima Nova" pitchFamily="34" charset="-120"/>
              </a:rPr>
              <a:t> with children (2019); </a:t>
            </a:r>
            <a:pPr indent="0" marL="0">
              <a:buNone/>
            </a:pPr>
            <a:r>
              <a:rPr lang="en-US" sz="950" b="1" dirty="0">
                <a:solidFill>
                  <a:srgbClr val="125C60"/>
                </a:solidFill>
                <a:latin typeface="Proxima Nova" pitchFamily="34" charset="0"/>
                <a:ea typeface="Proxima Nova" pitchFamily="34" charset="-122"/>
                <a:cs typeface="Proxima Nova" pitchFamily="34" charset="-120"/>
              </a:rPr>
              <a:t>60,224</a:t>
            </a:r>
            <a:pPr indent="0" marL="0">
              <a:buNone/>
            </a:pPr>
            <a:r>
              <a:rPr lang="en-US" sz="950" dirty="0">
                <a:solidFill>
                  <a:srgbClr val="231F20"/>
                </a:solidFill>
                <a:latin typeface="Proxima Nova" pitchFamily="34" charset="0"/>
                <a:ea typeface="Proxima Nova" pitchFamily="34" charset="-122"/>
                <a:cs typeface="Proxima Nova" pitchFamily="34" charset="-120"/>
              </a:rPr>
              <a:t> hotel rooms at </a:t>
            </a:r>
            <a:pPr indent="0" marL="0">
              <a:buNone/>
            </a:pPr>
            <a:r>
              <a:rPr lang="en-US" sz="950" b="1" dirty="0">
                <a:solidFill>
                  <a:srgbClr val="125C60"/>
                </a:solidFill>
                <a:latin typeface="Proxima Nova" pitchFamily="34" charset="0"/>
                <a:ea typeface="Proxima Nova" pitchFamily="34" charset="-122"/>
                <a:cs typeface="Proxima Nova" pitchFamily="34" charset="-120"/>
              </a:rPr>
              <a:t>75.2%</a:t>
            </a:r>
            <a:pPr indent="0" marL="0">
              <a:buNone/>
            </a:pPr>
            <a:r>
              <a:rPr lang="en-US" sz="950" dirty="0">
                <a:solidFill>
                  <a:srgbClr val="231F20"/>
                </a:solidFill>
                <a:latin typeface="Proxima Nova" pitchFamily="34" charset="0"/>
                <a:ea typeface="Proxima Nova" pitchFamily="34" charset="-122"/>
                <a:cs typeface="Proxima Nova" pitchFamily="34" charset="-120"/>
              </a:rPr>
              <a:t> occupancy and </a:t>
            </a:r>
            <a:pPr indent="0" marL="0">
              <a:buNone/>
            </a:pPr>
            <a:r>
              <a:rPr lang="en-US" sz="950" b="1" dirty="0">
                <a:solidFill>
                  <a:srgbClr val="125C60"/>
                </a:solidFill>
                <a:latin typeface="Proxima Nova" pitchFamily="34" charset="0"/>
                <a:ea typeface="Proxima Nova" pitchFamily="34" charset="-122"/>
                <a:cs typeface="Proxima Nova" pitchFamily="34" charset="-120"/>
              </a:rPr>
              <a:t>$221.67</a:t>
            </a:r>
            <a:pPr indent="0" marL="0">
              <a:buNone/>
            </a:pPr>
            <a:r>
              <a:rPr lang="en-US" sz="950" dirty="0">
                <a:solidFill>
                  <a:srgbClr val="231F20"/>
                </a:solidFill>
                <a:latin typeface="Proxima Nova" pitchFamily="34" charset="0"/>
                <a:ea typeface="Proxima Nova" pitchFamily="34" charset="-122"/>
                <a:cs typeface="Proxima Nova" pitchFamily="34" charset="-120"/>
              </a:rPr>
              <a:t> ADR (2026 YTD).</a:t>
            </a:r>
            <a:endParaRPr lang="en-US" sz="950" dirty="0"/>
          </a:p>
        </p:txBody>
      </p:sp>
      <p:sp>
        <p:nvSpPr>
          <p:cNvPr id="17" name="Text 15"/>
          <p:cNvSpPr txBox="1"/>
          <p:nvPr/>
        </p:nvSpPr>
        <p:spPr>
          <a:xfrm>
            <a:off x="4438802"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CIC Research, Annual Profile of Visitors to Anaheim and Orange County, 2019 (for Visit Anaheim, Apr. 2020)</a:t>
            </a:r>
            <a:endParaRPr lang="en-US" sz="700" dirty="0"/>
          </a:p>
        </p:txBody>
      </p:sp>
      <p:sp>
        <p:nvSpPr>
          <p:cNvPr id="18" name="detail-card-2"/>
          <p:cNvSpPr/>
          <p:nvPr/>
        </p:nvSpPr>
        <p:spPr>
          <a:xfrm>
            <a:off x="8054645" y="1417320"/>
            <a:ext cx="3588410" cy="2176272"/>
          </a:xfrm>
          <a:prstGeom prst="rect">
            <a:avLst/>
          </a:prstGeom>
          <a:solidFill>
            <a:srgbClr val="FFFFFF"/>
          </a:solidFill>
          <a:ln w="12700">
            <a:solidFill>
              <a:srgbClr val="B4D9E3"/>
            </a:solidFill>
            <a:prstDash val="solid"/>
          </a:ln>
        </p:spPr>
      </p:sp>
      <p:sp>
        <p:nvSpPr>
          <p:cNvPr id="19" name="Shape 17"/>
          <p:cNvSpPr/>
          <p:nvPr/>
        </p:nvSpPr>
        <p:spPr>
          <a:xfrm>
            <a:off x="8054645" y="1417320"/>
            <a:ext cx="3588410" cy="64008"/>
          </a:xfrm>
          <a:prstGeom prst="rect">
            <a:avLst/>
          </a:prstGeom>
          <a:solidFill>
            <a:srgbClr val="43A3A3"/>
          </a:solidFill>
          <a:ln w="12700">
            <a:solidFill>
              <a:srgbClr val="43A3A3"/>
            </a:solidFill>
            <a:prstDash val="solid"/>
          </a:ln>
        </p:spPr>
      </p:sp>
      <p:sp>
        <p:nvSpPr>
          <p:cNvPr id="20" name="Text 18"/>
          <p:cNvSpPr txBox="1"/>
          <p:nvPr/>
        </p:nvSpPr>
        <p:spPr>
          <a:xfrm>
            <a:off x="8191805"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WHEN</a:t>
            </a:r>
            <a:endParaRPr lang="en-US" sz="900" dirty="0"/>
          </a:p>
        </p:txBody>
      </p:sp>
      <p:sp>
        <p:nvSpPr>
          <p:cNvPr id="21" name="Text 19"/>
          <p:cNvSpPr txBox="1"/>
          <p:nvPr/>
        </p:nvSpPr>
        <p:spPr>
          <a:xfrm>
            <a:off x="8191805"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80.6%</a:t>
            </a:r>
            <a:endParaRPr lang="en-US" sz="2200" dirty="0"/>
          </a:p>
        </p:txBody>
      </p:sp>
      <p:sp>
        <p:nvSpPr>
          <p:cNvPr id="22" name="Text 20"/>
          <p:cNvSpPr txBox="1"/>
          <p:nvPr/>
        </p:nvSpPr>
        <p:spPr>
          <a:xfrm>
            <a:off x="8191805"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July hotel occupancy, 2023-2025 average</a:t>
            </a:r>
            <a:endParaRPr lang="en-US" sz="1000" dirty="0"/>
          </a:p>
        </p:txBody>
      </p:sp>
      <p:sp>
        <p:nvSpPr>
          <p:cNvPr id="23" name="Text 21"/>
          <p:cNvSpPr txBox="1"/>
          <p:nvPr/>
        </p:nvSpPr>
        <p:spPr>
          <a:xfrm>
            <a:off x="8191805"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Visitors 2009-2019 (CIC) and 2021-2025 (Tourism Economics); hotels Jan. 2019-Sept. 2026 (CoStar); Azira Jan. 1, 2023-Aug. 31, 2026. Assembled Oct. 19, 2026.</a:t>
            </a:r>
            <a:endParaRPr lang="en-US" sz="950" dirty="0"/>
          </a:p>
        </p:txBody>
      </p:sp>
      <p:sp>
        <p:nvSpPr>
          <p:cNvPr id="24" name="Text 22"/>
          <p:cNvSpPr txBox="1"/>
          <p:nvPr/>
        </p:nvSpPr>
        <p:spPr>
          <a:xfrm>
            <a:off x="8191805"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CoStar, Orange County hotel market (monthly data through Sept. 2026; market report Oct. 12, 2026)</a:t>
            </a:r>
            <a:endParaRPr lang="en-US" sz="700" dirty="0"/>
          </a:p>
        </p:txBody>
      </p:sp>
      <p:sp>
        <p:nvSpPr>
          <p:cNvPr id="25" name="detail-card-3"/>
          <p:cNvSpPr/>
          <p:nvPr/>
        </p:nvSpPr>
        <p:spPr>
          <a:xfrm>
            <a:off x="548640" y="3685032"/>
            <a:ext cx="3588410" cy="2176272"/>
          </a:xfrm>
          <a:prstGeom prst="rect">
            <a:avLst/>
          </a:prstGeom>
          <a:solidFill>
            <a:srgbClr val="FFFFFF"/>
          </a:solidFill>
          <a:ln w="12700">
            <a:solidFill>
              <a:srgbClr val="B4D9E3"/>
            </a:solidFill>
            <a:prstDash val="solid"/>
          </a:ln>
        </p:spPr>
      </p:sp>
      <p:sp>
        <p:nvSpPr>
          <p:cNvPr id="26" name="Shape 24"/>
          <p:cNvSpPr/>
          <p:nvPr/>
        </p:nvSpPr>
        <p:spPr>
          <a:xfrm>
            <a:off x="548640" y="3685032"/>
            <a:ext cx="3588410" cy="64008"/>
          </a:xfrm>
          <a:prstGeom prst="rect">
            <a:avLst/>
          </a:prstGeom>
          <a:solidFill>
            <a:srgbClr val="43A3A3"/>
          </a:solidFill>
          <a:ln w="12700">
            <a:solidFill>
              <a:srgbClr val="43A3A3"/>
            </a:solidFill>
            <a:prstDash val="solid"/>
          </a:ln>
        </p:spPr>
      </p:sp>
      <p:sp>
        <p:nvSpPr>
          <p:cNvPr id="27" name="Text 25"/>
          <p:cNvSpPr txBox="1"/>
          <p:nvPr/>
        </p:nvSpPr>
        <p:spPr>
          <a:xfrm>
            <a:off x="685800"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WHERE</a:t>
            </a:r>
            <a:endParaRPr lang="en-US" sz="900" dirty="0"/>
          </a:p>
        </p:txBody>
      </p:sp>
      <p:sp>
        <p:nvSpPr>
          <p:cNvPr id="28" name="Text 26"/>
          <p:cNvSpPr txBox="1"/>
          <p:nvPr/>
        </p:nvSpPr>
        <p:spPr>
          <a:xfrm>
            <a:off x="685800"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37.0%</a:t>
            </a:r>
            <a:endParaRPr lang="en-US" sz="2200" dirty="0"/>
          </a:p>
        </p:txBody>
      </p:sp>
      <p:sp>
        <p:nvSpPr>
          <p:cNvPr id="29" name="Text 27"/>
          <p:cNvSpPr txBox="1"/>
          <p:nvPr/>
        </p:nvSpPr>
        <p:spPr>
          <a:xfrm>
            <a:off x="685800"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of 2019 visitors traveled with children</a:t>
            </a:r>
            <a:endParaRPr lang="en-US" sz="1000" dirty="0"/>
          </a:p>
        </p:txBody>
      </p:sp>
      <p:sp>
        <p:nvSpPr>
          <p:cNvPr id="30" name="Text 28"/>
          <p:cNvSpPr txBox="1"/>
          <p:nvPr/>
        </p:nvSpPr>
        <p:spPr>
          <a:xfrm>
            <a:off x="685800"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Orange County; Anaheim where the county figure is not published; Anaheim and Garden Grove for Azira location data.</a:t>
            </a:r>
            <a:endParaRPr lang="en-US" sz="950" dirty="0"/>
          </a:p>
        </p:txBody>
      </p:sp>
      <p:sp>
        <p:nvSpPr>
          <p:cNvPr id="31" name="Text 29"/>
          <p:cNvSpPr txBox="1"/>
          <p:nvPr/>
        </p:nvSpPr>
        <p:spPr>
          <a:xfrm>
            <a:off x="685800"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CIC Research, Annual Profile of Visitors to Anaheim and Orange County, 2019 (for Visit Anaheim, Apr. 2020)</a:t>
            </a:r>
            <a:endParaRPr lang="en-US" sz="700" dirty="0"/>
          </a:p>
        </p:txBody>
      </p:sp>
      <p:sp>
        <p:nvSpPr>
          <p:cNvPr id="32" name="detail-card-4"/>
          <p:cNvSpPr/>
          <p:nvPr/>
        </p:nvSpPr>
        <p:spPr>
          <a:xfrm>
            <a:off x="4301642" y="3685032"/>
            <a:ext cx="3588410" cy="2176272"/>
          </a:xfrm>
          <a:prstGeom prst="rect">
            <a:avLst/>
          </a:prstGeom>
          <a:solidFill>
            <a:srgbClr val="FFFFFF"/>
          </a:solidFill>
          <a:ln w="12700">
            <a:solidFill>
              <a:srgbClr val="B4D9E3"/>
            </a:solidFill>
            <a:prstDash val="solid"/>
          </a:ln>
        </p:spPr>
      </p:sp>
      <p:sp>
        <p:nvSpPr>
          <p:cNvPr id="33" name="Shape 31"/>
          <p:cNvSpPr/>
          <p:nvPr/>
        </p:nvSpPr>
        <p:spPr>
          <a:xfrm>
            <a:off x="4301642" y="3685032"/>
            <a:ext cx="3588410" cy="64008"/>
          </a:xfrm>
          <a:prstGeom prst="rect">
            <a:avLst/>
          </a:prstGeom>
          <a:solidFill>
            <a:srgbClr val="43A3A3"/>
          </a:solidFill>
          <a:ln w="12700">
            <a:solidFill>
              <a:srgbClr val="43A3A3"/>
            </a:solidFill>
            <a:prstDash val="solid"/>
          </a:ln>
        </p:spPr>
      </p:sp>
      <p:sp>
        <p:nvSpPr>
          <p:cNvPr id="34" name="Text 32"/>
          <p:cNvSpPr txBox="1"/>
          <p:nvPr/>
        </p:nvSpPr>
        <p:spPr>
          <a:xfrm>
            <a:off x="4438802"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WHY</a:t>
            </a:r>
            <a:endParaRPr lang="en-US" sz="900" dirty="0"/>
          </a:p>
        </p:txBody>
      </p:sp>
      <p:sp>
        <p:nvSpPr>
          <p:cNvPr id="35" name="Text 33"/>
          <p:cNvSpPr txBox="1"/>
          <p:nvPr/>
        </p:nvSpPr>
        <p:spPr>
          <a:xfrm>
            <a:off x="4438802"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60,224</a:t>
            </a:r>
            <a:endParaRPr lang="en-US" sz="2200" dirty="0"/>
          </a:p>
        </p:txBody>
      </p:sp>
      <p:sp>
        <p:nvSpPr>
          <p:cNvPr id="36" name="Text 34"/>
          <p:cNvSpPr txBox="1"/>
          <p:nvPr/>
        </p:nvSpPr>
        <p:spPr>
          <a:xfrm>
            <a:off x="4438802"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Orange County hotel rooms, Sept. 2026</a:t>
            </a:r>
            <a:endParaRPr lang="en-US" sz="1000" dirty="0"/>
          </a:p>
        </p:txBody>
      </p:sp>
      <p:sp>
        <p:nvSpPr>
          <p:cNvPr id="37" name="Text 35"/>
          <p:cNvSpPr txBox="1"/>
          <p:nvPr/>
        </p:nvSpPr>
        <p:spPr>
          <a:xfrm>
            <a:off x="4438802"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ECA's market study for OCVIBE needs a county baseline for audience size, origin, timing, visitor mix and lodging capacity.</a:t>
            </a:r>
            <a:endParaRPr lang="en-US" sz="950" dirty="0"/>
          </a:p>
        </p:txBody>
      </p:sp>
      <p:sp>
        <p:nvSpPr>
          <p:cNvPr id="38" name="Text 36"/>
          <p:cNvSpPr txBox="1"/>
          <p:nvPr/>
        </p:nvSpPr>
        <p:spPr>
          <a:xfrm>
            <a:off x="4438802"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CoStar, Orange County hotel market (monthly data through Sept. 2026; market report Oct. 12, 2026)</a:t>
            </a:r>
            <a:endParaRPr lang="en-US" sz="700" dirty="0"/>
          </a:p>
        </p:txBody>
      </p:sp>
      <p:sp>
        <p:nvSpPr>
          <p:cNvPr id="39" name="detail-card-5"/>
          <p:cNvSpPr/>
          <p:nvPr/>
        </p:nvSpPr>
        <p:spPr>
          <a:xfrm>
            <a:off x="8054645" y="3685032"/>
            <a:ext cx="3588410" cy="2176272"/>
          </a:xfrm>
          <a:prstGeom prst="rect">
            <a:avLst/>
          </a:prstGeom>
          <a:solidFill>
            <a:srgbClr val="FFFFFF"/>
          </a:solidFill>
          <a:ln w="12700">
            <a:solidFill>
              <a:srgbClr val="B4D9E3"/>
            </a:solidFill>
            <a:prstDash val="solid"/>
          </a:ln>
        </p:spPr>
      </p:sp>
      <p:sp>
        <p:nvSpPr>
          <p:cNvPr id="40" name="Shape 38"/>
          <p:cNvSpPr/>
          <p:nvPr/>
        </p:nvSpPr>
        <p:spPr>
          <a:xfrm>
            <a:off x="8054645" y="3685032"/>
            <a:ext cx="3588410" cy="64008"/>
          </a:xfrm>
          <a:prstGeom prst="rect">
            <a:avLst/>
          </a:prstGeom>
          <a:solidFill>
            <a:srgbClr val="43A3A3"/>
          </a:solidFill>
          <a:ln w="12700">
            <a:solidFill>
              <a:srgbClr val="43A3A3"/>
            </a:solidFill>
            <a:prstDash val="solid"/>
          </a:ln>
        </p:spPr>
      </p:sp>
      <p:sp>
        <p:nvSpPr>
          <p:cNvPr id="41" name="Text 39"/>
          <p:cNvSpPr txBox="1"/>
          <p:nvPr/>
        </p:nvSpPr>
        <p:spPr>
          <a:xfrm>
            <a:off x="8191805"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HOW</a:t>
            </a:r>
            <a:endParaRPr lang="en-US" sz="900" dirty="0"/>
          </a:p>
        </p:txBody>
      </p:sp>
      <p:sp>
        <p:nvSpPr>
          <p:cNvPr id="42" name="Text 40"/>
          <p:cNvSpPr txBox="1"/>
          <p:nvPr/>
        </p:nvSpPr>
        <p:spPr>
          <a:xfrm>
            <a:off x="8191805"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75.2%</a:t>
            </a:r>
            <a:endParaRPr lang="en-US" sz="2200" dirty="0"/>
          </a:p>
        </p:txBody>
      </p:sp>
      <p:sp>
        <p:nvSpPr>
          <p:cNvPr id="43" name="Text 41"/>
          <p:cNvSpPr txBox="1"/>
          <p:nvPr/>
        </p:nvSpPr>
        <p:spPr>
          <a:xfrm>
            <a:off x="8191805"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hotel occupancy, Jan.-Aug. 2026</a:t>
            </a:r>
            <a:endParaRPr lang="en-US" sz="1000" dirty="0"/>
          </a:p>
        </p:txBody>
      </p:sp>
      <p:sp>
        <p:nvSpPr>
          <p:cNvPr id="44" name="Text 42"/>
          <p:cNvSpPr txBox="1"/>
          <p:nvPr/>
        </p:nvSpPr>
        <p:spPr>
          <a:xfrm>
            <a:off x="8191805"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Published figures from each source, kept as separate series; BI arithmetic shown for averages, revenue per available room and changes.</a:t>
            </a:r>
            <a:endParaRPr lang="en-US" sz="950" dirty="0"/>
          </a:p>
        </p:txBody>
      </p:sp>
      <p:sp>
        <p:nvSpPr>
          <p:cNvPr id="45" name="Text 43"/>
          <p:cNvSpPr txBox="1"/>
          <p:nvPr/>
        </p:nvSpPr>
        <p:spPr>
          <a:xfrm>
            <a:off x="8191805"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CoStar, Orange County hotel market (monthly data through Sept. 2026; market report Oct. 12, 2026)</a:t>
            </a:r>
            <a:endParaRPr lang="en-US" sz="700" dirty="0"/>
          </a:p>
        </p:txBody>
      </p:sp>
      <p:sp>
        <p:nvSpPr>
          <p:cNvPr id="4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of Visitors to Orange County, 2025 (pub. May 2026); CIC Research, Annual Profile of Visitors to Anaheim and Orange County, 2019 (for Visit Anaheim, Apr. 2020); CoStar, Orange County hotel market (monthly data through Sept. 2026; market report Oct. 12, 2026); Symphony | Tourism Economics (Azira), Anaheim and Garden Grove, Jan. 1, 2023-Aug. 31, 2026 (pulled Oct. 19,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The five questions and where each is answered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Sent by Entertainment + Culture Advisors for OCVIBE, Oct. 19, 2026 · every gap paired with a solution</a:t>
            </a:r>
            <a:endParaRPr lang="en-US" sz="120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280160"/>
                <a:gridCol w="2743200"/>
                <a:gridCol w="3474720"/>
                <a:gridCol w="1554480"/>
                <a:gridCol w="2041855"/>
              </a:tblGrid>
              <a:tr h="713232">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Question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What was asked</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Answer in brief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Main source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Gap and solution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71323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1. Visitor arrivals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How many visitors came to Orange County each year from 2019 to 2025, and so far in 2026, split by domestic and international and by overnight and day?</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51.3M in 2025 (29.2M day, 22.1M overnight; 47.9M domestic, 3.5M international); 50.21M in 2019 (CIC); Anaheim Jan.-June 2026 13.06M (+3.1%).</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Tourism Economics 2025; CIC 2019; Tourism Economics Sept.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County 2020 and 2026 YTD not published; request them from Tourism Economics.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71323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2. Origin markets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Where do visitors come from, and can the Los Angeles-Long Beach-Anaheim area be split into Anaheim and outside Anaheim?</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55.4% Southern California (2019); 44.7% of Anaheim and Garden Grove domestic trips from the Los Angeles-Long Beach-Anaheim metro (2023-2026).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CIC 2019; Azira</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No ZIP codes in Azira, so no Anaheim vs. outside-Anaheim split; a custom pull or survey would provide it.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71323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3. Seasonality</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How does visitation change month by month?</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Hotel occupancy peaks in July (80.6%) and is lowest in January (61.2%), 2023-2025 average.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CoStar monthly</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No monthly county visitor counts; hotel occupancy is the monthly measure.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71323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4. Visitor profile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What is the purpose of the trip, how long do visitors stay, how large is the travel party and how many travel with children?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81.2% leisure, 9.6% business, 7.6% special events; party of 2.8; 37.0% with children; overnight stay 4.2 nights (2019).</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CIC 2019; Azira</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Latest county profile is 2019; a new survey would update it.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71323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5. Hotels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How many hotel rooms does Orange County have, and what are occupancy and average daily rate?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60,224 rooms (Sept. 2026); 75.2% occupancy, $221.67 ADR (Jan.-Aug.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CoStar</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None.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of Visitors to Orange County, 2025 (pub. May 2026); CIC Research, Annual Profile of Visitors to Anaheim and Orange County, 2019 (for Visit Anaheim, Apr. 2020); CoStar, Orange County hotel market (monthly data through Sept. 2026; market report Oct. 12, 2026); Symphony | Tourism Economics (Azira), Anaheim and Garden Grove, Jan. 1, 2023-Aug. 31, 2026 (pulled Oct. 19,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Question 1. Visitor arrivals to Orange County, 2009–2026</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Millions · CIC Research 2009–2019 and Tourism Economics 2021–2025 are separate methods</a:t>
            </a:r>
            <a:endParaRPr lang="en-US" sz="12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914400"/>
                <a:gridCol w="1188720"/>
                <a:gridCol w="1005840"/>
                <a:gridCol w="1005840"/>
                <a:gridCol w="1371600"/>
                <a:gridCol w="5608015"/>
              </a:tblGrid>
              <a:tr h="329184">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Year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Total visitors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Day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Overnight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International</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Source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2918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2015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47.4M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26.3M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21.1M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Not published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CIC Research</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2016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48.2M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26.8M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21.4M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Not published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CIC Research</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2017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49.4M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27.9M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21.4M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Not published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CIC Research</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2018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50.2M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28.7M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21.5M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Not published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CIC Research</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2019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50.21M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28.73M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21.48M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9.1% (4.6M)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CIC Research</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2020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Not published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Not published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Not published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Not published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Spending $5.92B (46.7% of 2019), Dean Runyan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2021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39.0M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22.7M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16.3M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Not published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2022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47.8M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26.8M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21.1M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Not published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2023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49.6M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28.0M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21.6M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Not published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2024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50.7M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28.8M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21.9M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Not published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51.3M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29.2M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22.1M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3.5M (6.7%)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Tourism Economics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2918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2026 YTD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Not published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Not published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Not published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Not published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Anaheim only: 13.06M visitors Jan.-June (+3.1%), Tourism Economics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CIC Research, Annual Profile of Visitors to Anaheim and Orange County, 2019 (for Visit Anaheim, Apr. 2020) (Figure 1, Table 3); Tourism Economics, Economic Impact of Visitors to Orange County, 2025 (pub. May 2026); Dean Runyan Associates for Visit California, The Economic Impact of Travel in California, 2025p (Apr. 2026), Orange County detail; Tourism Economics, Anaheim and Garden Grove Travel Forecast (Sept. 2026). 2009–2014 in the dashboard.</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Question 1. Orange County visitor spending, including 2020</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Dean Runyan Associates for Visit California · $ millions · spending, not visitor counts</a:t>
            </a:r>
            <a:endParaRPr lang="en-US" sz="120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7315200" cy="914400"/>
        </p:xfrm>
        <a:graphic>
          <a:graphicData uri="http://schemas.openxmlformats.org/drawingml/2006/table">
            <a:tbl>
              <a:tblPr/>
              <a:tblGrid>
                <a:gridCol w="1097280"/>
                <a:gridCol w="1645920"/>
                <a:gridCol w="1463040"/>
                <a:gridCol w="1463040"/>
                <a:gridCol w="1645920"/>
              </a:tblGrid>
              <a:tr h="384048">
                <a:tc>
                  <a:txBody>
                    <a:bodyPr/>
                    <a:lstStyle/>
                    <a:p>
                      <a:pPr algn="l" indent="0" marL="0">
                        <a:buNone/>
                      </a:pPr>
                      <a:r>
                        <a:rPr lang="en-US" sz="1100" b="1" dirty="0">
                          <a:solidFill>
                            <a:srgbClr val="FFFFFF"/>
                          </a:solidFill>
                          <a:latin typeface="Proxima Nova" pitchFamily="34" charset="0"/>
                          <a:ea typeface="Proxima Nova" pitchFamily="34" charset="-122"/>
                          <a:cs typeface="Proxima Nova" pitchFamily="34" charset="-120"/>
                        </a:rPr>
                        <a:t>Year</a:t>
                      </a:r>
                      <a:endParaRPr lang="en-US" sz="11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100" b="1" dirty="0">
                          <a:solidFill>
                            <a:srgbClr val="FFFFFF"/>
                          </a:solidFill>
                          <a:latin typeface="Proxima Nova" pitchFamily="34" charset="0"/>
                          <a:ea typeface="Proxima Nova" pitchFamily="34" charset="-122"/>
                          <a:cs typeface="Proxima Nova" pitchFamily="34" charset="-120"/>
                        </a:rPr>
                        <a:t>Visitor spending</a:t>
                      </a:r>
                      <a:endParaRPr lang="en-US" sz="11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100" b="1" dirty="0">
                          <a:solidFill>
                            <a:srgbClr val="FFFFFF"/>
                          </a:solidFill>
                          <a:latin typeface="Proxima Nova" pitchFamily="34" charset="0"/>
                          <a:ea typeface="Proxima Nova" pitchFamily="34" charset="-122"/>
                          <a:cs typeface="Proxima Nova" pitchFamily="34" charset="-120"/>
                        </a:rPr>
                        <a:t>Day travel</a:t>
                      </a:r>
                      <a:endParaRPr lang="en-US" sz="11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100" b="1" dirty="0">
                          <a:solidFill>
                            <a:srgbClr val="FFFFFF"/>
                          </a:solidFill>
                          <a:latin typeface="Proxima Nova" pitchFamily="34" charset="0"/>
                          <a:ea typeface="Proxima Nova" pitchFamily="34" charset="-122"/>
                          <a:cs typeface="Proxima Nova" pitchFamily="34" charset="-120"/>
                        </a:rPr>
                        <a:t>Day travel share</a:t>
                      </a:r>
                      <a:endParaRPr lang="en-US" sz="11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100" b="1" dirty="0">
                          <a:solidFill>
                            <a:srgbClr val="FFFFFF"/>
                          </a:solidFill>
                          <a:latin typeface="Proxima Nova" pitchFamily="34" charset="0"/>
                          <a:ea typeface="Proxima Nova" pitchFamily="34" charset="-122"/>
                          <a:cs typeface="Proxima Nova" pitchFamily="34" charset="-120"/>
                        </a:rPr>
                        <a:t>Change vs. 2019</a:t>
                      </a:r>
                      <a:endParaRPr lang="en-US" sz="11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1100" b="1" dirty="0">
                          <a:solidFill>
                            <a:srgbClr val="231F20"/>
                          </a:solidFill>
                          <a:latin typeface="Proxima Nova" pitchFamily="34" charset="0"/>
                          <a:ea typeface="Proxima Nova" pitchFamily="34" charset="-122"/>
                          <a:cs typeface="Proxima Nova" pitchFamily="34" charset="-120"/>
                        </a:rPr>
                        <a:t>2019</a:t>
                      </a:r>
                      <a:endParaRPr lang="en-US" sz="11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31F20"/>
                          </a:solidFill>
                          <a:latin typeface="Proxima Nova" pitchFamily="34" charset="0"/>
                          <a:ea typeface="Proxima Nova" pitchFamily="34" charset="-122"/>
                          <a:cs typeface="Proxima Nova" pitchFamily="34" charset="-120"/>
                        </a:rPr>
                        <a:t>$12,673.3</a:t>
                      </a:r>
                      <a:endParaRPr lang="en-US" sz="11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31F20"/>
                          </a:solidFill>
                          <a:latin typeface="Proxima Nova" pitchFamily="34" charset="0"/>
                          <a:ea typeface="Proxima Nova" pitchFamily="34" charset="-122"/>
                          <a:cs typeface="Proxima Nova" pitchFamily="34" charset="-120"/>
                        </a:rPr>
                        <a:t>$1,974.9</a:t>
                      </a:r>
                      <a:endParaRPr lang="en-US" sz="11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31F20"/>
                          </a:solidFill>
                          <a:latin typeface="Proxima Nova" pitchFamily="34" charset="0"/>
                          <a:ea typeface="Proxima Nova" pitchFamily="34" charset="-122"/>
                          <a:cs typeface="Proxima Nova" pitchFamily="34" charset="-120"/>
                        </a:rPr>
                        <a:t>15.6%</a:t>
                      </a:r>
                      <a:endParaRPr lang="en-US" sz="11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31F20"/>
                          </a:solidFill>
                          <a:latin typeface="Proxima Nova" pitchFamily="34" charset="0"/>
                          <a:ea typeface="Proxima Nova" pitchFamily="34" charset="-122"/>
                          <a:cs typeface="Proxima Nova" pitchFamily="34" charset="-120"/>
                        </a:rPr>
                        <a:t>▶ +0.0%</a:t>
                      </a:r>
                      <a:endParaRPr lang="en-US" sz="11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1100" b="1" dirty="0">
                          <a:solidFill>
                            <a:srgbClr val="231F20"/>
                          </a:solidFill>
                          <a:latin typeface="Proxima Nova" pitchFamily="34" charset="0"/>
                          <a:ea typeface="Proxima Nova" pitchFamily="34" charset="-122"/>
                          <a:cs typeface="Proxima Nova" pitchFamily="34" charset="-120"/>
                        </a:rPr>
                        <a:t>2020</a:t>
                      </a:r>
                      <a:endParaRPr lang="en-US" sz="11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100" dirty="0">
                          <a:solidFill>
                            <a:srgbClr val="231F20"/>
                          </a:solidFill>
                          <a:latin typeface="Proxima Nova" pitchFamily="34" charset="0"/>
                          <a:ea typeface="Proxima Nova" pitchFamily="34" charset="-122"/>
                          <a:cs typeface="Proxima Nova" pitchFamily="34" charset="-120"/>
                        </a:rPr>
                        <a:t>$5,919.6</a:t>
                      </a:r>
                      <a:endParaRPr lang="en-US" sz="11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100" dirty="0">
                          <a:solidFill>
                            <a:srgbClr val="231F20"/>
                          </a:solidFill>
                          <a:latin typeface="Proxima Nova" pitchFamily="34" charset="0"/>
                          <a:ea typeface="Proxima Nova" pitchFamily="34" charset="-122"/>
                          <a:cs typeface="Proxima Nova" pitchFamily="34" charset="-120"/>
                        </a:rPr>
                        <a:t>$599.8</a:t>
                      </a:r>
                      <a:endParaRPr lang="en-US" sz="11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100" dirty="0">
                          <a:solidFill>
                            <a:srgbClr val="231F20"/>
                          </a:solidFill>
                          <a:latin typeface="Proxima Nova" pitchFamily="34" charset="0"/>
                          <a:ea typeface="Proxima Nova" pitchFamily="34" charset="-122"/>
                          <a:cs typeface="Proxima Nova" pitchFamily="34" charset="-120"/>
                        </a:rPr>
                        <a:t>10.1%</a:t>
                      </a:r>
                      <a:endParaRPr lang="en-US" sz="11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100" dirty="0">
                          <a:solidFill>
                            <a:srgbClr val="A10009"/>
                          </a:solidFill>
                          <a:latin typeface="Proxima Nova" pitchFamily="34" charset="0"/>
                          <a:ea typeface="Proxima Nova" pitchFamily="34" charset="-122"/>
                          <a:cs typeface="Proxima Nova" pitchFamily="34" charset="-120"/>
                        </a:rPr>
                        <a:t>▼ -53.3%</a:t>
                      </a:r>
                      <a:endParaRPr lang="en-US" sz="11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1100" b="1" dirty="0">
                          <a:solidFill>
                            <a:srgbClr val="231F20"/>
                          </a:solidFill>
                          <a:latin typeface="Proxima Nova" pitchFamily="34" charset="0"/>
                          <a:ea typeface="Proxima Nova" pitchFamily="34" charset="-122"/>
                          <a:cs typeface="Proxima Nova" pitchFamily="34" charset="-120"/>
                        </a:rPr>
                        <a:t>2021</a:t>
                      </a:r>
                      <a:endParaRPr lang="en-US" sz="11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31F20"/>
                          </a:solidFill>
                          <a:latin typeface="Proxima Nova" pitchFamily="34" charset="0"/>
                          <a:ea typeface="Proxima Nova" pitchFamily="34" charset="-122"/>
                          <a:cs typeface="Proxima Nova" pitchFamily="34" charset="-120"/>
                        </a:rPr>
                        <a:t>$9,572.1</a:t>
                      </a:r>
                      <a:endParaRPr lang="en-US" sz="11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31F20"/>
                          </a:solidFill>
                          <a:latin typeface="Proxima Nova" pitchFamily="34" charset="0"/>
                          <a:ea typeface="Proxima Nova" pitchFamily="34" charset="-122"/>
                          <a:cs typeface="Proxima Nova" pitchFamily="34" charset="-120"/>
                        </a:rPr>
                        <a:t>$1,075.6</a:t>
                      </a:r>
                      <a:endParaRPr lang="en-US" sz="11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31F20"/>
                          </a:solidFill>
                          <a:latin typeface="Proxima Nova" pitchFamily="34" charset="0"/>
                          <a:ea typeface="Proxima Nova" pitchFamily="34" charset="-122"/>
                          <a:cs typeface="Proxima Nova" pitchFamily="34" charset="-120"/>
                        </a:rPr>
                        <a:t>11.2%</a:t>
                      </a:r>
                      <a:endParaRPr lang="en-US" sz="11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100" dirty="0">
                          <a:solidFill>
                            <a:srgbClr val="A10009"/>
                          </a:solidFill>
                          <a:latin typeface="Proxima Nova" pitchFamily="34" charset="0"/>
                          <a:ea typeface="Proxima Nova" pitchFamily="34" charset="-122"/>
                          <a:cs typeface="Proxima Nova" pitchFamily="34" charset="-120"/>
                        </a:rPr>
                        <a:t>▼ -24.5%</a:t>
                      </a:r>
                      <a:endParaRPr lang="en-US" sz="11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1100" b="1" dirty="0">
                          <a:solidFill>
                            <a:srgbClr val="231F20"/>
                          </a:solidFill>
                          <a:latin typeface="Proxima Nova" pitchFamily="34" charset="0"/>
                          <a:ea typeface="Proxima Nova" pitchFamily="34" charset="-122"/>
                          <a:cs typeface="Proxima Nova" pitchFamily="34" charset="-120"/>
                        </a:rPr>
                        <a:t>2022</a:t>
                      </a:r>
                      <a:endParaRPr lang="en-US" sz="11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100" dirty="0">
                          <a:solidFill>
                            <a:srgbClr val="231F20"/>
                          </a:solidFill>
                          <a:latin typeface="Proxima Nova" pitchFamily="34" charset="0"/>
                          <a:ea typeface="Proxima Nova" pitchFamily="34" charset="-122"/>
                          <a:cs typeface="Proxima Nova" pitchFamily="34" charset="-120"/>
                        </a:rPr>
                        <a:t>$13,425.7</a:t>
                      </a:r>
                      <a:endParaRPr lang="en-US" sz="11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100" dirty="0">
                          <a:solidFill>
                            <a:srgbClr val="231F20"/>
                          </a:solidFill>
                          <a:latin typeface="Proxima Nova" pitchFamily="34" charset="0"/>
                          <a:ea typeface="Proxima Nova" pitchFamily="34" charset="-122"/>
                          <a:cs typeface="Proxima Nova" pitchFamily="34" charset="-120"/>
                        </a:rPr>
                        <a:t>$1,645.7</a:t>
                      </a:r>
                      <a:endParaRPr lang="en-US" sz="11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100" dirty="0">
                          <a:solidFill>
                            <a:srgbClr val="231F20"/>
                          </a:solidFill>
                          <a:latin typeface="Proxima Nova" pitchFamily="34" charset="0"/>
                          <a:ea typeface="Proxima Nova" pitchFamily="34" charset="-122"/>
                          <a:cs typeface="Proxima Nova" pitchFamily="34" charset="-120"/>
                        </a:rPr>
                        <a:t>12.3%</a:t>
                      </a:r>
                      <a:endParaRPr lang="en-US" sz="11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100" dirty="0">
                          <a:solidFill>
                            <a:srgbClr val="231F20"/>
                          </a:solidFill>
                          <a:latin typeface="Proxima Nova" pitchFamily="34" charset="0"/>
                          <a:ea typeface="Proxima Nova" pitchFamily="34" charset="-122"/>
                          <a:cs typeface="Proxima Nova" pitchFamily="34" charset="-120"/>
                        </a:rPr>
                        <a:t>▲ +5.9%</a:t>
                      </a:r>
                      <a:endParaRPr lang="en-US" sz="11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1100" b="1" dirty="0">
                          <a:solidFill>
                            <a:srgbClr val="231F20"/>
                          </a:solidFill>
                          <a:latin typeface="Proxima Nova" pitchFamily="34" charset="0"/>
                          <a:ea typeface="Proxima Nova" pitchFamily="34" charset="-122"/>
                          <a:cs typeface="Proxima Nova" pitchFamily="34" charset="-120"/>
                        </a:rPr>
                        <a:t>2023</a:t>
                      </a:r>
                      <a:endParaRPr lang="en-US" sz="11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31F20"/>
                          </a:solidFill>
                          <a:latin typeface="Proxima Nova" pitchFamily="34" charset="0"/>
                          <a:ea typeface="Proxima Nova" pitchFamily="34" charset="-122"/>
                          <a:cs typeface="Proxima Nova" pitchFamily="34" charset="-120"/>
                        </a:rPr>
                        <a:t>$14,174.1</a:t>
                      </a:r>
                      <a:endParaRPr lang="en-US" sz="11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31F20"/>
                          </a:solidFill>
                          <a:latin typeface="Proxima Nova" pitchFamily="34" charset="0"/>
                          <a:ea typeface="Proxima Nova" pitchFamily="34" charset="-122"/>
                          <a:cs typeface="Proxima Nova" pitchFamily="34" charset="-120"/>
                        </a:rPr>
                        <a:t>$1,714.4</a:t>
                      </a:r>
                      <a:endParaRPr lang="en-US" sz="11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31F20"/>
                          </a:solidFill>
                          <a:latin typeface="Proxima Nova" pitchFamily="34" charset="0"/>
                          <a:ea typeface="Proxima Nova" pitchFamily="34" charset="-122"/>
                          <a:cs typeface="Proxima Nova" pitchFamily="34" charset="-120"/>
                        </a:rPr>
                        <a:t>12.1%</a:t>
                      </a:r>
                      <a:endParaRPr lang="en-US" sz="11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31F20"/>
                          </a:solidFill>
                          <a:latin typeface="Proxima Nova" pitchFamily="34" charset="0"/>
                          <a:ea typeface="Proxima Nova" pitchFamily="34" charset="-122"/>
                          <a:cs typeface="Proxima Nova" pitchFamily="34" charset="-120"/>
                        </a:rPr>
                        <a:t>▲ +11.8%</a:t>
                      </a:r>
                      <a:endParaRPr lang="en-US" sz="11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1100" b="1" dirty="0">
                          <a:solidFill>
                            <a:srgbClr val="231F20"/>
                          </a:solidFill>
                          <a:latin typeface="Proxima Nova" pitchFamily="34" charset="0"/>
                          <a:ea typeface="Proxima Nova" pitchFamily="34" charset="-122"/>
                          <a:cs typeface="Proxima Nova" pitchFamily="34" charset="-120"/>
                        </a:rPr>
                        <a:t>2024</a:t>
                      </a:r>
                      <a:endParaRPr lang="en-US" sz="11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100" dirty="0">
                          <a:solidFill>
                            <a:srgbClr val="231F20"/>
                          </a:solidFill>
                          <a:latin typeface="Proxima Nova" pitchFamily="34" charset="0"/>
                          <a:ea typeface="Proxima Nova" pitchFamily="34" charset="-122"/>
                          <a:cs typeface="Proxima Nova" pitchFamily="34" charset="-120"/>
                        </a:rPr>
                        <a:t>$14,899.1</a:t>
                      </a:r>
                      <a:endParaRPr lang="en-US" sz="11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100" dirty="0">
                          <a:solidFill>
                            <a:srgbClr val="231F20"/>
                          </a:solidFill>
                          <a:latin typeface="Proxima Nova" pitchFamily="34" charset="0"/>
                          <a:ea typeface="Proxima Nova" pitchFamily="34" charset="-122"/>
                          <a:cs typeface="Proxima Nova" pitchFamily="34" charset="-120"/>
                        </a:rPr>
                        <a:t>$1,802.6</a:t>
                      </a:r>
                      <a:endParaRPr lang="en-US" sz="11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100" dirty="0">
                          <a:solidFill>
                            <a:srgbClr val="231F20"/>
                          </a:solidFill>
                          <a:latin typeface="Proxima Nova" pitchFamily="34" charset="0"/>
                          <a:ea typeface="Proxima Nova" pitchFamily="34" charset="-122"/>
                          <a:cs typeface="Proxima Nova" pitchFamily="34" charset="-120"/>
                        </a:rPr>
                        <a:t>12.1%</a:t>
                      </a:r>
                      <a:endParaRPr lang="en-US" sz="11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100" dirty="0">
                          <a:solidFill>
                            <a:srgbClr val="231F20"/>
                          </a:solidFill>
                          <a:latin typeface="Proxima Nova" pitchFamily="34" charset="0"/>
                          <a:ea typeface="Proxima Nova" pitchFamily="34" charset="-122"/>
                          <a:cs typeface="Proxima Nova" pitchFamily="34" charset="-120"/>
                        </a:rPr>
                        <a:t>▲ +17.6%</a:t>
                      </a:r>
                      <a:endParaRPr lang="en-US" sz="11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1100" b="1" dirty="0">
                          <a:solidFill>
                            <a:srgbClr val="231F20"/>
                          </a:solidFill>
                          <a:latin typeface="Proxima Nova" pitchFamily="34" charset="0"/>
                          <a:ea typeface="Proxima Nova" pitchFamily="34" charset="-122"/>
                          <a:cs typeface="Proxima Nova" pitchFamily="34" charset="-120"/>
                        </a:rPr>
                        <a:t>2025p</a:t>
                      </a:r>
                      <a:endParaRPr lang="en-US" sz="11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100" b="1" dirty="0">
                          <a:solidFill>
                            <a:srgbClr val="231F20"/>
                          </a:solidFill>
                          <a:latin typeface="Proxima Nova" pitchFamily="34" charset="0"/>
                          <a:ea typeface="Proxima Nova" pitchFamily="34" charset="-122"/>
                          <a:cs typeface="Proxima Nova" pitchFamily="34" charset="-120"/>
                        </a:rPr>
                        <a:t>$15,394.2</a:t>
                      </a:r>
                      <a:endParaRPr lang="en-US" sz="11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100" b="1" dirty="0">
                          <a:solidFill>
                            <a:srgbClr val="231F20"/>
                          </a:solidFill>
                          <a:latin typeface="Proxima Nova" pitchFamily="34" charset="0"/>
                          <a:ea typeface="Proxima Nova" pitchFamily="34" charset="-122"/>
                          <a:cs typeface="Proxima Nova" pitchFamily="34" charset="-120"/>
                        </a:rPr>
                        <a:t>$1,861.7</a:t>
                      </a:r>
                      <a:endParaRPr lang="en-US" sz="11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100" b="1" dirty="0">
                          <a:solidFill>
                            <a:srgbClr val="231F20"/>
                          </a:solidFill>
                          <a:latin typeface="Proxima Nova" pitchFamily="34" charset="0"/>
                          <a:ea typeface="Proxima Nova" pitchFamily="34" charset="-122"/>
                          <a:cs typeface="Proxima Nova" pitchFamily="34" charset="-120"/>
                        </a:rPr>
                        <a:t>12.1%</a:t>
                      </a:r>
                      <a:endParaRPr lang="en-US" sz="11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100" b="1" dirty="0">
                          <a:solidFill>
                            <a:srgbClr val="231F20"/>
                          </a:solidFill>
                          <a:latin typeface="Proxima Nova" pitchFamily="34" charset="0"/>
                          <a:ea typeface="Proxima Nova" pitchFamily="34" charset="-122"/>
                          <a:cs typeface="Proxima Nova" pitchFamily="34" charset="-120"/>
                        </a:rPr>
                        <a:t>▲ +21.5%</a:t>
                      </a:r>
                      <a:endParaRPr lang="en-US" sz="11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bl>
          </a:graphicData>
        </a:graphic>
      </p:graphicFrame>
      <p:sp>
        <p:nvSpPr>
          <p:cNvPr id="5" name="Text 2"/>
          <p:cNvSpPr txBox="1"/>
          <p:nvPr/>
        </p:nvSpPr>
        <p:spPr>
          <a:xfrm>
            <a:off x="8138160" y="1417320"/>
            <a:ext cx="3504895" cy="3200400"/>
          </a:xfrm>
          <a:prstGeom prst="rect">
            <a:avLst/>
          </a:prstGeom>
          <a:noFill/>
          <a:ln/>
        </p:spPr>
        <p:txBody>
          <a:bodyPr wrap="square" lIns="0" tIns="0" rIns="0" bIns="0" rtlCol="0" anchor="t"/>
          <a:lstStyle/>
          <a:p>
            <a:pPr indent="0" marL="0">
              <a:buNone/>
            </a:pPr>
            <a:r>
              <a:rPr lang="en-US" sz="1200" dirty="0">
                <a:solidFill>
                  <a:srgbClr val="231F20"/>
                </a:solidFill>
                <a:latin typeface="Proxima Nova" pitchFamily="34" charset="0"/>
                <a:ea typeface="Proxima Nova" pitchFamily="34" charset="-122"/>
                <a:cs typeface="Proxima Nova" pitchFamily="34" charset="-120"/>
              </a:rPr>
              <a:t>Orange County visitor spending in 2020 fell to </a:t>
            </a:r>
            <a:pPr indent="0" marL="0">
              <a:buNone/>
            </a:pPr>
            <a:r>
              <a:rPr lang="en-US" sz="1200" b="1" dirty="0">
                <a:solidFill>
                  <a:srgbClr val="125C60"/>
                </a:solidFill>
                <a:latin typeface="Proxima Nova" pitchFamily="34" charset="0"/>
                <a:ea typeface="Proxima Nova" pitchFamily="34" charset="-122"/>
                <a:cs typeface="Proxima Nova" pitchFamily="34" charset="-120"/>
              </a:rPr>
              <a:t>46.7%</a:t>
            </a:r>
            <a:pPr indent="0" marL="0">
              <a:buNone/>
            </a:pPr>
            <a:r>
              <a:rPr lang="en-US" sz="1200" dirty="0">
                <a:solidFill>
                  <a:srgbClr val="231F20"/>
                </a:solidFill>
                <a:latin typeface="Proxima Nova" pitchFamily="34" charset="0"/>
                <a:ea typeface="Proxima Nova" pitchFamily="34" charset="-122"/>
                <a:cs typeface="Proxima Nova" pitchFamily="34" charset="-120"/>
              </a:rPr>
              <a:t> of its 2019 level and passed 2019 in 2022. In 2025p it was </a:t>
            </a:r>
            <a:pPr indent="0" marL="0">
              <a:buNone/>
            </a:pPr>
            <a:r>
              <a:rPr lang="en-US" sz="1200" b="1" dirty="0">
                <a:solidFill>
                  <a:srgbClr val="125C60"/>
                </a:solidFill>
                <a:latin typeface="Proxima Nova" pitchFamily="34" charset="0"/>
                <a:ea typeface="Proxima Nova" pitchFamily="34" charset="-122"/>
                <a:cs typeface="Proxima Nova" pitchFamily="34" charset="-120"/>
              </a:rPr>
              <a:t>21.5%</a:t>
            </a:r>
            <a:pPr indent="0" marL="0">
              <a:buNone/>
            </a:pPr>
            <a:r>
              <a:rPr lang="en-US" sz="1200" dirty="0">
                <a:solidFill>
                  <a:srgbClr val="231F20"/>
                </a:solidFill>
                <a:latin typeface="Proxima Nova" pitchFamily="34" charset="0"/>
                <a:ea typeface="Proxima Nova" pitchFamily="34" charset="-122"/>
                <a:cs typeface="Proxima Nova" pitchFamily="34" charset="-120"/>
              </a:rPr>
              <a:t> above 2019. Tourism Economics and CIC do not publish 2020 county visitor counts; this series fills the year.</a:t>
            </a:r>
            <a:endParaRPr lang="en-US" sz="1200" dirty="0"/>
          </a:p>
        </p:txBody>
      </p:sp>
      <p:sp>
        <p:nvSpPr>
          <p:cNvPr id="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Dean Runyan Associates for Visit California, The Economic Impact of Travel in California, 2025p (Apr. 2026), Orange County detail, p. 67</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Question 2. Where visitors come from</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Orange County 2019 (CIC) · Anaheim and Garden Grove 2023–2026 (Azira) · LA metro includes Orange County</a:t>
            </a:r>
            <a:endParaRPr lang="en-US" sz="120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6766560" cy="914400"/>
        </p:xfrm>
        <a:graphic>
          <a:graphicData uri="http://schemas.openxmlformats.org/drawingml/2006/table">
            <a:tbl>
              <a:tblPr/>
              <a:tblGrid>
                <a:gridCol w="1920240"/>
                <a:gridCol w="1188720"/>
                <a:gridCol w="2743200"/>
                <a:gridCol w="914400"/>
              </a:tblGrid>
              <a:tr h="329184">
                <a:tc>
                  <a:txBody>
                    <a:bodyPr/>
                    <a:lstStyle/>
                    <a:p>
                      <a:pPr algn="l" indent="0" marL="0">
                        <a:buNone/>
                      </a:pPr>
                      <a:r>
                        <a:rPr lang="en-US" sz="900" b="1" dirty="0">
                          <a:solidFill>
                            <a:srgbClr val="FFFFFF"/>
                          </a:solidFill>
                          <a:latin typeface="Proxima Nova" pitchFamily="34" charset="0"/>
                          <a:ea typeface="Proxima Nova" pitchFamily="34" charset="-122"/>
                          <a:cs typeface="Proxima Nova" pitchFamily="34" charset="-120"/>
                        </a:rPr>
                        <a:t>Orange County origin, 2019</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00" b="1" dirty="0">
                          <a:solidFill>
                            <a:srgbClr val="FFFFFF"/>
                          </a:solidFill>
                          <a:latin typeface="Proxima Nova" pitchFamily="34" charset="0"/>
                          <a:ea typeface="Proxima Nova" pitchFamily="34" charset="-122"/>
                          <a:cs typeface="Proxima Nova" pitchFamily="34" charset="-120"/>
                        </a:rPr>
                        <a:t>Share</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00" b="1" dirty="0">
                          <a:solidFill>
                            <a:srgbClr val="FFFFFF"/>
                          </a:solidFill>
                          <a:latin typeface="Proxima Nova" pitchFamily="34" charset="0"/>
                          <a:ea typeface="Proxima Nova" pitchFamily="34" charset="-122"/>
                          <a:cs typeface="Proxima Nova" pitchFamily="34" charset="-120"/>
                        </a:rPr>
                        <a:t>Anaheim and Garden Grove origin metro</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00" b="1" dirty="0">
                          <a:solidFill>
                            <a:srgbClr val="FFFFFF"/>
                          </a:solidFill>
                          <a:latin typeface="Proxima Nova" pitchFamily="34" charset="0"/>
                          <a:ea typeface="Proxima Nova" pitchFamily="34" charset="-122"/>
                          <a:cs typeface="Proxima Nova" pitchFamily="34" charset="-120"/>
                        </a:rPr>
                        <a:t>Share</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29184">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Southern California (all)</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00" b="1" dirty="0">
                          <a:solidFill>
                            <a:srgbClr val="231F20"/>
                          </a:solidFill>
                          <a:latin typeface="Proxima Nova" pitchFamily="34" charset="0"/>
                          <a:ea typeface="Proxima Nova" pitchFamily="34" charset="-122"/>
                          <a:cs typeface="Proxima Nova" pitchFamily="34" charset="-120"/>
                        </a:rPr>
                        <a:t>55.4%</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Los Angeles-Long Beach-Anaheim (includes Orange County)</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00" b="1" dirty="0">
                          <a:solidFill>
                            <a:srgbClr val="231F20"/>
                          </a:solidFill>
                          <a:latin typeface="Proxima Nova" pitchFamily="34" charset="0"/>
                          <a:ea typeface="Proxima Nova" pitchFamily="34" charset="-122"/>
                          <a:cs typeface="Proxima Nova" pitchFamily="34" charset="-120"/>
                        </a:rPr>
                        <a:t>44.7%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29184">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Los Angeles metro</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26%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Riverside-San Bernardino-Ontario</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26.1%</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Riverside/San Bernardino</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19%</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San Diego-Chula Vista-Carlsbad</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4.1%</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San Diego</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Phoenix</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2.3%</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San Francisco</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3%</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Las Vegas</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1.9%</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Phoenix</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Slightly under 3%</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San Francisco-Oakland</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1.3%</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Northern California</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8%</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Other western states</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15%</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Rest of the U.S.</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Almost 13%</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International</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9.1% (4.6M)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graphicFrame>
        <p:nvGraphicFramePr>
          <p:cNvPr id="69" name="Table 1"/>
          <p:cNvGraphicFramePr>
            <a:graphicFrameLocks noGrp="1"/>
          </p:cNvGraphicFramePr>
          <p:nvPr>
            <p:extLst>
              <p:ext uri="{D42A27DB-BD31-4B8C-83A1-F6EECF244321}">
                <p14:modId xmlns:p14="http://schemas.microsoft.com/office/powerpoint/2010/main" val="1579011935"/>
              </p:ext>
            </p:extLst>
          </p:nvPr>
        </p:nvGraphicFramePr>
        <p:xfrm>
          <a:off x="7498080" y="1417320"/>
          <a:ext cx="4144975" cy="914400"/>
        </p:xfrm>
        <a:graphic>
          <a:graphicData uri="http://schemas.openxmlformats.org/drawingml/2006/table">
            <a:tbl>
              <a:tblPr/>
              <a:tblGrid>
                <a:gridCol w="1097280"/>
                <a:gridCol w="822960"/>
                <a:gridCol w="1188720"/>
                <a:gridCol w="1036015"/>
              </a:tblGrid>
              <a:tr h="384048">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International market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850" b="1" dirty="0">
                          <a:solidFill>
                            <a:srgbClr val="FFFFFF"/>
                          </a:solidFill>
                          <a:latin typeface="Proxima Nova" pitchFamily="34" charset="0"/>
                          <a:ea typeface="Proxima Nova" pitchFamily="34" charset="-122"/>
                          <a:cs typeface="Proxima Nova" pitchFamily="34" charset="-120"/>
                        </a:rPr>
                        <a:t>Visitors, 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Home TV market (DMA)</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850" b="1" dirty="0">
                          <a:solidFill>
                            <a:srgbClr val="FFFFFF"/>
                          </a:solidFill>
                          <a:latin typeface="Proxima Nova" pitchFamily="34" charset="0"/>
                          <a:ea typeface="Proxima Nova" pitchFamily="34" charset="-122"/>
                          <a:cs typeface="Proxima Nova" pitchFamily="34" charset="-120"/>
                        </a:rPr>
                        <a:t>Share of domestic trips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Mexico</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850" b="1" dirty="0">
                          <a:solidFill>
                            <a:srgbClr val="231F20"/>
                          </a:solidFill>
                          <a:latin typeface="Proxima Nova" pitchFamily="34" charset="0"/>
                          <a:ea typeface="Proxima Nova" pitchFamily="34" charset="-122"/>
                          <a:cs typeface="Proxima Nova" pitchFamily="34" charset="-120"/>
                        </a:rPr>
                        <a:t>766K</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Los Angeles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850" b="1" dirty="0">
                          <a:solidFill>
                            <a:srgbClr val="231F20"/>
                          </a:solidFill>
                          <a:latin typeface="Proxima Nova" pitchFamily="34" charset="0"/>
                          <a:ea typeface="Proxima Nova" pitchFamily="34" charset="-122"/>
                          <a:cs typeface="Proxima Nova" pitchFamily="34" charset="-120"/>
                        </a:rPr>
                        <a:t>55.6%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Canada</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254K</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Palm Springs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16.3%</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United Kingdom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123K</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San Diego</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4.1%</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Australia</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104K</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Phoenix</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3.0%</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New Zealand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27K</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Rest of world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865K</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6" name="Text 2"/>
          <p:cNvSpPr txBox="1"/>
          <p:nvPr/>
        </p:nvSpPr>
        <p:spPr>
          <a:xfrm>
            <a:off x="7498080" y="4206240"/>
            <a:ext cx="4144975" cy="1463040"/>
          </a:xfrm>
          <a:prstGeom prst="rect">
            <a:avLst/>
          </a:prstGeom>
          <a:noFill/>
          <a:ln/>
        </p:spPr>
        <p:txBody>
          <a:bodyPr wrap="square" lIns="0" tIns="0" rIns="0" bIns="0" rtlCol="0" anchor="t"/>
          <a:lstStyle/>
          <a:p>
            <a:pPr indent="0" marL="0">
              <a:buNone/>
            </a:pPr>
            <a:r>
              <a:rPr lang="en-US" sz="1050" dirty="0">
                <a:solidFill>
                  <a:srgbClr val="231F20"/>
                </a:solidFill>
                <a:latin typeface="Proxima Nova" pitchFamily="34" charset="0"/>
                <a:ea typeface="Proxima Nova" pitchFamily="34" charset="-122"/>
                <a:cs typeface="Proxima Nova" pitchFamily="34" charset="-120"/>
              </a:rPr>
              <a:t>No ZIP codes in Azira: the metro area cannot be split into Anaheim and outside Anaheim. Solution: a custom Symphony pull or a new visitor survey.</a:t>
            </a:r>
            <a:endParaRPr lang="en-US" sz="1050" dirty="0"/>
          </a:p>
        </p:txBody>
      </p:sp>
      <p:sp>
        <p:nvSpPr>
          <p:cNvPr id="7"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CIC Research, Annual Profile of Visitors to Anaheim and Orange County, 2019 (for Visit Anaheim, Apr. 2020); Symphony | Tourism Economics (Azira), Anaheim and Garden Grove, Jan. 1, 2023-Aug. 31, 2026 (pulled Oct. 19, 2026); Tourism Economics, Anaheim and Garden Grove Travel Forecast (Sept. 2026); Symphony | Tourism Economics (Azira), Anaheim and Garden Grove, Jan. 1, 2023-Aug. 31, 2026 (pulled Oct. 19, 2026). Orange County 2019 international leaders: Mexico 848K, Canada 786K (CIC Research, Annual Profile of Visitors to Anaheim and Orange County, 2019 (for Visit Anaheim, Apr. 2020)).</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Question 3. Seasonality: Orange County hotel occupancy by month</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CoStar, % of rooms sold · no monthly county visitor counts are published, so hotel occupancy is the measure</a:t>
            </a:r>
            <a:endParaRPr lang="en-US" sz="120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218895"/>
                <a:gridCol w="822960"/>
                <a:gridCol w="822960"/>
                <a:gridCol w="822960"/>
                <a:gridCol w="822960"/>
                <a:gridCol w="822960"/>
                <a:gridCol w="822960"/>
                <a:gridCol w="822960"/>
                <a:gridCol w="822960"/>
                <a:gridCol w="822960"/>
                <a:gridCol w="822960"/>
                <a:gridCol w="822960"/>
                <a:gridCol w="822960"/>
              </a:tblGrid>
              <a:tr h="310896">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Year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Jan.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Feb.</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Mar.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Apr.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May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June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July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Aug.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Sept.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Oct.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Nov.</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Dec.</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10896">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2019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67.7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75.6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82.0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77.7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74.6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81.2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86.2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80.9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75.3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81.4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74.1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72.1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10896">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2022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51.1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63.4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71.7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73.1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69.2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77.2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80.2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70.4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75.8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77.3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67.4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65.9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10896">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2023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58.4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69.1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74.8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73.7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71.1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76.2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80.7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70.7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73.7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74.6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68.2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68.3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10896">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2024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61.7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68.2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72.1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70.0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68.7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77.0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80.0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73.6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77.2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73.8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70.0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68.0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10896">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63.6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69.8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74.9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70.9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70.6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75.9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81.2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74.9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69.9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76.9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69.3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70.4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10896">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65.5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75.1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78.5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75.1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72.0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77.8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82.6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75.5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75.5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10896">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2023-25 avg.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61.2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69.0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73.9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71.5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70.1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76.4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80.6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73.1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73.6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75.1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69.2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68.9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bl>
          </a:graphicData>
        </a:graphic>
      </p:graphicFrame>
      <p:graphicFrame>
        <p:nvGraphicFramePr>
          <p:cNvPr id="71" name="Table 1"/>
          <p:cNvGraphicFramePr>
            <a:graphicFrameLocks noGrp="1"/>
          </p:cNvGraphicFramePr>
          <p:nvPr>
            <p:extLst>
              <p:ext uri="{D42A27DB-BD31-4B8C-83A1-F6EECF244321}">
                <p14:modId xmlns:p14="http://schemas.microsoft.com/office/powerpoint/2010/main" val="1579011935"/>
              </p:ext>
            </p:extLst>
          </p:nvPr>
        </p:nvGraphicFramePr>
        <p:xfrm>
          <a:off x="548640" y="4069080"/>
          <a:ext cx="11094415" cy="914400"/>
        </p:xfrm>
        <a:graphic>
          <a:graphicData uri="http://schemas.openxmlformats.org/drawingml/2006/table">
            <a:tbl>
              <a:tblPr/>
              <a:tblGrid>
                <a:gridCol w="1218895"/>
                <a:gridCol w="822960"/>
                <a:gridCol w="822960"/>
                <a:gridCol w="822960"/>
                <a:gridCol w="822960"/>
                <a:gridCol w="822960"/>
                <a:gridCol w="822960"/>
                <a:gridCol w="822960"/>
                <a:gridCol w="822960"/>
                <a:gridCol w="822960"/>
                <a:gridCol w="822960"/>
                <a:gridCol w="822960"/>
                <a:gridCol w="822960"/>
              </a:tblGrid>
              <a:tr h="310896">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Year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Jan.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Feb.</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Mar.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Apr.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May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June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July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Aug.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Sept.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Oct.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Nov.</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Dec.</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10896">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2019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$154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$157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$169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$159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$156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$170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$189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$179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$157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$168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$159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$159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10896">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$192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$201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$214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$198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$197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$210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$233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$215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$208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$202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$208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10896">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$196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$211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$231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$215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$211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$228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$246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$223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10896">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2023-25 avg.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$190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$201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$215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$203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$200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$212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$231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$214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$211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$218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$203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$206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bl>
          </a:graphicData>
        </a:graphic>
      </p:graphicFrame>
      <p:sp>
        <p:nvSpPr>
          <p:cNvPr id="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CoStar, Orange County hotel market (monthly data through Sept. 2026; market report Oct. 12, 2026). Lower table: average daily rate. 2020–2021 in the dashboard.</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Question 4. Visitor profile: purpose, party size, children and stay</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CIC Research, Orange County visitors by type of stay, 2019 · the latest county visitor profile</a:t>
            </a:r>
            <a:endParaRPr lang="en-US" sz="120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779215"/>
                <a:gridCol w="1463040"/>
                <a:gridCol w="1463040"/>
                <a:gridCol w="1463040"/>
                <a:gridCol w="1463040"/>
                <a:gridCol w="1463040"/>
              </a:tblGrid>
              <a:tr h="292608">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Measure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Hotel guests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Private home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All overnight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Day visitors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All visitors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29260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Purpose: pleasure or visiting friends and relatives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63.6%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94.7%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76.4%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84.8%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81.2%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9260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Purpose: business or convention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29.0%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18.5%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9.6%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9260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Purpose: special events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6.1%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0.2%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10.5%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9260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Mean travel party size (people)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9260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Children in the travel group</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28.7%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35.9%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31.8%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41.5%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37.0%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9260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Mean nights stayed in Orange County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4.7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4.2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9260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Median age of visitors (years)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41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41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9260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Arrived by air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51.0%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50.3%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50.5%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24.8%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9260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Spending per visitor in Orange County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$670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$303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$555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$54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$268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9260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Median household income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$121,900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$83,900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$110,100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$78,100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$89,500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9260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Southern California resident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17.3%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13.8%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84.7%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55.4%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9260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International visitor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22.4%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9.9%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18.5%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4.1%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9.1%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9260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First-time visitor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17.7%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16.1%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5.3%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9.9%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9260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Visitor volume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12.40M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7.12M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21.48M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28.73M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50.21M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CIC Research, Annual Profile of Visitors to Anaheim and Orange County, 2019 (for Visit Anaheim, Apr. 2020), Table 3</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Question 4. More recent visitor indicators</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Each row names its geography and period · none is a full Orange County profile</a:t>
            </a:r>
            <a:endParaRPr lang="en-US" sz="1200"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560320"/>
                <a:gridCol w="2377440"/>
                <a:gridCol w="3108960"/>
                <a:gridCol w="3047695"/>
              </a:tblGrid>
              <a:tr h="502920">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Measure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Value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Geography and period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Source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5029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Anaheim visitors with children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42.0%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Anaheim, 2019 (hotel leisure groups 62.6%)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CIC Research, Annual Profile of Visitors to Anaheim and Orange County, 2019 (for Visit Anaheim, Apr. 2020)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5029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Anaheim travel party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3.0 people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Anaheim, 2019 (hotel leisure groups 3.6)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CIC Research, Annual Profile of Visitors to Anaheim and Orange County, 2019 (for Visit Anaheim, Apr. 2020)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5029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Average length of stay, domestic</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1.28-1.46 days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Anaheim and Garden Grove, by month, Jan.-Aug.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Symphony | Tourism Economics (Azira), Anaheim and Garden Grove, Jan. 1, 2023-Aug. 31, 2026 (pulled Oct. 19,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5029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Average length of stay, international</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4.99 days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Anaheim and Garden Grove, Jan. 2023-Aug.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Symphony | Tourism Economics (Azira), Anaheim and Garden Grove, Jan. 1, 2023-Aug. 31, 2026 (pulled Oct. 19,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5029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Visitor median household income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$92.5K</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Anaheim and Garden Grove domestic visitors, Jan. 2023-Aug.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Symphony | Tourism Economics (Azira), Anaheim and Garden Grove, Jan. 1, 2023-Aug. 31, 2026 (pulled Oct. 19,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5029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Hotel demand by segment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Transient 59.5%, group 13.3%, contract 1.2%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Orange County hotels, 12 months to Aug. 2026 (occupancy points)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CoStar, Orange County hotel segmentation (12 months to Aug.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5029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Trip purpose, domestic visits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Leisure 214.2M, business 40.8M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California, 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 for Visit California, California Travel Forecast data (Sept.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CIC Research, Annual Profile of Visitors to Anaheim and Orange County, 2019 (for Visit Anaheim, Apr. 2020); Symphony | Tourism Economics (Azira), Anaheim and Garden Grove, Jan. 1, 2023-Aug. 31, 2026 (pulled Oct. 19, 2026); CoStar, Orange County hotel segmentation (12 months to Aug. 2026); Tourism Economics for Visit California, California Travel Forecast data (Sept.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Question 5. Orange County hotel inventory, occupancy and ADR</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CoStar · 2026 is Jan.–Aug. · revenue per available room = occupancy x ADR</a:t>
            </a:r>
            <a:endParaRPr lang="en-US" sz="1200" dirty="0"/>
          </a:p>
        </p:txBody>
      </p:sp>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463040"/>
                <a:gridCol w="2103120"/>
                <a:gridCol w="1828800"/>
                <a:gridCol w="1554480"/>
                <a:gridCol w="1645920"/>
                <a:gridCol w="2499055"/>
              </a:tblGrid>
              <a:tr h="365760">
                <a:tc>
                  <a:txBody>
                    <a:bodyPr/>
                    <a:lstStyle/>
                    <a:p>
                      <a:pPr algn="l" indent="0" marL="0">
                        <a:buNone/>
                      </a:pPr>
                      <a:r>
                        <a:rPr lang="en-US" sz="1050" b="1" dirty="0">
                          <a:solidFill>
                            <a:srgbClr val="FFFFFF"/>
                          </a:solidFill>
                          <a:latin typeface="Proxima Nova" pitchFamily="34" charset="0"/>
                          <a:ea typeface="Proxima Nova" pitchFamily="34" charset="-122"/>
                          <a:cs typeface="Proxima Nova" pitchFamily="34" charset="-120"/>
                        </a:rPr>
                        <a:t>Year</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Rooms available a night (avg.)</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Year-end inventory</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Occupancy</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ADR</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Revenue per available room</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6576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2019</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58,633</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59,172</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77.4%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$165.36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$127.99</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6576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2020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50,674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60,580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44.0%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$135.76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$59.73</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6576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2021</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56,940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61,354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57.1%</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$169.58</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$96.83</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6576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2022</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59,997</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60,858</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70.2%</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$202.31</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$142.02</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6576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2023</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60,005</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60,689</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71.6%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$211.11</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$151.15</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6576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2024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60,353</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60,932</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71.7%</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$207.75</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$148.96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6576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2025</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60,547</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60,550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72.3%</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$209.68</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$151.60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6576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2026 YTD</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60,219</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60,224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75.2%</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$221.67</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$166.70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6576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2026 forecast</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n/a</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n/a</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75.9%</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$221.61</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$168.20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CoStar, Orange County hotel market (monthly data through Sept. 2026; market report Oct. 12, 2026); 2026 forecast: Tourism Economics for Visit California, State and Regional Lodging Forecast (Sept. 2026; CoStar data)</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Compare and contrast: how the visitor sources differ</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Why figures differ by source, and which to use</a:t>
            </a:r>
            <a:endParaRPr lang="en-US" sz="120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554480"/>
                <a:gridCol w="1828800"/>
                <a:gridCol w="1737360"/>
                <a:gridCol w="1828800"/>
                <a:gridCol w="2194560"/>
                <a:gridCol w="1950415"/>
              </a:tblGrid>
              <a:tr h="640080">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Source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Measures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Years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Geography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Method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Use it for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64008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CIC Research</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Visitors, profile, spending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2009-2019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Orange County; Anaheim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Intercept survey, household panel, hotel data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2019 baseline and visitor profile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64008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Tourism Economics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Visitors, spending, jobs, taxes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2021-2025 (county); 2019-2028 (Anaheim)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Orange County; Anaheim; Garden Grove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Economic model from spending, lodging and survey data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Current visitor volume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64008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Dean Runyan Associates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Spending, jobs, taxes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2015-2025p</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California counties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Economic model for Visit California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2019-2025 trend including 2020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64008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Azira (Symphony)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Trips, origins, length of stay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Jan. 2023-Aug.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Anaheim and Garden Grove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Mobile location data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Origins and recent behavior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64008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CoStar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Hotel rooms, occupancy, ADR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1987-Sept.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Orange County market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Hotel census and sample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Hotel capacity and seasonality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CIC Research, Annual Profile of Visitors to Anaheim and Orange County, 2019 (for Visit Anaheim, Apr. 2020); Tourism Economics, Economic Impact of Visitors to Orange County, 2025 (pub. May 2026); Dean Runyan Associates for Visit California, The Economic Impact of Travel in California, 2025p (Apr. 2026), Orange County detail; Symphony | Tourism Economics (Azira), Anaheim and Garden Grove, Jan. 1, 2023-Aug. 31, 2026 (pulled Oct. 19, 2026); CoStar, Orange County hotel market (monthly data through Sept. 2026; market report Oct. 12,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How the numbers are calculated: Orange County tourism</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Each step with its calculation, result and source</a:t>
            </a:r>
            <a:endParaRPr lang="en-US" sz="1200" dirty="0"/>
          </a:p>
        </p:txBody>
      </p:sp>
      <p:graphicFrame>
        <p:nvGraphicFramePr>
          <p:cNvPr id="41"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286000"/>
                <a:gridCol w="5120640"/>
                <a:gridCol w="1280160"/>
                <a:gridCol w="2404872"/>
              </a:tblGrid>
              <a:tr h="384048">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Step</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Calculation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Result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Source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1. Orange County visitors, 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Day 29.2M + overnight 22.1M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51.3M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 Economic Impact of Visitors to Orange County, 2025 (pub. May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2. Change in visitors, 2021-2025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51.3 / 39.0 - 1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+31.5%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 Economic Impact of Visitors to Orange County, 2025 (pub. May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3. Visitor spending vs. 2019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$15,394.2M / $12,673.3M - 1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+21.5%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Dean Runyan Associates for Visit California, The Economic Impact of Travel in California, 2025p (Apr. 2026), Orange County detail</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4. Anaheim visitors, Jan.-June 2026 vs. 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(6.32 + 6.74) / (6.12 + 6.55) - 1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 Anaheim and Garden Grove Travel Forecast (Sept.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5. July occupancy, 2023-2025 average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(80.7 + 80.0 + 81.2) / 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80.6%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CoStar, Orange County hotel market (monthly data through Sept. 2026; market report Oct. 12,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6. Revenue per available room, 2026 YTD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75.2% x $221.67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$166.70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CoStar, Orange County hotel market (monthly data through Sept. 2026; market report Oct. 12,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7. ADR change, 2019 to 2026 YTD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$221.67 / $165.36 - 1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+34.1%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CoStar, Orange County hotel market (monthly data through Sept. 2026; market report Oct. 12,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of Visitors to Orange County, 2025 (pub. May 2026); Dean Runyan Associates for Visit California, The Economic Impact of Travel in California, 2025p (Apr. 2026), Orange County detail; Tourism Economics, Anaheim and Garden Grove Travel Forecast (Sept. 2026); CoStar, Orange County hotel market (monthly data through Sept. 2026; market report Oct. 12,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What it means for OC Vibe: Orange County tourism</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What this insight enhances for OC Vibe, and what OC Vibe needs to act on it</a:t>
            </a:r>
            <a:endParaRPr lang="en-US" sz="1200" dirty="0"/>
          </a:p>
        </p:txBody>
      </p:sp>
      <p:sp>
        <p:nvSpPr>
          <p:cNvPr id="4" name="Shape 2"/>
          <p:cNvSpPr/>
          <p:nvPr/>
        </p:nvSpPr>
        <p:spPr>
          <a:xfrm>
            <a:off x="548640" y="1417320"/>
            <a:ext cx="11094415" cy="914400"/>
          </a:xfrm>
          <a:prstGeom prst="rect">
            <a:avLst/>
          </a:prstGeom>
          <a:solidFill>
            <a:srgbClr val="B4D9E3"/>
          </a:solidFill>
          <a:ln w="12700">
            <a:solidFill>
              <a:srgbClr val="B4D9E3"/>
            </a:solidFill>
            <a:prstDash val="solid"/>
          </a:ln>
        </p:spPr>
      </p:sp>
      <p:sp>
        <p:nvSpPr>
          <p:cNvPr id="5" name="Text 3"/>
          <p:cNvSpPr txBox="1"/>
          <p:nvPr/>
        </p:nvSpPr>
        <p:spPr>
          <a:xfrm>
            <a:off x="685800" y="1463040"/>
            <a:ext cx="1828800" cy="201168"/>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KEY INSIGHT</a:t>
            </a:r>
            <a:endParaRPr lang="en-US" sz="900" dirty="0"/>
          </a:p>
        </p:txBody>
      </p:sp>
      <p:sp>
        <p:nvSpPr>
          <p:cNvPr id="6" name="Text 4"/>
          <p:cNvSpPr txBox="1"/>
          <p:nvPr/>
        </p:nvSpPr>
        <p:spPr>
          <a:xfrm>
            <a:off x="685800" y="1664208"/>
            <a:ext cx="10820095" cy="640080"/>
          </a:xfrm>
          <a:prstGeom prst="rect">
            <a:avLst/>
          </a:prstGeom>
          <a:noFill/>
          <a:ln/>
        </p:spPr>
        <p:txBody>
          <a:bodyPr wrap="square" lIns="0" tIns="0" rIns="0" bIns="0" rtlCol="0" anchor="t"/>
          <a:lstStyle/>
          <a:p>
            <a:pPr indent="0" marL="0">
              <a:buNone/>
            </a:pPr>
            <a:r>
              <a:rPr lang="en-US" sz="1100" dirty="0">
                <a:solidFill>
                  <a:srgbClr val="231F20"/>
                </a:solidFill>
                <a:latin typeface="Proxima Nova" pitchFamily="34" charset="0"/>
                <a:ea typeface="Proxima Nova" pitchFamily="34" charset="-122"/>
                <a:cs typeface="Proxima Nova" pitchFamily="34" charset="-120"/>
              </a:rPr>
              <a:t>Orange County drew </a:t>
            </a:r>
            <a:pPr indent="0" marL="0">
              <a:buNone/>
            </a:pPr>
            <a:r>
              <a:rPr lang="en-US" sz="1100" b="1" dirty="0">
                <a:solidFill>
                  <a:srgbClr val="125C60"/>
                </a:solidFill>
                <a:latin typeface="Proxima Nova" pitchFamily="34" charset="0"/>
                <a:ea typeface="Proxima Nova" pitchFamily="34" charset="-122"/>
                <a:cs typeface="Proxima Nova" pitchFamily="34" charset="-120"/>
              </a:rPr>
              <a:t>51.3M</a:t>
            </a:r>
            <a:pPr indent="0" marL="0">
              <a:buNone/>
            </a:pPr>
            <a:r>
              <a:rPr lang="en-US" sz="1100" dirty="0">
                <a:solidFill>
                  <a:srgbClr val="231F20"/>
                </a:solidFill>
                <a:latin typeface="Proxima Nova" pitchFamily="34" charset="0"/>
                <a:ea typeface="Proxima Nova" pitchFamily="34" charset="-122"/>
                <a:cs typeface="Proxima Nova" pitchFamily="34" charset="-120"/>
              </a:rPr>
              <a:t> visitors in 2025, </a:t>
            </a:r>
            <a:pPr indent="0" marL="0">
              <a:buNone/>
            </a:pPr>
            <a:r>
              <a:rPr lang="en-US" sz="1100" b="1" dirty="0">
                <a:solidFill>
                  <a:srgbClr val="125C60"/>
                </a:solidFill>
                <a:latin typeface="Proxima Nova" pitchFamily="34" charset="0"/>
                <a:ea typeface="Proxima Nova" pitchFamily="34" charset="-122"/>
                <a:cs typeface="Proxima Nova" pitchFamily="34" charset="-120"/>
              </a:rPr>
              <a:t>29.2M</a:t>
            </a:r>
            <a:pPr indent="0" marL="0">
              <a:buNone/>
            </a:pPr>
            <a:r>
              <a:rPr lang="en-US" sz="1100" dirty="0">
                <a:solidFill>
                  <a:srgbClr val="231F20"/>
                </a:solidFill>
                <a:latin typeface="Proxima Nova" pitchFamily="34" charset="0"/>
                <a:ea typeface="Proxima Nova" pitchFamily="34" charset="-122"/>
                <a:cs typeface="Proxima Nova" pitchFamily="34" charset="-120"/>
              </a:rPr>
              <a:t> for the day and </a:t>
            </a:r>
            <a:pPr indent="0" marL="0">
              <a:buNone/>
            </a:pPr>
            <a:r>
              <a:rPr lang="en-US" sz="1100" b="1" dirty="0">
                <a:solidFill>
                  <a:srgbClr val="125C60"/>
                </a:solidFill>
                <a:latin typeface="Proxima Nova" pitchFamily="34" charset="0"/>
                <a:ea typeface="Proxima Nova" pitchFamily="34" charset="-122"/>
                <a:cs typeface="Proxima Nova" pitchFamily="34" charset="-120"/>
              </a:rPr>
              <a:t>22.1M</a:t>
            </a:r>
            <a:pPr indent="0" marL="0">
              <a:buNone/>
            </a:pPr>
            <a:r>
              <a:rPr lang="en-US" sz="1100" dirty="0">
                <a:solidFill>
                  <a:srgbClr val="231F20"/>
                </a:solidFill>
                <a:latin typeface="Proxima Nova" pitchFamily="34" charset="0"/>
                <a:ea typeface="Proxima Nova" pitchFamily="34" charset="-122"/>
                <a:cs typeface="Proxima Nova" pitchFamily="34" charset="-120"/>
              </a:rPr>
              <a:t> overnight, and </a:t>
            </a:r>
            <a:pPr indent="0" marL="0">
              <a:buNone/>
            </a:pPr>
            <a:r>
              <a:rPr lang="en-US" sz="1100" b="1" dirty="0">
                <a:solidFill>
                  <a:srgbClr val="125C60"/>
                </a:solidFill>
                <a:latin typeface="Proxima Nova" pitchFamily="34" charset="0"/>
                <a:ea typeface="Proxima Nova" pitchFamily="34" charset="-122"/>
                <a:cs typeface="Proxima Nova" pitchFamily="34" charset="-120"/>
              </a:rPr>
              <a:t>93.3%</a:t>
            </a:r>
            <a:pPr indent="0" marL="0">
              <a:buNone/>
            </a:pPr>
            <a:r>
              <a:rPr lang="en-US" sz="1100" dirty="0">
                <a:solidFill>
                  <a:srgbClr val="231F20"/>
                </a:solidFill>
                <a:latin typeface="Proxima Nova" pitchFamily="34" charset="0"/>
                <a:ea typeface="Proxima Nova" pitchFamily="34" charset="-122"/>
                <a:cs typeface="Proxima Nova" pitchFamily="34" charset="-120"/>
              </a:rPr>
              <a:t> came from within the U.S. (Tourism Economics). Most come for leisure: in 2019, </a:t>
            </a:r>
            <a:pPr indent="0" marL="0">
              <a:buNone/>
            </a:pPr>
            <a:r>
              <a:rPr lang="en-US" sz="1100" b="1" dirty="0">
                <a:solidFill>
                  <a:srgbClr val="125C60"/>
                </a:solidFill>
                <a:latin typeface="Proxima Nova" pitchFamily="34" charset="0"/>
                <a:ea typeface="Proxima Nova" pitchFamily="34" charset="-122"/>
                <a:cs typeface="Proxima Nova" pitchFamily="34" charset="-120"/>
              </a:rPr>
              <a:t>81.2%</a:t>
            </a:r>
            <a:pPr indent="0" marL="0">
              <a:buNone/>
            </a:pPr>
            <a:r>
              <a:rPr lang="en-US" sz="1100" dirty="0">
                <a:solidFill>
                  <a:srgbClr val="231F20"/>
                </a:solidFill>
                <a:latin typeface="Proxima Nova" pitchFamily="34" charset="0"/>
                <a:ea typeface="Proxima Nova" pitchFamily="34" charset="-122"/>
                <a:cs typeface="Proxima Nova" pitchFamily="34" charset="-120"/>
              </a:rPr>
              <a:t> traveled for pleasure or to see friends and relatives, in parties of </a:t>
            </a:r>
            <a:pPr indent="0" marL="0">
              <a:buNone/>
            </a:pPr>
            <a:r>
              <a:rPr lang="en-US" sz="1100" b="1" dirty="0">
                <a:solidFill>
                  <a:srgbClr val="125C60"/>
                </a:solidFill>
                <a:latin typeface="Proxima Nova" pitchFamily="34" charset="0"/>
                <a:ea typeface="Proxima Nova" pitchFamily="34" charset="-122"/>
                <a:cs typeface="Proxima Nova" pitchFamily="34" charset="-120"/>
              </a:rPr>
              <a:t>2.8</a:t>
            </a:r>
            <a:pPr indent="0" marL="0">
              <a:buNone/>
            </a:pPr>
            <a:r>
              <a:rPr lang="en-US" sz="1100" dirty="0">
                <a:solidFill>
                  <a:srgbClr val="231F20"/>
                </a:solidFill>
                <a:latin typeface="Proxima Nova" pitchFamily="34" charset="0"/>
                <a:ea typeface="Proxima Nova" pitchFamily="34" charset="-122"/>
                <a:cs typeface="Proxima Nova" pitchFamily="34" charset="-120"/>
              </a:rPr>
              <a:t>, and </a:t>
            </a:r>
            <a:pPr indent="0" marL="0">
              <a:buNone/>
            </a:pPr>
            <a:r>
              <a:rPr lang="en-US" sz="1100" b="1" dirty="0">
                <a:solidFill>
                  <a:srgbClr val="125C60"/>
                </a:solidFill>
                <a:latin typeface="Proxima Nova" pitchFamily="34" charset="0"/>
                <a:ea typeface="Proxima Nova" pitchFamily="34" charset="-122"/>
                <a:cs typeface="Proxima Nova" pitchFamily="34" charset="-120"/>
              </a:rPr>
              <a:t>37.0%</a:t>
            </a:r>
            <a:pPr indent="0" marL="0">
              <a:buNone/>
            </a:pPr>
            <a:r>
              <a:rPr lang="en-US" sz="1100" dirty="0">
                <a:solidFill>
                  <a:srgbClr val="231F20"/>
                </a:solidFill>
                <a:latin typeface="Proxima Nova" pitchFamily="34" charset="0"/>
                <a:ea typeface="Proxima Nova" pitchFamily="34" charset="-122"/>
                <a:cs typeface="Proxima Nova" pitchFamily="34" charset="-120"/>
              </a:rPr>
              <a:t> brought children (CIC Research). Hotels filled </a:t>
            </a:r>
            <a:pPr indent="0" marL="0">
              <a:buNone/>
            </a:pPr>
            <a:r>
              <a:rPr lang="en-US" sz="1100" b="1" dirty="0">
                <a:solidFill>
                  <a:srgbClr val="125C60"/>
                </a:solidFill>
                <a:latin typeface="Proxima Nova" pitchFamily="34" charset="0"/>
                <a:ea typeface="Proxima Nova" pitchFamily="34" charset="-122"/>
                <a:cs typeface="Proxima Nova" pitchFamily="34" charset="-120"/>
              </a:rPr>
              <a:t>75.2%</a:t>
            </a:r>
            <a:pPr indent="0" marL="0">
              <a:buNone/>
            </a:pPr>
            <a:r>
              <a:rPr lang="en-US" sz="1100" dirty="0">
                <a:solidFill>
                  <a:srgbClr val="231F20"/>
                </a:solidFill>
                <a:latin typeface="Proxima Nova" pitchFamily="34" charset="0"/>
                <a:ea typeface="Proxima Nova" pitchFamily="34" charset="-122"/>
                <a:cs typeface="Proxima Nova" pitchFamily="34" charset="-120"/>
              </a:rPr>
              <a:t> of </a:t>
            </a:r>
            <a:pPr indent="0" marL="0">
              <a:buNone/>
            </a:pPr>
            <a:r>
              <a:rPr lang="en-US" sz="1100" b="1" dirty="0">
                <a:solidFill>
                  <a:srgbClr val="125C60"/>
                </a:solidFill>
                <a:latin typeface="Proxima Nova" pitchFamily="34" charset="0"/>
                <a:ea typeface="Proxima Nova" pitchFamily="34" charset="-122"/>
                <a:cs typeface="Proxima Nova" pitchFamily="34" charset="-120"/>
              </a:rPr>
              <a:t>60,224 rooms</a:t>
            </a:r>
            <a:pPr indent="0" marL="0">
              <a:buNone/>
            </a:pPr>
            <a:r>
              <a:rPr lang="en-US" sz="1100" dirty="0">
                <a:solidFill>
                  <a:srgbClr val="231F20"/>
                </a:solidFill>
                <a:latin typeface="Proxima Nova" pitchFamily="34" charset="0"/>
                <a:ea typeface="Proxima Nova" pitchFamily="34" charset="-122"/>
                <a:cs typeface="Proxima Nova" pitchFamily="34" charset="-120"/>
              </a:rPr>
              <a:t> at </a:t>
            </a:r>
            <a:pPr indent="0" marL="0">
              <a:buNone/>
            </a:pPr>
            <a:r>
              <a:rPr lang="en-US" sz="1100" b="1" dirty="0">
                <a:solidFill>
                  <a:srgbClr val="125C60"/>
                </a:solidFill>
                <a:latin typeface="Proxima Nova" pitchFamily="34" charset="0"/>
                <a:ea typeface="Proxima Nova" pitchFamily="34" charset="-122"/>
                <a:cs typeface="Proxima Nova" pitchFamily="34" charset="-120"/>
              </a:rPr>
              <a:t>$221.67</a:t>
            </a:r>
            <a:pPr indent="0" marL="0">
              <a:buNone/>
            </a:pPr>
            <a:r>
              <a:rPr lang="en-US" sz="1100" dirty="0">
                <a:solidFill>
                  <a:srgbClr val="231F20"/>
                </a:solidFill>
                <a:latin typeface="Proxima Nova" pitchFamily="34" charset="0"/>
                <a:ea typeface="Proxima Nova" pitchFamily="34" charset="-122"/>
                <a:cs typeface="Proxima Nova" pitchFamily="34" charset="-120"/>
              </a:rPr>
              <a:t> in Jan.-Aug. 2026, with July the busiest month (CoStar).</a:t>
            </a:r>
            <a:endParaRPr lang="en-US" sz="1100" dirty="0"/>
          </a:p>
        </p:txBody>
      </p:sp>
      <p:sp>
        <p:nvSpPr>
          <p:cNvPr id="7" name="Shape 5"/>
          <p:cNvSpPr/>
          <p:nvPr/>
        </p:nvSpPr>
        <p:spPr>
          <a:xfrm>
            <a:off x="548640" y="2468880"/>
            <a:ext cx="5410048" cy="45720"/>
          </a:xfrm>
          <a:prstGeom prst="rect">
            <a:avLst/>
          </a:prstGeom>
          <a:solidFill>
            <a:srgbClr val="43A3A3"/>
          </a:solidFill>
          <a:ln w="12700">
            <a:solidFill>
              <a:srgbClr val="43A3A3"/>
            </a:solidFill>
            <a:prstDash val="solid"/>
          </a:ln>
        </p:spPr>
      </p:sp>
      <p:sp>
        <p:nvSpPr>
          <p:cNvPr id="8" name="Text 6"/>
          <p:cNvSpPr txBox="1"/>
          <p:nvPr/>
        </p:nvSpPr>
        <p:spPr>
          <a:xfrm>
            <a:off x="548640" y="2560320"/>
            <a:ext cx="5410048" cy="256032"/>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WHAT IT ENHANCES</a:t>
            </a:r>
            <a:endParaRPr lang="en-US" sz="1000" dirty="0"/>
          </a:p>
        </p:txBody>
      </p:sp>
      <p:sp>
        <p:nvSpPr>
          <p:cNvPr id="9" name="Text 7"/>
          <p:cNvSpPr txBox="1"/>
          <p:nvPr/>
        </p:nvSpPr>
        <p:spPr>
          <a:xfrm>
            <a:off x="548640" y="2852928"/>
            <a:ext cx="5410048" cy="3063240"/>
          </a:xfrm>
          <a:prstGeom prst="rect">
            <a:avLst/>
          </a:prstGeom>
          <a:noFill/>
          <a:ln/>
        </p:spPr>
        <p:txBody>
          <a:bodyPr wrap="square" lIns="0" tIns="0" rIns="0" bIns="0" rtlCol="0" anchor="t"/>
          <a:lstStyle/>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Strategy: A sized market: </a:t>
            </a:r>
            <a:pPr algn="l" marL="177800" indent="-177800">
              <a:spcAft>
                <a:spcPts val="600"/>
              </a:spcAft>
              <a:buSzPct val="100000"/>
              <a:buChar char="•"/>
            </a:pPr>
            <a:r>
              <a:rPr lang="en-US" sz="1050" b="1" dirty="0">
                <a:solidFill>
                  <a:srgbClr val="125C60"/>
                </a:solidFill>
                <a:latin typeface="Proxima Nova" pitchFamily="34" charset="0"/>
                <a:ea typeface="Proxima Nova" pitchFamily="34" charset="-122"/>
                <a:cs typeface="Proxima Nova" pitchFamily="34" charset="-120"/>
              </a:rPr>
              <a:t>51.3M</a:t>
            </a:r>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 county visitors and </a:t>
            </a:r>
            <a:pPr algn="l" marL="177800" indent="-177800">
              <a:spcAft>
                <a:spcPts val="600"/>
              </a:spcAft>
              <a:buSzPct val="100000"/>
              <a:buChar char="•"/>
            </a:pPr>
            <a:r>
              <a:rPr lang="en-US" sz="1050" b="1" dirty="0">
                <a:solidFill>
                  <a:srgbClr val="125C60"/>
                </a:solidFill>
                <a:latin typeface="Proxima Nova" pitchFamily="34" charset="0"/>
                <a:ea typeface="Proxima Nova" pitchFamily="34" charset="-122"/>
                <a:cs typeface="Proxima Nova" pitchFamily="34" charset="-120"/>
              </a:rPr>
              <a:t>22.1M</a:t>
            </a:r>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 overnight visitors a year (2025).</a:t>
            </a:r>
            <a:endParaRPr lang="en-US" sz="1050" dirty="0"/>
          </a:p>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Programming: Family and leisure audiences dominate: </a:t>
            </a:r>
            <a:pPr algn="l" marL="177800" indent="-177800">
              <a:spcAft>
                <a:spcPts val="600"/>
              </a:spcAft>
              <a:buSzPct val="100000"/>
              <a:buChar char="•"/>
            </a:pPr>
            <a:r>
              <a:rPr lang="en-US" sz="1050" b="1" dirty="0">
                <a:solidFill>
                  <a:srgbClr val="125C60"/>
                </a:solidFill>
                <a:latin typeface="Proxima Nova" pitchFamily="34" charset="0"/>
                <a:ea typeface="Proxima Nova" pitchFamily="34" charset="-122"/>
                <a:cs typeface="Proxima Nova" pitchFamily="34" charset="-120"/>
              </a:rPr>
              <a:t>81.2%</a:t>
            </a:r>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 leisure, </a:t>
            </a:r>
            <a:pPr algn="l" marL="177800" indent="-177800">
              <a:spcAft>
                <a:spcPts val="600"/>
              </a:spcAft>
              <a:buSzPct val="100000"/>
              <a:buChar char="•"/>
            </a:pPr>
            <a:r>
              <a:rPr lang="en-US" sz="1050" b="1" dirty="0">
                <a:solidFill>
                  <a:srgbClr val="125C60"/>
                </a:solidFill>
                <a:latin typeface="Proxima Nova" pitchFamily="34" charset="0"/>
                <a:ea typeface="Proxima Nova" pitchFamily="34" charset="-122"/>
                <a:cs typeface="Proxima Nova" pitchFamily="34" charset="-120"/>
              </a:rPr>
              <a:t>37.0%</a:t>
            </a:r>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 with children, parties of </a:t>
            </a:r>
            <a:pPr algn="l" marL="177800" indent="-177800">
              <a:spcAft>
                <a:spcPts val="600"/>
              </a:spcAft>
              <a:buSzPct val="100000"/>
              <a:buChar char="•"/>
            </a:pPr>
            <a:r>
              <a:rPr lang="en-US" sz="1050" b="1" dirty="0">
                <a:solidFill>
                  <a:srgbClr val="125C60"/>
                </a:solidFill>
                <a:latin typeface="Proxima Nova" pitchFamily="34" charset="0"/>
                <a:ea typeface="Proxima Nova" pitchFamily="34" charset="-122"/>
                <a:cs typeface="Proxima Nova" pitchFamily="34" charset="-120"/>
              </a:rPr>
              <a:t>2.8</a:t>
            </a:r>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 (2019).</a:t>
            </a:r>
            <a:endParaRPr lang="en-US" sz="1050" dirty="0"/>
          </a:p>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Hotels: </a:t>
            </a:r>
            <a:pPr algn="l" marL="177800" indent="-177800">
              <a:spcAft>
                <a:spcPts val="600"/>
              </a:spcAft>
              <a:buSzPct val="100000"/>
              <a:buChar char="•"/>
            </a:pPr>
            <a:r>
              <a:rPr lang="en-US" sz="1050" b="1" dirty="0">
                <a:solidFill>
                  <a:srgbClr val="125C60"/>
                </a:solidFill>
                <a:latin typeface="Proxima Nova" pitchFamily="34" charset="0"/>
                <a:ea typeface="Proxima Nova" pitchFamily="34" charset="-122"/>
                <a:cs typeface="Proxima Nova" pitchFamily="34" charset="-120"/>
              </a:rPr>
              <a:t>60,224</a:t>
            </a:r>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 county hotel rooms at </a:t>
            </a:r>
            <a:pPr algn="l" marL="177800" indent="-177800">
              <a:spcAft>
                <a:spcPts val="600"/>
              </a:spcAft>
              <a:buSzPct val="100000"/>
              <a:buChar char="•"/>
            </a:pPr>
            <a:r>
              <a:rPr lang="en-US" sz="1050" b="1" dirty="0">
                <a:solidFill>
                  <a:srgbClr val="125C60"/>
                </a:solidFill>
                <a:latin typeface="Proxima Nova" pitchFamily="34" charset="0"/>
                <a:ea typeface="Proxima Nova" pitchFamily="34" charset="-122"/>
                <a:cs typeface="Proxima Nova" pitchFamily="34" charset="-120"/>
              </a:rPr>
              <a:t>75.2%</a:t>
            </a:r>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 occupancy (2026 YTD); January, December and February have the most room.</a:t>
            </a:r>
            <a:endParaRPr lang="en-US" sz="1050" dirty="0"/>
          </a:p>
        </p:txBody>
      </p:sp>
      <p:sp>
        <p:nvSpPr>
          <p:cNvPr id="10" name="Shape 8"/>
          <p:cNvSpPr/>
          <p:nvPr/>
        </p:nvSpPr>
        <p:spPr>
          <a:xfrm>
            <a:off x="6233008" y="2468880"/>
            <a:ext cx="5410048" cy="45720"/>
          </a:xfrm>
          <a:prstGeom prst="rect">
            <a:avLst/>
          </a:prstGeom>
          <a:solidFill>
            <a:srgbClr val="125C60"/>
          </a:solidFill>
          <a:ln w="12700">
            <a:solidFill>
              <a:srgbClr val="125C60"/>
            </a:solidFill>
            <a:prstDash val="solid"/>
          </a:ln>
        </p:spPr>
      </p:sp>
      <p:sp>
        <p:nvSpPr>
          <p:cNvPr id="11" name="Text 9"/>
          <p:cNvSpPr txBox="1"/>
          <p:nvPr/>
        </p:nvSpPr>
        <p:spPr>
          <a:xfrm>
            <a:off x="6233008" y="2560320"/>
            <a:ext cx="5410048" cy="256032"/>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WHAT OC VIBE NEEDS</a:t>
            </a:r>
            <a:endParaRPr lang="en-US" sz="1000" dirty="0"/>
          </a:p>
        </p:txBody>
      </p:sp>
      <p:sp>
        <p:nvSpPr>
          <p:cNvPr id="12" name="Text 10"/>
          <p:cNvSpPr txBox="1"/>
          <p:nvPr/>
        </p:nvSpPr>
        <p:spPr>
          <a:xfrm>
            <a:off x="6233008" y="2852928"/>
            <a:ext cx="5410048" cy="3063240"/>
          </a:xfrm>
          <a:prstGeom prst="rect">
            <a:avLst/>
          </a:prstGeom>
          <a:noFill/>
          <a:ln/>
        </p:spPr>
        <p:txBody>
          <a:bodyPr wrap="square" lIns="0" tIns="0" rIns="0" bIns="0" rtlCol="0" anchor="t"/>
          <a:lstStyle/>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Measurement: A current Orange County visitor survey (purpose, party size, children, origins by ZIP) to replace the 2019 baseline.</a:t>
            </a:r>
            <a:endParaRPr lang="en-US" sz="1050" dirty="0"/>
          </a:p>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Measurement: Tourism Economics county estimates for 2019-2020 and 2026 year to date (to be requested from Tourism Economics).</a:t>
            </a:r>
            <a:endParaRPr lang="en-US" sz="1050" dirty="0"/>
          </a:p>
        </p:txBody>
      </p:sp>
      <p:sp>
        <p:nvSpPr>
          <p:cNvPr id="13"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of Visitors to Orange County, 2025 (pub. May 2026); CIC Research, Annual Profile of Visitors to Anaheim and Orange County, 2019 (for Visit Anaheim, Apr. 2020); CoStar, Orange County hotel market (monthly data through Sept. 2026; market report Oct. 12,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Most District 5 visitors stay overnight, and 44% are new</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Who visits · Symphony (Azira) Jan.–May 2026 · Datafy calendar 2024</a:t>
            </a:r>
            <a:endParaRPr lang="en-US" sz="1200" dirty="0"/>
          </a:p>
        </p:txBody>
      </p:sp>
      <p:sp>
        <p:nvSpPr>
          <p:cNvPr id="5" name="Text 2"/>
          <p:cNvSpPr txBox="1"/>
          <p:nvPr/>
        </p:nvSpPr>
        <p:spPr>
          <a:xfrm>
            <a:off x="548640" y="1481328"/>
            <a:ext cx="7086600"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THE LEDE</a:t>
            </a:r>
            <a:endParaRPr lang="en-US" sz="1000" dirty="0"/>
          </a:p>
        </p:txBody>
      </p:sp>
      <p:sp>
        <p:nvSpPr>
          <p:cNvPr id="6" name="Text 3"/>
          <p:cNvSpPr txBox="1"/>
          <p:nvPr/>
        </p:nvSpPr>
        <p:spPr>
          <a:xfrm>
            <a:off x="548640" y="1737360"/>
            <a:ext cx="7086600" cy="1965960"/>
          </a:xfrm>
          <a:prstGeom prst="rect">
            <a:avLst/>
          </a:prstGeom>
          <a:noFill/>
          <a:ln/>
        </p:spPr>
        <p:txBody>
          <a:bodyPr wrap="square" lIns="0" tIns="0" rIns="0" bIns="0" rtlCol="0" anchor="t"/>
          <a:lstStyle/>
          <a:p>
            <a:pPr indent="0" marL="0">
              <a:buNone/>
            </a:pPr>
            <a:r>
              <a:rPr lang="en-US" sz="1350" b="1" dirty="0">
                <a:solidFill>
                  <a:srgbClr val="125C60"/>
                </a:solidFill>
                <a:latin typeface="Proxima Nova" pitchFamily="34" charset="0"/>
                <a:ea typeface="Proxima Nova" pitchFamily="34" charset="-122"/>
                <a:cs typeface="Proxima Nova" pitchFamily="34" charset="-120"/>
              </a:rPr>
              <a:t>ANAHEIM, Calif. (Oct. 13, 2026): </a:t>
            </a:r>
            <a:pPr indent="0" marL="0">
              <a:buNone/>
            </a:pPr>
            <a:r>
              <a:rPr lang="en-US" sz="1350" b="1" dirty="0">
                <a:solidFill>
                  <a:srgbClr val="125C60"/>
                </a:solidFill>
                <a:latin typeface="Proxima Nova" pitchFamily="34" charset="0"/>
                <a:ea typeface="Proxima Nova" pitchFamily="34" charset="-122"/>
                <a:cs typeface="Proxima Nova" pitchFamily="34" charset="-120"/>
              </a:rPr>
              <a:t>85.8%</a:t>
            </a:r>
            <a:pPr indent="0" marL="0">
              <a:buNone/>
            </a:pPr>
            <a:r>
              <a:rPr lang="en-US" sz="1350" dirty="0">
                <a:solidFill>
                  <a:srgbClr val="231F20"/>
                </a:solidFill>
                <a:latin typeface="Proxima Nova" pitchFamily="34" charset="0"/>
                <a:ea typeface="Proxima Nova" pitchFamily="34" charset="-122"/>
                <a:cs typeface="Proxima Nova" pitchFamily="34" charset="-120"/>
              </a:rPr>
              <a:t> of District 5 visitors stay overnight and </a:t>
            </a:r>
            <a:pPr indent="0" marL="0">
              <a:buNone/>
            </a:pPr>
            <a:r>
              <a:rPr lang="en-US" sz="1350" b="1" dirty="0">
                <a:solidFill>
                  <a:srgbClr val="125C60"/>
                </a:solidFill>
                <a:latin typeface="Proxima Nova" pitchFamily="34" charset="0"/>
                <a:ea typeface="Proxima Nova" pitchFamily="34" charset="-122"/>
                <a:cs typeface="Proxima Nova" pitchFamily="34" charset="-120"/>
              </a:rPr>
              <a:t>43.8%</a:t>
            </a:r>
            <a:pPr indent="0" marL="0">
              <a:buNone/>
            </a:pPr>
            <a:r>
              <a:rPr lang="en-US" sz="1350" dirty="0">
                <a:solidFill>
                  <a:srgbClr val="231F20"/>
                </a:solidFill>
                <a:latin typeface="Proxima Nova" pitchFamily="34" charset="0"/>
                <a:ea typeface="Proxima Nova" pitchFamily="34" charset="-122"/>
                <a:cs typeface="Proxima Nova" pitchFamily="34" charset="-120"/>
              </a:rPr>
              <a:t> are first-time visitors. The OC Vibe area already accounts for </a:t>
            </a:r>
            <a:pPr indent="0" marL="0">
              <a:buNone/>
            </a:pPr>
            <a:r>
              <a:rPr lang="en-US" sz="1350" b="1" dirty="0">
                <a:solidFill>
                  <a:srgbClr val="125C60"/>
                </a:solidFill>
                <a:latin typeface="Proxima Nova" pitchFamily="34" charset="0"/>
                <a:ea typeface="Proxima Nova" pitchFamily="34" charset="-122"/>
                <a:cs typeface="Proxima Nova" pitchFamily="34" charset="-120"/>
              </a:rPr>
              <a:t>5.2%</a:t>
            </a:r>
            <a:pPr indent="0" marL="0">
              <a:buNone/>
            </a:pPr>
            <a:r>
              <a:rPr lang="en-US" sz="1350" dirty="0">
                <a:solidFill>
                  <a:srgbClr val="231F20"/>
                </a:solidFill>
                <a:latin typeface="Proxima Nova" pitchFamily="34" charset="0"/>
                <a:ea typeface="Proxima Nova" pitchFamily="34" charset="-122"/>
                <a:cs typeface="Proxima Nova" pitchFamily="34" charset="-120"/>
              </a:rPr>
              <a:t> of Anaheim visitor days.</a:t>
            </a:r>
            <a:endParaRPr lang="en-US" sz="1350" dirty="0"/>
          </a:p>
        </p:txBody>
      </p:sp>
      <p:sp>
        <p:nvSpPr>
          <p:cNvPr id="7" name="Shape 4"/>
          <p:cNvSpPr/>
          <p:nvPr/>
        </p:nvSpPr>
        <p:spPr>
          <a:xfrm>
            <a:off x="548640" y="3822192"/>
            <a:ext cx="7086600" cy="45720"/>
          </a:xfrm>
          <a:prstGeom prst="rect">
            <a:avLst/>
          </a:prstGeom>
          <a:solidFill>
            <a:srgbClr val="125C60"/>
          </a:solidFill>
          <a:ln w="12700">
            <a:solidFill>
              <a:srgbClr val="125C60"/>
            </a:solidFill>
            <a:prstDash val="solid"/>
          </a:ln>
        </p:spPr>
      </p:sp>
      <p:sp>
        <p:nvSpPr>
          <p:cNvPr id="8" name="Text 5"/>
          <p:cNvSpPr txBox="1"/>
          <p:nvPr/>
        </p:nvSpPr>
        <p:spPr>
          <a:xfrm>
            <a:off x="548640" y="3931920"/>
            <a:ext cx="7086600"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WHY IT MATTERS</a:t>
            </a:r>
            <a:endParaRPr lang="en-US" sz="1000" dirty="0"/>
          </a:p>
        </p:txBody>
      </p:sp>
      <p:sp>
        <p:nvSpPr>
          <p:cNvPr id="9" name="Text 6"/>
          <p:cNvSpPr txBox="1"/>
          <p:nvPr/>
        </p:nvSpPr>
        <p:spPr>
          <a:xfrm>
            <a:off x="548640" y="4187952"/>
            <a:ext cx="7086600" cy="1691640"/>
          </a:xfrm>
          <a:prstGeom prst="rect">
            <a:avLst/>
          </a:prstGeom>
          <a:noFill/>
          <a:ln/>
        </p:spPr>
        <p:txBody>
          <a:bodyPr wrap="square" lIns="0" tIns="0" rIns="0" bIns="0" rtlCol="0" anchor="t"/>
          <a:lstStyle/>
          <a:p>
            <a:pPr indent="0" marL="0">
              <a:buNone/>
            </a:pPr>
            <a:r>
              <a:rPr lang="en-US" sz="1250" dirty="0">
                <a:solidFill>
                  <a:srgbClr val="231F20"/>
                </a:solidFill>
                <a:latin typeface="Proxima Nova" pitchFamily="34" charset="0"/>
                <a:ea typeface="Proxima Nova" pitchFamily="34" charset="-122"/>
                <a:cs typeface="Proxima Nova" pitchFamily="34" charset="-120"/>
              </a:rPr>
              <a:t>Knowing who already visits shows OC Vibe where its audience comes from. Most District 5 visitors stay overnight and many are first-time visitors, and the OC Vibe area already appears in </a:t>
            </a:r>
            <a:pPr indent="0" marL="0">
              <a:buNone/>
            </a:pPr>
            <a:r>
              <a:rPr lang="en-US" sz="1250" b="1" dirty="0">
                <a:solidFill>
                  <a:srgbClr val="125C60"/>
                </a:solidFill>
                <a:latin typeface="Proxima Nova" pitchFamily="34" charset="0"/>
                <a:ea typeface="Proxima Nova" pitchFamily="34" charset="-122"/>
                <a:cs typeface="Proxima Nova" pitchFamily="34" charset="-120"/>
              </a:rPr>
              <a:t>5.2%</a:t>
            </a:r>
            <a:pPr indent="0" marL="0">
              <a:buNone/>
            </a:pPr>
            <a:r>
              <a:rPr lang="en-US" sz="1250" dirty="0">
                <a:solidFill>
                  <a:srgbClr val="231F20"/>
                </a:solidFill>
                <a:latin typeface="Proxima Nova" pitchFamily="34" charset="0"/>
                <a:ea typeface="Proxima Nova" pitchFamily="34" charset="-122"/>
                <a:cs typeface="Proxima Nova" pitchFamily="34" charset="-120"/>
              </a:rPr>
              <a:t> of Anaheim visitor days.</a:t>
            </a:r>
            <a:endParaRPr lang="en-US" sz="1250" dirty="0"/>
          </a:p>
        </p:txBody>
      </p:sp>
      <p:sp>
        <p:nvSpPr>
          <p:cNvPr id="10" name="Text 7"/>
          <p:cNvSpPr txBox="1"/>
          <p:nvPr/>
        </p:nvSpPr>
        <p:spPr>
          <a:xfrm>
            <a:off x="8001000" y="1481328"/>
            <a:ext cx="3642055"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BY THE NUMBERS</a:t>
            </a:r>
            <a:endParaRPr lang="en-US" sz="1000" dirty="0"/>
          </a:p>
        </p:txBody>
      </p:sp>
      <p:sp>
        <p:nvSpPr>
          <p:cNvPr id="11" name="news-stat-0"/>
          <p:cNvSpPr/>
          <p:nvPr/>
        </p:nvSpPr>
        <p:spPr>
          <a:xfrm>
            <a:off x="8001000" y="1755648"/>
            <a:ext cx="3642055" cy="1280160"/>
          </a:xfrm>
          <a:prstGeom prst="roundRect">
            <a:avLst>
              <a:gd name="adj" fmla="val 4286"/>
            </a:avLst>
          </a:prstGeom>
          <a:solidFill>
            <a:srgbClr val="FFFFFF"/>
          </a:solidFill>
          <a:ln w="12700">
            <a:solidFill>
              <a:srgbClr val="B4D9E3"/>
            </a:solidFill>
            <a:prstDash val="solid"/>
          </a:ln>
        </p:spPr>
      </p:sp>
      <p:sp>
        <p:nvSpPr>
          <p:cNvPr id="12" name="Text 9"/>
          <p:cNvSpPr txBox="1"/>
          <p:nvPr/>
        </p:nvSpPr>
        <p:spPr>
          <a:xfrm>
            <a:off x="8138160" y="18288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DISTRICT 5, JAN.–MAY 2026</a:t>
            </a:r>
            <a:endParaRPr lang="en-US" sz="850" dirty="0"/>
          </a:p>
        </p:txBody>
      </p:sp>
      <p:sp>
        <p:nvSpPr>
          <p:cNvPr id="13" name="Text 10"/>
          <p:cNvSpPr txBox="1"/>
          <p:nvPr/>
        </p:nvSpPr>
        <p:spPr>
          <a:xfrm>
            <a:off x="8138160" y="20299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85.8%</a:t>
            </a:r>
            <a:endParaRPr lang="en-US" sz="2200" dirty="0"/>
          </a:p>
        </p:txBody>
      </p:sp>
      <p:sp>
        <p:nvSpPr>
          <p:cNvPr id="14" name="Text 11"/>
          <p:cNvSpPr txBox="1"/>
          <p:nvPr/>
        </p:nvSpPr>
        <p:spPr>
          <a:xfrm>
            <a:off x="8138160" y="24505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Stay overnight</a:t>
            </a:r>
            <a:endParaRPr lang="en-US" sz="1050" dirty="0"/>
          </a:p>
        </p:txBody>
      </p:sp>
      <p:sp>
        <p:nvSpPr>
          <p:cNvPr id="15" name="Text 12"/>
          <p:cNvSpPr txBox="1"/>
          <p:nvPr/>
        </p:nvSpPr>
        <p:spPr>
          <a:xfrm>
            <a:off x="8138160" y="27249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Azira via Symphony (2026)</a:t>
            </a:r>
            <a:endParaRPr lang="en-US" sz="750" dirty="0"/>
          </a:p>
        </p:txBody>
      </p:sp>
      <p:sp>
        <p:nvSpPr>
          <p:cNvPr id="16" name="news-stat-1"/>
          <p:cNvSpPr/>
          <p:nvPr/>
        </p:nvSpPr>
        <p:spPr>
          <a:xfrm>
            <a:off x="8001000" y="3127248"/>
            <a:ext cx="3642055" cy="1280160"/>
          </a:xfrm>
          <a:prstGeom prst="roundRect">
            <a:avLst>
              <a:gd name="adj" fmla="val 4286"/>
            </a:avLst>
          </a:prstGeom>
          <a:solidFill>
            <a:srgbClr val="FFFFFF"/>
          </a:solidFill>
          <a:ln w="12700">
            <a:solidFill>
              <a:srgbClr val="B4D9E3"/>
            </a:solidFill>
            <a:prstDash val="solid"/>
          </a:ln>
        </p:spPr>
      </p:sp>
      <p:sp>
        <p:nvSpPr>
          <p:cNvPr id="17" name="Text 14"/>
          <p:cNvSpPr txBox="1"/>
          <p:nvPr/>
        </p:nvSpPr>
        <p:spPr>
          <a:xfrm>
            <a:off x="8138160" y="32004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DISTRICT 5, JAN.–MAY 2026</a:t>
            </a:r>
            <a:endParaRPr lang="en-US" sz="850" dirty="0"/>
          </a:p>
        </p:txBody>
      </p:sp>
      <p:sp>
        <p:nvSpPr>
          <p:cNvPr id="18" name="Text 15"/>
          <p:cNvSpPr txBox="1"/>
          <p:nvPr/>
        </p:nvSpPr>
        <p:spPr>
          <a:xfrm>
            <a:off x="8138160" y="34015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$85.7K</a:t>
            </a:r>
            <a:endParaRPr lang="en-US" sz="2200" dirty="0"/>
          </a:p>
        </p:txBody>
      </p:sp>
      <p:sp>
        <p:nvSpPr>
          <p:cNvPr id="19" name="Text 16"/>
          <p:cNvSpPr txBox="1"/>
          <p:nvPr/>
        </p:nvSpPr>
        <p:spPr>
          <a:xfrm>
            <a:off x="8138160" y="38221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Median household income</a:t>
            </a:r>
            <a:endParaRPr lang="en-US" sz="1050" dirty="0"/>
          </a:p>
        </p:txBody>
      </p:sp>
      <p:sp>
        <p:nvSpPr>
          <p:cNvPr id="20" name="Text 17"/>
          <p:cNvSpPr txBox="1"/>
          <p:nvPr/>
        </p:nvSpPr>
        <p:spPr>
          <a:xfrm>
            <a:off x="8138160" y="40965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Azira (2026); U.S. Census</a:t>
            </a:r>
            <a:endParaRPr lang="en-US" sz="750" dirty="0"/>
          </a:p>
        </p:txBody>
      </p:sp>
      <p:sp>
        <p:nvSpPr>
          <p:cNvPr id="21" name="news-stat-2"/>
          <p:cNvSpPr/>
          <p:nvPr/>
        </p:nvSpPr>
        <p:spPr>
          <a:xfrm>
            <a:off x="8001000" y="4498848"/>
            <a:ext cx="3642055" cy="1280160"/>
          </a:xfrm>
          <a:prstGeom prst="roundRect">
            <a:avLst>
              <a:gd name="adj" fmla="val 4286"/>
            </a:avLst>
          </a:prstGeom>
          <a:solidFill>
            <a:srgbClr val="FFFFFF"/>
          </a:solidFill>
          <a:ln w="12700">
            <a:solidFill>
              <a:srgbClr val="B4D9E3"/>
            </a:solidFill>
            <a:prstDash val="solid"/>
          </a:ln>
        </p:spPr>
      </p:sp>
      <p:sp>
        <p:nvSpPr>
          <p:cNvPr id="22" name="Text 19"/>
          <p:cNvSpPr txBox="1"/>
          <p:nvPr/>
        </p:nvSpPr>
        <p:spPr>
          <a:xfrm>
            <a:off x="8138160" y="45720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OC VIBE AREA, 2024</a:t>
            </a:r>
            <a:endParaRPr lang="en-US" sz="850" dirty="0"/>
          </a:p>
        </p:txBody>
      </p:sp>
      <p:sp>
        <p:nvSpPr>
          <p:cNvPr id="23" name="Text 20"/>
          <p:cNvSpPr txBox="1"/>
          <p:nvPr/>
        </p:nvSpPr>
        <p:spPr>
          <a:xfrm>
            <a:off x="8138160" y="47731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5.2%</a:t>
            </a:r>
            <a:endParaRPr lang="en-US" sz="2200" dirty="0"/>
          </a:p>
        </p:txBody>
      </p:sp>
      <p:sp>
        <p:nvSpPr>
          <p:cNvPr id="24" name="Text 21"/>
          <p:cNvSpPr txBox="1"/>
          <p:nvPr/>
        </p:nvSpPr>
        <p:spPr>
          <a:xfrm>
            <a:off x="8138160" y="51937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Share of Anaheim visitor days</a:t>
            </a:r>
            <a:endParaRPr lang="en-US" sz="1050" dirty="0"/>
          </a:p>
        </p:txBody>
      </p:sp>
      <p:sp>
        <p:nvSpPr>
          <p:cNvPr id="25" name="Text 22"/>
          <p:cNvSpPr txBox="1"/>
          <p:nvPr/>
        </p:nvSpPr>
        <p:spPr>
          <a:xfrm>
            <a:off x="8138160" y="54681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Datafy (2024)</a:t>
            </a:r>
            <a:endParaRPr lang="en-US" sz="750" dirty="0"/>
          </a:p>
        </p:txBody>
      </p:sp>
      <p:sp>
        <p:nvSpPr>
          <p:cNvPr id="2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Azira via Symphony (District 5, Jan. 1–May 31, 2026; domestic visitors, Aug. 2026); Datafy Anaheim visitor report (calendar 2024)</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The details: Who visits</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who, what, when, where, why and how, each with its figure, source and date</a:t>
            </a:r>
            <a:endParaRPr lang="en-US" sz="1200" dirty="0"/>
          </a:p>
        </p:txBody>
      </p:sp>
      <p:sp>
        <p:nvSpPr>
          <p:cNvPr id="4" name="detail-card-0"/>
          <p:cNvSpPr/>
          <p:nvPr/>
        </p:nvSpPr>
        <p:spPr>
          <a:xfrm>
            <a:off x="548640" y="1417320"/>
            <a:ext cx="3588410" cy="2176272"/>
          </a:xfrm>
          <a:prstGeom prst="rect">
            <a:avLst/>
          </a:prstGeom>
          <a:solidFill>
            <a:srgbClr val="FFFFFF"/>
          </a:solidFill>
          <a:ln w="12700">
            <a:solidFill>
              <a:srgbClr val="B4D9E3"/>
            </a:solidFill>
            <a:prstDash val="solid"/>
          </a:ln>
        </p:spPr>
      </p:sp>
      <p:sp>
        <p:nvSpPr>
          <p:cNvPr id="5" name="Shape 3"/>
          <p:cNvSpPr/>
          <p:nvPr/>
        </p:nvSpPr>
        <p:spPr>
          <a:xfrm>
            <a:off x="548640" y="1417320"/>
            <a:ext cx="3588410" cy="64008"/>
          </a:xfrm>
          <a:prstGeom prst="rect">
            <a:avLst/>
          </a:prstGeom>
          <a:solidFill>
            <a:srgbClr val="43A3A3"/>
          </a:solidFill>
          <a:ln w="12700">
            <a:solidFill>
              <a:srgbClr val="43A3A3"/>
            </a:solidFill>
            <a:prstDash val="solid"/>
          </a:ln>
        </p:spPr>
      </p:sp>
      <p:sp>
        <p:nvSpPr>
          <p:cNvPr id="6" name="Text 4"/>
          <p:cNvSpPr txBox="1"/>
          <p:nvPr/>
        </p:nvSpPr>
        <p:spPr>
          <a:xfrm>
            <a:off x="685800"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WHO</a:t>
            </a:r>
            <a:endParaRPr lang="en-US" sz="900" dirty="0"/>
          </a:p>
        </p:txBody>
      </p:sp>
      <p:sp>
        <p:nvSpPr>
          <p:cNvPr id="7" name="Text 5"/>
          <p:cNvSpPr txBox="1"/>
          <p:nvPr/>
        </p:nvSpPr>
        <p:spPr>
          <a:xfrm>
            <a:off x="685800"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85.8%</a:t>
            </a:r>
            <a:endParaRPr lang="en-US" sz="2200" dirty="0"/>
          </a:p>
        </p:txBody>
      </p:sp>
      <p:sp>
        <p:nvSpPr>
          <p:cNvPr id="8" name="Text 6"/>
          <p:cNvSpPr txBox="1"/>
          <p:nvPr/>
        </p:nvSpPr>
        <p:spPr>
          <a:xfrm>
            <a:off x="685800"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of District 5 visitors stay overnight</a:t>
            </a:r>
            <a:endParaRPr lang="en-US" sz="1000" dirty="0"/>
          </a:p>
        </p:txBody>
      </p:sp>
      <p:sp>
        <p:nvSpPr>
          <p:cNvPr id="9" name="Text 7"/>
          <p:cNvSpPr txBox="1"/>
          <p:nvPr/>
        </p:nvSpPr>
        <p:spPr>
          <a:xfrm>
            <a:off x="685800"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Visitors to Council District 5 (where OC Vibe sits) and to Anaheim overall, by origin market.</a:t>
            </a:r>
            <a:endParaRPr lang="en-US" sz="950" dirty="0"/>
          </a:p>
        </p:txBody>
      </p:sp>
      <p:sp>
        <p:nvSpPr>
          <p:cNvPr id="10" name="Text 8"/>
          <p:cNvSpPr txBox="1"/>
          <p:nvPr/>
        </p:nvSpPr>
        <p:spPr>
          <a:xfrm>
            <a:off x="685800"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Azira via Symphony (District 5, Jan. 1–May 31, 2026)</a:t>
            </a:r>
            <a:endParaRPr lang="en-US" sz="700" dirty="0"/>
          </a:p>
        </p:txBody>
      </p:sp>
      <p:sp>
        <p:nvSpPr>
          <p:cNvPr id="11" name="detail-card-1"/>
          <p:cNvSpPr/>
          <p:nvPr/>
        </p:nvSpPr>
        <p:spPr>
          <a:xfrm>
            <a:off x="4301642" y="1417320"/>
            <a:ext cx="3588410" cy="2176272"/>
          </a:xfrm>
          <a:prstGeom prst="rect">
            <a:avLst/>
          </a:prstGeom>
          <a:solidFill>
            <a:srgbClr val="FFFFFF"/>
          </a:solidFill>
          <a:ln w="12700">
            <a:solidFill>
              <a:srgbClr val="B4D9E3"/>
            </a:solidFill>
            <a:prstDash val="solid"/>
          </a:ln>
        </p:spPr>
      </p:sp>
      <p:sp>
        <p:nvSpPr>
          <p:cNvPr id="12" name="Shape 10"/>
          <p:cNvSpPr/>
          <p:nvPr/>
        </p:nvSpPr>
        <p:spPr>
          <a:xfrm>
            <a:off x="4301642" y="1417320"/>
            <a:ext cx="3588410" cy="64008"/>
          </a:xfrm>
          <a:prstGeom prst="rect">
            <a:avLst/>
          </a:prstGeom>
          <a:solidFill>
            <a:srgbClr val="43A3A3"/>
          </a:solidFill>
          <a:ln w="12700">
            <a:solidFill>
              <a:srgbClr val="43A3A3"/>
            </a:solidFill>
            <a:prstDash val="solid"/>
          </a:ln>
        </p:spPr>
      </p:sp>
      <p:sp>
        <p:nvSpPr>
          <p:cNvPr id="13" name="Text 11"/>
          <p:cNvSpPr txBox="1"/>
          <p:nvPr/>
        </p:nvSpPr>
        <p:spPr>
          <a:xfrm>
            <a:off x="4438802"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WHAT</a:t>
            </a:r>
            <a:endParaRPr lang="en-US" sz="900" dirty="0"/>
          </a:p>
        </p:txBody>
      </p:sp>
      <p:sp>
        <p:nvSpPr>
          <p:cNvPr id="14" name="Text 12"/>
          <p:cNvSpPr txBox="1"/>
          <p:nvPr/>
        </p:nvSpPr>
        <p:spPr>
          <a:xfrm>
            <a:off x="4438802"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43.8%</a:t>
            </a:r>
            <a:endParaRPr lang="en-US" sz="2200" dirty="0"/>
          </a:p>
        </p:txBody>
      </p:sp>
      <p:sp>
        <p:nvSpPr>
          <p:cNvPr id="15" name="Text 13"/>
          <p:cNvSpPr txBox="1"/>
          <p:nvPr/>
        </p:nvSpPr>
        <p:spPr>
          <a:xfrm>
            <a:off x="4438802"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are first-time visitors</a:t>
            </a:r>
            <a:endParaRPr lang="en-US" sz="1000" dirty="0"/>
          </a:p>
        </p:txBody>
      </p:sp>
      <p:sp>
        <p:nvSpPr>
          <p:cNvPr id="16" name="Text 14"/>
          <p:cNvSpPr txBox="1"/>
          <p:nvPr/>
        </p:nvSpPr>
        <p:spPr>
          <a:xfrm>
            <a:off x="4438802" y="2551176"/>
            <a:ext cx="3314090" cy="731520"/>
          </a:xfrm>
          <a:prstGeom prst="rect">
            <a:avLst/>
          </a:prstGeom>
          <a:noFill/>
          <a:ln/>
        </p:spPr>
        <p:txBody>
          <a:bodyPr wrap="square" lIns="0" tIns="0" rIns="0" bIns="0" rtlCol="0" anchor="t">
            <a:normAutofit/>
          </a:bodyPr>
          <a:lstStyle/>
          <a:p>
            <a:pPr indent="0" marL="0">
              <a:buNone/>
            </a:pPr>
            <a:r>
              <a:rPr lang="en-US" sz="950" b="1" dirty="0">
                <a:solidFill>
                  <a:srgbClr val="125C60"/>
                </a:solidFill>
                <a:latin typeface="Proxima Nova" pitchFamily="34" charset="0"/>
                <a:ea typeface="Proxima Nova" pitchFamily="34" charset="-122"/>
                <a:cs typeface="Proxima Nova" pitchFamily="34" charset="-120"/>
              </a:rPr>
              <a:t>85.8%</a:t>
            </a:r>
            <a:pPr indent="0" marL="0">
              <a:buNone/>
            </a:pPr>
            <a:r>
              <a:rPr lang="en-US" sz="950" dirty="0">
                <a:solidFill>
                  <a:srgbClr val="231F20"/>
                </a:solidFill>
                <a:latin typeface="Proxima Nova" pitchFamily="34" charset="0"/>
                <a:ea typeface="Proxima Nova" pitchFamily="34" charset="-122"/>
                <a:cs typeface="Proxima Nova" pitchFamily="34" charset="-120"/>
              </a:rPr>
              <a:t> stay overnight, </a:t>
            </a:r>
            <a:pPr indent="0" marL="0">
              <a:buNone/>
            </a:pPr>
            <a:r>
              <a:rPr lang="en-US" sz="950" b="1" dirty="0">
                <a:solidFill>
                  <a:srgbClr val="125C60"/>
                </a:solidFill>
                <a:latin typeface="Proxima Nova" pitchFamily="34" charset="0"/>
                <a:ea typeface="Proxima Nova" pitchFamily="34" charset="-122"/>
                <a:cs typeface="Proxima Nova" pitchFamily="34" charset="-120"/>
              </a:rPr>
              <a:t>43.8%</a:t>
            </a:r>
            <a:pPr indent="0" marL="0">
              <a:buNone/>
            </a:pPr>
            <a:r>
              <a:rPr lang="en-US" sz="950" dirty="0">
                <a:solidFill>
                  <a:srgbClr val="231F20"/>
                </a:solidFill>
                <a:latin typeface="Proxima Nova" pitchFamily="34" charset="0"/>
                <a:ea typeface="Proxima Nova" pitchFamily="34" charset="-122"/>
                <a:cs typeface="Proxima Nova" pitchFamily="34" charset="-120"/>
              </a:rPr>
              <a:t> are first-time visitors, </a:t>
            </a:r>
            <a:pPr indent="0" marL="0">
              <a:buNone/>
            </a:pPr>
            <a:r>
              <a:rPr lang="en-US" sz="950" b="1" dirty="0">
                <a:solidFill>
                  <a:srgbClr val="125C60"/>
                </a:solidFill>
                <a:latin typeface="Proxima Nova" pitchFamily="34" charset="0"/>
                <a:ea typeface="Proxima Nova" pitchFamily="34" charset="-122"/>
                <a:cs typeface="Proxima Nova" pitchFamily="34" charset="-120"/>
              </a:rPr>
              <a:t>44%</a:t>
            </a:r>
            <a:pPr indent="0" marL="0">
              <a:buNone/>
            </a:pPr>
            <a:r>
              <a:rPr lang="en-US" sz="950" dirty="0">
                <a:solidFill>
                  <a:srgbClr val="231F20"/>
                </a:solidFill>
                <a:latin typeface="Proxima Nova" pitchFamily="34" charset="0"/>
                <a:ea typeface="Proxima Nova" pitchFamily="34" charset="-122"/>
                <a:cs typeface="Proxima Nova" pitchFamily="34" charset="-120"/>
              </a:rPr>
              <a:t> of domestic visitors come from outside California, and OC Vibe already appears in </a:t>
            </a:r>
            <a:pPr indent="0" marL="0">
              <a:buNone/>
            </a:pPr>
            <a:r>
              <a:rPr lang="en-US" sz="950" b="1" dirty="0">
                <a:solidFill>
                  <a:srgbClr val="125C60"/>
                </a:solidFill>
                <a:latin typeface="Proxima Nova" pitchFamily="34" charset="0"/>
                <a:ea typeface="Proxima Nova" pitchFamily="34" charset="-122"/>
                <a:cs typeface="Proxima Nova" pitchFamily="34" charset="-120"/>
              </a:rPr>
              <a:t>5.2%</a:t>
            </a:r>
            <a:pPr indent="0" marL="0">
              <a:buNone/>
            </a:pPr>
            <a:r>
              <a:rPr lang="en-US" sz="950" dirty="0">
                <a:solidFill>
                  <a:srgbClr val="231F20"/>
                </a:solidFill>
                <a:latin typeface="Proxima Nova" pitchFamily="34" charset="0"/>
                <a:ea typeface="Proxima Nova" pitchFamily="34" charset="-122"/>
                <a:cs typeface="Proxima Nova" pitchFamily="34" charset="-120"/>
              </a:rPr>
              <a:t> of Anaheim visitor days.</a:t>
            </a:r>
            <a:endParaRPr lang="en-US" sz="950" dirty="0"/>
          </a:p>
        </p:txBody>
      </p:sp>
      <p:sp>
        <p:nvSpPr>
          <p:cNvPr id="17" name="Text 15"/>
          <p:cNvSpPr txBox="1"/>
          <p:nvPr/>
        </p:nvSpPr>
        <p:spPr>
          <a:xfrm>
            <a:off x="4438802"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Azira via Symphony (District 5, Jan. 1–May 31, 2026)</a:t>
            </a:r>
            <a:endParaRPr lang="en-US" sz="700" dirty="0"/>
          </a:p>
        </p:txBody>
      </p:sp>
      <p:sp>
        <p:nvSpPr>
          <p:cNvPr id="18" name="detail-card-2"/>
          <p:cNvSpPr/>
          <p:nvPr/>
        </p:nvSpPr>
        <p:spPr>
          <a:xfrm>
            <a:off x="8054645" y="1417320"/>
            <a:ext cx="3588410" cy="2176272"/>
          </a:xfrm>
          <a:prstGeom prst="rect">
            <a:avLst/>
          </a:prstGeom>
          <a:solidFill>
            <a:srgbClr val="FFFFFF"/>
          </a:solidFill>
          <a:ln w="12700">
            <a:solidFill>
              <a:srgbClr val="B4D9E3"/>
            </a:solidFill>
            <a:prstDash val="solid"/>
          </a:ln>
        </p:spPr>
      </p:sp>
      <p:sp>
        <p:nvSpPr>
          <p:cNvPr id="19" name="Shape 17"/>
          <p:cNvSpPr/>
          <p:nvPr/>
        </p:nvSpPr>
        <p:spPr>
          <a:xfrm>
            <a:off x="8054645" y="1417320"/>
            <a:ext cx="3588410" cy="64008"/>
          </a:xfrm>
          <a:prstGeom prst="rect">
            <a:avLst/>
          </a:prstGeom>
          <a:solidFill>
            <a:srgbClr val="43A3A3"/>
          </a:solidFill>
          <a:ln w="12700">
            <a:solidFill>
              <a:srgbClr val="43A3A3"/>
            </a:solidFill>
            <a:prstDash val="solid"/>
          </a:ln>
        </p:spPr>
      </p:sp>
      <p:sp>
        <p:nvSpPr>
          <p:cNvPr id="20" name="Text 18"/>
          <p:cNvSpPr txBox="1"/>
          <p:nvPr/>
        </p:nvSpPr>
        <p:spPr>
          <a:xfrm>
            <a:off x="8191805"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WHEN</a:t>
            </a:r>
            <a:endParaRPr lang="en-US" sz="900" dirty="0"/>
          </a:p>
        </p:txBody>
      </p:sp>
      <p:sp>
        <p:nvSpPr>
          <p:cNvPr id="21" name="Text 19"/>
          <p:cNvSpPr txBox="1"/>
          <p:nvPr/>
        </p:nvSpPr>
        <p:spPr>
          <a:xfrm>
            <a:off x="8191805"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Jan.–May 2026</a:t>
            </a:r>
            <a:endParaRPr lang="en-US" sz="2200" dirty="0"/>
          </a:p>
        </p:txBody>
      </p:sp>
      <p:sp>
        <p:nvSpPr>
          <p:cNvPr id="22" name="Text 20"/>
          <p:cNvSpPr txBox="1"/>
          <p:nvPr/>
        </p:nvSpPr>
        <p:spPr>
          <a:xfrm>
            <a:off x="8191805"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Azira observation period</a:t>
            </a:r>
            <a:endParaRPr lang="en-US" sz="1000" dirty="0"/>
          </a:p>
        </p:txBody>
      </p:sp>
      <p:sp>
        <p:nvSpPr>
          <p:cNvPr id="23" name="Text 21"/>
          <p:cNvSpPr txBox="1"/>
          <p:nvPr/>
        </p:nvSpPr>
        <p:spPr>
          <a:xfrm>
            <a:off x="8191805"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Azira Jan. 1–May 31, 2026; Datafy calendar 2024; Visa August 2026.</a:t>
            </a:r>
            <a:endParaRPr lang="en-US" sz="950" dirty="0"/>
          </a:p>
        </p:txBody>
      </p:sp>
      <p:sp>
        <p:nvSpPr>
          <p:cNvPr id="24" name="Text 22"/>
          <p:cNvSpPr txBox="1"/>
          <p:nvPr/>
        </p:nvSpPr>
        <p:spPr>
          <a:xfrm>
            <a:off x="8191805"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Azira via Symphony (District 5, Jan. 1–May 31, 2026)</a:t>
            </a:r>
            <a:endParaRPr lang="en-US" sz="700" dirty="0"/>
          </a:p>
        </p:txBody>
      </p:sp>
      <p:sp>
        <p:nvSpPr>
          <p:cNvPr id="25" name="detail-card-3"/>
          <p:cNvSpPr/>
          <p:nvPr/>
        </p:nvSpPr>
        <p:spPr>
          <a:xfrm>
            <a:off x="548640" y="3685032"/>
            <a:ext cx="3588410" cy="2176272"/>
          </a:xfrm>
          <a:prstGeom prst="rect">
            <a:avLst/>
          </a:prstGeom>
          <a:solidFill>
            <a:srgbClr val="FFFFFF"/>
          </a:solidFill>
          <a:ln w="12700">
            <a:solidFill>
              <a:srgbClr val="B4D9E3"/>
            </a:solidFill>
            <a:prstDash val="solid"/>
          </a:ln>
        </p:spPr>
      </p:sp>
      <p:sp>
        <p:nvSpPr>
          <p:cNvPr id="26" name="Shape 24"/>
          <p:cNvSpPr/>
          <p:nvPr/>
        </p:nvSpPr>
        <p:spPr>
          <a:xfrm>
            <a:off x="548640" y="3685032"/>
            <a:ext cx="3588410" cy="64008"/>
          </a:xfrm>
          <a:prstGeom prst="rect">
            <a:avLst/>
          </a:prstGeom>
          <a:solidFill>
            <a:srgbClr val="43A3A3"/>
          </a:solidFill>
          <a:ln w="12700">
            <a:solidFill>
              <a:srgbClr val="43A3A3"/>
            </a:solidFill>
            <a:prstDash val="solid"/>
          </a:ln>
        </p:spPr>
      </p:sp>
      <p:sp>
        <p:nvSpPr>
          <p:cNvPr id="27" name="Text 25"/>
          <p:cNvSpPr txBox="1"/>
          <p:nvPr/>
        </p:nvSpPr>
        <p:spPr>
          <a:xfrm>
            <a:off x="685800"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WHERE</a:t>
            </a:r>
            <a:endParaRPr lang="en-US" sz="900" dirty="0"/>
          </a:p>
        </p:txBody>
      </p:sp>
      <p:sp>
        <p:nvSpPr>
          <p:cNvPr id="28" name="Text 26"/>
          <p:cNvSpPr txBox="1"/>
          <p:nvPr/>
        </p:nvSpPr>
        <p:spPr>
          <a:xfrm>
            <a:off x="685800"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44%</a:t>
            </a:r>
            <a:endParaRPr lang="en-US" sz="2200" dirty="0"/>
          </a:p>
        </p:txBody>
      </p:sp>
      <p:sp>
        <p:nvSpPr>
          <p:cNvPr id="29" name="Text 27"/>
          <p:cNvSpPr txBox="1"/>
          <p:nvPr/>
        </p:nvSpPr>
        <p:spPr>
          <a:xfrm>
            <a:off x="685800"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of domestic visitors come from outside California</a:t>
            </a:r>
            <a:endParaRPr lang="en-US" sz="1000" dirty="0"/>
          </a:p>
        </p:txBody>
      </p:sp>
      <p:sp>
        <p:nvSpPr>
          <p:cNvPr id="30" name="Text 28"/>
          <p:cNvSpPr txBox="1"/>
          <p:nvPr/>
        </p:nvSpPr>
        <p:spPr>
          <a:xfrm>
            <a:off x="685800"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District 5, Anaheim, and origin markets across the U.S. and abroad.</a:t>
            </a:r>
            <a:endParaRPr lang="en-US" sz="950" dirty="0"/>
          </a:p>
        </p:txBody>
      </p:sp>
      <p:sp>
        <p:nvSpPr>
          <p:cNvPr id="31" name="Text 29"/>
          <p:cNvSpPr txBox="1"/>
          <p:nvPr/>
        </p:nvSpPr>
        <p:spPr>
          <a:xfrm>
            <a:off x="685800"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Azira via Symphony (domestic visitors, Aug. 2026)</a:t>
            </a:r>
            <a:endParaRPr lang="en-US" sz="700" dirty="0"/>
          </a:p>
        </p:txBody>
      </p:sp>
      <p:sp>
        <p:nvSpPr>
          <p:cNvPr id="32" name="detail-card-4"/>
          <p:cNvSpPr/>
          <p:nvPr/>
        </p:nvSpPr>
        <p:spPr>
          <a:xfrm>
            <a:off x="4301642" y="3685032"/>
            <a:ext cx="3588410" cy="2176272"/>
          </a:xfrm>
          <a:prstGeom prst="rect">
            <a:avLst/>
          </a:prstGeom>
          <a:solidFill>
            <a:srgbClr val="FFFFFF"/>
          </a:solidFill>
          <a:ln w="12700">
            <a:solidFill>
              <a:srgbClr val="B4D9E3"/>
            </a:solidFill>
            <a:prstDash val="solid"/>
          </a:ln>
        </p:spPr>
      </p:sp>
      <p:sp>
        <p:nvSpPr>
          <p:cNvPr id="33" name="Shape 31"/>
          <p:cNvSpPr/>
          <p:nvPr/>
        </p:nvSpPr>
        <p:spPr>
          <a:xfrm>
            <a:off x="4301642" y="3685032"/>
            <a:ext cx="3588410" cy="64008"/>
          </a:xfrm>
          <a:prstGeom prst="rect">
            <a:avLst/>
          </a:prstGeom>
          <a:solidFill>
            <a:srgbClr val="43A3A3"/>
          </a:solidFill>
          <a:ln w="12700">
            <a:solidFill>
              <a:srgbClr val="43A3A3"/>
            </a:solidFill>
            <a:prstDash val="solid"/>
          </a:ln>
        </p:spPr>
      </p:sp>
      <p:sp>
        <p:nvSpPr>
          <p:cNvPr id="34" name="Text 32"/>
          <p:cNvSpPr txBox="1"/>
          <p:nvPr/>
        </p:nvSpPr>
        <p:spPr>
          <a:xfrm>
            <a:off x="4438802"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WHY</a:t>
            </a:r>
            <a:endParaRPr lang="en-US" sz="900" dirty="0"/>
          </a:p>
        </p:txBody>
      </p:sp>
      <p:sp>
        <p:nvSpPr>
          <p:cNvPr id="35" name="Text 33"/>
          <p:cNvSpPr txBox="1"/>
          <p:nvPr/>
        </p:nvSpPr>
        <p:spPr>
          <a:xfrm>
            <a:off x="4438802"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5.2%</a:t>
            </a:r>
            <a:endParaRPr lang="en-US" sz="2200" dirty="0"/>
          </a:p>
        </p:txBody>
      </p:sp>
      <p:sp>
        <p:nvSpPr>
          <p:cNvPr id="36" name="Text 34"/>
          <p:cNvSpPr txBox="1"/>
          <p:nvPr/>
        </p:nvSpPr>
        <p:spPr>
          <a:xfrm>
            <a:off x="4438802"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of Anaheim visitor days include the OC Vibe area</a:t>
            </a:r>
            <a:endParaRPr lang="en-US" sz="1000" dirty="0"/>
          </a:p>
        </p:txBody>
      </p:sp>
      <p:sp>
        <p:nvSpPr>
          <p:cNvPr id="37" name="Text 35"/>
          <p:cNvSpPr txBox="1"/>
          <p:nvPr/>
        </p:nvSpPr>
        <p:spPr>
          <a:xfrm>
            <a:off x="4438802"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Knowing who already comes tells OC Vibe whom to target and how to add a day.</a:t>
            </a:r>
            <a:endParaRPr lang="en-US" sz="950" dirty="0"/>
          </a:p>
        </p:txBody>
      </p:sp>
      <p:sp>
        <p:nvSpPr>
          <p:cNvPr id="38" name="Text 36"/>
          <p:cNvSpPr txBox="1"/>
          <p:nvPr/>
        </p:nvSpPr>
        <p:spPr>
          <a:xfrm>
            <a:off x="4438802"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Datafy Anaheim visitor report (calendar 2024)</a:t>
            </a:r>
            <a:endParaRPr lang="en-US" sz="700" dirty="0"/>
          </a:p>
        </p:txBody>
      </p:sp>
      <p:sp>
        <p:nvSpPr>
          <p:cNvPr id="39" name="detail-card-5"/>
          <p:cNvSpPr/>
          <p:nvPr/>
        </p:nvSpPr>
        <p:spPr>
          <a:xfrm>
            <a:off x="8054645" y="3685032"/>
            <a:ext cx="3588410" cy="2176272"/>
          </a:xfrm>
          <a:prstGeom prst="rect">
            <a:avLst/>
          </a:prstGeom>
          <a:solidFill>
            <a:srgbClr val="FFFFFF"/>
          </a:solidFill>
          <a:ln w="12700">
            <a:solidFill>
              <a:srgbClr val="B4D9E3"/>
            </a:solidFill>
            <a:prstDash val="solid"/>
          </a:ln>
        </p:spPr>
      </p:sp>
      <p:sp>
        <p:nvSpPr>
          <p:cNvPr id="40" name="Shape 38"/>
          <p:cNvSpPr/>
          <p:nvPr/>
        </p:nvSpPr>
        <p:spPr>
          <a:xfrm>
            <a:off x="8054645" y="3685032"/>
            <a:ext cx="3588410" cy="64008"/>
          </a:xfrm>
          <a:prstGeom prst="rect">
            <a:avLst/>
          </a:prstGeom>
          <a:solidFill>
            <a:srgbClr val="43A3A3"/>
          </a:solidFill>
          <a:ln w="12700">
            <a:solidFill>
              <a:srgbClr val="43A3A3"/>
            </a:solidFill>
            <a:prstDash val="solid"/>
          </a:ln>
        </p:spPr>
      </p:sp>
      <p:sp>
        <p:nvSpPr>
          <p:cNvPr id="41" name="Text 39"/>
          <p:cNvSpPr txBox="1"/>
          <p:nvPr/>
        </p:nvSpPr>
        <p:spPr>
          <a:xfrm>
            <a:off x="8191805"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HOW</a:t>
            </a:r>
            <a:endParaRPr lang="en-US" sz="900" dirty="0"/>
          </a:p>
        </p:txBody>
      </p:sp>
      <p:sp>
        <p:nvSpPr>
          <p:cNvPr id="42" name="Text 40"/>
          <p:cNvSpPr txBox="1"/>
          <p:nvPr/>
        </p:nvSpPr>
        <p:spPr>
          <a:xfrm>
            <a:off x="8191805"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3 sources</a:t>
            </a:r>
            <a:endParaRPr lang="en-US" sz="2200" dirty="0"/>
          </a:p>
        </p:txBody>
      </p:sp>
      <p:sp>
        <p:nvSpPr>
          <p:cNvPr id="43" name="Text 41"/>
          <p:cNvSpPr txBox="1"/>
          <p:nvPr/>
        </p:nvSpPr>
        <p:spPr>
          <a:xfrm>
            <a:off x="8191805"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Azira, Datafy and Visa</a:t>
            </a:r>
            <a:endParaRPr lang="en-US" sz="1000" dirty="0"/>
          </a:p>
        </p:txBody>
      </p:sp>
      <p:sp>
        <p:nvSpPr>
          <p:cNvPr id="44" name="Text 42"/>
          <p:cNvSpPr txBox="1"/>
          <p:nvPr/>
        </p:nvSpPr>
        <p:spPr>
          <a:xfrm>
            <a:off x="8191805"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Mobile location data (Azira, Datafy) and card spending by cardholder origin (Visa).</a:t>
            </a:r>
            <a:endParaRPr lang="en-US" sz="950" dirty="0"/>
          </a:p>
        </p:txBody>
      </p:sp>
      <p:sp>
        <p:nvSpPr>
          <p:cNvPr id="45" name="Text 43"/>
          <p:cNvSpPr txBox="1"/>
          <p:nvPr/>
        </p:nvSpPr>
        <p:spPr>
          <a:xfrm>
            <a:off x="8191805"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Azira via Symphony (District 5, Jan. 1–May 31, 2026); Datafy Anaheim visitor report (calendar 2024); Visa Destination Insights via Symphony (Aug. 2026 vs. Aug. 2025)</a:t>
            </a:r>
            <a:endParaRPr lang="en-US" sz="700" dirty="0"/>
          </a:p>
        </p:txBody>
      </p:sp>
      <p:sp>
        <p:nvSpPr>
          <p:cNvPr id="4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Azira via Symphony (District 5, Jan. 1–May 31, 2026; domestic visitors, Aug. 2026); Datafy Anaheim visitor report (calendar 2024); Visa Destination Insights via Symphony (Aug. 2026 vs. Aug. 2025)</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At a glance: Who visits</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data infographic · every figure from this section, with its source and date</a:t>
            </a:r>
            <a:endParaRPr lang="en-US" sz="1200" dirty="0"/>
          </a:p>
        </p:txBody>
      </p:sp>
      <p:sp>
        <p:nvSpPr>
          <p:cNvPr id="4" name="Text 2"/>
          <p:cNvSpPr txBox="1"/>
          <p:nvPr/>
        </p:nvSpPr>
        <p:spPr>
          <a:xfrm>
            <a:off x="548640" y="1417320"/>
            <a:ext cx="11094415" cy="329184"/>
          </a:xfrm>
          <a:prstGeom prst="rect">
            <a:avLst/>
          </a:prstGeom>
          <a:noFill/>
          <a:ln/>
        </p:spPr>
        <p:txBody>
          <a:bodyPr wrap="square" lIns="0" tIns="0" rIns="0" bIns="0" rtlCol="0" anchor="ctr">
            <a:normAutofit/>
          </a:bodyPr>
          <a:lstStyle/>
          <a:p>
            <a:pPr indent="0" marL="0">
              <a:buNone/>
            </a:pPr>
            <a:r>
              <a:rPr lang="en-US" sz="1500" b="1" i="1" dirty="0">
                <a:solidFill>
                  <a:srgbClr val="125C60"/>
                </a:solidFill>
                <a:latin typeface="Proxima Nova" pitchFamily="34" charset="0"/>
                <a:ea typeface="Proxima Nova" pitchFamily="34" charset="-122"/>
                <a:cs typeface="Proxima Nova" pitchFamily="34" charset="-120"/>
              </a:rPr>
              <a:t>Of every 100 District 5 visitors</a:t>
            </a:r>
            <a:endParaRPr lang="en-US" sz="1500" dirty="0"/>
          </a:p>
        </p:txBody>
      </p:sp>
      <p:sp>
        <p:nvSpPr>
          <p:cNvPr id="5" name="Text 3"/>
          <p:cNvSpPr txBox="1"/>
          <p:nvPr/>
        </p:nvSpPr>
        <p:spPr>
          <a:xfrm>
            <a:off x="548640" y="1746504"/>
            <a:ext cx="11094415" cy="237744"/>
          </a:xfrm>
          <a:prstGeom prst="rect">
            <a:avLst/>
          </a:prstGeom>
          <a:noFill/>
          <a:ln/>
        </p:spPr>
        <p:txBody>
          <a:bodyPr wrap="square" lIns="0" tIns="0" rIns="0" bIns="0" rtlCol="0" anchor="ctr">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Each square is one visitor in 100 · rounded from the measured share</a:t>
            </a:r>
            <a:endParaRPr lang="en-US" sz="950" dirty="0"/>
          </a:p>
        </p:txBody>
      </p:sp>
      <p:sp>
        <p:nvSpPr>
          <p:cNvPr id="6" name="Shape 4"/>
          <p:cNvSpPr/>
          <p:nvPr/>
        </p:nvSpPr>
        <p:spPr>
          <a:xfrm>
            <a:off x="548640" y="2075688"/>
            <a:ext cx="219456" cy="219456"/>
          </a:xfrm>
          <a:prstGeom prst="rect">
            <a:avLst/>
          </a:prstGeom>
          <a:solidFill>
            <a:srgbClr val="43A3A3"/>
          </a:solidFill>
          <a:ln w="12700">
            <a:solidFill>
              <a:srgbClr val="43A3A3"/>
            </a:solidFill>
            <a:prstDash val="solid"/>
          </a:ln>
        </p:spPr>
      </p:sp>
      <p:sp>
        <p:nvSpPr>
          <p:cNvPr id="7" name="Shape 5"/>
          <p:cNvSpPr/>
          <p:nvPr/>
        </p:nvSpPr>
        <p:spPr>
          <a:xfrm>
            <a:off x="798820" y="2075688"/>
            <a:ext cx="219456" cy="219456"/>
          </a:xfrm>
          <a:prstGeom prst="rect">
            <a:avLst/>
          </a:prstGeom>
          <a:solidFill>
            <a:srgbClr val="43A3A3"/>
          </a:solidFill>
          <a:ln w="12700">
            <a:solidFill>
              <a:srgbClr val="43A3A3"/>
            </a:solidFill>
            <a:prstDash val="solid"/>
          </a:ln>
        </p:spPr>
      </p:sp>
      <p:sp>
        <p:nvSpPr>
          <p:cNvPr id="8" name="Shape 6"/>
          <p:cNvSpPr/>
          <p:nvPr/>
        </p:nvSpPr>
        <p:spPr>
          <a:xfrm>
            <a:off x="1049000" y="2075688"/>
            <a:ext cx="219456" cy="219456"/>
          </a:xfrm>
          <a:prstGeom prst="rect">
            <a:avLst/>
          </a:prstGeom>
          <a:solidFill>
            <a:srgbClr val="43A3A3"/>
          </a:solidFill>
          <a:ln w="12700">
            <a:solidFill>
              <a:srgbClr val="43A3A3"/>
            </a:solidFill>
            <a:prstDash val="solid"/>
          </a:ln>
        </p:spPr>
      </p:sp>
      <p:sp>
        <p:nvSpPr>
          <p:cNvPr id="9" name="Shape 7"/>
          <p:cNvSpPr/>
          <p:nvPr/>
        </p:nvSpPr>
        <p:spPr>
          <a:xfrm>
            <a:off x="1299180" y="2075688"/>
            <a:ext cx="219456" cy="219456"/>
          </a:xfrm>
          <a:prstGeom prst="rect">
            <a:avLst/>
          </a:prstGeom>
          <a:solidFill>
            <a:srgbClr val="43A3A3"/>
          </a:solidFill>
          <a:ln w="12700">
            <a:solidFill>
              <a:srgbClr val="43A3A3"/>
            </a:solidFill>
            <a:prstDash val="solid"/>
          </a:ln>
        </p:spPr>
      </p:sp>
      <p:sp>
        <p:nvSpPr>
          <p:cNvPr id="10" name="Shape 8"/>
          <p:cNvSpPr/>
          <p:nvPr/>
        </p:nvSpPr>
        <p:spPr>
          <a:xfrm>
            <a:off x="1549359" y="2075688"/>
            <a:ext cx="219456" cy="219456"/>
          </a:xfrm>
          <a:prstGeom prst="rect">
            <a:avLst/>
          </a:prstGeom>
          <a:solidFill>
            <a:srgbClr val="43A3A3"/>
          </a:solidFill>
          <a:ln w="12700">
            <a:solidFill>
              <a:srgbClr val="43A3A3"/>
            </a:solidFill>
            <a:prstDash val="solid"/>
          </a:ln>
        </p:spPr>
      </p:sp>
      <p:sp>
        <p:nvSpPr>
          <p:cNvPr id="11" name="Shape 9"/>
          <p:cNvSpPr/>
          <p:nvPr/>
        </p:nvSpPr>
        <p:spPr>
          <a:xfrm>
            <a:off x="1799539" y="2075688"/>
            <a:ext cx="219456" cy="219456"/>
          </a:xfrm>
          <a:prstGeom prst="rect">
            <a:avLst/>
          </a:prstGeom>
          <a:solidFill>
            <a:srgbClr val="43A3A3"/>
          </a:solidFill>
          <a:ln w="12700">
            <a:solidFill>
              <a:srgbClr val="43A3A3"/>
            </a:solidFill>
            <a:prstDash val="solid"/>
          </a:ln>
        </p:spPr>
      </p:sp>
      <p:sp>
        <p:nvSpPr>
          <p:cNvPr id="12" name="Shape 10"/>
          <p:cNvSpPr/>
          <p:nvPr/>
        </p:nvSpPr>
        <p:spPr>
          <a:xfrm>
            <a:off x="2049719" y="2075688"/>
            <a:ext cx="219456" cy="219456"/>
          </a:xfrm>
          <a:prstGeom prst="rect">
            <a:avLst/>
          </a:prstGeom>
          <a:solidFill>
            <a:srgbClr val="43A3A3"/>
          </a:solidFill>
          <a:ln w="12700">
            <a:solidFill>
              <a:srgbClr val="43A3A3"/>
            </a:solidFill>
            <a:prstDash val="solid"/>
          </a:ln>
        </p:spPr>
      </p:sp>
      <p:sp>
        <p:nvSpPr>
          <p:cNvPr id="13" name="Shape 11"/>
          <p:cNvSpPr/>
          <p:nvPr/>
        </p:nvSpPr>
        <p:spPr>
          <a:xfrm>
            <a:off x="2299899" y="2075688"/>
            <a:ext cx="219456" cy="219456"/>
          </a:xfrm>
          <a:prstGeom prst="rect">
            <a:avLst/>
          </a:prstGeom>
          <a:solidFill>
            <a:srgbClr val="43A3A3"/>
          </a:solidFill>
          <a:ln w="12700">
            <a:solidFill>
              <a:srgbClr val="43A3A3"/>
            </a:solidFill>
            <a:prstDash val="solid"/>
          </a:ln>
        </p:spPr>
      </p:sp>
      <p:sp>
        <p:nvSpPr>
          <p:cNvPr id="14" name="Shape 12"/>
          <p:cNvSpPr/>
          <p:nvPr/>
        </p:nvSpPr>
        <p:spPr>
          <a:xfrm>
            <a:off x="2550079" y="2075688"/>
            <a:ext cx="219456" cy="219456"/>
          </a:xfrm>
          <a:prstGeom prst="rect">
            <a:avLst/>
          </a:prstGeom>
          <a:solidFill>
            <a:srgbClr val="43A3A3"/>
          </a:solidFill>
          <a:ln w="12700">
            <a:solidFill>
              <a:srgbClr val="43A3A3"/>
            </a:solidFill>
            <a:prstDash val="solid"/>
          </a:ln>
        </p:spPr>
      </p:sp>
      <p:sp>
        <p:nvSpPr>
          <p:cNvPr id="15" name="Shape 13"/>
          <p:cNvSpPr/>
          <p:nvPr/>
        </p:nvSpPr>
        <p:spPr>
          <a:xfrm>
            <a:off x="2800259" y="2075688"/>
            <a:ext cx="219456" cy="219456"/>
          </a:xfrm>
          <a:prstGeom prst="rect">
            <a:avLst/>
          </a:prstGeom>
          <a:solidFill>
            <a:srgbClr val="43A3A3"/>
          </a:solidFill>
          <a:ln w="12700">
            <a:solidFill>
              <a:srgbClr val="43A3A3"/>
            </a:solidFill>
            <a:prstDash val="solid"/>
          </a:ln>
        </p:spPr>
      </p:sp>
      <p:sp>
        <p:nvSpPr>
          <p:cNvPr id="16" name="Shape 14"/>
          <p:cNvSpPr/>
          <p:nvPr/>
        </p:nvSpPr>
        <p:spPr>
          <a:xfrm>
            <a:off x="548640" y="2325868"/>
            <a:ext cx="219456" cy="219456"/>
          </a:xfrm>
          <a:prstGeom prst="rect">
            <a:avLst/>
          </a:prstGeom>
          <a:solidFill>
            <a:srgbClr val="43A3A3"/>
          </a:solidFill>
          <a:ln w="12700">
            <a:solidFill>
              <a:srgbClr val="43A3A3"/>
            </a:solidFill>
            <a:prstDash val="solid"/>
          </a:ln>
        </p:spPr>
      </p:sp>
      <p:sp>
        <p:nvSpPr>
          <p:cNvPr id="17" name="Shape 15"/>
          <p:cNvSpPr/>
          <p:nvPr/>
        </p:nvSpPr>
        <p:spPr>
          <a:xfrm>
            <a:off x="798820" y="2325868"/>
            <a:ext cx="219456" cy="219456"/>
          </a:xfrm>
          <a:prstGeom prst="rect">
            <a:avLst/>
          </a:prstGeom>
          <a:solidFill>
            <a:srgbClr val="43A3A3"/>
          </a:solidFill>
          <a:ln w="12700">
            <a:solidFill>
              <a:srgbClr val="43A3A3"/>
            </a:solidFill>
            <a:prstDash val="solid"/>
          </a:ln>
        </p:spPr>
      </p:sp>
      <p:sp>
        <p:nvSpPr>
          <p:cNvPr id="18" name="Shape 16"/>
          <p:cNvSpPr/>
          <p:nvPr/>
        </p:nvSpPr>
        <p:spPr>
          <a:xfrm>
            <a:off x="1049000" y="2325868"/>
            <a:ext cx="219456" cy="219456"/>
          </a:xfrm>
          <a:prstGeom prst="rect">
            <a:avLst/>
          </a:prstGeom>
          <a:solidFill>
            <a:srgbClr val="43A3A3"/>
          </a:solidFill>
          <a:ln w="12700">
            <a:solidFill>
              <a:srgbClr val="43A3A3"/>
            </a:solidFill>
            <a:prstDash val="solid"/>
          </a:ln>
        </p:spPr>
      </p:sp>
      <p:sp>
        <p:nvSpPr>
          <p:cNvPr id="19" name="Shape 17"/>
          <p:cNvSpPr/>
          <p:nvPr/>
        </p:nvSpPr>
        <p:spPr>
          <a:xfrm>
            <a:off x="1299180" y="2325868"/>
            <a:ext cx="219456" cy="219456"/>
          </a:xfrm>
          <a:prstGeom prst="rect">
            <a:avLst/>
          </a:prstGeom>
          <a:solidFill>
            <a:srgbClr val="43A3A3"/>
          </a:solidFill>
          <a:ln w="12700">
            <a:solidFill>
              <a:srgbClr val="43A3A3"/>
            </a:solidFill>
            <a:prstDash val="solid"/>
          </a:ln>
        </p:spPr>
      </p:sp>
      <p:sp>
        <p:nvSpPr>
          <p:cNvPr id="20" name="Shape 18"/>
          <p:cNvSpPr/>
          <p:nvPr/>
        </p:nvSpPr>
        <p:spPr>
          <a:xfrm>
            <a:off x="1549359" y="2325868"/>
            <a:ext cx="219456" cy="219456"/>
          </a:xfrm>
          <a:prstGeom prst="rect">
            <a:avLst/>
          </a:prstGeom>
          <a:solidFill>
            <a:srgbClr val="43A3A3"/>
          </a:solidFill>
          <a:ln w="12700">
            <a:solidFill>
              <a:srgbClr val="43A3A3"/>
            </a:solidFill>
            <a:prstDash val="solid"/>
          </a:ln>
        </p:spPr>
      </p:sp>
      <p:sp>
        <p:nvSpPr>
          <p:cNvPr id="21" name="Shape 19"/>
          <p:cNvSpPr/>
          <p:nvPr/>
        </p:nvSpPr>
        <p:spPr>
          <a:xfrm>
            <a:off x="1799539" y="2325868"/>
            <a:ext cx="219456" cy="219456"/>
          </a:xfrm>
          <a:prstGeom prst="rect">
            <a:avLst/>
          </a:prstGeom>
          <a:solidFill>
            <a:srgbClr val="43A3A3"/>
          </a:solidFill>
          <a:ln w="12700">
            <a:solidFill>
              <a:srgbClr val="43A3A3"/>
            </a:solidFill>
            <a:prstDash val="solid"/>
          </a:ln>
        </p:spPr>
      </p:sp>
      <p:sp>
        <p:nvSpPr>
          <p:cNvPr id="22" name="Shape 20"/>
          <p:cNvSpPr/>
          <p:nvPr/>
        </p:nvSpPr>
        <p:spPr>
          <a:xfrm>
            <a:off x="2049719" y="2325868"/>
            <a:ext cx="219456" cy="219456"/>
          </a:xfrm>
          <a:prstGeom prst="rect">
            <a:avLst/>
          </a:prstGeom>
          <a:solidFill>
            <a:srgbClr val="43A3A3"/>
          </a:solidFill>
          <a:ln w="12700">
            <a:solidFill>
              <a:srgbClr val="43A3A3"/>
            </a:solidFill>
            <a:prstDash val="solid"/>
          </a:ln>
        </p:spPr>
      </p:sp>
      <p:sp>
        <p:nvSpPr>
          <p:cNvPr id="23" name="Shape 21"/>
          <p:cNvSpPr/>
          <p:nvPr/>
        </p:nvSpPr>
        <p:spPr>
          <a:xfrm>
            <a:off x="2299899" y="2325868"/>
            <a:ext cx="219456" cy="219456"/>
          </a:xfrm>
          <a:prstGeom prst="rect">
            <a:avLst/>
          </a:prstGeom>
          <a:solidFill>
            <a:srgbClr val="43A3A3"/>
          </a:solidFill>
          <a:ln w="12700">
            <a:solidFill>
              <a:srgbClr val="43A3A3"/>
            </a:solidFill>
            <a:prstDash val="solid"/>
          </a:ln>
        </p:spPr>
      </p:sp>
      <p:sp>
        <p:nvSpPr>
          <p:cNvPr id="24" name="Shape 22"/>
          <p:cNvSpPr/>
          <p:nvPr/>
        </p:nvSpPr>
        <p:spPr>
          <a:xfrm>
            <a:off x="2550079" y="2325868"/>
            <a:ext cx="219456" cy="219456"/>
          </a:xfrm>
          <a:prstGeom prst="rect">
            <a:avLst/>
          </a:prstGeom>
          <a:solidFill>
            <a:srgbClr val="43A3A3"/>
          </a:solidFill>
          <a:ln w="12700">
            <a:solidFill>
              <a:srgbClr val="43A3A3"/>
            </a:solidFill>
            <a:prstDash val="solid"/>
          </a:ln>
        </p:spPr>
      </p:sp>
      <p:sp>
        <p:nvSpPr>
          <p:cNvPr id="25" name="Shape 23"/>
          <p:cNvSpPr/>
          <p:nvPr/>
        </p:nvSpPr>
        <p:spPr>
          <a:xfrm>
            <a:off x="2800259" y="2325868"/>
            <a:ext cx="219456" cy="219456"/>
          </a:xfrm>
          <a:prstGeom prst="rect">
            <a:avLst/>
          </a:prstGeom>
          <a:solidFill>
            <a:srgbClr val="43A3A3"/>
          </a:solidFill>
          <a:ln w="12700">
            <a:solidFill>
              <a:srgbClr val="43A3A3"/>
            </a:solidFill>
            <a:prstDash val="solid"/>
          </a:ln>
        </p:spPr>
      </p:sp>
      <p:sp>
        <p:nvSpPr>
          <p:cNvPr id="26" name="Shape 24"/>
          <p:cNvSpPr/>
          <p:nvPr/>
        </p:nvSpPr>
        <p:spPr>
          <a:xfrm>
            <a:off x="548640" y="2576048"/>
            <a:ext cx="219456" cy="219456"/>
          </a:xfrm>
          <a:prstGeom prst="rect">
            <a:avLst/>
          </a:prstGeom>
          <a:solidFill>
            <a:srgbClr val="43A3A3"/>
          </a:solidFill>
          <a:ln w="12700">
            <a:solidFill>
              <a:srgbClr val="43A3A3"/>
            </a:solidFill>
            <a:prstDash val="solid"/>
          </a:ln>
        </p:spPr>
      </p:sp>
      <p:sp>
        <p:nvSpPr>
          <p:cNvPr id="27" name="Shape 25"/>
          <p:cNvSpPr/>
          <p:nvPr/>
        </p:nvSpPr>
        <p:spPr>
          <a:xfrm>
            <a:off x="798820" y="2576048"/>
            <a:ext cx="219456" cy="219456"/>
          </a:xfrm>
          <a:prstGeom prst="rect">
            <a:avLst/>
          </a:prstGeom>
          <a:solidFill>
            <a:srgbClr val="43A3A3"/>
          </a:solidFill>
          <a:ln w="12700">
            <a:solidFill>
              <a:srgbClr val="43A3A3"/>
            </a:solidFill>
            <a:prstDash val="solid"/>
          </a:ln>
        </p:spPr>
      </p:sp>
      <p:sp>
        <p:nvSpPr>
          <p:cNvPr id="28" name="Shape 26"/>
          <p:cNvSpPr/>
          <p:nvPr/>
        </p:nvSpPr>
        <p:spPr>
          <a:xfrm>
            <a:off x="1049000" y="2576048"/>
            <a:ext cx="219456" cy="219456"/>
          </a:xfrm>
          <a:prstGeom prst="rect">
            <a:avLst/>
          </a:prstGeom>
          <a:solidFill>
            <a:srgbClr val="43A3A3"/>
          </a:solidFill>
          <a:ln w="12700">
            <a:solidFill>
              <a:srgbClr val="43A3A3"/>
            </a:solidFill>
            <a:prstDash val="solid"/>
          </a:ln>
        </p:spPr>
      </p:sp>
      <p:sp>
        <p:nvSpPr>
          <p:cNvPr id="29" name="Shape 27"/>
          <p:cNvSpPr/>
          <p:nvPr/>
        </p:nvSpPr>
        <p:spPr>
          <a:xfrm>
            <a:off x="1299180" y="2576048"/>
            <a:ext cx="219456" cy="219456"/>
          </a:xfrm>
          <a:prstGeom prst="rect">
            <a:avLst/>
          </a:prstGeom>
          <a:solidFill>
            <a:srgbClr val="43A3A3"/>
          </a:solidFill>
          <a:ln w="12700">
            <a:solidFill>
              <a:srgbClr val="43A3A3"/>
            </a:solidFill>
            <a:prstDash val="solid"/>
          </a:ln>
        </p:spPr>
      </p:sp>
      <p:sp>
        <p:nvSpPr>
          <p:cNvPr id="30" name="Shape 28"/>
          <p:cNvSpPr/>
          <p:nvPr/>
        </p:nvSpPr>
        <p:spPr>
          <a:xfrm>
            <a:off x="1549359" y="2576048"/>
            <a:ext cx="219456" cy="219456"/>
          </a:xfrm>
          <a:prstGeom prst="rect">
            <a:avLst/>
          </a:prstGeom>
          <a:solidFill>
            <a:srgbClr val="43A3A3"/>
          </a:solidFill>
          <a:ln w="12700">
            <a:solidFill>
              <a:srgbClr val="43A3A3"/>
            </a:solidFill>
            <a:prstDash val="solid"/>
          </a:ln>
        </p:spPr>
      </p:sp>
      <p:sp>
        <p:nvSpPr>
          <p:cNvPr id="31" name="Shape 29"/>
          <p:cNvSpPr/>
          <p:nvPr/>
        </p:nvSpPr>
        <p:spPr>
          <a:xfrm>
            <a:off x="1799539" y="2576048"/>
            <a:ext cx="219456" cy="219456"/>
          </a:xfrm>
          <a:prstGeom prst="rect">
            <a:avLst/>
          </a:prstGeom>
          <a:solidFill>
            <a:srgbClr val="43A3A3"/>
          </a:solidFill>
          <a:ln w="12700">
            <a:solidFill>
              <a:srgbClr val="43A3A3"/>
            </a:solidFill>
            <a:prstDash val="solid"/>
          </a:ln>
        </p:spPr>
      </p:sp>
      <p:sp>
        <p:nvSpPr>
          <p:cNvPr id="32" name="Shape 30"/>
          <p:cNvSpPr/>
          <p:nvPr/>
        </p:nvSpPr>
        <p:spPr>
          <a:xfrm>
            <a:off x="2049719" y="2576048"/>
            <a:ext cx="219456" cy="219456"/>
          </a:xfrm>
          <a:prstGeom prst="rect">
            <a:avLst/>
          </a:prstGeom>
          <a:solidFill>
            <a:srgbClr val="43A3A3"/>
          </a:solidFill>
          <a:ln w="12700">
            <a:solidFill>
              <a:srgbClr val="43A3A3"/>
            </a:solidFill>
            <a:prstDash val="solid"/>
          </a:ln>
        </p:spPr>
      </p:sp>
      <p:sp>
        <p:nvSpPr>
          <p:cNvPr id="33" name="Shape 31"/>
          <p:cNvSpPr/>
          <p:nvPr/>
        </p:nvSpPr>
        <p:spPr>
          <a:xfrm>
            <a:off x="2299899" y="2576048"/>
            <a:ext cx="219456" cy="219456"/>
          </a:xfrm>
          <a:prstGeom prst="rect">
            <a:avLst/>
          </a:prstGeom>
          <a:solidFill>
            <a:srgbClr val="43A3A3"/>
          </a:solidFill>
          <a:ln w="12700">
            <a:solidFill>
              <a:srgbClr val="43A3A3"/>
            </a:solidFill>
            <a:prstDash val="solid"/>
          </a:ln>
        </p:spPr>
      </p:sp>
      <p:sp>
        <p:nvSpPr>
          <p:cNvPr id="34" name="Shape 32"/>
          <p:cNvSpPr/>
          <p:nvPr/>
        </p:nvSpPr>
        <p:spPr>
          <a:xfrm>
            <a:off x="2550079" y="2576048"/>
            <a:ext cx="219456" cy="219456"/>
          </a:xfrm>
          <a:prstGeom prst="rect">
            <a:avLst/>
          </a:prstGeom>
          <a:solidFill>
            <a:srgbClr val="43A3A3"/>
          </a:solidFill>
          <a:ln w="12700">
            <a:solidFill>
              <a:srgbClr val="43A3A3"/>
            </a:solidFill>
            <a:prstDash val="solid"/>
          </a:ln>
        </p:spPr>
      </p:sp>
      <p:sp>
        <p:nvSpPr>
          <p:cNvPr id="35" name="Shape 33"/>
          <p:cNvSpPr/>
          <p:nvPr/>
        </p:nvSpPr>
        <p:spPr>
          <a:xfrm>
            <a:off x="2800259" y="2576048"/>
            <a:ext cx="219456" cy="219456"/>
          </a:xfrm>
          <a:prstGeom prst="rect">
            <a:avLst/>
          </a:prstGeom>
          <a:solidFill>
            <a:srgbClr val="43A3A3"/>
          </a:solidFill>
          <a:ln w="12700">
            <a:solidFill>
              <a:srgbClr val="43A3A3"/>
            </a:solidFill>
            <a:prstDash val="solid"/>
          </a:ln>
        </p:spPr>
      </p:sp>
      <p:sp>
        <p:nvSpPr>
          <p:cNvPr id="36" name="Shape 34"/>
          <p:cNvSpPr/>
          <p:nvPr/>
        </p:nvSpPr>
        <p:spPr>
          <a:xfrm>
            <a:off x="548640" y="2826228"/>
            <a:ext cx="219456" cy="219456"/>
          </a:xfrm>
          <a:prstGeom prst="rect">
            <a:avLst/>
          </a:prstGeom>
          <a:solidFill>
            <a:srgbClr val="43A3A3"/>
          </a:solidFill>
          <a:ln w="12700">
            <a:solidFill>
              <a:srgbClr val="43A3A3"/>
            </a:solidFill>
            <a:prstDash val="solid"/>
          </a:ln>
        </p:spPr>
      </p:sp>
      <p:sp>
        <p:nvSpPr>
          <p:cNvPr id="37" name="Shape 35"/>
          <p:cNvSpPr/>
          <p:nvPr/>
        </p:nvSpPr>
        <p:spPr>
          <a:xfrm>
            <a:off x="798820" y="2826228"/>
            <a:ext cx="219456" cy="219456"/>
          </a:xfrm>
          <a:prstGeom prst="rect">
            <a:avLst/>
          </a:prstGeom>
          <a:solidFill>
            <a:srgbClr val="43A3A3"/>
          </a:solidFill>
          <a:ln w="12700">
            <a:solidFill>
              <a:srgbClr val="43A3A3"/>
            </a:solidFill>
            <a:prstDash val="solid"/>
          </a:ln>
        </p:spPr>
      </p:sp>
      <p:sp>
        <p:nvSpPr>
          <p:cNvPr id="38" name="Shape 36"/>
          <p:cNvSpPr/>
          <p:nvPr/>
        </p:nvSpPr>
        <p:spPr>
          <a:xfrm>
            <a:off x="1049000" y="2826228"/>
            <a:ext cx="219456" cy="219456"/>
          </a:xfrm>
          <a:prstGeom prst="rect">
            <a:avLst/>
          </a:prstGeom>
          <a:solidFill>
            <a:srgbClr val="43A3A3"/>
          </a:solidFill>
          <a:ln w="12700">
            <a:solidFill>
              <a:srgbClr val="43A3A3"/>
            </a:solidFill>
            <a:prstDash val="solid"/>
          </a:ln>
        </p:spPr>
      </p:sp>
      <p:sp>
        <p:nvSpPr>
          <p:cNvPr id="39" name="Shape 37"/>
          <p:cNvSpPr/>
          <p:nvPr/>
        </p:nvSpPr>
        <p:spPr>
          <a:xfrm>
            <a:off x="1299180" y="2826228"/>
            <a:ext cx="219456" cy="219456"/>
          </a:xfrm>
          <a:prstGeom prst="rect">
            <a:avLst/>
          </a:prstGeom>
          <a:solidFill>
            <a:srgbClr val="43A3A3"/>
          </a:solidFill>
          <a:ln w="12700">
            <a:solidFill>
              <a:srgbClr val="43A3A3"/>
            </a:solidFill>
            <a:prstDash val="solid"/>
          </a:ln>
        </p:spPr>
      </p:sp>
      <p:sp>
        <p:nvSpPr>
          <p:cNvPr id="40" name="Shape 38"/>
          <p:cNvSpPr/>
          <p:nvPr/>
        </p:nvSpPr>
        <p:spPr>
          <a:xfrm>
            <a:off x="1549359" y="2826228"/>
            <a:ext cx="219456" cy="219456"/>
          </a:xfrm>
          <a:prstGeom prst="rect">
            <a:avLst/>
          </a:prstGeom>
          <a:solidFill>
            <a:srgbClr val="43A3A3"/>
          </a:solidFill>
          <a:ln w="12700">
            <a:solidFill>
              <a:srgbClr val="43A3A3"/>
            </a:solidFill>
            <a:prstDash val="solid"/>
          </a:ln>
        </p:spPr>
      </p:sp>
      <p:sp>
        <p:nvSpPr>
          <p:cNvPr id="41" name="Shape 39"/>
          <p:cNvSpPr/>
          <p:nvPr/>
        </p:nvSpPr>
        <p:spPr>
          <a:xfrm>
            <a:off x="1799539" y="2826228"/>
            <a:ext cx="219456" cy="219456"/>
          </a:xfrm>
          <a:prstGeom prst="rect">
            <a:avLst/>
          </a:prstGeom>
          <a:solidFill>
            <a:srgbClr val="43A3A3"/>
          </a:solidFill>
          <a:ln w="12700">
            <a:solidFill>
              <a:srgbClr val="43A3A3"/>
            </a:solidFill>
            <a:prstDash val="solid"/>
          </a:ln>
        </p:spPr>
      </p:sp>
      <p:sp>
        <p:nvSpPr>
          <p:cNvPr id="42" name="Shape 40"/>
          <p:cNvSpPr/>
          <p:nvPr/>
        </p:nvSpPr>
        <p:spPr>
          <a:xfrm>
            <a:off x="2049719" y="2826228"/>
            <a:ext cx="219456" cy="219456"/>
          </a:xfrm>
          <a:prstGeom prst="rect">
            <a:avLst/>
          </a:prstGeom>
          <a:solidFill>
            <a:srgbClr val="43A3A3"/>
          </a:solidFill>
          <a:ln w="12700">
            <a:solidFill>
              <a:srgbClr val="43A3A3"/>
            </a:solidFill>
            <a:prstDash val="solid"/>
          </a:ln>
        </p:spPr>
      </p:sp>
      <p:sp>
        <p:nvSpPr>
          <p:cNvPr id="43" name="Shape 41"/>
          <p:cNvSpPr/>
          <p:nvPr/>
        </p:nvSpPr>
        <p:spPr>
          <a:xfrm>
            <a:off x="2299899" y="2826228"/>
            <a:ext cx="219456" cy="219456"/>
          </a:xfrm>
          <a:prstGeom prst="rect">
            <a:avLst/>
          </a:prstGeom>
          <a:solidFill>
            <a:srgbClr val="43A3A3"/>
          </a:solidFill>
          <a:ln w="12700">
            <a:solidFill>
              <a:srgbClr val="43A3A3"/>
            </a:solidFill>
            <a:prstDash val="solid"/>
          </a:ln>
        </p:spPr>
      </p:sp>
      <p:sp>
        <p:nvSpPr>
          <p:cNvPr id="44" name="Shape 42"/>
          <p:cNvSpPr/>
          <p:nvPr/>
        </p:nvSpPr>
        <p:spPr>
          <a:xfrm>
            <a:off x="2550079" y="2826228"/>
            <a:ext cx="219456" cy="219456"/>
          </a:xfrm>
          <a:prstGeom prst="rect">
            <a:avLst/>
          </a:prstGeom>
          <a:solidFill>
            <a:srgbClr val="43A3A3"/>
          </a:solidFill>
          <a:ln w="12700">
            <a:solidFill>
              <a:srgbClr val="43A3A3"/>
            </a:solidFill>
            <a:prstDash val="solid"/>
          </a:ln>
        </p:spPr>
      </p:sp>
      <p:sp>
        <p:nvSpPr>
          <p:cNvPr id="45" name="Shape 43"/>
          <p:cNvSpPr/>
          <p:nvPr/>
        </p:nvSpPr>
        <p:spPr>
          <a:xfrm>
            <a:off x="2800259" y="2826228"/>
            <a:ext cx="219456" cy="219456"/>
          </a:xfrm>
          <a:prstGeom prst="rect">
            <a:avLst/>
          </a:prstGeom>
          <a:solidFill>
            <a:srgbClr val="43A3A3"/>
          </a:solidFill>
          <a:ln w="12700">
            <a:solidFill>
              <a:srgbClr val="43A3A3"/>
            </a:solidFill>
            <a:prstDash val="solid"/>
          </a:ln>
        </p:spPr>
      </p:sp>
      <p:sp>
        <p:nvSpPr>
          <p:cNvPr id="46" name="Shape 44"/>
          <p:cNvSpPr/>
          <p:nvPr/>
        </p:nvSpPr>
        <p:spPr>
          <a:xfrm>
            <a:off x="548640" y="3076407"/>
            <a:ext cx="219456" cy="219456"/>
          </a:xfrm>
          <a:prstGeom prst="rect">
            <a:avLst/>
          </a:prstGeom>
          <a:solidFill>
            <a:srgbClr val="43A3A3"/>
          </a:solidFill>
          <a:ln w="12700">
            <a:solidFill>
              <a:srgbClr val="43A3A3"/>
            </a:solidFill>
            <a:prstDash val="solid"/>
          </a:ln>
        </p:spPr>
      </p:sp>
      <p:sp>
        <p:nvSpPr>
          <p:cNvPr id="47" name="Shape 45"/>
          <p:cNvSpPr/>
          <p:nvPr/>
        </p:nvSpPr>
        <p:spPr>
          <a:xfrm>
            <a:off x="798820" y="3076407"/>
            <a:ext cx="219456" cy="219456"/>
          </a:xfrm>
          <a:prstGeom prst="rect">
            <a:avLst/>
          </a:prstGeom>
          <a:solidFill>
            <a:srgbClr val="43A3A3"/>
          </a:solidFill>
          <a:ln w="12700">
            <a:solidFill>
              <a:srgbClr val="43A3A3"/>
            </a:solidFill>
            <a:prstDash val="solid"/>
          </a:ln>
        </p:spPr>
      </p:sp>
      <p:sp>
        <p:nvSpPr>
          <p:cNvPr id="48" name="Shape 46"/>
          <p:cNvSpPr/>
          <p:nvPr/>
        </p:nvSpPr>
        <p:spPr>
          <a:xfrm>
            <a:off x="1049000" y="3076407"/>
            <a:ext cx="219456" cy="219456"/>
          </a:xfrm>
          <a:prstGeom prst="rect">
            <a:avLst/>
          </a:prstGeom>
          <a:solidFill>
            <a:srgbClr val="43A3A3"/>
          </a:solidFill>
          <a:ln w="12700">
            <a:solidFill>
              <a:srgbClr val="43A3A3"/>
            </a:solidFill>
            <a:prstDash val="solid"/>
          </a:ln>
        </p:spPr>
      </p:sp>
      <p:sp>
        <p:nvSpPr>
          <p:cNvPr id="49" name="Shape 47"/>
          <p:cNvSpPr/>
          <p:nvPr/>
        </p:nvSpPr>
        <p:spPr>
          <a:xfrm>
            <a:off x="1299180" y="3076407"/>
            <a:ext cx="219456" cy="219456"/>
          </a:xfrm>
          <a:prstGeom prst="rect">
            <a:avLst/>
          </a:prstGeom>
          <a:solidFill>
            <a:srgbClr val="43A3A3"/>
          </a:solidFill>
          <a:ln w="12700">
            <a:solidFill>
              <a:srgbClr val="43A3A3"/>
            </a:solidFill>
            <a:prstDash val="solid"/>
          </a:ln>
        </p:spPr>
      </p:sp>
      <p:sp>
        <p:nvSpPr>
          <p:cNvPr id="50" name="Shape 48"/>
          <p:cNvSpPr/>
          <p:nvPr/>
        </p:nvSpPr>
        <p:spPr>
          <a:xfrm>
            <a:off x="1549359" y="3076407"/>
            <a:ext cx="219456" cy="219456"/>
          </a:xfrm>
          <a:prstGeom prst="rect">
            <a:avLst/>
          </a:prstGeom>
          <a:solidFill>
            <a:srgbClr val="43A3A3"/>
          </a:solidFill>
          <a:ln w="12700">
            <a:solidFill>
              <a:srgbClr val="43A3A3"/>
            </a:solidFill>
            <a:prstDash val="solid"/>
          </a:ln>
        </p:spPr>
      </p:sp>
      <p:sp>
        <p:nvSpPr>
          <p:cNvPr id="51" name="Shape 49"/>
          <p:cNvSpPr/>
          <p:nvPr/>
        </p:nvSpPr>
        <p:spPr>
          <a:xfrm>
            <a:off x="1799539" y="3076407"/>
            <a:ext cx="219456" cy="219456"/>
          </a:xfrm>
          <a:prstGeom prst="rect">
            <a:avLst/>
          </a:prstGeom>
          <a:solidFill>
            <a:srgbClr val="43A3A3"/>
          </a:solidFill>
          <a:ln w="12700">
            <a:solidFill>
              <a:srgbClr val="43A3A3"/>
            </a:solidFill>
            <a:prstDash val="solid"/>
          </a:ln>
        </p:spPr>
      </p:sp>
      <p:sp>
        <p:nvSpPr>
          <p:cNvPr id="52" name="Shape 50"/>
          <p:cNvSpPr/>
          <p:nvPr/>
        </p:nvSpPr>
        <p:spPr>
          <a:xfrm>
            <a:off x="2049719" y="3076407"/>
            <a:ext cx="219456" cy="219456"/>
          </a:xfrm>
          <a:prstGeom prst="rect">
            <a:avLst/>
          </a:prstGeom>
          <a:solidFill>
            <a:srgbClr val="43A3A3"/>
          </a:solidFill>
          <a:ln w="12700">
            <a:solidFill>
              <a:srgbClr val="43A3A3"/>
            </a:solidFill>
            <a:prstDash val="solid"/>
          </a:ln>
        </p:spPr>
      </p:sp>
      <p:sp>
        <p:nvSpPr>
          <p:cNvPr id="53" name="Shape 51"/>
          <p:cNvSpPr/>
          <p:nvPr/>
        </p:nvSpPr>
        <p:spPr>
          <a:xfrm>
            <a:off x="2299899" y="3076407"/>
            <a:ext cx="219456" cy="219456"/>
          </a:xfrm>
          <a:prstGeom prst="rect">
            <a:avLst/>
          </a:prstGeom>
          <a:solidFill>
            <a:srgbClr val="43A3A3"/>
          </a:solidFill>
          <a:ln w="12700">
            <a:solidFill>
              <a:srgbClr val="43A3A3"/>
            </a:solidFill>
            <a:prstDash val="solid"/>
          </a:ln>
        </p:spPr>
      </p:sp>
      <p:sp>
        <p:nvSpPr>
          <p:cNvPr id="54" name="Shape 52"/>
          <p:cNvSpPr/>
          <p:nvPr/>
        </p:nvSpPr>
        <p:spPr>
          <a:xfrm>
            <a:off x="2550079" y="3076407"/>
            <a:ext cx="219456" cy="219456"/>
          </a:xfrm>
          <a:prstGeom prst="rect">
            <a:avLst/>
          </a:prstGeom>
          <a:solidFill>
            <a:srgbClr val="43A3A3"/>
          </a:solidFill>
          <a:ln w="12700">
            <a:solidFill>
              <a:srgbClr val="43A3A3"/>
            </a:solidFill>
            <a:prstDash val="solid"/>
          </a:ln>
        </p:spPr>
      </p:sp>
      <p:sp>
        <p:nvSpPr>
          <p:cNvPr id="55" name="Shape 53"/>
          <p:cNvSpPr/>
          <p:nvPr/>
        </p:nvSpPr>
        <p:spPr>
          <a:xfrm>
            <a:off x="2800259" y="3076407"/>
            <a:ext cx="219456" cy="219456"/>
          </a:xfrm>
          <a:prstGeom prst="rect">
            <a:avLst/>
          </a:prstGeom>
          <a:solidFill>
            <a:srgbClr val="43A3A3"/>
          </a:solidFill>
          <a:ln w="12700">
            <a:solidFill>
              <a:srgbClr val="43A3A3"/>
            </a:solidFill>
            <a:prstDash val="solid"/>
          </a:ln>
        </p:spPr>
      </p:sp>
      <p:sp>
        <p:nvSpPr>
          <p:cNvPr id="56" name="Shape 54"/>
          <p:cNvSpPr/>
          <p:nvPr/>
        </p:nvSpPr>
        <p:spPr>
          <a:xfrm>
            <a:off x="548640" y="3326587"/>
            <a:ext cx="219456" cy="219456"/>
          </a:xfrm>
          <a:prstGeom prst="rect">
            <a:avLst/>
          </a:prstGeom>
          <a:solidFill>
            <a:srgbClr val="43A3A3"/>
          </a:solidFill>
          <a:ln w="12700">
            <a:solidFill>
              <a:srgbClr val="43A3A3"/>
            </a:solidFill>
            <a:prstDash val="solid"/>
          </a:ln>
        </p:spPr>
      </p:sp>
      <p:sp>
        <p:nvSpPr>
          <p:cNvPr id="57" name="Shape 55"/>
          <p:cNvSpPr/>
          <p:nvPr/>
        </p:nvSpPr>
        <p:spPr>
          <a:xfrm>
            <a:off x="798820" y="3326587"/>
            <a:ext cx="219456" cy="219456"/>
          </a:xfrm>
          <a:prstGeom prst="rect">
            <a:avLst/>
          </a:prstGeom>
          <a:solidFill>
            <a:srgbClr val="43A3A3"/>
          </a:solidFill>
          <a:ln w="12700">
            <a:solidFill>
              <a:srgbClr val="43A3A3"/>
            </a:solidFill>
            <a:prstDash val="solid"/>
          </a:ln>
        </p:spPr>
      </p:sp>
      <p:sp>
        <p:nvSpPr>
          <p:cNvPr id="58" name="Shape 56"/>
          <p:cNvSpPr/>
          <p:nvPr/>
        </p:nvSpPr>
        <p:spPr>
          <a:xfrm>
            <a:off x="1049000" y="3326587"/>
            <a:ext cx="219456" cy="219456"/>
          </a:xfrm>
          <a:prstGeom prst="rect">
            <a:avLst/>
          </a:prstGeom>
          <a:solidFill>
            <a:srgbClr val="43A3A3"/>
          </a:solidFill>
          <a:ln w="12700">
            <a:solidFill>
              <a:srgbClr val="43A3A3"/>
            </a:solidFill>
            <a:prstDash val="solid"/>
          </a:ln>
        </p:spPr>
      </p:sp>
      <p:sp>
        <p:nvSpPr>
          <p:cNvPr id="59" name="Shape 57"/>
          <p:cNvSpPr/>
          <p:nvPr/>
        </p:nvSpPr>
        <p:spPr>
          <a:xfrm>
            <a:off x="1299180" y="3326587"/>
            <a:ext cx="219456" cy="219456"/>
          </a:xfrm>
          <a:prstGeom prst="rect">
            <a:avLst/>
          </a:prstGeom>
          <a:solidFill>
            <a:srgbClr val="43A3A3"/>
          </a:solidFill>
          <a:ln w="12700">
            <a:solidFill>
              <a:srgbClr val="43A3A3"/>
            </a:solidFill>
            <a:prstDash val="solid"/>
          </a:ln>
        </p:spPr>
      </p:sp>
      <p:sp>
        <p:nvSpPr>
          <p:cNvPr id="60" name="Shape 58"/>
          <p:cNvSpPr/>
          <p:nvPr/>
        </p:nvSpPr>
        <p:spPr>
          <a:xfrm>
            <a:off x="1549359" y="3326587"/>
            <a:ext cx="219456" cy="219456"/>
          </a:xfrm>
          <a:prstGeom prst="rect">
            <a:avLst/>
          </a:prstGeom>
          <a:solidFill>
            <a:srgbClr val="43A3A3"/>
          </a:solidFill>
          <a:ln w="12700">
            <a:solidFill>
              <a:srgbClr val="43A3A3"/>
            </a:solidFill>
            <a:prstDash val="solid"/>
          </a:ln>
        </p:spPr>
      </p:sp>
      <p:sp>
        <p:nvSpPr>
          <p:cNvPr id="61" name="Shape 59"/>
          <p:cNvSpPr/>
          <p:nvPr/>
        </p:nvSpPr>
        <p:spPr>
          <a:xfrm>
            <a:off x="1799539" y="3326587"/>
            <a:ext cx="219456" cy="219456"/>
          </a:xfrm>
          <a:prstGeom prst="rect">
            <a:avLst/>
          </a:prstGeom>
          <a:solidFill>
            <a:srgbClr val="43A3A3"/>
          </a:solidFill>
          <a:ln w="12700">
            <a:solidFill>
              <a:srgbClr val="43A3A3"/>
            </a:solidFill>
            <a:prstDash val="solid"/>
          </a:ln>
        </p:spPr>
      </p:sp>
      <p:sp>
        <p:nvSpPr>
          <p:cNvPr id="62" name="Shape 60"/>
          <p:cNvSpPr/>
          <p:nvPr/>
        </p:nvSpPr>
        <p:spPr>
          <a:xfrm>
            <a:off x="2049719" y="3326587"/>
            <a:ext cx="219456" cy="219456"/>
          </a:xfrm>
          <a:prstGeom prst="rect">
            <a:avLst/>
          </a:prstGeom>
          <a:solidFill>
            <a:srgbClr val="43A3A3"/>
          </a:solidFill>
          <a:ln w="12700">
            <a:solidFill>
              <a:srgbClr val="43A3A3"/>
            </a:solidFill>
            <a:prstDash val="solid"/>
          </a:ln>
        </p:spPr>
      </p:sp>
      <p:sp>
        <p:nvSpPr>
          <p:cNvPr id="63" name="Shape 61"/>
          <p:cNvSpPr/>
          <p:nvPr/>
        </p:nvSpPr>
        <p:spPr>
          <a:xfrm>
            <a:off x="2299899" y="3326587"/>
            <a:ext cx="219456" cy="219456"/>
          </a:xfrm>
          <a:prstGeom prst="rect">
            <a:avLst/>
          </a:prstGeom>
          <a:solidFill>
            <a:srgbClr val="43A3A3"/>
          </a:solidFill>
          <a:ln w="12700">
            <a:solidFill>
              <a:srgbClr val="43A3A3"/>
            </a:solidFill>
            <a:prstDash val="solid"/>
          </a:ln>
        </p:spPr>
      </p:sp>
      <p:sp>
        <p:nvSpPr>
          <p:cNvPr id="64" name="Shape 62"/>
          <p:cNvSpPr/>
          <p:nvPr/>
        </p:nvSpPr>
        <p:spPr>
          <a:xfrm>
            <a:off x="2550079" y="3326587"/>
            <a:ext cx="219456" cy="219456"/>
          </a:xfrm>
          <a:prstGeom prst="rect">
            <a:avLst/>
          </a:prstGeom>
          <a:solidFill>
            <a:srgbClr val="43A3A3"/>
          </a:solidFill>
          <a:ln w="12700">
            <a:solidFill>
              <a:srgbClr val="43A3A3"/>
            </a:solidFill>
            <a:prstDash val="solid"/>
          </a:ln>
        </p:spPr>
      </p:sp>
      <p:sp>
        <p:nvSpPr>
          <p:cNvPr id="65" name="Shape 63"/>
          <p:cNvSpPr/>
          <p:nvPr/>
        </p:nvSpPr>
        <p:spPr>
          <a:xfrm>
            <a:off x="2800259" y="3326587"/>
            <a:ext cx="219456" cy="219456"/>
          </a:xfrm>
          <a:prstGeom prst="rect">
            <a:avLst/>
          </a:prstGeom>
          <a:solidFill>
            <a:srgbClr val="43A3A3"/>
          </a:solidFill>
          <a:ln w="12700">
            <a:solidFill>
              <a:srgbClr val="43A3A3"/>
            </a:solidFill>
            <a:prstDash val="solid"/>
          </a:ln>
        </p:spPr>
      </p:sp>
      <p:sp>
        <p:nvSpPr>
          <p:cNvPr id="66" name="Shape 64"/>
          <p:cNvSpPr/>
          <p:nvPr/>
        </p:nvSpPr>
        <p:spPr>
          <a:xfrm>
            <a:off x="548640" y="3576767"/>
            <a:ext cx="219456" cy="219456"/>
          </a:xfrm>
          <a:prstGeom prst="rect">
            <a:avLst/>
          </a:prstGeom>
          <a:solidFill>
            <a:srgbClr val="43A3A3"/>
          </a:solidFill>
          <a:ln w="12700">
            <a:solidFill>
              <a:srgbClr val="43A3A3"/>
            </a:solidFill>
            <a:prstDash val="solid"/>
          </a:ln>
        </p:spPr>
      </p:sp>
      <p:sp>
        <p:nvSpPr>
          <p:cNvPr id="67" name="Shape 65"/>
          <p:cNvSpPr/>
          <p:nvPr/>
        </p:nvSpPr>
        <p:spPr>
          <a:xfrm>
            <a:off x="798820" y="3576767"/>
            <a:ext cx="219456" cy="219456"/>
          </a:xfrm>
          <a:prstGeom prst="rect">
            <a:avLst/>
          </a:prstGeom>
          <a:solidFill>
            <a:srgbClr val="43A3A3"/>
          </a:solidFill>
          <a:ln w="12700">
            <a:solidFill>
              <a:srgbClr val="43A3A3"/>
            </a:solidFill>
            <a:prstDash val="solid"/>
          </a:ln>
        </p:spPr>
      </p:sp>
      <p:sp>
        <p:nvSpPr>
          <p:cNvPr id="68" name="Shape 66"/>
          <p:cNvSpPr/>
          <p:nvPr/>
        </p:nvSpPr>
        <p:spPr>
          <a:xfrm>
            <a:off x="1049000" y="3576767"/>
            <a:ext cx="219456" cy="219456"/>
          </a:xfrm>
          <a:prstGeom prst="rect">
            <a:avLst/>
          </a:prstGeom>
          <a:solidFill>
            <a:srgbClr val="43A3A3"/>
          </a:solidFill>
          <a:ln w="12700">
            <a:solidFill>
              <a:srgbClr val="43A3A3"/>
            </a:solidFill>
            <a:prstDash val="solid"/>
          </a:ln>
        </p:spPr>
      </p:sp>
      <p:sp>
        <p:nvSpPr>
          <p:cNvPr id="69" name="Shape 67"/>
          <p:cNvSpPr/>
          <p:nvPr/>
        </p:nvSpPr>
        <p:spPr>
          <a:xfrm>
            <a:off x="1299180" y="3576767"/>
            <a:ext cx="219456" cy="219456"/>
          </a:xfrm>
          <a:prstGeom prst="rect">
            <a:avLst/>
          </a:prstGeom>
          <a:solidFill>
            <a:srgbClr val="43A3A3"/>
          </a:solidFill>
          <a:ln w="12700">
            <a:solidFill>
              <a:srgbClr val="43A3A3"/>
            </a:solidFill>
            <a:prstDash val="solid"/>
          </a:ln>
        </p:spPr>
      </p:sp>
      <p:sp>
        <p:nvSpPr>
          <p:cNvPr id="70" name="Shape 68"/>
          <p:cNvSpPr/>
          <p:nvPr/>
        </p:nvSpPr>
        <p:spPr>
          <a:xfrm>
            <a:off x="1549359" y="3576767"/>
            <a:ext cx="219456" cy="219456"/>
          </a:xfrm>
          <a:prstGeom prst="rect">
            <a:avLst/>
          </a:prstGeom>
          <a:solidFill>
            <a:srgbClr val="43A3A3"/>
          </a:solidFill>
          <a:ln w="12700">
            <a:solidFill>
              <a:srgbClr val="43A3A3"/>
            </a:solidFill>
            <a:prstDash val="solid"/>
          </a:ln>
        </p:spPr>
      </p:sp>
      <p:sp>
        <p:nvSpPr>
          <p:cNvPr id="71" name="Shape 69"/>
          <p:cNvSpPr/>
          <p:nvPr/>
        </p:nvSpPr>
        <p:spPr>
          <a:xfrm>
            <a:off x="1799539" y="3576767"/>
            <a:ext cx="219456" cy="219456"/>
          </a:xfrm>
          <a:prstGeom prst="rect">
            <a:avLst/>
          </a:prstGeom>
          <a:solidFill>
            <a:srgbClr val="43A3A3"/>
          </a:solidFill>
          <a:ln w="12700">
            <a:solidFill>
              <a:srgbClr val="43A3A3"/>
            </a:solidFill>
            <a:prstDash val="solid"/>
          </a:ln>
        </p:spPr>
      </p:sp>
      <p:sp>
        <p:nvSpPr>
          <p:cNvPr id="72" name="Shape 70"/>
          <p:cNvSpPr/>
          <p:nvPr/>
        </p:nvSpPr>
        <p:spPr>
          <a:xfrm>
            <a:off x="2049719" y="3576767"/>
            <a:ext cx="219456" cy="219456"/>
          </a:xfrm>
          <a:prstGeom prst="rect">
            <a:avLst/>
          </a:prstGeom>
          <a:solidFill>
            <a:srgbClr val="43A3A3"/>
          </a:solidFill>
          <a:ln w="12700">
            <a:solidFill>
              <a:srgbClr val="43A3A3"/>
            </a:solidFill>
            <a:prstDash val="solid"/>
          </a:ln>
        </p:spPr>
      </p:sp>
      <p:sp>
        <p:nvSpPr>
          <p:cNvPr id="73" name="Shape 71"/>
          <p:cNvSpPr/>
          <p:nvPr/>
        </p:nvSpPr>
        <p:spPr>
          <a:xfrm>
            <a:off x="2299899" y="3576767"/>
            <a:ext cx="219456" cy="219456"/>
          </a:xfrm>
          <a:prstGeom prst="rect">
            <a:avLst/>
          </a:prstGeom>
          <a:solidFill>
            <a:srgbClr val="43A3A3"/>
          </a:solidFill>
          <a:ln w="12700">
            <a:solidFill>
              <a:srgbClr val="43A3A3"/>
            </a:solidFill>
            <a:prstDash val="solid"/>
          </a:ln>
        </p:spPr>
      </p:sp>
      <p:sp>
        <p:nvSpPr>
          <p:cNvPr id="74" name="Shape 72"/>
          <p:cNvSpPr/>
          <p:nvPr/>
        </p:nvSpPr>
        <p:spPr>
          <a:xfrm>
            <a:off x="2550079" y="3576767"/>
            <a:ext cx="219456" cy="219456"/>
          </a:xfrm>
          <a:prstGeom prst="rect">
            <a:avLst/>
          </a:prstGeom>
          <a:solidFill>
            <a:srgbClr val="43A3A3"/>
          </a:solidFill>
          <a:ln w="12700">
            <a:solidFill>
              <a:srgbClr val="43A3A3"/>
            </a:solidFill>
            <a:prstDash val="solid"/>
          </a:ln>
        </p:spPr>
      </p:sp>
      <p:sp>
        <p:nvSpPr>
          <p:cNvPr id="75" name="Shape 73"/>
          <p:cNvSpPr/>
          <p:nvPr/>
        </p:nvSpPr>
        <p:spPr>
          <a:xfrm>
            <a:off x="2800259" y="3576767"/>
            <a:ext cx="219456" cy="219456"/>
          </a:xfrm>
          <a:prstGeom prst="rect">
            <a:avLst/>
          </a:prstGeom>
          <a:solidFill>
            <a:srgbClr val="43A3A3"/>
          </a:solidFill>
          <a:ln w="12700">
            <a:solidFill>
              <a:srgbClr val="43A3A3"/>
            </a:solidFill>
            <a:prstDash val="solid"/>
          </a:ln>
        </p:spPr>
      </p:sp>
      <p:sp>
        <p:nvSpPr>
          <p:cNvPr id="76" name="Shape 74"/>
          <p:cNvSpPr/>
          <p:nvPr/>
        </p:nvSpPr>
        <p:spPr>
          <a:xfrm>
            <a:off x="548640" y="3826947"/>
            <a:ext cx="219456" cy="219456"/>
          </a:xfrm>
          <a:prstGeom prst="rect">
            <a:avLst/>
          </a:prstGeom>
          <a:solidFill>
            <a:srgbClr val="43A3A3"/>
          </a:solidFill>
          <a:ln w="12700">
            <a:solidFill>
              <a:srgbClr val="43A3A3"/>
            </a:solidFill>
            <a:prstDash val="solid"/>
          </a:ln>
        </p:spPr>
      </p:sp>
      <p:sp>
        <p:nvSpPr>
          <p:cNvPr id="77" name="Shape 75"/>
          <p:cNvSpPr/>
          <p:nvPr/>
        </p:nvSpPr>
        <p:spPr>
          <a:xfrm>
            <a:off x="798820" y="3826947"/>
            <a:ext cx="219456" cy="219456"/>
          </a:xfrm>
          <a:prstGeom prst="rect">
            <a:avLst/>
          </a:prstGeom>
          <a:solidFill>
            <a:srgbClr val="43A3A3"/>
          </a:solidFill>
          <a:ln w="12700">
            <a:solidFill>
              <a:srgbClr val="43A3A3"/>
            </a:solidFill>
            <a:prstDash val="solid"/>
          </a:ln>
        </p:spPr>
      </p:sp>
      <p:sp>
        <p:nvSpPr>
          <p:cNvPr id="78" name="Shape 76"/>
          <p:cNvSpPr/>
          <p:nvPr/>
        </p:nvSpPr>
        <p:spPr>
          <a:xfrm>
            <a:off x="1049000" y="3826947"/>
            <a:ext cx="219456" cy="219456"/>
          </a:xfrm>
          <a:prstGeom prst="rect">
            <a:avLst/>
          </a:prstGeom>
          <a:solidFill>
            <a:srgbClr val="43A3A3"/>
          </a:solidFill>
          <a:ln w="12700">
            <a:solidFill>
              <a:srgbClr val="43A3A3"/>
            </a:solidFill>
            <a:prstDash val="solid"/>
          </a:ln>
        </p:spPr>
      </p:sp>
      <p:sp>
        <p:nvSpPr>
          <p:cNvPr id="79" name="Shape 77"/>
          <p:cNvSpPr/>
          <p:nvPr/>
        </p:nvSpPr>
        <p:spPr>
          <a:xfrm>
            <a:off x="1299180" y="3826947"/>
            <a:ext cx="219456" cy="219456"/>
          </a:xfrm>
          <a:prstGeom prst="rect">
            <a:avLst/>
          </a:prstGeom>
          <a:solidFill>
            <a:srgbClr val="43A3A3"/>
          </a:solidFill>
          <a:ln w="12700">
            <a:solidFill>
              <a:srgbClr val="43A3A3"/>
            </a:solidFill>
            <a:prstDash val="solid"/>
          </a:ln>
        </p:spPr>
      </p:sp>
      <p:sp>
        <p:nvSpPr>
          <p:cNvPr id="80" name="Shape 78"/>
          <p:cNvSpPr/>
          <p:nvPr/>
        </p:nvSpPr>
        <p:spPr>
          <a:xfrm>
            <a:off x="1549359" y="3826947"/>
            <a:ext cx="219456" cy="219456"/>
          </a:xfrm>
          <a:prstGeom prst="rect">
            <a:avLst/>
          </a:prstGeom>
          <a:solidFill>
            <a:srgbClr val="43A3A3"/>
          </a:solidFill>
          <a:ln w="12700">
            <a:solidFill>
              <a:srgbClr val="43A3A3"/>
            </a:solidFill>
            <a:prstDash val="solid"/>
          </a:ln>
        </p:spPr>
      </p:sp>
      <p:sp>
        <p:nvSpPr>
          <p:cNvPr id="81" name="Shape 79"/>
          <p:cNvSpPr/>
          <p:nvPr/>
        </p:nvSpPr>
        <p:spPr>
          <a:xfrm>
            <a:off x="1799539" y="3826947"/>
            <a:ext cx="219456" cy="219456"/>
          </a:xfrm>
          <a:prstGeom prst="rect">
            <a:avLst/>
          </a:prstGeom>
          <a:solidFill>
            <a:srgbClr val="43A3A3"/>
          </a:solidFill>
          <a:ln w="12700">
            <a:solidFill>
              <a:srgbClr val="43A3A3"/>
            </a:solidFill>
            <a:prstDash val="solid"/>
          </a:ln>
        </p:spPr>
      </p:sp>
      <p:sp>
        <p:nvSpPr>
          <p:cNvPr id="82" name="Shape 80"/>
          <p:cNvSpPr/>
          <p:nvPr/>
        </p:nvSpPr>
        <p:spPr>
          <a:xfrm>
            <a:off x="2049719" y="3826947"/>
            <a:ext cx="219456" cy="219456"/>
          </a:xfrm>
          <a:prstGeom prst="rect">
            <a:avLst/>
          </a:prstGeom>
          <a:solidFill>
            <a:srgbClr val="43A3A3"/>
          </a:solidFill>
          <a:ln w="12700">
            <a:solidFill>
              <a:srgbClr val="43A3A3"/>
            </a:solidFill>
            <a:prstDash val="solid"/>
          </a:ln>
        </p:spPr>
      </p:sp>
      <p:sp>
        <p:nvSpPr>
          <p:cNvPr id="83" name="Shape 81"/>
          <p:cNvSpPr/>
          <p:nvPr/>
        </p:nvSpPr>
        <p:spPr>
          <a:xfrm>
            <a:off x="2299899" y="3826947"/>
            <a:ext cx="219456" cy="219456"/>
          </a:xfrm>
          <a:prstGeom prst="rect">
            <a:avLst/>
          </a:prstGeom>
          <a:solidFill>
            <a:srgbClr val="43A3A3"/>
          </a:solidFill>
          <a:ln w="12700">
            <a:solidFill>
              <a:srgbClr val="43A3A3"/>
            </a:solidFill>
            <a:prstDash val="solid"/>
          </a:ln>
        </p:spPr>
      </p:sp>
      <p:sp>
        <p:nvSpPr>
          <p:cNvPr id="84" name="Shape 82"/>
          <p:cNvSpPr/>
          <p:nvPr/>
        </p:nvSpPr>
        <p:spPr>
          <a:xfrm>
            <a:off x="2550079" y="3826947"/>
            <a:ext cx="219456" cy="219456"/>
          </a:xfrm>
          <a:prstGeom prst="rect">
            <a:avLst/>
          </a:prstGeom>
          <a:solidFill>
            <a:srgbClr val="43A3A3"/>
          </a:solidFill>
          <a:ln w="12700">
            <a:solidFill>
              <a:srgbClr val="43A3A3"/>
            </a:solidFill>
            <a:prstDash val="solid"/>
          </a:ln>
        </p:spPr>
      </p:sp>
      <p:sp>
        <p:nvSpPr>
          <p:cNvPr id="85" name="Shape 83"/>
          <p:cNvSpPr/>
          <p:nvPr/>
        </p:nvSpPr>
        <p:spPr>
          <a:xfrm>
            <a:off x="2800259" y="3826947"/>
            <a:ext cx="219456" cy="219456"/>
          </a:xfrm>
          <a:prstGeom prst="rect">
            <a:avLst/>
          </a:prstGeom>
          <a:solidFill>
            <a:srgbClr val="43A3A3"/>
          </a:solidFill>
          <a:ln w="12700">
            <a:solidFill>
              <a:srgbClr val="43A3A3"/>
            </a:solidFill>
            <a:prstDash val="solid"/>
          </a:ln>
        </p:spPr>
      </p:sp>
      <p:sp>
        <p:nvSpPr>
          <p:cNvPr id="86" name="Shape 84"/>
          <p:cNvSpPr/>
          <p:nvPr/>
        </p:nvSpPr>
        <p:spPr>
          <a:xfrm>
            <a:off x="548640" y="4077127"/>
            <a:ext cx="219456" cy="219456"/>
          </a:xfrm>
          <a:prstGeom prst="rect">
            <a:avLst/>
          </a:prstGeom>
          <a:solidFill>
            <a:srgbClr val="43A3A3"/>
          </a:solidFill>
          <a:ln w="12700">
            <a:solidFill>
              <a:srgbClr val="43A3A3"/>
            </a:solidFill>
            <a:prstDash val="solid"/>
          </a:ln>
        </p:spPr>
      </p:sp>
      <p:sp>
        <p:nvSpPr>
          <p:cNvPr id="87" name="Shape 85"/>
          <p:cNvSpPr/>
          <p:nvPr/>
        </p:nvSpPr>
        <p:spPr>
          <a:xfrm>
            <a:off x="798820" y="4077127"/>
            <a:ext cx="219456" cy="219456"/>
          </a:xfrm>
          <a:prstGeom prst="rect">
            <a:avLst/>
          </a:prstGeom>
          <a:solidFill>
            <a:srgbClr val="43A3A3"/>
          </a:solidFill>
          <a:ln w="12700">
            <a:solidFill>
              <a:srgbClr val="43A3A3"/>
            </a:solidFill>
            <a:prstDash val="solid"/>
          </a:ln>
        </p:spPr>
      </p:sp>
      <p:sp>
        <p:nvSpPr>
          <p:cNvPr id="88" name="Shape 86"/>
          <p:cNvSpPr/>
          <p:nvPr/>
        </p:nvSpPr>
        <p:spPr>
          <a:xfrm>
            <a:off x="1049000" y="4077127"/>
            <a:ext cx="219456" cy="219456"/>
          </a:xfrm>
          <a:prstGeom prst="rect">
            <a:avLst/>
          </a:prstGeom>
          <a:solidFill>
            <a:srgbClr val="43A3A3"/>
          </a:solidFill>
          <a:ln w="12700">
            <a:solidFill>
              <a:srgbClr val="43A3A3"/>
            </a:solidFill>
            <a:prstDash val="solid"/>
          </a:ln>
        </p:spPr>
      </p:sp>
      <p:sp>
        <p:nvSpPr>
          <p:cNvPr id="89" name="Shape 87"/>
          <p:cNvSpPr/>
          <p:nvPr/>
        </p:nvSpPr>
        <p:spPr>
          <a:xfrm>
            <a:off x="1299180" y="4077127"/>
            <a:ext cx="219456" cy="219456"/>
          </a:xfrm>
          <a:prstGeom prst="rect">
            <a:avLst/>
          </a:prstGeom>
          <a:solidFill>
            <a:srgbClr val="43A3A3"/>
          </a:solidFill>
          <a:ln w="12700">
            <a:solidFill>
              <a:srgbClr val="43A3A3"/>
            </a:solidFill>
            <a:prstDash val="solid"/>
          </a:ln>
        </p:spPr>
      </p:sp>
      <p:sp>
        <p:nvSpPr>
          <p:cNvPr id="90" name="Shape 88"/>
          <p:cNvSpPr/>
          <p:nvPr/>
        </p:nvSpPr>
        <p:spPr>
          <a:xfrm>
            <a:off x="1549359" y="4077127"/>
            <a:ext cx="219456" cy="219456"/>
          </a:xfrm>
          <a:prstGeom prst="rect">
            <a:avLst/>
          </a:prstGeom>
          <a:solidFill>
            <a:srgbClr val="43A3A3"/>
          </a:solidFill>
          <a:ln w="12700">
            <a:solidFill>
              <a:srgbClr val="43A3A3"/>
            </a:solidFill>
            <a:prstDash val="solid"/>
          </a:ln>
        </p:spPr>
      </p:sp>
      <p:sp>
        <p:nvSpPr>
          <p:cNvPr id="91" name="Shape 89"/>
          <p:cNvSpPr/>
          <p:nvPr/>
        </p:nvSpPr>
        <p:spPr>
          <a:xfrm>
            <a:off x="1799539" y="4077127"/>
            <a:ext cx="219456" cy="219456"/>
          </a:xfrm>
          <a:prstGeom prst="rect">
            <a:avLst/>
          </a:prstGeom>
          <a:solidFill>
            <a:srgbClr val="43A3A3"/>
          </a:solidFill>
          <a:ln w="12700">
            <a:solidFill>
              <a:srgbClr val="43A3A3"/>
            </a:solidFill>
            <a:prstDash val="solid"/>
          </a:ln>
        </p:spPr>
      </p:sp>
      <p:sp>
        <p:nvSpPr>
          <p:cNvPr id="92" name="Shape 90"/>
          <p:cNvSpPr/>
          <p:nvPr/>
        </p:nvSpPr>
        <p:spPr>
          <a:xfrm>
            <a:off x="2049719" y="4077127"/>
            <a:ext cx="219456" cy="219456"/>
          </a:xfrm>
          <a:prstGeom prst="rect">
            <a:avLst/>
          </a:prstGeom>
          <a:solidFill>
            <a:srgbClr val="E3E2DA"/>
          </a:solidFill>
          <a:ln w="12700">
            <a:solidFill>
              <a:srgbClr val="E3E2DA"/>
            </a:solidFill>
            <a:prstDash val="solid"/>
          </a:ln>
        </p:spPr>
      </p:sp>
      <p:sp>
        <p:nvSpPr>
          <p:cNvPr id="93" name="Shape 91"/>
          <p:cNvSpPr/>
          <p:nvPr/>
        </p:nvSpPr>
        <p:spPr>
          <a:xfrm>
            <a:off x="2299899" y="4077127"/>
            <a:ext cx="219456" cy="219456"/>
          </a:xfrm>
          <a:prstGeom prst="rect">
            <a:avLst/>
          </a:prstGeom>
          <a:solidFill>
            <a:srgbClr val="E3E2DA"/>
          </a:solidFill>
          <a:ln w="12700">
            <a:solidFill>
              <a:srgbClr val="E3E2DA"/>
            </a:solidFill>
            <a:prstDash val="solid"/>
          </a:ln>
        </p:spPr>
      </p:sp>
      <p:sp>
        <p:nvSpPr>
          <p:cNvPr id="94" name="Shape 92"/>
          <p:cNvSpPr/>
          <p:nvPr/>
        </p:nvSpPr>
        <p:spPr>
          <a:xfrm>
            <a:off x="2550079" y="4077127"/>
            <a:ext cx="219456" cy="219456"/>
          </a:xfrm>
          <a:prstGeom prst="rect">
            <a:avLst/>
          </a:prstGeom>
          <a:solidFill>
            <a:srgbClr val="E3E2DA"/>
          </a:solidFill>
          <a:ln w="12700">
            <a:solidFill>
              <a:srgbClr val="E3E2DA"/>
            </a:solidFill>
            <a:prstDash val="solid"/>
          </a:ln>
        </p:spPr>
      </p:sp>
      <p:sp>
        <p:nvSpPr>
          <p:cNvPr id="95" name="Shape 93"/>
          <p:cNvSpPr/>
          <p:nvPr/>
        </p:nvSpPr>
        <p:spPr>
          <a:xfrm>
            <a:off x="2800259" y="4077127"/>
            <a:ext cx="219456" cy="219456"/>
          </a:xfrm>
          <a:prstGeom prst="rect">
            <a:avLst/>
          </a:prstGeom>
          <a:solidFill>
            <a:srgbClr val="E3E2DA"/>
          </a:solidFill>
          <a:ln w="12700">
            <a:solidFill>
              <a:srgbClr val="E3E2DA"/>
            </a:solidFill>
            <a:prstDash val="solid"/>
          </a:ln>
        </p:spPr>
      </p:sp>
      <p:sp>
        <p:nvSpPr>
          <p:cNvPr id="96" name="Shape 94"/>
          <p:cNvSpPr/>
          <p:nvPr/>
        </p:nvSpPr>
        <p:spPr>
          <a:xfrm>
            <a:off x="548640" y="4327307"/>
            <a:ext cx="219456" cy="219456"/>
          </a:xfrm>
          <a:prstGeom prst="rect">
            <a:avLst/>
          </a:prstGeom>
          <a:solidFill>
            <a:srgbClr val="E3E2DA"/>
          </a:solidFill>
          <a:ln w="12700">
            <a:solidFill>
              <a:srgbClr val="E3E2DA"/>
            </a:solidFill>
            <a:prstDash val="solid"/>
          </a:ln>
        </p:spPr>
      </p:sp>
      <p:sp>
        <p:nvSpPr>
          <p:cNvPr id="97" name="Shape 95"/>
          <p:cNvSpPr/>
          <p:nvPr/>
        </p:nvSpPr>
        <p:spPr>
          <a:xfrm>
            <a:off x="798820" y="4327307"/>
            <a:ext cx="219456" cy="219456"/>
          </a:xfrm>
          <a:prstGeom prst="rect">
            <a:avLst/>
          </a:prstGeom>
          <a:solidFill>
            <a:srgbClr val="E3E2DA"/>
          </a:solidFill>
          <a:ln w="12700">
            <a:solidFill>
              <a:srgbClr val="E3E2DA"/>
            </a:solidFill>
            <a:prstDash val="solid"/>
          </a:ln>
        </p:spPr>
      </p:sp>
      <p:sp>
        <p:nvSpPr>
          <p:cNvPr id="98" name="Shape 96"/>
          <p:cNvSpPr/>
          <p:nvPr/>
        </p:nvSpPr>
        <p:spPr>
          <a:xfrm>
            <a:off x="1049000" y="4327307"/>
            <a:ext cx="219456" cy="219456"/>
          </a:xfrm>
          <a:prstGeom prst="rect">
            <a:avLst/>
          </a:prstGeom>
          <a:solidFill>
            <a:srgbClr val="E3E2DA"/>
          </a:solidFill>
          <a:ln w="12700">
            <a:solidFill>
              <a:srgbClr val="E3E2DA"/>
            </a:solidFill>
            <a:prstDash val="solid"/>
          </a:ln>
        </p:spPr>
      </p:sp>
      <p:sp>
        <p:nvSpPr>
          <p:cNvPr id="99" name="Shape 97"/>
          <p:cNvSpPr/>
          <p:nvPr/>
        </p:nvSpPr>
        <p:spPr>
          <a:xfrm>
            <a:off x="1299180" y="4327307"/>
            <a:ext cx="219456" cy="219456"/>
          </a:xfrm>
          <a:prstGeom prst="rect">
            <a:avLst/>
          </a:prstGeom>
          <a:solidFill>
            <a:srgbClr val="E3E2DA"/>
          </a:solidFill>
          <a:ln w="12700">
            <a:solidFill>
              <a:srgbClr val="E3E2DA"/>
            </a:solidFill>
            <a:prstDash val="solid"/>
          </a:ln>
        </p:spPr>
      </p:sp>
      <p:sp>
        <p:nvSpPr>
          <p:cNvPr id="100" name="Shape 98"/>
          <p:cNvSpPr/>
          <p:nvPr/>
        </p:nvSpPr>
        <p:spPr>
          <a:xfrm>
            <a:off x="1549359" y="4327307"/>
            <a:ext cx="219456" cy="219456"/>
          </a:xfrm>
          <a:prstGeom prst="rect">
            <a:avLst/>
          </a:prstGeom>
          <a:solidFill>
            <a:srgbClr val="E3E2DA"/>
          </a:solidFill>
          <a:ln w="12700">
            <a:solidFill>
              <a:srgbClr val="E3E2DA"/>
            </a:solidFill>
            <a:prstDash val="solid"/>
          </a:ln>
        </p:spPr>
      </p:sp>
      <p:sp>
        <p:nvSpPr>
          <p:cNvPr id="101" name="Shape 99"/>
          <p:cNvSpPr/>
          <p:nvPr/>
        </p:nvSpPr>
        <p:spPr>
          <a:xfrm>
            <a:off x="1799539" y="4327307"/>
            <a:ext cx="219456" cy="219456"/>
          </a:xfrm>
          <a:prstGeom prst="rect">
            <a:avLst/>
          </a:prstGeom>
          <a:solidFill>
            <a:srgbClr val="E3E2DA"/>
          </a:solidFill>
          <a:ln w="12700">
            <a:solidFill>
              <a:srgbClr val="E3E2DA"/>
            </a:solidFill>
            <a:prstDash val="solid"/>
          </a:ln>
        </p:spPr>
      </p:sp>
      <p:sp>
        <p:nvSpPr>
          <p:cNvPr id="102" name="Shape 100"/>
          <p:cNvSpPr/>
          <p:nvPr/>
        </p:nvSpPr>
        <p:spPr>
          <a:xfrm>
            <a:off x="2049719" y="4327307"/>
            <a:ext cx="219456" cy="219456"/>
          </a:xfrm>
          <a:prstGeom prst="rect">
            <a:avLst/>
          </a:prstGeom>
          <a:solidFill>
            <a:srgbClr val="E3E2DA"/>
          </a:solidFill>
          <a:ln w="12700">
            <a:solidFill>
              <a:srgbClr val="E3E2DA"/>
            </a:solidFill>
            <a:prstDash val="solid"/>
          </a:ln>
        </p:spPr>
      </p:sp>
      <p:sp>
        <p:nvSpPr>
          <p:cNvPr id="103" name="Shape 101"/>
          <p:cNvSpPr/>
          <p:nvPr/>
        </p:nvSpPr>
        <p:spPr>
          <a:xfrm>
            <a:off x="2299899" y="4327307"/>
            <a:ext cx="219456" cy="219456"/>
          </a:xfrm>
          <a:prstGeom prst="rect">
            <a:avLst/>
          </a:prstGeom>
          <a:solidFill>
            <a:srgbClr val="E3E2DA"/>
          </a:solidFill>
          <a:ln w="12700">
            <a:solidFill>
              <a:srgbClr val="E3E2DA"/>
            </a:solidFill>
            <a:prstDash val="solid"/>
          </a:ln>
        </p:spPr>
      </p:sp>
      <p:sp>
        <p:nvSpPr>
          <p:cNvPr id="104" name="Shape 102"/>
          <p:cNvSpPr/>
          <p:nvPr/>
        </p:nvSpPr>
        <p:spPr>
          <a:xfrm>
            <a:off x="2550079" y="4327307"/>
            <a:ext cx="219456" cy="219456"/>
          </a:xfrm>
          <a:prstGeom prst="rect">
            <a:avLst/>
          </a:prstGeom>
          <a:solidFill>
            <a:srgbClr val="E3E2DA"/>
          </a:solidFill>
          <a:ln w="12700">
            <a:solidFill>
              <a:srgbClr val="E3E2DA"/>
            </a:solidFill>
            <a:prstDash val="solid"/>
          </a:ln>
        </p:spPr>
      </p:sp>
      <p:sp>
        <p:nvSpPr>
          <p:cNvPr id="105" name="Shape 103"/>
          <p:cNvSpPr/>
          <p:nvPr/>
        </p:nvSpPr>
        <p:spPr>
          <a:xfrm>
            <a:off x="2800259" y="4327307"/>
            <a:ext cx="219456" cy="219456"/>
          </a:xfrm>
          <a:prstGeom prst="rect">
            <a:avLst/>
          </a:prstGeom>
          <a:solidFill>
            <a:srgbClr val="E3E2DA"/>
          </a:solidFill>
          <a:ln w="12700">
            <a:solidFill>
              <a:srgbClr val="E3E2DA"/>
            </a:solidFill>
            <a:prstDash val="solid"/>
          </a:ln>
        </p:spPr>
      </p:sp>
      <p:sp>
        <p:nvSpPr>
          <p:cNvPr id="106" name="Text 104"/>
          <p:cNvSpPr txBox="1"/>
          <p:nvPr/>
        </p:nvSpPr>
        <p:spPr>
          <a:xfrm>
            <a:off x="548640" y="4650638"/>
            <a:ext cx="3515258" cy="365760"/>
          </a:xfrm>
          <a:prstGeom prst="rect">
            <a:avLst/>
          </a:prstGeom>
          <a:noFill/>
          <a:ln/>
        </p:spPr>
        <p:txBody>
          <a:bodyPr wrap="square" lIns="0" tIns="0" rIns="0" bIns="0" rtlCol="0" anchor="ctr"/>
          <a:lstStyle/>
          <a:p>
            <a:pPr indent="0" marL="0">
              <a:buNone/>
            </a:pPr>
            <a:r>
              <a:rPr lang="en-US" sz="2000" b="1" i="1" dirty="0">
                <a:solidFill>
                  <a:srgbClr val="125C60"/>
                </a:solidFill>
                <a:latin typeface="Proxima Nova" pitchFamily="34" charset="0"/>
                <a:ea typeface="Proxima Nova" pitchFamily="34" charset="-122"/>
                <a:cs typeface="Proxima Nova" pitchFamily="34" charset="-120"/>
              </a:rPr>
              <a:t>85.8%</a:t>
            </a:r>
            <a:endParaRPr lang="en-US" sz="2000" dirty="0"/>
          </a:p>
        </p:txBody>
      </p:sp>
      <p:sp>
        <p:nvSpPr>
          <p:cNvPr id="107" name="Text 105"/>
          <p:cNvSpPr txBox="1"/>
          <p:nvPr/>
        </p:nvSpPr>
        <p:spPr>
          <a:xfrm>
            <a:off x="548640" y="5016398"/>
            <a:ext cx="3423818" cy="457200"/>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stay overnight (86 of every 100)</a:t>
            </a:r>
            <a:endParaRPr lang="en-US" sz="1000" dirty="0"/>
          </a:p>
        </p:txBody>
      </p:sp>
      <p:sp>
        <p:nvSpPr>
          <p:cNvPr id="108" name="Shape 106"/>
          <p:cNvSpPr/>
          <p:nvPr/>
        </p:nvSpPr>
        <p:spPr>
          <a:xfrm>
            <a:off x="4246778" y="2075688"/>
            <a:ext cx="219456" cy="219456"/>
          </a:xfrm>
          <a:prstGeom prst="rect">
            <a:avLst/>
          </a:prstGeom>
          <a:solidFill>
            <a:srgbClr val="43A3A3"/>
          </a:solidFill>
          <a:ln w="12700">
            <a:solidFill>
              <a:srgbClr val="43A3A3"/>
            </a:solidFill>
            <a:prstDash val="solid"/>
          </a:ln>
        </p:spPr>
      </p:sp>
      <p:sp>
        <p:nvSpPr>
          <p:cNvPr id="109" name="Shape 107"/>
          <p:cNvSpPr/>
          <p:nvPr/>
        </p:nvSpPr>
        <p:spPr>
          <a:xfrm>
            <a:off x="4496958" y="2075688"/>
            <a:ext cx="219456" cy="219456"/>
          </a:xfrm>
          <a:prstGeom prst="rect">
            <a:avLst/>
          </a:prstGeom>
          <a:solidFill>
            <a:srgbClr val="43A3A3"/>
          </a:solidFill>
          <a:ln w="12700">
            <a:solidFill>
              <a:srgbClr val="43A3A3"/>
            </a:solidFill>
            <a:prstDash val="solid"/>
          </a:ln>
        </p:spPr>
      </p:sp>
      <p:sp>
        <p:nvSpPr>
          <p:cNvPr id="110" name="Shape 108"/>
          <p:cNvSpPr/>
          <p:nvPr/>
        </p:nvSpPr>
        <p:spPr>
          <a:xfrm>
            <a:off x="4747138" y="2075688"/>
            <a:ext cx="219456" cy="219456"/>
          </a:xfrm>
          <a:prstGeom prst="rect">
            <a:avLst/>
          </a:prstGeom>
          <a:solidFill>
            <a:srgbClr val="43A3A3"/>
          </a:solidFill>
          <a:ln w="12700">
            <a:solidFill>
              <a:srgbClr val="43A3A3"/>
            </a:solidFill>
            <a:prstDash val="solid"/>
          </a:ln>
        </p:spPr>
      </p:sp>
      <p:sp>
        <p:nvSpPr>
          <p:cNvPr id="111" name="Shape 109"/>
          <p:cNvSpPr/>
          <p:nvPr/>
        </p:nvSpPr>
        <p:spPr>
          <a:xfrm>
            <a:off x="4997318" y="2075688"/>
            <a:ext cx="219456" cy="219456"/>
          </a:xfrm>
          <a:prstGeom prst="rect">
            <a:avLst/>
          </a:prstGeom>
          <a:solidFill>
            <a:srgbClr val="43A3A3"/>
          </a:solidFill>
          <a:ln w="12700">
            <a:solidFill>
              <a:srgbClr val="43A3A3"/>
            </a:solidFill>
            <a:prstDash val="solid"/>
          </a:ln>
        </p:spPr>
      </p:sp>
      <p:sp>
        <p:nvSpPr>
          <p:cNvPr id="112" name="Shape 110"/>
          <p:cNvSpPr/>
          <p:nvPr/>
        </p:nvSpPr>
        <p:spPr>
          <a:xfrm>
            <a:off x="5247498" y="2075688"/>
            <a:ext cx="219456" cy="219456"/>
          </a:xfrm>
          <a:prstGeom prst="rect">
            <a:avLst/>
          </a:prstGeom>
          <a:solidFill>
            <a:srgbClr val="43A3A3"/>
          </a:solidFill>
          <a:ln w="12700">
            <a:solidFill>
              <a:srgbClr val="43A3A3"/>
            </a:solidFill>
            <a:prstDash val="solid"/>
          </a:ln>
        </p:spPr>
      </p:sp>
      <p:sp>
        <p:nvSpPr>
          <p:cNvPr id="113" name="Shape 111"/>
          <p:cNvSpPr/>
          <p:nvPr/>
        </p:nvSpPr>
        <p:spPr>
          <a:xfrm>
            <a:off x="5497678" y="2075688"/>
            <a:ext cx="219456" cy="219456"/>
          </a:xfrm>
          <a:prstGeom prst="rect">
            <a:avLst/>
          </a:prstGeom>
          <a:solidFill>
            <a:srgbClr val="43A3A3"/>
          </a:solidFill>
          <a:ln w="12700">
            <a:solidFill>
              <a:srgbClr val="43A3A3"/>
            </a:solidFill>
            <a:prstDash val="solid"/>
          </a:ln>
        </p:spPr>
      </p:sp>
      <p:sp>
        <p:nvSpPr>
          <p:cNvPr id="114" name="Shape 112"/>
          <p:cNvSpPr/>
          <p:nvPr/>
        </p:nvSpPr>
        <p:spPr>
          <a:xfrm>
            <a:off x="5747857" y="2075688"/>
            <a:ext cx="219456" cy="219456"/>
          </a:xfrm>
          <a:prstGeom prst="rect">
            <a:avLst/>
          </a:prstGeom>
          <a:solidFill>
            <a:srgbClr val="43A3A3"/>
          </a:solidFill>
          <a:ln w="12700">
            <a:solidFill>
              <a:srgbClr val="43A3A3"/>
            </a:solidFill>
            <a:prstDash val="solid"/>
          </a:ln>
        </p:spPr>
      </p:sp>
      <p:sp>
        <p:nvSpPr>
          <p:cNvPr id="115" name="Shape 113"/>
          <p:cNvSpPr/>
          <p:nvPr/>
        </p:nvSpPr>
        <p:spPr>
          <a:xfrm>
            <a:off x="5998037" y="2075688"/>
            <a:ext cx="219456" cy="219456"/>
          </a:xfrm>
          <a:prstGeom prst="rect">
            <a:avLst/>
          </a:prstGeom>
          <a:solidFill>
            <a:srgbClr val="43A3A3"/>
          </a:solidFill>
          <a:ln w="12700">
            <a:solidFill>
              <a:srgbClr val="43A3A3"/>
            </a:solidFill>
            <a:prstDash val="solid"/>
          </a:ln>
        </p:spPr>
      </p:sp>
      <p:sp>
        <p:nvSpPr>
          <p:cNvPr id="116" name="Shape 114"/>
          <p:cNvSpPr/>
          <p:nvPr/>
        </p:nvSpPr>
        <p:spPr>
          <a:xfrm>
            <a:off x="6248217" y="2075688"/>
            <a:ext cx="219456" cy="219456"/>
          </a:xfrm>
          <a:prstGeom prst="rect">
            <a:avLst/>
          </a:prstGeom>
          <a:solidFill>
            <a:srgbClr val="43A3A3"/>
          </a:solidFill>
          <a:ln w="12700">
            <a:solidFill>
              <a:srgbClr val="43A3A3"/>
            </a:solidFill>
            <a:prstDash val="solid"/>
          </a:ln>
        </p:spPr>
      </p:sp>
      <p:sp>
        <p:nvSpPr>
          <p:cNvPr id="117" name="Shape 115"/>
          <p:cNvSpPr/>
          <p:nvPr/>
        </p:nvSpPr>
        <p:spPr>
          <a:xfrm>
            <a:off x="6498397" y="2075688"/>
            <a:ext cx="219456" cy="219456"/>
          </a:xfrm>
          <a:prstGeom prst="rect">
            <a:avLst/>
          </a:prstGeom>
          <a:solidFill>
            <a:srgbClr val="43A3A3"/>
          </a:solidFill>
          <a:ln w="12700">
            <a:solidFill>
              <a:srgbClr val="43A3A3"/>
            </a:solidFill>
            <a:prstDash val="solid"/>
          </a:ln>
        </p:spPr>
      </p:sp>
      <p:sp>
        <p:nvSpPr>
          <p:cNvPr id="118" name="Shape 116"/>
          <p:cNvSpPr/>
          <p:nvPr/>
        </p:nvSpPr>
        <p:spPr>
          <a:xfrm>
            <a:off x="4246778" y="2325868"/>
            <a:ext cx="219456" cy="219456"/>
          </a:xfrm>
          <a:prstGeom prst="rect">
            <a:avLst/>
          </a:prstGeom>
          <a:solidFill>
            <a:srgbClr val="43A3A3"/>
          </a:solidFill>
          <a:ln w="12700">
            <a:solidFill>
              <a:srgbClr val="43A3A3"/>
            </a:solidFill>
            <a:prstDash val="solid"/>
          </a:ln>
        </p:spPr>
      </p:sp>
      <p:sp>
        <p:nvSpPr>
          <p:cNvPr id="119" name="Shape 117"/>
          <p:cNvSpPr/>
          <p:nvPr/>
        </p:nvSpPr>
        <p:spPr>
          <a:xfrm>
            <a:off x="4496958" y="2325868"/>
            <a:ext cx="219456" cy="219456"/>
          </a:xfrm>
          <a:prstGeom prst="rect">
            <a:avLst/>
          </a:prstGeom>
          <a:solidFill>
            <a:srgbClr val="43A3A3"/>
          </a:solidFill>
          <a:ln w="12700">
            <a:solidFill>
              <a:srgbClr val="43A3A3"/>
            </a:solidFill>
            <a:prstDash val="solid"/>
          </a:ln>
        </p:spPr>
      </p:sp>
      <p:sp>
        <p:nvSpPr>
          <p:cNvPr id="120" name="Shape 118"/>
          <p:cNvSpPr/>
          <p:nvPr/>
        </p:nvSpPr>
        <p:spPr>
          <a:xfrm>
            <a:off x="4747138" y="2325868"/>
            <a:ext cx="219456" cy="219456"/>
          </a:xfrm>
          <a:prstGeom prst="rect">
            <a:avLst/>
          </a:prstGeom>
          <a:solidFill>
            <a:srgbClr val="43A3A3"/>
          </a:solidFill>
          <a:ln w="12700">
            <a:solidFill>
              <a:srgbClr val="43A3A3"/>
            </a:solidFill>
            <a:prstDash val="solid"/>
          </a:ln>
        </p:spPr>
      </p:sp>
      <p:sp>
        <p:nvSpPr>
          <p:cNvPr id="121" name="Shape 119"/>
          <p:cNvSpPr/>
          <p:nvPr/>
        </p:nvSpPr>
        <p:spPr>
          <a:xfrm>
            <a:off x="4997318" y="2325868"/>
            <a:ext cx="219456" cy="219456"/>
          </a:xfrm>
          <a:prstGeom prst="rect">
            <a:avLst/>
          </a:prstGeom>
          <a:solidFill>
            <a:srgbClr val="43A3A3"/>
          </a:solidFill>
          <a:ln w="12700">
            <a:solidFill>
              <a:srgbClr val="43A3A3"/>
            </a:solidFill>
            <a:prstDash val="solid"/>
          </a:ln>
        </p:spPr>
      </p:sp>
      <p:sp>
        <p:nvSpPr>
          <p:cNvPr id="122" name="Shape 120"/>
          <p:cNvSpPr/>
          <p:nvPr/>
        </p:nvSpPr>
        <p:spPr>
          <a:xfrm>
            <a:off x="5247498" y="2325868"/>
            <a:ext cx="219456" cy="219456"/>
          </a:xfrm>
          <a:prstGeom prst="rect">
            <a:avLst/>
          </a:prstGeom>
          <a:solidFill>
            <a:srgbClr val="43A3A3"/>
          </a:solidFill>
          <a:ln w="12700">
            <a:solidFill>
              <a:srgbClr val="43A3A3"/>
            </a:solidFill>
            <a:prstDash val="solid"/>
          </a:ln>
        </p:spPr>
      </p:sp>
      <p:sp>
        <p:nvSpPr>
          <p:cNvPr id="123" name="Shape 121"/>
          <p:cNvSpPr/>
          <p:nvPr/>
        </p:nvSpPr>
        <p:spPr>
          <a:xfrm>
            <a:off x="5497678" y="2325868"/>
            <a:ext cx="219456" cy="219456"/>
          </a:xfrm>
          <a:prstGeom prst="rect">
            <a:avLst/>
          </a:prstGeom>
          <a:solidFill>
            <a:srgbClr val="43A3A3"/>
          </a:solidFill>
          <a:ln w="12700">
            <a:solidFill>
              <a:srgbClr val="43A3A3"/>
            </a:solidFill>
            <a:prstDash val="solid"/>
          </a:ln>
        </p:spPr>
      </p:sp>
      <p:sp>
        <p:nvSpPr>
          <p:cNvPr id="124" name="Shape 122"/>
          <p:cNvSpPr/>
          <p:nvPr/>
        </p:nvSpPr>
        <p:spPr>
          <a:xfrm>
            <a:off x="5747857" y="2325868"/>
            <a:ext cx="219456" cy="219456"/>
          </a:xfrm>
          <a:prstGeom prst="rect">
            <a:avLst/>
          </a:prstGeom>
          <a:solidFill>
            <a:srgbClr val="43A3A3"/>
          </a:solidFill>
          <a:ln w="12700">
            <a:solidFill>
              <a:srgbClr val="43A3A3"/>
            </a:solidFill>
            <a:prstDash val="solid"/>
          </a:ln>
        </p:spPr>
      </p:sp>
      <p:sp>
        <p:nvSpPr>
          <p:cNvPr id="125" name="Shape 123"/>
          <p:cNvSpPr/>
          <p:nvPr/>
        </p:nvSpPr>
        <p:spPr>
          <a:xfrm>
            <a:off x="5998037" y="2325868"/>
            <a:ext cx="219456" cy="219456"/>
          </a:xfrm>
          <a:prstGeom prst="rect">
            <a:avLst/>
          </a:prstGeom>
          <a:solidFill>
            <a:srgbClr val="43A3A3"/>
          </a:solidFill>
          <a:ln w="12700">
            <a:solidFill>
              <a:srgbClr val="43A3A3"/>
            </a:solidFill>
            <a:prstDash val="solid"/>
          </a:ln>
        </p:spPr>
      </p:sp>
      <p:sp>
        <p:nvSpPr>
          <p:cNvPr id="126" name="Shape 124"/>
          <p:cNvSpPr/>
          <p:nvPr/>
        </p:nvSpPr>
        <p:spPr>
          <a:xfrm>
            <a:off x="6248217" y="2325868"/>
            <a:ext cx="219456" cy="219456"/>
          </a:xfrm>
          <a:prstGeom prst="rect">
            <a:avLst/>
          </a:prstGeom>
          <a:solidFill>
            <a:srgbClr val="43A3A3"/>
          </a:solidFill>
          <a:ln w="12700">
            <a:solidFill>
              <a:srgbClr val="43A3A3"/>
            </a:solidFill>
            <a:prstDash val="solid"/>
          </a:ln>
        </p:spPr>
      </p:sp>
      <p:sp>
        <p:nvSpPr>
          <p:cNvPr id="127" name="Shape 125"/>
          <p:cNvSpPr/>
          <p:nvPr/>
        </p:nvSpPr>
        <p:spPr>
          <a:xfrm>
            <a:off x="6498397" y="2325868"/>
            <a:ext cx="219456" cy="219456"/>
          </a:xfrm>
          <a:prstGeom prst="rect">
            <a:avLst/>
          </a:prstGeom>
          <a:solidFill>
            <a:srgbClr val="43A3A3"/>
          </a:solidFill>
          <a:ln w="12700">
            <a:solidFill>
              <a:srgbClr val="43A3A3"/>
            </a:solidFill>
            <a:prstDash val="solid"/>
          </a:ln>
        </p:spPr>
      </p:sp>
      <p:sp>
        <p:nvSpPr>
          <p:cNvPr id="128" name="Shape 126"/>
          <p:cNvSpPr/>
          <p:nvPr/>
        </p:nvSpPr>
        <p:spPr>
          <a:xfrm>
            <a:off x="4246778" y="2576048"/>
            <a:ext cx="219456" cy="219456"/>
          </a:xfrm>
          <a:prstGeom prst="rect">
            <a:avLst/>
          </a:prstGeom>
          <a:solidFill>
            <a:srgbClr val="43A3A3"/>
          </a:solidFill>
          <a:ln w="12700">
            <a:solidFill>
              <a:srgbClr val="43A3A3"/>
            </a:solidFill>
            <a:prstDash val="solid"/>
          </a:ln>
        </p:spPr>
      </p:sp>
      <p:sp>
        <p:nvSpPr>
          <p:cNvPr id="129" name="Shape 127"/>
          <p:cNvSpPr/>
          <p:nvPr/>
        </p:nvSpPr>
        <p:spPr>
          <a:xfrm>
            <a:off x="4496958" y="2576048"/>
            <a:ext cx="219456" cy="219456"/>
          </a:xfrm>
          <a:prstGeom prst="rect">
            <a:avLst/>
          </a:prstGeom>
          <a:solidFill>
            <a:srgbClr val="43A3A3"/>
          </a:solidFill>
          <a:ln w="12700">
            <a:solidFill>
              <a:srgbClr val="43A3A3"/>
            </a:solidFill>
            <a:prstDash val="solid"/>
          </a:ln>
        </p:spPr>
      </p:sp>
      <p:sp>
        <p:nvSpPr>
          <p:cNvPr id="130" name="Shape 128"/>
          <p:cNvSpPr/>
          <p:nvPr/>
        </p:nvSpPr>
        <p:spPr>
          <a:xfrm>
            <a:off x="4747138" y="2576048"/>
            <a:ext cx="219456" cy="219456"/>
          </a:xfrm>
          <a:prstGeom prst="rect">
            <a:avLst/>
          </a:prstGeom>
          <a:solidFill>
            <a:srgbClr val="43A3A3"/>
          </a:solidFill>
          <a:ln w="12700">
            <a:solidFill>
              <a:srgbClr val="43A3A3"/>
            </a:solidFill>
            <a:prstDash val="solid"/>
          </a:ln>
        </p:spPr>
      </p:sp>
      <p:sp>
        <p:nvSpPr>
          <p:cNvPr id="131" name="Shape 129"/>
          <p:cNvSpPr/>
          <p:nvPr/>
        </p:nvSpPr>
        <p:spPr>
          <a:xfrm>
            <a:off x="4997318" y="2576048"/>
            <a:ext cx="219456" cy="219456"/>
          </a:xfrm>
          <a:prstGeom prst="rect">
            <a:avLst/>
          </a:prstGeom>
          <a:solidFill>
            <a:srgbClr val="43A3A3"/>
          </a:solidFill>
          <a:ln w="12700">
            <a:solidFill>
              <a:srgbClr val="43A3A3"/>
            </a:solidFill>
            <a:prstDash val="solid"/>
          </a:ln>
        </p:spPr>
      </p:sp>
      <p:sp>
        <p:nvSpPr>
          <p:cNvPr id="132" name="Shape 130"/>
          <p:cNvSpPr/>
          <p:nvPr/>
        </p:nvSpPr>
        <p:spPr>
          <a:xfrm>
            <a:off x="5247498" y="2576048"/>
            <a:ext cx="219456" cy="219456"/>
          </a:xfrm>
          <a:prstGeom prst="rect">
            <a:avLst/>
          </a:prstGeom>
          <a:solidFill>
            <a:srgbClr val="43A3A3"/>
          </a:solidFill>
          <a:ln w="12700">
            <a:solidFill>
              <a:srgbClr val="43A3A3"/>
            </a:solidFill>
            <a:prstDash val="solid"/>
          </a:ln>
        </p:spPr>
      </p:sp>
      <p:sp>
        <p:nvSpPr>
          <p:cNvPr id="133" name="Shape 131"/>
          <p:cNvSpPr/>
          <p:nvPr/>
        </p:nvSpPr>
        <p:spPr>
          <a:xfrm>
            <a:off x="5497678" y="2576048"/>
            <a:ext cx="219456" cy="219456"/>
          </a:xfrm>
          <a:prstGeom prst="rect">
            <a:avLst/>
          </a:prstGeom>
          <a:solidFill>
            <a:srgbClr val="43A3A3"/>
          </a:solidFill>
          <a:ln w="12700">
            <a:solidFill>
              <a:srgbClr val="43A3A3"/>
            </a:solidFill>
            <a:prstDash val="solid"/>
          </a:ln>
        </p:spPr>
      </p:sp>
      <p:sp>
        <p:nvSpPr>
          <p:cNvPr id="134" name="Shape 132"/>
          <p:cNvSpPr/>
          <p:nvPr/>
        </p:nvSpPr>
        <p:spPr>
          <a:xfrm>
            <a:off x="5747857" y="2576048"/>
            <a:ext cx="219456" cy="219456"/>
          </a:xfrm>
          <a:prstGeom prst="rect">
            <a:avLst/>
          </a:prstGeom>
          <a:solidFill>
            <a:srgbClr val="43A3A3"/>
          </a:solidFill>
          <a:ln w="12700">
            <a:solidFill>
              <a:srgbClr val="43A3A3"/>
            </a:solidFill>
            <a:prstDash val="solid"/>
          </a:ln>
        </p:spPr>
      </p:sp>
      <p:sp>
        <p:nvSpPr>
          <p:cNvPr id="135" name="Shape 133"/>
          <p:cNvSpPr/>
          <p:nvPr/>
        </p:nvSpPr>
        <p:spPr>
          <a:xfrm>
            <a:off x="5998037" y="2576048"/>
            <a:ext cx="219456" cy="219456"/>
          </a:xfrm>
          <a:prstGeom prst="rect">
            <a:avLst/>
          </a:prstGeom>
          <a:solidFill>
            <a:srgbClr val="43A3A3"/>
          </a:solidFill>
          <a:ln w="12700">
            <a:solidFill>
              <a:srgbClr val="43A3A3"/>
            </a:solidFill>
            <a:prstDash val="solid"/>
          </a:ln>
        </p:spPr>
      </p:sp>
      <p:sp>
        <p:nvSpPr>
          <p:cNvPr id="136" name="Shape 134"/>
          <p:cNvSpPr/>
          <p:nvPr/>
        </p:nvSpPr>
        <p:spPr>
          <a:xfrm>
            <a:off x="6248217" y="2576048"/>
            <a:ext cx="219456" cy="219456"/>
          </a:xfrm>
          <a:prstGeom prst="rect">
            <a:avLst/>
          </a:prstGeom>
          <a:solidFill>
            <a:srgbClr val="43A3A3"/>
          </a:solidFill>
          <a:ln w="12700">
            <a:solidFill>
              <a:srgbClr val="43A3A3"/>
            </a:solidFill>
            <a:prstDash val="solid"/>
          </a:ln>
        </p:spPr>
      </p:sp>
      <p:sp>
        <p:nvSpPr>
          <p:cNvPr id="137" name="Shape 135"/>
          <p:cNvSpPr/>
          <p:nvPr/>
        </p:nvSpPr>
        <p:spPr>
          <a:xfrm>
            <a:off x="6498397" y="2576048"/>
            <a:ext cx="219456" cy="219456"/>
          </a:xfrm>
          <a:prstGeom prst="rect">
            <a:avLst/>
          </a:prstGeom>
          <a:solidFill>
            <a:srgbClr val="43A3A3"/>
          </a:solidFill>
          <a:ln w="12700">
            <a:solidFill>
              <a:srgbClr val="43A3A3"/>
            </a:solidFill>
            <a:prstDash val="solid"/>
          </a:ln>
        </p:spPr>
      </p:sp>
      <p:sp>
        <p:nvSpPr>
          <p:cNvPr id="138" name="Shape 136"/>
          <p:cNvSpPr/>
          <p:nvPr/>
        </p:nvSpPr>
        <p:spPr>
          <a:xfrm>
            <a:off x="4246778" y="2826228"/>
            <a:ext cx="219456" cy="219456"/>
          </a:xfrm>
          <a:prstGeom prst="rect">
            <a:avLst/>
          </a:prstGeom>
          <a:solidFill>
            <a:srgbClr val="43A3A3"/>
          </a:solidFill>
          <a:ln w="12700">
            <a:solidFill>
              <a:srgbClr val="43A3A3"/>
            </a:solidFill>
            <a:prstDash val="solid"/>
          </a:ln>
        </p:spPr>
      </p:sp>
      <p:sp>
        <p:nvSpPr>
          <p:cNvPr id="139" name="Shape 137"/>
          <p:cNvSpPr/>
          <p:nvPr/>
        </p:nvSpPr>
        <p:spPr>
          <a:xfrm>
            <a:off x="4496958" y="2826228"/>
            <a:ext cx="219456" cy="219456"/>
          </a:xfrm>
          <a:prstGeom prst="rect">
            <a:avLst/>
          </a:prstGeom>
          <a:solidFill>
            <a:srgbClr val="43A3A3"/>
          </a:solidFill>
          <a:ln w="12700">
            <a:solidFill>
              <a:srgbClr val="43A3A3"/>
            </a:solidFill>
            <a:prstDash val="solid"/>
          </a:ln>
        </p:spPr>
      </p:sp>
      <p:sp>
        <p:nvSpPr>
          <p:cNvPr id="140" name="Shape 138"/>
          <p:cNvSpPr/>
          <p:nvPr/>
        </p:nvSpPr>
        <p:spPr>
          <a:xfrm>
            <a:off x="4747138" y="2826228"/>
            <a:ext cx="219456" cy="219456"/>
          </a:xfrm>
          <a:prstGeom prst="rect">
            <a:avLst/>
          </a:prstGeom>
          <a:solidFill>
            <a:srgbClr val="43A3A3"/>
          </a:solidFill>
          <a:ln w="12700">
            <a:solidFill>
              <a:srgbClr val="43A3A3"/>
            </a:solidFill>
            <a:prstDash val="solid"/>
          </a:ln>
        </p:spPr>
      </p:sp>
      <p:sp>
        <p:nvSpPr>
          <p:cNvPr id="141" name="Shape 139"/>
          <p:cNvSpPr/>
          <p:nvPr/>
        </p:nvSpPr>
        <p:spPr>
          <a:xfrm>
            <a:off x="4997318" y="2826228"/>
            <a:ext cx="219456" cy="219456"/>
          </a:xfrm>
          <a:prstGeom prst="rect">
            <a:avLst/>
          </a:prstGeom>
          <a:solidFill>
            <a:srgbClr val="43A3A3"/>
          </a:solidFill>
          <a:ln w="12700">
            <a:solidFill>
              <a:srgbClr val="43A3A3"/>
            </a:solidFill>
            <a:prstDash val="solid"/>
          </a:ln>
        </p:spPr>
      </p:sp>
      <p:sp>
        <p:nvSpPr>
          <p:cNvPr id="142" name="Shape 140"/>
          <p:cNvSpPr/>
          <p:nvPr/>
        </p:nvSpPr>
        <p:spPr>
          <a:xfrm>
            <a:off x="5247498" y="2826228"/>
            <a:ext cx="219456" cy="219456"/>
          </a:xfrm>
          <a:prstGeom prst="rect">
            <a:avLst/>
          </a:prstGeom>
          <a:solidFill>
            <a:srgbClr val="43A3A3"/>
          </a:solidFill>
          <a:ln w="12700">
            <a:solidFill>
              <a:srgbClr val="43A3A3"/>
            </a:solidFill>
            <a:prstDash val="solid"/>
          </a:ln>
        </p:spPr>
      </p:sp>
      <p:sp>
        <p:nvSpPr>
          <p:cNvPr id="143" name="Shape 141"/>
          <p:cNvSpPr/>
          <p:nvPr/>
        </p:nvSpPr>
        <p:spPr>
          <a:xfrm>
            <a:off x="5497678" y="2826228"/>
            <a:ext cx="219456" cy="219456"/>
          </a:xfrm>
          <a:prstGeom prst="rect">
            <a:avLst/>
          </a:prstGeom>
          <a:solidFill>
            <a:srgbClr val="43A3A3"/>
          </a:solidFill>
          <a:ln w="12700">
            <a:solidFill>
              <a:srgbClr val="43A3A3"/>
            </a:solidFill>
            <a:prstDash val="solid"/>
          </a:ln>
        </p:spPr>
      </p:sp>
      <p:sp>
        <p:nvSpPr>
          <p:cNvPr id="144" name="Shape 142"/>
          <p:cNvSpPr/>
          <p:nvPr/>
        </p:nvSpPr>
        <p:spPr>
          <a:xfrm>
            <a:off x="5747857" y="2826228"/>
            <a:ext cx="219456" cy="219456"/>
          </a:xfrm>
          <a:prstGeom prst="rect">
            <a:avLst/>
          </a:prstGeom>
          <a:solidFill>
            <a:srgbClr val="43A3A3"/>
          </a:solidFill>
          <a:ln w="12700">
            <a:solidFill>
              <a:srgbClr val="43A3A3"/>
            </a:solidFill>
            <a:prstDash val="solid"/>
          </a:ln>
        </p:spPr>
      </p:sp>
      <p:sp>
        <p:nvSpPr>
          <p:cNvPr id="145" name="Shape 143"/>
          <p:cNvSpPr/>
          <p:nvPr/>
        </p:nvSpPr>
        <p:spPr>
          <a:xfrm>
            <a:off x="5998037" y="2826228"/>
            <a:ext cx="219456" cy="219456"/>
          </a:xfrm>
          <a:prstGeom prst="rect">
            <a:avLst/>
          </a:prstGeom>
          <a:solidFill>
            <a:srgbClr val="43A3A3"/>
          </a:solidFill>
          <a:ln w="12700">
            <a:solidFill>
              <a:srgbClr val="43A3A3"/>
            </a:solidFill>
            <a:prstDash val="solid"/>
          </a:ln>
        </p:spPr>
      </p:sp>
      <p:sp>
        <p:nvSpPr>
          <p:cNvPr id="146" name="Shape 144"/>
          <p:cNvSpPr/>
          <p:nvPr/>
        </p:nvSpPr>
        <p:spPr>
          <a:xfrm>
            <a:off x="6248217" y="2826228"/>
            <a:ext cx="219456" cy="219456"/>
          </a:xfrm>
          <a:prstGeom prst="rect">
            <a:avLst/>
          </a:prstGeom>
          <a:solidFill>
            <a:srgbClr val="43A3A3"/>
          </a:solidFill>
          <a:ln w="12700">
            <a:solidFill>
              <a:srgbClr val="43A3A3"/>
            </a:solidFill>
            <a:prstDash val="solid"/>
          </a:ln>
        </p:spPr>
      </p:sp>
      <p:sp>
        <p:nvSpPr>
          <p:cNvPr id="147" name="Shape 145"/>
          <p:cNvSpPr/>
          <p:nvPr/>
        </p:nvSpPr>
        <p:spPr>
          <a:xfrm>
            <a:off x="6498397" y="2826228"/>
            <a:ext cx="219456" cy="219456"/>
          </a:xfrm>
          <a:prstGeom prst="rect">
            <a:avLst/>
          </a:prstGeom>
          <a:solidFill>
            <a:srgbClr val="43A3A3"/>
          </a:solidFill>
          <a:ln w="12700">
            <a:solidFill>
              <a:srgbClr val="43A3A3"/>
            </a:solidFill>
            <a:prstDash val="solid"/>
          </a:ln>
        </p:spPr>
      </p:sp>
      <p:sp>
        <p:nvSpPr>
          <p:cNvPr id="148" name="Shape 146"/>
          <p:cNvSpPr/>
          <p:nvPr/>
        </p:nvSpPr>
        <p:spPr>
          <a:xfrm>
            <a:off x="4246778" y="3076407"/>
            <a:ext cx="219456" cy="219456"/>
          </a:xfrm>
          <a:prstGeom prst="rect">
            <a:avLst/>
          </a:prstGeom>
          <a:solidFill>
            <a:srgbClr val="43A3A3"/>
          </a:solidFill>
          <a:ln w="12700">
            <a:solidFill>
              <a:srgbClr val="43A3A3"/>
            </a:solidFill>
            <a:prstDash val="solid"/>
          </a:ln>
        </p:spPr>
      </p:sp>
      <p:sp>
        <p:nvSpPr>
          <p:cNvPr id="149" name="Shape 147"/>
          <p:cNvSpPr/>
          <p:nvPr/>
        </p:nvSpPr>
        <p:spPr>
          <a:xfrm>
            <a:off x="4496958" y="3076407"/>
            <a:ext cx="219456" cy="219456"/>
          </a:xfrm>
          <a:prstGeom prst="rect">
            <a:avLst/>
          </a:prstGeom>
          <a:solidFill>
            <a:srgbClr val="43A3A3"/>
          </a:solidFill>
          <a:ln w="12700">
            <a:solidFill>
              <a:srgbClr val="43A3A3"/>
            </a:solidFill>
            <a:prstDash val="solid"/>
          </a:ln>
        </p:spPr>
      </p:sp>
      <p:sp>
        <p:nvSpPr>
          <p:cNvPr id="150" name="Shape 148"/>
          <p:cNvSpPr/>
          <p:nvPr/>
        </p:nvSpPr>
        <p:spPr>
          <a:xfrm>
            <a:off x="4747138" y="3076407"/>
            <a:ext cx="219456" cy="219456"/>
          </a:xfrm>
          <a:prstGeom prst="rect">
            <a:avLst/>
          </a:prstGeom>
          <a:solidFill>
            <a:srgbClr val="43A3A3"/>
          </a:solidFill>
          <a:ln w="12700">
            <a:solidFill>
              <a:srgbClr val="43A3A3"/>
            </a:solidFill>
            <a:prstDash val="solid"/>
          </a:ln>
        </p:spPr>
      </p:sp>
      <p:sp>
        <p:nvSpPr>
          <p:cNvPr id="151" name="Shape 149"/>
          <p:cNvSpPr/>
          <p:nvPr/>
        </p:nvSpPr>
        <p:spPr>
          <a:xfrm>
            <a:off x="4997318" y="3076407"/>
            <a:ext cx="219456" cy="219456"/>
          </a:xfrm>
          <a:prstGeom prst="rect">
            <a:avLst/>
          </a:prstGeom>
          <a:solidFill>
            <a:srgbClr val="43A3A3"/>
          </a:solidFill>
          <a:ln w="12700">
            <a:solidFill>
              <a:srgbClr val="43A3A3"/>
            </a:solidFill>
            <a:prstDash val="solid"/>
          </a:ln>
        </p:spPr>
      </p:sp>
      <p:sp>
        <p:nvSpPr>
          <p:cNvPr id="152" name="Shape 150"/>
          <p:cNvSpPr/>
          <p:nvPr/>
        </p:nvSpPr>
        <p:spPr>
          <a:xfrm>
            <a:off x="5247498" y="3076407"/>
            <a:ext cx="219456" cy="219456"/>
          </a:xfrm>
          <a:prstGeom prst="rect">
            <a:avLst/>
          </a:prstGeom>
          <a:solidFill>
            <a:srgbClr val="E3E2DA"/>
          </a:solidFill>
          <a:ln w="12700">
            <a:solidFill>
              <a:srgbClr val="E3E2DA"/>
            </a:solidFill>
            <a:prstDash val="solid"/>
          </a:ln>
        </p:spPr>
      </p:sp>
      <p:sp>
        <p:nvSpPr>
          <p:cNvPr id="153" name="Shape 151"/>
          <p:cNvSpPr/>
          <p:nvPr/>
        </p:nvSpPr>
        <p:spPr>
          <a:xfrm>
            <a:off x="5497678" y="3076407"/>
            <a:ext cx="219456" cy="219456"/>
          </a:xfrm>
          <a:prstGeom prst="rect">
            <a:avLst/>
          </a:prstGeom>
          <a:solidFill>
            <a:srgbClr val="E3E2DA"/>
          </a:solidFill>
          <a:ln w="12700">
            <a:solidFill>
              <a:srgbClr val="E3E2DA"/>
            </a:solidFill>
            <a:prstDash val="solid"/>
          </a:ln>
        </p:spPr>
      </p:sp>
      <p:sp>
        <p:nvSpPr>
          <p:cNvPr id="154" name="Shape 152"/>
          <p:cNvSpPr/>
          <p:nvPr/>
        </p:nvSpPr>
        <p:spPr>
          <a:xfrm>
            <a:off x="5747857" y="3076407"/>
            <a:ext cx="219456" cy="219456"/>
          </a:xfrm>
          <a:prstGeom prst="rect">
            <a:avLst/>
          </a:prstGeom>
          <a:solidFill>
            <a:srgbClr val="E3E2DA"/>
          </a:solidFill>
          <a:ln w="12700">
            <a:solidFill>
              <a:srgbClr val="E3E2DA"/>
            </a:solidFill>
            <a:prstDash val="solid"/>
          </a:ln>
        </p:spPr>
      </p:sp>
      <p:sp>
        <p:nvSpPr>
          <p:cNvPr id="155" name="Shape 153"/>
          <p:cNvSpPr/>
          <p:nvPr/>
        </p:nvSpPr>
        <p:spPr>
          <a:xfrm>
            <a:off x="5998037" y="3076407"/>
            <a:ext cx="219456" cy="219456"/>
          </a:xfrm>
          <a:prstGeom prst="rect">
            <a:avLst/>
          </a:prstGeom>
          <a:solidFill>
            <a:srgbClr val="E3E2DA"/>
          </a:solidFill>
          <a:ln w="12700">
            <a:solidFill>
              <a:srgbClr val="E3E2DA"/>
            </a:solidFill>
            <a:prstDash val="solid"/>
          </a:ln>
        </p:spPr>
      </p:sp>
      <p:sp>
        <p:nvSpPr>
          <p:cNvPr id="156" name="Shape 154"/>
          <p:cNvSpPr/>
          <p:nvPr/>
        </p:nvSpPr>
        <p:spPr>
          <a:xfrm>
            <a:off x="6248217" y="3076407"/>
            <a:ext cx="219456" cy="219456"/>
          </a:xfrm>
          <a:prstGeom prst="rect">
            <a:avLst/>
          </a:prstGeom>
          <a:solidFill>
            <a:srgbClr val="E3E2DA"/>
          </a:solidFill>
          <a:ln w="12700">
            <a:solidFill>
              <a:srgbClr val="E3E2DA"/>
            </a:solidFill>
            <a:prstDash val="solid"/>
          </a:ln>
        </p:spPr>
      </p:sp>
      <p:sp>
        <p:nvSpPr>
          <p:cNvPr id="157" name="Shape 155"/>
          <p:cNvSpPr/>
          <p:nvPr/>
        </p:nvSpPr>
        <p:spPr>
          <a:xfrm>
            <a:off x="6498397" y="3076407"/>
            <a:ext cx="219456" cy="219456"/>
          </a:xfrm>
          <a:prstGeom prst="rect">
            <a:avLst/>
          </a:prstGeom>
          <a:solidFill>
            <a:srgbClr val="E3E2DA"/>
          </a:solidFill>
          <a:ln w="12700">
            <a:solidFill>
              <a:srgbClr val="E3E2DA"/>
            </a:solidFill>
            <a:prstDash val="solid"/>
          </a:ln>
        </p:spPr>
      </p:sp>
      <p:sp>
        <p:nvSpPr>
          <p:cNvPr id="158" name="Shape 156"/>
          <p:cNvSpPr/>
          <p:nvPr/>
        </p:nvSpPr>
        <p:spPr>
          <a:xfrm>
            <a:off x="4246778" y="3326587"/>
            <a:ext cx="219456" cy="219456"/>
          </a:xfrm>
          <a:prstGeom prst="rect">
            <a:avLst/>
          </a:prstGeom>
          <a:solidFill>
            <a:srgbClr val="E3E2DA"/>
          </a:solidFill>
          <a:ln w="12700">
            <a:solidFill>
              <a:srgbClr val="E3E2DA"/>
            </a:solidFill>
            <a:prstDash val="solid"/>
          </a:ln>
        </p:spPr>
      </p:sp>
      <p:sp>
        <p:nvSpPr>
          <p:cNvPr id="159" name="Shape 157"/>
          <p:cNvSpPr/>
          <p:nvPr/>
        </p:nvSpPr>
        <p:spPr>
          <a:xfrm>
            <a:off x="4496958" y="3326587"/>
            <a:ext cx="219456" cy="219456"/>
          </a:xfrm>
          <a:prstGeom prst="rect">
            <a:avLst/>
          </a:prstGeom>
          <a:solidFill>
            <a:srgbClr val="E3E2DA"/>
          </a:solidFill>
          <a:ln w="12700">
            <a:solidFill>
              <a:srgbClr val="E3E2DA"/>
            </a:solidFill>
            <a:prstDash val="solid"/>
          </a:ln>
        </p:spPr>
      </p:sp>
      <p:sp>
        <p:nvSpPr>
          <p:cNvPr id="160" name="Shape 158"/>
          <p:cNvSpPr/>
          <p:nvPr/>
        </p:nvSpPr>
        <p:spPr>
          <a:xfrm>
            <a:off x="4747138" y="3326587"/>
            <a:ext cx="219456" cy="219456"/>
          </a:xfrm>
          <a:prstGeom prst="rect">
            <a:avLst/>
          </a:prstGeom>
          <a:solidFill>
            <a:srgbClr val="E3E2DA"/>
          </a:solidFill>
          <a:ln w="12700">
            <a:solidFill>
              <a:srgbClr val="E3E2DA"/>
            </a:solidFill>
            <a:prstDash val="solid"/>
          </a:ln>
        </p:spPr>
      </p:sp>
      <p:sp>
        <p:nvSpPr>
          <p:cNvPr id="161" name="Shape 159"/>
          <p:cNvSpPr/>
          <p:nvPr/>
        </p:nvSpPr>
        <p:spPr>
          <a:xfrm>
            <a:off x="4997318" y="3326587"/>
            <a:ext cx="219456" cy="219456"/>
          </a:xfrm>
          <a:prstGeom prst="rect">
            <a:avLst/>
          </a:prstGeom>
          <a:solidFill>
            <a:srgbClr val="E3E2DA"/>
          </a:solidFill>
          <a:ln w="12700">
            <a:solidFill>
              <a:srgbClr val="E3E2DA"/>
            </a:solidFill>
            <a:prstDash val="solid"/>
          </a:ln>
        </p:spPr>
      </p:sp>
      <p:sp>
        <p:nvSpPr>
          <p:cNvPr id="162" name="Shape 160"/>
          <p:cNvSpPr/>
          <p:nvPr/>
        </p:nvSpPr>
        <p:spPr>
          <a:xfrm>
            <a:off x="5247498" y="3326587"/>
            <a:ext cx="219456" cy="219456"/>
          </a:xfrm>
          <a:prstGeom prst="rect">
            <a:avLst/>
          </a:prstGeom>
          <a:solidFill>
            <a:srgbClr val="E3E2DA"/>
          </a:solidFill>
          <a:ln w="12700">
            <a:solidFill>
              <a:srgbClr val="E3E2DA"/>
            </a:solidFill>
            <a:prstDash val="solid"/>
          </a:ln>
        </p:spPr>
      </p:sp>
      <p:sp>
        <p:nvSpPr>
          <p:cNvPr id="163" name="Shape 161"/>
          <p:cNvSpPr/>
          <p:nvPr/>
        </p:nvSpPr>
        <p:spPr>
          <a:xfrm>
            <a:off x="5497678" y="3326587"/>
            <a:ext cx="219456" cy="219456"/>
          </a:xfrm>
          <a:prstGeom prst="rect">
            <a:avLst/>
          </a:prstGeom>
          <a:solidFill>
            <a:srgbClr val="E3E2DA"/>
          </a:solidFill>
          <a:ln w="12700">
            <a:solidFill>
              <a:srgbClr val="E3E2DA"/>
            </a:solidFill>
            <a:prstDash val="solid"/>
          </a:ln>
        </p:spPr>
      </p:sp>
      <p:sp>
        <p:nvSpPr>
          <p:cNvPr id="164" name="Shape 162"/>
          <p:cNvSpPr/>
          <p:nvPr/>
        </p:nvSpPr>
        <p:spPr>
          <a:xfrm>
            <a:off x="5747857" y="3326587"/>
            <a:ext cx="219456" cy="219456"/>
          </a:xfrm>
          <a:prstGeom prst="rect">
            <a:avLst/>
          </a:prstGeom>
          <a:solidFill>
            <a:srgbClr val="E3E2DA"/>
          </a:solidFill>
          <a:ln w="12700">
            <a:solidFill>
              <a:srgbClr val="E3E2DA"/>
            </a:solidFill>
            <a:prstDash val="solid"/>
          </a:ln>
        </p:spPr>
      </p:sp>
      <p:sp>
        <p:nvSpPr>
          <p:cNvPr id="165" name="Shape 163"/>
          <p:cNvSpPr/>
          <p:nvPr/>
        </p:nvSpPr>
        <p:spPr>
          <a:xfrm>
            <a:off x="5998037" y="3326587"/>
            <a:ext cx="219456" cy="219456"/>
          </a:xfrm>
          <a:prstGeom prst="rect">
            <a:avLst/>
          </a:prstGeom>
          <a:solidFill>
            <a:srgbClr val="E3E2DA"/>
          </a:solidFill>
          <a:ln w="12700">
            <a:solidFill>
              <a:srgbClr val="E3E2DA"/>
            </a:solidFill>
            <a:prstDash val="solid"/>
          </a:ln>
        </p:spPr>
      </p:sp>
      <p:sp>
        <p:nvSpPr>
          <p:cNvPr id="166" name="Shape 164"/>
          <p:cNvSpPr/>
          <p:nvPr/>
        </p:nvSpPr>
        <p:spPr>
          <a:xfrm>
            <a:off x="6248217" y="3326587"/>
            <a:ext cx="219456" cy="219456"/>
          </a:xfrm>
          <a:prstGeom prst="rect">
            <a:avLst/>
          </a:prstGeom>
          <a:solidFill>
            <a:srgbClr val="E3E2DA"/>
          </a:solidFill>
          <a:ln w="12700">
            <a:solidFill>
              <a:srgbClr val="E3E2DA"/>
            </a:solidFill>
            <a:prstDash val="solid"/>
          </a:ln>
        </p:spPr>
      </p:sp>
      <p:sp>
        <p:nvSpPr>
          <p:cNvPr id="167" name="Shape 165"/>
          <p:cNvSpPr/>
          <p:nvPr/>
        </p:nvSpPr>
        <p:spPr>
          <a:xfrm>
            <a:off x="6498397" y="3326587"/>
            <a:ext cx="219456" cy="219456"/>
          </a:xfrm>
          <a:prstGeom prst="rect">
            <a:avLst/>
          </a:prstGeom>
          <a:solidFill>
            <a:srgbClr val="E3E2DA"/>
          </a:solidFill>
          <a:ln w="12700">
            <a:solidFill>
              <a:srgbClr val="E3E2DA"/>
            </a:solidFill>
            <a:prstDash val="solid"/>
          </a:ln>
        </p:spPr>
      </p:sp>
      <p:sp>
        <p:nvSpPr>
          <p:cNvPr id="168" name="Shape 166"/>
          <p:cNvSpPr/>
          <p:nvPr/>
        </p:nvSpPr>
        <p:spPr>
          <a:xfrm>
            <a:off x="4246778" y="3576767"/>
            <a:ext cx="219456" cy="219456"/>
          </a:xfrm>
          <a:prstGeom prst="rect">
            <a:avLst/>
          </a:prstGeom>
          <a:solidFill>
            <a:srgbClr val="E3E2DA"/>
          </a:solidFill>
          <a:ln w="12700">
            <a:solidFill>
              <a:srgbClr val="E3E2DA"/>
            </a:solidFill>
            <a:prstDash val="solid"/>
          </a:ln>
        </p:spPr>
      </p:sp>
      <p:sp>
        <p:nvSpPr>
          <p:cNvPr id="169" name="Shape 167"/>
          <p:cNvSpPr/>
          <p:nvPr/>
        </p:nvSpPr>
        <p:spPr>
          <a:xfrm>
            <a:off x="4496958" y="3576767"/>
            <a:ext cx="219456" cy="219456"/>
          </a:xfrm>
          <a:prstGeom prst="rect">
            <a:avLst/>
          </a:prstGeom>
          <a:solidFill>
            <a:srgbClr val="E3E2DA"/>
          </a:solidFill>
          <a:ln w="12700">
            <a:solidFill>
              <a:srgbClr val="E3E2DA"/>
            </a:solidFill>
            <a:prstDash val="solid"/>
          </a:ln>
        </p:spPr>
      </p:sp>
      <p:sp>
        <p:nvSpPr>
          <p:cNvPr id="170" name="Shape 168"/>
          <p:cNvSpPr/>
          <p:nvPr/>
        </p:nvSpPr>
        <p:spPr>
          <a:xfrm>
            <a:off x="4747138" y="3576767"/>
            <a:ext cx="219456" cy="219456"/>
          </a:xfrm>
          <a:prstGeom prst="rect">
            <a:avLst/>
          </a:prstGeom>
          <a:solidFill>
            <a:srgbClr val="E3E2DA"/>
          </a:solidFill>
          <a:ln w="12700">
            <a:solidFill>
              <a:srgbClr val="E3E2DA"/>
            </a:solidFill>
            <a:prstDash val="solid"/>
          </a:ln>
        </p:spPr>
      </p:sp>
      <p:sp>
        <p:nvSpPr>
          <p:cNvPr id="171" name="Shape 169"/>
          <p:cNvSpPr/>
          <p:nvPr/>
        </p:nvSpPr>
        <p:spPr>
          <a:xfrm>
            <a:off x="4997318" y="3576767"/>
            <a:ext cx="219456" cy="219456"/>
          </a:xfrm>
          <a:prstGeom prst="rect">
            <a:avLst/>
          </a:prstGeom>
          <a:solidFill>
            <a:srgbClr val="E3E2DA"/>
          </a:solidFill>
          <a:ln w="12700">
            <a:solidFill>
              <a:srgbClr val="E3E2DA"/>
            </a:solidFill>
            <a:prstDash val="solid"/>
          </a:ln>
        </p:spPr>
      </p:sp>
      <p:sp>
        <p:nvSpPr>
          <p:cNvPr id="172" name="Shape 170"/>
          <p:cNvSpPr/>
          <p:nvPr/>
        </p:nvSpPr>
        <p:spPr>
          <a:xfrm>
            <a:off x="5247498" y="3576767"/>
            <a:ext cx="219456" cy="219456"/>
          </a:xfrm>
          <a:prstGeom prst="rect">
            <a:avLst/>
          </a:prstGeom>
          <a:solidFill>
            <a:srgbClr val="E3E2DA"/>
          </a:solidFill>
          <a:ln w="12700">
            <a:solidFill>
              <a:srgbClr val="E3E2DA"/>
            </a:solidFill>
            <a:prstDash val="solid"/>
          </a:ln>
        </p:spPr>
      </p:sp>
      <p:sp>
        <p:nvSpPr>
          <p:cNvPr id="173" name="Shape 171"/>
          <p:cNvSpPr/>
          <p:nvPr/>
        </p:nvSpPr>
        <p:spPr>
          <a:xfrm>
            <a:off x="5497678" y="3576767"/>
            <a:ext cx="219456" cy="219456"/>
          </a:xfrm>
          <a:prstGeom prst="rect">
            <a:avLst/>
          </a:prstGeom>
          <a:solidFill>
            <a:srgbClr val="E3E2DA"/>
          </a:solidFill>
          <a:ln w="12700">
            <a:solidFill>
              <a:srgbClr val="E3E2DA"/>
            </a:solidFill>
            <a:prstDash val="solid"/>
          </a:ln>
        </p:spPr>
      </p:sp>
      <p:sp>
        <p:nvSpPr>
          <p:cNvPr id="174" name="Shape 172"/>
          <p:cNvSpPr/>
          <p:nvPr/>
        </p:nvSpPr>
        <p:spPr>
          <a:xfrm>
            <a:off x="5747857" y="3576767"/>
            <a:ext cx="219456" cy="219456"/>
          </a:xfrm>
          <a:prstGeom prst="rect">
            <a:avLst/>
          </a:prstGeom>
          <a:solidFill>
            <a:srgbClr val="E3E2DA"/>
          </a:solidFill>
          <a:ln w="12700">
            <a:solidFill>
              <a:srgbClr val="E3E2DA"/>
            </a:solidFill>
            <a:prstDash val="solid"/>
          </a:ln>
        </p:spPr>
      </p:sp>
      <p:sp>
        <p:nvSpPr>
          <p:cNvPr id="175" name="Shape 173"/>
          <p:cNvSpPr/>
          <p:nvPr/>
        </p:nvSpPr>
        <p:spPr>
          <a:xfrm>
            <a:off x="5998037" y="3576767"/>
            <a:ext cx="219456" cy="219456"/>
          </a:xfrm>
          <a:prstGeom prst="rect">
            <a:avLst/>
          </a:prstGeom>
          <a:solidFill>
            <a:srgbClr val="E3E2DA"/>
          </a:solidFill>
          <a:ln w="12700">
            <a:solidFill>
              <a:srgbClr val="E3E2DA"/>
            </a:solidFill>
            <a:prstDash val="solid"/>
          </a:ln>
        </p:spPr>
      </p:sp>
      <p:sp>
        <p:nvSpPr>
          <p:cNvPr id="176" name="Shape 174"/>
          <p:cNvSpPr/>
          <p:nvPr/>
        </p:nvSpPr>
        <p:spPr>
          <a:xfrm>
            <a:off x="6248217" y="3576767"/>
            <a:ext cx="219456" cy="219456"/>
          </a:xfrm>
          <a:prstGeom prst="rect">
            <a:avLst/>
          </a:prstGeom>
          <a:solidFill>
            <a:srgbClr val="E3E2DA"/>
          </a:solidFill>
          <a:ln w="12700">
            <a:solidFill>
              <a:srgbClr val="E3E2DA"/>
            </a:solidFill>
            <a:prstDash val="solid"/>
          </a:ln>
        </p:spPr>
      </p:sp>
      <p:sp>
        <p:nvSpPr>
          <p:cNvPr id="177" name="Shape 175"/>
          <p:cNvSpPr/>
          <p:nvPr/>
        </p:nvSpPr>
        <p:spPr>
          <a:xfrm>
            <a:off x="6498397" y="3576767"/>
            <a:ext cx="219456" cy="219456"/>
          </a:xfrm>
          <a:prstGeom prst="rect">
            <a:avLst/>
          </a:prstGeom>
          <a:solidFill>
            <a:srgbClr val="E3E2DA"/>
          </a:solidFill>
          <a:ln w="12700">
            <a:solidFill>
              <a:srgbClr val="E3E2DA"/>
            </a:solidFill>
            <a:prstDash val="solid"/>
          </a:ln>
        </p:spPr>
      </p:sp>
      <p:sp>
        <p:nvSpPr>
          <p:cNvPr id="178" name="Shape 176"/>
          <p:cNvSpPr/>
          <p:nvPr/>
        </p:nvSpPr>
        <p:spPr>
          <a:xfrm>
            <a:off x="4246778" y="3826947"/>
            <a:ext cx="219456" cy="219456"/>
          </a:xfrm>
          <a:prstGeom prst="rect">
            <a:avLst/>
          </a:prstGeom>
          <a:solidFill>
            <a:srgbClr val="E3E2DA"/>
          </a:solidFill>
          <a:ln w="12700">
            <a:solidFill>
              <a:srgbClr val="E3E2DA"/>
            </a:solidFill>
            <a:prstDash val="solid"/>
          </a:ln>
        </p:spPr>
      </p:sp>
      <p:sp>
        <p:nvSpPr>
          <p:cNvPr id="179" name="Shape 177"/>
          <p:cNvSpPr/>
          <p:nvPr/>
        </p:nvSpPr>
        <p:spPr>
          <a:xfrm>
            <a:off x="4496958" y="3826947"/>
            <a:ext cx="219456" cy="219456"/>
          </a:xfrm>
          <a:prstGeom prst="rect">
            <a:avLst/>
          </a:prstGeom>
          <a:solidFill>
            <a:srgbClr val="E3E2DA"/>
          </a:solidFill>
          <a:ln w="12700">
            <a:solidFill>
              <a:srgbClr val="E3E2DA"/>
            </a:solidFill>
            <a:prstDash val="solid"/>
          </a:ln>
        </p:spPr>
      </p:sp>
      <p:sp>
        <p:nvSpPr>
          <p:cNvPr id="180" name="Shape 178"/>
          <p:cNvSpPr/>
          <p:nvPr/>
        </p:nvSpPr>
        <p:spPr>
          <a:xfrm>
            <a:off x="4747138" y="3826947"/>
            <a:ext cx="219456" cy="219456"/>
          </a:xfrm>
          <a:prstGeom prst="rect">
            <a:avLst/>
          </a:prstGeom>
          <a:solidFill>
            <a:srgbClr val="E3E2DA"/>
          </a:solidFill>
          <a:ln w="12700">
            <a:solidFill>
              <a:srgbClr val="E3E2DA"/>
            </a:solidFill>
            <a:prstDash val="solid"/>
          </a:ln>
        </p:spPr>
      </p:sp>
      <p:sp>
        <p:nvSpPr>
          <p:cNvPr id="181" name="Shape 179"/>
          <p:cNvSpPr/>
          <p:nvPr/>
        </p:nvSpPr>
        <p:spPr>
          <a:xfrm>
            <a:off x="4997318" y="3826947"/>
            <a:ext cx="219456" cy="219456"/>
          </a:xfrm>
          <a:prstGeom prst="rect">
            <a:avLst/>
          </a:prstGeom>
          <a:solidFill>
            <a:srgbClr val="E3E2DA"/>
          </a:solidFill>
          <a:ln w="12700">
            <a:solidFill>
              <a:srgbClr val="E3E2DA"/>
            </a:solidFill>
            <a:prstDash val="solid"/>
          </a:ln>
        </p:spPr>
      </p:sp>
      <p:sp>
        <p:nvSpPr>
          <p:cNvPr id="182" name="Shape 180"/>
          <p:cNvSpPr/>
          <p:nvPr/>
        </p:nvSpPr>
        <p:spPr>
          <a:xfrm>
            <a:off x="5247498" y="3826947"/>
            <a:ext cx="219456" cy="219456"/>
          </a:xfrm>
          <a:prstGeom prst="rect">
            <a:avLst/>
          </a:prstGeom>
          <a:solidFill>
            <a:srgbClr val="E3E2DA"/>
          </a:solidFill>
          <a:ln w="12700">
            <a:solidFill>
              <a:srgbClr val="E3E2DA"/>
            </a:solidFill>
            <a:prstDash val="solid"/>
          </a:ln>
        </p:spPr>
      </p:sp>
      <p:sp>
        <p:nvSpPr>
          <p:cNvPr id="183" name="Shape 181"/>
          <p:cNvSpPr/>
          <p:nvPr/>
        </p:nvSpPr>
        <p:spPr>
          <a:xfrm>
            <a:off x="5497678" y="3826947"/>
            <a:ext cx="219456" cy="219456"/>
          </a:xfrm>
          <a:prstGeom prst="rect">
            <a:avLst/>
          </a:prstGeom>
          <a:solidFill>
            <a:srgbClr val="E3E2DA"/>
          </a:solidFill>
          <a:ln w="12700">
            <a:solidFill>
              <a:srgbClr val="E3E2DA"/>
            </a:solidFill>
            <a:prstDash val="solid"/>
          </a:ln>
        </p:spPr>
      </p:sp>
      <p:sp>
        <p:nvSpPr>
          <p:cNvPr id="184" name="Shape 182"/>
          <p:cNvSpPr/>
          <p:nvPr/>
        </p:nvSpPr>
        <p:spPr>
          <a:xfrm>
            <a:off x="5747857" y="3826947"/>
            <a:ext cx="219456" cy="219456"/>
          </a:xfrm>
          <a:prstGeom prst="rect">
            <a:avLst/>
          </a:prstGeom>
          <a:solidFill>
            <a:srgbClr val="E3E2DA"/>
          </a:solidFill>
          <a:ln w="12700">
            <a:solidFill>
              <a:srgbClr val="E3E2DA"/>
            </a:solidFill>
            <a:prstDash val="solid"/>
          </a:ln>
        </p:spPr>
      </p:sp>
      <p:sp>
        <p:nvSpPr>
          <p:cNvPr id="185" name="Shape 183"/>
          <p:cNvSpPr/>
          <p:nvPr/>
        </p:nvSpPr>
        <p:spPr>
          <a:xfrm>
            <a:off x="5998037" y="3826947"/>
            <a:ext cx="219456" cy="219456"/>
          </a:xfrm>
          <a:prstGeom prst="rect">
            <a:avLst/>
          </a:prstGeom>
          <a:solidFill>
            <a:srgbClr val="E3E2DA"/>
          </a:solidFill>
          <a:ln w="12700">
            <a:solidFill>
              <a:srgbClr val="E3E2DA"/>
            </a:solidFill>
            <a:prstDash val="solid"/>
          </a:ln>
        </p:spPr>
      </p:sp>
      <p:sp>
        <p:nvSpPr>
          <p:cNvPr id="186" name="Shape 184"/>
          <p:cNvSpPr/>
          <p:nvPr/>
        </p:nvSpPr>
        <p:spPr>
          <a:xfrm>
            <a:off x="6248217" y="3826947"/>
            <a:ext cx="219456" cy="219456"/>
          </a:xfrm>
          <a:prstGeom prst="rect">
            <a:avLst/>
          </a:prstGeom>
          <a:solidFill>
            <a:srgbClr val="E3E2DA"/>
          </a:solidFill>
          <a:ln w="12700">
            <a:solidFill>
              <a:srgbClr val="E3E2DA"/>
            </a:solidFill>
            <a:prstDash val="solid"/>
          </a:ln>
        </p:spPr>
      </p:sp>
      <p:sp>
        <p:nvSpPr>
          <p:cNvPr id="187" name="Shape 185"/>
          <p:cNvSpPr/>
          <p:nvPr/>
        </p:nvSpPr>
        <p:spPr>
          <a:xfrm>
            <a:off x="6498397" y="3826947"/>
            <a:ext cx="219456" cy="219456"/>
          </a:xfrm>
          <a:prstGeom prst="rect">
            <a:avLst/>
          </a:prstGeom>
          <a:solidFill>
            <a:srgbClr val="E3E2DA"/>
          </a:solidFill>
          <a:ln w="12700">
            <a:solidFill>
              <a:srgbClr val="E3E2DA"/>
            </a:solidFill>
            <a:prstDash val="solid"/>
          </a:ln>
        </p:spPr>
      </p:sp>
      <p:sp>
        <p:nvSpPr>
          <p:cNvPr id="188" name="Shape 186"/>
          <p:cNvSpPr/>
          <p:nvPr/>
        </p:nvSpPr>
        <p:spPr>
          <a:xfrm>
            <a:off x="4246778" y="4077127"/>
            <a:ext cx="219456" cy="219456"/>
          </a:xfrm>
          <a:prstGeom prst="rect">
            <a:avLst/>
          </a:prstGeom>
          <a:solidFill>
            <a:srgbClr val="E3E2DA"/>
          </a:solidFill>
          <a:ln w="12700">
            <a:solidFill>
              <a:srgbClr val="E3E2DA"/>
            </a:solidFill>
            <a:prstDash val="solid"/>
          </a:ln>
        </p:spPr>
      </p:sp>
      <p:sp>
        <p:nvSpPr>
          <p:cNvPr id="189" name="Shape 187"/>
          <p:cNvSpPr/>
          <p:nvPr/>
        </p:nvSpPr>
        <p:spPr>
          <a:xfrm>
            <a:off x="4496958" y="4077127"/>
            <a:ext cx="219456" cy="219456"/>
          </a:xfrm>
          <a:prstGeom prst="rect">
            <a:avLst/>
          </a:prstGeom>
          <a:solidFill>
            <a:srgbClr val="E3E2DA"/>
          </a:solidFill>
          <a:ln w="12700">
            <a:solidFill>
              <a:srgbClr val="E3E2DA"/>
            </a:solidFill>
            <a:prstDash val="solid"/>
          </a:ln>
        </p:spPr>
      </p:sp>
      <p:sp>
        <p:nvSpPr>
          <p:cNvPr id="190" name="Shape 188"/>
          <p:cNvSpPr/>
          <p:nvPr/>
        </p:nvSpPr>
        <p:spPr>
          <a:xfrm>
            <a:off x="4747138" y="4077127"/>
            <a:ext cx="219456" cy="219456"/>
          </a:xfrm>
          <a:prstGeom prst="rect">
            <a:avLst/>
          </a:prstGeom>
          <a:solidFill>
            <a:srgbClr val="E3E2DA"/>
          </a:solidFill>
          <a:ln w="12700">
            <a:solidFill>
              <a:srgbClr val="E3E2DA"/>
            </a:solidFill>
            <a:prstDash val="solid"/>
          </a:ln>
        </p:spPr>
      </p:sp>
      <p:sp>
        <p:nvSpPr>
          <p:cNvPr id="191" name="Shape 189"/>
          <p:cNvSpPr/>
          <p:nvPr/>
        </p:nvSpPr>
        <p:spPr>
          <a:xfrm>
            <a:off x="4997318" y="4077127"/>
            <a:ext cx="219456" cy="219456"/>
          </a:xfrm>
          <a:prstGeom prst="rect">
            <a:avLst/>
          </a:prstGeom>
          <a:solidFill>
            <a:srgbClr val="E3E2DA"/>
          </a:solidFill>
          <a:ln w="12700">
            <a:solidFill>
              <a:srgbClr val="E3E2DA"/>
            </a:solidFill>
            <a:prstDash val="solid"/>
          </a:ln>
        </p:spPr>
      </p:sp>
      <p:sp>
        <p:nvSpPr>
          <p:cNvPr id="192" name="Shape 190"/>
          <p:cNvSpPr/>
          <p:nvPr/>
        </p:nvSpPr>
        <p:spPr>
          <a:xfrm>
            <a:off x="5247498" y="4077127"/>
            <a:ext cx="219456" cy="219456"/>
          </a:xfrm>
          <a:prstGeom prst="rect">
            <a:avLst/>
          </a:prstGeom>
          <a:solidFill>
            <a:srgbClr val="E3E2DA"/>
          </a:solidFill>
          <a:ln w="12700">
            <a:solidFill>
              <a:srgbClr val="E3E2DA"/>
            </a:solidFill>
            <a:prstDash val="solid"/>
          </a:ln>
        </p:spPr>
      </p:sp>
      <p:sp>
        <p:nvSpPr>
          <p:cNvPr id="193" name="Shape 191"/>
          <p:cNvSpPr/>
          <p:nvPr/>
        </p:nvSpPr>
        <p:spPr>
          <a:xfrm>
            <a:off x="5497678" y="4077127"/>
            <a:ext cx="219456" cy="219456"/>
          </a:xfrm>
          <a:prstGeom prst="rect">
            <a:avLst/>
          </a:prstGeom>
          <a:solidFill>
            <a:srgbClr val="E3E2DA"/>
          </a:solidFill>
          <a:ln w="12700">
            <a:solidFill>
              <a:srgbClr val="E3E2DA"/>
            </a:solidFill>
            <a:prstDash val="solid"/>
          </a:ln>
        </p:spPr>
      </p:sp>
      <p:sp>
        <p:nvSpPr>
          <p:cNvPr id="194" name="Shape 192"/>
          <p:cNvSpPr/>
          <p:nvPr/>
        </p:nvSpPr>
        <p:spPr>
          <a:xfrm>
            <a:off x="5747857" y="4077127"/>
            <a:ext cx="219456" cy="219456"/>
          </a:xfrm>
          <a:prstGeom prst="rect">
            <a:avLst/>
          </a:prstGeom>
          <a:solidFill>
            <a:srgbClr val="E3E2DA"/>
          </a:solidFill>
          <a:ln w="12700">
            <a:solidFill>
              <a:srgbClr val="E3E2DA"/>
            </a:solidFill>
            <a:prstDash val="solid"/>
          </a:ln>
        </p:spPr>
      </p:sp>
      <p:sp>
        <p:nvSpPr>
          <p:cNvPr id="195" name="Shape 193"/>
          <p:cNvSpPr/>
          <p:nvPr/>
        </p:nvSpPr>
        <p:spPr>
          <a:xfrm>
            <a:off x="5998037" y="4077127"/>
            <a:ext cx="219456" cy="219456"/>
          </a:xfrm>
          <a:prstGeom prst="rect">
            <a:avLst/>
          </a:prstGeom>
          <a:solidFill>
            <a:srgbClr val="E3E2DA"/>
          </a:solidFill>
          <a:ln w="12700">
            <a:solidFill>
              <a:srgbClr val="E3E2DA"/>
            </a:solidFill>
            <a:prstDash val="solid"/>
          </a:ln>
        </p:spPr>
      </p:sp>
      <p:sp>
        <p:nvSpPr>
          <p:cNvPr id="196" name="Shape 194"/>
          <p:cNvSpPr/>
          <p:nvPr/>
        </p:nvSpPr>
        <p:spPr>
          <a:xfrm>
            <a:off x="6248217" y="4077127"/>
            <a:ext cx="219456" cy="219456"/>
          </a:xfrm>
          <a:prstGeom prst="rect">
            <a:avLst/>
          </a:prstGeom>
          <a:solidFill>
            <a:srgbClr val="E3E2DA"/>
          </a:solidFill>
          <a:ln w="12700">
            <a:solidFill>
              <a:srgbClr val="E3E2DA"/>
            </a:solidFill>
            <a:prstDash val="solid"/>
          </a:ln>
        </p:spPr>
      </p:sp>
      <p:sp>
        <p:nvSpPr>
          <p:cNvPr id="197" name="Shape 195"/>
          <p:cNvSpPr/>
          <p:nvPr/>
        </p:nvSpPr>
        <p:spPr>
          <a:xfrm>
            <a:off x="6498397" y="4077127"/>
            <a:ext cx="219456" cy="219456"/>
          </a:xfrm>
          <a:prstGeom prst="rect">
            <a:avLst/>
          </a:prstGeom>
          <a:solidFill>
            <a:srgbClr val="E3E2DA"/>
          </a:solidFill>
          <a:ln w="12700">
            <a:solidFill>
              <a:srgbClr val="E3E2DA"/>
            </a:solidFill>
            <a:prstDash val="solid"/>
          </a:ln>
        </p:spPr>
      </p:sp>
      <p:sp>
        <p:nvSpPr>
          <p:cNvPr id="198" name="Shape 196"/>
          <p:cNvSpPr/>
          <p:nvPr/>
        </p:nvSpPr>
        <p:spPr>
          <a:xfrm>
            <a:off x="4246778" y="4327307"/>
            <a:ext cx="219456" cy="219456"/>
          </a:xfrm>
          <a:prstGeom prst="rect">
            <a:avLst/>
          </a:prstGeom>
          <a:solidFill>
            <a:srgbClr val="E3E2DA"/>
          </a:solidFill>
          <a:ln w="12700">
            <a:solidFill>
              <a:srgbClr val="E3E2DA"/>
            </a:solidFill>
            <a:prstDash val="solid"/>
          </a:ln>
        </p:spPr>
      </p:sp>
      <p:sp>
        <p:nvSpPr>
          <p:cNvPr id="199" name="Shape 197"/>
          <p:cNvSpPr/>
          <p:nvPr/>
        </p:nvSpPr>
        <p:spPr>
          <a:xfrm>
            <a:off x="4496958" y="4327307"/>
            <a:ext cx="219456" cy="219456"/>
          </a:xfrm>
          <a:prstGeom prst="rect">
            <a:avLst/>
          </a:prstGeom>
          <a:solidFill>
            <a:srgbClr val="E3E2DA"/>
          </a:solidFill>
          <a:ln w="12700">
            <a:solidFill>
              <a:srgbClr val="E3E2DA"/>
            </a:solidFill>
            <a:prstDash val="solid"/>
          </a:ln>
        </p:spPr>
      </p:sp>
      <p:sp>
        <p:nvSpPr>
          <p:cNvPr id="200" name="Shape 198"/>
          <p:cNvSpPr/>
          <p:nvPr/>
        </p:nvSpPr>
        <p:spPr>
          <a:xfrm>
            <a:off x="4747138" y="4327307"/>
            <a:ext cx="219456" cy="219456"/>
          </a:xfrm>
          <a:prstGeom prst="rect">
            <a:avLst/>
          </a:prstGeom>
          <a:solidFill>
            <a:srgbClr val="E3E2DA"/>
          </a:solidFill>
          <a:ln w="12700">
            <a:solidFill>
              <a:srgbClr val="E3E2DA"/>
            </a:solidFill>
            <a:prstDash val="solid"/>
          </a:ln>
        </p:spPr>
      </p:sp>
      <p:sp>
        <p:nvSpPr>
          <p:cNvPr id="201" name="Shape 199"/>
          <p:cNvSpPr/>
          <p:nvPr/>
        </p:nvSpPr>
        <p:spPr>
          <a:xfrm>
            <a:off x="4997318" y="4327307"/>
            <a:ext cx="219456" cy="219456"/>
          </a:xfrm>
          <a:prstGeom prst="rect">
            <a:avLst/>
          </a:prstGeom>
          <a:solidFill>
            <a:srgbClr val="E3E2DA"/>
          </a:solidFill>
          <a:ln w="12700">
            <a:solidFill>
              <a:srgbClr val="E3E2DA"/>
            </a:solidFill>
            <a:prstDash val="solid"/>
          </a:ln>
        </p:spPr>
      </p:sp>
      <p:sp>
        <p:nvSpPr>
          <p:cNvPr id="202" name="Shape 200"/>
          <p:cNvSpPr/>
          <p:nvPr/>
        </p:nvSpPr>
        <p:spPr>
          <a:xfrm>
            <a:off x="5247498" y="4327307"/>
            <a:ext cx="219456" cy="219456"/>
          </a:xfrm>
          <a:prstGeom prst="rect">
            <a:avLst/>
          </a:prstGeom>
          <a:solidFill>
            <a:srgbClr val="E3E2DA"/>
          </a:solidFill>
          <a:ln w="12700">
            <a:solidFill>
              <a:srgbClr val="E3E2DA"/>
            </a:solidFill>
            <a:prstDash val="solid"/>
          </a:ln>
        </p:spPr>
      </p:sp>
      <p:sp>
        <p:nvSpPr>
          <p:cNvPr id="203" name="Shape 201"/>
          <p:cNvSpPr/>
          <p:nvPr/>
        </p:nvSpPr>
        <p:spPr>
          <a:xfrm>
            <a:off x="5497678" y="4327307"/>
            <a:ext cx="219456" cy="219456"/>
          </a:xfrm>
          <a:prstGeom prst="rect">
            <a:avLst/>
          </a:prstGeom>
          <a:solidFill>
            <a:srgbClr val="E3E2DA"/>
          </a:solidFill>
          <a:ln w="12700">
            <a:solidFill>
              <a:srgbClr val="E3E2DA"/>
            </a:solidFill>
            <a:prstDash val="solid"/>
          </a:ln>
        </p:spPr>
      </p:sp>
      <p:sp>
        <p:nvSpPr>
          <p:cNvPr id="204" name="Shape 202"/>
          <p:cNvSpPr/>
          <p:nvPr/>
        </p:nvSpPr>
        <p:spPr>
          <a:xfrm>
            <a:off x="5747857" y="4327307"/>
            <a:ext cx="219456" cy="219456"/>
          </a:xfrm>
          <a:prstGeom prst="rect">
            <a:avLst/>
          </a:prstGeom>
          <a:solidFill>
            <a:srgbClr val="E3E2DA"/>
          </a:solidFill>
          <a:ln w="12700">
            <a:solidFill>
              <a:srgbClr val="E3E2DA"/>
            </a:solidFill>
            <a:prstDash val="solid"/>
          </a:ln>
        </p:spPr>
      </p:sp>
      <p:sp>
        <p:nvSpPr>
          <p:cNvPr id="205" name="Shape 203"/>
          <p:cNvSpPr/>
          <p:nvPr/>
        </p:nvSpPr>
        <p:spPr>
          <a:xfrm>
            <a:off x="5998037" y="4327307"/>
            <a:ext cx="219456" cy="219456"/>
          </a:xfrm>
          <a:prstGeom prst="rect">
            <a:avLst/>
          </a:prstGeom>
          <a:solidFill>
            <a:srgbClr val="E3E2DA"/>
          </a:solidFill>
          <a:ln w="12700">
            <a:solidFill>
              <a:srgbClr val="E3E2DA"/>
            </a:solidFill>
            <a:prstDash val="solid"/>
          </a:ln>
        </p:spPr>
      </p:sp>
      <p:sp>
        <p:nvSpPr>
          <p:cNvPr id="206" name="Shape 204"/>
          <p:cNvSpPr/>
          <p:nvPr/>
        </p:nvSpPr>
        <p:spPr>
          <a:xfrm>
            <a:off x="6248217" y="4327307"/>
            <a:ext cx="219456" cy="219456"/>
          </a:xfrm>
          <a:prstGeom prst="rect">
            <a:avLst/>
          </a:prstGeom>
          <a:solidFill>
            <a:srgbClr val="E3E2DA"/>
          </a:solidFill>
          <a:ln w="12700">
            <a:solidFill>
              <a:srgbClr val="E3E2DA"/>
            </a:solidFill>
            <a:prstDash val="solid"/>
          </a:ln>
        </p:spPr>
      </p:sp>
      <p:sp>
        <p:nvSpPr>
          <p:cNvPr id="207" name="Shape 205"/>
          <p:cNvSpPr/>
          <p:nvPr/>
        </p:nvSpPr>
        <p:spPr>
          <a:xfrm>
            <a:off x="6498397" y="4327307"/>
            <a:ext cx="219456" cy="219456"/>
          </a:xfrm>
          <a:prstGeom prst="rect">
            <a:avLst/>
          </a:prstGeom>
          <a:solidFill>
            <a:srgbClr val="E3E2DA"/>
          </a:solidFill>
          <a:ln w="12700">
            <a:solidFill>
              <a:srgbClr val="E3E2DA"/>
            </a:solidFill>
            <a:prstDash val="solid"/>
          </a:ln>
        </p:spPr>
      </p:sp>
      <p:sp>
        <p:nvSpPr>
          <p:cNvPr id="208" name="Text 206"/>
          <p:cNvSpPr txBox="1"/>
          <p:nvPr/>
        </p:nvSpPr>
        <p:spPr>
          <a:xfrm>
            <a:off x="4246778" y="4650638"/>
            <a:ext cx="3515258" cy="365760"/>
          </a:xfrm>
          <a:prstGeom prst="rect">
            <a:avLst/>
          </a:prstGeom>
          <a:noFill/>
          <a:ln/>
        </p:spPr>
        <p:txBody>
          <a:bodyPr wrap="square" lIns="0" tIns="0" rIns="0" bIns="0" rtlCol="0" anchor="ctr"/>
          <a:lstStyle/>
          <a:p>
            <a:pPr indent="0" marL="0">
              <a:buNone/>
            </a:pPr>
            <a:r>
              <a:rPr lang="en-US" sz="2000" b="1" i="1" dirty="0">
                <a:solidFill>
                  <a:srgbClr val="125C60"/>
                </a:solidFill>
                <a:latin typeface="Proxima Nova" pitchFamily="34" charset="0"/>
                <a:ea typeface="Proxima Nova" pitchFamily="34" charset="-122"/>
                <a:cs typeface="Proxima Nova" pitchFamily="34" charset="-120"/>
              </a:rPr>
              <a:t>43.8%</a:t>
            </a:r>
            <a:endParaRPr lang="en-US" sz="2000" dirty="0"/>
          </a:p>
        </p:txBody>
      </p:sp>
      <p:sp>
        <p:nvSpPr>
          <p:cNvPr id="209" name="Text 207"/>
          <p:cNvSpPr txBox="1"/>
          <p:nvPr/>
        </p:nvSpPr>
        <p:spPr>
          <a:xfrm>
            <a:off x="4246778" y="5016398"/>
            <a:ext cx="3423818" cy="457200"/>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are first-time visitors (44 of every 100)</a:t>
            </a:r>
            <a:endParaRPr lang="en-US" sz="1000" dirty="0"/>
          </a:p>
        </p:txBody>
      </p:sp>
      <p:sp>
        <p:nvSpPr>
          <p:cNvPr id="210" name="Shape 208"/>
          <p:cNvSpPr/>
          <p:nvPr/>
        </p:nvSpPr>
        <p:spPr>
          <a:xfrm>
            <a:off x="7944917" y="2075688"/>
            <a:ext cx="219456" cy="219456"/>
          </a:xfrm>
          <a:prstGeom prst="rect">
            <a:avLst/>
          </a:prstGeom>
          <a:solidFill>
            <a:srgbClr val="43A3A3"/>
          </a:solidFill>
          <a:ln w="12700">
            <a:solidFill>
              <a:srgbClr val="43A3A3"/>
            </a:solidFill>
            <a:prstDash val="solid"/>
          </a:ln>
        </p:spPr>
      </p:sp>
      <p:sp>
        <p:nvSpPr>
          <p:cNvPr id="211" name="Shape 209"/>
          <p:cNvSpPr/>
          <p:nvPr/>
        </p:nvSpPr>
        <p:spPr>
          <a:xfrm>
            <a:off x="8195097" y="2075688"/>
            <a:ext cx="219456" cy="219456"/>
          </a:xfrm>
          <a:prstGeom prst="rect">
            <a:avLst/>
          </a:prstGeom>
          <a:solidFill>
            <a:srgbClr val="43A3A3"/>
          </a:solidFill>
          <a:ln w="12700">
            <a:solidFill>
              <a:srgbClr val="43A3A3"/>
            </a:solidFill>
            <a:prstDash val="solid"/>
          </a:ln>
        </p:spPr>
      </p:sp>
      <p:sp>
        <p:nvSpPr>
          <p:cNvPr id="212" name="Shape 210"/>
          <p:cNvSpPr/>
          <p:nvPr/>
        </p:nvSpPr>
        <p:spPr>
          <a:xfrm>
            <a:off x="8445276" y="2075688"/>
            <a:ext cx="219456" cy="219456"/>
          </a:xfrm>
          <a:prstGeom prst="rect">
            <a:avLst/>
          </a:prstGeom>
          <a:solidFill>
            <a:srgbClr val="43A3A3"/>
          </a:solidFill>
          <a:ln w="12700">
            <a:solidFill>
              <a:srgbClr val="43A3A3"/>
            </a:solidFill>
            <a:prstDash val="solid"/>
          </a:ln>
        </p:spPr>
      </p:sp>
      <p:sp>
        <p:nvSpPr>
          <p:cNvPr id="213" name="Shape 211"/>
          <p:cNvSpPr/>
          <p:nvPr/>
        </p:nvSpPr>
        <p:spPr>
          <a:xfrm>
            <a:off x="8695456" y="2075688"/>
            <a:ext cx="219456" cy="219456"/>
          </a:xfrm>
          <a:prstGeom prst="rect">
            <a:avLst/>
          </a:prstGeom>
          <a:solidFill>
            <a:srgbClr val="43A3A3"/>
          </a:solidFill>
          <a:ln w="12700">
            <a:solidFill>
              <a:srgbClr val="43A3A3"/>
            </a:solidFill>
            <a:prstDash val="solid"/>
          </a:ln>
        </p:spPr>
      </p:sp>
      <p:sp>
        <p:nvSpPr>
          <p:cNvPr id="214" name="Shape 212"/>
          <p:cNvSpPr/>
          <p:nvPr/>
        </p:nvSpPr>
        <p:spPr>
          <a:xfrm>
            <a:off x="8945636" y="2075688"/>
            <a:ext cx="219456" cy="219456"/>
          </a:xfrm>
          <a:prstGeom prst="rect">
            <a:avLst/>
          </a:prstGeom>
          <a:solidFill>
            <a:srgbClr val="43A3A3"/>
          </a:solidFill>
          <a:ln w="12700">
            <a:solidFill>
              <a:srgbClr val="43A3A3"/>
            </a:solidFill>
            <a:prstDash val="solid"/>
          </a:ln>
        </p:spPr>
      </p:sp>
      <p:sp>
        <p:nvSpPr>
          <p:cNvPr id="215" name="Shape 213"/>
          <p:cNvSpPr/>
          <p:nvPr/>
        </p:nvSpPr>
        <p:spPr>
          <a:xfrm>
            <a:off x="9195816" y="2075688"/>
            <a:ext cx="219456" cy="219456"/>
          </a:xfrm>
          <a:prstGeom prst="rect">
            <a:avLst/>
          </a:prstGeom>
          <a:solidFill>
            <a:srgbClr val="43A3A3"/>
          </a:solidFill>
          <a:ln w="12700">
            <a:solidFill>
              <a:srgbClr val="43A3A3"/>
            </a:solidFill>
            <a:prstDash val="solid"/>
          </a:ln>
        </p:spPr>
      </p:sp>
      <p:sp>
        <p:nvSpPr>
          <p:cNvPr id="216" name="Shape 214"/>
          <p:cNvSpPr/>
          <p:nvPr/>
        </p:nvSpPr>
        <p:spPr>
          <a:xfrm>
            <a:off x="9445996" y="2075688"/>
            <a:ext cx="219456" cy="219456"/>
          </a:xfrm>
          <a:prstGeom prst="rect">
            <a:avLst/>
          </a:prstGeom>
          <a:solidFill>
            <a:srgbClr val="43A3A3"/>
          </a:solidFill>
          <a:ln w="12700">
            <a:solidFill>
              <a:srgbClr val="43A3A3"/>
            </a:solidFill>
            <a:prstDash val="solid"/>
          </a:ln>
        </p:spPr>
      </p:sp>
      <p:sp>
        <p:nvSpPr>
          <p:cNvPr id="217" name="Shape 215"/>
          <p:cNvSpPr/>
          <p:nvPr/>
        </p:nvSpPr>
        <p:spPr>
          <a:xfrm>
            <a:off x="9696176" y="2075688"/>
            <a:ext cx="219456" cy="219456"/>
          </a:xfrm>
          <a:prstGeom prst="rect">
            <a:avLst/>
          </a:prstGeom>
          <a:solidFill>
            <a:srgbClr val="43A3A3"/>
          </a:solidFill>
          <a:ln w="12700">
            <a:solidFill>
              <a:srgbClr val="43A3A3"/>
            </a:solidFill>
            <a:prstDash val="solid"/>
          </a:ln>
        </p:spPr>
      </p:sp>
      <p:sp>
        <p:nvSpPr>
          <p:cNvPr id="218" name="Shape 216"/>
          <p:cNvSpPr/>
          <p:nvPr/>
        </p:nvSpPr>
        <p:spPr>
          <a:xfrm>
            <a:off x="9946356" y="2075688"/>
            <a:ext cx="219456" cy="219456"/>
          </a:xfrm>
          <a:prstGeom prst="rect">
            <a:avLst/>
          </a:prstGeom>
          <a:solidFill>
            <a:srgbClr val="43A3A3"/>
          </a:solidFill>
          <a:ln w="12700">
            <a:solidFill>
              <a:srgbClr val="43A3A3"/>
            </a:solidFill>
            <a:prstDash val="solid"/>
          </a:ln>
        </p:spPr>
      </p:sp>
      <p:sp>
        <p:nvSpPr>
          <p:cNvPr id="219" name="Shape 217"/>
          <p:cNvSpPr/>
          <p:nvPr/>
        </p:nvSpPr>
        <p:spPr>
          <a:xfrm>
            <a:off x="10196535" y="2075688"/>
            <a:ext cx="219456" cy="219456"/>
          </a:xfrm>
          <a:prstGeom prst="rect">
            <a:avLst/>
          </a:prstGeom>
          <a:solidFill>
            <a:srgbClr val="43A3A3"/>
          </a:solidFill>
          <a:ln w="12700">
            <a:solidFill>
              <a:srgbClr val="43A3A3"/>
            </a:solidFill>
            <a:prstDash val="solid"/>
          </a:ln>
        </p:spPr>
      </p:sp>
      <p:sp>
        <p:nvSpPr>
          <p:cNvPr id="220" name="Shape 218"/>
          <p:cNvSpPr/>
          <p:nvPr/>
        </p:nvSpPr>
        <p:spPr>
          <a:xfrm>
            <a:off x="7944917" y="2325868"/>
            <a:ext cx="219456" cy="219456"/>
          </a:xfrm>
          <a:prstGeom prst="rect">
            <a:avLst/>
          </a:prstGeom>
          <a:solidFill>
            <a:srgbClr val="43A3A3"/>
          </a:solidFill>
          <a:ln w="12700">
            <a:solidFill>
              <a:srgbClr val="43A3A3"/>
            </a:solidFill>
            <a:prstDash val="solid"/>
          </a:ln>
        </p:spPr>
      </p:sp>
      <p:sp>
        <p:nvSpPr>
          <p:cNvPr id="221" name="Shape 219"/>
          <p:cNvSpPr/>
          <p:nvPr/>
        </p:nvSpPr>
        <p:spPr>
          <a:xfrm>
            <a:off x="8195097" y="2325868"/>
            <a:ext cx="219456" cy="219456"/>
          </a:xfrm>
          <a:prstGeom prst="rect">
            <a:avLst/>
          </a:prstGeom>
          <a:solidFill>
            <a:srgbClr val="43A3A3"/>
          </a:solidFill>
          <a:ln w="12700">
            <a:solidFill>
              <a:srgbClr val="43A3A3"/>
            </a:solidFill>
            <a:prstDash val="solid"/>
          </a:ln>
        </p:spPr>
      </p:sp>
      <p:sp>
        <p:nvSpPr>
          <p:cNvPr id="222" name="Shape 220"/>
          <p:cNvSpPr/>
          <p:nvPr/>
        </p:nvSpPr>
        <p:spPr>
          <a:xfrm>
            <a:off x="8445276" y="2325868"/>
            <a:ext cx="219456" cy="219456"/>
          </a:xfrm>
          <a:prstGeom prst="rect">
            <a:avLst/>
          </a:prstGeom>
          <a:solidFill>
            <a:srgbClr val="43A3A3"/>
          </a:solidFill>
          <a:ln w="12700">
            <a:solidFill>
              <a:srgbClr val="43A3A3"/>
            </a:solidFill>
            <a:prstDash val="solid"/>
          </a:ln>
        </p:spPr>
      </p:sp>
      <p:sp>
        <p:nvSpPr>
          <p:cNvPr id="223" name="Shape 221"/>
          <p:cNvSpPr/>
          <p:nvPr/>
        </p:nvSpPr>
        <p:spPr>
          <a:xfrm>
            <a:off x="8695456" y="2325868"/>
            <a:ext cx="219456" cy="219456"/>
          </a:xfrm>
          <a:prstGeom prst="rect">
            <a:avLst/>
          </a:prstGeom>
          <a:solidFill>
            <a:srgbClr val="43A3A3"/>
          </a:solidFill>
          <a:ln w="12700">
            <a:solidFill>
              <a:srgbClr val="43A3A3"/>
            </a:solidFill>
            <a:prstDash val="solid"/>
          </a:ln>
        </p:spPr>
      </p:sp>
      <p:sp>
        <p:nvSpPr>
          <p:cNvPr id="224" name="Shape 222"/>
          <p:cNvSpPr/>
          <p:nvPr/>
        </p:nvSpPr>
        <p:spPr>
          <a:xfrm>
            <a:off x="8945636" y="2325868"/>
            <a:ext cx="219456" cy="219456"/>
          </a:xfrm>
          <a:prstGeom prst="rect">
            <a:avLst/>
          </a:prstGeom>
          <a:solidFill>
            <a:srgbClr val="43A3A3"/>
          </a:solidFill>
          <a:ln w="12700">
            <a:solidFill>
              <a:srgbClr val="43A3A3"/>
            </a:solidFill>
            <a:prstDash val="solid"/>
          </a:ln>
        </p:spPr>
      </p:sp>
      <p:sp>
        <p:nvSpPr>
          <p:cNvPr id="225" name="Shape 223"/>
          <p:cNvSpPr/>
          <p:nvPr/>
        </p:nvSpPr>
        <p:spPr>
          <a:xfrm>
            <a:off x="9195816" y="2325868"/>
            <a:ext cx="219456" cy="219456"/>
          </a:xfrm>
          <a:prstGeom prst="rect">
            <a:avLst/>
          </a:prstGeom>
          <a:solidFill>
            <a:srgbClr val="43A3A3"/>
          </a:solidFill>
          <a:ln w="12700">
            <a:solidFill>
              <a:srgbClr val="43A3A3"/>
            </a:solidFill>
            <a:prstDash val="solid"/>
          </a:ln>
        </p:spPr>
      </p:sp>
      <p:sp>
        <p:nvSpPr>
          <p:cNvPr id="226" name="Shape 224"/>
          <p:cNvSpPr/>
          <p:nvPr/>
        </p:nvSpPr>
        <p:spPr>
          <a:xfrm>
            <a:off x="9445996" y="2325868"/>
            <a:ext cx="219456" cy="219456"/>
          </a:xfrm>
          <a:prstGeom prst="rect">
            <a:avLst/>
          </a:prstGeom>
          <a:solidFill>
            <a:srgbClr val="43A3A3"/>
          </a:solidFill>
          <a:ln w="12700">
            <a:solidFill>
              <a:srgbClr val="43A3A3"/>
            </a:solidFill>
            <a:prstDash val="solid"/>
          </a:ln>
        </p:spPr>
      </p:sp>
      <p:sp>
        <p:nvSpPr>
          <p:cNvPr id="227" name="Shape 225"/>
          <p:cNvSpPr/>
          <p:nvPr/>
        </p:nvSpPr>
        <p:spPr>
          <a:xfrm>
            <a:off x="9696176" y="2325868"/>
            <a:ext cx="219456" cy="219456"/>
          </a:xfrm>
          <a:prstGeom prst="rect">
            <a:avLst/>
          </a:prstGeom>
          <a:solidFill>
            <a:srgbClr val="43A3A3"/>
          </a:solidFill>
          <a:ln w="12700">
            <a:solidFill>
              <a:srgbClr val="43A3A3"/>
            </a:solidFill>
            <a:prstDash val="solid"/>
          </a:ln>
        </p:spPr>
      </p:sp>
      <p:sp>
        <p:nvSpPr>
          <p:cNvPr id="228" name="Shape 226"/>
          <p:cNvSpPr/>
          <p:nvPr/>
        </p:nvSpPr>
        <p:spPr>
          <a:xfrm>
            <a:off x="9946356" y="2325868"/>
            <a:ext cx="219456" cy="219456"/>
          </a:xfrm>
          <a:prstGeom prst="rect">
            <a:avLst/>
          </a:prstGeom>
          <a:solidFill>
            <a:srgbClr val="43A3A3"/>
          </a:solidFill>
          <a:ln w="12700">
            <a:solidFill>
              <a:srgbClr val="43A3A3"/>
            </a:solidFill>
            <a:prstDash val="solid"/>
          </a:ln>
        </p:spPr>
      </p:sp>
      <p:sp>
        <p:nvSpPr>
          <p:cNvPr id="229" name="Shape 227"/>
          <p:cNvSpPr/>
          <p:nvPr/>
        </p:nvSpPr>
        <p:spPr>
          <a:xfrm>
            <a:off x="10196535" y="2325868"/>
            <a:ext cx="219456" cy="219456"/>
          </a:xfrm>
          <a:prstGeom prst="rect">
            <a:avLst/>
          </a:prstGeom>
          <a:solidFill>
            <a:srgbClr val="43A3A3"/>
          </a:solidFill>
          <a:ln w="12700">
            <a:solidFill>
              <a:srgbClr val="43A3A3"/>
            </a:solidFill>
            <a:prstDash val="solid"/>
          </a:ln>
        </p:spPr>
      </p:sp>
      <p:sp>
        <p:nvSpPr>
          <p:cNvPr id="230" name="Shape 228"/>
          <p:cNvSpPr/>
          <p:nvPr/>
        </p:nvSpPr>
        <p:spPr>
          <a:xfrm>
            <a:off x="7944917" y="2576048"/>
            <a:ext cx="219456" cy="219456"/>
          </a:xfrm>
          <a:prstGeom prst="rect">
            <a:avLst/>
          </a:prstGeom>
          <a:solidFill>
            <a:srgbClr val="43A3A3"/>
          </a:solidFill>
          <a:ln w="12700">
            <a:solidFill>
              <a:srgbClr val="43A3A3"/>
            </a:solidFill>
            <a:prstDash val="solid"/>
          </a:ln>
        </p:spPr>
      </p:sp>
      <p:sp>
        <p:nvSpPr>
          <p:cNvPr id="231" name="Shape 229"/>
          <p:cNvSpPr/>
          <p:nvPr/>
        </p:nvSpPr>
        <p:spPr>
          <a:xfrm>
            <a:off x="8195097" y="2576048"/>
            <a:ext cx="219456" cy="219456"/>
          </a:xfrm>
          <a:prstGeom prst="rect">
            <a:avLst/>
          </a:prstGeom>
          <a:solidFill>
            <a:srgbClr val="43A3A3"/>
          </a:solidFill>
          <a:ln w="12700">
            <a:solidFill>
              <a:srgbClr val="43A3A3"/>
            </a:solidFill>
            <a:prstDash val="solid"/>
          </a:ln>
        </p:spPr>
      </p:sp>
      <p:sp>
        <p:nvSpPr>
          <p:cNvPr id="232" name="Shape 230"/>
          <p:cNvSpPr/>
          <p:nvPr/>
        </p:nvSpPr>
        <p:spPr>
          <a:xfrm>
            <a:off x="8445276" y="2576048"/>
            <a:ext cx="219456" cy="219456"/>
          </a:xfrm>
          <a:prstGeom prst="rect">
            <a:avLst/>
          </a:prstGeom>
          <a:solidFill>
            <a:srgbClr val="43A3A3"/>
          </a:solidFill>
          <a:ln w="12700">
            <a:solidFill>
              <a:srgbClr val="43A3A3"/>
            </a:solidFill>
            <a:prstDash val="solid"/>
          </a:ln>
        </p:spPr>
      </p:sp>
      <p:sp>
        <p:nvSpPr>
          <p:cNvPr id="233" name="Shape 231"/>
          <p:cNvSpPr/>
          <p:nvPr/>
        </p:nvSpPr>
        <p:spPr>
          <a:xfrm>
            <a:off x="8695456" y="2576048"/>
            <a:ext cx="219456" cy="219456"/>
          </a:xfrm>
          <a:prstGeom prst="rect">
            <a:avLst/>
          </a:prstGeom>
          <a:solidFill>
            <a:srgbClr val="43A3A3"/>
          </a:solidFill>
          <a:ln w="12700">
            <a:solidFill>
              <a:srgbClr val="43A3A3"/>
            </a:solidFill>
            <a:prstDash val="solid"/>
          </a:ln>
        </p:spPr>
      </p:sp>
      <p:sp>
        <p:nvSpPr>
          <p:cNvPr id="234" name="Shape 232"/>
          <p:cNvSpPr/>
          <p:nvPr/>
        </p:nvSpPr>
        <p:spPr>
          <a:xfrm>
            <a:off x="8945636" y="2576048"/>
            <a:ext cx="219456" cy="219456"/>
          </a:xfrm>
          <a:prstGeom prst="rect">
            <a:avLst/>
          </a:prstGeom>
          <a:solidFill>
            <a:srgbClr val="43A3A3"/>
          </a:solidFill>
          <a:ln w="12700">
            <a:solidFill>
              <a:srgbClr val="43A3A3"/>
            </a:solidFill>
            <a:prstDash val="solid"/>
          </a:ln>
        </p:spPr>
      </p:sp>
      <p:sp>
        <p:nvSpPr>
          <p:cNvPr id="235" name="Shape 233"/>
          <p:cNvSpPr/>
          <p:nvPr/>
        </p:nvSpPr>
        <p:spPr>
          <a:xfrm>
            <a:off x="9195816" y="2576048"/>
            <a:ext cx="219456" cy="219456"/>
          </a:xfrm>
          <a:prstGeom prst="rect">
            <a:avLst/>
          </a:prstGeom>
          <a:solidFill>
            <a:srgbClr val="43A3A3"/>
          </a:solidFill>
          <a:ln w="12700">
            <a:solidFill>
              <a:srgbClr val="43A3A3"/>
            </a:solidFill>
            <a:prstDash val="solid"/>
          </a:ln>
        </p:spPr>
      </p:sp>
      <p:sp>
        <p:nvSpPr>
          <p:cNvPr id="236" name="Shape 234"/>
          <p:cNvSpPr/>
          <p:nvPr/>
        </p:nvSpPr>
        <p:spPr>
          <a:xfrm>
            <a:off x="9445996" y="2576048"/>
            <a:ext cx="219456" cy="219456"/>
          </a:xfrm>
          <a:prstGeom prst="rect">
            <a:avLst/>
          </a:prstGeom>
          <a:solidFill>
            <a:srgbClr val="43A3A3"/>
          </a:solidFill>
          <a:ln w="12700">
            <a:solidFill>
              <a:srgbClr val="43A3A3"/>
            </a:solidFill>
            <a:prstDash val="solid"/>
          </a:ln>
        </p:spPr>
      </p:sp>
      <p:sp>
        <p:nvSpPr>
          <p:cNvPr id="237" name="Shape 235"/>
          <p:cNvSpPr/>
          <p:nvPr/>
        </p:nvSpPr>
        <p:spPr>
          <a:xfrm>
            <a:off x="9696176" y="2576048"/>
            <a:ext cx="219456" cy="219456"/>
          </a:xfrm>
          <a:prstGeom prst="rect">
            <a:avLst/>
          </a:prstGeom>
          <a:solidFill>
            <a:srgbClr val="43A3A3"/>
          </a:solidFill>
          <a:ln w="12700">
            <a:solidFill>
              <a:srgbClr val="43A3A3"/>
            </a:solidFill>
            <a:prstDash val="solid"/>
          </a:ln>
        </p:spPr>
      </p:sp>
      <p:sp>
        <p:nvSpPr>
          <p:cNvPr id="238" name="Shape 236"/>
          <p:cNvSpPr/>
          <p:nvPr/>
        </p:nvSpPr>
        <p:spPr>
          <a:xfrm>
            <a:off x="9946356" y="2576048"/>
            <a:ext cx="219456" cy="219456"/>
          </a:xfrm>
          <a:prstGeom prst="rect">
            <a:avLst/>
          </a:prstGeom>
          <a:solidFill>
            <a:srgbClr val="43A3A3"/>
          </a:solidFill>
          <a:ln w="12700">
            <a:solidFill>
              <a:srgbClr val="43A3A3"/>
            </a:solidFill>
            <a:prstDash val="solid"/>
          </a:ln>
        </p:spPr>
      </p:sp>
      <p:sp>
        <p:nvSpPr>
          <p:cNvPr id="239" name="Shape 237"/>
          <p:cNvSpPr/>
          <p:nvPr/>
        </p:nvSpPr>
        <p:spPr>
          <a:xfrm>
            <a:off x="10196535" y="2576048"/>
            <a:ext cx="219456" cy="219456"/>
          </a:xfrm>
          <a:prstGeom prst="rect">
            <a:avLst/>
          </a:prstGeom>
          <a:solidFill>
            <a:srgbClr val="43A3A3"/>
          </a:solidFill>
          <a:ln w="12700">
            <a:solidFill>
              <a:srgbClr val="43A3A3"/>
            </a:solidFill>
            <a:prstDash val="solid"/>
          </a:ln>
        </p:spPr>
      </p:sp>
      <p:sp>
        <p:nvSpPr>
          <p:cNvPr id="240" name="Shape 238"/>
          <p:cNvSpPr/>
          <p:nvPr/>
        </p:nvSpPr>
        <p:spPr>
          <a:xfrm>
            <a:off x="7944917" y="2826228"/>
            <a:ext cx="219456" cy="219456"/>
          </a:xfrm>
          <a:prstGeom prst="rect">
            <a:avLst/>
          </a:prstGeom>
          <a:solidFill>
            <a:srgbClr val="43A3A3"/>
          </a:solidFill>
          <a:ln w="12700">
            <a:solidFill>
              <a:srgbClr val="43A3A3"/>
            </a:solidFill>
            <a:prstDash val="solid"/>
          </a:ln>
        </p:spPr>
      </p:sp>
      <p:sp>
        <p:nvSpPr>
          <p:cNvPr id="241" name="Shape 239"/>
          <p:cNvSpPr/>
          <p:nvPr/>
        </p:nvSpPr>
        <p:spPr>
          <a:xfrm>
            <a:off x="8195097" y="2826228"/>
            <a:ext cx="219456" cy="219456"/>
          </a:xfrm>
          <a:prstGeom prst="rect">
            <a:avLst/>
          </a:prstGeom>
          <a:solidFill>
            <a:srgbClr val="43A3A3"/>
          </a:solidFill>
          <a:ln w="12700">
            <a:solidFill>
              <a:srgbClr val="43A3A3"/>
            </a:solidFill>
            <a:prstDash val="solid"/>
          </a:ln>
        </p:spPr>
      </p:sp>
      <p:sp>
        <p:nvSpPr>
          <p:cNvPr id="242" name="Shape 240"/>
          <p:cNvSpPr/>
          <p:nvPr/>
        </p:nvSpPr>
        <p:spPr>
          <a:xfrm>
            <a:off x="8445276" y="2826228"/>
            <a:ext cx="219456" cy="219456"/>
          </a:xfrm>
          <a:prstGeom prst="rect">
            <a:avLst/>
          </a:prstGeom>
          <a:solidFill>
            <a:srgbClr val="43A3A3"/>
          </a:solidFill>
          <a:ln w="12700">
            <a:solidFill>
              <a:srgbClr val="43A3A3"/>
            </a:solidFill>
            <a:prstDash val="solid"/>
          </a:ln>
        </p:spPr>
      </p:sp>
      <p:sp>
        <p:nvSpPr>
          <p:cNvPr id="243" name="Shape 241"/>
          <p:cNvSpPr/>
          <p:nvPr/>
        </p:nvSpPr>
        <p:spPr>
          <a:xfrm>
            <a:off x="8695456" y="2826228"/>
            <a:ext cx="219456" cy="219456"/>
          </a:xfrm>
          <a:prstGeom prst="rect">
            <a:avLst/>
          </a:prstGeom>
          <a:solidFill>
            <a:srgbClr val="43A3A3"/>
          </a:solidFill>
          <a:ln w="12700">
            <a:solidFill>
              <a:srgbClr val="43A3A3"/>
            </a:solidFill>
            <a:prstDash val="solid"/>
          </a:ln>
        </p:spPr>
      </p:sp>
      <p:sp>
        <p:nvSpPr>
          <p:cNvPr id="244" name="Shape 242"/>
          <p:cNvSpPr/>
          <p:nvPr/>
        </p:nvSpPr>
        <p:spPr>
          <a:xfrm>
            <a:off x="8945636" y="2826228"/>
            <a:ext cx="219456" cy="219456"/>
          </a:xfrm>
          <a:prstGeom prst="rect">
            <a:avLst/>
          </a:prstGeom>
          <a:solidFill>
            <a:srgbClr val="43A3A3"/>
          </a:solidFill>
          <a:ln w="12700">
            <a:solidFill>
              <a:srgbClr val="43A3A3"/>
            </a:solidFill>
            <a:prstDash val="solid"/>
          </a:ln>
        </p:spPr>
      </p:sp>
      <p:sp>
        <p:nvSpPr>
          <p:cNvPr id="245" name="Shape 243"/>
          <p:cNvSpPr/>
          <p:nvPr/>
        </p:nvSpPr>
        <p:spPr>
          <a:xfrm>
            <a:off x="9195816" y="2826228"/>
            <a:ext cx="219456" cy="219456"/>
          </a:xfrm>
          <a:prstGeom prst="rect">
            <a:avLst/>
          </a:prstGeom>
          <a:solidFill>
            <a:srgbClr val="43A3A3"/>
          </a:solidFill>
          <a:ln w="12700">
            <a:solidFill>
              <a:srgbClr val="43A3A3"/>
            </a:solidFill>
            <a:prstDash val="solid"/>
          </a:ln>
        </p:spPr>
      </p:sp>
      <p:sp>
        <p:nvSpPr>
          <p:cNvPr id="246" name="Shape 244"/>
          <p:cNvSpPr/>
          <p:nvPr/>
        </p:nvSpPr>
        <p:spPr>
          <a:xfrm>
            <a:off x="9445996" y="2826228"/>
            <a:ext cx="219456" cy="219456"/>
          </a:xfrm>
          <a:prstGeom prst="rect">
            <a:avLst/>
          </a:prstGeom>
          <a:solidFill>
            <a:srgbClr val="43A3A3"/>
          </a:solidFill>
          <a:ln w="12700">
            <a:solidFill>
              <a:srgbClr val="43A3A3"/>
            </a:solidFill>
            <a:prstDash val="solid"/>
          </a:ln>
        </p:spPr>
      </p:sp>
      <p:sp>
        <p:nvSpPr>
          <p:cNvPr id="247" name="Shape 245"/>
          <p:cNvSpPr/>
          <p:nvPr/>
        </p:nvSpPr>
        <p:spPr>
          <a:xfrm>
            <a:off x="9696176" y="2826228"/>
            <a:ext cx="219456" cy="219456"/>
          </a:xfrm>
          <a:prstGeom prst="rect">
            <a:avLst/>
          </a:prstGeom>
          <a:solidFill>
            <a:srgbClr val="43A3A3"/>
          </a:solidFill>
          <a:ln w="12700">
            <a:solidFill>
              <a:srgbClr val="43A3A3"/>
            </a:solidFill>
            <a:prstDash val="solid"/>
          </a:ln>
        </p:spPr>
      </p:sp>
      <p:sp>
        <p:nvSpPr>
          <p:cNvPr id="248" name="Shape 246"/>
          <p:cNvSpPr/>
          <p:nvPr/>
        </p:nvSpPr>
        <p:spPr>
          <a:xfrm>
            <a:off x="9946356" y="2826228"/>
            <a:ext cx="219456" cy="219456"/>
          </a:xfrm>
          <a:prstGeom prst="rect">
            <a:avLst/>
          </a:prstGeom>
          <a:solidFill>
            <a:srgbClr val="43A3A3"/>
          </a:solidFill>
          <a:ln w="12700">
            <a:solidFill>
              <a:srgbClr val="43A3A3"/>
            </a:solidFill>
            <a:prstDash val="solid"/>
          </a:ln>
        </p:spPr>
      </p:sp>
      <p:sp>
        <p:nvSpPr>
          <p:cNvPr id="249" name="Shape 247"/>
          <p:cNvSpPr/>
          <p:nvPr/>
        </p:nvSpPr>
        <p:spPr>
          <a:xfrm>
            <a:off x="10196535" y="2826228"/>
            <a:ext cx="219456" cy="219456"/>
          </a:xfrm>
          <a:prstGeom prst="rect">
            <a:avLst/>
          </a:prstGeom>
          <a:solidFill>
            <a:srgbClr val="43A3A3"/>
          </a:solidFill>
          <a:ln w="12700">
            <a:solidFill>
              <a:srgbClr val="43A3A3"/>
            </a:solidFill>
            <a:prstDash val="solid"/>
          </a:ln>
        </p:spPr>
      </p:sp>
      <p:sp>
        <p:nvSpPr>
          <p:cNvPr id="250" name="Shape 248"/>
          <p:cNvSpPr/>
          <p:nvPr/>
        </p:nvSpPr>
        <p:spPr>
          <a:xfrm>
            <a:off x="7944917" y="3076407"/>
            <a:ext cx="219456" cy="219456"/>
          </a:xfrm>
          <a:prstGeom prst="rect">
            <a:avLst/>
          </a:prstGeom>
          <a:solidFill>
            <a:srgbClr val="43A3A3"/>
          </a:solidFill>
          <a:ln w="12700">
            <a:solidFill>
              <a:srgbClr val="43A3A3"/>
            </a:solidFill>
            <a:prstDash val="solid"/>
          </a:ln>
        </p:spPr>
      </p:sp>
      <p:sp>
        <p:nvSpPr>
          <p:cNvPr id="251" name="Shape 249"/>
          <p:cNvSpPr/>
          <p:nvPr/>
        </p:nvSpPr>
        <p:spPr>
          <a:xfrm>
            <a:off x="8195097" y="3076407"/>
            <a:ext cx="219456" cy="219456"/>
          </a:xfrm>
          <a:prstGeom prst="rect">
            <a:avLst/>
          </a:prstGeom>
          <a:solidFill>
            <a:srgbClr val="43A3A3"/>
          </a:solidFill>
          <a:ln w="12700">
            <a:solidFill>
              <a:srgbClr val="43A3A3"/>
            </a:solidFill>
            <a:prstDash val="solid"/>
          </a:ln>
        </p:spPr>
      </p:sp>
      <p:sp>
        <p:nvSpPr>
          <p:cNvPr id="252" name="Shape 250"/>
          <p:cNvSpPr/>
          <p:nvPr/>
        </p:nvSpPr>
        <p:spPr>
          <a:xfrm>
            <a:off x="8445276" y="3076407"/>
            <a:ext cx="219456" cy="219456"/>
          </a:xfrm>
          <a:prstGeom prst="rect">
            <a:avLst/>
          </a:prstGeom>
          <a:solidFill>
            <a:srgbClr val="43A3A3"/>
          </a:solidFill>
          <a:ln w="12700">
            <a:solidFill>
              <a:srgbClr val="43A3A3"/>
            </a:solidFill>
            <a:prstDash val="solid"/>
          </a:ln>
        </p:spPr>
      </p:sp>
      <p:sp>
        <p:nvSpPr>
          <p:cNvPr id="253" name="Shape 251"/>
          <p:cNvSpPr/>
          <p:nvPr/>
        </p:nvSpPr>
        <p:spPr>
          <a:xfrm>
            <a:off x="8695456" y="3076407"/>
            <a:ext cx="219456" cy="219456"/>
          </a:xfrm>
          <a:prstGeom prst="rect">
            <a:avLst/>
          </a:prstGeom>
          <a:solidFill>
            <a:srgbClr val="43A3A3"/>
          </a:solidFill>
          <a:ln w="12700">
            <a:solidFill>
              <a:srgbClr val="43A3A3"/>
            </a:solidFill>
            <a:prstDash val="solid"/>
          </a:ln>
        </p:spPr>
      </p:sp>
      <p:sp>
        <p:nvSpPr>
          <p:cNvPr id="254" name="Shape 252"/>
          <p:cNvSpPr/>
          <p:nvPr/>
        </p:nvSpPr>
        <p:spPr>
          <a:xfrm>
            <a:off x="8945636" y="3076407"/>
            <a:ext cx="219456" cy="219456"/>
          </a:xfrm>
          <a:prstGeom prst="rect">
            <a:avLst/>
          </a:prstGeom>
          <a:solidFill>
            <a:srgbClr val="E3E2DA"/>
          </a:solidFill>
          <a:ln w="12700">
            <a:solidFill>
              <a:srgbClr val="E3E2DA"/>
            </a:solidFill>
            <a:prstDash val="solid"/>
          </a:ln>
        </p:spPr>
      </p:sp>
      <p:sp>
        <p:nvSpPr>
          <p:cNvPr id="255" name="Shape 253"/>
          <p:cNvSpPr/>
          <p:nvPr/>
        </p:nvSpPr>
        <p:spPr>
          <a:xfrm>
            <a:off x="9195816" y="3076407"/>
            <a:ext cx="219456" cy="219456"/>
          </a:xfrm>
          <a:prstGeom prst="rect">
            <a:avLst/>
          </a:prstGeom>
          <a:solidFill>
            <a:srgbClr val="E3E2DA"/>
          </a:solidFill>
          <a:ln w="12700">
            <a:solidFill>
              <a:srgbClr val="E3E2DA"/>
            </a:solidFill>
            <a:prstDash val="solid"/>
          </a:ln>
        </p:spPr>
      </p:sp>
      <p:sp>
        <p:nvSpPr>
          <p:cNvPr id="256" name="Shape 254"/>
          <p:cNvSpPr/>
          <p:nvPr/>
        </p:nvSpPr>
        <p:spPr>
          <a:xfrm>
            <a:off x="9445996" y="3076407"/>
            <a:ext cx="219456" cy="219456"/>
          </a:xfrm>
          <a:prstGeom prst="rect">
            <a:avLst/>
          </a:prstGeom>
          <a:solidFill>
            <a:srgbClr val="E3E2DA"/>
          </a:solidFill>
          <a:ln w="12700">
            <a:solidFill>
              <a:srgbClr val="E3E2DA"/>
            </a:solidFill>
            <a:prstDash val="solid"/>
          </a:ln>
        </p:spPr>
      </p:sp>
      <p:sp>
        <p:nvSpPr>
          <p:cNvPr id="257" name="Shape 255"/>
          <p:cNvSpPr/>
          <p:nvPr/>
        </p:nvSpPr>
        <p:spPr>
          <a:xfrm>
            <a:off x="9696176" y="3076407"/>
            <a:ext cx="219456" cy="219456"/>
          </a:xfrm>
          <a:prstGeom prst="rect">
            <a:avLst/>
          </a:prstGeom>
          <a:solidFill>
            <a:srgbClr val="E3E2DA"/>
          </a:solidFill>
          <a:ln w="12700">
            <a:solidFill>
              <a:srgbClr val="E3E2DA"/>
            </a:solidFill>
            <a:prstDash val="solid"/>
          </a:ln>
        </p:spPr>
      </p:sp>
      <p:sp>
        <p:nvSpPr>
          <p:cNvPr id="258" name="Shape 256"/>
          <p:cNvSpPr/>
          <p:nvPr/>
        </p:nvSpPr>
        <p:spPr>
          <a:xfrm>
            <a:off x="9946356" y="3076407"/>
            <a:ext cx="219456" cy="219456"/>
          </a:xfrm>
          <a:prstGeom prst="rect">
            <a:avLst/>
          </a:prstGeom>
          <a:solidFill>
            <a:srgbClr val="E3E2DA"/>
          </a:solidFill>
          <a:ln w="12700">
            <a:solidFill>
              <a:srgbClr val="E3E2DA"/>
            </a:solidFill>
            <a:prstDash val="solid"/>
          </a:ln>
        </p:spPr>
      </p:sp>
      <p:sp>
        <p:nvSpPr>
          <p:cNvPr id="259" name="Shape 257"/>
          <p:cNvSpPr/>
          <p:nvPr/>
        </p:nvSpPr>
        <p:spPr>
          <a:xfrm>
            <a:off x="10196535" y="3076407"/>
            <a:ext cx="219456" cy="219456"/>
          </a:xfrm>
          <a:prstGeom prst="rect">
            <a:avLst/>
          </a:prstGeom>
          <a:solidFill>
            <a:srgbClr val="E3E2DA"/>
          </a:solidFill>
          <a:ln w="12700">
            <a:solidFill>
              <a:srgbClr val="E3E2DA"/>
            </a:solidFill>
            <a:prstDash val="solid"/>
          </a:ln>
        </p:spPr>
      </p:sp>
      <p:sp>
        <p:nvSpPr>
          <p:cNvPr id="260" name="Shape 258"/>
          <p:cNvSpPr/>
          <p:nvPr/>
        </p:nvSpPr>
        <p:spPr>
          <a:xfrm>
            <a:off x="7944917" y="3326587"/>
            <a:ext cx="219456" cy="219456"/>
          </a:xfrm>
          <a:prstGeom prst="rect">
            <a:avLst/>
          </a:prstGeom>
          <a:solidFill>
            <a:srgbClr val="E3E2DA"/>
          </a:solidFill>
          <a:ln w="12700">
            <a:solidFill>
              <a:srgbClr val="E3E2DA"/>
            </a:solidFill>
            <a:prstDash val="solid"/>
          </a:ln>
        </p:spPr>
      </p:sp>
      <p:sp>
        <p:nvSpPr>
          <p:cNvPr id="261" name="Shape 259"/>
          <p:cNvSpPr/>
          <p:nvPr/>
        </p:nvSpPr>
        <p:spPr>
          <a:xfrm>
            <a:off x="8195097" y="3326587"/>
            <a:ext cx="219456" cy="219456"/>
          </a:xfrm>
          <a:prstGeom prst="rect">
            <a:avLst/>
          </a:prstGeom>
          <a:solidFill>
            <a:srgbClr val="E3E2DA"/>
          </a:solidFill>
          <a:ln w="12700">
            <a:solidFill>
              <a:srgbClr val="E3E2DA"/>
            </a:solidFill>
            <a:prstDash val="solid"/>
          </a:ln>
        </p:spPr>
      </p:sp>
      <p:sp>
        <p:nvSpPr>
          <p:cNvPr id="262" name="Shape 260"/>
          <p:cNvSpPr/>
          <p:nvPr/>
        </p:nvSpPr>
        <p:spPr>
          <a:xfrm>
            <a:off x="8445276" y="3326587"/>
            <a:ext cx="219456" cy="219456"/>
          </a:xfrm>
          <a:prstGeom prst="rect">
            <a:avLst/>
          </a:prstGeom>
          <a:solidFill>
            <a:srgbClr val="E3E2DA"/>
          </a:solidFill>
          <a:ln w="12700">
            <a:solidFill>
              <a:srgbClr val="E3E2DA"/>
            </a:solidFill>
            <a:prstDash val="solid"/>
          </a:ln>
        </p:spPr>
      </p:sp>
      <p:sp>
        <p:nvSpPr>
          <p:cNvPr id="263" name="Shape 261"/>
          <p:cNvSpPr/>
          <p:nvPr/>
        </p:nvSpPr>
        <p:spPr>
          <a:xfrm>
            <a:off x="8695456" y="3326587"/>
            <a:ext cx="219456" cy="219456"/>
          </a:xfrm>
          <a:prstGeom prst="rect">
            <a:avLst/>
          </a:prstGeom>
          <a:solidFill>
            <a:srgbClr val="E3E2DA"/>
          </a:solidFill>
          <a:ln w="12700">
            <a:solidFill>
              <a:srgbClr val="E3E2DA"/>
            </a:solidFill>
            <a:prstDash val="solid"/>
          </a:ln>
        </p:spPr>
      </p:sp>
      <p:sp>
        <p:nvSpPr>
          <p:cNvPr id="264" name="Shape 262"/>
          <p:cNvSpPr/>
          <p:nvPr/>
        </p:nvSpPr>
        <p:spPr>
          <a:xfrm>
            <a:off x="8945636" y="3326587"/>
            <a:ext cx="219456" cy="219456"/>
          </a:xfrm>
          <a:prstGeom prst="rect">
            <a:avLst/>
          </a:prstGeom>
          <a:solidFill>
            <a:srgbClr val="E3E2DA"/>
          </a:solidFill>
          <a:ln w="12700">
            <a:solidFill>
              <a:srgbClr val="E3E2DA"/>
            </a:solidFill>
            <a:prstDash val="solid"/>
          </a:ln>
        </p:spPr>
      </p:sp>
      <p:sp>
        <p:nvSpPr>
          <p:cNvPr id="265" name="Shape 263"/>
          <p:cNvSpPr/>
          <p:nvPr/>
        </p:nvSpPr>
        <p:spPr>
          <a:xfrm>
            <a:off x="9195816" y="3326587"/>
            <a:ext cx="219456" cy="219456"/>
          </a:xfrm>
          <a:prstGeom prst="rect">
            <a:avLst/>
          </a:prstGeom>
          <a:solidFill>
            <a:srgbClr val="E3E2DA"/>
          </a:solidFill>
          <a:ln w="12700">
            <a:solidFill>
              <a:srgbClr val="E3E2DA"/>
            </a:solidFill>
            <a:prstDash val="solid"/>
          </a:ln>
        </p:spPr>
      </p:sp>
      <p:sp>
        <p:nvSpPr>
          <p:cNvPr id="266" name="Shape 264"/>
          <p:cNvSpPr/>
          <p:nvPr/>
        </p:nvSpPr>
        <p:spPr>
          <a:xfrm>
            <a:off x="9445996" y="3326587"/>
            <a:ext cx="219456" cy="219456"/>
          </a:xfrm>
          <a:prstGeom prst="rect">
            <a:avLst/>
          </a:prstGeom>
          <a:solidFill>
            <a:srgbClr val="E3E2DA"/>
          </a:solidFill>
          <a:ln w="12700">
            <a:solidFill>
              <a:srgbClr val="E3E2DA"/>
            </a:solidFill>
            <a:prstDash val="solid"/>
          </a:ln>
        </p:spPr>
      </p:sp>
      <p:sp>
        <p:nvSpPr>
          <p:cNvPr id="267" name="Shape 265"/>
          <p:cNvSpPr/>
          <p:nvPr/>
        </p:nvSpPr>
        <p:spPr>
          <a:xfrm>
            <a:off x="9696176" y="3326587"/>
            <a:ext cx="219456" cy="219456"/>
          </a:xfrm>
          <a:prstGeom prst="rect">
            <a:avLst/>
          </a:prstGeom>
          <a:solidFill>
            <a:srgbClr val="E3E2DA"/>
          </a:solidFill>
          <a:ln w="12700">
            <a:solidFill>
              <a:srgbClr val="E3E2DA"/>
            </a:solidFill>
            <a:prstDash val="solid"/>
          </a:ln>
        </p:spPr>
      </p:sp>
      <p:sp>
        <p:nvSpPr>
          <p:cNvPr id="268" name="Shape 266"/>
          <p:cNvSpPr/>
          <p:nvPr/>
        </p:nvSpPr>
        <p:spPr>
          <a:xfrm>
            <a:off x="9946356" y="3326587"/>
            <a:ext cx="219456" cy="219456"/>
          </a:xfrm>
          <a:prstGeom prst="rect">
            <a:avLst/>
          </a:prstGeom>
          <a:solidFill>
            <a:srgbClr val="E3E2DA"/>
          </a:solidFill>
          <a:ln w="12700">
            <a:solidFill>
              <a:srgbClr val="E3E2DA"/>
            </a:solidFill>
            <a:prstDash val="solid"/>
          </a:ln>
        </p:spPr>
      </p:sp>
      <p:sp>
        <p:nvSpPr>
          <p:cNvPr id="269" name="Shape 267"/>
          <p:cNvSpPr/>
          <p:nvPr/>
        </p:nvSpPr>
        <p:spPr>
          <a:xfrm>
            <a:off x="10196535" y="3326587"/>
            <a:ext cx="219456" cy="219456"/>
          </a:xfrm>
          <a:prstGeom prst="rect">
            <a:avLst/>
          </a:prstGeom>
          <a:solidFill>
            <a:srgbClr val="E3E2DA"/>
          </a:solidFill>
          <a:ln w="12700">
            <a:solidFill>
              <a:srgbClr val="E3E2DA"/>
            </a:solidFill>
            <a:prstDash val="solid"/>
          </a:ln>
        </p:spPr>
      </p:sp>
      <p:sp>
        <p:nvSpPr>
          <p:cNvPr id="270" name="Shape 268"/>
          <p:cNvSpPr/>
          <p:nvPr/>
        </p:nvSpPr>
        <p:spPr>
          <a:xfrm>
            <a:off x="7944917" y="3576767"/>
            <a:ext cx="219456" cy="219456"/>
          </a:xfrm>
          <a:prstGeom prst="rect">
            <a:avLst/>
          </a:prstGeom>
          <a:solidFill>
            <a:srgbClr val="E3E2DA"/>
          </a:solidFill>
          <a:ln w="12700">
            <a:solidFill>
              <a:srgbClr val="E3E2DA"/>
            </a:solidFill>
            <a:prstDash val="solid"/>
          </a:ln>
        </p:spPr>
      </p:sp>
      <p:sp>
        <p:nvSpPr>
          <p:cNvPr id="271" name="Shape 269"/>
          <p:cNvSpPr/>
          <p:nvPr/>
        </p:nvSpPr>
        <p:spPr>
          <a:xfrm>
            <a:off x="8195097" y="3576767"/>
            <a:ext cx="219456" cy="219456"/>
          </a:xfrm>
          <a:prstGeom prst="rect">
            <a:avLst/>
          </a:prstGeom>
          <a:solidFill>
            <a:srgbClr val="E3E2DA"/>
          </a:solidFill>
          <a:ln w="12700">
            <a:solidFill>
              <a:srgbClr val="E3E2DA"/>
            </a:solidFill>
            <a:prstDash val="solid"/>
          </a:ln>
        </p:spPr>
      </p:sp>
      <p:sp>
        <p:nvSpPr>
          <p:cNvPr id="272" name="Shape 270"/>
          <p:cNvSpPr/>
          <p:nvPr/>
        </p:nvSpPr>
        <p:spPr>
          <a:xfrm>
            <a:off x="8445276" y="3576767"/>
            <a:ext cx="219456" cy="219456"/>
          </a:xfrm>
          <a:prstGeom prst="rect">
            <a:avLst/>
          </a:prstGeom>
          <a:solidFill>
            <a:srgbClr val="E3E2DA"/>
          </a:solidFill>
          <a:ln w="12700">
            <a:solidFill>
              <a:srgbClr val="E3E2DA"/>
            </a:solidFill>
            <a:prstDash val="solid"/>
          </a:ln>
        </p:spPr>
      </p:sp>
      <p:sp>
        <p:nvSpPr>
          <p:cNvPr id="273" name="Shape 271"/>
          <p:cNvSpPr/>
          <p:nvPr/>
        </p:nvSpPr>
        <p:spPr>
          <a:xfrm>
            <a:off x="8695456" y="3576767"/>
            <a:ext cx="219456" cy="219456"/>
          </a:xfrm>
          <a:prstGeom prst="rect">
            <a:avLst/>
          </a:prstGeom>
          <a:solidFill>
            <a:srgbClr val="E3E2DA"/>
          </a:solidFill>
          <a:ln w="12700">
            <a:solidFill>
              <a:srgbClr val="E3E2DA"/>
            </a:solidFill>
            <a:prstDash val="solid"/>
          </a:ln>
        </p:spPr>
      </p:sp>
      <p:sp>
        <p:nvSpPr>
          <p:cNvPr id="274" name="Shape 272"/>
          <p:cNvSpPr/>
          <p:nvPr/>
        </p:nvSpPr>
        <p:spPr>
          <a:xfrm>
            <a:off x="8945636" y="3576767"/>
            <a:ext cx="219456" cy="219456"/>
          </a:xfrm>
          <a:prstGeom prst="rect">
            <a:avLst/>
          </a:prstGeom>
          <a:solidFill>
            <a:srgbClr val="E3E2DA"/>
          </a:solidFill>
          <a:ln w="12700">
            <a:solidFill>
              <a:srgbClr val="E3E2DA"/>
            </a:solidFill>
            <a:prstDash val="solid"/>
          </a:ln>
        </p:spPr>
      </p:sp>
      <p:sp>
        <p:nvSpPr>
          <p:cNvPr id="275" name="Shape 273"/>
          <p:cNvSpPr/>
          <p:nvPr/>
        </p:nvSpPr>
        <p:spPr>
          <a:xfrm>
            <a:off x="9195816" y="3576767"/>
            <a:ext cx="219456" cy="219456"/>
          </a:xfrm>
          <a:prstGeom prst="rect">
            <a:avLst/>
          </a:prstGeom>
          <a:solidFill>
            <a:srgbClr val="E3E2DA"/>
          </a:solidFill>
          <a:ln w="12700">
            <a:solidFill>
              <a:srgbClr val="E3E2DA"/>
            </a:solidFill>
            <a:prstDash val="solid"/>
          </a:ln>
        </p:spPr>
      </p:sp>
      <p:sp>
        <p:nvSpPr>
          <p:cNvPr id="276" name="Shape 274"/>
          <p:cNvSpPr/>
          <p:nvPr/>
        </p:nvSpPr>
        <p:spPr>
          <a:xfrm>
            <a:off x="9445996" y="3576767"/>
            <a:ext cx="219456" cy="219456"/>
          </a:xfrm>
          <a:prstGeom prst="rect">
            <a:avLst/>
          </a:prstGeom>
          <a:solidFill>
            <a:srgbClr val="E3E2DA"/>
          </a:solidFill>
          <a:ln w="12700">
            <a:solidFill>
              <a:srgbClr val="E3E2DA"/>
            </a:solidFill>
            <a:prstDash val="solid"/>
          </a:ln>
        </p:spPr>
      </p:sp>
      <p:sp>
        <p:nvSpPr>
          <p:cNvPr id="277" name="Shape 275"/>
          <p:cNvSpPr/>
          <p:nvPr/>
        </p:nvSpPr>
        <p:spPr>
          <a:xfrm>
            <a:off x="9696176" y="3576767"/>
            <a:ext cx="219456" cy="219456"/>
          </a:xfrm>
          <a:prstGeom prst="rect">
            <a:avLst/>
          </a:prstGeom>
          <a:solidFill>
            <a:srgbClr val="E3E2DA"/>
          </a:solidFill>
          <a:ln w="12700">
            <a:solidFill>
              <a:srgbClr val="E3E2DA"/>
            </a:solidFill>
            <a:prstDash val="solid"/>
          </a:ln>
        </p:spPr>
      </p:sp>
      <p:sp>
        <p:nvSpPr>
          <p:cNvPr id="278" name="Shape 276"/>
          <p:cNvSpPr/>
          <p:nvPr/>
        </p:nvSpPr>
        <p:spPr>
          <a:xfrm>
            <a:off x="9946356" y="3576767"/>
            <a:ext cx="219456" cy="219456"/>
          </a:xfrm>
          <a:prstGeom prst="rect">
            <a:avLst/>
          </a:prstGeom>
          <a:solidFill>
            <a:srgbClr val="E3E2DA"/>
          </a:solidFill>
          <a:ln w="12700">
            <a:solidFill>
              <a:srgbClr val="E3E2DA"/>
            </a:solidFill>
            <a:prstDash val="solid"/>
          </a:ln>
        </p:spPr>
      </p:sp>
      <p:sp>
        <p:nvSpPr>
          <p:cNvPr id="279" name="Shape 277"/>
          <p:cNvSpPr/>
          <p:nvPr/>
        </p:nvSpPr>
        <p:spPr>
          <a:xfrm>
            <a:off x="10196535" y="3576767"/>
            <a:ext cx="219456" cy="219456"/>
          </a:xfrm>
          <a:prstGeom prst="rect">
            <a:avLst/>
          </a:prstGeom>
          <a:solidFill>
            <a:srgbClr val="E3E2DA"/>
          </a:solidFill>
          <a:ln w="12700">
            <a:solidFill>
              <a:srgbClr val="E3E2DA"/>
            </a:solidFill>
            <a:prstDash val="solid"/>
          </a:ln>
        </p:spPr>
      </p:sp>
      <p:sp>
        <p:nvSpPr>
          <p:cNvPr id="280" name="Shape 278"/>
          <p:cNvSpPr/>
          <p:nvPr/>
        </p:nvSpPr>
        <p:spPr>
          <a:xfrm>
            <a:off x="7944917" y="3826947"/>
            <a:ext cx="219456" cy="219456"/>
          </a:xfrm>
          <a:prstGeom prst="rect">
            <a:avLst/>
          </a:prstGeom>
          <a:solidFill>
            <a:srgbClr val="E3E2DA"/>
          </a:solidFill>
          <a:ln w="12700">
            <a:solidFill>
              <a:srgbClr val="E3E2DA"/>
            </a:solidFill>
            <a:prstDash val="solid"/>
          </a:ln>
        </p:spPr>
      </p:sp>
      <p:sp>
        <p:nvSpPr>
          <p:cNvPr id="281" name="Shape 279"/>
          <p:cNvSpPr/>
          <p:nvPr/>
        </p:nvSpPr>
        <p:spPr>
          <a:xfrm>
            <a:off x="8195097" y="3826947"/>
            <a:ext cx="219456" cy="219456"/>
          </a:xfrm>
          <a:prstGeom prst="rect">
            <a:avLst/>
          </a:prstGeom>
          <a:solidFill>
            <a:srgbClr val="E3E2DA"/>
          </a:solidFill>
          <a:ln w="12700">
            <a:solidFill>
              <a:srgbClr val="E3E2DA"/>
            </a:solidFill>
            <a:prstDash val="solid"/>
          </a:ln>
        </p:spPr>
      </p:sp>
      <p:sp>
        <p:nvSpPr>
          <p:cNvPr id="282" name="Shape 280"/>
          <p:cNvSpPr/>
          <p:nvPr/>
        </p:nvSpPr>
        <p:spPr>
          <a:xfrm>
            <a:off x="8445276" y="3826947"/>
            <a:ext cx="219456" cy="219456"/>
          </a:xfrm>
          <a:prstGeom prst="rect">
            <a:avLst/>
          </a:prstGeom>
          <a:solidFill>
            <a:srgbClr val="E3E2DA"/>
          </a:solidFill>
          <a:ln w="12700">
            <a:solidFill>
              <a:srgbClr val="E3E2DA"/>
            </a:solidFill>
            <a:prstDash val="solid"/>
          </a:ln>
        </p:spPr>
      </p:sp>
      <p:sp>
        <p:nvSpPr>
          <p:cNvPr id="283" name="Shape 281"/>
          <p:cNvSpPr/>
          <p:nvPr/>
        </p:nvSpPr>
        <p:spPr>
          <a:xfrm>
            <a:off x="8695456" y="3826947"/>
            <a:ext cx="219456" cy="219456"/>
          </a:xfrm>
          <a:prstGeom prst="rect">
            <a:avLst/>
          </a:prstGeom>
          <a:solidFill>
            <a:srgbClr val="E3E2DA"/>
          </a:solidFill>
          <a:ln w="12700">
            <a:solidFill>
              <a:srgbClr val="E3E2DA"/>
            </a:solidFill>
            <a:prstDash val="solid"/>
          </a:ln>
        </p:spPr>
      </p:sp>
      <p:sp>
        <p:nvSpPr>
          <p:cNvPr id="284" name="Shape 282"/>
          <p:cNvSpPr/>
          <p:nvPr/>
        </p:nvSpPr>
        <p:spPr>
          <a:xfrm>
            <a:off x="8945636" y="3826947"/>
            <a:ext cx="219456" cy="219456"/>
          </a:xfrm>
          <a:prstGeom prst="rect">
            <a:avLst/>
          </a:prstGeom>
          <a:solidFill>
            <a:srgbClr val="E3E2DA"/>
          </a:solidFill>
          <a:ln w="12700">
            <a:solidFill>
              <a:srgbClr val="E3E2DA"/>
            </a:solidFill>
            <a:prstDash val="solid"/>
          </a:ln>
        </p:spPr>
      </p:sp>
      <p:sp>
        <p:nvSpPr>
          <p:cNvPr id="285" name="Shape 283"/>
          <p:cNvSpPr/>
          <p:nvPr/>
        </p:nvSpPr>
        <p:spPr>
          <a:xfrm>
            <a:off x="9195816" y="3826947"/>
            <a:ext cx="219456" cy="219456"/>
          </a:xfrm>
          <a:prstGeom prst="rect">
            <a:avLst/>
          </a:prstGeom>
          <a:solidFill>
            <a:srgbClr val="E3E2DA"/>
          </a:solidFill>
          <a:ln w="12700">
            <a:solidFill>
              <a:srgbClr val="E3E2DA"/>
            </a:solidFill>
            <a:prstDash val="solid"/>
          </a:ln>
        </p:spPr>
      </p:sp>
      <p:sp>
        <p:nvSpPr>
          <p:cNvPr id="286" name="Shape 284"/>
          <p:cNvSpPr/>
          <p:nvPr/>
        </p:nvSpPr>
        <p:spPr>
          <a:xfrm>
            <a:off x="9445996" y="3826947"/>
            <a:ext cx="219456" cy="219456"/>
          </a:xfrm>
          <a:prstGeom prst="rect">
            <a:avLst/>
          </a:prstGeom>
          <a:solidFill>
            <a:srgbClr val="E3E2DA"/>
          </a:solidFill>
          <a:ln w="12700">
            <a:solidFill>
              <a:srgbClr val="E3E2DA"/>
            </a:solidFill>
            <a:prstDash val="solid"/>
          </a:ln>
        </p:spPr>
      </p:sp>
      <p:sp>
        <p:nvSpPr>
          <p:cNvPr id="287" name="Shape 285"/>
          <p:cNvSpPr/>
          <p:nvPr/>
        </p:nvSpPr>
        <p:spPr>
          <a:xfrm>
            <a:off x="9696176" y="3826947"/>
            <a:ext cx="219456" cy="219456"/>
          </a:xfrm>
          <a:prstGeom prst="rect">
            <a:avLst/>
          </a:prstGeom>
          <a:solidFill>
            <a:srgbClr val="E3E2DA"/>
          </a:solidFill>
          <a:ln w="12700">
            <a:solidFill>
              <a:srgbClr val="E3E2DA"/>
            </a:solidFill>
            <a:prstDash val="solid"/>
          </a:ln>
        </p:spPr>
      </p:sp>
      <p:sp>
        <p:nvSpPr>
          <p:cNvPr id="288" name="Shape 286"/>
          <p:cNvSpPr/>
          <p:nvPr/>
        </p:nvSpPr>
        <p:spPr>
          <a:xfrm>
            <a:off x="9946356" y="3826947"/>
            <a:ext cx="219456" cy="219456"/>
          </a:xfrm>
          <a:prstGeom prst="rect">
            <a:avLst/>
          </a:prstGeom>
          <a:solidFill>
            <a:srgbClr val="E3E2DA"/>
          </a:solidFill>
          <a:ln w="12700">
            <a:solidFill>
              <a:srgbClr val="E3E2DA"/>
            </a:solidFill>
            <a:prstDash val="solid"/>
          </a:ln>
        </p:spPr>
      </p:sp>
      <p:sp>
        <p:nvSpPr>
          <p:cNvPr id="289" name="Shape 287"/>
          <p:cNvSpPr/>
          <p:nvPr/>
        </p:nvSpPr>
        <p:spPr>
          <a:xfrm>
            <a:off x="10196535" y="3826947"/>
            <a:ext cx="219456" cy="219456"/>
          </a:xfrm>
          <a:prstGeom prst="rect">
            <a:avLst/>
          </a:prstGeom>
          <a:solidFill>
            <a:srgbClr val="E3E2DA"/>
          </a:solidFill>
          <a:ln w="12700">
            <a:solidFill>
              <a:srgbClr val="E3E2DA"/>
            </a:solidFill>
            <a:prstDash val="solid"/>
          </a:ln>
        </p:spPr>
      </p:sp>
      <p:sp>
        <p:nvSpPr>
          <p:cNvPr id="290" name="Shape 288"/>
          <p:cNvSpPr/>
          <p:nvPr/>
        </p:nvSpPr>
        <p:spPr>
          <a:xfrm>
            <a:off x="7944917" y="4077127"/>
            <a:ext cx="219456" cy="219456"/>
          </a:xfrm>
          <a:prstGeom prst="rect">
            <a:avLst/>
          </a:prstGeom>
          <a:solidFill>
            <a:srgbClr val="E3E2DA"/>
          </a:solidFill>
          <a:ln w="12700">
            <a:solidFill>
              <a:srgbClr val="E3E2DA"/>
            </a:solidFill>
            <a:prstDash val="solid"/>
          </a:ln>
        </p:spPr>
      </p:sp>
      <p:sp>
        <p:nvSpPr>
          <p:cNvPr id="291" name="Shape 289"/>
          <p:cNvSpPr/>
          <p:nvPr/>
        </p:nvSpPr>
        <p:spPr>
          <a:xfrm>
            <a:off x="8195097" y="4077127"/>
            <a:ext cx="219456" cy="219456"/>
          </a:xfrm>
          <a:prstGeom prst="rect">
            <a:avLst/>
          </a:prstGeom>
          <a:solidFill>
            <a:srgbClr val="E3E2DA"/>
          </a:solidFill>
          <a:ln w="12700">
            <a:solidFill>
              <a:srgbClr val="E3E2DA"/>
            </a:solidFill>
            <a:prstDash val="solid"/>
          </a:ln>
        </p:spPr>
      </p:sp>
      <p:sp>
        <p:nvSpPr>
          <p:cNvPr id="292" name="Shape 290"/>
          <p:cNvSpPr/>
          <p:nvPr/>
        </p:nvSpPr>
        <p:spPr>
          <a:xfrm>
            <a:off x="8445276" y="4077127"/>
            <a:ext cx="219456" cy="219456"/>
          </a:xfrm>
          <a:prstGeom prst="rect">
            <a:avLst/>
          </a:prstGeom>
          <a:solidFill>
            <a:srgbClr val="E3E2DA"/>
          </a:solidFill>
          <a:ln w="12700">
            <a:solidFill>
              <a:srgbClr val="E3E2DA"/>
            </a:solidFill>
            <a:prstDash val="solid"/>
          </a:ln>
        </p:spPr>
      </p:sp>
      <p:sp>
        <p:nvSpPr>
          <p:cNvPr id="293" name="Shape 291"/>
          <p:cNvSpPr/>
          <p:nvPr/>
        </p:nvSpPr>
        <p:spPr>
          <a:xfrm>
            <a:off x="8695456" y="4077127"/>
            <a:ext cx="219456" cy="219456"/>
          </a:xfrm>
          <a:prstGeom prst="rect">
            <a:avLst/>
          </a:prstGeom>
          <a:solidFill>
            <a:srgbClr val="E3E2DA"/>
          </a:solidFill>
          <a:ln w="12700">
            <a:solidFill>
              <a:srgbClr val="E3E2DA"/>
            </a:solidFill>
            <a:prstDash val="solid"/>
          </a:ln>
        </p:spPr>
      </p:sp>
      <p:sp>
        <p:nvSpPr>
          <p:cNvPr id="294" name="Shape 292"/>
          <p:cNvSpPr/>
          <p:nvPr/>
        </p:nvSpPr>
        <p:spPr>
          <a:xfrm>
            <a:off x="8945636" y="4077127"/>
            <a:ext cx="219456" cy="219456"/>
          </a:xfrm>
          <a:prstGeom prst="rect">
            <a:avLst/>
          </a:prstGeom>
          <a:solidFill>
            <a:srgbClr val="E3E2DA"/>
          </a:solidFill>
          <a:ln w="12700">
            <a:solidFill>
              <a:srgbClr val="E3E2DA"/>
            </a:solidFill>
            <a:prstDash val="solid"/>
          </a:ln>
        </p:spPr>
      </p:sp>
      <p:sp>
        <p:nvSpPr>
          <p:cNvPr id="295" name="Shape 293"/>
          <p:cNvSpPr/>
          <p:nvPr/>
        </p:nvSpPr>
        <p:spPr>
          <a:xfrm>
            <a:off x="9195816" y="4077127"/>
            <a:ext cx="219456" cy="219456"/>
          </a:xfrm>
          <a:prstGeom prst="rect">
            <a:avLst/>
          </a:prstGeom>
          <a:solidFill>
            <a:srgbClr val="E3E2DA"/>
          </a:solidFill>
          <a:ln w="12700">
            <a:solidFill>
              <a:srgbClr val="E3E2DA"/>
            </a:solidFill>
            <a:prstDash val="solid"/>
          </a:ln>
        </p:spPr>
      </p:sp>
      <p:sp>
        <p:nvSpPr>
          <p:cNvPr id="296" name="Shape 294"/>
          <p:cNvSpPr/>
          <p:nvPr/>
        </p:nvSpPr>
        <p:spPr>
          <a:xfrm>
            <a:off x="9445996" y="4077127"/>
            <a:ext cx="219456" cy="219456"/>
          </a:xfrm>
          <a:prstGeom prst="rect">
            <a:avLst/>
          </a:prstGeom>
          <a:solidFill>
            <a:srgbClr val="E3E2DA"/>
          </a:solidFill>
          <a:ln w="12700">
            <a:solidFill>
              <a:srgbClr val="E3E2DA"/>
            </a:solidFill>
            <a:prstDash val="solid"/>
          </a:ln>
        </p:spPr>
      </p:sp>
      <p:sp>
        <p:nvSpPr>
          <p:cNvPr id="297" name="Shape 295"/>
          <p:cNvSpPr/>
          <p:nvPr/>
        </p:nvSpPr>
        <p:spPr>
          <a:xfrm>
            <a:off x="9696176" y="4077127"/>
            <a:ext cx="219456" cy="219456"/>
          </a:xfrm>
          <a:prstGeom prst="rect">
            <a:avLst/>
          </a:prstGeom>
          <a:solidFill>
            <a:srgbClr val="E3E2DA"/>
          </a:solidFill>
          <a:ln w="12700">
            <a:solidFill>
              <a:srgbClr val="E3E2DA"/>
            </a:solidFill>
            <a:prstDash val="solid"/>
          </a:ln>
        </p:spPr>
      </p:sp>
      <p:sp>
        <p:nvSpPr>
          <p:cNvPr id="298" name="Shape 296"/>
          <p:cNvSpPr/>
          <p:nvPr/>
        </p:nvSpPr>
        <p:spPr>
          <a:xfrm>
            <a:off x="9946356" y="4077127"/>
            <a:ext cx="219456" cy="219456"/>
          </a:xfrm>
          <a:prstGeom prst="rect">
            <a:avLst/>
          </a:prstGeom>
          <a:solidFill>
            <a:srgbClr val="E3E2DA"/>
          </a:solidFill>
          <a:ln w="12700">
            <a:solidFill>
              <a:srgbClr val="E3E2DA"/>
            </a:solidFill>
            <a:prstDash val="solid"/>
          </a:ln>
        </p:spPr>
      </p:sp>
      <p:sp>
        <p:nvSpPr>
          <p:cNvPr id="299" name="Shape 297"/>
          <p:cNvSpPr/>
          <p:nvPr/>
        </p:nvSpPr>
        <p:spPr>
          <a:xfrm>
            <a:off x="10196535" y="4077127"/>
            <a:ext cx="219456" cy="219456"/>
          </a:xfrm>
          <a:prstGeom prst="rect">
            <a:avLst/>
          </a:prstGeom>
          <a:solidFill>
            <a:srgbClr val="E3E2DA"/>
          </a:solidFill>
          <a:ln w="12700">
            <a:solidFill>
              <a:srgbClr val="E3E2DA"/>
            </a:solidFill>
            <a:prstDash val="solid"/>
          </a:ln>
        </p:spPr>
      </p:sp>
      <p:sp>
        <p:nvSpPr>
          <p:cNvPr id="300" name="Shape 298"/>
          <p:cNvSpPr/>
          <p:nvPr/>
        </p:nvSpPr>
        <p:spPr>
          <a:xfrm>
            <a:off x="7944917" y="4327307"/>
            <a:ext cx="219456" cy="219456"/>
          </a:xfrm>
          <a:prstGeom prst="rect">
            <a:avLst/>
          </a:prstGeom>
          <a:solidFill>
            <a:srgbClr val="E3E2DA"/>
          </a:solidFill>
          <a:ln w="12700">
            <a:solidFill>
              <a:srgbClr val="E3E2DA"/>
            </a:solidFill>
            <a:prstDash val="solid"/>
          </a:ln>
        </p:spPr>
      </p:sp>
      <p:sp>
        <p:nvSpPr>
          <p:cNvPr id="301" name="Shape 299"/>
          <p:cNvSpPr/>
          <p:nvPr/>
        </p:nvSpPr>
        <p:spPr>
          <a:xfrm>
            <a:off x="8195097" y="4327307"/>
            <a:ext cx="219456" cy="219456"/>
          </a:xfrm>
          <a:prstGeom prst="rect">
            <a:avLst/>
          </a:prstGeom>
          <a:solidFill>
            <a:srgbClr val="E3E2DA"/>
          </a:solidFill>
          <a:ln w="12700">
            <a:solidFill>
              <a:srgbClr val="E3E2DA"/>
            </a:solidFill>
            <a:prstDash val="solid"/>
          </a:ln>
        </p:spPr>
      </p:sp>
      <p:sp>
        <p:nvSpPr>
          <p:cNvPr id="302" name="Shape 300"/>
          <p:cNvSpPr/>
          <p:nvPr/>
        </p:nvSpPr>
        <p:spPr>
          <a:xfrm>
            <a:off x="8445276" y="4327307"/>
            <a:ext cx="219456" cy="219456"/>
          </a:xfrm>
          <a:prstGeom prst="rect">
            <a:avLst/>
          </a:prstGeom>
          <a:solidFill>
            <a:srgbClr val="E3E2DA"/>
          </a:solidFill>
          <a:ln w="12700">
            <a:solidFill>
              <a:srgbClr val="E3E2DA"/>
            </a:solidFill>
            <a:prstDash val="solid"/>
          </a:ln>
        </p:spPr>
      </p:sp>
      <p:sp>
        <p:nvSpPr>
          <p:cNvPr id="303" name="Shape 301"/>
          <p:cNvSpPr/>
          <p:nvPr/>
        </p:nvSpPr>
        <p:spPr>
          <a:xfrm>
            <a:off x="8695456" y="4327307"/>
            <a:ext cx="219456" cy="219456"/>
          </a:xfrm>
          <a:prstGeom prst="rect">
            <a:avLst/>
          </a:prstGeom>
          <a:solidFill>
            <a:srgbClr val="E3E2DA"/>
          </a:solidFill>
          <a:ln w="12700">
            <a:solidFill>
              <a:srgbClr val="E3E2DA"/>
            </a:solidFill>
            <a:prstDash val="solid"/>
          </a:ln>
        </p:spPr>
      </p:sp>
      <p:sp>
        <p:nvSpPr>
          <p:cNvPr id="304" name="Shape 302"/>
          <p:cNvSpPr/>
          <p:nvPr/>
        </p:nvSpPr>
        <p:spPr>
          <a:xfrm>
            <a:off x="8945636" y="4327307"/>
            <a:ext cx="219456" cy="219456"/>
          </a:xfrm>
          <a:prstGeom prst="rect">
            <a:avLst/>
          </a:prstGeom>
          <a:solidFill>
            <a:srgbClr val="E3E2DA"/>
          </a:solidFill>
          <a:ln w="12700">
            <a:solidFill>
              <a:srgbClr val="E3E2DA"/>
            </a:solidFill>
            <a:prstDash val="solid"/>
          </a:ln>
        </p:spPr>
      </p:sp>
      <p:sp>
        <p:nvSpPr>
          <p:cNvPr id="305" name="Shape 303"/>
          <p:cNvSpPr/>
          <p:nvPr/>
        </p:nvSpPr>
        <p:spPr>
          <a:xfrm>
            <a:off x="9195816" y="4327307"/>
            <a:ext cx="219456" cy="219456"/>
          </a:xfrm>
          <a:prstGeom prst="rect">
            <a:avLst/>
          </a:prstGeom>
          <a:solidFill>
            <a:srgbClr val="E3E2DA"/>
          </a:solidFill>
          <a:ln w="12700">
            <a:solidFill>
              <a:srgbClr val="E3E2DA"/>
            </a:solidFill>
            <a:prstDash val="solid"/>
          </a:ln>
        </p:spPr>
      </p:sp>
      <p:sp>
        <p:nvSpPr>
          <p:cNvPr id="306" name="Shape 304"/>
          <p:cNvSpPr/>
          <p:nvPr/>
        </p:nvSpPr>
        <p:spPr>
          <a:xfrm>
            <a:off x="9445996" y="4327307"/>
            <a:ext cx="219456" cy="219456"/>
          </a:xfrm>
          <a:prstGeom prst="rect">
            <a:avLst/>
          </a:prstGeom>
          <a:solidFill>
            <a:srgbClr val="E3E2DA"/>
          </a:solidFill>
          <a:ln w="12700">
            <a:solidFill>
              <a:srgbClr val="E3E2DA"/>
            </a:solidFill>
            <a:prstDash val="solid"/>
          </a:ln>
        </p:spPr>
      </p:sp>
      <p:sp>
        <p:nvSpPr>
          <p:cNvPr id="307" name="Shape 305"/>
          <p:cNvSpPr/>
          <p:nvPr/>
        </p:nvSpPr>
        <p:spPr>
          <a:xfrm>
            <a:off x="9696176" y="4327307"/>
            <a:ext cx="219456" cy="219456"/>
          </a:xfrm>
          <a:prstGeom prst="rect">
            <a:avLst/>
          </a:prstGeom>
          <a:solidFill>
            <a:srgbClr val="E3E2DA"/>
          </a:solidFill>
          <a:ln w="12700">
            <a:solidFill>
              <a:srgbClr val="E3E2DA"/>
            </a:solidFill>
            <a:prstDash val="solid"/>
          </a:ln>
        </p:spPr>
      </p:sp>
      <p:sp>
        <p:nvSpPr>
          <p:cNvPr id="308" name="Shape 306"/>
          <p:cNvSpPr/>
          <p:nvPr/>
        </p:nvSpPr>
        <p:spPr>
          <a:xfrm>
            <a:off x="9946356" y="4327307"/>
            <a:ext cx="219456" cy="219456"/>
          </a:xfrm>
          <a:prstGeom prst="rect">
            <a:avLst/>
          </a:prstGeom>
          <a:solidFill>
            <a:srgbClr val="E3E2DA"/>
          </a:solidFill>
          <a:ln w="12700">
            <a:solidFill>
              <a:srgbClr val="E3E2DA"/>
            </a:solidFill>
            <a:prstDash val="solid"/>
          </a:ln>
        </p:spPr>
      </p:sp>
      <p:sp>
        <p:nvSpPr>
          <p:cNvPr id="309" name="Shape 307"/>
          <p:cNvSpPr/>
          <p:nvPr/>
        </p:nvSpPr>
        <p:spPr>
          <a:xfrm>
            <a:off x="10196535" y="4327307"/>
            <a:ext cx="219456" cy="219456"/>
          </a:xfrm>
          <a:prstGeom prst="rect">
            <a:avLst/>
          </a:prstGeom>
          <a:solidFill>
            <a:srgbClr val="E3E2DA"/>
          </a:solidFill>
          <a:ln w="12700">
            <a:solidFill>
              <a:srgbClr val="E3E2DA"/>
            </a:solidFill>
            <a:prstDash val="solid"/>
          </a:ln>
        </p:spPr>
      </p:sp>
      <p:sp>
        <p:nvSpPr>
          <p:cNvPr id="310" name="Text 308"/>
          <p:cNvSpPr txBox="1"/>
          <p:nvPr/>
        </p:nvSpPr>
        <p:spPr>
          <a:xfrm>
            <a:off x="7944917" y="4650638"/>
            <a:ext cx="3515258" cy="365760"/>
          </a:xfrm>
          <a:prstGeom prst="rect">
            <a:avLst/>
          </a:prstGeom>
          <a:noFill/>
          <a:ln/>
        </p:spPr>
        <p:txBody>
          <a:bodyPr wrap="square" lIns="0" tIns="0" rIns="0" bIns="0" rtlCol="0" anchor="ctr"/>
          <a:lstStyle/>
          <a:p>
            <a:pPr indent="0" marL="0">
              <a:buNone/>
            </a:pPr>
            <a:r>
              <a:rPr lang="en-US" sz="2000" b="1" i="1" dirty="0">
                <a:solidFill>
                  <a:srgbClr val="125C60"/>
                </a:solidFill>
                <a:latin typeface="Proxima Nova" pitchFamily="34" charset="0"/>
                <a:ea typeface="Proxima Nova" pitchFamily="34" charset="-122"/>
                <a:cs typeface="Proxima Nova" pitchFamily="34" charset="-120"/>
              </a:rPr>
              <a:t>44.0%</a:t>
            </a:r>
            <a:endParaRPr lang="en-US" sz="2000" dirty="0"/>
          </a:p>
        </p:txBody>
      </p:sp>
      <p:sp>
        <p:nvSpPr>
          <p:cNvPr id="311" name="Text 309"/>
          <p:cNvSpPr txBox="1"/>
          <p:nvPr/>
        </p:nvSpPr>
        <p:spPr>
          <a:xfrm>
            <a:off x="7944917" y="5016398"/>
            <a:ext cx="3423818" cy="457200"/>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of domestic visitors come from outside California (44 of every 100)</a:t>
            </a:r>
            <a:endParaRPr lang="en-US" sz="1000" dirty="0"/>
          </a:p>
        </p:txBody>
      </p:sp>
      <p:sp>
        <p:nvSpPr>
          <p:cNvPr id="312"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Azira via Symphony (District 5, Jan. 1–May 31, 2026; domestic visitors, Aug.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Where District 5's domestic visitors come from</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Share of District 5 domestic visitors, by state (shading) and metro area (circles), Jan. 1–May 31, 2026</a:t>
            </a:r>
            <a:endParaRPr lang="en-US" sz="1200" dirty="0"/>
          </a:p>
        </p:txBody>
      </p:sp>
      <p:pic>
        <p:nvPicPr>
          <p:cNvPr id="4" name="Image 0" descr="Where District 5's domestic visitors come from: Los Angeles–Long Beach–Anaheim 23.6%, Riverside–San Bernardino–Ontario 22.6%, Washington–Arlington–Alexandria 3.6%, San Diego–Chula Vista–Carlsbad 3.2%, New York–Newark–Jersey City 2.0%, Bakersfield–Delano 1.5%, Phoenix–Mesa–Chandler 1.5%, Dallas–Fort Worth–Arlington 1.4%">    </p:cNvPr>
          <p:cNvPicPr>
            <a:picLocks noChangeAspect="1"/>
          </p:cNvPicPr>
          <p:nvPr/>
        </p:nvPicPr>
        <p:blipFill>
          <a:blip r:embed="rId1"/>
          <a:stretch>
            <a:fillRect/>
          </a:stretch>
        </p:blipFill>
        <p:spPr>
          <a:xfrm>
            <a:off x="548640" y="1417320"/>
            <a:ext cx="7095744" cy="4434840"/>
          </a:xfrm>
          <a:prstGeom prst="rect">
            <a:avLst/>
          </a:prstGeom>
        </p:spPr>
      </p:pic>
      <p:sp>
        <p:nvSpPr>
          <p:cNvPr id="5" name="Text 2"/>
          <p:cNvSpPr txBox="1"/>
          <p:nvPr/>
        </p:nvSpPr>
        <p:spPr>
          <a:xfrm>
            <a:off x="7918704" y="1417320"/>
            <a:ext cx="3724351" cy="228600"/>
          </a:xfrm>
          <a:prstGeom prst="rect">
            <a:avLst/>
          </a:prstGeom>
          <a:noFill/>
          <a:ln/>
        </p:spPr>
        <p:txBody>
          <a:bodyPr wrap="square" lIns="0" tIns="0" rIns="0" bIns="0" rtlCol="0" anchor="ctr"/>
          <a:lstStyle/>
          <a:p>
            <a:pPr indent="0" marL="0">
              <a:buNone/>
            </a:pPr>
            <a:r>
              <a:rPr lang="en-US" sz="950" b="1" spc="100" kern="0" dirty="0">
                <a:solidFill>
                  <a:srgbClr val="125C60"/>
                </a:solidFill>
                <a:latin typeface="Proxima Nova" pitchFamily="34" charset="0"/>
                <a:ea typeface="Proxima Nova" pitchFamily="34" charset="-122"/>
                <a:cs typeface="Proxima Nova" pitchFamily="34" charset="-120"/>
              </a:rPr>
              <a:t>STATES</a:t>
            </a:r>
            <a:endParaRPr lang="en-US" sz="950" dirty="0"/>
          </a:p>
        </p:txBody>
      </p:sp>
      <p:sp>
        <p:nvSpPr>
          <p:cNvPr id="6" name="Shape 3"/>
          <p:cNvSpPr/>
          <p:nvPr/>
        </p:nvSpPr>
        <p:spPr>
          <a:xfrm>
            <a:off x="7918704" y="1728216"/>
            <a:ext cx="164592" cy="164592"/>
          </a:xfrm>
          <a:prstGeom prst="rect">
            <a:avLst/>
          </a:prstGeom>
          <a:solidFill>
            <a:srgbClr val="125C60"/>
          </a:solidFill>
          <a:ln w="6350">
            <a:solidFill>
              <a:srgbClr val="C9C6B8"/>
            </a:solidFill>
            <a:prstDash val="solid"/>
          </a:ln>
        </p:spPr>
      </p:sp>
      <p:sp>
        <p:nvSpPr>
          <p:cNvPr id="7" name="Text 4"/>
          <p:cNvSpPr txBox="1"/>
          <p:nvPr/>
        </p:nvSpPr>
        <p:spPr>
          <a:xfrm>
            <a:off x="8174736" y="1691640"/>
            <a:ext cx="3450031" cy="237744"/>
          </a:xfrm>
          <a:prstGeom prst="rect">
            <a:avLst/>
          </a:prstGeom>
          <a:noFill/>
          <a:ln/>
        </p:spPr>
        <p:txBody>
          <a:bodyPr wrap="square" lIns="0" tIns="0" rIns="0" bIns="0" rtlCol="0" anchor="ctr"/>
          <a:lstStyle/>
          <a:p>
            <a:pPr indent="0" marL="0">
              <a:buNone/>
            </a:pPr>
            <a:r>
              <a:rPr lang="en-US" sz="1000" dirty="0">
                <a:solidFill>
                  <a:srgbClr val="231F20"/>
                </a:solidFill>
                <a:latin typeface="Proxima Nova" pitchFamily="34" charset="0"/>
                <a:ea typeface="Proxima Nova" pitchFamily="34" charset="-122"/>
                <a:cs typeface="Proxima Nova" pitchFamily="34" charset="-120"/>
              </a:rPr>
              <a:t>20% or more</a:t>
            </a:r>
            <a:endParaRPr lang="en-US" sz="1000" dirty="0"/>
          </a:p>
        </p:txBody>
      </p:sp>
      <p:sp>
        <p:nvSpPr>
          <p:cNvPr id="8" name="Shape 5"/>
          <p:cNvSpPr/>
          <p:nvPr/>
        </p:nvSpPr>
        <p:spPr>
          <a:xfrm>
            <a:off x="7918704" y="2002536"/>
            <a:ext cx="164592" cy="164592"/>
          </a:xfrm>
          <a:prstGeom prst="rect">
            <a:avLst/>
          </a:prstGeom>
          <a:solidFill>
            <a:srgbClr val="43A3A3"/>
          </a:solidFill>
          <a:ln w="6350">
            <a:solidFill>
              <a:srgbClr val="C9C6B8"/>
            </a:solidFill>
            <a:prstDash val="solid"/>
          </a:ln>
        </p:spPr>
      </p:sp>
      <p:sp>
        <p:nvSpPr>
          <p:cNvPr id="9" name="Text 6"/>
          <p:cNvSpPr txBox="1"/>
          <p:nvPr/>
        </p:nvSpPr>
        <p:spPr>
          <a:xfrm>
            <a:off x="8174736" y="1965960"/>
            <a:ext cx="3450031" cy="237744"/>
          </a:xfrm>
          <a:prstGeom prst="rect">
            <a:avLst/>
          </a:prstGeom>
          <a:noFill/>
          <a:ln/>
        </p:spPr>
        <p:txBody>
          <a:bodyPr wrap="square" lIns="0" tIns="0" rIns="0" bIns="0" rtlCol="0" anchor="ctr"/>
          <a:lstStyle/>
          <a:p>
            <a:pPr indent="0" marL="0">
              <a:buNone/>
            </a:pPr>
            <a:r>
              <a:rPr lang="en-US" sz="1000" dirty="0">
                <a:solidFill>
                  <a:srgbClr val="231F20"/>
                </a:solidFill>
                <a:latin typeface="Proxima Nova" pitchFamily="34" charset="0"/>
                <a:ea typeface="Proxima Nova" pitchFamily="34" charset="-122"/>
                <a:cs typeface="Proxima Nova" pitchFamily="34" charset="-120"/>
              </a:rPr>
              <a:t>3% to 20%</a:t>
            </a:r>
            <a:endParaRPr lang="en-US" sz="1000" dirty="0"/>
          </a:p>
        </p:txBody>
      </p:sp>
      <p:sp>
        <p:nvSpPr>
          <p:cNvPr id="10" name="Shape 7"/>
          <p:cNvSpPr/>
          <p:nvPr/>
        </p:nvSpPr>
        <p:spPr>
          <a:xfrm>
            <a:off x="7918704" y="2276856"/>
            <a:ext cx="164592" cy="164592"/>
          </a:xfrm>
          <a:prstGeom prst="rect">
            <a:avLst/>
          </a:prstGeom>
          <a:solidFill>
            <a:srgbClr val="B4D9E3"/>
          </a:solidFill>
          <a:ln w="6350">
            <a:solidFill>
              <a:srgbClr val="C9C6B8"/>
            </a:solidFill>
            <a:prstDash val="solid"/>
          </a:ln>
        </p:spPr>
      </p:sp>
      <p:sp>
        <p:nvSpPr>
          <p:cNvPr id="11" name="Text 8"/>
          <p:cNvSpPr txBox="1"/>
          <p:nvPr/>
        </p:nvSpPr>
        <p:spPr>
          <a:xfrm>
            <a:off x="8174736" y="2240280"/>
            <a:ext cx="3450031" cy="237744"/>
          </a:xfrm>
          <a:prstGeom prst="rect">
            <a:avLst/>
          </a:prstGeom>
          <a:noFill/>
          <a:ln/>
        </p:spPr>
        <p:txBody>
          <a:bodyPr wrap="square" lIns="0" tIns="0" rIns="0" bIns="0" rtlCol="0" anchor="ctr"/>
          <a:lstStyle/>
          <a:p>
            <a:pPr indent="0" marL="0">
              <a:buNone/>
            </a:pPr>
            <a:r>
              <a:rPr lang="en-US" sz="1000" dirty="0">
                <a:solidFill>
                  <a:srgbClr val="231F20"/>
                </a:solidFill>
                <a:latin typeface="Proxima Nova" pitchFamily="34" charset="0"/>
                <a:ea typeface="Proxima Nova" pitchFamily="34" charset="-122"/>
                <a:cs typeface="Proxima Nova" pitchFamily="34" charset="-120"/>
              </a:rPr>
              <a:t>Under 3%</a:t>
            </a:r>
            <a:endParaRPr lang="en-US" sz="1000" dirty="0"/>
          </a:p>
        </p:txBody>
      </p:sp>
      <p:sp>
        <p:nvSpPr>
          <p:cNvPr id="12" name="Shape 9"/>
          <p:cNvSpPr/>
          <p:nvPr/>
        </p:nvSpPr>
        <p:spPr>
          <a:xfrm>
            <a:off x="7918704" y="2551176"/>
            <a:ext cx="164592" cy="164592"/>
          </a:xfrm>
          <a:prstGeom prst="rect">
            <a:avLst/>
          </a:prstGeom>
          <a:solidFill>
            <a:srgbClr val="E9EBE4"/>
          </a:solidFill>
          <a:ln w="6350">
            <a:solidFill>
              <a:srgbClr val="C9C6B8"/>
            </a:solidFill>
            <a:prstDash val="solid"/>
          </a:ln>
        </p:spPr>
      </p:sp>
      <p:sp>
        <p:nvSpPr>
          <p:cNvPr id="13" name="Text 10"/>
          <p:cNvSpPr txBox="1"/>
          <p:nvPr/>
        </p:nvSpPr>
        <p:spPr>
          <a:xfrm>
            <a:off x="8174736" y="2514600"/>
            <a:ext cx="3450031" cy="237744"/>
          </a:xfrm>
          <a:prstGeom prst="rect">
            <a:avLst/>
          </a:prstGeom>
          <a:noFill/>
          <a:ln/>
        </p:spPr>
        <p:txBody>
          <a:bodyPr wrap="square" lIns="0" tIns="0" rIns="0" bIns="0" rtlCol="0" anchor="ctr"/>
          <a:lstStyle/>
          <a:p>
            <a:pPr indent="0" marL="0">
              <a:buNone/>
            </a:pPr>
            <a:r>
              <a:rPr lang="en-US" sz="1000" dirty="0">
                <a:solidFill>
                  <a:srgbClr val="231F20"/>
                </a:solidFill>
                <a:latin typeface="Proxima Nova" pitchFamily="34" charset="0"/>
                <a:ea typeface="Proxima Nova" pitchFamily="34" charset="-122"/>
                <a:cs typeface="Proxima Nova" pitchFamily="34" charset="-120"/>
              </a:rPr>
              <a:t>Not in the top 11 states</a:t>
            </a:r>
            <a:endParaRPr lang="en-US" sz="1000" dirty="0"/>
          </a:p>
        </p:txBody>
      </p:sp>
      <p:sp>
        <p:nvSpPr>
          <p:cNvPr id="14" name="Text 11"/>
          <p:cNvSpPr txBox="1"/>
          <p:nvPr/>
        </p:nvSpPr>
        <p:spPr>
          <a:xfrm>
            <a:off x="7918704" y="2926080"/>
            <a:ext cx="3724351" cy="228600"/>
          </a:xfrm>
          <a:prstGeom prst="rect">
            <a:avLst/>
          </a:prstGeom>
          <a:noFill/>
          <a:ln/>
        </p:spPr>
        <p:txBody>
          <a:bodyPr wrap="square" lIns="0" tIns="0" rIns="0" bIns="0" rtlCol="0" anchor="ctr"/>
          <a:lstStyle/>
          <a:p>
            <a:pPr indent="0" marL="0">
              <a:buNone/>
            </a:pPr>
            <a:r>
              <a:rPr lang="en-US" sz="950" b="1" spc="100" kern="0" dirty="0">
                <a:solidFill>
                  <a:srgbClr val="125C60"/>
                </a:solidFill>
                <a:latin typeface="Proxima Nova" pitchFamily="34" charset="0"/>
                <a:ea typeface="Proxima Nova" pitchFamily="34" charset="-122"/>
                <a:cs typeface="Proxima Nova" pitchFamily="34" charset="-120"/>
              </a:rPr>
              <a:t>METRO AREAS (CIRCLES)</a:t>
            </a:r>
            <a:endParaRPr lang="en-US" sz="950" dirty="0"/>
          </a:p>
        </p:txBody>
      </p:sp>
      <p:sp>
        <p:nvSpPr>
          <p:cNvPr id="15" name="Text 12"/>
          <p:cNvSpPr txBox="1"/>
          <p:nvPr/>
        </p:nvSpPr>
        <p:spPr>
          <a:xfrm>
            <a:off x="7918704" y="3218688"/>
            <a:ext cx="3724351" cy="274320"/>
          </a:xfrm>
          <a:prstGeom prst="rect">
            <a:avLst/>
          </a:prstGeom>
          <a:noFill/>
          <a:ln/>
        </p:spPr>
        <p:txBody>
          <a:bodyPr wrap="square" lIns="0" tIns="0" rIns="0" bIns="0" rtlCol="0" anchor="ctr">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23.6%  </a:t>
            </a:r>
            <a:pPr indent="0" marL="0">
              <a:buNone/>
            </a:pPr>
            <a:r>
              <a:rPr lang="en-US" sz="1000" dirty="0">
                <a:solidFill>
                  <a:srgbClr val="231F20"/>
                </a:solidFill>
                <a:latin typeface="Proxima Nova" pitchFamily="34" charset="0"/>
                <a:ea typeface="Proxima Nova" pitchFamily="34" charset="-122"/>
                <a:cs typeface="Proxima Nova" pitchFamily="34" charset="-120"/>
              </a:rPr>
              <a:t>Los Angeles–Long Beach–Anaheim</a:t>
            </a:r>
            <a:endParaRPr lang="en-US" sz="1200" dirty="0"/>
          </a:p>
        </p:txBody>
      </p:sp>
      <p:sp>
        <p:nvSpPr>
          <p:cNvPr id="16" name="Text 13"/>
          <p:cNvSpPr txBox="1"/>
          <p:nvPr/>
        </p:nvSpPr>
        <p:spPr>
          <a:xfrm>
            <a:off x="7918704" y="3520440"/>
            <a:ext cx="3724351" cy="274320"/>
          </a:xfrm>
          <a:prstGeom prst="rect">
            <a:avLst/>
          </a:prstGeom>
          <a:noFill/>
          <a:ln/>
        </p:spPr>
        <p:txBody>
          <a:bodyPr wrap="square" lIns="0" tIns="0" rIns="0" bIns="0" rtlCol="0" anchor="ctr">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22.6%  </a:t>
            </a:r>
            <a:pPr indent="0" marL="0">
              <a:buNone/>
            </a:pPr>
            <a:r>
              <a:rPr lang="en-US" sz="1000" dirty="0">
                <a:solidFill>
                  <a:srgbClr val="231F20"/>
                </a:solidFill>
                <a:latin typeface="Proxima Nova" pitchFamily="34" charset="0"/>
                <a:ea typeface="Proxima Nova" pitchFamily="34" charset="-122"/>
                <a:cs typeface="Proxima Nova" pitchFamily="34" charset="-120"/>
              </a:rPr>
              <a:t>Riverside–San Bernardino–Ontario</a:t>
            </a:r>
            <a:endParaRPr lang="en-US" sz="1200" dirty="0"/>
          </a:p>
        </p:txBody>
      </p:sp>
      <p:sp>
        <p:nvSpPr>
          <p:cNvPr id="17" name="Text 14"/>
          <p:cNvSpPr txBox="1"/>
          <p:nvPr/>
        </p:nvSpPr>
        <p:spPr>
          <a:xfrm>
            <a:off x="7918704" y="3822192"/>
            <a:ext cx="3724351" cy="274320"/>
          </a:xfrm>
          <a:prstGeom prst="rect">
            <a:avLst/>
          </a:prstGeom>
          <a:noFill/>
          <a:ln/>
        </p:spPr>
        <p:txBody>
          <a:bodyPr wrap="square" lIns="0" tIns="0" rIns="0" bIns="0" rtlCol="0" anchor="ctr">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3.6%  </a:t>
            </a:r>
            <a:pPr indent="0" marL="0">
              <a:buNone/>
            </a:pPr>
            <a:r>
              <a:rPr lang="en-US" sz="1000" dirty="0">
                <a:solidFill>
                  <a:srgbClr val="231F20"/>
                </a:solidFill>
                <a:latin typeface="Proxima Nova" pitchFamily="34" charset="0"/>
                <a:ea typeface="Proxima Nova" pitchFamily="34" charset="-122"/>
                <a:cs typeface="Proxima Nova" pitchFamily="34" charset="-120"/>
              </a:rPr>
              <a:t>Washington–Arlington–Alexandria</a:t>
            </a:r>
            <a:endParaRPr lang="en-US" sz="1200" dirty="0"/>
          </a:p>
        </p:txBody>
      </p:sp>
      <p:sp>
        <p:nvSpPr>
          <p:cNvPr id="18" name="Text 15"/>
          <p:cNvSpPr txBox="1"/>
          <p:nvPr/>
        </p:nvSpPr>
        <p:spPr>
          <a:xfrm>
            <a:off x="7918704" y="4123944"/>
            <a:ext cx="3724351" cy="274320"/>
          </a:xfrm>
          <a:prstGeom prst="rect">
            <a:avLst/>
          </a:prstGeom>
          <a:noFill/>
          <a:ln/>
        </p:spPr>
        <p:txBody>
          <a:bodyPr wrap="square" lIns="0" tIns="0" rIns="0" bIns="0" rtlCol="0" anchor="ctr">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3.2%  </a:t>
            </a:r>
            <a:pPr indent="0" marL="0">
              <a:buNone/>
            </a:pPr>
            <a:r>
              <a:rPr lang="en-US" sz="1000" dirty="0">
                <a:solidFill>
                  <a:srgbClr val="231F20"/>
                </a:solidFill>
                <a:latin typeface="Proxima Nova" pitchFamily="34" charset="0"/>
                <a:ea typeface="Proxima Nova" pitchFamily="34" charset="-122"/>
                <a:cs typeface="Proxima Nova" pitchFamily="34" charset="-120"/>
              </a:rPr>
              <a:t>San Diego–Chula Vista–Carlsbad</a:t>
            </a:r>
            <a:endParaRPr lang="en-US" sz="1200" dirty="0"/>
          </a:p>
        </p:txBody>
      </p:sp>
      <p:sp>
        <p:nvSpPr>
          <p:cNvPr id="19" name="Text 16"/>
          <p:cNvSpPr txBox="1"/>
          <p:nvPr/>
        </p:nvSpPr>
        <p:spPr>
          <a:xfrm>
            <a:off x="7918704" y="4425696"/>
            <a:ext cx="3724351" cy="274320"/>
          </a:xfrm>
          <a:prstGeom prst="rect">
            <a:avLst/>
          </a:prstGeom>
          <a:noFill/>
          <a:ln/>
        </p:spPr>
        <p:txBody>
          <a:bodyPr wrap="square" lIns="0" tIns="0" rIns="0" bIns="0" rtlCol="0" anchor="ctr">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2.0%  </a:t>
            </a:r>
            <a:pPr indent="0" marL="0">
              <a:buNone/>
            </a:pPr>
            <a:r>
              <a:rPr lang="en-US" sz="1000" dirty="0">
                <a:solidFill>
                  <a:srgbClr val="231F20"/>
                </a:solidFill>
                <a:latin typeface="Proxima Nova" pitchFamily="34" charset="0"/>
                <a:ea typeface="Proxima Nova" pitchFamily="34" charset="-122"/>
                <a:cs typeface="Proxima Nova" pitchFamily="34" charset="-120"/>
              </a:rPr>
              <a:t>New York–Newark–Jersey City</a:t>
            </a:r>
            <a:endParaRPr lang="en-US" sz="1200" dirty="0"/>
          </a:p>
        </p:txBody>
      </p:sp>
      <p:sp>
        <p:nvSpPr>
          <p:cNvPr id="20" name="Text 17"/>
          <p:cNvSpPr txBox="1"/>
          <p:nvPr/>
        </p:nvSpPr>
        <p:spPr>
          <a:xfrm>
            <a:off x="7918704" y="4727448"/>
            <a:ext cx="3724351" cy="274320"/>
          </a:xfrm>
          <a:prstGeom prst="rect">
            <a:avLst/>
          </a:prstGeom>
          <a:noFill/>
          <a:ln/>
        </p:spPr>
        <p:txBody>
          <a:bodyPr wrap="square" lIns="0" tIns="0" rIns="0" bIns="0" rtlCol="0" anchor="ctr">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1.5%  </a:t>
            </a:r>
            <a:pPr indent="0" marL="0">
              <a:buNone/>
            </a:pPr>
            <a:r>
              <a:rPr lang="en-US" sz="1000" dirty="0">
                <a:solidFill>
                  <a:srgbClr val="231F20"/>
                </a:solidFill>
                <a:latin typeface="Proxima Nova" pitchFamily="34" charset="0"/>
                <a:ea typeface="Proxima Nova" pitchFamily="34" charset="-122"/>
                <a:cs typeface="Proxima Nova" pitchFamily="34" charset="-120"/>
              </a:rPr>
              <a:t>Bakersfield–Delano</a:t>
            </a:r>
            <a:endParaRPr lang="en-US" sz="1200" dirty="0"/>
          </a:p>
        </p:txBody>
      </p:sp>
      <p:sp>
        <p:nvSpPr>
          <p:cNvPr id="21" name="Text 18"/>
          <p:cNvSpPr txBox="1"/>
          <p:nvPr/>
        </p:nvSpPr>
        <p:spPr>
          <a:xfrm>
            <a:off x="7918704" y="5029200"/>
            <a:ext cx="3724351" cy="274320"/>
          </a:xfrm>
          <a:prstGeom prst="rect">
            <a:avLst/>
          </a:prstGeom>
          <a:noFill/>
          <a:ln/>
        </p:spPr>
        <p:txBody>
          <a:bodyPr wrap="square" lIns="0" tIns="0" rIns="0" bIns="0" rtlCol="0" anchor="ctr">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1.5%  </a:t>
            </a:r>
            <a:pPr indent="0" marL="0">
              <a:buNone/>
            </a:pPr>
            <a:r>
              <a:rPr lang="en-US" sz="1000" dirty="0">
                <a:solidFill>
                  <a:srgbClr val="231F20"/>
                </a:solidFill>
                <a:latin typeface="Proxima Nova" pitchFamily="34" charset="0"/>
                <a:ea typeface="Proxima Nova" pitchFamily="34" charset="-122"/>
                <a:cs typeface="Proxima Nova" pitchFamily="34" charset="-120"/>
              </a:rPr>
              <a:t>Phoenix–Mesa–Chandler</a:t>
            </a:r>
            <a:endParaRPr lang="en-US" sz="1200" dirty="0"/>
          </a:p>
        </p:txBody>
      </p:sp>
      <p:sp>
        <p:nvSpPr>
          <p:cNvPr id="22" name="Text 19"/>
          <p:cNvSpPr txBox="1"/>
          <p:nvPr/>
        </p:nvSpPr>
        <p:spPr>
          <a:xfrm>
            <a:off x="7918704" y="5330952"/>
            <a:ext cx="3724351" cy="274320"/>
          </a:xfrm>
          <a:prstGeom prst="rect">
            <a:avLst/>
          </a:prstGeom>
          <a:noFill/>
          <a:ln/>
        </p:spPr>
        <p:txBody>
          <a:bodyPr wrap="square" lIns="0" tIns="0" rIns="0" bIns="0" rtlCol="0" anchor="ctr">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1.4%  </a:t>
            </a:r>
            <a:pPr indent="0" marL="0">
              <a:buNone/>
            </a:pPr>
            <a:r>
              <a:rPr lang="en-US" sz="1000" dirty="0">
                <a:solidFill>
                  <a:srgbClr val="231F20"/>
                </a:solidFill>
                <a:latin typeface="Proxima Nova" pitchFamily="34" charset="0"/>
                <a:ea typeface="Proxima Nova" pitchFamily="34" charset="-122"/>
                <a:cs typeface="Proxima Nova" pitchFamily="34" charset="-120"/>
              </a:rPr>
              <a:t>Dallas–Fort Worth–Arlington</a:t>
            </a:r>
            <a:endParaRPr lang="en-US" sz="1200" dirty="0"/>
          </a:p>
        </p:txBody>
      </p:sp>
      <p:sp>
        <p:nvSpPr>
          <p:cNvPr id="23"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Symphony | Tourism Economics, Azira POI Analysis: District 5 (Jan. 1–May 31, 2026). Map: U.S. Census Bureau boundaries (us-atlas); Natural Earth 1:110m (world-atlas); circles at each metro's principal city or country's center.</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District 5 profile: income, busiest day and the places visitors also go</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Symphony | Azira POI analysis, District 5 · Jan. 1–May 31, 2026</a:t>
            </a:r>
            <a:endParaRPr lang="en-US" sz="1200" dirty="0"/>
          </a:p>
        </p:txBody>
      </p:sp>
      <p:sp>
        <p:nvSpPr>
          <p:cNvPr id="5" name="kpi-card-0"/>
          <p:cNvSpPr/>
          <p:nvPr/>
        </p:nvSpPr>
        <p:spPr>
          <a:xfrm>
            <a:off x="548640" y="1463040"/>
            <a:ext cx="1780032" cy="1600200"/>
          </a:xfrm>
          <a:prstGeom prst="roundRect">
            <a:avLst>
              <a:gd name="adj" fmla="val 4571"/>
            </a:avLst>
          </a:prstGeom>
          <a:solidFill>
            <a:srgbClr val="FFFFFF"/>
          </a:solidFill>
          <a:ln w="12700">
            <a:solidFill>
              <a:srgbClr val="B4D9E3"/>
            </a:solidFill>
            <a:prstDash val="solid"/>
          </a:ln>
        </p:spPr>
      </p:sp>
      <p:sp>
        <p:nvSpPr>
          <p:cNvPr id="6" name="Text 3"/>
          <p:cNvSpPr txBox="1"/>
          <p:nvPr/>
        </p:nvSpPr>
        <p:spPr>
          <a:xfrm>
            <a:off x="713232" y="1591056"/>
            <a:ext cx="1450848"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DISTRICT 5</a:t>
            </a:r>
            <a:endParaRPr lang="en-US" sz="900" dirty="0"/>
          </a:p>
        </p:txBody>
      </p:sp>
      <p:sp>
        <p:nvSpPr>
          <p:cNvPr id="7" name="Text 4"/>
          <p:cNvSpPr txBox="1"/>
          <p:nvPr/>
        </p:nvSpPr>
        <p:spPr>
          <a:xfrm>
            <a:off x="713232" y="1810512"/>
            <a:ext cx="1450848"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Stay overnight</a:t>
            </a:r>
            <a:endParaRPr lang="en-US" sz="1050" dirty="0"/>
          </a:p>
        </p:txBody>
      </p:sp>
      <p:sp>
        <p:nvSpPr>
          <p:cNvPr id="8" name="Text 5"/>
          <p:cNvSpPr txBox="1"/>
          <p:nvPr/>
        </p:nvSpPr>
        <p:spPr>
          <a:xfrm>
            <a:off x="713232" y="2084832"/>
            <a:ext cx="1450848" cy="548640"/>
          </a:xfrm>
          <a:prstGeom prst="rect">
            <a:avLst/>
          </a:prstGeom>
          <a:noFill/>
          <a:ln/>
        </p:spPr>
        <p:txBody>
          <a:bodyPr wrap="square" lIns="0" tIns="0" rIns="0" bIns="0" rtlCol="0" anchor="ctr"/>
          <a:lstStyle/>
          <a:p>
            <a:pPr indent="0" marL="0">
              <a:buNone/>
            </a:pPr>
            <a:r>
              <a:rPr lang="en-US" sz="2400" b="1" dirty="0">
                <a:solidFill>
                  <a:srgbClr val="125C60"/>
                </a:solidFill>
                <a:latin typeface="Proxima Nova" pitchFamily="34" charset="0"/>
                <a:ea typeface="Proxima Nova" pitchFamily="34" charset="-122"/>
                <a:cs typeface="Proxima Nova" pitchFamily="34" charset="-120"/>
              </a:rPr>
              <a:t>85.8%</a:t>
            </a:r>
            <a:endParaRPr lang="en-US" sz="2400" dirty="0"/>
          </a:p>
        </p:txBody>
      </p:sp>
      <p:sp>
        <p:nvSpPr>
          <p:cNvPr id="9" name="Text 6"/>
          <p:cNvSpPr txBox="1"/>
          <p:nvPr/>
        </p:nvSpPr>
        <p:spPr>
          <a:xfrm>
            <a:off x="713232" y="2633472"/>
            <a:ext cx="1450848" cy="33832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New visitors 43.8%</a:t>
            </a:r>
            <a:endParaRPr lang="en-US" sz="1000" dirty="0"/>
          </a:p>
        </p:txBody>
      </p:sp>
      <p:sp>
        <p:nvSpPr>
          <p:cNvPr id="10" name="kpi-card-1"/>
          <p:cNvSpPr/>
          <p:nvPr/>
        </p:nvSpPr>
        <p:spPr>
          <a:xfrm>
            <a:off x="2493264" y="1463040"/>
            <a:ext cx="1780032" cy="1600200"/>
          </a:xfrm>
          <a:prstGeom prst="roundRect">
            <a:avLst>
              <a:gd name="adj" fmla="val 4571"/>
            </a:avLst>
          </a:prstGeom>
          <a:solidFill>
            <a:srgbClr val="FFFFFF"/>
          </a:solidFill>
          <a:ln w="12700">
            <a:solidFill>
              <a:srgbClr val="B4D9E3"/>
            </a:solidFill>
            <a:prstDash val="solid"/>
          </a:ln>
        </p:spPr>
      </p:sp>
      <p:sp>
        <p:nvSpPr>
          <p:cNvPr id="11" name="Text 8"/>
          <p:cNvSpPr txBox="1"/>
          <p:nvPr/>
        </p:nvSpPr>
        <p:spPr>
          <a:xfrm>
            <a:off x="2657856" y="1591056"/>
            <a:ext cx="1450848"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DISTRICT 5</a:t>
            </a:r>
            <a:endParaRPr lang="en-US" sz="900" dirty="0"/>
          </a:p>
        </p:txBody>
      </p:sp>
      <p:sp>
        <p:nvSpPr>
          <p:cNvPr id="12" name="Text 9"/>
          <p:cNvSpPr txBox="1"/>
          <p:nvPr/>
        </p:nvSpPr>
        <p:spPr>
          <a:xfrm>
            <a:off x="2657856" y="1810512"/>
            <a:ext cx="1450848"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Median household income</a:t>
            </a:r>
            <a:endParaRPr lang="en-US" sz="1050" dirty="0"/>
          </a:p>
        </p:txBody>
      </p:sp>
      <p:sp>
        <p:nvSpPr>
          <p:cNvPr id="13" name="Text 10"/>
          <p:cNvSpPr txBox="1"/>
          <p:nvPr/>
        </p:nvSpPr>
        <p:spPr>
          <a:xfrm>
            <a:off x="2657856" y="2084832"/>
            <a:ext cx="1450848" cy="548640"/>
          </a:xfrm>
          <a:prstGeom prst="rect">
            <a:avLst/>
          </a:prstGeom>
          <a:noFill/>
          <a:ln/>
        </p:spPr>
        <p:txBody>
          <a:bodyPr wrap="square" lIns="0" tIns="0" rIns="0" bIns="0" rtlCol="0" anchor="ctr"/>
          <a:lstStyle/>
          <a:p>
            <a:pPr indent="0" marL="0">
              <a:buNone/>
            </a:pPr>
            <a:r>
              <a:rPr lang="en-US" sz="2400" b="1" dirty="0">
                <a:solidFill>
                  <a:srgbClr val="125C60"/>
                </a:solidFill>
                <a:latin typeface="Proxima Nova" pitchFamily="34" charset="0"/>
                <a:ea typeface="Proxima Nova" pitchFamily="34" charset="-122"/>
                <a:cs typeface="Proxima Nova" pitchFamily="34" charset="-120"/>
              </a:rPr>
              <a:t>$85.7K</a:t>
            </a:r>
            <a:endParaRPr lang="en-US" sz="2400" dirty="0"/>
          </a:p>
        </p:txBody>
      </p:sp>
      <p:sp>
        <p:nvSpPr>
          <p:cNvPr id="14" name="Text 11"/>
          <p:cNvSpPr txBox="1"/>
          <p:nvPr/>
        </p:nvSpPr>
        <p:spPr>
          <a:xfrm>
            <a:off x="2657856" y="2633472"/>
            <a:ext cx="1450848" cy="33832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All Anaheim/GG visitors $79.9K</a:t>
            </a:r>
            <a:endParaRPr lang="en-US" sz="1000" dirty="0"/>
          </a:p>
        </p:txBody>
      </p:sp>
      <p:sp>
        <p:nvSpPr>
          <p:cNvPr id="15" name="kpi-card-2"/>
          <p:cNvSpPr/>
          <p:nvPr/>
        </p:nvSpPr>
        <p:spPr>
          <a:xfrm>
            <a:off x="4437888" y="1463040"/>
            <a:ext cx="1780032" cy="1600200"/>
          </a:xfrm>
          <a:prstGeom prst="roundRect">
            <a:avLst>
              <a:gd name="adj" fmla="val 4571"/>
            </a:avLst>
          </a:prstGeom>
          <a:solidFill>
            <a:srgbClr val="FFFFFF"/>
          </a:solidFill>
          <a:ln w="12700">
            <a:solidFill>
              <a:srgbClr val="B4D9E3"/>
            </a:solidFill>
            <a:prstDash val="solid"/>
          </a:ln>
        </p:spPr>
      </p:sp>
      <p:sp>
        <p:nvSpPr>
          <p:cNvPr id="16" name="Text 13"/>
          <p:cNvSpPr txBox="1"/>
          <p:nvPr/>
        </p:nvSpPr>
        <p:spPr>
          <a:xfrm>
            <a:off x="4602480" y="1591056"/>
            <a:ext cx="1450848"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DISTRICT 5</a:t>
            </a:r>
            <a:endParaRPr lang="en-US" sz="900" dirty="0"/>
          </a:p>
        </p:txBody>
      </p:sp>
      <p:sp>
        <p:nvSpPr>
          <p:cNvPr id="17" name="Text 14"/>
          <p:cNvSpPr txBox="1"/>
          <p:nvPr/>
        </p:nvSpPr>
        <p:spPr>
          <a:xfrm>
            <a:off x="4602480" y="1810512"/>
            <a:ext cx="1450848"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Busiest day</a:t>
            </a:r>
            <a:endParaRPr lang="en-US" sz="1050" dirty="0"/>
          </a:p>
        </p:txBody>
      </p:sp>
      <p:sp>
        <p:nvSpPr>
          <p:cNvPr id="18" name="Text 15"/>
          <p:cNvSpPr txBox="1"/>
          <p:nvPr/>
        </p:nvSpPr>
        <p:spPr>
          <a:xfrm>
            <a:off x="4602480" y="2084832"/>
            <a:ext cx="1450848" cy="548640"/>
          </a:xfrm>
          <a:prstGeom prst="rect">
            <a:avLst/>
          </a:prstGeom>
          <a:noFill/>
          <a:ln/>
        </p:spPr>
        <p:txBody>
          <a:bodyPr wrap="square" lIns="0" tIns="0" rIns="0" bIns="0" rtlCol="0" anchor="ctr"/>
          <a:lstStyle/>
          <a:p>
            <a:pPr indent="0" marL="0">
              <a:buNone/>
            </a:pPr>
            <a:r>
              <a:rPr lang="en-US" sz="2400" b="1" dirty="0">
                <a:solidFill>
                  <a:srgbClr val="125C60"/>
                </a:solidFill>
                <a:latin typeface="Proxima Nova" pitchFamily="34" charset="0"/>
                <a:ea typeface="Proxima Nova" pitchFamily="34" charset="-122"/>
                <a:cs typeface="Proxima Nova" pitchFamily="34" charset="-120"/>
              </a:rPr>
              <a:t>Saturday</a:t>
            </a:r>
            <a:endParaRPr lang="en-US" sz="2400" dirty="0"/>
          </a:p>
        </p:txBody>
      </p:sp>
      <p:sp>
        <p:nvSpPr>
          <p:cNvPr id="19" name="Text 16"/>
          <p:cNvSpPr txBox="1"/>
          <p:nvPr/>
        </p:nvSpPr>
        <p:spPr>
          <a:xfrm>
            <a:off x="4602480" y="2633472"/>
            <a:ext cx="1450848" cy="33832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15.9% of visits</a:t>
            </a:r>
            <a:endParaRPr lang="en-US" sz="10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548640" y="3291840"/>
          <a:ext cx="5669280" cy="914400"/>
        </p:xfrm>
        <a:graphic>
          <a:graphicData uri="http://schemas.openxmlformats.org/drawingml/2006/table">
            <a:tbl>
              <a:tblPr/>
              <a:tblGrid>
                <a:gridCol w="4023360"/>
                <a:gridCol w="1645920"/>
              </a:tblGrid>
              <a:tr h="237744">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Metro area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Share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23774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Los Angeles–Long Beach–Anaheim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23.6%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23774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Riverside–San Bernardino–Ontario</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3774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Washington–Arlington–Alexandria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3774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San Diego–Chula Vista–Carlsbad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3774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New York–Newark–Jersey City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3774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Bakersfield–Delano</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3774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Phoenix–Mesa–Chandler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3774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Dallas–Fort Worth–Arlington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3774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Las Vegas–Henderson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3774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Chicago–Naperville–Elgin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3774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Oxnard–Thousand Oaks–Ventura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21" name="chart-title"/>
          <p:cNvSpPr txBox="1"/>
          <p:nvPr/>
        </p:nvSpPr>
        <p:spPr>
          <a:xfrm>
            <a:off x="6492240" y="1463040"/>
            <a:ext cx="5120640"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Also visited (share of District 5 visitors)</a:t>
            </a:r>
            <a:endParaRPr lang="en-US" sz="1300" dirty="0"/>
          </a:p>
        </p:txBody>
      </p:sp>
      <p:graphicFrame>
        <p:nvGraphicFramePr>
          <p:cNvPr id="22" name="chart" descr=""/>
          <p:cNvGraphicFramePr/>
          <p:nvPr/>
        </p:nvGraphicFramePr>
        <p:xfrm>
          <a:off x="6492240" y="1828800"/>
          <a:ext cx="5120640" cy="4023360"/>
        </p:xfrm>
        <a:graphic xmlns:a="http://schemas.openxmlformats.org/drawingml/2006/main">
          <a:graphicData uri="http://schemas.openxmlformats.org/drawingml/2006/chart">
            <c:chart xmlns:c="http://schemas.openxmlformats.org/drawingml/2006/chart" r:id="rId1"/>
          </a:graphicData>
        </a:graphic>
      </p:graphicFrame>
      <p:sp>
        <p:nvSpPr>
          <p:cNvPr id="23"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Symphony | Tourism Economics, Azira POI Analysis (District 5); U.S. Census Bureau (income)</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OC Vibe already appears in 5.2% of Anaheim visitor days</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Datafy Anaheim visitor report · calendar 2024 · visitors traveling 50+ miles</a:t>
            </a:r>
            <a:endParaRPr lang="en-US" sz="1200" dirty="0"/>
          </a:p>
        </p:txBody>
      </p:sp>
      <p:sp>
        <p:nvSpPr>
          <p:cNvPr id="4" name="chart-title"/>
          <p:cNvSpPr txBox="1"/>
          <p:nvPr/>
        </p:nvSpPr>
        <p:spPr>
          <a:xfrm>
            <a:off x="548640" y="1463040"/>
            <a:ext cx="5852160"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Share of Anaheim visitor days including each cluster</a:t>
            </a:r>
            <a:endParaRPr lang="en-US" sz="1300" dirty="0"/>
          </a:p>
        </p:txBody>
      </p:sp>
      <p:graphicFrame>
        <p:nvGraphicFramePr>
          <p:cNvPr id="5" name="chart" descr=""/>
          <p:cNvGraphicFramePr/>
          <p:nvPr/>
        </p:nvGraphicFramePr>
        <p:xfrm>
          <a:off x="548640" y="1828800"/>
          <a:ext cx="5852160" cy="4023360"/>
        </p:xfrm>
        <a:graphic xmlns:a="http://schemas.openxmlformats.org/drawingml/2006/main">
          <a:graphicData uri="http://schemas.openxmlformats.org/drawingml/2006/chart">
            <c:chart xmlns:c="http://schemas.openxmlformats.org/drawingml/2006/chart" r:id="rId1"/>
          </a:graphicData>
        </a:graphic>
      </p:graphicFrame>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6766560" y="1463040"/>
          <a:ext cx="4846320" cy="914400"/>
        </p:xfrm>
        <a:graphic>
          <a:graphicData uri="http://schemas.openxmlformats.org/drawingml/2006/table">
            <a:tbl>
              <a:tblPr/>
              <a:tblGrid>
                <a:gridCol w="3291840"/>
                <a:gridCol w="1554480"/>
              </a:tblGrid>
              <a:tr h="365760">
                <a:tc>
                  <a:txBody>
                    <a:bodyPr/>
                    <a:lstStyle/>
                    <a:p>
                      <a:pPr algn="l" indent="0" marL="0">
                        <a:buNone/>
                      </a:pPr>
                      <a:r>
                        <a:rPr lang="en-US" sz="1050" b="1" dirty="0">
                          <a:solidFill>
                            <a:srgbClr val="FFFFFF"/>
                          </a:solidFill>
                          <a:latin typeface="Proxima Nova" pitchFamily="34" charset="0"/>
                          <a:ea typeface="Proxima Nova" pitchFamily="34" charset="-122"/>
                          <a:cs typeface="Proxima Nova" pitchFamily="34" charset="-120"/>
                        </a:rPr>
                        <a:t>Measure</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Value</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6576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Overnight share of visitor days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79.2%</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6576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Stays of 6+ days (share of visitor days)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27.6%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6576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Repeat visitors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49.6%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6576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Top state: California</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51.2%</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6576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Top metro: Los Angeles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15.5%</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6576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Household income $100K+</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38.9%</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6576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Age 45–64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35.8%</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7" name="Text 3"/>
          <p:cNvSpPr txBox="1"/>
          <p:nvPr/>
        </p:nvSpPr>
        <p:spPr>
          <a:xfrm>
            <a:off x="6766560" y="4572000"/>
            <a:ext cx="4846320" cy="457200"/>
          </a:xfrm>
          <a:prstGeom prst="rect">
            <a:avLst/>
          </a:prstGeom>
          <a:noFill/>
          <a:ln/>
        </p:spPr>
        <p:txBody>
          <a:bodyPr wrap="square" lIns="0" tIns="0" rIns="0" bIns="0" rtlCol="0" anchor="ctr"/>
          <a:lstStyle/>
          <a:p>
            <a:pPr indent="0" marL="0">
              <a:buNone/>
            </a:pPr>
            <a:r>
              <a:rPr lang="en-US" sz="1050" dirty="0">
                <a:solidFill>
                  <a:srgbClr val="231F20"/>
                </a:solidFill>
                <a:latin typeface="Proxima Nova" pitchFamily="34" charset="0"/>
                <a:ea typeface="Proxima Nova" pitchFamily="34" charset="-122"/>
                <a:cs typeface="Proxima Nova" pitchFamily="34" charset="-120"/>
              </a:rPr>
              <a:t>A visitor day can include several clusters, so shares do not sum to 100%.</a:t>
            </a:r>
            <a:endParaRPr lang="en-US" sz="1050" dirty="0"/>
          </a:p>
        </p:txBody>
      </p:sp>
      <p:sp>
        <p:nvSpPr>
          <p:cNvPr id="8"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Datafy, Anaheim visitor report (Jan. 1–Dec. 31, 2024)</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Visitor card spending rose 8.1% in August 2026, with growing fly-in markets</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Visa Destination Insights via Symphony · August 2026 vs. August 2025</a:t>
            </a:r>
            <a:endParaRPr lang="en-US" sz="12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5486400" cy="914400"/>
        </p:xfrm>
        <a:graphic>
          <a:graphicData uri="http://schemas.openxmlformats.org/drawingml/2006/table">
            <a:tbl>
              <a:tblPr/>
              <a:tblGrid>
                <a:gridCol w="1920240"/>
                <a:gridCol w="1188720"/>
                <a:gridCol w="1188720"/>
                <a:gridCol w="1188720"/>
              </a:tblGrid>
              <a:tr h="310896">
                <a:tc>
                  <a:txBody>
                    <a:bodyPr/>
                    <a:lstStyle/>
                    <a:p>
                      <a:pPr algn="l" indent="0" marL="0">
                        <a:buNone/>
                      </a:pPr>
                      <a:r>
                        <a:rPr lang="en-US" sz="1000" b="1" dirty="0">
                          <a:solidFill>
                            <a:srgbClr val="FFFFFF"/>
                          </a:solidFill>
                          <a:latin typeface="Proxima Nova" pitchFamily="34" charset="0"/>
                          <a:ea typeface="Proxima Nova" pitchFamily="34" charset="-122"/>
                          <a:cs typeface="Proxima Nova" pitchFamily="34" charset="-120"/>
                        </a:rPr>
                        <a:t>Geography</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Spending per visitor or trip</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1000" b="1" dirty="0">
                          <a:solidFill>
                            <a:srgbClr val="FFFFFF"/>
                          </a:solidFill>
                          <a:latin typeface="Proxima Nova" pitchFamily="34" charset="0"/>
                          <a:ea typeface="Proxima Nova" pitchFamily="34" charset="-122"/>
                          <a:cs typeface="Proxima Nova" pitchFamily="34" charset="-120"/>
                        </a:rPr>
                        <a:t>How it is calculated</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1000" b="1" dirty="0">
                          <a:solidFill>
                            <a:srgbClr val="FFFFFF"/>
                          </a:solidFill>
                          <a:latin typeface="Proxima Nova" pitchFamily="34" charset="0"/>
                          <a:ea typeface="Proxima Nova" pitchFamily="34" charset="-122"/>
                          <a:cs typeface="Proxima Nova" pitchFamily="34" charset="-120"/>
                        </a:rPr>
                        <a:t>Year</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10896">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Anaheim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$258</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$6.832B ÷ 26.5M visitors</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2025</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10896">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Garden Grove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$237</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$769.3M ÷ 3.24M visitors</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2025</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10896">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Orange County</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$350</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Published by Tourism Economics (day $58, overnight $737)</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2025</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10896">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U.S., per trip</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$553</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$1.360T ÷ 2.46B trips (real 2025 dollars)</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2025</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10896">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U.S., per domestic trip</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$494</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$1.185T ÷ 2.40B domestic trips</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2025</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graphicFrame>
        <p:nvGraphicFramePr>
          <p:cNvPr id="97" name="Table 1"/>
          <p:cNvGraphicFramePr>
            <a:graphicFrameLocks noGrp="1"/>
          </p:cNvGraphicFramePr>
          <p:nvPr>
            <p:extLst>
              <p:ext uri="{D42A27DB-BD31-4B8C-83A1-F6EECF244321}">
                <p14:modId xmlns:p14="http://schemas.microsoft.com/office/powerpoint/2010/main" val="1579011935"/>
              </p:ext>
            </p:extLst>
          </p:nvPr>
        </p:nvGraphicFramePr>
        <p:xfrm>
          <a:off x="6309360" y="1463040"/>
          <a:ext cx="5333695" cy="914400"/>
        </p:xfrm>
        <a:graphic>
          <a:graphicData uri="http://schemas.openxmlformats.org/drawingml/2006/table">
            <a:tbl>
              <a:tblPr/>
              <a:tblGrid>
                <a:gridCol w="3017520"/>
                <a:gridCol w="1097280"/>
                <a:gridCol w="1216152"/>
              </a:tblGrid>
              <a:tr h="246888">
                <a:tc>
                  <a:txBody>
                    <a:bodyPr/>
                    <a:lstStyle/>
                    <a:p>
                      <a:pPr algn="l" indent="0" marL="0">
                        <a:buNone/>
                      </a:pPr>
                      <a:r>
                        <a:rPr lang="en-US" sz="900" b="1" dirty="0">
                          <a:solidFill>
                            <a:srgbClr val="FFFFFF"/>
                          </a:solidFill>
                          <a:latin typeface="Proxima Nova" pitchFamily="34" charset="0"/>
                          <a:ea typeface="Proxima Nova" pitchFamily="34" charset="-122"/>
                          <a:cs typeface="Proxima Nova" pitchFamily="34" charset="-120"/>
                        </a:rPr>
                        <a:t>Origin</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00" b="1" dirty="0">
                          <a:solidFill>
                            <a:srgbClr val="FFFFFF"/>
                          </a:solidFill>
                          <a:latin typeface="Proxima Nova" pitchFamily="34" charset="0"/>
                          <a:ea typeface="Proxima Nova" pitchFamily="34" charset="-122"/>
                          <a:cs typeface="Proxima Nova" pitchFamily="34" charset="-120"/>
                        </a:rPr>
                        <a:t>Spending</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00" b="1" dirty="0">
                          <a:solidFill>
                            <a:srgbClr val="FFFFFF"/>
                          </a:solidFill>
                          <a:latin typeface="Proxima Nova" pitchFamily="34" charset="0"/>
                          <a:ea typeface="Proxima Nova" pitchFamily="34" charset="-122"/>
                          <a:cs typeface="Proxima Nova" pitchFamily="34" charset="-120"/>
                        </a:rPr>
                        <a:t>Share of total</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24688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Los Angeles–Long Beach–Anaheim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00" b="1" dirty="0">
                          <a:solidFill>
                            <a:srgbClr val="231F20"/>
                          </a:solidFill>
                          <a:latin typeface="Proxima Nova" pitchFamily="34" charset="0"/>
                          <a:ea typeface="Proxima Nova" pitchFamily="34" charset="-122"/>
                          <a:cs typeface="Proxima Nova" pitchFamily="34" charset="-120"/>
                        </a:rPr>
                        <a:t>$307.3M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00" b="1" dirty="0">
                          <a:solidFill>
                            <a:srgbClr val="231F20"/>
                          </a:solidFill>
                          <a:latin typeface="Proxima Nova" pitchFamily="34" charset="0"/>
                          <a:ea typeface="Proxima Nova" pitchFamily="34" charset="-122"/>
                          <a:cs typeface="Proxima Nova" pitchFamily="34" charset="-120"/>
                        </a:rPr>
                        <a:t>66.1%</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24688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Riverside–San Bernardino–Ontario</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$28.9M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6.2%</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4688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San Diego–Chula Vista–Carlsbad</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$10.5M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2.3%</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4688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San Francisco–Oakland–Berkeley</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$8.6M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1.9%</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4688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Seattle–Tacoma–Bellevue</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$5.4M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1.2%</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4688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Mexico</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$5.2M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1.1%</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4688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Phoenix–Mesa–Chandler</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$4.9M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1.1%</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4688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Las Vegas–Henderson–Paradise</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$4.5M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1.0%</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4688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San Jose–Sunnyvale–Santa Clara</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$4.5M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1.0%</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4688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Sacramento–Roseville–Folsom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$3.8M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0.8%</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4688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Orlando–Kissimmee–Sanford</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$3.4M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0.7%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4688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New York–Newark–Jersey City</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$3.3M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0.7%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4688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Canada</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$3.2M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0.7%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4688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Oxnard–Thousand Oaks–Ventura</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$2.8M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0.6%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4688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Detroit–Warren–Dearborn</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$2.5M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0.5%</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graphicFrame>
        <p:nvGraphicFramePr>
          <p:cNvPr id="145" name="Table 2"/>
          <p:cNvGraphicFramePr>
            <a:graphicFrameLocks noGrp="1"/>
          </p:cNvGraphicFramePr>
          <p:nvPr>
            <p:extLst>
              <p:ext uri="{D42A27DB-BD31-4B8C-83A1-F6EECF244321}">
                <p14:modId xmlns:p14="http://schemas.microsoft.com/office/powerpoint/2010/main" val="1579011935"/>
              </p:ext>
            </p:extLst>
          </p:nvPr>
        </p:nvGraphicFramePr>
        <p:xfrm>
          <a:off x="548640" y="3520440"/>
          <a:ext cx="5486400" cy="914400"/>
        </p:xfrm>
        <a:graphic>
          <a:graphicData uri="http://schemas.openxmlformats.org/drawingml/2006/table">
            <a:tbl>
              <a:tblPr/>
              <a:tblGrid>
                <a:gridCol w="2926080"/>
                <a:gridCol w="1280160"/>
                <a:gridCol w="1280160"/>
              </a:tblGrid>
              <a:tr h="274320">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Category or country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Spending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Change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Retail</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$6.9M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 +9.3%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Restaurants and dining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$5.4M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A10009"/>
                          </a:solidFill>
                          <a:latin typeface="Proxima Nova" pitchFamily="34" charset="0"/>
                          <a:ea typeface="Proxima Nova" pitchFamily="34" charset="-122"/>
                          <a:cs typeface="Proxima Nova" pitchFamily="34" charset="-120"/>
                        </a:rPr>
                        <a:t>▼ −19.1%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Hotels and lodging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$2.6M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A10009"/>
                          </a:solidFill>
                          <a:latin typeface="Proxima Nova" pitchFamily="34" charset="0"/>
                          <a:ea typeface="Proxima Nova" pitchFamily="34" charset="-122"/>
                          <a:cs typeface="Proxima Nova" pitchFamily="34" charset="-120"/>
                        </a:rPr>
                        <a:t>▼ −3.6%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Other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$1.7M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 +6.4%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Entertainment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$750K</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A10009"/>
                          </a:solidFill>
                          <a:latin typeface="Proxima Nova" pitchFamily="34" charset="0"/>
                          <a:ea typeface="Proxima Nova" pitchFamily="34" charset="-122"/>
                          <a:cs typeface="Proxima Nova" pitchFamily="34" charset="-120"/>
                        </a:rPr>
                        <a:t>▼ −32.7%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Transportation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$608K</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 +19.4%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8"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Visa Destination Insights (reported Visa card data) via Symphony | Tourism Economics, Visitor Type and International Card Activity, Aug. 2026 (exported Oct. 12,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What it means for OC Vibe: Who visits</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What this insight enhances for OC Vibe, and what OC Vibe needs to act on it</a:t>
            </a:r>
            <a:endParaRPr lang="en-US" sz="1200" dirty="0"/>
          </a:p>
        </p:txBody>
      </p:sp>
      <p:sp>
        <p:nvSpPr>
          <p:cNvPr id="4" name="Shape 2"/>
          <p:cNvSpPr/>
          <p:nvPr/>
        </p:nvSpPr>
        <p:spPr>
          <a:xfrm>
            <a:off x="548640" y="1417320"/>
            <a:ext cx="11094415" cy="914400"/>
          </a:xfrm>
          <a:prstGeom prst="rect">
            <a:avLst/>
          </a:prstGeom>
          <a:solidFill>
            <a:srgbClr val="B4D9E3"/>
          </a:solidFill>
          <a:ln w="12700">
            <a:solidFill>
              <a:srgbClr val="B4D9E3"/>
            </a:solidFill>
            <a:prstDash val="solid"/>
          </a:ln>
        </p:spPr>
      </p:sp>
      <p:sp>
        <p:nvSpPr>
          <p:cNvPr id="5" name="Text 3"/>
          <p:cNvSpPr txBox="1"/>
          <p:nvPr/>
        </p:nvSpPr>
        <p:spPr>
          <a:xfrm>
            <a:off x="685800" y="1463040"/>
            <a:ext cx="1828800" cy="201168"/>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KEY INSIGHT</a:t>
            </a:r>
            <a:endParaRPr lang="en-US" sz="900" dirty="0"/>
          </a:p>
        </p:txBody>
      </p:sp>
      <p:sp>
        <p:nvSpPr>
          <p:cNvPr id="6" name="Text 4"/>
          <p:cNvSpPr txBox="1"/>
          <p:nvPr/>
        </p:nvSpPr>
        <p:spPr>
          <a:xfrm>
            <a:off x="685800" y="1664208"/>
            <a:ext cx="10820095" cy="640080"/>
          </a:xfrm>
          <a:prstGeom prst="rect">
            <a:avLst/>
          </a:prstGeom>
          <a:noFill/>
          <a:ln/>
        </p:spPr>
        <p:txBody>
          <a:bodyPr wrap="square" lIns="0" tIns="0" rIns="0" bIns="0" rtlCol="0" anchor="t"/>
          <a:lstStyle/>
          <a:p>
            <a:pPr indent="0" marL="0">
              <a:buNone/>
            </a:pPr>
            <a:r>
              <a:rPr lang="en-US" sz="1100" b="1" dirty="0">
                <a:solidFill>
                  <a:srgbClr val="125C60"/>
                </a:solidFill>
                <a:latin typeface="Proxima Nova" pitchFamily="34" charset="0"/>
                <a:ea typeface="Proxima Nova" pitchFamily="34" charset="-122"/>
                <a:cs typeface="Proxima Nova" pitchFamily="34" charset="-120"/>
              </a:rPr>
              <a:t>85.8%</a:t>
            </a:r>
            <a:pPr indent="0" marL="0">
              <a:buNone/>
            </a:pPr>
            <a:r>
              <a:rPr lang="en-US" sz="1100" dirty="0">
                <a:solidFill>
                  <a:srgbClr val="231F20"/>
                </a:solidFill>
                <a:latin typeface="Proxima Nova" pitchFamily="34" charset="0"/>
                <a:ea typeface="Proxima Nova" pitchFamily="34" charset="-122"/>
                <a:cs typeface="Proxima Nova" pitchFamily="34" charset="-120"/>
              </a:rPr>
              <a:t> of District 5 visitors stay overnight and </a:t>
            </a:r>
            <a:pPr indent="0" marL="0">
              <a:buNone/>
            </a:pPr>
            <a:r>
              <a:rPr lang="en-US" sz="1100" b="1" dirty="0">
                <a:solidFill>
                  <a:srgbClr val="125C60"/>
                </a:solidFill>
                <a:latin typeface="Proxima Nova" pitchFamily="34" charset="0"/>
                <a:ea typeface="Proxima Nova" pitchFamily="34" charset="-122"/>
                <a:cs typeface="Proxima Nova" pitchFamily="34" charset="-120"/>
              </a:rPr>
              <a:t>43.8%</a:t>
            </a:r>
            <a:pPr indent="0" marL="0">
              <a:buNone/>
            </a:pPr>
            <a:r>
              <a:rPr lang="en-US" sz="1100" dirty="0">
                <a:solidFill>
                  <a:srgbClr val="231F20"/>
                </a:solidFill>
                <a:latin typeface="Proxima Nova" pitchFamily="34" charset="0"/>
                <a:ea typeface="Proxima Nova" pitchFamily="34" charset="-122"/>
                <a:cs typeface="Proxima Nova" pitchFamily="34" charset="-120"/>
              </a:rPr>
              <a:t> are first-time visitors. The OC Vibe area already accounts for </a:t>
            </a:r>
            <a:pPr indent="0" marL="0">
              <a:buNone/>
            </a:pPr>
            <a:r>
              <a:rPr lang="en-US" sz="1100" b="1" dirty="0">
                <a:solidFill>
                  <a:srgbClr val="125C60"/>
                </a:solidFill>
                <a:latin typeface="Proxima Nova" pitchFamily="34" charset="0"/>
                <a:ea typeface="Proxima Nova" pitchFamily="34" charset="-122"/>
                <a:cs typeface="Proxima Nova" pitchFamily="34" charset="-120"/>
              </a:rPr>
              <a:t>5.2%</a:t>
            </a:r>
            <a:pPr indent="0" marL="0">
              <a:buNone/>
            </a:pPr>
            <a:r>
              <a:rPr lang="en-US" sz="1100" dirty="0">
                <a:solidFill>
                  <a:srgbClr val="231F20"/>
                </a:solidFill>
                <a:latin typeface="Proxima Nova" pitchFamily="34" charset="0"/>
                <a:ea typeface="Proxima Nova" pitchFamily="34" charset="-122"/>
                <a:cs typeface="Proxima Nova" pitchFamily="34" charset="-120"/>
              </a:rPr>
              <a:t> of Anaheim visitor days.</a:t>
            </a:r>
            <a:endParaRPr lang="en-US" sz="1100" dirty="0"/>
          </a:p>
        </p:txBody>
      </p:sp>
      <p:sp>
        <p:nvSpPr>
          <p:cNvPr id="7" name="Shape 5"/>
          <p:cNvSpPr/>
          <p:nvPr/>
        </p:nvSpPr>
        <p:spPr>
          <a:xfrm>
            <a:off x="548640" y="2468880"/>
            <a:ext cx="5410048" cy="45720"/>
          </a:xfrm>
          <a:prstGeom prst="rect">
            <a:avLst/>
          </a:prstGeom>
          <a:solidFill>
            <a:srgbClr val="43A3A3"/>
          </a:solidFill>
          <a:ln w="12700">
            <a:solidFill>
              <a:srgbClr val="43A3A3"/>
            </a:solidFill>
            <a:prstDash val="solid"/>
          </a:ln>
        </p:spPr>
      </p:sp>
      <p:sp>
        <p:nvSpPr>
          <p:cNvPr id="8" name="Text 6"/>
          <p:cNvSpPr txBox="1"/>
          <p:nvPr/>
        </p:nvSpPr>
        <p:spPr>
          <a:xfrm>
            <a:off x="548640" y="2560320"/>
            <a:ext cx="5410048" cy="256032"/>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WHAT IT ENHANCES</a:t>
            </a:r>
            <a:endParaRPr lang="en-US" sz="1000" dirty="0"/>
          </a:p>
        </p:txBody>
      </p:sp>
      <p:sp>
        <p:nvSpPr>
          <p:cNvPr id="9" name="Text 7"/>
          <p:cNvSpPr txBox="1"/>
          <p:nvPr/>
        </p:nvSpPr>
        <p:spPr>
          <a:xfrm>
            <a:off x="548640" y="2852928"/>
            <a:ext cx="5410048" cy="3063240"/>
          </a:xfrm>
          <a:prstGeom prst="rect">
            <a:avLst/>
          </a:prstGeom>
          <a:noFill/>
          <a:ln/>
        </p:spPr>
        <p:txBody>
          <a:bodyPr wrap="square" lIns="0" tIns="0" rIns="0" bIns="0" rtlCol="0" anchor="t"/>
          <a:lstStyle/>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Measurement: A baseline before opening: the OC Vibe area already accounts for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5.2%</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of Anaheim visitor days (2024).</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Marketing: New money: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44%</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of District 5 domestic visitors come from outside California; fly-in markets include Seattle, Phoenix, Las Vegas, Orlando and New York, and Mexico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$5.2M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and Canada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$3.2M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lead international card spending. [Calculation: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100%</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56.0%</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from California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44%</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from other states]</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Programming: Visits are spread across the week (Saturday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15.9%</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Tuesday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13.3%</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so weekday programming has an audience.</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Hotels: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13.7%</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of District 5 visitors also go to the Anaheim Resort, a direct path to packages and longer stays.</a:t>
            </a:r>
            <a:endParaRPr lang="en-US" sz="800" dirty="0"/>
          </a:p>
        </p:txBody>
      </p:sp>
      <p:sp>
        <p:nvSpPr>
          <p:cNvPr id="10" name="Shape 8"/>
          <p:cNvSpPr/>
          <p:nvPr/>
        </p:nvSpPr>
        <p:spPr>
          <a:xfrm>
            <a:off x="6233008" y="2468880"/>
            <a:ext cx="5410048" cy="45720"/>
          </a:xfrm>
          <a:prstGeom prst="rect">
            <a:avLst/>
          </a:prstGeom>
          <a:solidFill>
            <a:srgbClr val="125C60"/>
          </a:solidFill>
          <a:ln w="12700">
            <a:solidFill>
              <a:srgbClr val="125C60"/>
            </a:solidFill>
            <a:prstDash val="solid"/>
          </a:ln>
        </p:spPr>
      </p:sp>
      <p:sp>
        <p:nvSpPr>
          <p:cNvPr id="11" name="Text 9"/>
          <p:cNvSpPr txBox="1"/>
          <p:nvPr/>
        </p:nvSpPr>
        <p:spPr>
          <a:xfrm>
            <a:off x="6233008" y="2560320"/>
            <a:ext cx="5410048" cy="256032"/>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WHAT OC VIBE NEEDS</a:t>
            </a:r>
            <a:endParaRPr lang="en-US" sz="1000" dirty="0"/>
          </a:p>
        </p:txBody>
      </p:sp>
      <p:sp>
        <p:nvSpPr>
          <p:cNvPr id="12" name="Text 10"/>
          <p:cNvSpPr txBox="1"/>
          <p:nvPr/>
        </p:nvSpPr>
        <p:spPr>
          <a:xfrm>
            <a:off x="6233008" y="2852928"/>
            <a:ext cx="5410048" cy="3063240"/>
          </a:xfrm>
          <a:prstGeom prst="rect">
            <a:avLst/>
          </a:prstGeom>
          <a:noFill/>
          <a:ln/>
        </p:spPr>
        <p:txBody>
          <a:bodyPr wrap="square" lIns="0" tIns="0" rIns="0" bIns="0" rtlCol="0" anchor="t"/>
          <a:lstStyle/>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Measurement: Ticketing and loyalty data by origin, to track the out-of-state share.</a:t>
            </a:r>
            <a:endParaRPr lang="en-US" sz="1050" dirty="0"/>
          </a:p>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Programming: Dining offers for international guests: international restaurant spending fell </a:t>
            </a:r>
            <a:pPr algn="l" marL="177800" indent="-177800">
              <a:spcAft>
                <a:spcPts val="600"/>
              </a:spcAft>
              <a:buSzPct val="100000"/>
              <a:buChar char="•"/>
            </a:pPr>
            <a:r>
              <a:rPr lang="en-US" sz="1050" b="1" dirty="0">
                <a:solidFill>
                  <a:srgbClr val="125C60"/>
                </a:solidFill>
                <a:latin typeface="Proxima Nova" pitchFamily="34" charset="0"/>
                <a:ea typeface="Proxima Nova" pitchFamily="34" charset="-122"/>
                <a:cs typeface="Proxima Nova" pitchFamily="34" charset="-120"/>
              </a:rPr>
              <a:t>19.1%</a:t>
            </a:r>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 in August 2026.</a:t>
            </a:r>
            <a:endParaRPr lang="en-US" sz="1050" dirty="0"/>
          </a:p>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Measurement: Trends compared within each source (Azira, Datafy, Visa), since they count visitors differently.</a:t>
            </a:r>
            <a:endParaRPr lang="en-US" sz="1050" dirty="0"/>
          </a:p>
        </p:txBody>
      </p:sp>
      <p:sp>
        <p:nvSpPr>
          <p:cNvPr id="13"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Azira via Symphony (District 5, Jan. 1–May 31, 2026; domestic visitors, Aug. 2026); Datafy Anaheim visitor report (calendar 2024); Visa Destination Insights via Symphony (Aug. 2026 vs. Aug. 2025)</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Anaheim visitors spent $1.76 billion in the second quarter, up 7.8%</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Visitor spending · Tourism Economics Travel Forecast, Sept. 2026 · Q2 2026 actual</a:t>
            </a:r>
            <a:endParaRPr lang="en-US" sz="1200" dirty="0"/>
          </a:p>
        </p:txBody>
      </p:sp>
      <p:sp>
        <p:nvSpPr>
          <p:cNvPr id="5" name="Text 2"/>
          <p:cNvSpPr txBox="1"/>
          <p:nvPr/>
        </p:nvSpPr>
        <p:spPr>
          <a:xfrm>
            <a:off x="548640" y="1481328"/>
            <a:ext cx="7086600"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THE LEDE</a:t>
            </a:r>
            <a:endParaRPr lang="en-US" sz="1000" dirty="0"/>
          </a:p>
        </p:txBody>
      </p:sp>
      <p:sp>
        <p:nvSpPr>
          <p:cNvPr id="6" name="Text 3"/>
          <p:cNvSpPr txBox="1"/>
          <p:nvPr/>
        </p:nvSpPr>
        <p:spPr>
          <a:xfrm>
            <a:off x="548640" y="1737360"/>
            <a:ext cx="7086600" cy="1965960"/>
          </a:xfrm>
          <a:prstGeom prst="rect">
            <a:avLst/>
          </a:prstGeom>
          <a:noFill/>
          <a:ln/>
        </p:spPr>
        <p:txBody>
          <a:bodyPr wrap="square" lIns="0" tIns="0" rIns="0" bIns="0" rtlCol="0" anchor="t"/>
          <a:lstStyle/>
          <a:p>
            <a:pPr indent="0" marL="0">
              <a:buNone/>
            </a:pPr>
            <a:r>
              <a:rPr lang="en-US" sz="1350" b="1" dirty="0">
                <a:solidFill>
                  <a:srgbClr val="125C60"/>
                </a:solidFill>
                <a:latin typeface="Proxima Nova" pitchFamily="34" charset="0"/>
                <a:ea typeface="Proxima Nova" pitchFamily="34" charset="-122"/>
                <a:cs typeface="Proxima Nova" pitchFamily="34" charset="-120"/>
              </a:rPr>
              <a:t>ANAHEIM, Calif. (Oct. 13, 2026): </a:t>
            </a:r>
            <a:pPr indent="0" marL="0">
              <a:buNone/>
            </a:pPr>
            <a:r>
              <a:rPr lang="en-US" sz="1350" dirty="0">
                <a:solidFill>
                  <a:srgbClr val="231F20"/>
                </a:solidFill>
                <a:latin typeface="Proxima Nova" pitchFamily="34" charset="0"/>
                <a:ea typeface="Proxima Nova" pitchFamily="34" charset="-122"/>
                <a:cs typeface="Proxima Nova" pitchFamily="34" charset="-120"/>
              </a:rPr>
              <a:t>Each Anaheim visitor spent about </a:t>
            </a:r>
            <a:pPr indent="0" marL="0">
              <a:buNone/>
            </a:pPr>
            <a:r>
              <a:rPr lang="en-US" sz="1350" b="1" dirty="0">
                <a:solidFill>
                  <a:srgbClr val="125C60"/>
                </a:solidFill>
                <a:latin typeface="Proxima Nova" pitchFamily="34" charset="0"/>
                <a:ea typeface="Proxima Nova" pitchFamily="34" charset="-122"/>
                <a:cs typeface="Proxima Nova" pitchFamily="34" charset="-120"/>
              </a:rPr>
              <a:t>$258</a:t>
            </a:r>
            <a:pPr indent="0" marL="0">
              <a:buNone/>
            </a:pPr>
            <a:r>
              <a:rPr lang="en-US" sz="1350" dirty="0">
                <a:solidFill>
                  <a:srgbClr val="231F20"/>
                </a:solidFill>
                <a:latin typeface="Proxima Nova" pitchFamily="34" charset="0"/>
                <a:ea typeface="Proxima Nova" pitchFamily="34" charset="-122"/>
                <a:cs typeface="Proxima Nova" pitchFamily="34" charset="-120"/>
              </a:rPr>
              <a:t> in 2025 (</a:t>
            </a:r>
            <a:pPr indent="0" marL="0">
              <a:buNone/>
            </a:pPr>
            <a:r>
              <a:rPr lang="en-US" sz="1350" b="1" dirty="0">
                <a:solidFill>
                  <a:srgbClr val="125C60"/>
                </a:solidFill>
                <a:latin typeface="Proxima Nova" pitchFamily="34" charset="0"/>
                <a:ea typeface="Proxima Nova" pitchFamily="34" charset="-122"/>
                <a:cs typeface="Proxima Nova" pitchFamily="34" charset="-120"/>
              </a:rPr>
              <a:t>$6.83B</a:t>
            </a:r>
            <a:pPr indent="0" marL="0">
              <a:buNone/>
            </a:pPr>
            <a:r>
              <a:rPr lang="en-US" sz="1350" dirty="0">
                <a:solidFill>
                  <a:srgbClr val="231F20"/>
                </a:solidFill>
                <a:latin typeface="Proxima Nova" pitchFamily="34" charset="0"/>
                <a:ea typeface="Proxima Nova" pitchFamily="34" charset="-122"/>
                <a:cs typeface="Proxima Nova" pitchFamily="34" charset="-120"/>
              </a:rPr>
              <a:t> visitor spending ÷ </a:t>
            </a:r>
            <a:pPr indent="0" marL="0">
              <a:buNone/>
            </a:pPr>
            <a:r>
              <a:rPr lang="en-US" sz="1350" b="1" dirty="0">
                <a:solidFill>
                  <a:srgbClr val="125C60"/>
                </a:solidFill>
                <a:latin typeface="Proxima Nova" pitchFamily="34" charset="0"/>
                <a:ea typeface="Proxima Nova" pitchFamily="34" charset="-122"/>
                <a:cs typeface="Proxima Nova" pitchFamily="34" charset="-120"/>
              </a:rPr>
              <a:t>26.5M</a:t>
            </a:r>
            <a:pPr indent="0" marL="0">
              <a:buNone/>
            </a:pPr>
            <a:r>
              <a:rPr lang="en-US" sz="1350" dirty="0">
                <a:solidFill>
                  <a:srgbClr val="231F20"/>
                </a:solidFill>
                <a:latin typeface="Proxima Nova" pitchFamily="34" charset="0"/>
                <a:ea typeface="Proxima Nova" pitchFamily="34" charset="-122"/>
                <a:cs typeface="Proxima Nova" pitchFamily="34" charset="-120"/>
              </a:rPr>
              <a:t> visitors), and Tourism Economics forecasts </a:t>
            </a:r>
            <a:pPr indent="0" marL="0">
              <a:buNone/>
            </a:pPr>
            <a:r>
              <a:rPr lang="en-US" sz="1350" b="1" dirty="0">
                <a:solidFill>
                  <a:srgbClr val="125C60"/>
                </a:solidFill>
                <a:latin typeface="Proxima Nova" pitchFamily="34" charset="0"/>
                <a:ea typeface="Proxima Nova" pitchFamily="34" charset="-122"/>
                <a:cs typeface="Proxima Nova" pitchFamily="34" charset="-120"/>
              </a:rPr>
              <a:t>$279</a:t>
            </a:r>
            <a:pPr indent="0" marL="0">
              <a:buNone/>
            </a:pPr>
            <a:r>
              <a:rPr lang="en-US" sz="1350" dirty="0">
                <a:solidFill>
                  <a:srgbClr val="231F20"/>
                </a:solidFill>
                <a:latin typeface="Proxima Nova" pitchFamily="34" charset="0"/>
                <a:ea typeface="Proxima Nova" pitchFamily="34" charset="-122"/>
                <a:cs typeface="Proxima Nova" pitchFamily="34" charset="-120"/>
              </a:rPr>
              <a:t> by 2028. Visitors spent </a:t>
            </a:r>
            <a:pPr indent="0" marL="0">
              <a:buNone/>
            </a:pPr>
            <a:r>
              <a:rPr lang="en-US" sz="1350" b="1" dirty="0">
                <a:solidFill>
                  <a:srgbClr val="125C60"/>
                </a:solidFill>
                <a:latin typeface="Proxima Nova" pitchFamily="34" charset="0"/>
                <a:ea typeface="Proxima Nova" pitchFamily="34" charset="-122"/>
                <a:cs typeface="Proxima Nova" pitchFamily="34" charset="-120"/>
              </a:rPr>
              <a:t>$1.76B</a:t>
            </a:r>
            <a:pPr indent="0" marL="0">
              <a:buNone/>
            </a:pPr>
            <a:r>
              <a:rPr lang="en-US" sz="1350" dirty="0">
                <a:solidFill>
                  <a:srgbClr val="231F20"/>
                </a:solidFill>
                <a:latin typeface="Proxima Nova" pitchFamily="34" charset="0"/>
                <a:ea typeface="Proxima Nova" pitchFamily="34" charset="-122"/>
                <a:cs typeface="Proxima Nova" pitchFamily="34" charset="-120"/>
              </a:rPr>
              <a:t> in Q2 2026, up </a:t>
            </a:r>
            <a:pPr indent="0" marL="0">
              <a:buNone/>
            </a:pPr>
            <a:r>
              <a:rPr lang="en-US" sz="1350" b="1" dirty="0">
                <a:solidFill>
                  <a:srgbClr val="125C60"/>
                </a:solidFill>
                <a:latin typeface="Proxima Nova" pitchFamily="34" charset="0"/>
                <a:ea typeface="Proxima Nova" pitchFamily="34" charset="-122"/>
                <a:cs typeface="Proxima Nova" pitchFamily="34" charset="-120"/>
              </a:rPr>
              <a:t>7.8%</a:t>
            </a:r>
            <a:pPr indent="0" marL="0">
              <a:buNone/>
            </a:pPr>
            <a:r>
              <a:rPr lang="en-US" sz="1350" dirty="0">
                <a:solidFill>
                  <a:srgbClr val="231F20"/>
                </a:solidFill>
                <a:latin typeface="Proxima Nova" pitchFamily="34" charset="0"/>
                <a:ea typeface="Proxima Nova" pitchFamily="34" charset="-122"/>
                <a:cs typeface="Proxima Nova" pitchFamily="34" charset="-120"/>
              </a:rPr>
              <a:t> from Q2 2025.</a:t>
            </a:r>
            <a:endParaRPr lang="en-US" sz="1350" dirty="0"/>
          </a:p>
        </p:txBody>
      </p:sp>
      <p:sp>
        <p:nvSpPr>
          <p:cNvPr id="7" name="Shape 4"/>
          <p:cNvSpPr/>
          <p:nvPr/>
        </p:nvSpPr>
        <p:spPr>
          <a:xfrm>
            <a:off x="548640" y="3822192"/>
            <a:ext cx="7086600" cy="45720"/>
          </a:xfrm>
          <a:prstGeom prst="rect">
            <a:avLst/>
          </a:prstGeom>
          <a:solidFill>
            <a:srgbClr val="125C60"/>
          </a:solidFill>
          <a:ln w="12700">
            <a:solidFill>
              <a:srgbClr val="125C60"/>
            </a:solidFill>
            <a:prstDash val="solid"/>
          </a:ln>
        </p:spPr>
      </p:sp>
      <p:sp>
        <p:nvSpPr>
          <p:cNvPr id="8" name="Text 5"/>
          <p:cNvSpPr txBox="1"/>
          <p:nvPr/>
        </p:nvSpPr>
        <p:spPr>
          <a:xfrm>
            <a:off x="548640" y="3931920"/>
            <a:ext cx="7086600"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WHY IT MATTERS</a:t>
            </a:r>
            <a:endParaRPr lang="en-US" sz="1000" dirty="0"/>
          </a:p>
        </p:txBody>
      </p:sp>
      <p:sp>
        <p:nvSpPr>
          <p:cNvPr id="9" name="Text 6"/>
          <p:cNvSpPr txBox="1"/>
          <p:nvPr/>
        </p:nvSpPr>
        <p:spPr>
          <a:xfrm>
            <a:off x="548640" y="4187952"/>
            <a:ext cx="7086600" cy="1691640"/>
          </a:xfrm>
          <a:prstGeom prst="rect">
            <a:avLst/>
          </a:prstGeom>
          <a:noFill/>
          <a:ln/>
        </p:spPr>
        <p:txBody>
          <a:bodyPr wrap="square" lIns="0" tIns="0" rIns="0" bIns="0" rtlCol="0" anchor="t"/>
          <a:lstStyle/>
          <a:p>
            <a:pPr indent="0" marL="0">
              <a:buNone/>
            </a:pPr>
            <a:r>
              <a:rPr lang="en-US" sz="1250" dirty="0">
                <a:solidFill>
                  <a:srgbClr val="231F20"/>
                </a:solidFill>
                <a:latin typeface="Proxima Nova" pitchFamily="34" charset="0"/>
                <a:ea typeface="Proxima Nova" pitchFamily="34" charset="-122"/>
                <a:cs typeface="Proxima Nova" pitchFamily="34" charset="-120"/>
              </a:rPr>
              <a:t>Spending per visitor sets the value of each visitor OC Vibe draws. Tourism Economics reports </a:t>
            </a:r>
            <a:pPr indent="0" marL="0">
              <a:buNone/>
            </a:pPr>
            <a:r>
              <a:rPr lang="en-US" sz="1250" b="1" dirty="0">
                <a:solidFill>
                  <a:srgbClr val="125C60"/>
                </a:solidFill>
                <a:latin typeface="Proxima Nova" pitchFamily="34" charset="0"/>
                <a:ea typeface="Proxima Nova" pitchFamily="34" charset="-122"/>
                <a:cs typeface="Proxima Nova" pitchFamily="34" charset="-120"/>
              </a:rPr>
              <a:t>$258</a:t>
            </a:r>
            <a:pPr indent="0" marL="0">
              <a:buNone/>
            </a:pPr>
            <a:r>
              <a:rPr lang="en-US" sz="1250" dirty="0">
                <a:solidFill>
                  <a:srgbClr val="231F20"/>
                </a:solidFill>
                <a:latin typeface="Proxima Nova" pitchFamily="34" charset="0"/>
                <a:ea typeface="Proxima Nova" pitchFamily="34" charset="-122"/>
                <a:cs typeface="Proxima Nova" pitchFamily="34" charset="-120"/>
              </a:rPr>
              <a:t> per visitor in 2025 (</a:t>
            </a:r>
            <a:pPr indent="0" marL="0">
              <a:buNone/>
            </a:pPr>
            <a:r>
              <a:rPr lang="en-US" sz="1250" b="1" dirty="0">
                <a:solidFill>
                  <a:srgbClr val="125C60"/>
                </a:solidFill>
                <a:latin typeface="Proxima Nova" pitchFamily="34" charset="0"/>
                <a:ea typeface="Proxima Nova" pitchFamily="34" charset="-122"/>
                <a:cs typeface="Proxima Nova" pitchFamily="34" charset="-120"/>
              </a:rPr>
              <a:t>$6.832B</a:t>
            </a:r>
            <a:pPr indent="0" marL="0">
              <a:buNone/>
            </a:pPr>
            <a:r>
              <a:rPr lang="en-US" sz="1250" dirty="0">
                <a:solidFill>
                  <a:srgbClr val="231F20"/>
                </a:solidFill>
                <a:latin typeface="Proxima Nova" pitchFamily="34" charset="0"/>
                <a:ea typeface="Proxima Nova" pitchFamily="34" charset="-122"/>
                <a:cs typeface="Proxima Nova" pitchFamily="34" charset="-120"/>
              </a:rPr>
              <a:t> ÷ </a:t>
            </a:r>
            <a:pPr indent="0" marL="0">
              <a:buNone/>
            </a:pPr>
            <a:r>
              <a:rPr lang="en-US" sz="1250" b="1" dirty="0">
                <a:solidFill>
                  <a:srgbClr val="125C60"/>
                </a:solidFill>
                <a:latin typeface="Proxima Nova" pitchFamily="34" charset="0"/>
                <a:ea typeface="Proxima Nova" pitchFamily="34" charset="-122"/>
                <a:cs typeface="Proxima Nova" pitchFamily="34" charset="-120"/>
              </a:rPr>
              <a:t>26.5M</a:t>
            </a:r>
            <a:pPr indent="0" marL="0">
              <a:buNone/>
            </a:pPr>
            <a:r>
              <a:rPr lang="en-US" sz="1250" dirty="0">
                <a:solidFill>
                  <a:srgbClr val="231F20"/>
                </a:solidFill>
                <a:latin typeface="Proxima Nova" pitchFamily="34" charset="0"/>
                <a:ea typeface="Proxima Nova" pitchFamily="34" charset="-122"/>
                <a:cs typeface="Proxima Nova" pitchFamily="34" charset="-120"/>
              </a:rPr>
              <a:t>) and forecasts </a:t>
            </a:r>
            <a:pPr indent="0" marL="0">
              <a:buNone/>
            </a:pPr>
            <a:r>
              <a:rPr lang="en-US" sz="1250" b="1" dirty="0">
                <a:solidFill>
                  <a:srgbClr val="125C60"/>
                </a:solidFill>
                <a:latin typeface="Proxima Nova" pitchFamily="34" charset="0"/>
                <a:ea typeface="Proxima Nova" pitchFamily="34" charset="-122"/>
                <a:cs typeface="Proxima Nova" pitchFamily="34" charset="-120"/>
              </a:rPr>
              <a:t>$279</a:t>
            </a:r>
            <a:pPr indent="0" marL="0">
              <a:buNone/>
            </a:pPr>
            <a:r>
              <a:rPr lang="en-US" sz="1250" dirty="0">
                <a:solidFill>
                  <a:srgbClr val="231F20"/>
                </a:solidFill>
                <a:latin typeface="Proxima Nova" pitchFamily="34" charset="0"/>
                <a:ea typeface="Proxima Nova" pitchFamily="34" charset="-122"/>
                <a:cs typeface="Proxima Nova" pitchFamily="34" charset="-120"/>
              </a:rPr>
              <a:t> by 2028, and Visa shows visitor card spending up </a:t>
            </a:r>
            <a:pPr indent="0" marL="0">
              <a:buNone/>
            </a:pPr>
            <a:r>
              <a:rPr lang="en-US" sz="1250" b="1" dirty="0">
                <a:solidFill>
                  <a:srgbClr val="125C60"/>
                </a:solidFill>
                <a:latin typeface="Proxima Nova" pitchFamily="34" charset="0"/>
                <a:ea typeface="Proxima Nova" pitchFamily="34" charset="-122"/>
                <a:cs typeface="Proxima Nova" pitchFamily="34" charset="-120"/>
              </a:rPr>
              <a:t>8.1%</a:t>
            </a:r>
            <a:pPr indent="0" marL="0">
              <a:buNone/>
            </a:pPr>
            <a:r>
              <a:rPr lang="en-US" sz="1250" dirty="0">
                <a:solidFill>
                  <a:srgbClr val="231F20"/>
                </a:solidFill>
                <a:latin typeface="Proxima Nova" pitchFamily="34" charset="0"/>
                <a:ea typeface="Proxima Nova" pitchFamily="34" charset="-122"/>
                <a:cs typeface="Proxima Nova" pitchFamily="34" charset="-120"/>
              </a:rPr>
              <a:t> in August 2026.</a:t>
            </a:r>
            <a:endParaRPr lang="en-US" sz="1250" dirty="0"/>
          </a:p>
        </p:txBody>
      </p:sp>
      <p:sp>
        <p:nvSpPr>
          <p:cNvPr id="10" name="Text 7"/>
          <p:cNvSpPr txBox="1"/>
          <p:nvPr/>
        </p:nvSpPr>
        <p:spPr>
          <a:xfrm>
            <a:off x="8001000" y="1481328"/>
            <a:ext cx="3642055"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BY THE NUMBERS</a:t>
            </a:r>
            <a:endParaRPr lang="en-US" sz="1000" dirty="0"/>
          </a:p>
        </p:txBody>
      </p:sp>
      <p:sp>
        <p:nvSpPr>
          <p:cNvPr id="11" name="news-stat-0"/>
          <p:cNvSpPr/>
          <p:nvPr/>
        </p:nvSpPr>
        <p:spPr>
          <a:xfrm>
            <a:off x="8001000" y="1755648"/>
            <a:ext cx="3642055" cy="1280160"/>
          </a:xfrm>
          <a:prstGeom prst="roundRect">
            <a:avLst>
              <a:gd name="adj" fmla="val 4286"/>
            </a:avLst>
          </a:prstGeom>
          <a:solidFill>
            <a:srgbClr val="FFFFFF"/>
          </a:solidFill>
          <a:ln w="12700">
            <a:solidFill>
              <a:srgbClr val="B4D9E3"/>
            </a:solidFill>
            <a:prstDash val="solid"/>
          </a:ln>
        </p:spPr>
      </p:sp>
      <p:sp>
        <p:nvSpPr>
          <p:cNvPr id="12" name="Text 9"/>
          <p:cNvSpPr txBox="1"/>
          <p:nvPr/>
        </p:nvSpPr>
        <p:spPr>
          <a:xfrm>
            <a:off x="8138160" y="18288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ANAHEIM, 2025</a:t>
            </a:r>
            <a:endParaRPr lang="en-US" sz="850" dirty="0"/>
          </a:p>
        </p:txBody>
      </p:sp>
      <p:sp>
        <p:nvSpPr>
          <p:cNvPr id="13" name="Text 10"/>
          <p:cNvSpPr txBox="1"/>
          <p:nvPr/>
        </p:nvSpPr>
        <p:spPr>
          <a:xfrm>
            <a:off x="8138160" y="20299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$258</a:t>
            </a:r>
            <a:endParaRPr lang="en-US" sz="2200" dirty="0"/>
          </a:p>
        </p:txBody>
      </p:sp>
      <p:sp>
        <p:nvSpPr>
          <p:cNvPr id="14" name="Text 11"/>
          <p:cNvSpPr txBox="1"/>
          <p:nvPr/>
        </p:nvSpPr>
        <p:spPr>
          <a:xfrm>
            <a:off x="8138160" y="24505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Spending per visitor</a:t>
            </a:r>
            <a:endParaRPr lang="en-US" sz="1050" dirty="0"/>
          </a:p>
        </p:txBody>
      </p:sp>
      <p:sp>
        <p:nvSpPr>
          <p:cNvPr id="15" name="Text 12"/>
          <p:cNvSpPr txBox="1"/>
          <p:nvPr/>
        </p:nvSpPr>
        <p:spPr>
          <a:xfrm>
            <a:off x="8138160" y="27249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Tourism Economics 2025; BI calc. Oct. 12, 2026</a:t>
            </a:r>
            <a:endParaRPr lang="en-US" sz="750" dirty="0"/>
          </a:p>
        </p:txBody>
      </p:sp>
      <p:sp>
        <p:nvSpPr>
          <p:cNvPr id="16" name="news-stat-1"/>
          <p:cNvSpPr/>
          <p:nvPr/>
        </p:nvSpPr>
        <p:spPr>
          <a:xfrm>
            <a:off x="8001000" y="3127248"/>
            <a:ext cx="3642055" cy="1280160"/>
          </a:xfrm>
          <a:prstGeom prst="roundRect">
            <a:avLst>
              <a:gd name="adj" fmla="val 4286"/>
            </a:avLst>
          </a:prstGeom>
          <a:solidFill>
            <a:srgbClr val="FFFFFF"/>
          </a:solidFill>
          <a:ln w="12700">
            <a:solidFill>
              <a:srgbClr val="B4D9E3"/>
            </a:solidFill>
            <a:prstDash val="solid"/>
          </a:ln>
        </p:spPr>
      </p:sp>
      <p:sp>
        <p:nvSpPr>
          <p:cNvPr id="17" name="Text 14"/>
          <p:cNvSpPr txBox="1"/>
          <p:nvPr/>
        </p:nvSpPr>
        <p:spPr>
          <a:xfrm>
            <a:off x="8138160" y="32004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ANAHEIM, Q2 2026</a:t>
            </a:r>
            <a:endParaRPr lang="en-US" sz="850" dirty="0"/>
          </a:p>
        </p:txBody>
      </p:sp>
      <p:sp>
        <p:nvSpPr>
          <p:cNvPr id="18" name="Text 15"/>
          <p:cNvSpPr txBox="1"/>
          <p:nvPr/>
        </p:nvSpPr>
        <p:spPr>
          <a:xfrm>
            <a:off x="8138160" y="34015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$1.76B</a:t>
            </a:r>
            <a:endParaRPr lang="en-US" sz="2200" dirty="0"/>
          </a:p>
        </p:txBody>
      </p:sp>
      <p:sp>
        <p:nvSpPr>
          <p:cNvPr id="19" name="Text 16"/>
          <p:cNvSpPr txBox="1"/>
          <p:nvPr/>
        </p:nvSpPr>
        <p:spPr>
          <a:xfrm>
            <a:off x="8138160" y="38221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Visitor spending</a:t>
            </a:r>
            <a:endParaRPr lang="en-US" sz="1050" dirty="0"/>
          </a:p>
        </p:txBody>
      </p:sp>
      <p:sp>
        <p:nvSpPr>
          <p:cNvPr id="20" name="Text 17"/>
          <p:cNvSpPr txBox="1"/>
          <p:nvPr/>
        </p:nvSpPr>
        <p:spPr>
          <a:xfrm>
            <a:off x="8138160" y="40965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Tourism Economics (2025; pub. 2026)</a:t>
            </a:r>
            <a:endParaRPr lang="en-US" sz="750" dirty="0"/>
          </a:p>
        </p:txBody>
      </p:sp>
      <p:sp>
        <p:nvSpPr>
          <p:cNvPr id="21" name="news-stat-2"/>
          <p:cNvSpPr/>
          <p:nvPr/>
        </p:nvSpPr>
        <p:spPr>
          <a:xfrm>
            <a:off x="8001000" y="4498848"/>
            <a:ext cx="3642055" cy="1280160"/>
          </a:xfrm>
          <a:prstGeom prst="roundRect">
            <a:avLst>
              <a:gd name="adj" fmla="val 4286"/>
            </a:avLst>
          </a:prstGeom>
          <a:solidFill>
            <a:srgbClr val="FFFFFF"/>
          </a:solidFill>
          <a:ln w="12700">
            <a:solidFill>
              <a:srgbClr val="B4D9E3"/>
            </a:solidFill>
            <a:prstDash val="solid"/>
          </a:ln>
        </p:spPr>
      </p:sp>
      <p:sp>
        <p:nvSpPr>
          <p:cNvPr id="22" name="Text 19"/>
          <p:cNvSpPr txBox="1"/>
          <p:nvPr/>
        </p:nvSpPr>
        <p:spPr>
          <a:xfrm>
            <a:off x="8138160" y="45720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ANAHEIM, 2028 FORECAST</a:t>
            </a:r>
            <a:endParaRPr lang="en-US" sz="850" dirty="0"/>
          </a:p>
        </p:txBody>
      </p:sp>
      <p:sp>
        <p:nvSpPr>
          <p:cNvPr id="23" name="Text 20"/>
          <p:cNvSpPr txBox="1"/>
          <p:nvPr/>
        </p:nvSpPr>
        <p:spPr>
          <a:xfrm>
            <a:off x="8138160" y="47731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$279</a:t>
            </a:r>
            <a:endParaRPr lang="en-US" sz="2200" dirty="0"/>
          </a:p>
        </p:txBody>
      </p:sp>
      <p:sp>
        <p:nvSpPr>
          <p:cNvPr id="24" name="Text 21"/>
          <p:cNvSpPr txBox="1"/>
          <p:nvPr/>
        </p:nvSpPr>
        <p:spPr>
          <a:xfrm>
            <a:off x="8138160" y="51937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Spending per visitor</a:t>
            </a:r>
            <a:endParaRPr lang="en-US" sz="1050" dirty="0"/>
          </a:p>
        </p:txBody>
      </p:sp>
      <p:sp>
        <p:nvSpPr>
          <p:cNvPr id="25" name="Text 22"/>
          <p:cNvSpPr txBox="1"/>
          <p:nvPr/>
        </p:nvSpPr>
        <p:spPr>
          <a:xfrm>
            <a:off x="8138160" y="54681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Tourism Economics forecast (Sept. 2026)</a:t>
            </a:r>
            <a:endParaRPr lang="en-US" sz="750" dirty="0"/>
          </a:p>
        </p:txBody>
      </p:sp>
      <p:sp>
        <p:nvSpPr>
          <p:cNvPr id="2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2025 (pub. Apr.–May 2026); Tourism Economics, Travel Forecast (pub. Sept. 2026; data to Aug. 31,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The details: Visitor spending</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who, what, when, where, why and how, each with its figure, source and date</a:t>
            </a:r>
            <a:endParaRPr lang="en-US" sz="1200" dirty="0"/>
          </a:p>
        </p:txBody>
      </p:sp>
      <p:sp>
        <p:nvSpPr>
          <p:cNvPr id="4" name="detail-card-0"/>
          <p:cNvSpPr/>
          <p:nvPr/>
        </p:nvSpPr>
        <p:spPr>
          <a:xfrm>
            <a:off x="548640" y="1417320"/>
            <a:ext cx="3588410" cy="2176272"/>
          </a:xfrm>
          <a:prstGeom prst="rect">
            <a:avLst/>
          </a:prstGeom>
          <a:solidFill>
            <a:srgbClr val="FFFFFF"/>
          </a:solidFill>
          <a:ln w="12700">
            <a:solidFill>
              <a:srgbClr val="B4D9E3"/>
            </a:solidFill>
            <a:prstDash val="solid"/>
          </a:ln>
        </p:spPr>
      </p:sp>
      <p:sp>
        <p:nvSpPr>
          <p:cNvPr id="5" name="Shape 3"/>
          <p:cNvSpPr/>
          <p:nvPr/>
        </p:nvSpPr>
        <p:spPr>
          <a:xfrm>
            <a:off x="548640" y="1417320"/>
            <a:ext cx="3588410" cy="64008"/>
          </a:xfrm>
          <a:prstGeom prst="rect">
            <a:avLst/>
          </a:prstGeom>
          <a:solidFill>
            <a:srgbClr val="43A3A3"/>
          </a:solidFill>
          <a:ln w="12700">
            <a:solidFill>
              <a:srgbClr val="43A3A3"/>
            </a:solidFill>
            <a:prstDash val="solid"/>
          </a:ln>
        </p:spPr>
      </p:sp>
      <p:sp>
        <p:nvSpPr>
          <p:cNvPr id="6" name="Text 4"/>
          <p:cNvSpPr txBox="1"/>
          <p:nvPr/>
        </p:nvSpPr>
        <p:spPr>
          <a:xfrm>
            <a:off x="685800"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WHO</a:t>
            </a:r>
            <a:endParaRPr lang="en-US" sz="900" dirty="0"/>
          </a:p>
        </p:txBody>
      </p:sp>
      <p:sp>
        <p:nvSpPr>
          <p:cNvPr id="7" name="Text 5"/>
          <p:cNvSpPr txBox="1"/>
          <p:nvPr/>
        </p:nvSpPr>
        <p:spPr>
          <a:xfrm>
            <a:off x="685800"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26.5M</a:t>
            </a:r>
            <a:endParaRPr lang="en-US" sz="2200" dirty="0"/>
          </a:p>
        </p:txBody>
      </p:sp>
      <p:sp>
        <p:nvSpPr>
          <p:cNvPr id="8" name="Text 6"/>
          <p:cNvSpPr txBox="1"/>
          <p:nvPr/>
        </p:nvSpPr>
        <p:spPr>
          <a:xfrm>
            <a:off x="685800"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Anaheim visitors, 2025</a:t>
            </a:r>
            <a:endParaRPr lang="en-US" sz="1000" dirty="0"/>
          </a:p>
        </p:txBody>
      </p:sp>
      <p:sp>
        <p:nvSpPr>
          <p:cNvPr id="9" name="Text 7"/>
          <p:cNvSpPr txBox="1"/>
          <p:nvPr/>
        </p:nvSpPr>
        <p:spPr>
          <a:xfrm>
            <a:off x="685800"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Anaheim and Garden Grove visitors (domestic and international), as measured by Tourism Economics and Visa cardholders.</a:t>
            </a:r>
            <a:endParaRPr lang="en-US" sz="950" dirty="0"/>
          </a:p>
        </p:txBody>
      </p:sp>
      <p:sp>
        <p:nvSpPr>
          <p:cNvPr id="10" name="Text 8"/>
          <p:cNvSpPr txBox="1"/>
          <p:nvPr/>
        </p:nvSpPr>
        <p:spPr>
          <a:xfrm>
            <a:off x="685800"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Tourism Economics, Economic Impact of Visitors (calendar 2025; pub. 2026)</a:t>
            </a:r>
            <a:endParaRPr lang="en-US" sz="700" dirty="0"/>
          </a:p>
        </p:txBody>
      </p:sp>
      <p:sp>
        <p:nvSpPr>
          <p:cNvPr id="11" name="detail-card-1"/>
          <p:cNvSpPr/>
          <p:nvPr/>
        </p:nvSpPr>
        <p:spPr>
          <a:xfrm>
            <a:off x="4301642" y="1417320"/>
            <a:ext cx="3588410" cy="2176272"/>
          </a:xfrm>
          <a:prstGeom prst="rect">
            <a:avLst/>
          </a:prstGeom>
          <a:solidFill>
            <a:srgbClr val="FFFFFF"/>
          </a:solidFill>
          <a:ln w="12700">
            <a:solidFill>
              <a:srgbClr val="B4D9E3"/>
            </a:solidFill>
            <a:prstDash val="solid"/>
          </a:ln>
        </p:spPr>
      </p:sp>
      <p:sp>
        <p:nvSpPr>
          <p:cNvPr id="12" name="Shape 10"/>
          <p:cNvSpPr/>
          <p:nvPr/>
        </p:nvSpPr>
        <p:spPr>
          <a:xfrm>
            <a:off x="4301642" y="1417320"/>
            <a:ext cx="3588410" cy="64008"/>
          </a:xfrm>
          <a:prstGeom prst="rect">
            <a:avLst/>
          </a:prstGeom>
          <a:solidFill>
            <a:srgbClr val="43A3A3"/>
          </a:solidFill>
          <a:ln w="12700">
            <a:solidFill>
              <a:srgbClr val="43A3A3"/>
            </a:solidFill>
            <a:prstDash val="solid"/>
          </a:ln>
        </p:spPr>
      </p:sp>
      <p:sp>
        <p:nvSpPr>
          <p:cNvPr id="13" name="Text 11"/>
          <p:cNvSpPr txBox="1"/>
          <p:nvPr/>
        </p:nvSpPr>
        <p:spPr>
          <a:xfrm>
            <a:off x="4438802"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WHAT</a:t>
            </a:r>
            <a:endParaRPr lang="en-US" sz="900" dirty="0"/>
          </a:p>
        </p:txBody>
      </p:sp>
      <p:sp>
        <p:nvSpPr>
          <p:cNvPr id="14" name="Text 12"/>
          <p:cNvSpPr txBox="1"/>
          <p:nvPr/>
        </p:nvSpPr>
        <p:spPr>
          <a:xfrm>
            <a:off x="4438802"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$1.76B</a:t>
            </a:r>
            <a:endParaRPr lang="en-US" sz="2200" dirty="0"/>
          </a:p>
        </p:txBody>
      </p:sp>
      <p:sp>
        <p:nvSpPr>
          <p:cNvPr id="15" name="Text 13"/>
          <p:cNvSpPr txBox="1"/>
          <p:nvPr/>
        </p:nvSpPr>
        <p:spPr>
          <a:xfrm>
            <a:off x="4438802"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visitor spending, Q2 2026 (+7.8% vs. Q2 2025)</a:t>
            </a:r>
            <a:endParaRPr lang="en-US" sz="1000" dirty="0"/>
          </a:p>
        </p:txBody>
      </p:sp>
      <p:sp>
        <p:nvSpPr>
          <p:cNvPr id="16" name="Text 14"/>
          <p:cNvSpPr txBox="1"/>
          <p:nvPr/>
        </p:nvSpPr>
        <p:spPr>
          <a:xfrm>
            <a:off x="4438802"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Spending per visitor (</a:t>
            </a:r>
            <a:pPr indent="0" marL="0">
              <a:buNone/>
            </a:pPr>
            <a:r>
              <a:rPr lang="en-US" sz="950" b="1" dirty="0">
                <a:solidFill>
                  <a:srgbClr val="125C60"/>
                </a:solidFill>
                <a:latin typeface="Proxima Nova" pitchFamily="34" charset="0"/>
                <a:ea typeface="Proxima Nova" pitchFamily="34" charset="-122"/>
                <a:cs typeface="Proxima Nova" pitchFamily="34" charset="-120"/>
              </a:rPr>
              <a:t>$258</a:t>
            </a:r>
            <a:pPr indent="0" marL="0">
              <a:buNone/>
            </a:pPr>
            <a:r>
              <a:rPr lang="en-US" sz="950" dirty="0">
                <a:solidFill>
                  <a:srgbClr val="231F20"/>
                </a:solidFill>
                <a:latin typeface="Proxima Nova" pitchFamily="34" charset="0"/>
                <a:ea typeface="Proxima Nova" pitchFamily="34" charset="-122"/>
                <a:cs typeface="Proxima Nova" pitchFamily="34" charset="-120"/>
              </a:rPr>
              <a:t> in 2025, forecast </a:t>
            </a:r>
            <a:pPr indent="0" marL="0">
              <a:buNone/>
            </a:pPr>
            <a:r>
              <a:rPr lang="en-US" sz="950" b="1" dirty="0">
                <a:solidFill>
                  <a:srgbClr val="125C60"/>
                </a:solidFill>
                <a:latin typeface="Proxima Nova" pitchFamily="34" charset="0"/>
                <a:ea typeface="Proxima Nova" pitchFamily="34" charset="-122"/>
                <a:cs typeface="Proxima Nova" pitchFamily="34" charset="-120"/>
              </a:rPr>
              <a:t>$279</a:t>
            </a:r>
            <a:pPr indent="0" marL="0">
              <a:buNone/>
            </a:pPr>
            <a:r>
              <a:rPr lang="en-US" sz="950" dirty="0">
                <a:solidFill>
                  <a:srgbClr val="231F20"/>
                </a:solidFill>
                <a:latin typeface="Proxima Nova" pitchFamily="34" charset="0"/>
                <a:ea typeface="Proxima Nova" pitchFamily="34" charset="-122"/>
                <a:cs typeface="Proxima Nova" pitchFamily="34" charset="-120"/>
              </a:rPr>
              <a:t> by 2028), Q2 2026 spending (</a:t>
            </a:r>
            <a:pPr indent="0" marL="0">
              <a:buNone/>
            </a:pPr>
            <a:r>
              <a:rPr lang="en-US" sz="950" b="1" dirty="0">
                <a:solidFill>
                  <a:srgbClr val="125C60"/>
                </a:solidFill>
                <a:latin typeface="Proxima Nova" pitchFamily="34" charset="0"/>
                <a:ea typeface="Proxima Nova" pitchFamily="34" charset="-122"/>
                <a:cs typeface="Proxima Nova" pitchFamily="34" charset="-120"/>
              </a:rPr>
              <a:t>$1.76B</a:t>
            </a:r>
            <a:pPr indent="0" marL="0">
              <a:buNone/>
            </a:pPr>
            <a:r>
              <a:rPr lang="en-US" sz="950" dirty="0">
                <a:solidFill>
                  <a:srgbClr val="231F20"/>
                </a:solidFill>
                <a:latin typeface="Proxima Nova" pitchFamily="34" charset="0"/>
                <a:ea typeface="Proxima Nova" pitchFamily="34" charset="-122"/>
                <a:cs typeface="Proxima Nova" pitchFamily="34" charset="-120"/>
              </a:rPr>
              <a:t>, </a:t>
            </a:r>
            <a:pPr indent="0" marL="0">
              <a:buNone/>
            </a:pPr>
            <a:r>
              <a:rPr lang="en-US" sz="950" b="1" dirty="0">
                <a:solidFill>
                  <a:srgbClr val="125C60"/>
                </a:solidFill>
                <a:latin typeface="Proxima Nova" pitchFamily="34" charset="0"/>
                <a:ea typeface="Proxima Nova" pitchFamily="34" charset="-122"/>
                <a:cs typeface="Proxima Nova" pitchFamily="34" charset="-120"/>
              </a:rPr>
              <a:t>+7.8%</a:t>
            </a:r>
            <a:pPr indent="0" marL="0">
              <a:buNone/>
            </a:pPr>
            <a:r>
              <a:rPr lang="en-US" sz="950" dirty="0">
                <a:solidFill>
                  <a:srgbClr val="231F20"/>
                </a:solidFill>
                <a:latin typeface="Proxima Nova" pitchFamily="34" charset="0"/>
                <a:ea typeface="Proxima Nova" pitchFamily="34" charset="-122"/>
                <a:cs typeface="Proxima Nova" pitchFamily="34" charset="-120"/>
              </a:rPr>
              <a:t>) and visitor card spending (</a:t>
            </a:r>
            <a:pPr indent="0" marL="0">
              <a:buNone/>
            </a:pPr>
            <a:r>
              <a:rPr lang="en-US" sz="950" b="1" dirty="0">
                <a:solidFill>
                  <a:srgbClr val="125C60"/>
                </a:solidFill>
                <a:latin typeface="Proxima Nova" pitchFamily="34" charset="0"/>
                <a:ea typeface="Proxima Nova" pitchFamily="34" charset="-122"/>
                <a:cs typeface="Proxima Nova" pitchFamily="34" charset="-120"/>
              </a:rPr>
              <a:t>$464.6M</a:t>
            </a:r>
            <a:pPr indent="0" marL="0">
              <a:buNone/>
            </a:pPr>
            <a:r>
              <a:rPr lang="en-US" sz="950" dirty="0">
                <a:solidFill>
                  <a:srgbClr val="231F20"/>
                </a:solidFill>
                <a:latin typeface="Proxima Nova" pitchFamily="34" charset="0"/>
                <a:ea typeface="Proxima Nova" pitchFamily="34" charset="-122"/>
                <a:cs typeface="Proxima Nova" pitchFamily="34" charset="-120"/>
              </a:rPr>
              <a:t> in Aug. 2026, </a:t>
            </a:r>
            <a:pPr indent="0" marL="0">
              <a:buNone/>
            </a:pPr>
            <a:r>
              <a:rPr lang="en-US" sz="950" b="1" dirty="0">
                <a:solidFill>
                  <a:srgbClr val="125C60"/>
                </a:solidFill>
                <a:latin typeface="Proxima Nova" pitchFamily="34" charset="0"/>
                <a:ea typeface="Proxima Nova" pitchFamily="34" charset="-122"/>
                <a:cs typeface="Proxima Nova" pitchFamily="34" charset="-120"/>
              </a:rPr>
              <a:t>+8.1%</a:t>
            </a:r>
            <a:pPr indent="0" marL="0">
              <a:buNone/>
            </a:pPr>
            <a:r>
              <a:rPr lang="en-US" sz="950" dirty="0">
                <a:solidFill>
                  <a:srgbClr val="231F20"/>
                </a:solidFill>
                <a:latin typeface="Proxima Nova" pitchFamily="34" charset="0"/>
                <a:ea typeface="Proxima Nova" pitchFamily="34" charset="-122"/>
                <a:cs typeface="Proxima Nova" pitchFamily="34" charset="-120"/>
              </a:rPr>
              <a:t>).</a:t>
            </a:r>
            <a:endParaRPr lang="en-US" sz="950" dirty="0"/>
          </a:p>
        </p:txBody>
      </p:sp>
      <p:sp>
        <p:nvSpPr>
          <p:cNvPr id="17" name="Text 15"/>
          <p:cNvSpPr txBox="1"/>
          <p:nvPr/>
        </p:nvSpPr>
        <p:spPr>
          <a:xfrm>
            <a:off x="4438802"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Tourism Economics, Anaheim Travel Forecast (pub. Sept. 2026)</a:t>
            </a:r>
            <a:endParaRPr lang="en-US" sz="700" dirty="0"/>
          </a:p>
        </p:txBody>
      </p:sp>
      <p:sp>
        <p:nvSpPr>
          <p:cNvPr id="18" name="detail-card-2"/>
          <p:cNvSpPr/>
          <p:nvPr/>
        </p:nvSpPr>
        <p:spPr>
          <a:xfrm>
            <a:off x="8054645" y="1417320"/>
            <a:ext cx="3588410" cy="2176272"/>
          </a:xfrm>
          <a:prstGeom prst="rect">
            <a:avLst/>
          </a:prstGeom>
          <a:solidFill>
            <a:srgbClr val="FFFFFF"/>
          </a:solidFill>
          <a:ln w="12700">
            <a:solidFill>
              <a:srgbClr val="B4D9E3"/>
            </a:solidFill>
            <a:prstDash val="solid"/>
          </a:ln>
        </p:spPr>
      </p:sp>
      <p:sp>
        <p:nvSpPr>
          <p:cNvPr id="19" name="Shape 17"/>
          <p:cNvSpPr/>
          <p:nvPr/>
        </p:nvSpPr>
        <p:spPr>
          <a:xfrm>
            <a:off x="8054645" y="1417320"/>
            <a:ext cx="3588410" cy="64008"/>
          </a:xfrm>
          <a:prstGeom prst="rect">
            <a:avLst/>
          </a:prstGeom>
          <a:solidFill>
            <a:srgbClr val="43A3A3"/>
          </a:solidFill>
          <a:ln w="12700">
            <a:solidFill>
              <a:srgbClr val="43A3A3"/>
            </a:solidFill>
            <a:prstDash val="solid"/>
          </a:ln>
        </p:spPr>
      </p:sp>
      <p:sp>
        <p:nvSpPr>
          <p:cNvPr id="20" name="Text 18"/>
          <p:cNvSpPr txBox="1"/>
          <p:nvPr/>
        </p:nvSpPr>
        <p:spPr>
          <a:xfrm>
            <a:off x="8191805"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WHEN</a:t>
            </a:r>
            <a:endParaRPr lang="en-US" sz="900" dirty="0"/>
          </a:p>
        </p:txBody>
      </p:sp>
      <p:sp>
        <p:nvSpPr>
          <p:cNvPr id="21" name="Text 19"/>
          <p:cNvSpPr txBox="1"/>
          <p:nvPr/>
        </p:nvSpPr>
        <p:spPr>
          <a:xfrm>
            <a:off x="8191805"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Q2 2026</a:t>
            </a:r>
            <a:endParaRPr lang="en-US" sz="2200" dirty="0"/>
          </a:p>
        </p:txBody>
      </p:sp>
      <p:sp>
        <p:nvSpPr>
          <p:cNvPr id="22" name="Text 20"/>
          <p:cNvSpPr txBox="1"/>
          <p:nvPr/>
        </p:nvSpPr>
        <p:spPr>
          <a:xfrm>
            <a:off x="8191805"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latest measured quarter; forecasts to 2028</a:t>
            </a:r>
            <a:endParaRPr lang="en-US" sz="1000" dirty="0"/>
          </a:p>
        </p:txBody>
      </p:sp>
      <p:sp>
        <p:nvSpPr>
          <p:cNvPr id="23" name="Text 21"/>
          <p:cNvSpPr txBox="1"/>
          <p:nvPr/>
        </p:nvSpPr>
        <p:spPr>
          <a:xfrm>
            <a:off x="8191805"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Calendar 2019–2025 actuals, Q2 2026 actual, forecasts to 2028; Visa August 2026 vs. August 2025.</a:t>
            </a:r>
            <a:endParaRPr lang="en-US" sz="950" dirty="0"/>
          </a:p>
        </p:txBody>
      </p:sp>
      <p:sp>
        <p:nvSpPr>
          <p:cNvPr id="24" name="Text 22"/>
          <p:cNvSpPr txBox="1"/>
          <p:nvPr/>
        </p:nvSpPr>
        <p:spPr>
          <a:xfrm>
            <a:off x="8191805"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Tourism Economics, Anaheim Travel Forecast (pub. Sept. 2026)</a:t>
            </a:r>
            <a:endParaRPr lang="en-US" sz="700" dirty="0"/>
          </a:p>
        </p:txBody>
      </p:sp>
      <p:sp>
        <p:nvSpPr>
          <p:cNvPr id="25" name="detail-card-3"/>
          <p:cNvSpPr/>
          <p:nvPr/>
        </p:nvSpPr>
        <p:spPr>
          <a:xfrm>
            <a:off x="548640" y="3685032"/>
            <a:ext cx="3588410" cy="2176272"/>
          </a:xfrm>
          <a:prstGeom prst="rect">
            <a:avLst/>
          </a:prstGeom>
          <a:solidFill>
            <a:srgbClr val="FFFFFF"/>
          </a:solidFill>
          <a:ln w="12700">
            <a:solidFill>
              <a:srgbClr val="B4D9E3"/>
            </a:solidFill>
            <a:prstDash val="solid"/>
          </a:ln>
        </p:spPr>
      </p:sp>
      <p:sp>
        <p:nvSpPr>
          <p:cNvPr id="26" name="Shape 24"/>
          <p:cNvSpPr/>
          <p:nvPr/>
        </p:nvSpPr>
        <p:spPr>
          <a:xfrm>
            <a:off x="548640" y="3685032"/>
            <a:ext cx="3588410" cy="64008"/>
          </a:xfrm>
          <a:prstGeom prst="rect">
            <a:avLst/>
          </a:prstGeom>
          <a:solidFill>
            <a:srgbClr val="43A3A3"/>
          </a:solidFill>
          <a:ln w="12700">
            <a:solidFill>
              <a:srgbClr val="43A3A3"/>
            </a:solidFill>
            <a:prstDash val="solid"/>
          </a:ln>
        </p:spPr>
      </p:sp>
      <p:sp>
        <p:nvSpPr>
          <p:cNvPr id="27" name="Text 25"/>
          <p:cNvSpPr txBox="1"/>
          <p:nvPr/>
        </p:nvSpPr>
        <p:spPr>
          <a:xfrm>
            <a:off x="685800"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WHERE</a:t>
            </a:r>
            <a:endParaRPr lang="en-US" sz="900" dirty="0"/>
          </a:p>
        </p:txBody>
      </p:sp>
      <p:sp>
        <p:nvSpPr>
          <p:cNvPr id="28" name="Text 26"/>
          <p:cNvSpPr txBox="1"/>
          <p:nvPr/>
        </p:nvSpPr>
        <p:spPr>
          <a:xfrm>
            <a:off x="685800"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Anaheim</a:t>
            </a:r>
            <a:endParaRPr lang="en-US" sz="2200" dirty="0"/>
          </a:p>
        </p:txBody>
      </p:sp>
      <p:sp>
        <p:nvSpPr>
          <p:cNvPr id="29" name="Text 27"/>
          <p:cNvSpPr txBox="1"/>
          <p:nvPr/>
        </p:nvSpPr>
        <p:spPr>
          <a:xfrm>
            <a:off x="685800"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with Garden Grove for comparison</a:t>
            </a:r>
            <a:endParaRPr lang="en-US" sz="1000" dirty="0"/>
          </a:p>
        </p:txBody>
      </p:sp>
      <p:sp>
        <p:nvSpPr>
          <p:cNvPr id="30" name="Text 28"/>
          <p:cNvSpPr txBox="1"/>
          <p:nvPr/>
        </p:nvSpPr>
        <p:spPr>
          <a:xfrm>
            <a:off x="685800"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City of Anaheim (and Garden Grove for comparison).</a:t>
            </a:r>
            <a:endParaRPr lang="en-US" sz="950" dirty="0"/>
          </a:p>
        </p:txBody>
      </p:sp>
      <p:sp>
        <p:nvSpPr>
          <p:cNvPr id="31" name="Text 29"/>
          <p:cNvSpPr txBox="1"/>
          <p:nvPr/>
        </p:nvSpPr>
        <p:spPr>
          <a:xfrm>
            <a:off x="685800"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Tourism Economics, Anaheim Travel Forecast (pub. Sept. 2026)</a:t>
            </a:r>
            <a:endParaRPr lang="en-US" sz="700" dirty="0"/>
          </a:p>
        </p:txBody>
      </p:sp>
      <p:sp>
        <p:nvSpPr>
          <p:cNvPr id="32" name="detail-card-4"/>
          <p:cNvSpPr/>
          <p:nvPr/>
        </p:nvSpPr>
        <p:spPr>
          <a:xfrm>
            <a:off x="4301642" y="3685032"/>
            <a:ext cx="3588410" cy="2176272"/>
          </a:xfrm>
          <a:prstGeom prst="rect">
            <a:avLst/>
          </a:prstGeom>
          <a:solidFill>
            <a:srgbClr val="FFFFFF"/>
          </a:solidFill>
          <a:ln w="12700">
            <a:solidFill>
              <a:srgbClr val="B4D9E3"/>
            </a:solidFill>
            <a:prstDash val="solid"/>
          </a:ln>
        </p:spPr>
      </p:sp>
      <p:sp>
        <p:nvSpPr>
          <p:cNvPr id="33" name="Shape 31"/>
          <p:cNvSpPr/>
          <p:nvPr/>
        </p:nvSpPr>
        <p:spPr>
          <a:xfrm>
            <a:off x="4301642" y="3685032"/>
            <a:ext cx="3588410" cy="64008"/>
          </a:xfrm>
          <a:prstGeom prst="rect">
            <a:avLst/>
          </a:prstGeom>
          <a:solidFill>
            <a:srgbClr val="43A3A3"/>
          </a:solidFill>
          <a:ln w="12700">
            <a:solidFill>
              <a:srgbClr val="43A3A3"/>
            </a:solidFill>
            <a:prstDash val="solid"/>
          </a:ln>
        </p:spPr>
      </p:sp>
      <p:sp>
        <p:nvSpPr>
          <p:cNvPr id="34" name="Text 32"/>
          <p:cNvSpPr txBox="1"/>
          <p:nvPr/>
        </p:nvSpPr>
        <p:spPr>
          <a:xfrm>
            <a:off x="4438802"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WHY</a:t>
            </a:r>
            <a:endParaRPr lang="en-US" sz="900" dirty="0"/>
          </a:p>
        </p:txBody>
      </p:sp>
      <p:sp>
        <p:nvSpPr>
          <p:cNvPr id="35" name="Text 33"/>
          <p:cNvSpPr txBox="1"/>
          <p:nvPr/>
        </p:nvSpPr>
        <p:spPr>
          <a:xfrm>
            <a:off x="4438802"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$279</a:t>
            </a:r>
            <a:endParaRPr lang="en-US" sz="2200" dirty="0"/>
          </a:p>
        </p:txBody>
      </p:sp>
      <p:sp>
        <p:nvSpPr>
          <p:cNvPr id="36" name="Text 34"/>
          <p:cNvSpPr txBox="1"/>
          <p:nvPr/>
        </p:nvSpPr>
        <p:spPr>
          <a:xfrm>
            <a:off x="4438802"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forecast spending per visitor, 2028</a:t>
            </a:r>
            <a:endParaRPr lang="en-US" sz="1000" dirty="0"/>
          </a:p>
        </p:txBody>
      </p:sp>
      <p:sp>
        <p:nvSpPr>
          <p:cNvPr id="37" name="Text 35"/>
          <p:cNvSpPr txBox="1"/>
          <p:nvPr/>
        </p:nvSpPr>
        <p:spPr>
          <a:xfrm>
            <a:off x="4438802"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Spending per visitor sets the value of every visitor OC Vibe attracts.</a:t>
            </a:r>
            <a:endParaRPr lang="en-US" sz="950" dirty="0"/>
          </a:p>
        </p:txBody>
      </p:sp>
      <p:sp>
        <p:nvSpPr>
          <p:cNvPr id="38" name="Text 36"/>
          <p:cNvSpPr txBox="1"/>
          <p:nvPr/>
        </p:nvSpPr>
        <p:spPr>
          <a:xfrm>
            <a:off x="4438802"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Tourism Economics, Anaheim Travel Forecast (pub. Sept. 2026)</a:t>
            </a:r>
            <a:endParaRPr lang="en-US" sz="700" dirty="0"/>
          </a:p>
        </p:txBody>
      </p:sp>
      <p:sp>
        <p:nvSpPr>
          <p:cNvPr id="39" name="detail-card-5"/>
          <p:cNvSpPr/>
          <p:nvPr/>
        </p:nvSpPr>
        <p:spPr>
          <a:xfrm>
            <a:off x="8054645" y="3685032"/>
            <a:ext cx="3588410" cy="2176272"/>
          </a:xfrm>
          <a:prstGeom prst="rect">
            <a:avLst/>
          </a:prstGeom>
          <a:solidFill>
            <a:srgbClr val="FFFFFF"/>
          </a:solidFill>
          <a:ln w="12700">
            <a:solidFill>
              <a:srgbClr val="B4D9E3"/>
            </a:solidFill>
            <a:prstDash val="solid"/>
          </a:ln>
        </p:spPr>
      </p:sp>
      <p:sp>
        <p:nvSpPr>
          <p:cNvPr id="40" name="Shape 38"/>
          <p:cNvSpPr/>
          <p:nvPr/>
        </p:nvSpPr>
        <p:spPr>
          <a:xfrm>
            <a:off x="8054645" y="3685032"/>
            <a:ext cx="3588410" cy="64008"/>
          </a:xfrm>
          <a:prstGeom prst="rect">
            <a:avLst/>
          </a:prstGeom>
          <a:solidFill>
            <a:srgbClr val="43A3A3"/>
          </a:solidFill>
          <a:ln w="12700">
            <a:solidFill>
              <a:srgbClr val="43A3A3"/>
            </a:solidFill>
            <a:prstDash val="solid"/>
          </a:ln>
        </p:spPr>
      </p:sp>
      <p:sp>
        <p:nvSpPr>
          <p:cNvPr id="41" name="Text 39"/>
          <p:cNvSpPr txBox="1"/>
          <p:nvPr/>
        </p:nvSpPr>
        <p:spPr>
          <a:xfrm>
            <a:off x="8191805"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HOW</a:t>
            </a:r>
            <a:endParaRPr lang="en-US" sz="900" dirty="0"/>
          </a:p>
        </p:txBody>
      </p:sp>
      <p:sp>
        <p:nvSpPr>
          <p:cNvPr id="42" name="Text 40"/>
          <p:cNvSpPr txBox="1"/>
          <p:nvPr/>
        </p:nvSpPr>
        <p:spPr>
          <a:xfrm>
            <a:off x="8191805"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$258</a:t>
            </a:r>
            <a:endParaRPr lang="en-US" sz="2200" dirty="0"/>
          </a:p>
        </p:txBody>
      </p:sp>
      <p:sp>
        <p:nvSpPr>
          <p:cNvPr id="43" name="Text 41"/>
          <p:cNvSpPr txBox="1"/>
          <p:nvPr/>
        </p:nvSpPr>
        <p:spPr>
          <a:xfrm>
            <a:off x="8191805"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per visitor, 2025: $6.832B ÷ 26.5M visitors</a:t>
            </a:r>
            <a:endParaRPr lang="en-US" sz="1000" dirty="0"/>
          </a:p>
        </p:txBody>
      </p:sp>
      <p:sp>
        <p:nvSpPr>
          <p:cNvPr id="44" name="Text 42"/>
          <p:cNvSpPr txBox="1"/>
          <p:nvPr/>
        </p:nvSpPr>
        <p:spPr>
          <a:xfrm>
            <a:off x="8191805"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Tourism Economics visitor spending ÷ visits; Visa reported card spending by visitor cardholders.</a:t>
            </a:r>
            <a:endParaRPr lang="en-US" sz="950" dirty="0"/>
          </a:p>
        </p:txBody>
      </p:sp>
      <p:sp>
        <p:nvSpPr>
          <p:cNvPr id="45" name="Text 43"/>
          <p:cNvSpPr txBox="1"/>
          <p:nvPr/>
        </p:nvSpPr>
        <p:spPr>
          <a:xfrm>
            <a:off x="8191805"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Tourism Economics, Economic Impact of Visitors (calendar 2025; pub. 2026)</a:t>
            </a:r>
            <a:endParaRPr lang="en-US" sz="700" dirty="0"/>
          </a:p>
        </p:txBody>
      </p:sp>
      <p:sp>
        <p:nvSpPr>
          <p:cNvPr id="4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Travel Forecast (pub. Sept. 2026; data to Aug. 31, 2026); Tourism Economics, Economic Impact 2025 (pub. Apr.–May 2026); Visa Destination Insights via Symphony (Aug. 2026 vs. Aug. 2025)</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At a glance: Visitor spending</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data infographic · every figure from this section, with its source and date</a:t>
            </a:r>
            <a:endParaRPr lang="en-US" sz="1200" dirty="0"/>
          </a:p>
        </p:txBody>
      </p:sp>
      <p:sp>
        <p:nvSpPr>
          <p:cNvPr id="4" name="Text 2"/>
          <p:cNvSpPr txBox="1"/>
          <p:nvPr/>
        </p:nvSpPr>
        <p:spPr>
          <a:xfrm>
            <a:off x="548640" y="1417320"/>
            <a:ext cx="11094415" cy="329184"/>
          </a:xfrm>
          <a:prstGeom prst="rect">
            <a:avLst/>
          </a:prstGeom>
          <a:noFill/>
          <a:ln/>
        </p:spPr>
        <p:txBody>
          <a:bodyPr wrap="square" lIns="0" tIns="0" rIns="0" bIns="0" rtlCol="0" anchor="ctr">
            <a:normAutofit/>
          </a:bodyPr>
          <a:lstStyle/>
          <a:p>
            <a:pPr indent="0" marL="0">
              <a:buNone/>
            </a:pPr>
            <a:r>
              <a:rPr lang="en-US" sz="1500" b="1" i="1" dirty="0">
                <a:solidFill>
                  <a:srgbClr val="125C60"/>
                </a:solidFill>
                <a:latin typeface="Proxima Nova" pitchFamily="34" charset="0"/>
                <a:ea typeface="Proxima Nova" pitchFamily="34" charset="-122"/>
                <a:cs typeface="Proxima Nova" pitchFamily="34" charset="-120"/>
              </a:rPr>
              <a:t>What one Anaheim visitor spends, itemized</a:t>
            </a:r>
            <a:endParaRPr lang="en-US" sz="1500" dirty="0"/>
          </a:p>
        </p:txBody>
      </p:sp>
      <p:sp>
        <p:nvSpPr>
          <p:cNvPr id="5" name="Text 3"/>
          <p:cNvSpPr txBox="1"/>
          <p:nvPr/>
        </p:nvSpPr>
        <p:spPr>
          <a:xfrm>
            <a:off x="548640" y="1746504"/>
            <a:ext cx="11094415" cy="237744"/>
          </a:xfrm>
          <a:prstGeom prst="rect">
            <a:avLst/>
          </a:prstGeom>
          <a:noFill/>
          <a:ln/>
        </p:spPr>
        <p:txBody>
          <a:bodyPr wrap="square" lIns="0" tIns="0" rIns="0" bIns="0" rtlCol="0" anchor="ctr">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Average per visitor, calendar 2025 · category spending ÷ 26.5M visitors</a:t>
            </a:r>
            <a:endParaRPr lang="en-US" sz="950" dirty="0"/>
          </a:p>
        </p:txBody>
      </p:sp>
      <p:sp>
        <p:nvSpPr>
          <p:cNvPr id="6" name="Shape 4"/>
          <p:cNvSpPr/>
          <p:nvPr/>
        </p:nvSpPr>
        <p:spPr>
          <a:xfrm>
            <a:off x="548640" y="2075688"/>
            <a:ext cx="6212873" cy="3520440"/>
          </a:xfrm>
          <a:prstGeom prst="rect">
            <a:avLst/>
          </a:prstGeom>
          <a:solidFill>
            <a:srgbClr val="FFFFFF"/>
          </a:solidFill>
          <a:ln w="12700">
            <a:solidFill>
              <a:srgbClr val="B4D9E3"/>
            </a:solidFill>
            <a:prstDash val="solid"/>
          </a:ln>
        </p:spPr>
      </p:sp>
      <p:sp>
        <p:nvSpPr>
          <p:cNvPr id="7" name="Text 5"/>
          <p:cNvSpPr txBox="1"/>
          <p:nvPr/>
        </p:nvSpPr>
        <p:spPr>
          <a:xfrm>
            <a:off x="685800" y="2167128"/>
            <a:ext cx="4932713" cy="237744"/>
          </a:xfrm>
          <a:prstGeom prst="rect">
            <a:avLst/>
          </a:prstGeom>
          <a:noFill/>
          <a:ln/>
        </p:spPr>
        <p:txBody>
          <a:bodyPr wrap="square" lIns="0" tIns="0" rIns="0" bIns="0" rtlCol="0" anchor="ctr"/>
          <a:lstStyle/>
          <a:p>
            <a:pPr indent="0" marL="0">
              <a:buNone/>
            </a:pPr>
            <a:r>
              <a:rPr lang="en-US" sz="1100" b="1" dirty="0">
                <a:solidFill>
                  <a:srgbClr val="231F20"/>
                </a:solidFill>
                <a:latin typeface="Proxima Nova" pitchFamily="34" charset="0"/>
                <a:ea typeface="Proxima Nova" pitchFamily="34" charset="-122"/>
                <a:cs typeface="Proxima Nova" pitchFamily="34" charset="-120"/>
              </a:rPr>
              <a:t>Recreation and entertainment</a:t>
            </a:r>
            <a:endParaRPr lang="en-US" sz="1100" dirty="0"/>
          </a:p>
        </p:txBody>
      </p:sp>
      <p:sp>
        <p:nvSpPr>
          <p:cNvPr id="8" name="Text 6"/>
          <p:cNvSpPr txBox="1"/>
          <p:nvPr/>
        </p:nvSpPr>
        <p:spPr>
          <a:xfrm>
            <a:off x="5618513" y="2167128"/>
            <a:ext cx="1005840" cy="237744"/>
          </a:xfrm>
          <a:prstGeom prst="rect">
            <a:avLst/>
          </a:prstGeom>
          <a:noFill/>
          <a:ln/>
        </p:spPr>
        <p:txBody>
          <a:bodyPr wrap="square" lIns="0" tIns="0" rIns="0" bIns="0" rtlCol="0" anchor="ctr"/>
          <a:lstStyle/>
          <a:p>
            <a:pPr algn="r" indent="0" marL="0">
              <a:buNone/>
            </a:pPr>
            <a:r>
              <a:rPr lang="en-US" sz="1250" b="1" dirty="0">
                <a:solidFill>
                  <a:srgbClr val="125C60"/>
                </a:solidFill>
                <a:latin typeface="Proxima Nova" pitchFamily="34" charset="0"/>
                <a:ea typeface="Proxima Nova" pitchFamily="34" charset="-122"/>
                <a:cs typeface="Proxima Nova" pitchFamily="34" charset="-120"/>
              </a:rPr>
              <a:t>$87.58</a:t>
            </a:r>
            <a:endParaRPr lang="en-US" sz="1250" dirty="0"/>
          </a:p>
        </p:txBody>
      </p:sp>
      <p:sp>
        <p:nvSpPr>
          <p:cNvPr id="9" name="Shape 7"/>
          <p:cNvSpPr/>
          <p:nvPr/>
        </p:nvSpPr>
        <p:spPr>
          <a:xfrm>
            <a:off x="685800" y="2441448"/>
            <a:ext cx="2019108" cy="64008"/>
          </a:xfrm>
          <a:prstGeom prst="rect">
            <a:avLst/>
          </a:prstGeom>
          <a:solidFill>
            <a:srgbClr val="43A3A3"/>
          </a:solidFill>
          <a:ln w="12700">
            <a:solidFill>
              <a:srgbClr val="43A3A3"/>
            </a:solidFill>
            <a:prstDash val="solid"/>
          </a:ln>
        </p:spPr>
      </p:sp>
      <p:sp>
        <p:nvSpPr>
          <p:cNvPr id="10" name="Text 8"/>
          <p:cNvSpPr txBox="1"/>
          <p:nvPr/>
        </p:nvSpPr>
        <p:spPr>
          <a:xfrm>
            <a:off x="685800" y="2514600"/>
            <a:ext cx="5938553" cy="182880"/>
          </a:xfrm>
          <a:prstGeom prst="rect">
            <a:avLst/>
          </a:prstGeom>
          <a:noFill/>
          <a:ln/>
        </p:spPr>
        <p:txBody>
          <a:bodyPr wrap="square" lIns="0" tIns="0" rIns="0" bIns="0" rtlCol="0" anchor="ctr"/>
          <a:lstStyle/>
          <a:p>
            <a:pPr indent="0" marL="0">
              <a:buNone/>
            </a:pPr>
            <a:r>
              <a:rPr lang="en-US" sz="750" dirty="0">
                <a:solidFill>
                  <a:srgbClr val="231F20"/>
                </a:solidFill>
                <a:latin typeface="Proxima Nova" pitchFamily="34" charset="0"/>
                <a:ea typeface="Proxima Nova" pitchFamily="34" charset="-122"/>
                <a:cs typeface="Proxima Nova" pitchFamily="34" charset="-120"/>
              </a:rPr>
              <a:t>$2,321M ÷ 26.5M visitors · 34% of spending</a:t>
            </a:r>
            <a:endParaRPr lang="en-US" sz="750" dirty="0"/>
          </a:p>
        </p:txBody>
      </p:sp>
      <p:sp>
        <p:nvSpPr>
          <p:cNvPr id="11" name="Text 9"/>
          <p:cNvSpPr txBox="1"/>
          <p:nvPr/>
        </p:nvSpPr>
        <p:spPr>
          <a:xfrm>
            <a:off x="685800" y="2715768"/>
            <a:ext cx="4932713" cy="237744"/>
          </a:xfrm>
          <a:prstGeom prst="rect">
            <a:avLst/>
          </a:prstGeom>
          <a:noFill/>
          <a:ln/>
        </p:spPr>
        <p:txBody>
          <a:bodyPr wrap="square" lIns="0" tIns="0" rIns="0" bIns="0" rtlCol="0" anchor="ctr"/>
          <a:lstStyle/>
          <a:p>
            <a:pPr indent="0" marL="0">
              <a:buNone/>
            </a:pPr>
            <a:r>
              <a:rPr lang="en-US" sz="1100" b="1" dirty="0">
                <a:solidFill>
                  <a:srgbClr val="231F20"/>
                </a:solidFill>
                <a:latin typeface="Proxima Nova" pitchFamily="34" charset="0"/>
                <a:ea typeface="Proxima Nova" pitchFamily="34" charset="-122"/>
                <a:cs typeface="Proxima Nova" pitchFamily="34" charset="-120"/>
              </a:rPr>
              <a:t>Lodging</a:t>
            </a:r>
            <a:endParaRPr lang="en-US" sz="1100" dirty="0"/>
          </a:p>
        </p:txBody>
      </p:sp>
      <p:sp>
        <p:nvSpPr>
          <p:cNvPr id="12" name="Text 10"/>
          <p:cNvSpPr txBox="1"/>
          <p:nvPr/>
        </p:nvSpPr>
        <p:spPr>
          <a:xfrm>
            <a:off x="5618513" y="2715768"/>
            <a:ext cx="1005840" cy="237744"/>
          </a:xfrm>
          <a:prstGeom prst="rect">
            <a:avLst/>
          </a:prstGeom>
          <a:noFill/>
          <a:ln/>
        </p:spPr>
        <p:txBody>
          <a:bodyPr wrap="square" lIns="0" tIns="0" rIns="0" bIns="0" rtlCol="0" anchor="ctr"/>
          <a:lstStyle/>
          <a:p>
            <a:pPr algn="r" indent="0" marL="0">
              <a:buNone/>
            </a:pPr>
            <a:r>
              <a:rPr lang="en-US" sz="1250" b="1" dirty="0">
                <a:solidFill>
                  <a:srgbClr val="125C60"/>
                </a:solidFill>
                <a:latin typeface="Proxima Nova" pitchFamily="34" charset="0"/>
                <a:ea typeface="Proxima Nova" pitchFamily="34" charset="-122"/>
                <a:cs typeface="Proxima Nova" pitchFamily="34" charset="-120"/>
              </a:rPr>
              <a:t>$65.06</a:t>
            </a:r>
            <a:endParaRPr lang="en-US" sz="1250" dirty="0"/>
          </a:p>
        </p:txBody>
      </p:sp>
      <p:sp>
        <p:nvSpPr>
          <p:cNvPr id="13" name="Shape 11"/>
          <p:cNvSpPr/>
          <p:nvPr/>
        </p:nvSpPr>
        <p:spPr>
          <a:xfrm>
            <a:off x="685800" y="2990088"/>
            <a:ext cx="1496515" cy="64008"/>
          </a:xfrm>
          <a:prstGeom prst="rect">
            <a:avLst/>
          </a:prstGeom>
          <a:solidFill>
            <a:srgbClr val="43A3A3"/>
          </a:solidFill>
          <a:ln w="12700">
            <a:solidFill>
              <a:srgbClr val="43A3A3"/>
            </a:solidFill>
            <a:prstDash val="solid"/>
          </a:ln>
        </p:spPr>
      </p:sp>
      <p:sp>
        <p:nvSpPr>
          <p:cNvPr id="14" name="Text 12"/>
          <p:cNvSpPr txBox="1"/>
          <p:nvPr/>
        </p:nvSpPr>
        <p:spPr>
          <a:xfrm>
            <a:off x="685800" y="3063240"/>
            <a:ext cx="5938553" cy="182880"/>
          </a:xfrm>
          <a:prstGeom prst="rect">
            <a:avLst/>
          </a:prstGeom>
          <a:noFill/>
          <a:ln/>
        </p:spPr>
        <p:txBody>
          <a:bodyPr wrap="square" lIns="0" tIns="0" rIns="0" bIns="0" rtlCol="0" anchor="ctr"/>
          <a:lstStyle/>
          <a:p>
            <a:pPr indent="0" marL="0">
              <a:buNone/>
            </a:pPr>
            <a:r>
              <a:rPr lang="en-US" sz="750" dirty="0">
                <a:solidFill>
                  <a:srgbClr val="231F20"/>
                </a:solidFill>
                <a:latin typeface="Proxima Nova" pitchFamily="34" charset="0"/>
                <a:ea typeface="Proxima Nova" pitchFamily="34" charset="-122"/>
                <a:cs typeface="Proxima Nova" pitchFamily="34" charset="-120"/>
              </a:rPr>
              <a:t>$1,724M ÷ 26.5M visitors · 25.2% of spending</a:t>
            </a:r>
            <a:endParaRPr lang="en-US" sz="750" dirty="0"/>
          </a:p>
        </p:txBody>
      </p:sp>
      <p:sp>
        <p:nvSpPr>
          <p:cNvPr id="15" name="Text 13"/>
          <p:cNvSpPr txBox="1"/>
          <p:nvPr/>
        </p:nvSpPr>
        <p:spPr>
          <a:xfrm>
            <a:off x="685800" y="3264408"/>
            <a:ext cx="4932713" cy="237744"/>
          </a:xfrm>
          <a:prstGeom prst="rect">
            <a:avLst/>
          </a:prstGeom>
          <a:noFill/>
          <a:ln/>
        </p:spPr>
        <p:txBody>
          <a:bodyPr wrap="square" lIns="0" tIns="0" rIns="0" bIns="0" rtlCol="0" anchor="ctr"/>
          <a:lstStyle/>
          <a:p>
            <a:pPr indent="0" marL="0">
              <a:buNone/>
            </a:pPr>
            <a:r>
              <a:rPr lang="en-US" sz="1100" b="1" dirty="0">
                <a:solidFill>
                  <a:srgbClr val="231F20"/>
                </a:solidFill>
                <a:latin typeface="Proxima Nova" pitchFamily="34" charset="0"/>
                <a:ea typeface="Proxima Nova" pitchFamily="34" charset="-122"/>
                <a:cs typeface="Proxima Nova" pitchFamily="34" charset="-120"/>
              </a:rPr>
              <a:t>Retail</a:t>
            </a:r>
            <a:endParaRPr lang="en-US" sz="1100" dirty="0"/>
          </a:p>
        </p:txBody>
      </p:sp>
      <p:sp>
        <p:nvSpPr>
          <p:cNvPr id="16" name="Text 14"/>
          <p:cNvSpPr txBox="1"/>
          <p:nvPr/>
        </p:nvSpPr>
        <p:spPr>
          <a:xfrm>
            <a:off x="5618513" y="3264408"/>
            <a:ext cx="1005840" cy="237744"/>
          </a:xfrm>
          <a:prstGeom prst="rect">
            <a:avLst/>
          </a:prstGeom>
          <a:noFill/>
          <a:ln/>
        </p:spPr>
        <p:txBody>
          <a:bodyPr wrap="square" lIns="0" tIns="0" rIns="0" bIns="0" rtlCol="0" anchor="ctr"/>
          <a:lstStyle/>
          <a:p>
            <a:pPr algn="r" indent="0" marL="0">
              <a:buNone/>
            </a:pPr>
            <a:r>
              <a:rPr lang="en-US" sz="1250" b="1" dirty="0">
                <a:solidFill>
                  <a:srgbClr val="125C60"/>
                </a:solidFill>
                <a:latin typeface="Proxima Nova" pitchFamily="34" charset="0"/>
                <a:ea typeface="Proxima Nova" pitchFamily="34" charset="-122"/>
                <a:cs typeface="Proxima Nova" pitchFamily="34" charset="-120"/>
              </a:rPr>
              <a:t>$56.42</a:t>
            </a:r>
            <a:endParaRPr lang="en-US" sz="1250" dirty="0"/>
          </a:p>
        </p:txBody>
      </p:sp>
      <p:sp>
        <p:nvSpPr>
          <p:cNvPr id="17" name="Shape 15"/>
          <p:cNvSpPr/>
          <p:nvPr/>
        </p:nvSpPr>
        <p:spPr>
          <a:xfrm>
            <a:off x="685800" y="3538728"/>
            <a:ext cx="1300543" cy="64008"/>
          </a:xfrm>
          <a:prstGeom prst="rect">
            <a:avLst/>
          </a:prstGeom>
          <a:solidFill>
            <a:srgbClr val="43A3A3"/>
          </a:solidFill>
          <a:ln w="12700">
            <a:solidFill>
              <a:srgbClr val="43A3A3"/>
            </a:solidFill>
            <a:prstDash val="solid"/>
          </a:ln>
        </p:spPr>
      </p:sp>
      <p:sp>
        <p:nvSpPr>
          <p:cNvPr id="18" name="Text 16"/>
          <p:cNvSpPr txBox="1"/>
          <p:nvPr/>
        </p:nvSpPr>
        <p:spPr>
          <a:xfrm>
            <a:off x="685800" y="3611880"/>
            <a:ext cx="5938553" cy="182880"/>
          </a:xfrm>
          <a:prstGeom prst="rect">
            <a:avLst/>
          </a:prstGeom>
          <a:noFill/>
          <a:ln/>
        </p:spPr>
        <p:txBody>
          <a:bodyPr wrap="square" lIns="0" tIns="0" rIns="0" bIns="0" rtlCol="0" anchor="ctr"/>
          <a:lstStyle/>
          <a:p>
            <a:pPr indent="0" marL="0">
              <a:buNone/>
            </a:pPr>
            <a:r>
              <a:rPr lang="en-US" sz="750" dirty="0">
                <a:solidFill>
                  <a:srgbClr val="231F20"/>
                </a:solidFill>
                <a:latin typeface="Proxima Nova" pitchFamily="34" charset="0"/>
                <a:ea typeface="Proxima Nova" pitchFamily="34" charset="-122"/>
                <a:cs typeface="Proxima Nova" pitchFamily="34" charset="-120"/>
              </a:rPr>
              <a:t>$1,495M ÷ 26.5M visitors · 21.9% of spending</a:t>
            </a:r>
            <a:endParaRPr lang="en-US" sz="750" dirty="0"/>
          </a:p>
        </p:txBody>
      </p:sp>
      <p:sp>
        <p:nvSpPr>
          <p:cNvPr id="19" name="Text 17"/>
          <p:cNvSpPr txBox="1"/>
          <p:nvPr/>
        </p:nvSpPr>
        <p:spPr>
          <a:xfrm>
            <a:off x="685800" y="3813048"/>
            <a:ext cx="4932713" cy="237744"/>
          </a:xfrm>
          <a:prstGeom prst="rect">
            <a:avLst/>
          </a:prstGeom>
          <a:noFill/>
          <a:ln/>
        </p:spPr>
        <p:txBody>
          <a:bodyPr wrap="square" lIns="0" tIns="0" rIns="0" bIns="0" rtlCol="0" anchor="ctr"/>
          <a:lstStyle/>
          <a:p>
            <a:pPr indent="0" marL="0">
              <a:buNone/>
            </a:pPr>
            <a:r>
              <a:rPr lang="en-US" sz="1100" b="1" dirty="0">
                <a:solidFill>
                  <a:srgbClr val="231F20"/>
                </a:solidFill>
                <a:latin typeface="Proxima Nova" pitchFamily="34" charset="0"/>
                <a:ea typeface="Proxima Nova" pitchFamily="34" charset="-122"/>
                <a:cs typeface="Proxima Nova" pitchFamily="34" charset="-120"/>
              </a:rPr>
              <a:t>Food and beverage</a:t>
            </a:r>
            <a:endParaRPr lang="en-US" sz="1100" dirty="0"/>
          </a:p>
        </p:txBody>
      </p:sp>
      <p:sp>
        <p:nvSpPr>
          <p:cNvPr id="20" name="Text 18"/>
          <p:cNvSpPr txBox="1"/>
          <p:nvPr/>
        </p:nvSpPr>
        <p:spPr>
          <a:xfrm>
            <a:off x="5618513" y="3813048"/>
            <a:ext cx="1005840" cy="237744"/>
          </a:xfrm>
          <a:prstGeom prst="rect">
            <a:avLst/>
          </a:prstGeom>
          <a:noFill/>
          <a:ln/>
        </p:spPr>
        <p:txBody>
          <a:bodyPr wrap="square" lIns="0" tIns="0" rIns="0" bIns="0" rtlCol="0" anchor="ctr"/>
          <a:lstStyle/>
          <a:p>
            <a:pPr algn="r" indent="0" marL="0">
              <a:buNone/>
            </a:pPr>
            <a:r>
              <a:rPr lang="en-US" sz="1250" b="1" dirty="0">
                <a:solidFill>
                  <a:srgbClr val="125C60"/>
                </a:solidFill>
                <a:latin typeface="Proxima Nova" pitchFamily="34" charset="0"/>
                <a:ea typeface="Proxima Nova" pitchFamily="34" charset="-122"/>
                <a:cs typeface="Proxima Nova" pitchFamily="34" charset="-120"/>
              </a:rPr>
              <a:t>$40.26</a:t>
            </a:r>
            <a:endParaRPr lang="en-US" sz="1250" dirty="0"/>
          </a:p>
        </p:txBody>
      </p:sp>
      <p:sp>
        <p:nvSpPr>
          <p:cNvPr id="21" name="Shape 19"/>
          <p:cNvSpPr/>
          <p:nvPr/>
        </p:nvSpPr>
        <p:spPr>
          <a:xfrm>
            <a:off x="685800" y="4087368"/>
            <a:ext cx="926414" cy="64008"/>
          </a:xfrm>
          <a:prstGeom prst="rect">
            <a:avLst/>
          </a:prstGeom>
          <a:solidFill>
            <a:srgbClr val="43A3A3"/>
          </a:solidFill>
          <a:ln w="12700">
            <a:solidFill>
              <a:srgbClr val="43A3A3"/>
            </a:solidFill>
            <a:prstDash val="solid"/>
          </a:ln>
        </p:spPr>
      </p:sp>
      <p:sp>
        <p:nvSpPr>
          <p:cNvPr id="22" name="Text 20"/>
          <p:cNvSpPr txBox="1"/>
          <p:nvPr/>
        </p:nvSpPr>
        <p:spPr>
          <a:xfrm>
            <a:off x="685800" y="4160520"/>
            <a:ext cx="5938553" cy="182880"/>
          </a:xfrm>
          <a:prstGeom prst="rect">
            <a:avLst/>
          </a:prstGeom>
          <a:noFill/>
          <a:ln/>
        </p:spPr>
        <p:txBody>
          <a:bodyPr wrap="square" lIns="0" tIns="0" rIns="0" bIns="0" rtlCol="0" anchor="ctr"/>
          <a:lstStyle/>
          <a:p>
            <a:pPr indent="0" marL="0">
              <a:buNone/>
            </a:pPr>
            <a:r>
              <a:rPr lang="en-US" sz="750" dirty="0">
                <a:solidFill>
                  <a:srgbClr val="231F20"/>
                </a:solidFill>
                <a:latin typeface="Proxima Nova" pitchFamily="34" charset="0"/>
                <a:ea typeface="Proxima Nova" pitchFamily="34" charset="-122"/>
                <a:cs typeface="Proxima Nova" pitchFamily="34" charset="-120"/>
              </a:rPr>
              <a:t>$1,067M ÷ 26.5M visitors · 15.6% of spending</a:t>
            </a:r>
            <a:endParaRPr lang="en-US" sz="750" dirty="0"/>
          </a:p>
        </p:txBody>
      </p:sp>
      <p:sp>
        <p:nvSpPr>
          <p:cNvPr id="23" name="Text 21"/>
          <p:cNvSpPr txBox="1"/>
          <p:nvPr/>
        </p:nvSpPr>
        <p:spPr>
          <a:xfrm>
            <a:off x="685800" y="4361688"/>
            <a:ext cx="4932713" cy="237744"/>
          </a:xfrm>
          <a:prstGeom prst="rect">
            <a:avLst/>
          </a:prstGeom>
          <a:noFill/>
          <a:ln/>
        </p:spPr>
        <p:txBody>
          <a:bodyPr wrap="square" lIns="0" tIns="0" rIns="0" bIns="0" rtlCol="0" anchor="ctr"/>
          <a:lstStyle/>
          <a:p>
            <a:pPr indent="0" marL="0">
              <a:buNone/>
            </a:pPr>
            <a:r>
              <a:rPr lang="en-US" sz="1100" b="1" dirty="0">
                <a:solidFill>
                  <a:srgbClr val="231F20"/>
                </a:solidFill>
                <a:latin typeface="Proxima Nova" pitchFamily="34" charset="0"/>
                <a:ea typeface="Proxima Nova" pitchFamily="34" charset="-122"/>
                <a:cs typeface="Proxima Nova" pitchFamily="34" charset="-120"/>
              </a:rPr>
              <a:t>Transportation</a:t>
            </a:r>
            <a:endParaRPr lang="en-US" sz="1100" dirty="0"/>
          </a:p>
        </p:txBody>
      </p:sp>
      <p:sp>
        <p:nvSpPr>
          <p:cNvPr id="24" name="Text 22"/>
          <p:cNvSpPr txBox="1"/>
          <p:nvPr/>
        </p:nvSpPr>
        <p:spPr>
          <a:xfrm>
            <a:off x="5618513" y="4361688"/>
            <a:ext cx="1005840" cy="237744"/>
          </a:xfrm>
          <a:prstGeom prst="rect">
            <a:avLst/>
          </a:prstGeom>
          <a:noFill/>
          <a:ln/>
        </p:spPr>
        <p:txBody>
          <a:bodyPr wrap="square" lIns="0" tIns="0" rIns="0" bIns="0" rtlCol="0" anchor="ctr"/>
          <a:lstStyle/>
          <a:p>
            <a:pPr algn="r" indent="0" marL="0">
              <a:buNone/>
            </a:pPr>
            <a:r>
              <a:rPr lang="en-US" sz="1250" b="1" dirty="0">
                <a:solidFill>
                  <a:srgbClr val="125C60"/>
                </a:solidFill>
                <a:latin typeface="Proxima Nova" pitchFamily="34" charset="0"/>
                <a:ea typeface="Proxima Nova" pitchFamily="34" charset="-122"/>
                <a:cs typeface="Proxima Nova" pitchFamily="34" charset="-120"/>
              </a:rPr>
              <a:t>$8.45</a:t>
            </a:r>
            <a:endParaRPr lang="en-US" sz="1250" dirty="0"/>
          </a:p>
        </p:txBody>
      </p:sp>
      <p:sp>
        <p:nvSpPr>
          <p:cNvPr id="25" name="Shape 23"/>
          <p:cNvSpPr/>
          <p:nvPr/>
        </p:nvSpPr>
        <p:spPr>
          <a:xfrm>
            <a:off x="685800" y="4636008"/>
            <a:ext cx="195972" cy="64008"/>
          </a:xfrm>
          <a:prstGeom prst="rect">
            <a:avLst/>
          </a:prstGeom>
          <a:solidFill>
            <a:srgbClr val="43A3A3"/>
          </a:solidFill>
          <a:ln w="12700">
            <a:solidFill>
              <a:srgbClr val="43A3A3"/>
            </a:solidFill>
            <a:prstDash val="solid"/>
          </a:ln>
        </p:spPr>
      </p:sp>
      <p:sp>
        <p:nvSpPr>
          <p:cNvPr id="26" name="Text 24"/>
          <p:cNvSpPr txBox="1"/>
          <p:nvPr/>
        </p:nvSpPr>
        <p:spPr>
          <a:xfrm>
            <a:off x="685800" y="4709160"/>
            <a:ext cx="5938553" cy="182880"/>
          </a:xfrm>
          <a:prstGeom prst="rect">
            <a:avLst/>
          </a:prstGeom>
          <a:noFill/>
          <a:ln/>
        </p:spPr>
        <p:txBody>
          <a:bodyPr wrap="square" lIns="0" tIns="0" rIns="0" bIns="0" rtlCol="0" anchor="ctr"/>
          <a:lstStyle/>
          <a:p>
            <a:pPr indent="0" marL="0">
              <a:buNone/>
            </a:pPr>
            <a:r>
              <a:rPr lang="en-US" sz="750" dirty="0">
                <a:solidFill>
                  <a:srgbClr val="231F20"/>
                </a:solidFill>
                <a:latin typeface="Proxima Nova" pitchFamily="34" charset="0"/>
                <a:ea typeface="Proxima Nova" pitchFamily="34" charset="-122"/>
                <a:cs typeface="Proxima Nova" pitchFamily="34" charset="-120"/>
              </a:rPr>
              <a:t>$224M ÷ 26.5M visitors · 3.3% of spending</a:t>
            </a:r>
            <a:endParaRPr lang="en-US" sz="750" dirty="0"/>
          </a:p>
        </p:txBody>
      </p:sp>
      <p:sp>
        <p:nvSpPr>
          <p:cNvPr id="27" name="Shape 25"/>
          <p:cNvSpPr/>
          <p:nvPr/>
        </p:nvSpPr>
        <p:spPr>
          <a:xfrm>
            <a:off x="685800" y="4910328"/>
            <a:ext cx="5938553" cy="0"/>
          </a:xfrm>
          <a:prstGeom prst="line">
            <a:avLst/>
          </a:prstGeom>
          <a:noFill/>
          <a:ln w="19050">
            <a:solidFill>
              <a:srgbClr val="231F20"/>
            </a:solidFill>
            <a:prstDash val="solid"/>
          </a:ln>
        </p:spPr>
      </p:sp>
      <p:sp>
        <p:nvSpPr>
          <p:cNvPr id="28" name="Text 26"/>
          <p:cNvSpPr txBox="1"/>
          <p:nvPr/>
        </p:nvSpPr>
        <p:spPr>
          <a:xfrm>
            <a:off x="685800" y="4983480"/>
            <a:ext cx="4749833" cy="274320"/>
          </a:xfrm>
          <a:prstGeom prst="rect">
            <a:avLst/>
          </a:prstGeom>
          <a:noFill/>
          <a:ln/>
        </p:spPr>
        <p:txBody>
          <a:bodyPr wrap="square" lIns="0" tIns="0" rIns="0" bIns="0" rtlCol="0" anchor="ctr"/>
          <a:lstStyle/>
          <a:p>
            <a:pPr indent="0" marL="0">
              <a:buNone/>
            </a:pPr>
            <a:r>
              <a:rPr lang="en-US" sz="1100" b="1" dirty="0">
                <a:solidFill>
                  <a:srgbClr val="231F20"/>
                </a:solidFill>
                <a:latin typeface="Proxima Nova" pitchFamily="34" charset="0"/>
                <a:ea typeface="Proxima Nova" pitchFamily="34" charset="-122"/>
                <a:cs typeface="Proxima Nova" pitchFamily="34" charset="-120"/>
              </a:rPr>
              <a:t>TOTAL PER VISITOR</a:t>
            </a:r>
            <a:endParaRPr lang="en-US" sz="1100" dirty="0"/>
          </a:p>
        </p:txBody>
      </p:sp>
      <p:sp>
        <p:nvSpPr>
          <p:cNvPr id="29" name="Text 27"/>
          <p:cNvSpPr txBox="1"/>
          <p:nvPr/>
        </p:nvSpPr>
        <p:spPr>
          <a:xfrm>
            <a:off x="5435633" y="4956048"/>
            <a:ext cx="1188720" cy="329184"/>
          </a:xfrm>
          <a:prstGeom prst="rect">
            <a:avLst/>
          </a:prstGeom>
          <a:noFill/>
          <a:ln/>
        </p:spPr>
        <p:txBody>
          <a:bodyPr wrap="square" lIns="0" tIns="0" rIns="0" bIns="0" rtlCol="0" anchor="ctr"/>
          <a:lstStyle/>
          <a:p>
            <a:pPr algn="r" indent="0" marL="0">
              <a:buNone/>
            </a:pPr>
            <a:r>
              <a:rPr lang="en-US" sz="1800" b="1" i="1" dirty="0">
                <a:solidFill>
                  <a:srgbClr val="125C60"/>
                </a:solidFill>
                <a:latin typeface="Proxima Nova" pitchFamily="34" charset="0"/>
                <a:ea typeface="Proxima Nova" pitchFamily="34" charset="-122"/>
                <a:cs typeface="Proxima Nova" pitchFamily="34" charset="-120"/>
              </a:rPr>
              <a:t>$257.77</a:t>
            </a:r>
            <a:endParaRPr lang="en-US" sz="1800" dirty="0"/>
          </a:p>
        </p:txBody>
      </p:sp>
      <p:sp>
        <p:nvSpPr>
          <p:cNvPr id="30" name="Text 28"/>
          <p:cNvSpPr txBox="1"/>
          <p:nvPr/>
        </p:nvSpPr>
        <p:spPr>
          <a:xfrm>
            <a:off x="685800" y="5294376"/>
            <a:ext cx="5938553" cy="274320"/>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$6,831M ÷ 26.5M; Tourism Economics' $6.832B total gives $258 (rounding)</a:t>
            </a:r>
            <a:endParaRPr lang="en-US" sz="750" dirty="0"/>
          </a:p>
        </p:txBody>
      </p:sp>
      <p:sp>
        <p:nvSpPr>
          <p:cNvPr id="31" name="Text 29"/>
          <p:cNvSpPr txBox="1"/>
          <p:nvPr/>
        </p:nvSpPr>
        <p:spPr>
          <a:xfrm>
            <a:off x="7127273" y="2075688"/>
            <a:ext cx="4515783" cy="274320"/>
          </a:xfrm>
          <a:prstGeom prst="rect">
            <a:avLst/>
          </a:prstGeom>
          <a:noFill/>
          <a:ln/>
        </p:spPr>
        <p:txBody>
          <a:bodyPr wrap="square" lIns="0" tIns="0" rIns="0" bIns="0" rtlCol="0" anchor="ct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Every $1 of visitor spending</a:t>
            </a:r>
            <a:endParaRPr lang="en-US" sz="1200" dirty="0"/>
          </a:p>
        </p:txBody>
      </p:sp>
      <p:sp>
        <p:nvSpPr>
          <p:cNvPr id="32" name="Shape 30"/>
          <p:cNvSpPr/>
          <p:nvPr/>
        </p:nvSpPr>
        <p:spPr>
          <a:xfrm>
            <a:off x="7127273" y="2441448"/>
            <a:ext cx="1535366" cy="411480"/>
          </a:xfrm>
          <a:prstGeom prst="rect">
            <a:avLst/>
          </a:prstGeom>
          <a:solidFill>
            <a:srgbClr val="125C60"/>
          </a:solidFill>
          <a:ln w="6350">
            <a:solidFill>
              <a:srgbClr val="FFFFFF"/>
            </a:solidFill>
            <a:prstDash val="solid"/>
          </a:ln>
        </p:spPr>
      </p:sp>
      <p:sp>
        <p:nvSpPr>
          <p:cNvPr id="33" name="Shape 31"/>
          <p:cNvSpPr/>
          <p:nvPr/>
        </p:nvSpPr>
        <p:spPr>
          <a:xfrm>
            <a:off x="8662639" y="2441448"/>
            <a:ext cx="1137977" cy="411480"/>
          </a:xfrm>
          <a:prstGeom prst="rect">
            <a:avLst/>
          </a:prstGeom>
          <a:solidFill>
            <a:srgbClr val="43A3A3"/>
          </a:solidFill>
          <a:ln w="6350">
            <a:solidFill>
              <a:srgbClr val="FFFFFF"/>
            </a:solidFill>
            <a:prstDash val="solid"/>
          </a:ln>
        </p:spPr>
      </p:sp>
      <p:sp>
        <p:nvSpPr>
          <p:cNvPr id="34" name="Shape 32"/>
          <p:cNvSpPr/>
          <p:nvPr/>
        </p:nvSpPr>
        <p:spPr>
          <a:xfrm>
            <a:off x="9800616" y="2441448"/>
            <a:ext cx="988956" cy="411480"/>
          </a:xfrm>
          <a:prstGeom prst="rect">
            <a:avLst/>
          </a:prstGeom>
          <a:solidFill>
            <a:srgbClr val="77C7C9"/>
          </a:solidFill>
          <a:ln w="6350">
            <a:solidFill>
              <a:srgbClr val="FFFFFF"/>
            </a:solidFill>
            <a:prstDash val="solid"/>
          </a:ln>
        </p:spPr>
      </p:sp>
      <p:sp>
        <p:nvSpPr>
          <p:cNvPr id="35" name="Shape 33"/>
          <p:cNvSpPr/>
          <p:nvPr/>
        </p:nvSpPr>
        <p:spPr>
          <a:xfrm>
            <a:off x="10789572" y="2441448"/>
            <a:ext cx="704462" cy="411480"/>
          </a:xfrm>
          <a:prstGeom prst="rect">
            <a:avLst/>
          </a:prstGeom>
          <a:solidFill>
            <a:srgbClr val="B4D9E3"/>
          </a:solidFill>
          <a:ln w="6350">
            <a:solidFill>
              <a:srgbClr val="FFFFFF"/>
            </a:solidFill>
            <a:prstDash val="solid"/>
          </a:ln>
        </p:spPr>
      </p:sp>
      <p:sp>
        <p:nvSpPr>
          <p:cNvPr id="36" name="Shape 34"/>
          <p:cNvSpPr/>
          <p:nvPr/>
        </p:nvSpPr>
        <p:spPr>
          <a:xfrm>
            <a:off x="11494034" y="2441448"/>
            <a:ext cx="149021" cy="411480"/>
          </a:xfrm>
          <a:prstGeom prst="rect">
            <a:avLst/>
          </a:prstGeom>
          <a:solidFill>
            <a:srgbClr val="C9C6B8"/>
          </a:solidFill>
          <a:ln w="6350">
            <a:solidFill>
              <a:srgbClr val="FFFFFF"/>
            </a:solidFill>
            <a:prstDash val="solid"/>
          </a:ln>
        </p:spPr>
      </p:sp>
      <p:sp>
        <p:nvSpPr>
          <p:cNvPr id="37" name="Shape 35"/>
          <p:cNvSpPr/>
          <p:nvPr/>
        </p:nvSpPr>
        <p:spPr>
          <a:xfrm>
            <a:off x="7127273" y="3108960"/>
            <a:ext cx="146304" cy="146304"/>
          </a:xfrm>
          <a:prstGeom prst="rect">
            <a:avLst/>
          </a:prstGeom>
          <a:solidFill>
            <a:srgbClr val="125C60"/>
          </a:solidFill>
          <a:ln w="12700">
            <a:solidFill>
              <a:srgbClr val="125C60"/>
            </a:solidFill>
            <a:prstDash val="solid"/>
          </a:ln>
        </p:spPr>
      </p:sp>
      <p:sp>
        <p:nvSpPr>
          <p:cNvPr id="38" name="Text 36"/>
          <p:cNvSpPr txBox="1"/>
          <p:nvPr/>
        </p:nvSpPr>
        <p:spPr>
          <a:xfrm>
            <a:off x="7355873" y="3035808"/>
            <a:ext cx="4287183" cy="310896"/>
          </a:xfrm>
          <a:prstGeom prst="rect">
            <a:avLst/>
          </a:prstGeom>
          <a:noFill/>
          <a:ln/>
        </p:spPr>
        <p:txBody>
          <a:bodyPr wrap="square" lIns="0" tIns="0" rIns="0" bIns="0" rtlCol="0" anchor="ctr"/>
          <a:lstStyle/>
          <a:p>
            <a:pPr indent="0" marL="0">
              <a:buNone/>
            </a:pPr>
            <a:r>
              <a:rPr lang="en-US" sz="1400" b="1" i="1" dirty="0">
                <a:solidFill>
                  <a:srgbClr val="125C60"/>
                </a:solidFill>
                <a:latin typeface="Proxima Nova" pitchFamily="34" charset="0"/>
                <a:ea typeface="Proxima Nova" pitchFamily="34" charset="-122"/>
                <a:cs typeface="Proxima Nova" pitchFamily="34" charset="-120"/>
              </a:rPr>
              <a:t>34¢  </a:t>
            </a:r>
            <a:pPr indent="0" marL="0">
              <a:buNone/>
            </a:pPr>
            <a:r>
              <a:rPr lang="en-US" sz="1050" dirty="0">
                <a:solidFill>
                  <a:srgbClr val="231F20"/>
                </a:solidFill>
                <a:latin typeface="Proxima Nova" pitchFamily="34" charset="0"/>
                <a:ea typeface="Proxima Nova" pitchFamily="34" charset="-122"/>
                <a:cs typeface="Proxima Nova" pitchFamily="34" charset="-120"/>
              </a:rPr>
              <a:t>Recreation and entertainment (34%)</a:t>
            </a:r>
            <a:endParaRPr lang="en-US" sz="1400" dirty="0"/>
          </a:p>
        </p:txBody>
      </p:sp>
      <p:sp>
        <p:nvSpPr>
          <p:cNvPr id="39" name="Shape 37"/>
          <p:cNvSpPr/>
          <p:nvPr/>
        </p:nvSpPr>
        <p:spPr>
          <a:xfrm>
            <a:off x="7127273" y="3493008"/>
            <a:ext cx="146304" cy="146304"/>
          </a:xfrm>
          <a:prstGeom prst="rect">
            <a:avLst/>
          </a:prstGeom>
          <a:solidFill>
            <a:srgbClr val="43A3A3"/>
          </a:solidFill>
          <a:ln w="12700">
            <a:solidFill>
              <a:srgbClr val="43A3A3"/>
            </a:solidFill>
            <a:prstDash val="solid"/>
          </a:ln>
        </p:spPr>
      </p:sp>
      <p:sp>
        <p:nvSpPr>
          <p:cNvPr id="40" name="Text 38"/>
          <p:cNvSpPr txBox="1"/>
          <p:nvPr/>
        </p:nvSpPr>
        <p:spPr>
          <a:xfrm>
            <a:off x="7355873" y="3419856"/>
            <a:ext cx="4287183" cy="310896"/>
          </a:xfrm>
          <a:prstGeom prst="rect">
            <a:avLst/>
          </a:prstGeom>
          <a:noFill/>
          <a:ln/>
        </p:spPr>
        <p:txBody>
          <a:bodyPr wrap="square" lIns="0" tIns="0" rIns="0" bIns="0" rtlCol="0" anchor="ctr"/>
          <a:lstStyle/>
          <a:p>
            <a:pPr indent="0" marL="0">
              <a:buNone/>
            </a:pPr>
            <a:r>
              <a:rPr lang="en-US" sz="1400" b="1" i="1" dirty="0">
                <a:solidFill>
                  <a:srgbClr val="125C60"/>
                </a:solidFill>
                <a:latin typeface="Proxima Nova" pitchFamily="34" charset="0"/>
                <a:ea typeface="Proxima Nova" pitchFamily="34" charset="-122"/>
                <a:cs typeface="Proxima Nova" pitchFamily="34" charset="-120"/>
              </a:rPr>
              <a:t>25¢  </a:t>
            </a:r>
            <a:pPr indent="0" marL="0">
              <a:buNone/>
            </a:pPr>
            <a:r>
              <a:rPr lang="en-US" sz="1050" dirty="0">
                <a:solidFill>
                  <a:srgbClr val="231F20"/>
                </a:solidFill>
                <a:latin typeface="Proxima Nova" pitchFamily="34" charset="0"/>
                <a:ea typeface="Proxima Nova" pitchFamily="34" charset="-122"/>
                <a:cs typeface="Proxima Nova" pitchFamily="34" charset="-120"/>
              </a:rPr>
              <a:t>Lodging (25.2%)</a:t>
            </a:r>
            <a:endParaRPr lang="en-US" sz="1400" dirty="0"/>
          </a:p>
        </p:txBody>
      </p:sp>
      <p:sp>
        <p:nvSpPr>
          <p:cNvPr id="41" name="Shape 39"/>
          <p:cNvSpPr/>
          <p:nvPr/>
        </p:nvSpPr>
        <p:spPr>
          <a:xfrm>
            <a:off x="7127273" y="3877056"/>
            <a:ext cx="146304" cy="146304"/>
          </a:xfrm>
          <a:prstGeom prst="rect">
            <a:avLst/>
          </a:prstGeom>
          <a:solidFill>
            <a:srgbClr val="77C7C9"/>
          </a:solidFill>
          <a:ln w="12700">
            <a:solidFill>
              <a:srgbClr val="77C7C9"/>
            </a:solidFill>
            <a:prstDash val="solid"/>
          </a:ln>
        </p:spPr>
      </p:sp>
      <p:sp>
        <p:nvSpPr>
          <p:cNvPr id="42" name="Text 40"/>
          <p:cNvSpPr txBox="1"/>
          <p:nvPr/>
        </p:nvSpPr>
        <p:spPr>
          <a:xfrm>
            <a:off x="7355873" y="3803904"/>
            <a:ext cx="4287183" cy="310896"/>
          </a:xfrm>
          <a:prstGeom prst="rect">
            <a:avLst/>
          </a:prstGeom>
          <a:noFill/>
          <a:ln/>
        </p:spPr>
        <p:txBody>
          <a:bodyPr wrap="square" lIns="0" tIns="0" rIns="0" bIns="0" rtlCol="0" anchor="ctr"/>
          <a:lstStyle/>
          <a:p>
            <a:pPr indent="0" marL="0">
              <a:buNone/>
            </a:pPr>
            <a:r>
              <a:rPr lang="en-US" sz="1400" b="1" i="1" dirty="0">
                <a:solidFill>
                  <a:srgbClr val="125C60"/>
                </a:solidFill>
                <a:latin typeface="Proxima Nova" pitchFamily="34" charset="0"/>
                <a:ea typeface="Proxima Nova" pitchFamily="34" charset="-122"/>
                <a:cs typeface="Proxima Nova" pitchFamily="34" charset="-120"/>
              </a:rPr>
              <a:t>22¢  </a:t>
            </a:r>
            <a:pPr indent="0" marL="0">
              <a:buNone/>
            </a:pPr>
            <a:r>
              <a:rPr lang="en-US" sz="1050" dirty="0">
                <a:solidFill>
                  <a:srgbClr val="231F20"/>
                </a:solidFill>
                <a:latin typeface="Proxima Nova" pitchFamily="34" charset="0"/>
                <a:ea typeface="Proxima Nova" pitchFamily="34" charset="-122"/>
                <a:cs typeface="Proxima Nova" pitchFamily="34" charset="-120"/>
              </a:rPr>
              <a:t>Retail (21.9%)</a:t>
            </a:r>
            <a:endParaRPr lang="en-US" sz="1400" dirty="0"/>
          </a:p>
        </p:txBody>
      </p:sp>
      <p:sp>
        <p:nvSpPr>
          <p:cNvPr id="43" name="Shape 41"/>
          <p:cNvSpPr/>
          <p:nvPr/>
        </p:nvSpPr>
        <p:spPr>
          <a:xfrm>
            <a:off x="7127273" y="4261104"/>
            <a:ext cx="146304" cy="146304"/>
          </a:xfrm>
          <a:prstGeom prst="rect">
            <a:avLst/>
          </a:prstGeom>
          <a:solidFill>
            <a:srgbClr val="B4D9E3"/>
          </a:solidFill>
          <a:ln w="12700">
            <a:solidFill>
              <a:srgbClr val="B4D9E3"/>
            </a:solidFill>
            <a:prstDash val="solid"/>
          </a:ln>
        </p:spPr>
      </p:sp>
      <p:sp>
        <p:nvSpPr>
          <p:cNvPr id="44" name="Text 42"/>
          <p:cNvSpPr txBox="1"/>
          <p:nvPr/>
        </p:nvSpPr>
        <p:spPr>
          <a:xfrm>
            <a:off x="7355873" y="4187952"/>
            <a:ext cx="4287183" cy="310896"/>
          </a:xfrm>
          <a:prstGeom prst="rect">
            <a:avLst/>
          </a:prstGeom>
          <a:noFill/>
          <a:ln/>
        </p:spPr>
        <p:txBody>
          <a:bodyPr wrap="square" lIns="0" tIns="0" rIns="0" bIns="0" rtlCol="0" anchor="ctr"/>
          <a:lstStyle/>
          <a:p>
            <a:pPr indent="0" marL="0">
              <a:buNone/>
            </a:pPr>
            <a:r>
              <a:rPr lang="en-US" sz="1400" b="1" i="1" dirty="0">
                <a:solidFill>
                  <a:srgbClr val="125C60"/>
                </a:solidFill>
                <a:latin typeface="Proxima Nova" pitchFamily="34" charset="0"/>
                <a:ea typeface="Proxima Nova" pitchFamily="34" charset="-122"/>
                <a:cs typeface="Proxima Nova" pitchFamily="34" charset="-120"/>
              </a:rPr>
              <a:t>16¢  </a:t>
            </a:r>
            <a:pPr indent="0" marL="0">
              <a:buNone/>
            </a:pPr>
            <a:r>
              <a:rPr lang="en-US" sz="1050" dirty="0">
                <a:solidFill>
                  <a:srgbClr val="231F20"/>
                </a:solidFill>
                <a:latin typeface="Proxima Nova" pitchFamily="34" charset="0"/>
                <a:ea typeface="Proxima Nova" pitchFamily="34" charset="-122"/>
                <a:cs typeface="Proxima Nova" pitchFamily="34" charset="-120"/>
              </a:rPr>
              <a:t>Food and beverage (15.6%)</a:t>
            </a:r>
            <a:endParaRPr lang="en-US" sz="1400" dirty="0"/>
          </a:p>
        </p:txBody>
      </p:sp>
      <p:sp>
        <p:nvSpPr>
          <p:cNvPr id="45" name="Shape 43"/>
          <p:cNvSpPr/>
          <p:nvPr/>
        </p:nvSpPr>
        <p:spPr>
          <a:xfrm>
            <a:off x="7127273" y="4645152"/>
            <a:ext cx="146304" cy="146304"/>
          </a:xfrm>
          <a:prstGeom prst="rect">
            <a:avLst/>
          </a:prstGeom>
          <a:solidFill>
            <a:srgbClr val="C9C6B8"/>
          </a:solidFill>
          <a:ln w="12700">
            <a:solidFill>
              <a:srgbClr val="C9C6B8"/>
            </a:solidFill>
            <a:prstDash val="solid"/>
          </a:ln>
        </p:spPr>
      </p:sp>
      <p:sp>
        <p:nvSpPr>
          <p:cNvPr id="46" name="Text 44"/>
          <p:cNvSpPr txBox="1"/>
          <p:nvPr/>
        </p:nvSpPr>
        <p:spPr>
          <a:xfrm>
            <a:off x="7355873" y="4572000"/>
            <a:ext cx="4287183" cy="310896"/>
          </a:xfrm>
          <a:prstGeom prst="rect">
            <a:avLst/>
          </a:prstGeom>
          <a:noFill/>
          <a:ln/>
        </p:spPr>
        <p:txBody>
          <a:bodyPr wrap="square" lIns="0" tIns="0" rIns="0" bIns="0" rtlCol="0" anchor="ctr"/>
          <a:lstStyle/>
          <a:p>
            <a:pPr indent="0" marL="0">
              <a:buNone/>
            </a:pPr>
            <a:r>
              <a:rPr lang="en-US" sz="1400" b="1" i="1" dirty="0">
                <a:solidFill>
                  <a:srgbClr val="125C60"/>
                </a:solidFill>
                <a:latin typeface="Proxima Nova" pitchFamily="34" charset="0"/>
                <a:ea typeface="Proxima Nova" pitchFamily="34" charset="-122"/>
                <a:cs typeface="Proxima Nova" pitchFamily="34" charset="-120"/>
              </a:rPr>
              <a:t>3¢  </a:t>
            </a:r>
            <a:pPr indent="0" marL="0">
              <a:buNone/>
            </a:pPr>
            <a:r>
              <a:rPr lang="en-US" sz="1050" dirty="0">
                <a:solidFill>
                  <a:srgbClr val="231F20"/>
                </a:solidFill>
                <a:latin typeface="Proxima Nova" pitchFamily="34" charset="0"/>
                <a:ea typeface="Proxima Nova" pitchFamily="34" charset="-122"/>
                <a:cs typeface="Proxima Nova" pitchFamily="34" charset="-120"/>
              </a:rPr>
              <a:t>Transportation (3.3%)</a:t>
            </a:r>
            <a:endParaRPr lang="en-US" sz="1400" dirty="0"/>
          </a:p>
        </p:txBody>
      </p:sp>
      <p:sp>
        <p:nvSpPr>
          <p:cNvPr id="47"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of Visitors (calendar 2025; pub.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Where visitor card spending in Anaheim comes from, by U.S. metro area</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Visitor card spending by cardholder home metro, August 2026 · circle area shows spending</a:t>
            </a:r>
            <a:endParaRPr lang="en-US" sz="1200" dirty="0"/>
          </a:p>
        </p:txBody>
      </p:sp>
      <p:pic>
        <p:nvPicPr>
          <p:cNvPr id="4" name="Image 0" descr="Where visitor card spending in Anaheim comes from, by U.S. metro area: Los Angeles–Long Beach–Anaheim $307.3M (66.1% of total), Riverside–San Bernardino–Ontario $28.9M (6.2% of total), San Diego–Chula Vista–Carlsbad $10.5M (2.3% of total), San Francisco–Oakland–Berkeley $8.6M (1.9% of total), Seattle–Tacoma–Bellevue $5.4M (1.2% of total), Phoenix–Mesa–Chandler $4.9M (1.1% of total), Las Vegas–Henderson–Paradise $4.5M (1.0% of total), San Jose–Sunnyvale–Santa Clara $4.5M (1.0% of total)">    </p:cNvPr>
          <p:cNvPicPr>
            <a:picLocks noChangeAspect="1"/>
          </p:cNvPicPr>
          <p:nvPr/>
        </p:nvPicPr>
        <p:blipFill>
          <a:blip r:embed="rId1"/>
          <a:stretch>
            <a:fillRect/>
          </a:stretch>
        </p:blipFill>
        <p:spPr>
          <a:xfrm>
            <a:off x="548640" y="1417320"/>
            <a:ext cx="7095744" cy="4434840"/>
          </a:xfrm>
          <a:prstGeom prst="rect">
            <a:avLst/>
          </a:prstGeom>
        </p:spPr>
      </p:pic>
      <p:sp>
        <p:nvSpPr>
          <p:cNvPr id="5" name="Text 2"/>
          <p:cNvSpPr txBox="1"/>
          <p:nvPr/>
        </p:nvSpPr>
        <p:spPr>
          <a:xfrm>
            <a:off x="7918704" y="1417320"/>
            <a:ext cx="3724351" cy="228600"/>
          </a:xfrm>
          <a:prstGeom prst="rect">
            <a:avLst/>
          </a:prstGeom>
          <a:noFill/>
          <a:ln/>
        </p:spPr>
        <p:txBody>
          <a:bodyPr wrap="square" lIns="0" tIns="0" rIns="0" bIns="0" rtlCol="0" anchor="ctr"/>
          <a:lstStyle/>
          <a:p>
            <a:pPr indent="0" marL="0">
              <a:buNone/>
            </a:pPr>
            <a:r>
              <a:rPr lang="en-US" sz="950" b="1" spc="100" kern="0" dirty="0">
                <a:solidFill>
                  <a:srgbClr val="125C60"/>
                </a:solidFill>
                <a:latin typeface="Proxima Nova" pitchFamily="34" charset="0"/>
                <a:ea typeface="Proxima Nova" pitchFamily="34" charset="-122"/>
                <a:cs typeface="Proxima Nova" pitchFamily="34" charset="-120"/>
              </a:rPr>
              <a:t>METRO AREAS (CIRCLES)</a:t>
            </a:r>
            <a:endParaRPr lang="en-US" sz="950" dirty="0"/>
          </a:p>
        </p:txBody>
      </p:sp>
      <p:sp>
        <p:nvSpPr>
          <p:cNvPr id="6" name="Text 3"/>
          <p:cNvSpPr txBox="1"/>
          <p:nvPr/>
        </p:nvSpPr>
        <p:spPr>
          <a:xfrm>
            <a:off x="7918704" y="1709928"/>
            <a:ext cx="3724351" cy="274320"/>
          </a:xfrm>
          <a:prstGeom prst="rect">
            <a:avLst/>
          </a:prstGeom>
          <a:noFill/>
          <a:ln/>
        </p:spPr>
        <p:txBody>
          <a:bodyPr wrap="square" lIns="0" tIns="0" rIns="0" bIns="0" rtlCol="0" anchor="ctr">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$307.3M  </a:t>
            </a:r>
            <a:pPr indent="0" marL="0">
              <a:buNone/>
            </a:pPr>
            <a:r>
              <a:rPr lang="en-US" sz="1000" dirty="0">
                <a:solidFill>
                  <a:srgbClr val="231F20"/>
                </a:solidFill>
                <a:latin typeface="Proxima Nova" pitchFamily="34" charset="0"/>
                <a:ea typeface="Proxima Nova" pitchFamily="34" charset="-122"/>
                <a:cs typeface="Proxima Nova" pitchFamily="34" charset="-120"/>
              </a:rPr>
              <a:t>Los Angeles–Long Beach–Anaheim</a:t>
            </a:r>
            <a:endParaRPr lang="en-US" sz="1200" dirty="0"/>
          </a:p>
        </p:txBody>
      </p:sp>
      <p:sp>
        <p:nvSpPr>
          <p:cNvPr id="7" name="Text 4"/>
          <p:cNvSpPr txBox="1"/>
          <p:nvPr/>
        </p:nvSpPr>
        <p:spPr>
          <a:xfrm>
            <a:off x="7918704" y="2011680"/>
            <a:ext cx="3724351" cy="274320"/>
          </a:xfrm>
          <a:prstGeom prst="rect">
            <a:avLst/>
          </a:prstGeom>
          <a:noFill/>
          <a:ln/>
        </p:spPr>
        <p:txBody>
          <a:bodyPr wrap="square" lIns="0" tIns="0" rIns="0" bIns="0" rtlCol="0" anchor="ctr">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$28.9M  </a:t>
            </a:r>
            <a:pPr indent="0" marL="0">
              <a:buNone/>
            </a:pPr>
            <a:r>
              <a:rPr lang="en-US" sz="1000" dirty="0">
                <a:solidFill>
                  <a:srgbClr val="231F20"/>
                </a:solidFill>
                <a:latin typeface="Proxima Nova" pitchFamily="34" charset="0"/>
                <a:ea typeface="Proxima Nova" pitchFamily="34" charset="-122"/>
                <a:cs typeface="Proxima Nova" pitchFamily="34" charset="-120"/>
              </a:rPr>
              <a:t>Riverside–San Bernardino–Ontario</a:t>
            </a:r>
            <a:endParaRPr lang="en-US" sz="1200" dirty="0"/>
          </a:p>
        </p:txBody>
      </p:sp>
      <p:sp>
        <p:nvSpPr>
          <p:cNvPr id="8" name="Text 5"/>
          <p:cNvSpPr txBox="1"/>
          <p:nvPr/>
        </p:nvSpPr>
        <p:spPr>
          <a:xfrm>
            <a:off x="7918704" y="2313432"/>
            <a:ext cx="3724351" cy="274320"/>
          </a:xfrm>
          <a:prstGeom prst="rect">
            <a:avLst/>
          </a:prstGeom>
          <a:noFill/>
          <a:ln/>
        </p:spPr>
        <p:txBody>
          <a:bodyPr wrap="square" lIns="0" tIns="0" rIns="0" bIns="0" rtlCol="0" anchor="ctr">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$10.5M  </a:t>
            </a:r>
            <a:pPr indent="0" marL="0">
              <a:buNone/>
            </a:pPr>
            <a:r>
              <a:rPr lang="en-US" sz="1000" dirty="0">
                <a:solidFill>
                  <a:srgbClr val="231F20"/>
                </a:solidFill>
                <a:latin typeface="Proxima Nova" pitchFamily="34" charset="0"/>
                <a:ea typeface="Proxima Nova" pitchFamily="34" charset="-122"/>
                <a:cs typeface="Proxima Nova" pitchFamily="34" charset="-120"/>
              </a:rPr>
              <a:t>San Diego–Chula Vista–Carlsbad</a:t>
            </a:r>
            <a:endParaRPr lang="en-US" sz="1200" dirty="0"/>
          </a:p>
        </p:txBody>
      </p:sp>
      <p:sp>
        <p:nvSpPr>
          <p:cNvPr id="9" name="Text 6"/>
          <p:cNvSpPr txBox="1"/>
          <p:nvPr/>
        </p:nvSpPr>
        <p:spPr>
          <a:xfrm>
            <a:off x="7918704" y="2615184"/>
            <a:ext cx="3724351" cy="274320"/>
          </a:xfrm>
          <a:prstGeom prst="rect">
            <a:avLst/>
          </a:prstGeom>
          <a:noFill/>
          <a:ln/>
        </p:spPr>
        <p:txBody>
          <a:bodyPr wrap="square" lIns="0" tIns="0" rIns="0" bIns="0" rtlCol="0" anchor="ctr">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$8.6M  </a:t>
            </a:r>
            <a:pPr indent="0" marL="0">
              <a:buNone/>
            </a:pPr>
            <a:r>
              <a:rPr lang="en-US" sz="1000" dirty="0">
                <a:solidFill>
                  <a:srgbClr val="231F20"/>
                </a:solidFill>
                <a:latin typeface="Proxima Nova" pitchFamily="34" charset="0"/>
                <a:ea typeface="Proxima Nova" pitchFamily="34" charset="-122"/>
                <a:cs typeface="Proxima Nova" pitchFamily="34" charset="-120"/>
              </a:rPr>
              <a:t>San Francisco–Oakland–Berkeley</a:t>
            </a:r>
            <a:endParaRPr lang="en-US" sz="1200" dirty="0"/>
          </a:p>
        </p:txBody>
      </p:sp>
      <p:sp>
        <p:nvSpPr>
          <p:cNvPr id="10" name="Text 7"/>
          <p:cNvSpPr txBox="1"/>
          <p:nvPr/>
        </p:nvSpPr>
        <p:spPr>
          <a:xfrm>
            <a:off x="7918704" y="2916936"/>
            <a:ext cx="3724351" cy="274320"/>
          </a:xfrm>
          <a:prstGeom prst="rect">
            <a:avLst/>
          </a:prstGeom>
          <a:noFill/>
          <a:ln/>
        </p:spPr>
        <p:txBody>
          <a:bodyPr wrap="square" lIns="0" tIns="0" rIns="0" bIns="0" rtlCol="0" anchor="ctr">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$5.4M  </a:t>
            </a:r>
            <a:pPr indent="0" marL="0">
              <a:buNone/>
            </a:pPr>
            <a:r>
              <a:rPr lang="en-US" sz="1000" dirty="0">
                <a:solidFill>
                  <a:srgbClr val="231F20"/>
                </a:solidFill>
                <a:latin typeface="Proxima Nova" pitchFamily="34" charset="0"/>
                <a:ea typeface="Proxima Nova" pitchFamily="34" charset="-122"/>
                <a:cs typeface="Proxima Nova" pitchFamily="34" charset="-120"/>
              </a:rPr>
              <a:t>Seattle–Tacoma–Bellevue</a:t>
            </a:r>
            <a:endParaRPr lang="en-US" sz="1200" dirty="0"/>
          </a:p>
        </p:txBody>
      </p:sp>
      <p:sp>
        <p:nvSpPr>
          <p:cNvPr id="11" name="Text 8"/>
          <p:cNvSpPr txBox="1"/>
          <p:nvPr/>
        </p:nvSpPr>
        <p:spPr>
          <a:xfrm>
            <a:off x="7918704" y="3218688"/>
            <a:ext cx="3724351" cy="274320"/>
          </a:xfrm>
          <a:prstGeom prst="rect">
            <a:avLst/>
          </a:prstGeom>
          <a:noFill/>
          <a:ln/>
        </p:spPr>
        <p:txBody>
          <a:bodyPr wrap="square" lIns="0" tIns="0" rIns="0" bIns="0" rtlCol="0" anchor="ctr">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$4.9M  </a:t>
            </a:r>
            <a:pPr indent="0" marL="0">
              <a:buNone/>
            </a:pPr>
            <a:r>
              <a:rPr lang="en-US" sz="1000" dirty="0">
                <a:solidFill>
                  <a:srgbClr val="231F20"/>
                </a:solidFill>
                <a:latin typeface="Proxima Nova" pitchFamily="34" charset="0"/>
                <a:ea typeface="Proxima Nova" pitchFamily="34" charset="-122"/>
                <a:cs typeface="Proxima Nova" pitchFamily="34" charset="-120"/>
              </a:rPr>
              <a:t>Phoenix–Mesa–Chandler</a:t>
            </a:r>
            <a:endParaRPr lang="en-US" sz="1200" dirty="0"/>
          </a:p>
        </p:txBody>
      </p:sp>
      <p:sp>
        <p:nvSpPr>
          <p:cNvPr id="12" name="Text 9"/>
          <p:cNvSpPr txBox="1"/>
          <p:nvPr/>
        </p:nvSpPr>
        <p:spPr>
          <a:xfrm>
            <a:off x="7918704" y="3520440"/>
            <a:ext cx="3724351" cy="274320"/>
          </a:xfrm>
          <a:prstGeom prst="rect">
            <a:avLst/>
          </a:prstGeom>
          <a:noFill/>
          <a:ln/>
        </p:spPr>
        <p:txBody>
          <a:bodyPr wrap="square" lIns="0" tIns="0" rIns="0" bIns="0" rtlCol="0" anchor="ctr">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$4.5M  </a:t>
            </a:r>
            <a:pPr indent="0" marL="0">
              <a:buNone/>
            </a:pPr>
            <a:r>
              <a:rPr lang="en-US" sz="1000" dirty="0">
                <a:solidFill>
                  <a:srgbClr val="231F20"/>
                </a:solidFill>
                <a:latin typeface="Proxima Nova" pitchFamily="34" charset="0"/>
                <a:ea typeface="Proxima Nova" pitchFamily="34" charset="-122"/>
                <a:cs typeface="Proxima Nova" pitchFamily="34" charset="-120"/>
              </a:rPr>
              <a:t>Las Vegas–Henderson–Paradise</a:t>
            </a:r>
            <a:endParaRPr lang="en-US" sz="1200" dirty="0"/>
          </a:p>
        </p:txBody>
      </p:sp>
      <p:sp>
        <p:nvSpPr>
          <p:cNvPr id="13" name="Text 10"/>
          <p:cNvSpPr txBox="1"/>
          <p:nvPr/>
        </p:nvSpPr>
        <p:spPr>
          <a:xfrm>
            <a:off x="7918704" y="3822192"/>
            <a:ext cx="3724351" cy="274320"/>
          </a:xfrm>
          <a:prstGeom prst="rect">
            <a:avLst/>
          </a:prstGeom>
          <a:noFill/>
          <a:ln/>
        </p:spPr>
        <p:txBody>
          <a:bodyPr wrap="square" lIns="0" tIns="0" rIns="0" bIns="0" rtlCol="0" anchor="ctr">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$4.5M  </a:t>
            </a:r>
            <a:pPr indent="0" marL="0">
              <a:buNone/>
            </a:pPr>
            <a:r>
              <a:rPr lang="en-US" sz="1000" dirty="0">
                <a:solidFill>
                  <a:srgbClr val="231F20"/>
                </a:solidFill>
                <a:latin typeface="Proxima Nova" pitchFamily="34" charset="0"/>
                <a:ea typeface="Proxima Nova" pitchFamily="34" charset="-122"/>
                <a:cs typeface="Proxima Nova" pitchFamily="34" charset="-120"/>
              </a:rPr>
              <a:t>San Jose–Sunnyvale–Santa Clara</a:t>
            </a:r>
            <a:endParaRPr lang="en-US" sz="1200" dirty="0"/>
          </a:p>
        </p:txBody>
      </p:sp>
      <p:sp>
        <p:nvSpPr>
          <p:cNvPr id="14"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Visa Destination Insights (reported Visa card data) via Symphony | Tourism Economics, Visitor Type and International Card Activity, Aug. 2026 vs. Aug. 2025 (exported Oct. 12, 2026). Map: U.S. Census Bureau boundaries (us-atlas); Natural Earth 1:110m (world-atlas); circles at each metro's principal city or country's center.</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International card spending, by visitor's home country</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International visitor card spending in Anaheim, August 2026 · circle area shows spending</a:t>
            </a:r>
            <a:endParaRPr lang="en-US" sz="1200" dirty="0"/>
          </a:p>
        </p:txBody>
      </p:sp>
      <p:pic>
        <p:nvPicPr>
          <p:cNvPr id="4" name="Image 0" descr="International card spending, by visitor's home country: Mexico $5.2M, Canada $3.2M, Japan $2.4M, United Kingdom $1.4M, China (mainland) $797K, Australia $594K">    </p:cNvPr>
          <p:cNvPicPr>
            <a:picLocks noChangeAspect="1"/>
          </p:cNvPicPr>
          <p:nvPr/>
        </p:nvPicPr>
        <p:blipFill>
          <a:blip r:embed="rId1"/>
          <a:stretch>
            <a:fillRect/>
          </a:stretch>
        </p:blipFill>
        <p:spPr>
          <a:xfrm>
            <a:off x="548640" y="1417320"/>
            <a:ext cx="7955280" cy="3894773"/>
          </a:xfrm>
          <a:prstGeom prst="rect">
            <a:avLst/>
          </a:prstGeom>
        </p:spPr>
      </p:pic>
      <p:sp>
        <p:nvSpPr>
          <p:cNvPr id="5" name="Text 2"/>
          <p:cNvSpPr txBox="1"/>
          <p:nvPr/>
        </p:nvSpPr>
        <p:spPr>
          <a:xfrm>
            <a:off x="8778240" y="1417320"/>
            <a:ext cx="2864815" cy="228600"/>
          </a:xfrm>
          <a:prstGeom prst="rect">
            <a:avLst/>
          </a:prstGeom>
          <a:noFill/>
          <a:ln/>
        </p:spPr>
        <p:txBody>
          <a:bodyPr wrap="square" lIns="0" tIns="0" rIns="0" bIns="0" rtlCol="0" anchor="ctr"/>
          <a:lstStyle/>
          <a:p>
            <a:pPr indent="0" marL="0">
              <a:buNone/>
            </a:pPr>
            <a:r>
              <a:rPr lang="en-US" sz="950" b="1" spc="100" kern="0" dirty="0">
                <a:solidFill>
                  <a:srgbClr val="125C60"/>
                </a:solidFill>
                <a:latin typeface="Proxima Nova" pitchFamily="34" charset="0"/>
                <a:ea typeface="Proxima Nova" pitchFamily="34" charset="-122"/>
                <a:cs typeface="Proxima Nova" pitchFamily="34" charset="-120"/>
              </a:rPr>
              <a:t>COUNTRIES (CIRCLES)</a:t>
            </a:r>
            <a:endParaRPr lang="en-US" sz="950" dirty="0"/>
          </a:p>
        </p:txBody>
      </p:sp>
      <p:sp>
        <p:nvSpPr>
          <p:cNvPr id="6" name="Text 3"/>
          <p:cNvSpPr txBox="1"/>
          <p:nvPr/>
        </p:nvSpPr>
        <p:spPr>
          <a:xfrm>
            <a:off x="8778240" y="1709928"/>
            <a:ext cx="2864815" cy="274320"/>
          </a:xfrm>
          <a:prstGeom prst="rect">
            <a:avLst/>
          </a:prstGeom>
          <a:noFill/>
          <a:ln/>
        </p:spPr>
        <p:txBody>
          <a:bodyPr wrap="square" lIns="0" tIns="0" rIns="0" bIns="0" rtlCol="0" anchor="ctr">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$5.2M  </a:t>
            </a:r>
            <a:pPr indent="0" marL="0">
              <a:buNone/>
            </a:pPr>
            <a:r>
              <a:rPr lang="en-US" sz="1000" dirty="0">
                <a:solidFill>
                  <a:srgbClr val="231F20"/>
                </a:solidFill>
                <a:latin typeface="Proxima Nova" pitchFamily="34" charset="0"/>
                <a:ea typeface="Proxima Nova" pitchFamily="34" charset="-122"/>
                <a:cs typeface="Proxima Nova" pitchFamily="34" charset="-120"/>
              </a:rPr>
              <a:t>Mexico</a:t>
            </a:r>
            <a:endParaRPr lang="en-US" sz="1200" dirty="0"/>
          </a:p>
        </p:txBody>
      </p:sp>
      <p:sp>
        <p:nvSpPr>
          <p:cNvPr id="7" name="Text 4"/>
          <p:cNvSpPr txBox="1"/>
          <p:nvPr/>
        </p:nvSpPr>
        <p:spPr>
          <a:xfrm>
            <a:off x="8778240" y="2011680"/>
            <a:ext cx="2864815" cy="274320"/>
          </a:xfrm>
          <a:prstGeom prst="rect">
            <a:avLst/>
          </a:prstGeom>
          <a:noFill/>
          <a:ln/>
        </p:spPr>
        <p:txBody>
          <a:bodyPr wrap="square" lIns="0" tIns="0" rIns="0" bIns="0" rtlCol="0" anchor="ctr">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$3.2M  </a:t>
            </a:r>
            <a:pPr indent="0" marL="0">
              <a:buNone/>
            </a:pPr>
            <a:r>
              <a:rPr lang="en-US" sz="1000" dirty="0">
                <a:solidFill>
                  <a:srgbClr val="231F20"/>
                </a:solidFill>
                <a:latin typeface="Proxima Nova" pitchFamily="34" charset="0"/>
                <a:ea typeface="Proxima Nova" pitchFamily="34" charset="-122"/>
                <a:cs typeface="Proxima Nova" pitchFamily="34" charset="-120"/>
              </a:rPr>
              <a:t>Canada</a:t>
            </a:r>
            <a:endParaRPr lang="en-US" sz="1200" dirty="0"/>
          </a:p>
        </p:txBody>
      </p:sp>
      <p:sp>
        <p:nvSpPr>
          <p:cNvPr id="8" name="Text 5"/>
          <p:cNvSpPr txBox="1"/>
          <p:nvPr/>
        </p:nvSpPr>
        <p:spPr>
          <a:xfrm>
            <a:off x="8778240" y="2313432"/>
            <a:ext cx="2864815" cy="274320"/>
          </a:xfrm>
          <a:prstGeom prst="rect">
            <a:avLst/>
          </a:prstGeom>
          <a:noFill/>
          <a:ln/>
        </p:spPr>
        <p:txBody>
          <a:bodyPr wrap="square" lIns="0" tIns="0" rIns="0" bIns="0" rtlCol="0" anchor="ctr">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$2.4M  </a:t>
            </a:r>
            <a:pPr indent="0" marL="0">
              <a:buNone/>
            </a:pPr>
            <a:r>
              <a:rPr lang="en-US" sz="1000" dirty="0">
                <a:solidFill>
                  <a:srgbClr val="231F20"/>
                </a:solidFill>
                <a:latin typeface="Proxima Nova" pitchFamily="34" charset="0"/>
                <a:ea typeface="Proxima Nova" pitchFamily="34" charset="-122"/>
                <a:cs typeface="Proxima Nova" pitchFamily="34" charset="-120"/>
              </a:rPr>
              <a:t>Japan</a:t>
            </a:r>
            <a:endParaRPr lang="en-US" sz="1200" dirty="0"/>
          </a:p>
        </p:txBody>
      </p:sp>
      <p:sp>
        <p:nvSpPr>
          <p:cNvPr id="9" name="Text 6"/>
          <p:cNvSpPr txBox="1"/>
          <p:nvPr/>
        </p:nvSpPr>
        <p:spPr>
          <a:xfrm>
            <a:off x="8778240" y="2615184"/>
            <a:ext cx="2864815" cy="274320"/>
          </a:xfrm>
          <a:prstGeom prst="rect">
            <a:avLst/>
          </a:prstGeom>
          <a:noFill/>
          <a:ln/>
        </p:spPr>
        <p:txBody>
          <a:bodyPr wrap="square" lIns="0" tIns="0" rIns="0" bIns="0" rtlCol="0" anchor="ctr">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$1.4M  </a:t>
            </a:r>
            <a:pPr indent="0" marL="0">
              <a:buNone/>
            </a:pPr>
            <a:r>
              <a:rPr lang="en-US" sz="1000" dirty="0">
                <a:solidFill>
                  <a:srgbClr val="231F20"/>
                </a:solidFill>
                <a:latin typeface="Proxima Nova" pitchFamily="34" charset="0"/>
                <a:ea typeface="Proxima Nova" pitchFamily="34" charset="-122"/>
                <a:cs typeface="Proxima Nova" pitchFamily="34" charset="-120"/>
              </a:rPr>
              <a:t>United Kingdom</a:t>
            </a:r>
            <a:endParaRPr lang="en-US" sz="1200" dirty="0"/>
          </a:p>
        </p:txBody>
      </p:sp>
      <p:sp>
        <p:nvSpPr>
          <p:cNvPr id="10" name="Text 7"/>
          <p:cNvSpPr txBox="1"/>
          <p:nvPr/>
        </p:nvSpPr>
        <p:spPr>
          <a:xfrm>
            <a:off x="8778240" y="2916936"/>
            <a:ext cx="2864815" cy="274320"/>
          </a:xfrm>
          <a:prstGeom prst="rect">
            <a:avLst/>
          </a:prstGeom>
          <a:noFill/>
          <a:ln/>
        </p:spPr>
        <p:txBody>
          <a:bodyPr wrap="square" lIns="0" tIns="0" rIns="0" bIns="0" rtlCol="0" anchor="ctr">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$797K  </a:t>
            </a:r>
            <a:pPr indent="0" marL="0">
              <a:buNone/>
            </a:pPr>
            <a:r>
              <a:rPr lang="en-US" sz="1000" dirty="0">
                <a:solidFill>
                  <a:srgbClr val="231F20"/>
                </a:solidFill>
                <a:latin typeface="Proxima Nova" pitchFamily="34" charset="0"/>
                <a:ea typeface="Proxima Nova" pitchFamily="34" charset="-122"/>
                <a:cs typeface="Proxima Nova" pitchFamily="34" charset="-120"/>
              </a:rPr>
              <a:t>China (mainland)</a:t>
            </a:r>
            <a:endParaRPr lang="en-US" sz="1200" dirty="0"/>
          </a:p>
        </p:txBody>
      </p:sp>
      <p:sp>
        <p:nvSpPr>
          <p:cNvPr id="11" name="Text 8"/>
          <p:cNvSpPr txBox="1"/>
          <p:nvPr/>
        </p:nvSpPr>
        <p:spPr>
          <a:xfrm>
            <a:off x="8778240" y="3218688"/>
            <a:ext cx="2864815" cy="274320"/>
          </a:xfrm>
          <a:prstGeom prst="rect">
            <a:avLst/>
          </a:prstGeom>
          <a:noFill/>
          <a:ln/>
        </p:spPr>
        <p:txBody>
          <a:bodyPr wrap="square" lIns="0" tIns="0" rIns="0" bIns="0" rtlCol="0" anchor="ctr">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$594K  </a:t>
            </a:r>
            <a:pPr indent="0" marL="0">
              <a:buNone/>
            </a:pPr>
            <a:r>
              <a:rPr lang="en-US" sz="1000" dirty="0">
                <a:solidFill>
                  <a:srgbClr val="231F20"/>
                </a:solidFill>
                <a:latin typeface="Proxima Nova" pitchFamily="34" charset="0"/>
                <a:ea typeface="Proxima Nova" pitchFamily="34" charset="-122"/>
                <a:cs typeface="Proxima Nova" pitchFamily="34" charset="-120"/>
              </a:rPr>
              <a:t>Australia</a:t>
            </a:r>
            <a:endParaRPr lang="en-US" sz="1200" dirty="0"/>
          </a:p>
        </p:txBody>
      </p:sp>
      <p:sp>
        <p:nvSpPr>
          <p:cNvPr id="12"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Visa Destination Insights (reported Visa card data) via Symphony | Tourism Economics, Visitor Type and International Card Activity, Aug. 2026 vs. Aug. 2025 (exported Oct. 12, 2026). Map: U.S. Census Bureau boundaries (us-atlas); Natural Earth 1:110m (world-atlas); circles at each metro's principal city or country's center.</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Each Anaheim visitor is forecast to spend $279 by 2028, up from $223 in 2019</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Average visitor spending · Tourism Economics Anaheim and Garden Grove Travel Forecast, Sept. 2026</a:t>
            </a:r>
            <a:endParaRPr lang="en-US" sz="1200" dirty="0"/>
          </a:p>
        </p:txBody>
      </p:sp>
      <p:sp>
        <p:nvSpPr>
          <p:cNvPr id="5" name="kpi-card-0"/>
          <p:cNvSpPr/>
          <p:nvPr/>
        </p:nvSpPr>
        <p:spPr>
          <a:xfrm>
            <a:off x="548640" y="1463040"/>
            <a:ext cx="3588410" cy="1463040"/>
          </a:xfrm>
          <a:prstGeom prst="roundRect">
            <a:avLst>
              <a:gd name="adj" fmla="val 5000"/>
            </a:avLst>
          </a:prstGeom>
          <a:solidFill>
            <a:srgbClr val="FFFFFF"/>
          </a:solidFill>
          <a:ln w="12700">
            <a:solidFill>
              <a:srgbClr val="B4D9E3"/>
            </a:solidFill>
            <a:prstDash val="solid"/>
          </a:ln>
        </p:spPr>
      </p:sp>
      <p:sp>
        <p:nvSpPr>
          <p:cNvPr id="6" name="Text 3"/>
          <p:cNvSpPr txBox="1"/>
          <p:nvPr/>
        </p:nvSpPr>
        <p:spPr>
          <a:xfrm>
            <a:off x="713232" y="1591056"/>
            <a:ext cx="325922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ANAHEIM, 2025</a:t>
            </a:r>
            <a:endParaRPr lang="en-US" sz="900" dirty="0"/>
          </a:p>
        </p:txBody>
      </p:sp>
      <p:sp>
        <p:nvSpPr>
          <p:cNvPr id="7" name="Text 4"/>
          <p:cNvSpPr txBox="1"/>
          <p:nvPr/>
        </p:nvSpPr>
        <p:spPr>
          <a:xfrm>
            <a:off x="713232" y="1810512"/>
            <a:ext cx="325922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Spending per visitor</a:t>
            </a:r>
            <a:endParaRPr lang="en-US" sz="1050" dirty="0"/>
          </a:p>
        </p:txBody>
      </p:sp>
      <p:sp>
        <p:nvSpPr>
          <p:cNvPr id="8" name="Text 5"/>
          <p:cNvSpPr txBox="1"/>
          <p:nvPr/>
        </p:nvSpPr>
        <p:spPr>
          <a:xfrm>
            <a:off x="713232" y="2084832"/>
            <a:ext cx="3259226" cy="548640"/>
          </a:xfrm>
          <a:prstGeom prst="rect">
            <a:avLst/>
          </a:prstGeom>
          <a:noFill/>
          <a:ln/>
        </p:spPr>
        <p:txBody>
          <a:bodyPr wrap="square" lIns="0" tIns="0" rIns="0" bIns="0" rtlCol="0" anchor="ctr"/>
          <a:lstStyle/>
          <a:p>
            <a:pPr indent="0" marL="0">
              <a:buNone/>
            </a:pPr>
            <a:r>
              <a:rPr lang="en-US" sz="2800" b="1" dirty="0">
                <a:solidFill>
                  <a:srgbClr val="125C60"/>
                </a:solidFill>
                <a:latin typeface="Proxima Nova" pitchFamily="34" charset="0"/>
                <a:ea typeface="Proxima Nova" pitchFamily="34" charset="-122"/>
                <a:cs typeface="Proxima Nova" pitchFamily="34" charset="-120"/>
              </a:rPr>
              <a:t>$258</a:t>
            </a:r>
            <a:endParaRPr lang="en-US" sz="2800" dirty="0"/>
          </a:p>
        </p:txBody>
      </p:sp>
      <p:sp>
        <p:nvSpPr>
          <p:cNvPr id="9" name="Text 6"/>
          <p:cNvSpPr txBox="1"/>
          <p:nvPr/>
        </p:nvSpPr>
        <p:spPr>
          <a:xfrm>
            <a:off x="713232" y="2633472"/>
            <a:ext cx="3259226" cy="20116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 +2.3% vs. 2024 · 26.5M visits, $6.8B spent</a:t>
            </a:r>
            <a:endParaRPr lang="en-US" sz="1000" dirty="0"/>
          </a:p>
        </p:txBody>
      </p:sp>
      <p:sp>
        <p:nvSpPr>
          <p:cNvPr id="10" name="kpi-card-1"/>
          <p:cNvSpPr/>
          <p:nvPr/>
        </p:nvSpPr>
        <p:spPr>
          <a:xfrm>
            <a:off x="4301642" y="1463040"/>
            <a:ext cx="3588410" cy="1463040"/>
          </a:xfrm>
          <a:prstGeom prst="roundRect">
            <a:avLst>
              <a:gd name="adj" fmla="val 5000"/>
            </a:avLst>
          </a:prstGeom>
          <a:solidFill>
            <a:srgbClr val="FFFFFF"/>
          </a:solidFill>
          <a:ln w="12700">
            <a:solidFill>
              <a:srgbClr val="B4D9E3"/>
            </a:solidFill>
            <a:prstDash val="solid"/>
          </a:ln>
        </p:spPr>
      </p:sp>
      <p:sp>
        <p:nvSpPr>
          <p:cNvPr id="11" name="Text 8"/>
          <p:cNvSpPr txBox="1"/>
          <p:nvPr/>
        </p:nvSpPr>
        <p:spPr>
          <a:xfrm>
            <a:off x="4466234" y="1591056"/>
            <a:ext cx="325922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ANAHEIM, Q2 2026</a:t>
            </a:r>
            <a:endParaRPr lang="en-US" sz="900" dirty="0"/>
          </a:p>
        </p:txBody>
      </p:sp>
      <p:sp>
        <p:nvSpPr>
          <p:cNvPr id="12" name="Text 9"/>
          <p:cNvSpPr txBox="1"/>
          <p:nvPr/>
        </p:nvSpPr>
        <p:spPr>
          <a:xfrm>
            <a:off x="4466234" y="1810512"/>
            <a:ext cx="325922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Visitor spending</a:t>
            </a:r>
            <a:endParaRPr lang="en-US" sz="1050" dirty="0"/>
          </a:p>
        </p:txBody>
      </p:sp>
      <p:sp>
        <p:nvSpPr>
          <p:cNvPr id="13" name="Text 10"/>
          <p:cNvSpPr txBox="1"/>
          <p:nvPr/>
        </p:nvSpPr>
        <p:spPr>
          <a:xfrm>
            <a:off x="4466234" y="2084832"/>
            <a:ext cx="3259226" cy="548640"/>
          </a:xfrm>
          <a:prstGeom prst="rect">
            <a:avLst/>
          </a:prstGeom>
          <a:noFill/>
          <a:ln/>
        </p:spPr>
        <p:txBody>
          <a:bodyPr wrap="square" lIns="0" tIns="0" rIns="0" bIns="0" rtlCol="0" anchor="ctr"/>
          <a:lstStyle/>
          <a:p>
            <a:pPr indent="0" marL="0">
              <a:buNone/>
            </a:pPr>
            <a:r>
              <a:rPr lang="en-US" sz="2800" b="1" dirty="0">
                <a:solidFill>
                  <a:srgbClr val="125C60"/>
                </a:solidFill>
                <a:latin typeface="Proxima Nova" pitchFamily="34" charset="0"/>
                <a:ea typeface="Proxima Nova" pitchFamily="34" charset="-122"/>
                <a:cs typeface="Proxima Nova" pitchFamily="34" charset="-120"/>
              </a:rPr>
              <a:t>$1.76B</a:t>
            </a:r>
            <a:endParaRPr lang="en-US" sz="2800" dirty="0"/>
          </a:p>
        </p:txBody>
      </p:sp>
      <p:sp>
        <p:nvSpPr>
          <p:cNvPr id="14" name="Text 11"/>
          <p:cNvSpPr txBox="1"/>
          <p:nvPr/>
        </p:nvSpPr>
        <p:spPr>
          <a:xfrm>
            <a:off x="4466234" y="2633472"/>
            <a:ext cx="3259226" cy="20116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 +7.8% vs. Q2 2025 · visits ▲ +2.8% to 6.74M</a:t>
            </a:r>
            <a:endParaRPr lang="en-US" sz="1000" dirty="0"/>
          </a:p>
        </p:txBody>
      </p:sp>
      <p:sp>
        <p:nvSpPr>
          <p:cNvPr id="15" name="kpi-card-2"/>
          <p:cNvSpPr/>
          <p:nvPr/>
        </p:nvSpPr>
        <p:spPr>
          <a:xfrm>
            <a:off x="8054645" y="1463040"/>
            <a:ext cx="3588410" cy="1463040"/>
          </a:xfrm>
          <a:prstGeom prst="roundRect">
            <a:avLst>
              <a:gd name="adj" fmla="val 5000"/>
            </a:avLst>
          </a:prstGeom>
          <a:solidFill>
            <a:srgbClr val="FFFFFF"/>
          </a:solidFill>
          <a:ln w="12700">
            <a:solidFill>
              <a:srgbClr val="B4D9E3"/>
            </a:solidFill>
            <a:prstDash val="solid"/>
          </a:ln>
        </p:spPr>
      </p:sp>
      <p:sp>
        <p:nvSpPr>
          <p:cNvPr id="16" name="Text 13"/>
          <p:cNvSpPr txBox="1"/>
          <p:nvPr/>
        </p:nvSpPr>
        <p:spPr>
          <a:xfrm>
            <a:off x="8219237" y="1591056"/>
            <a:ext cx="325922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ANAHEIM, 2028 FORECAST</a:t>
            </a:r>
            <a:endParaRPr lang="en-US" sz="900" dirty="0"/>
          </a:p>
        </p:txBody>
      </p:sp>
      <p:sp>
        <p:nvSpPr>
          <p:cNvPr id="17" name="Text 14"/>
          <p:cNvSpPr txBox="1"/>
          <p:nvPr/>
        </p:nvSpPr>
        <p:spPr>
          <a:xfrm>
            <a:off x="8219237" y="1810512"/>
            <a:ext cx="325922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Spending per visitor</a:t>
            </a:r>
            <a:endParaRPr lang="en-US" sz="1050" dirty="0"/>
          </a:p>
        </p:txBody>
      </p:sp>
      <p:sp>
        <p:nvSpPr>
          <p:cNvPr id="18" name="Text 15"/>
          <p:cNvSpPr txBox="1"/>
          <p:nvPr/>
        </p:nvSpPr>
        <p:spPr>
          <a:xfrm>
            <a:off x="8219237" y="2084832"/>
            <a:ext cx="3259226" cy="548640"/>
          </a:xfrm>
          <a:prstGeom prst="rect">
            <a:avLst/>
          </a:prstGeom>
          <a:noFill/>
          <a:ln/>
        </p:spPr>
        <p:txBody>
          <a:bodyPr wrap="square" lIns="0" tIns="0" rIns="0" bIns="0" rtlCol="0" anchor="ctr"/>
          <a:lstStyle/>
          <a:p>
            <a:pPr indent="0" marL="0">
              <a:buNone/>
            </a:pPr>
            <a:r>
              <a:rPr lang="en-US" sz="2800" b="1" dirty="0">
                <a:solidFill>
                  <a:srgbClr val="125C60"/>
                </a:solidFill>
                <a:latin typeface="Proxima Nova" pitchFamily="34" charset="0"/>
                <a:ea typeface="Proxima Nova" pitchFamily="34" charset="-122"/>
                <a:cs typeface="Proxima Nova" pitchFamily="34" charset="-120"/>
              </a:rPr>
              <a:t>$279</a:t>
            </a:r>
            <a:endParaRPr lang="en-US" sz="2800" dirty="0"/>
          </a:p>
        </p:txBody>
      </p:sp>
      <p:sp>
        <p:nvSpPr>
          <p:cNvPr id="19" name="Text 16"/>
          <p:cNvSpPr txBox="1"/>
          <p:nvPr/>
        </p:nvSpPr>
        <p:spPr>
          <a:xfrm>
            <a:off x="8219237" y="2633472"/>
            <a:ext cx="3259226" cy="20116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Visitor spending $7.7B · 27.6M visits</a:t>
            </a:r>
            <a:endParaRPr lang="en-US" sz="1000" dirty="0"/>
          </a:p>
        </p:txBody>
      </p:sp>
      <p:sp>
        <p:nvSpPr>
          <p:cNvPr id="20" name="Text 17"/>
          <p:cNvSpPr txBox="1"/>
          <p:nvPr/>
        </p:nvSpPr>
        <p:spPr>
          <a:xfrm>
            <a:off x="548640" y="3108960"/>
            <a:ext cx="6583680"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Spending per visitor, Anaheim (2026–2028 forecast)</a:t>
            </a:r>
            <a:endParaRPr lang="en-US" sz="1300" dirty="0"/>
          </a:p>
        </p:txBody>
      </p:sp>
      <p:graphicFrame>
        <p:nvGraphicFramePr>
          <p:cNvPr id="21" name="chart-pv" descr=""/>
          <p:cNvGraphicFramePr/>
          <p:nvPr/>
        </p:nvGraphicFramePr>
        <p:xfrm>
          <a:off x="548640" y="3429000"/>
          <a:ext cx="6583680" cy="2514600"/>
        </p:xfrm>
        <a:graphic xmlns:a="http://schemas.openxmlformats.org/drawingml/2006/main">
          <a:graphicData uri="http://schemas.openxmlformats.org/drawingml/2006/chart">
            <c:chart xmlns:c="http://schemas.openxmlformats.org/drawingml/2006/chart" r:id="rId1"/>
          </a:graphicData>
        </a:graphic>
      </p:graphicFrame>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7406640" y="3154680"/>
          <a:ext cx="4206240" cy="914400"/>
        </p:xfrm>
        <a:graphic>
          <a:graphicData uri="http://schemas.openxmlformats.org/drawingml/2006/table">
            <a:tbl>
              <a:tblPr/>
              <a:tblGrid>
                <a:gridCol w="1097280"/>
                <a:gridCol w="731520"/>
                <a:gridCol w="777240"/>
                <a:gridCol w="777240"/>
                <a:gridCol w="822960"/>
              </a:tblGrid>
              <a:tr h="384048">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Geography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2025 visits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2025 spending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Per visitor, 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2026 forecast per visitor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Anaheim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26.5M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$6.83B</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$258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$267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Garden Grove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3.24M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$769.3M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$237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$244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Orange County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51.3M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$17.99B</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$350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Not forecast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23" name="Text 18"/>
          <p:cNvSpPr txBox="1"/>
          <p:nvPr/>
        </p:nvSpPr>
        <p:spPr>
          <a:xfrm>
            <a:off x="7406640" y="4846320"/>
            <a:ext cx="4206240" cy="1097280"/>
          </a:xfrm>
          <a:prstGeom prst="rect">
            <a:avLst/>
          </a:prstGeom>
          <a:noFill/>
          <a:ln/>
        </p:spPr>
        <p:txBody>
          <a:bodyPr wrap="square" lIns="0" tIns="0" rIns="0" bIns="0" rtlCol="0" anchor="t"/>
          <a:lstStyle/>
          <a:p>
            <a:pPr algn="l" marL="177800" indent="-177800">
              <a:spcAft>
                <a:spcPts val="600"/>
              </a:spcAft>
              <a:buSzPct val="100000"/>
              <a:buChar char="•"/>
            </a:pPr>
            <a:r>
              <a:rPr lang="en-US" sz="1100" dirty="0">
                <a:solidFill>
                  <a:srgbClr val="231F20"/>
                </a:solidFill>
                <a:latin typeface="Proxima Nova" pitchFamily="34" charset="0"/>
                <a:ea typeface="Proxima Nova" pitchFamily="34" charset="-122"/>
                <a:cs typeface="Proxima Nova" pitchFamily="34" charset="-120"/>
              </a:rPr>
              <a:t>Spending is forecast to grow </a:t>
            </a:r>
            <a:pPr algn="l" marL="177800" indent="-177800">
              <a:spcAft>
                <a:spcPts val="600"/>
              </a:spcAft>
              <a:buSzPct val="100000"/>
              <a:buChar char="•"/>
            </a:pPr>
            <a:r>
              <a:rPr lang="en-US" sz="1100" b="1" dirty="0">
                <a:solidFill>
                  <a:srgbClr val="125C60"/>
                </a:solidFill>
                <a:latin typeface="Proxima Nova" pitchFamily="34" charset="0"/>
                <a:ea typeface="Proxima Nova" pitchFamily="34" charset="-122"/>
                <a:cs typeface="Proxima Nova" pitchFamily="34" charset="-120"/>
              </a:rPr>
              <a:t>3.9%</a:t>
            </a:r>
            <a:pPr algn="l" marL="177800" indent="-177800">
              <a:spcAft>
                <a:spcPts val="600"/>
              </a:spcAft>
              <a:buSzPct val="100000"/>
              <a:buChar char="•"/>
            </a:pPr>
            <a:r>
              <a:rPr lang="en-US" sz="1100" dirty="0">
                <a:solidFill>
                  <a:srgbClr val="231F20"/>
                </a:solidFill>
                <a:latin typeface="Proxima Nova" pitchFamily="34" charset="0"/>
                <a:ea typeface="Proxima Nova" pitchFamily="34" charset="-122"/>
                <a:cs typeface="Proxima Nova" pitchFamily="34" charset="-120"/>
              </a:rPr>
              <a:t> a year to 2028, three times faster than visits (</a:t>
            </a:r>
            <a:pPr algn="l" marL="177800" indent="-177800">
              <a:spcAft>
                <a:spcPts val="600"/>
              </a:spcAft>
              <a:buSzPct val="100000"/>
              <a:buChar char="•"/>
            </a:pPr>
            <a:r>
              <a:rPr lang="en-US" sz="1100" b="1" dirty="0">
                <a:solidFill>
                  <a:srgbClr val="125C60"/>
                </a:solidFill>
                <a:latin typeface="Proxima Nova" pitchFamily="34" charset="0"/>
                <a:ea typeface="Proxima Nova" pitchFamily="34" charset="-122"/>
                <a:cs typeface="Proxima Nova" pitchFamily="34" charset="-120"/>
              </a:rPr>
              <a:t>1.3%</a:t>
            </a:r>
            <a:pPr algn="l" marL="177800" indent="-177800">
              <a:spcAft>
                <a:spcPts val="600"/>
              </a:spcAft>
              <a:buSzPct val="100000"/>
              <a:buChar char="•"/>
            </a:pPr>
            <a:r>
              <a:rPr lang="en-US" sz="1100" dirty="0">
                <a:solidFill>
                  <a:srgbClr val="231F20"/>
                </a:solidFill>
                <a:latin typeface="Proxima Nova" pitchFamily="34" charset="0"/>
                <a:ea typeface="Proxima Nova" pitchFamily="34" charset="-122"/>
                <a:cs typeface="Proxima Nova" pitchFamily="34" charset="-120"/>
              </a:rPr>
              <a:t>).</a:t>
            </a:r>
            <a:endParaRPr lang="en-US" sz="1100" dirty="0"/>
          </a:p>
          <a:p>
            <a:pPr algn="l" marL="177800" indent="-177800">
              <a:spcAft>
                <a:spcPts val="600"/>
              </a:spcAft>
              <a:buSzPct val="100000"/>
              <a:buChar char="•"/>
            </a:pPr>
            <a:r>
              <a:rPr lang="en-US" sz="1100" dirty="0">
                <a:solidFill>
                  <a:srgbClr val="231F20"/>
                </a:solidFill>
                <a:latin typeface="Proxima Nova" pitchFamily="34" charset="0"/>
                <a:ea typeface="Proxima Nova" pitchFamily="34" charset="-122"/>
                <a:cs typeface="Proxima Nova" pitchFamily="34" charset="-120"/>
              </a:rPr>
              <a:t>Overnight visits are growing fastest (</a:t>
            </a:r>
            <a:pPr algn="l" marL="177800" indent="-177800">
              <a:spcAft>
                <a:spcPts val="600"/>
              </a:spcAft>
              <a:buSzPct val="100000"/>
              <a:buChar char="•"/>
            </a:pPr>
            <a:r>
              <a:rPr lang="en-US" sz="1100" b="1" dirty="0">
                <a:solidFill>
                  <a:srgbClr val="125C60"/>
                </a:solidFill>
                <a:latin typeface="Proxima Nova" pitchFamily="34" charset="0"/>
                <a:ea typeface="Proxima Nova" pitchFamily="34" charset="-122"/>
                <a:cs typeface="Proxima Nova" pitchFamily="34" charset="-120"/>
              </a:rPr>
              <a:t>+4.5%</a:t>
            </a:r>
            <a:pPr algn="l" marL="177800" indent="-177800">
              <a:spcAft>
                <a:spcPts val="600"/>
              </a:spcAft>
              <a:buSzPct val="100000"/>
              <a:buChar char="•"/>
            </a:pPr>
            <a:r>
              <a:rPr lang="en-US" sz="1100" dirty="0">
                <a:solidFill>
                  <a:srgbClr val="231F20"/>
                </a:solidFill>
                <a:latin typeface="Proxima Nova" pitchFamily="34" charset="0"/>
                <a:ea typeface="Proxima Nova" pitchFamily="34" charset="-122"/>
                <a:cs typeface="Proxima Nova" pitchFamily="34" charset="-120"/>
              </a:rPr>
              <a:t> in Q2 2026).</a:t>
            </a:r>
            <a:endParaRPr lang="en-US" sz="1100" dirty="0"/>
          </a:p>
        </p:txBody>
      </p:sp>
      <p:sp>
        <p:nvSpPr>
          <p:cNvPr id="24"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Travel Forecast (Sept. 2026) and Economic Impact of Visitors 2025. Per-visitor values are BI calculations from rounded totals (approximate).</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Q2 2026: visitors spent $1.76 billion in Anaheim, up 7.8%</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Quarterly results · Tourism Economics Q2 2026 measurement</a:t>
            </a:r>
            <a:endParaRPr lang="en-US" sz="12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5120640" cy="914400"/>
        </p:xfrm>
        <a:graphic>
          <a:graphicData uri="http://schemas.openxmlformats.org/drawingml/2006/table">
            <a:tbl>
              <a:tblPr/>
              <a:tblGrid>
                <a:gridCol w="1280160"/>
                <a:gridCol w="1188720"/>
                <a:gridCol w="1371600"/>
                <a:gridCol w="1280160"/>
              </a:tblGrid>
              <a:tr h="365760">
                <a:tc>
                  <a:txBody>
                    <a:bodyPr/>
                    <a:lstStyle/>
                    <a:p>
                      <a:pPr algn="l" indent="0" marL="0">
                        <a:buNone/>
                      </a:pPr>
                      <a:r>
                        <a:rPr lang="en-US" sz="1050" b="1" dirty="0">
                          <a:solidFill>
                            <a:srgbClr val="FFFFFF"/>
                          </a:solidFill>
                          <a:latin typeface="Proxima Nova" pitchFamily="34" charset="0"/>
                          <a:ea typeface="Proxima Nova" pitchFamily="34" charset="-122"/>
                          <a:cs typeface="Proxima Nova" pitchFamily="34" charset="-120"/>
                        </a:rPr>
                        <a:t>Quarter</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Visits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Visitor spending</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Per visitor</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6576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Q1 2025</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6.12M</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$1.61B</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$263</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6576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Q2 2025</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6.55M</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$1.63B</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$249</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6576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Q3 2025</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6.85M</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$1.71B</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$250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6576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Q4 2025</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7.01M</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$1.87B</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$267</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6576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Q1 2026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6.32M</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$1.72B</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$272</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6576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Q2 2026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6.74M</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$1.76B</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$261</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bl>
          </a:graphicData>
        </a:graphic>
      </p:graphicFrame>
      <p:graphicFrame>
        <p:nvGraphicFramePr>
          <p:cNvPr id="113" name="Table 1"/>
          <p:cNvGraphicFramePr>
            <a:graphicFrameLocks noGrp="1"/>
          </p:cNvGraphicFramePr>
          <p:nvPr>
            <p:extLst>
              <p:ext uri="{D42A27DB-BD31-4B8C-83A1-F6EECF244321}">
                <p14:modId xmlns:p14="http://schemas.microsoft.com/office/powerpoint/2010/main" val="1579011935"/>
              </p:ext>
            </p:extLst>
          </p:nvPr>
        </p:nvGraphicFramePr>
        <p:xfrm>
          <a:off x="5943600" y="1463040"/>
          <a:ext cx="5669280" cy="914400"/>
        </p:xfrm>
        <a:graphic>
          <a:graphicData uri="http://schemas.openxmlformats.org/drawingml/2006/table">
            <a:tbl>
              <a:tblPr/>
              <a:tblGrid>
                <a:gridCol w="777240"/>
                <a:gridCol w="777240"/>
                <a:gridCol w="1234440"/>
                <a:gridCol w="1005840"/>
                <a:gridCol w="868680"/>
                <a:gridCol w="1005840"/>
              </a:tblGrid>
              <a:tr h="329184">
                <a:tc>
                  <a:txBody>
                    <a:bodyPr/>
                    <a:lstStyle/>
                    <a:p>
                      <a:pPr algn="l" indent="0" marL="0">
                        <a:buNone/>
                      </a:pPr>
                      <a:r>
                        <a:rPr lang="en-US" sz="1000" b="1" dirty="0">
                          <a:solidFill>
                            <a:srgbClr val="FFFFFF"/>
                          </a:solidFill>
                          <a:latin typeface="Proxima Nova" pitchFamily="34" charset="0"/>
                          <a:ea typeface="Proxima Nova" pitchFamily="34" charset="-122"/>
                          <a:cs typeface="Proxima Nova" pitchFamily="34" charset="-120"/>
                        </a:rPr>
                        <a:t>Year</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Visits</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Day / overnight</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Visitor spending</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Per visitor</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Spending change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29184">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2023</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25.8M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17.2M / 8.6M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$6.5B</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$251</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 +7.5%</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2024</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26.3M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17.7M / 8.6M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$6.6B</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$252</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 +2.3%</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2025</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26.5M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17.9M / 8.6M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$6.8B</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$258</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 +3.1%</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29184">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2026 F</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27.0M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18.1M / 8.9M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$7.2B</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$267</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 +5.6%</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2027 F</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27.3M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18.3M / 9.0M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$7.4B</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$271</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 +2.7%</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2028 F</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27.6M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18.5M / 9.1M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$7.7B</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$279</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 +3.5%</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6" name="Text 2"/>
          <p:cNvSpPr txBox="1"/>
          <p:nvPr/>
        </p:nvSpPr>
        <p:spPr>
          <a:xfrm>
            <a:off x="548640" y="4343400"/>
            <a:ext cx="5120640" cy="1645920"/>
          </a:xfrm>
          <a:prstGeom prst="rect">
            <a:avLst/>
          </a:prstGeom>
          <a:noFill/>
          <a:ln/>
        </p:spPr>
        <p:txBody>
          <a:bodyPr wrap="square" lIns="0" tIns="0" rIns="0" bIns="0" rtlCol="0" anchor="t"/>
          <a:lstStyle/>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Visits rose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2.8% to 6.74 million</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overnight visits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+4.5%</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day visits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+2.1%</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Hotel rates were nearly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9%</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above Q2 2025.</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First half 2026: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13.1 million</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visitors spent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$3.5 billion</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+3.1%</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and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+7.5%</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Garden Grove Q2: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831,000 visitors</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+3.4%</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spent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$200.4 million</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+7.1%</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a:t>
            </a:r>
            <a:endParaRPr lang="en-US" sz="1150" dirty="0"/>
          </a:p>
        </p:txBody>
      </p:sp>
      <p:sp>
        <p:nvSpPr>
          <p:cNvPr id="7"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Anaheim and Garden Grove Travel Forecast (published Sept. 2026; data through Aug. 31,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How the numbers are calculated: Visitor spending</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Each step with its calculation, result and source</a:t>
            </a:r>
            <a:endParaRPr lang="en-US" sz="1200" dirty="0"/>
          </a:p>
        </p:txBody>
      </p:sp>
      <p:graphicFrame>
        <p:nvGraphicFramePr>
          <p:cNvPr id="58"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286000"/>
                <a:gridCol w="5120640"/>
                <a:gridCol w="1280160"/>
                <a:gridCol w="2404872"/>
              </a:tblGrid>
              <a:tr h="384048">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Step</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Calculation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Result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Source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Spending per visitor, 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$6.83B visitor spending ÷ 26.5M visitors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$258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 (2025)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Forecast per visitor, 2028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Reported by source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$279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 forecast (Sept.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Visitor spending, Q2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Reported; vs. Q2 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$1.76B (+7.8%)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 (Sept.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Growth rates to 2028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Visitor spending $6.83B (2025) → $7.7B (2028 forecast) = +4.1% a year; visits 26.5M → 27.6M = +1.4% a year; per visitor $258 → $279 = +2.6% a year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+4.1% vs. +1.4%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 BI calculation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(2025); Tourism Economics forecast (Sept. 2026); Tourism Economics (Sept. 2026); Tourism Economics; BI calculation</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What it means for OC Vibe: Visitor spending</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What this insight enhances for OC Vibe, and what OC Vibe needs to act on it</a:t>
            </a:r>
            <a:endParaRPr lang="en-US" sz="1200" dirty="0"/>
          </a:p>
        </p:txBody>
      </p:sp>
      <p:sp>
        <p:nvSpPr>
          <p:cNvPr id="4" name="Shape 2"/>
          <p:cNvSpPr/>
          <p:nvPr/>
        </p:nvSpPr>
        <p:spPr>
          <a:xfrm>
            <a:off x="548640" y="1417320"/>
            <a:ext cx="11094415" cy="914400"/>
          </a:xfrm>
          <a:prstGeom prst="rect">
            <a:avLst/>
          </a:prstGeom>
          <a:solidFill>
            <a:srgbClr val="B4D9E3"/>
          </a:solidFill>
          <a:ln w="12700">
            <a:solidFill>
              <a:srgbClr val="B4D9E3"/>
            </a:solidFill>
            <a:prstDash val="solid"/>
          </a:ln>
        </p:spPr>
      </p:sp>
      <p:sp>
        <p:nvSpPr>
          <p:cNvPr id="5" name="Text 3"/>
          <p:cNvSpPr txBox="1"/>
          <p:nvPr/>
        </p:nvSpPr>
        <p:spPr>
          <a:xfrm>
            <a:off x="685800" y="1463040"/>
            <a:ext cx="1828800" cy="201168"/>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KEY INSIGHT</a:t>
            </a:r>
            <a:endParaRPr lang="en-US" sz="900" dirty="0"/>
          </a:p>
        </p:txBody>
      </p:sp>
      <p:sp>
        <p:nvSpPr>
          <p:cNvPr id="6" name="Text 4"/>
          <p:cNvSpPr txBox="1"/>
          <p:nvPr/>
        </p:nvSpPr>
        <p:spPr>
          <a:xfrm>
            <a:off x="685800" y="1664208"/>
            <a:ext cx="10820095" cy="640080"/>
          </a:xfrm>
          <a:prstGeom prst="rect">
            <a:avLst/>
          </a:prstGeom>
          <a:noFill/>
          <a:ln/>
        </p:spPr>
        <p:txBody>
          <a:bodyPr wrap="square" lIns="0" tIns="0" rIns="0" bIns="0" rtlCol="0" anchor="t"/>
          <a:lstStyle/>
          <a:p>
            <a:pPr indent="0" marL="0">
              <a:buNone/>
            </a:pPr>
            <a:r>
              <a:rPr lang="en-US" sz="1100" dirty="0">
                <a:solidFill>
                  <a:srgbClr val="231F20"/>
                </a:solidFill>
                <a:latin typeface="Proxima Nova" pitchFamily="34" charset="0"/>
                <a:ea typeface="Proxima Nova" pitchFamily="34" charset="-122"/>
                <a:cs typeface="Proxima Nova" pitchFamily="34" charset="-120"/>
              </a:rPr>
              <a:t>Each Anaheim visitor spent about </a:t>
            </a:r>
            <a:pPr indent="0" marL="0">
              <a:buNone/>
            </a:pPr>
            <a:r>
              <a:rPr lang="en-US" sz="1100" b="1" dirty="0">
                <a:solidFill>
                  <a:srgbClr val="125C60"/>
                </a:solidFill>
                <a:latin typeface="Proxima Nova" pitchFamily="34" charset="0"/>
                <a:ea typeface="Proxima Nova" pitchFamily="34" charset="-122"/>
                <a:cs typeface="Proxima Nova" pitchFamily="34" charset="-120"/>
              </a:rPr>
              <a:t>$258</a:t>
            </a:r>
            <a:pPr indent="0" marL="0">
              <a:buNone/>
            </a:pPr>
            <a:r>
              <a:rPr lang="en-US" sz="1100" dirty="0">
                <a:solidFill>
                  <a:srgbClr val="231F20"/>
                </a:solidFill>
                <a:latin typeface="Proxima Nova" pitchFamily="34" charset="0"/>
                <a:ea typeface="Proxima Nova" pitchFamily="34" charset="-122"/>
                <a:cs typeface="Proxima Nova" pitchFamily="34" charset="-120"/>
              </a:rPr>
              <a:t> in 2025 (</a:t>
            </a:r>
            <a:pPr indent="0" marL="0">
              <a:buNone/>
            </a:pPr>
            <a:r>
              <a:rPr lang="en-US" sz="1100" b="1" dirty="0">
                <a:solidFill>
                  <a:srgbClr val="125C60"/>
                </a:solidFill>
                <a:latin typeface="Proxima Nova" pitchFamily="34" charset="0"/>
                <a:ea typeface="Proxima Nova" pitchFamily="34" charset="-122"/>
                <a:cs typeface="Proxima Nova" pitchFamily="34" charset="-120"/>
              </a:rPr>
              <a:t>$6.83B</a:t>
            </a:r>
            <a:pPr indent="0" marL="0">
              <a:buNone/>
            </a:pPr>
            <a:r>
              <a:rPr lang="en-US" sz="1100" dirty="0">
                <a:solidFill>
                  <a:srgbClr val="231F20"/>
                </a:solidFill>
                <a:latin typeface="Proxima Nova" pitchFamily="34" charset="0"/>
                <a:ea typeface="Proxima Nova" pitchFamily="34" charset="-122"/>
                <a:cs typeface="Proxima Nova" pitchFamily="34" charset="-120"/>
              </a:rPr>
              <a:t> visitor spending ÷ </a:t>
            </a:r>
            <a:pPr indent="0" marL="0">
              <a:buNone/>
            </a:pPr>
            <a:r>
              <a:rPr lang="en-US" sz="1100" b="1" dirty="0">
                <a:solidFill>
                  <a:srgbClr val="125C60"/>
                </a:solidFill>
                <a:latin typeface="Proxima Nova" pitchFamily="34" charset="0"/>
                <a:ea typeface="Proxima Nova" pitchFamily="34" charset="-122"/>
                <a:cs typeface="Proxima Nova" pitchFamily="34" charset="-120"/>
              </a:rPr>
              <a:t>26.5M</a:t>
            </a:r>
            <a:pPr indent="0" marL="0">
              <a:buNone/>
            </a:pPr>
            <a:r>
              <a:rPr lang="en-US" sz="1100" dirty="0">
                <a:solidFill>
                  <a:srgbClr val="231F20"/>
                </a:solidFill>
                <a:latin typeface="Proxima Nova" pitchFamily="34" charset="0"/>
                <a:ea typeface="Proxima Nova" pitchFamily="34" charset="-122"/>
                <a:cs typeface="Proxima Nova" pitchFamily="34" charset="-120"/>
              </a:rPr>
              <a:t> visitors), and Tourism Economics forecasts </a:t>
            </a:r>
            <a:pPr indent="0" marL="0">
              <a:buNone/>
            </a:pPr>
            <a:r>
              <a:rPr lang="en-US" sz="1100" b="1" dirty="0">
                <a:solidFill>
                  <a:srgbClr val="125C60"/>
                </a:solidFill>
                <a:latin typeface="Proxima Nova" pitchFamily="34" charset="0"/>
                <a:ea typeface="Proxima Nova" pitchFamily="34" charset="-122"/>
                <a:cs typeface="Proxima Nova" pitchFamily="34" charset="-120"/>
              </a:rPr>
              <a:t>$279</a:t>
            </a:r>
            <a:pPr indent="0" marL="0">
              <a:buNone/>
            </a:pPr>
            <a:r>
              <a:rPr lang="en-US" sz="1100" dirty="0">
                <a:solidFill>
                  <a:srgbClr val="231F20"/>
                </a:solidFill>
                <a:latin typeface="Proxima Nova" pitchFamily="34" charset="0"/>
                <a:ea typeface="Proxima Nova" pitchFamily="34" charset="-122"/>
                <a:cs typeface="Proxima Nova" pitchFamily="34" charset="-120"/>
              </a:rPr>
              <a:t> by 2028. Visitors spent </a:t>
            </a:r>
            <a:pPr indent="0" marL="0">
              <a:buNone/>
            </a:pPr>
            <a:r>
              <a:rPr lang="en-US" sz="1100" b="1" dirty="0">
                <a:solidFill>
                  <a:srgbClr val="125C60"/>
                </a:solidFill>
                <a:latin typeface="Proxima Nova" pitchFamily="34" charset="0"/>
                <a:ea typeface="Proxima Nova" pitchFamily="34" charset="-122"/>
                <a:cs typeface="Proxima Nova" pitchFamily="34" charset="-120"/>
              </a:rPr>
              <a:t>$1.76B</a:t>
            </a:r>
            <a:pPr indent="0" marL="0">
              <a:buNone/>
            </a:pPr>
            <a:r>
              <a:rPr lang="en-US" sz="1100" dirty="0">
                <a:solidFill>
                  <a:srgbClr val="231F20"/>
                </a:solidFill>
                <a:latin typeface="Proxima Nova" pitchFamily="34" charset="0"/>
                <a:ea typeface="Proxima Nova" pitchFamily="34" charset="-122"/>
                <a:cs typeface="Proxima Nova" pitchFamily="34" charset="-120"/>
              </a:rPr>
              <a:t> in Q2 2026, up </a:t>
            </a:r>
            <a:pPr indent="0" marL="0">
              <a:buNone/>
            </a:pPr>
            <a:r>
              <a:rPr lang="en-US" sz="1100" b="1" dirty="0">
                <a:solidFill>
                  <a:srgbClr val="125C60"/>
                </a:solidFill>
                <a:latin typeface="Proxima Nova" pitchFamily="34" charset="0"/>
                <a:ea typeface="Proxima Nova" pitchFamily="34" charset="-122"/>
                <a:cs typeface="Proxima Nova" pitchFamily="34" charset="-120"/>
              </a:rPr>
              <a:t>7.8%</a:t>
            </a:r>
            <a:pPr indent="0" marL="0">
              <a:buNone/>
            </a:pPr>
            <a:r>
              <a:rPr lang="en-US" sz="1100" dirty="0">
                <a:solidFill>
                  <a:srgbClr val="231F20"/>
                </a:solidFill>
                <a:latin typeface="Proxima Nova" pitchFamily="34" charset="0"/>
                <a:ea typeface="Proxima Nova" pitchFamily="34" charset="-122"/>
                <a:cs typeface="Proxima Nova" pitchFamily="34" charset="-120"/>
              </a:rPr>
              <a:t> from Q2 2025.</a:t>
            </a:r>
            <a:endParaRPr lang="en-US" sz="1100" dirty="0"/>
          </a:p>
        </p:txBody>
      </p:sp>
      <p:sp>
        <p:nvSpPr>
          <p:cNvPr id="7" name="Shape 5"/>
          <p:cNvSpPr/>
          <p:nvPr/>
        </p:nvSpPr>
        <p:spPr>
          <a:xfrm>
            <a:off x="548640" y="2468880"/>
            <a:ext cx="5410048" cy="45720"/>
          </a:xfrm>
          <a:prstGeom prst="rect">
            <a:avLst/>
          </a:prstGeom>
          <a:solidFill>
            <a:srgbClr val="43A3A3"/>
          </a:solidFill>
          <a:ln w="12700">
            <a:solidFill>
              <a:srgbClr val="43A3A3"/>
            </a:solidFill>
            <a:prstDash val="solid"/>
          </a:ln>
        </p:spPr>
      </p:sp>
      <p:sp>
        <p:nvSpPr>
          <p:cNvPr id="8" name="Text 6"/>
          <p:cNvSpPr txBox="1"/>
          <p:nvPr/>
        </p:nvSpPr>
        <p:spPr>
          <a:xfrm>
            <a:off x="548640" y="2560320"/>
            <a:ext cx="5410048" cy="256032"/>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WHAT IT ENHANCES</a:t>
            </a:r>
            <a:endParaRPr lang="en-US" sz="1000" dirty="0"/>
          </a:p>
        </p:txBody>
      </p:sp>
      <p:sp>
        <p:nvSpPr>
          <p:cNvPr id="9" name="Text 7"/>
          <p:cNvSpPr txBox="1"/>
          <p:nvPr/>
        </p:nvSpPr>
        <p:spPr>
          <a:xfrm>
            <a:off x="548640" y="2852928"/>
            <a:ext cx="5410048" cy="3063240"/>
          </a:xfrm>
          <a:prstGeom prst="rect">
            <a:avLst/>
          </a:prstGeom>
          <a:noFill/>
          <a:ln/>
        </p:spPr>
        <p:txBody>
          <a:bodyPr wrap="square" lIns="0" tIns="0" rIns="0" bIns="0" rtlCol="0" anchor="t"/>
          <a:lstStyle/>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Programming: Visitor spending grows faster than visits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+4.1%</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vs.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+1.4%</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 year to 2028), so premium seating, dining and packages add more value than attendance alone. [Calculation: Visitor spending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$6.83B</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(2025)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$7.7B</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(2028 forecast)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+4.1%</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 year; visits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26.5M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27.6M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+1.4%</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 year; per visitor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$258</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$279</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+2.6%</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 year]</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Marketing: Visitor card spending reached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$464.6M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in August 2026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+8.1%</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and spending per card rose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4.7% to $85</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a:t>
            </a:r>
            <a:endParaRPr lang="en-US" sz="800" dirty="0"/>
          </a:p>
        </p:txBody>
      </p:sp>
      <p:sp>
        <p:nvSpPr>
          <p:cNvPr id="10" name="Shape 8"/>
          <p:cNvSpPr/>
          <p:nvPr/>
        </p:nvSpPr>
        <p:spPr>
          <a:xfrm>
            <a:off x="6233008" y="2468880"/>
            <a:ext cx="5410048" cy="45720"/>
          </a:xfrm>
          <a:prstGeom prst="rect">
            <a:avLst/>
          </a:prstGeom>
          <a:solidFill>
            <a:srgbClr val="125C60"/>
          </a:solidFill>
          <a:ln w="12700">
            <a:solidFill>
              <a:srgbClr val="125C60"/>
            </a:solidFill>
            <a:prstDash val="solid"/>
          </a:ln>
        </p:spPr>
      </p:sp>
      <p:sp>
        <p:nvSpPr>
          <p:cNvPr id="11" name="Text 9"/>
          <p:cNvSpPr txBox="1"/>
          <p:nvPr/>
        </p:nvSpPr>
        <p:spPr>
          <a:xfrm>
            <a:off x="6233008" y="2560320"/>
            <a:ext cx="5410048" cy="256032"/>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WHAT OC VIBE NEEDS</a:t>
            </a:r>
            <a:endParaRPr lang="en-US" sz="1000" dirty="0"/>
          </a:p>
        </p:txBody>
      </p:sp>
      <p:sp>
        <p:nvSpPr>
          <p:cNvPr id="12" name="Text 10"/>
          <p:cNvSpPr txBox="1"/>
          <p:nvPr/>
        </p:nvSpPr>
        <p:spPr>
          <a:xfrm>
            <a:off x="6233008" y="2852928"/>
            <a:ext cx="5410048" cy="3063240"/>
          </a:xfrm>
          <a:prstGeom prst="rect">
            <a:avLst/>
          </a:prstGeom>
          <a:noFill/>
          <a:ln/>
        </p:spPr>
        <p:txBody>
          <a:bodyPr wrap="square" lIns="0" tIns="0" rIns="0" bIns="0" rtlCol="0" anchor="t"/>
          <a:lstStyle/>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Programming: Dining, event and package pricing built for visitors as well as locals; the average visitor card transaction was </a:t>
            </a:r>
            <a:pPr algn="l" marL="177800" indent="-177800">
              <a:spcAft>
                <a:spcPts val="600"/>
              </a:spcAft>
              <a:buSzPct val="100000"/>
              <a:buChar char="•"/>
            </a:pPr>
            <a:r>
              <a:rPr lang="en-US" sz="1050" b="1" dirty="0">
                <a:solidFill>
                  <a:srgbClr val="125C60"/>
                </a:solidFill>
                <a:latin typeface="Proxima Nova" pitchFamily="34" charset="0"/>
                <a:ea typeface="Proxima Nova" pitchFamily="34" charset="-122"/>
                <a:cs typeface="Proxima Nova" pitchFamily="34" charset="-120"/>
              </a:rPr>
              <a:t>$43</a:t>
            </a:r>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 in August 2026.</a:t>
            </a:r>
            <a:endParaRPr lang="en-US" sz="1050" dirty="0"/>
          </a:p>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Measurement: Card spending mapped to the OC Vibe area, to separate OC Vibe's spending from the citywide total.</a:t>
            </a:r>
            <a:endParaRPr lang="en-US" sz="1050" dirty="0"/>
          </a:p>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Measurement: Visits and spending per visitor tracked together, so price increases are not mistaken for growth.</a:t>
            </a:r>
            <a:endParaRPr lang="en-US" sz="1050" dirty="0"/>
          </a:p>
        </p:txBody>
      </p:sp>
      <p:sp>
        <p:nvSpPr>
          <p:cNvPr id="13"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2025 (pub. Apr.–May 2026); Tourism Economics, Travel Forecast (pub. Sept. 2026; data to Aug. 31, 2026); Visa Destination Insights via Symphony (Aug. 2026 vs. Aug. 2025)</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Visitors supported 67,817 Anaheim jobs in 2025, one in three</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Jobs and economy · Calendar 2025 vs. 2024 · Tourism Economics regional reports</a:t>
            </a:r>
            <a:endParaRPr lang="en-US" sz="1200" dirty="0"/>
          </a:p>
        </p:txBody>
      </p:sp>
      <p:sp>
        <p:nvSpPr>
          <p:cNvPr id="5" name="Text 2"/>
          <p:cNvSpPr txBox="1"/>
          <p:nvPr/>
        </p:nvSpPr>
        <p:spPr>
          <a:xfrm>
            <a:off x="548640" y="1481328"/>
            <a:ext cx="7086600"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THE LEDE</a:t>
            </a:r>
            <a:endParaRPr lang="en-US" sz="1000" dirty="0"/>
          </a:p>
        </p:txBody>
      </p:sp>
      <p:sp>
        <p:nvSpPr>
          <p:cNvPr id="6" name="Text 3"/>
          <p:cNvSpPr txBox="1"/>
          <p:nvPr/>
        </p:nvSpPr>
        <p:spPr>
          <a:xfrm>
            <a:off x="548640" y="1737360"/>
            <a:ext cx="7086600" cy="1965960"/>
          </a:xfrm>
          <a:prstGeom prst="rect">
            <a:avLst/>
          </a:prstGeom>
          <a:noFill/>
          <a:ln/>
        </p:spPr>
        <p:txBody>
          <a:bodyPr wrap="square" lIns="0" tIns="0" rIns="0" bIns="0" rtlCol="0" anchor="t"/>
          <a:lstStyle/>
          <a:p>
            <a:pPr indent="0" marL="0">
              <a:buNone/>
            </a:pPr>
            <a:r>
              <a:rPr lang="en-US" sz="1350" b="1" dirty="0">
                <a:solidFill>
                  <a:srgbClr val="125C60"/>
                </a:solidFill>
                <a:latin typeface="Proxima Nova" pitchFamily="34" charset="0"/>
                <a:ea typeface="Proxima Nova" pitchFamily="34" charset="-122"/>
                <a:cs typeface="Proxima Nova" pitchFamily="34" charset="-120"/>
              </a:rPr>
              <a:t>ANAHEIM, Calif. (Oct. 13, 2026): </a:t>
            </a:r>
            <a:pPr indent="0" marL="0">
              <a:buNone/>
            </a:pPr>
            <a:r>
              <a:rPr lang="en-US" sz="1350" dirty="0">
                <a:solidFill>
                  <a:srgbClr val="231F20"/>
                </a:solidFill>
                <a:latin typeface="Proxima Nova" pitchFamily="34" charset="0"/>
                <a:ea typeface="Proxima Nova" pitchFamily="34" charset="-122"/>
                <a:cs typeface="Proxima Nova" pitchFamily="34" charset="-120"/>
              </a:rPr>
              <a:t>Visitors supported </a:t>
            </a:r>
            <a:pPr indent="0" marL="0">
              <a:buNone/>
            </a:pPr>
            <a:r>
              <a:rPr lang="en-US" sz="1350" b="1" dirty="0">
                <a:solidFill>
                  <a:srgbClr val="125C60"/>
                </a:solidFill>
                <a:latin typeface="Proxima Nova" pitchFamily="34" charset="0"/>
                <a:ea typeface="Proxima Nova" pitchFamily="34" charset="-122"/>
                <a:cs typeface="Proxima Nova" pitchFamily="34" charset="-120"/>
              </a:rPr>
              <a:t>67,817</a:t>
            </a:r>
            <a:pPr indent="0" marL="0">
              <a:buNone/>
            </a:pPr>
            <a:r>
              <a:rPr lang="en-US" sz="1350" dirty="0">
                <a:solidFill>
                  <a:srgbClr val="231F20"/>
                </a:solidFill>
                <a:latin typeface="Proxima Nova" pitchFamily="34" charset="0"/>
                <a:ea typeface="Proxima Nova" pitchFamily="34" charset="-122"/>
                <a:cs typeface="Proxima Nova" pitchFamily="34" charset="-120"/>
              </a:rPr>
              <a:t> Anaheim jobs in 2025, about one in three, and </a:t>
            </a:r>
            <a:pPr indent="0" marL="0">
              <a:buNone/>
            </a:pPr>
            <a:r>
              <a:rPr lang="en-US" sz="1350" b="1" dirty="0">
                <a:solidFill>
                  <a:srgbClr val="125C60"/>
                </a:solidFill>
                <a:latin typeface="Proxima Nova" pitchFamily="34" charset="0"/>
                <a:ea typeface="Proxima Nova" pitchFamily="34" charset="-122"/>
                <a:cs typeface="Proxima Nova" pitchFamily="34" charset="-120"/>
              </a:rPr>
              <a:t>178,164</a:t>
            </a:r>
            <a:pPr indent="0" marL="0">
              <a:buNone/>
            </a:pPr>
            <a:r>
              <a:rPr lang="en-US" sz="1350" dirty="0">
                <a:solidFill>
                  <a:srgbClr val="231F20"/>
                </a:solidFill>
                <a:latin typeface="Proxima Nova" pitchFamily="34" charset="0"/>
                <a:ea typeface="Proxima Nova" pitchFamily="34" charset="-122"/>
                <a:cs typeface="Proxima Nova" pitchFamily="34" charset="-120"/>
              </a:rPr>
              <a:t> countywide. Food and beverage holds </a:t>
            </a:r>
            <a:pPr indent="0" marL="0">
              <a:buNone/>
            </a:pPr>
            <a:r>
              <a:rPr lang="en-US" sz="1350" b="1" dirty="0">
                <a:solidFill>
                  <a:srgbClr val="125C60"/>
                </a:solidFill>
                <a:latin typeface="Proxima Nova" pitchFamily="34" charset="0"/>
                <a:ea typeface="Proxima Nova" pitchFamily="34" charset="-122"/>
                <a:cs typeface="Proxima Nova" pitchFamily="34" charset="-120"/>
              </a:rPr>
              <a:t>16.8%</a:t>
            </a:r>
            <a:pPr indent="0" marL="0">
              <a:buNone/>
            </a:pPr>
            <a:r>
              <a:rPr lang="en-US" sz="1350" dirty="0">
                <a:solidFill>
                  <a:srgbClr val="231F20"/>
                </a:solidFill>
                <a:latin typeface="Proxima Nova" pitchFamily="34" charset="0"/>
                <a:ea typeface="Proxima Nova" pitchFamily="34" charset="-122"/>
                <a:cs typeface="Proxima Nova" pitchFamily="34" charset="-120"/>
              </a:rPr>
              <a:t> of those jobs in Anaheim and </a:t>
            </a:r>
            <a:pPr indent="0" marL="0">
              <a:buNone/>
            </a:pPr>
            <a:r>
              <a:rPr lang="en-US" sz="1350" b="1" dirty="0">
                <a:solidFill>
                  <a:srgbClr val="125C60"/>
                </a:solidFill>
                <a:latin typeface="Proxima Nova" pitchFamily="34" charset="0"/>
                <a:ea typeface="Proxima Nova" pitchFamily="34" charset="-122"/>
                <a:cs typeface="Proxima Nova" pitchFamily="34" charset="-120"/>
              </a:rPr>
              <a:t>29.1%</a:t>
            </a:r>
            <a:pPr indent="0" marL="0">
              <a:buNone/>
            </a:pPr>
            <a:r>
              <a:rPr lang="en-US" sz="1350" dirty="0">
                <a:solidFill>
                  <a:srgbClr val="231F20"/>
                </a:solidFill>
                <a:latin typeface="Proxima Nova" pitchFamily="34" charset="0"/>
                <a:ea typeface="Proxima Nova" pitchFamily="34" charset="-122"/>
                <a:cs typeface="Proxima Nova" pitchFamily="34" charset="-120"/>
              </a:rPr>
              <a:t> countywide.</a:t>
            </a:r>
            <a:endParaRPr lang="en-US" sz="1350" dirty="0"/>
          </a:p>
        </p:txBody>
      </p:sp>
      <p:sp>
        <p:nvSpPr>
          <p:cNvPr id="7" name="Shape 4"/>
          <p:cNvSpPr/>
          <p:nvPr/>
        </p:nvSpPr>
        <p:spPr>
          <a:xfrm>
            <a:off x="548640" y="3822192"/>
            <a:ext cx="7086600" cy="45720"/>
          </a:xfrm>
          <a:prstGeom prst="rect">
            <a:avLst/>
          </a:prstGeom>
          <a:solidFill>
            <a:srgbClr val="125C60"/>
          </a:solidFill>
          <a:ln w="12700">
            <a:solidFill>
              <a:srgbClr val="125C60"/>
            </a:solidFill>
            <a:prstDash val="solid"/>
          </a:ln>
        </p:spPr>
      </p:sp>
      <p:sp>
        <p:nvSpPr>
          <p:cNvPr id="8" name="Text 5"/>
          <p:cNvSpPr txBox="1"/>
          <p:nvPr/>
        </p:nvSpPr>
        <p:spPr>
          <a:xfrm>
            <a:off x="548640" y="3931920"/>
            <a:ext cx="7086600"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WHY IT MATTERS</a:t>
            </a:r>
            <a:endParaRPr lang="en-US" sz="1000" dirty="0"/>
          </a:p>
        </p:txBody>
      </p:sp>
      <p:sp>
        <p:nvSpPr>
          <p:cNvPr id="9" name="Text 6"/>
          <p:cNvSpPr txBox="1"/>
          <p:nvPr/>
        </p:nvSpPr>
        <p:spPr>
          <a:xfrm>
            <a:off x="548640" y="4187952"/>
            <a:ext cx="7086600" cy="1691640"/>
          </a:xfrm>
          <a:prstGeom prst="rect">
            <a:avLst/>
          </a:prstGeom>
          <a:noFill/>
          <a:ln/>
        </p:spPr>
        <p:txBody>
          <a:bodyPr wrap="square" lIns="0" tIns="0" rIns="0" bIns="0" rtlCol="0" anchor="t"/>
          <a:lstStyle/>
          <a:p>
            <a:pPr indent="0" marL="0">
              <a:buNone/>
            </a:pPr>
            <a:r>
              <a:rPr lang="en-US" sz="1250" dirty="0">
                <a:solidFill>
                  <a:srgbClr val="231F20"/>
                </a:solidFill>
                <a:latin typeface="Proxima Nova" pitchFamily="34" charset="0"/>
                <a:ea typeface="Proxima Nova" pitchFamily="34" charset="-122"/>
                <a:cs typeface="Proxima Nova" pitchFamily="34" charset="-120"/>
              </a:rPr>
              <a:t>Visitor spending reaches well beyond hotels and attractions. Tourism Economics counts direct, indirect and induced effects, which together support about one in three Anaheim jobs; these published ratios link visitor spending to jobs and tax revenue.</a:t>
            </a:r>
            <a:endParaRPr lang="en-US" sz="1250" dirty="0"/>
          </a:p>
        </p:txBody>
      </p:sp>
      <p:sp>
        <p:nvSpPr>
          <p:cNvPr id="10" name="Text 7"/>
          <p:cNvSpPr txBox="1"/>
          <p:nvPr/>
        </p:nvSpPr>
        <p:spPr>
          <a:xfrm>
            <a:off x="8001000" y="1481328"/>
            <a:ext cx="3642055"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BY THE NUMBERS</a:t>
            </a:r>
            <a:endParaRPr lang="en-US" sz="1000" dirty="0"/>
          </a:p>
        </p:txBody>
      </p:sp>
      <p:sp>
        <p:nvSpPr>
          <p:cNvPr id="11" name="news-stat-0"/>
          <p:cNvSpPr/>
          <p:nvPr/>
        </p:nvSpPr>
        <p:spPr>
          <a:xfrm>
            <a:off x="8001000" y="1755648"/>
            <a:ext cx="3642055" cy="1280160"/>
          </a:xfrm>
          <a:prstGeom prst="roundRect">
            <a:avLst>
              <a:gd name="adj" fmla="val 4286"/>
            </a:avLst>
          </a:prstGeom>
          <a:solidFill>
            <a:srgbClr val="FFFFFF"/>
          </a:solidFill>
          <a:ln w="12700">
            <a:solidFill>
              <a:srgbClr val="B4D9E3"/>
            </a:solidFill>
            <a:prstDash val="solid"/>
          </a:ln>
        </p:spPr>
      </p:sp>
      <p:sp>
        <p:nvSpPr>
          <p:cNvPr id="12" name="Text 9"/>
          <p:cNvSpPr txBox="1"/>
          <p:nvPr/>
        </p:nvSpPr>
        <p:spPr>
          <a:xfrm>
            <a:off x="8138160" y="18288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ANAHEIM</a:t>
            </a:r>
            <a:endParaRPr lang="en-US" sz="850" dirty="0"/>
          </a:p>
        </p:txBody>
      </p:sp>
      <p:sp>
        <p:nvSpPr>
          <p:cNvPr id="13" name="Text 10"/>
          <p:cNvSpPr txBox="1"/>
          <p:nvPr/>
        </p:nvSpPr>
        <p:spPr>
          <a:xfrm>
            <a:off x="8138160" y="20299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67,817</a:t>
            </a:r>
            <a:endParaRPr lang="en-US" sz="2200" dirty="0"/>
          </a:p>
        </p:txBody>
      </p:sp>
      <p:sp>
        <p:nvSpPr>
          <p:cNvPr id="14" name="Text 11"/>
          <p:cNvSpPr txBox="1"/>
          <p:nvPr/>
        </p:nvSpPr>
        <p:spPr>
          <a:xfrm>
            <a:off x="8138160" y="24505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Jobs supported by visitors</a:t>
            </a:r>
            <a:endParaRPr lang="en-US" sz="1050" dirty="0"/>
          </a:p>
        </p:txBody>
      </p:sp>
      <p:sp>
        <p:nvSpPr>
          <p:cNvPr id="15" name="Text 12"/>
          <p:cNvSpPr txBox="1"/>
          <p:nvPr/>
        </p:nvSpPr>
        <p:spPr>
          <a:xfrm>
            <a:off x="8138160" y="27249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Tourism Economics (2025; pub. 2026)</a:t>
            </a:r>
            <a:endParaRPr lang="en-US" sz="750" dirty="0"/>
          </a:p>
        </p:txBody>
      </p:sp>
      <p:sp>
        <p:nvSpPr>
          <p:cNvPr id="16" name="news-stat-1"/>
          <p:cNvSpPr/>
          <p:nvPr/>
        </p:nvSpPr>
        <p:spPr>
          <a:xfrm>
            <a:off x="8001000" y="3127248"/>
            <a:ext cx="3642055" cy="1280160"/>
          </a:xfrm>
          <a:prstGeom prst="roundRect">
            <a:avLst>
              <a:gd name="adj" fmla="val 4286"/>
            </a:avLst>
          </a:prstGeom>
          <a:solidFill>
            <a:srgbClr val="FFFFFF"/>
          </a:solidFill>
          <a:ln w="12700">
            <a:solidFill>
              <a:srgbClr val="B4D9E3"/>
            </a:solidFill>
            <a:prstDash val="solid"/>
          </a:ln>
        </p:spPr>
      </p:sp>
      <p:sp>
        <p:nvSpPr>
          <p:cNvPr id="17" name="Text 14"/>
          <p:cNvSpPr txBox="1"/>
          <p:nvPr/>
        </p:nvSpPr>
        <p:spPr>
          <a:xfrm>
            <a:off x="8138160" y="32004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GARDEN GROVE</a:t>
            </a:r>
            <a:endParaRPr lang="en-US" sz="850" dirty="0"/>
          </a:p>
        </p:txBody>
      </p:sp>
      <p:sp>
        <p:nvSpPr>
          <p:cNvPr id="18" name="Text 15"/>
          <p:cNvSpPr txBox="1"/>
          <p:nvPr/>
        </p:nvSpPr>
        <p:spPr>
          <a:xfrm>
            <a:off x="8138160" y="34015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6,694</a:t>
            </a:r>
            <a:endParaRPr lang="en-US" sz="2200" dirty="0"/>
          </a:p>
        </p:txBody>
      </p:sp>
      <p:sp>
        <p:nvSpPr>
          <p:cNvPr id="19" name="Text 16"/>
          <p:cNvSpPr txBox="1"/>
          <p:nvPr/>
        </p:nvSpPr>
        <p:spPr>
          <a:xfrm>
            <a:off x="8138160" y="38221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Jobs supported by visitors</a:t>
            </a:r>
            <a:endParaRPr lang="en-US" sz="1050" dirty="0"/>
          </a:p>
        </p:txBody>
      </p:sp>
      <p:sp>
        <p:nvSpPr>
          <p:cNvPr id="20" name="Text 17"/>
          <p:cNvSpPr txBox="1"/>
          <p:nvPr/>
        </p:nvSpPr>
        <p:spPr>
          <a:xfrm>
            <a:off x="8138160" y="40965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Tourism Economics (2025; pub. 2026)</a:t>
            </a:r>
            <a:endParaRPr lang="en-US" sz="750" dirty="0"/>
          </a:p>
        </p:txBody>
      </p:sp>
      <p:sp>
        <p:nvSpPr>
          <p:cNvPr id="21" name="news-stat-2"/>
          <p:cNvSpPr/>
          <p:nvPr/>
        </p:nvSpPr>
        <p:spPr>
          <a:xfrm>
            <a:off x="8001000" y="4498848"/>
            <a:ext cx="3642055" cy="1280160"/>
          </a:xfrm>
          <a:prstGeom prst="roundRect">
            <a:avLst>
              <a:gd name="adj" fmla="val 4286"/>
            </a:avLst>
          </a:prstGeom>
          <a:solidFill>
            <a:srgbClr val="FFFFFF"/>
          </a:solidFill>
          <a:ln w="12700">
            <a:solidFill>
              <a:srgbClr val="B4D9E3"/>
            </a:solidFill>
            <a:prstDash val="solid"/>
          </a:ln>
        </p:spPr>
      </p:sp>
      <p:sp>
        <p:nvSpPr>
          <p:cNvPr id="22" name="Text 19"/>
          <p:cNvSpPr txBox="1"/>
          <p:nvPr/>
        </p:nvSpPr>
        <p:spPr>
          <a:xfrm>
            <a:off x="8138160" y="45720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ORANGE COUNTY</a:t>
            </a:r>
            <a:endParaRPr lang="en-US" sz="850" dirty="0"/>
          </a:p>
        </p:txBody>
      </p:sp>
      <p:sp>
        <p:nvSpPr>
          <p:cNvPr id="23" name="Text 20"/>
          <p:cNvSpPr txBox="1"/>
          <p:nvPr/>
        </p:nvSpPr>
        <p:spPr>
          <a:xfrm>
            <a:off x="8138160" y="47731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178,164</a:t>
            </a:r>
            <a:endParaRPr lang="en-US" sz="2200" dirty="0"/>
          </a:p>
        </p:txBody>
      </p:sp>
      <p:sp>
        <p:nvSpPr>
          <p:cNvPr id="24" name="Text 21"/>
          <p:cNvSpPr txBox="1"/>
          <p:nvPr/>
        </p:nvSpPr>
        <p:spPr>
          <a:xfrm>
            <a:off x="8138160" y="51937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Jobs supported by visitors</a:t>
            </a:r>
            <a:endParaRPr lang="en-US" sz="1050" dirty="0"/>
          </a:p>
        </p:txBody>
      </p:sp>
      <p:sp>
        <p:nvSpPr>
          <p:cNvPr id="25" name="Text 22"/>
          <p:cNvSpPr txBox="1"/>
          <p:nvPr/>
        </p:nvSpPr>
        <p:spPr>
          <a:xfrm>
            <a:off x="8138160" y="54681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Tourism Economics (2025; pub. 2026)</a:t>
            </a:r>
            <a:endParaRPr lang="en-US" sz="750" dirty="0"/>
          </a:p>
        </p:txBody>
      </p:sp>
      <p:sp>
        <p:nvSpPr>
          <p:cNvPr id="2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2025 (pub. Apr.–May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The details: Jobs and economy</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who, what, when, where, why and how, each with its figure, source and date</a:t>
            </a:r>
            <a:endParaRPr lang="en-US" sz="1200" dirty="0"/>
          </a:p>
        </p:txBody>
      </p:sp>
      <p:sp>
        <p:nvSpPr>
          <p:cNvPr id="4" name="detail-card-0"/>
          <p:cNvSpPr/>
          <p:nvPr/>
        </p:nvSpPr>
        <p:spPr>
          <a:xfrm>
            <a:off x="548640" y="1417320"/>
            <a:ext cx="3588410" cy="2176272"/>
          </a:xfrm>
          <a:prstGeom prst="rect">
            <a:avLst/>
          </a:prstGeom>
          <a:solidFill>
            <a:srgbClr val="FFFFFF"/>
          </a:solidFill>
          <a:ln w="12700">
            <a:solidFill>
              <a:srgbClr val="B4D9E3"/>
            </a:solidFill>
            <a:prstDash val="solid"/>
          </a:ln>
        </p:spPr>
      </p:sp>
      <p:sp>
        <p:nvSpPr>
          <p:cNvPr id="5" name="Shape 3"/>
          <p:cNvSpPr/>
          <p:nvPr/>
        </p:nvSpPr>
        <p:spPr>
          <a:xfrm>
            <a:off x="548640" y="1417320"/>
            <a:ext cx="3588410" cy="64008"/>
          </a:xfrm>
          <a:prstGeom prst="rect">
            <a:avLst/>
          </a:prstGeom>
          <a:solidFill>
            <a:srgbClr val="43A3A3"/>
          </a:solidFill>
          <a:ln w="12700">
            <a:solidFill>
              <a:srgbClr val="43A3A3"/>
            </a:solidFill>
            <a:prstDash val="solid"/>
          </a:ln>
        </p:spPr>
      </p:sp>
      <p:sp>
        <p:nvSpPr>
          <p:cNvPr id="6" name="Text 4"/>
          <p:cNvSpPr txBox="1"/>
          <p:nvPr/>
        </p:nvSpPr>
        <p:spPr>
          <a:xfrm>
            <a:off x="685800"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WHO</a:t>
            </a:r>
            <a:endParaRPr lang="en-US" sz="900" dirty="0"/>
          </a:p>
        </p:txBody>
      </p:sp>
      <p:sp>
        <p:nvSpPr>
          <p:cNvPr id="7" name="Text 5"/>
          <p:cNvSpPr txBox="1"/>
          <p:nvPr/>
        </p:nvSpPr>
        <p:spPr>
          <a:xfrm>
            <a:off x="685800"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67,817</a:t>
            </a:r>
            <a:endParaRPr lang="en-US" sz="2200" dirty="0"/>
          </a:p>
        </p:txBody>
      </p:sp>
      <p:sp>
        <p:nvSpPr>
          <p:cNvPr id="8" name="Text 6"/>
          <p:cNvSpPr txBox="1"/>
          <p:nvPr/>
        </p:nvSpPr>
        <p:spPr>
          <a:xfrm>
            <a:off x="685800"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Anaheim jobs supported by visitors, 2025</a:t>
            </a:r>
            <a:endParaRPr lang="en-US" sz="1000" dirty="0"/>
          </a:p>
        </p:txBody>
      </p:sp>
      <p:sp>
        <p:nvSpPr>
          <p:cNvPr id="9" name="Text 7"/>
          <p:cNvSpPr txBox="1"/>
          <p:nvPr/>
        </p:nvSpPr>
        <p:spPr>
          <a:xfrm>
            <a:off x="685800"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Workers and households in Anaheim, Garden Grove and Orange County supported by visitor spending.</a:t>
            </a:r>
            <a:endParaRPr lang="en-US" sz="950" dirty="0"/>
          </a:p>
        </p:txBody>
      </p:sp>
      <p:sp>
        <p:nvSpPr>
          <p:cNvPr id="10" name="Text 8"/>
          <p:cNvSpPr txBox="1"/>
          <p:nvPr/>
        </p:nvSpPr>
        <p:spPr>
          <a:xfrm>
            <a:off x="685800"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Tourism Economics, Economic Impact of Visitors (calendar 2025; pub. 2026)</a:t>
            </a:r>
            <a:endParaRPr lang="en-US" sz="700" dirty="0"/>
          </a:p>
        </p:txBody>
      </p:sp>
      <p:sp>
        <p:nvSpPr>
          <p:cNvPr id="11" name="detail-card-1"/>
          <p:cNvSpPr/>
          <p:nvPr/>
        </p:nvSpPr>
        <p:spPr>
          <a:xfrm>
            <a:off x="4301642" y="1417320"/>
            <a:ext cx="3588410" cy="2176272"/>
          </a:xfrm>
          <a:prstGeom prst="rect">
            <a:avLst/>
          </a:prstGeom>
          <a:solidFill>
            <a:srgbClr val="FFFFFF"/>
          </a:solidFill>
          <a:ln w="12700">
            <a:solidFill>
              <a:srgbClr val="B4D9E3"/>
            </a:solidFill>
            <a:prstDash val="solid"/>
          </a:ln>
        </p:spPr>
      </p:sp>
      <p:sp>
        <p:nvSpPr>
          <p:cNvPr id="12" name="Shape 10"/>
          <p:cNvSpPr/>
          <p:nvPr/>
        </p:nvSpPr>
        <p:spPr>
          <a:xfrm>
            <a:off x="4301642" y="1417320"/>
            <a:ext cx="3588410" cy="64008"/>
          </a:xfrm>
          <a:prstGeom prst="rect">
            <a:avLst/>
          </a:prstGeom>
          <a:solidFill>
            <a:srgbClr val="43A3A3"/>
          </a:solidFill>
          <a:ln w="12700">
            <a:solidFill>
              <a:srgbClr val="43A3A3"/>
            </a:solidFill>
            <a:prstDash val="solid"/>
          </a:ln>
        </p:spPr>
      </p:sp>
      <p:sp>
        <p:nvSpPr>
          <p:cNvPr id="13" name="Text 11"/>
          <p:cNvSpPr txBox="1"/>
          <p:nvPr/>
        </p:nvSpPr>
        <p:spPr>
          <a:xfrm>
            <a:off x="4438802"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WHAT</a:t>
            </a:r>
            <a:endParaRPr lang="en-US" sz="900" dirty="0"/>
          </a:p>
        </p:txBody>
      </p:sp>
      <p:sp>
        <p:nvSpPr>
          <p:cNvPr id="14" name="Text 12"/>
          <p:cNvSpPr txBox="1"/>
          <p:nvPr/>
        </p:nvSpPr>
        <p:spPr>
          <a:xfrm>
            <a:off x="4438802"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$10.4B</a:t>
            </a:r>
            <a:endParaRPr lang="en-US" sz="2200" dirty="0"/>
          </a:p>
        </p:txBody>
      </p:sp>
      <p:sp>
        <p:nvSpPr>
          <p:cNvPr id="15" name="Text 13"/>
          <p:cNvSpPr txBox="1"/>
          <p:nvPr/>
        </p:nvSpPr>
        <p:spPr>
          <a:xfrm>
            <a:off x="4438802"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total economic impact, Anaheim, 2025</a:t>
            </a:r>
            <a:endParaRPr lang="en-US" sz="1000" dirty="0"/>
          </a:p>
        </p:txBody>
      </p:sp>
      <p:sp>
        <p:nvSpPr>
          <p:cNvPr id="16" name="Text 14"/>
          <p:cNvSpPr txBox="1"/>
          <p:nvPr/>
        </p:nvSpPr>
        <p:spPr>
          <a:xfrm>
            <a:off x="4438802" y="2551176"/>
            <a:ext cx="3314090" cy="731520"/>
          </a:xfrm>
          <a:prstGeom prst="rect">
            <a:avLst/>
          </a:prstGeom>
          <a:noFill/>
          <a:ln/>
        </p:spPr>
        <p:txBody>
          <a:bodyPr wrap="square" lIns="0" tIns="0" rIns="0" bIns="0" rtlCol="0" anchor="t">
            <a:normAutofit/>
          </a:bodyPr>
          <a:lstStyle/>
          <a:p>
            <a:pPr indent="0" marL="0">
              <a:buNone/>
            </a:pPr>
            <a:r>
              <a:rPr lang="en-US" sz="950" b="1" dirty="0">
                <a:solidFill>
                  <a:srgbClr val="125C60"/>
                </a:solidFill>
                <a:latin typeface="Proxima Nova" pitchFamily="34" charset="0"/>
                <a:ea typeface="Proxima Nova" pitchFamily="34" charset="-122"/>
                <a:cs typeface="Proxima Nova" pitchFamily="34" charset="-120"/>
              </a:rPr>
              <a:t>67,817 jobs</a:t>
            </a:r>
            <a:pPr indent="0" marL="0">
              <a:buNone/>
            </a:pPr>
            <a:r>
              <a:rPr lang="en-US" sz="950" dirty="0">
                <a:solidFill>
                  <a:srgbClr val="231F20"/>
                </a:solidFill>
                <a:latin typeface="Proxima Nova" pitchFamily="34" charset="0"/>
                <a:ea typeface="Proxima Nova" pitchFamily="34" charset="-122"/>
                <a:cs typeface="Proxima Nova" pitchFamily="34" charset="-120"/>
              </a:rPr>
              <a:t> in Anaheim (one in three), </a:t>
            </a:r>
            <a:pPr indent="0" marL="0">
              <a:buNone/>
            </a:pPr>
            <a:r>
              <a:rPr lang="en-US" sz="950" b="1" dirty="0">
                <a:solidFill>
                  <a:srgbClr val="125C60"/>
                </a:solidFill>
                <a:latin typeface="Proxima Nova" pitchFamily="34" charset="0"/>
                <a:ea typeface="Proxima Nova" pitchFamily="34" charset="-122"/>
                <a:cs typeface="Proxima Nova" pitchFamily="34" charset="-120"/>
              </a:rPr>
              <a:t>$10.4B</a:t>
            </a:r>
            <a:pPr indent="0" marL="0">
              <a:buNone/>
            </a:pPr>
            <a:r>
              <a:rPr lang="en-US" sz="950" dirty="0">
                <a:solidFill>
                  <a:srgbClr val="231F20"/>
                </a:solidFill>
                <a:latin typeface="Proxima Nova" pitchFamily="34" charset="0"/>
                <a:ea typeface="Proxima Nova" pitchFamily="34" charset="-122"/>
                <a:cs typeface="Proxima Nova" pitchFamily="34" charset="-120"/>
              </a:rPr>
              <a:t> total impact and </a:t>
            </a:r>
            <a:pPr indent="0" marL="0">
              <a:buNone/>
            </a:pPr>
            <a:r>
              <a:rPr lang="en-US" sz="950" b="1" dirty="0">
                <a:solidFill>
                  <a:srgbClr val="125C60"/>
                </a:solidFill>
                <a:latin typeface="Proxima Nova" pitchFamily="34" charset="0"/>
                <a:ea typeface="Proxima Nova" pitchFamily="34" charset="-122"/>
                <a:cs typeface="Proxima Nova" pitchFamily="34" charset="-120"/>
              </a:rPr>
              <a:t>$970M</a:t>
            </a:r>
            <a:pPr indent="0" marL="0">
              <a:buNone/>
            </a:pPr>
            <a:r>
              <a:rPr lang="en-US" sz="950" dirty="0">
                <a:solidFill>
                  <a:srgbClr val="231F20"/>
                </a:solidFill>
                <a:latin typeface="Proxima Nova" pitchFamily="34" charset="0"/>
                <a:ea typeface="Proxima Nova" pitchFamily="34" charset="-122"/>
                <a:cs typeface="Proxima Nova" pitchFamily="34" charset="-120"/>
              </a:rPr>
              <a:t> in state and local taxes; food and beverage is </a:t>
            </a:r>
            <a:pPr indent="0" marL="0">
              <a:buNone/>
            </a:pPr>
            <a:r>
              <a:rPr lang="en-US" sz="950" b="1" dirty="0">
                <a:solidFill>
                  <a:srgbClr val="125C60"/>
                </a:solidFill>
                <a:latin typeface="Proxima Nova" pitchFamily="34" charset="0"/>
                <a:ea typeface="Proxima Nova" pitchFamily="34" charset="-122"/>
                <a:cs typeface="Proxima Nova" pitchFamily="34" charset="-120"/>
              </a:rPr>
              <a:t>16.8%</a:t>
            </a:r>
            <a:pPr indent="0" marL="0">
              <a:buNone/>
            </a:pPr>
            <a:r>
              <a:rPr lang="en-US" sz="950" dirty="0">
                <a:solidFill>
                  <a:srgbClr val="231F20"/>
                </a:solidFill>
                <a:latin typeface="Proxima Nova" pitchFamily="34" charset="0"/>
                <a:ea typeface="Proxima Nova" pitchFamily="34" charset="-122"/>
                <a:cs typeface="Proxima Nova" pitchFamily="34" charset="-120"/>
              </a:rPr>
              <a:t> of those jobs.</a:t>
            </a:r>
            <a:endParaRPr lang="en-US" sz="950" dirty="0"/>
          </a:p>
        </p:txBody>
      </p:sp>
      <p:sp>
        <p:nvSpPr>
          <p:cNvPr id="17" name="Text 15"/>
          <p:cNvSpPr txBox="1"/>
          <p:nvPr/>
        </p:nvSpPr>
        <p:spPr>
          <a:xfrm>
            <a:off x="4438802"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Tourism Economics, Economic Impact of Visitors (calendar 2025; pub. 2026)</a:t>
            </a:r>
            <a:endParaRPr lang="en-US" sz="700" dirty="0"/>
          </a:p>
        </p:txBody>
      </p:sp>
      <p:sp>
        <p:nvSpPr>
          <p:cNvPr id="18" name="detail-card-2"/>
          <p:cNvSpPr/>
          <p:nvPr/>
        </p:nvSpPr>
        <p:spPr>
          <a:xfrm>
            <a:off x="8054645" y="1417320"/>
            <a:ext cx="3588410" cy="2176272"/>
          </a:xfrm>
          <a:prstGeom prst="rect">
            <a:avLst/>
          </a:prstGeom>
          <a:solidFill>
            <a:srgbClr val="FFFFFF"/>
          </a:solidFill>
          <a:ln w="12700">
            <a:solidFill>
              <a:srgbClr val="B4D9E3"/>
            </a:solidFill>
            <a:prstDash val="solid"/>
          </a:ln>
        </p:spPr>
      </p:sp>
      <p:sp>
        <p:nvSpPr>
          <p:cNvPr id="19" name="Shape 17"/>
          <p:cNvSpPr/>
          <p:nvPr/>
        </p:nvSpPr>
        <p:spPr>
          <a:xfrm>
            <a:off x="8054645" y="1417320"/>
            <a:ext cx="3588410" cy="64008"/>
          </a:xfrm>
          <a:prstGeom prst="rect">
            <a:avLst/>
          </a:prstGeom>
          <a:solidFill>
            <a:srgbClr val="43A3A3"/>
          </a:solidFill>
          <a:ln w="12700">
            <a:solidFill>
              <a:srgbClr val="43A3A3"/>
            </a:solidFill>
            <a:prstDash val="solid"/>
          </a:ln>
        </p:spPr>
      </p:sp>
      <p:sp>
        <p:nvSpPr>
          <p:cNvPr id="20" name="Text 18"/>
          <p:cNvSpPr txBox="1"/>
          <p:nvPr/>
        </p:nvSpPr>
        <p:spPr>
          <a:xfrm>
            <a:off x="8191805"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WHEN</a:t>
            </a:r>
            <a:endParaRPr lang="en-US" sz="900" dirty="0"/>
          </a:p>
        </p:txBody>
      </p:sp>
      <p:sp>
        <p:nvSpPr>
          <p:cNvPr id="21" name="Text 19"/>
          <p:cNvSpPr txBox="1"/>
          <p:nvPr/>
        </p:nvSpPr>
        <p:spPr>
          <a:xfrm>
            <a:off x="8191805"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2025 vs. 2024</a:t>
            </a:r>
            <a:endParaRPr lang="en-US" sz="2200" dirty="0"/>
          </a:p>
        </p:txBody>
      </p:sp>
      <p:sp>
        <p:nvSpPr>
          <p:cNvPr id="22" name="Text 20"/>
          <p:cNvSpPr txBox="1"/>
          <p:nvPr/>
        </p:nvSpPr>
        <p:spPr>
          <a:xfrm>
            <a:off x="8191805"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calendar years compared</a:t>
            </a:r>
            <a:endParaRPr lang="en-US" sz="1000" dirty="0"/>
          </a:p>
        </p:txBody>
      </p:sp>
      <p:sp>
        <p:nvSpPr>
          <p:cNvPr id="23" name="Text 21"/>
          <p:cNvSpPr txBox="1"/>
          <p:nvPr/>
        </p:nvSpPr>
        <p:spPr>
          <a:xfrm>
            <a:off x="8191805"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Calendar 2025 vs. 2024.</a:t>
            </a:r>
            <a:endParaRPr lang="en-US" sz="950" dirty="0"/>
          </a:p>
        </p:txBody>
      </p:sp>
      <p:sp>
        <p:nvSpPr>
          <p:cNvPr id="24" name="Text 22"/>
          <p:cNvSpPr txBox="1"/>
          <p:nvPr/>
        </p:nvSpPr>
        <p:spPr>
          <a:xfrm>
            <a:off x="8191805"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Tourism Economics, Economic Impact of Visitors (calendar 2025; pub. 2026)</a:t>
            </a:r>
            <a:endParaRPr lang="en-US" sz="700" dirty="0"/>
          </a:p>
        </p:txBody>
      </p:sp>
      <p:sp>
        <p:nvSpPr>
          <p:cNvPr id="25" name="detail-card-3"/>
          <p:cNvSpPr/>
          <p:nvPr/>
        </p:nvSpPr>
        <p:spPr>
          <a:xfrm>
            <a:off x="548640" y="3685032"/>
            <a:ext cx="3588410" cy="2176272"/>
          </a:xfrm>
          <a:prstGeom prst="rect">
            <a:avLst/>
          </a:prstGeom>
          <a:solidFill>
            <a:srgbClr val="FFFFFF"/>
          </a:solidFill>
          <a:ln w="12700">
            <a:solidFill>
              <a:srgbClr val="B4D9E3"/>
            </a:solidFill>
            <a:prstDash val="solid"/>
          </a:ln>
        </p:spPr>
      </p:sp>
      <p:sp>
        <p:nvSpPr>
          <p:cNvPr id="26" name="Shape 24"/>
          <p:cNvSpPr/>
          <p:nvPr/>
        </p:nvSpPr>
        <p:spPr>
          <a:xfrm>
            <a:off x="548640" y="3685032"/>
            <a:ext cx="3588410" cy="64008"/>
          </a:xfrm>
          <a:prstGeom prst="rect">
            <a:avLst/>
          </a:prstGeom>
          <a:solidFill>
            <a:srgbClr val="43A3A3"/>
          </a:solidFill>
          <a:ln w="12700">
            <a:solidFill>
              <a:srgbClr val="43A3A3"/>
            </a:solidFill>
            <a:prstDash val="solid"/>
          </a:ln>
        </p:spPr>
      </p:sp>
      <p:sp>
        <p:nvSpPr>
          <p:cNvPr id="27" name="Text 25"/>
          <p:cNvSpPr txBox="1"/>
          <p:nvPr/>
        </p:nvSpPr>
        <p:spPr>
          <a:xfrm>
            <a:off x="685800"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WHERE</a:t>
            </a:r>
            <a:endParaRPr lang="en-US" sz="900" dirty="0"/>
          </a:p>
        </p:txBody>
      </p:sp>
      <p:sp>
        <p:nvSpPr>
          <p:cNvPr id="28" name="Text 26"/>
          <p:cNvSpPr txBox="1"/>
          <p:nvPr/>
        </p:nvSpPr>
        <p:spPr>
          <a:xfrm>
            <a:off x="685800"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178,164</a:t>
            </a:r>
            <a:endParaRPr lang="en-US" sz="2200" dirty="0"/>
          </a:p>
        </p:txBody>
      </p:sp>
      <p:sp>
        <p:nvSpPr>
          <p:cNvPr id="29" name="Text 27"/>
          <p:cNvSpPr txBox="1"/>
          <p:nvPr/>
        </p:nvSpPr>
        <p:spPr>
          <a:xfrm>
            <a:off x="685800"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jobs supported countywide (Orange County)</a:t>
            </a:r>
            <a:endParaRPr lang="en-US" sz="1000" dirty="0"/>
          </a:p>
        </p:txBody>
      </p:sp>
      <p:sp>
        <p:nvSpPr>
          <p:cNvPr id="30" name="Text 28"/>
          <p:cNvSpPr txBox="1"/>
          <p:nvPr/>
        </p:nvSpPr>
        <p:spPr>
          <a:xfrm>
            <a:off x="685800"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Anaheim, Garden Grove and Orange County.</a:t>
            </a:r>
            <a:endParaRPr lang="en-US" sz="950" dirty="0"/>
          </a:p>
        </p:txBody>
      </p:sp>
      <p:sp>
        <p:nvSpPr>
          <p:cNvPr id="31" name="Text 29"/>
          <p:cNvSpPr txBox="1"/>
          <p:nvPr/>
        </p:nvSpPr>
        <p:spPr>
          <a:xfrm>
            <a:off x="685800"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Tourism Economics, Economic Impact of Visitors (calendar 2025; pub. 2026)</a:t>
            </a:r>
            <a:endParaRPr lang="en-US" sz="700" dirty="0"/>
          </a:p>
        </p:txBody>
      </p:sp>
      <p:sp>
        <p:nvSpPr>
          <p:cNvPr id="32" name="detail-card-4"/>
          <p:cNvSpPr/>
          <p:nvPr/>
        </p:nvSpPr>
        <p:spPr>
          <a:xfrm>
            <a:off x="4301642" y="3685032"/>
            <a:ext cx="3588410" cy="2176272"/>
          </a:xfrm>
          <a:prstGeom prst="rect">
            <a:avLst/>
          </a:prstGeom>
          <a:solidFill>
            <a:srgbClr val="FFFFFF"/>
          </a:solidFill>
          <a:ln w="12700">
            <a:solidFill>
              <a:srgbClr val="B4D9E3"/>
            </a:solidFill>
            <a:prstDash val="solid"/>
          </a:ln>
        </p:spPr>
      </p:sp>
      <p:sp>
        <p:nvSpPr>
          <p:cNvPr id="33" name="Shape 31"/>
          <p:cNvSpPr/>
          <p:nvPr/>
        </p:nvSpPr>
        <p:spPr>
          <a:xfrm>
            <a:off x="4301642" y="3685032"/>
            <a:ext cx="3588410" cy="64008"/>
          </a:xfrm>
          <a:prstGeom prst="rect">
            <a:avLst/>
          </a:prstGeom>
          <a:solidFill>
            <a:srgbClr val="43A3A3"/>
          </a:solidFill>
          <a:ln w="12700">
            <a:solidFill>
              <a:srgbClr val="43A3A3"/>
            </a:solidFill>
            <a:prstDash val="solid"/>
          </a:ln>
        </p:spPr>
      </p:sp>
      <p:sp>
        <p:nvSpPr>
          <p:cNvPr id="34" name="Text 32"/>
          <p:cNvSpPr txBox="1"/>
          <p:nvPr/>
        </p:nvSpPr>
        <p:spPr>
          <a:xfrm>
            <a:off x="4438802"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WHY</a:t>
            </a:r>
            <a:endParaRPr lang="en-US" sz="900" dirty="0"/>
          </a:p>
        </p:txBody>
      </p:sp>
      <p:sp>
        <p:nvSpPr>
          <p:cNvPr id="35" name="Text 33"/>
          <p:cNvSpPr txBox="1"/>
          <p:nvPr/>
        </p:nvSpPr>
        <p:spPr>
          <a:xfrm>
            <a:off x="4438802"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$970M</a:t>
            </a:r>
            <a:endParaRPr lang="en-US" sz="2200" dirty="0"/>
          </a:p>
        </p:txBody>
      </p:sp>
      <p:sp>
        <p:nvSpPr>
          <p:cNvPr id="36" name="Text 34"/>
          <p:cNvSpPr txBox="1"/>
          <p:nvPr/>
        </p:nvSpPr>
        <p:spPr>
          <a:xfrm>
            <a:off x="4438802"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state and local taxes, Anaheim, 2025</a:t>
            </a:r>
            <a:endParaRPr lang="en-US" sz="1000" dirty="0"/>
          </a:p>
        </p:txBody>
      </p:sp>
      <p:sp>
        <p:nvSpPr>
          <p:cNvPr id="37" name="Text 35"/>
          <p:cNvSpPr txBox="1"/>
          <p:nvPr/>
        </p:nvSpPr>
        <p:spPr>
          <a:xfrm>
            <a:off x="4438802"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These ratios turn OC Vibe's visitor spending into jobs and tax revenue.</a:t>
            </a:r>
            <a:endParaRPr lang="en-US" sz="950" dirty="0"/>
          </a:p>
        </p:txBody>
      </p:sp>
      <p:sp>
        <p:nvSpPr>
          <p:cNvPr id="38" name="Text 36"/>
          <p:cNvSpPr txBox="1"/>
          <p:nvPr/>
        </p:nvSpPr>
        <p:spPr>
          <a:xfrm>
            <a:off x="4438802"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Tourism Economics, Economic Impact of Visitors (calendar 2025; pub. 2026)</a:t>
            </a:r>
            <a:endParaRPr lang="en-US" sz="700" dirty="0"/>
          </a:p>
        </p:txBody>
      </p:sp>
      <p:sp>
        <p:nvSpPr>
          <p:cNvPr id="39" name="detail-card-5"/>
          <p:cNvSpPr/>
          <p:nvPr/>
        </p:nvSpPr>
        <p:spPr>
          <a:xfrm>
            <a:off x="8054645" y="3685032"/>
            <a:ext cx="3588410" cy="2176272"/>
          </a:xfrm>
          <a:prstGeom prst="rect">
            <a:avLst/>
          </a:prstGeom>
          <a:solidFill>
            <a:srgbClr val="FFFFFF"/>
          </a:solidFill>
          <a:ln w="12700">
            <a:solidFill>
              <a:srgbClr val="B4D9E3"/>
            </a:solidFill>
            <a:prstDash val="solid"/>
          </a:ln>
        </p:spPr>
      </p:sp>
      <p:sp>
        <p:nvSpPr>
          <p:cNvPr id="40" name="Shape 38"/>
          <p:cNvSpPr/>
          <p:nvPr/>
        </p:nvSpPr>
        <p:spPr>
          <a:xfrm>
            <a:off x="8054645" y="3685032"/>
            <a:ext cx="3588410" cy="64008"/>
          </a:xfrm>
          <a:prstGeom prst="rect">
            <a:avLst/>
          </a:prstGeom>
          <a:solidFill>
            <a:srgbClr val="43A3A3"/>
          </a:solidFill>
          <a:ln w="12700">
            <a:solidFill>
              <a:srgbClr val="43A3A3"/>
            </a:solidFill>
            <a:prstDash val="solid"/>
          </a:ln>
        </p:spPr>
      </p:sp>
      <p:sp>
        <p:nvSpPr>
          <p:cNvPr id="41" name="Text 39"/>
          <p:cNvSpPr txBox="1"/>
          <p:nvPr/>
        </p:nvSpPr>
        <p:spPr>
          <a:xfrm>
            <a:off x="8191805"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HOW</a:t>
            </a:r>
            <a:endParaRPr lang="en-US" sz="900" dirty="0"/>
          </a:p>
        </p:txBody>
      </p:sp>
      <p:sp>
        <p:nvSpPr>
          <p:cNvPr id="42" name="Text 40"/>
          <p:cNvSpPr txBox="1"/>
          <p:nvPr/>
        </p:nvSpPr>
        <p:spPr>
          <a:xfrm>
            <a:off x="8191805"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3 effects</a:t>
            </a:r>
            <a:endParaRPr lang="en-US" sz="2200" dirty="0"/>
          </a:p>
        </p:txBody>
      </p:sp>
      <p:sp>
        <p:nvSpPr>
          <p:cNvPr id="43" name="Text 41"/>
          <p:cNvSpPr txBox="1"/>
          <p:nvPr/>
        </p:nvSpPr>
        <p:spPr>
          <a:xfrm>
            <a:off x="8191805"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direct, indirect and induced spending</a:t>
            </a:r>
            <a:endParaRPr lang="en-US" sz="1000" dirty="0"/>
          </a:p>
        </p:txBody>
      </p:sp>
      <p:sp>
        <p:nvSpPr>
          <p:cNvPr id="44" name="Text 42"/>
          <p:cNvSpPr txBox="1"/>
          <p:nvPr/>
        </p:nvSpPr>
        <p:spPr>
          <a:xfrm>
            <a:off x="8191805"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Tourism Economics input-output model: direct spending plus supply-chain (indirect) and wage (induced) effects.</a:t>
            </a:r>
            <a:endParaRPr lang="en-US" sz="950" dirty="0"/>
          </a:p>
        </p:txBody>
      </p:sp>
      <p:sp>
        <p:nvSpPr>
          <p:cNvPr id="45" name="Text 43"/>
          <p:cNvSpPr txBox="1"/>
          <p:nvPr/>
        </p:nvSpPr>
        <p:spPr>
          <a:xfrm>
            <a:off x="8191805"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Tourism Economics, Economic Impact of Visitors (calendar 2025; pub. 2026)</a:t>
            </a:r>
            <a:endParaRPr lang="en-US" sz="700" dirty="0"/>
          </a:p>
        </p:txBody>
      </p:sp>
      <p:sp>
        <p:nvSpPr>
          <p:cNvPr id="4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2025 (pub. Apr.–May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At a glance: Jobs and economy</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data infographic · every figure from this section, with its source and date</a:t>
            </a:r>
            <a:endParaRPr lang="en-US" sz="1200" dirty="0"/>
          </a:p>
        </p:txBody>
      </p:sp>
      <p:sp>
        <p:nvSpPr>
          <p:cNvPr id="4" name="Text 2"/>
          <p:cNvSpPr txBox="1"/>
          <p:nvPr/>
        </p:nvSpPr>
        <p:spPr>
          <a:xfrm>
            <a:off x="548640" y="1417320"/>
            <a:ext cx="11094415" cy="329184"/>
          </a:xfrm>
          <a:prstGeom prst="rect">
            <a:avLst/>
          </a:prstGeom>
          <a:noFill/>
          <a:ln/>
        </p:spPr>
        <p:txBody>
          <a:bodyPr wrap="square" lIns="0" tIns="0" rIns="0" bIns="0" rtlCol="0" anchor="ctr">
            <a:normAutofit/>
          </a:bodyPr>
          <a:lstStyle/>
          <a:p>
            <a:pPr indent="0" marL="0">
              <a:buNone/>
            </a:pPr>
            <a:r>
              <a:rPr lang="en-US" sz="1500" b="1" i="1" dirty="0">
                <a:solidFill>
                  <a:srgbClr val="125C60"/>
                </a:solidFill>
                <a:latin typeface="Proxima Nova" pitchFamily="34" charset="0"/>
                <a:ea typeface="Proxima Nova" pitchFamily="34" charset="-122"/>
                <a:cs typeface="Proxima Nova" pitchFamily="34" charset="-120"/>
              </a:rPr>
              <a:t>About one in three Anaheim jobs is supported by visitors</a:t>
            </a:r>
            <a:endParaRPr lang="en-US" sz="1500" dirty="0"/>
          </a:p>
        </p:txBody>
      </p:sp>
      <p:sp>
        <p:nvSpPr>
          <p:cNvPr id="5" name="Text 3"/>
          <p:cNvSpPr txBox="1"/>
          <p:nvPr/>
        </p:nvSpPr>
        <p:spPr>
          <a:xfrm>
            <a:off x="548640" y="1746504"/>
            <a:ext cx="11094415" cy="237744"/>
          </a:xfrm>
          <a:prstGeom prst="rect">
            <a:avLst/>
          </a:prstGeom>
          <a:noFill/>
          <a:ln/>
        </p:spPr>
        <p:txBody>
          <a:bodyPr wrap="square" lIns="0" tIns="0" rIns="0" bIns="0" rtlCol="0" anchor="ctr">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Each figure is 10% of all jobs in Anaheim, 2025</a:t>
            </a:r>
            <a:endParaRPr lang="en-US" sz="950" dirty="0"/>
          </a:p>
        </p:txBody>
      </p:sp>
      <p:sp>
        <p:nvSpPr>
          <p:cNvPr id="6" name="Shape 4"/>
          <p:cNvSpPr/>
          <p:nvPr/>
        </p:nvSpPr>
        <p:spPr>
          <a:xfrm>
            <a:off x="690372" y="2075688"/>
            <a:ext cx="283464" cy="283464"/>
          </a:xfrm>
          <a:prstGeom prst="ellipse">
            <a:avLst/>
          </a:prstGeom>
          <a:solidFill>
            <a:srgbClr val="43A3A3"/>
          </a:solidFill>
          <a:ln w="12700">
            <a:solidFill>
              <a:srgbClr val="FFFFFF"/>
            </a:solidFill>
            <a:prstDash val="solid"/>
          </a:ln>
        </p:spPr>
      </p:sp>
      <p:sp>
        <p:nvSpPr>
          <p:cNvPr id="7" name="Shape 5"/>
          <p:cNvSpPr/>
          <p:nvPr/>
        </p:nvSpPr>
        <p:spPr>
          <a:xfrm>
            <a:off x="548640" y="2404506"/>
            <a:ext cx="566928" cy="907085"/>
          </a:xfrm>
          <a:prstGeom prst="roundRect">
            <a:avLst>
              <a:gd name="adj" fmla="val 19355"/>
            </a:avLst>
          </a:prstGeom>
          <a:solidFill>
            <a:srgbClr val="B4D9E3"/>
          </a:solidFill>
          <a:ln w="12700">
            <a:solidFill>
              <a:srgbClr val="FFFFFF"/>
            </a:solidFill>
            <a:prstDash val="solid"/>
          </a:ln>
        </p:spPr>
      </p:sp>
      <p:sp>
        <p:nvSpPr>
          <p:cNvPr id="8" name="Shape 6"/>
          <p:cNvSpPr/>
          <p:nvPr/>
        </p:nvSpPr>
        <p:spPr>
          <a:xfrm>
            <a:off x="548640" y="2404506"/>
            <a:ext cx="566928" cy="907085"/>
          </a:xfrm>
          <a:prstGeom prst="roundRect">
            <a:avLst>
              <a:gd name="adj" fmla="val 19355"/>
            </a:avLst>
          </a:prstGeom>
          <a:solidFill>
            <a:srgbClr val="43A3A3"/>
          </a:solidFill>
          <a:ln w="12700">
            <a:solidFill>
              <a:srgbClr val="FFFFFF"/>
            </a:solidFill>
            <a:prstDash val="solid"/>
          </a:ln>
        </p:spPr>
      </p:sp>
      <p:sp>
        <p:nvSpPr>
          <p:cNvPr id="9" name="Shape 7"/>
          <p:cNvSpPr/>
          <p:nvPr/>
        </p:nvSpPr>
        <p:spPr>
          <a:xfrm>
            <a:off x="1421892" y="2075688"/>
            <a:ext cx="283464" cy="283464"/>
          </a:xfrm>
          <a:prstGeom prst="ellipse">
            <a:avLst/>
          </a:prstGeom>
          <a:solidFill>
            <a:srgbClr val="43A3A3"/>
          </a:solidFill>
          <a:ln w="12700">
            <a:solidFill>
              <a:srgbClr val="FFFFFF"/>
            </a:solidFill>
            <a:prstDash val="solid"/>
          </a:ln>
        </p:spPr>
      </p:sp>
      <p:sp>
        <p:nvSpPr>
          <p:cNvPr id="10" name="Shape 8"/>
          <p:cNvSpPr/>
          <p:nvPr/>
        </p:nvSpPr>
        <p:spPr>
          <a:xfrm>
            <a:off x="1280160" y="2404506"/>
            <a:ext cx="566928" cy="907085"/>
          </a:xfrm>
          <a:prstGeom prst="roundRect">
            <a:avLst>
              <a:gd name="adj" fmla="val 19355"/>
            </a:avLst>
          </a:prstGeom>
          <a:solidFill>
            <a:srgbClr val="B4D9E3"/>
          </a:solidFill>
          <a:ln w="12700">
            <a:solidFill>
              <a:srgbClr val="FFFFFF"/>
            </a:solidFill>
            <a:prstDash val="solid"/>
          </a:ln>
        </p:spPr>
      </p:sp>
      <p:sp>
        <p:nvSpPr>
          <p:cNvPr id="11" name="Shape 9"/>
          <p:cNvSpPr/>
          <p:nvPr/>
        </p:nvSpPr>
        <p:spPr>
          <a:xfrm>
            <a:off x="1280160" y="2404506"/>
            <a:ext cx="566928" cy="907085"/>
          </a:xfrm>
          <a:prstGeom prst="roundRect">
            <a:avLst>
              <a:gd name="adj" fmla="val 19355"/>
            </a:avLst>
          </a:prstGeom>
          <a:solidFill>
            <a:srgbClr val="43A3A3"/>
          </a:solidFill>
          <a:ln w="12700">
            <a:solidFill>
              <a:srgbClr val="FFFFFF"/>
            </a:solidFill>
            <a:prstDash val="solid"/>
          </a:ln>
        </p:spPr>
      </p:sp>
      <p:sp>
        <p:nvSpPr>
          <p:cNvPr id="12" name="Shape 10"/>
          <p:cNvSpPr/>
          <p:nvPr/>
        </p:nvSpPr>
        <p:spPr>
          <a:xfrm>
            <a:off x="2153412" y="2075688"/>
            <a:ext cx="283464" cy="283464"/>
          </a:xfrm>
          <a:prstGeom prst="ellipse">
            <a:avLst/>
          </a:prstGeom>
          <a:solidFill>
            <a:srgbClr val="43A3A3"/>
          </a:solidFill>
          <a:ln w="12700">
            <a:solidFill>
              <a:srgbClr val="FFFFFF"/>
            </a:solidFill>
            <a:prstDash val="solid"/>
          </a:ln>
        </p:spPr>
      </p:sp>
      <p:sp>
        <p:nvSpPr>
          <p:cNvPr id="13" name="Shape 11"/>
          <p:cNvSpPr/>
          <p:nvPr/>
        </p:nvSpPr>
        <p:spPr>
          <a:xfrm>
            <a:off x="2011680" y="2404506"/>
            <a:ext cx="566928" cy="907085"/>
          </a:xfrm>
          <a:prstGeom prst="roundRect">
            <a:avLst>
              <a:gd name="adj" fmla="val 19355"/>
            </a:avLst>
          </a:prstGeom>
          <a:solidFill>
            <a:srgbClr val="B4D9E3"/>
          </a:solidFill>
          <a:ln w="12700">
            <a:solidFill>
              <a:srgbClr val="FFFFFF"/>
            </a:solidFill>
            <a:prstDash val="solid"/>
          </a:ln>
        </p:spPr>
      </p:sp>
      <p:sp>
        <p:nvSpPr>
          <p:cNvPr id="14" name="Shape 12"/>
          <p:cNvSpPr/>
          <p:nvPr/>
        </p:nvSpPr>
        <p:spPr>
          <a:xfrm>
            <a:off x="2011680" y="2404506"/>
            <a:ext cx="566928" cy="907085"/>
          </a:xfrm>
          <a:prstGeom prst="roundRect">
            <a:avLst>
              <a:gd name="adj" fmla="val 19355"/>
            </a:avLst>
          </a:prstGeom>
          <a:solidFill>
            <a:srgbClr val="43A3A3"/>
          </a:solidFill>
          <a:ln w="12700">
            <a:solidFill>
              <a:srgbClr val="FFFFFF"/>
            </a:solidFill>
            <a:prstDash val="solid"/>
          </a:ln>
        </p:spPr>
      </p:sp>
      <p:sp>
        <p:nvSpPr>
          <p:cNvPr id="15" name="Shape 13"/>
          <p:cNvSpPr/>
          <p:nvPr/>
        </p:nvSpPr>
        <p:spPr>
          <a:xfrm>
            <a:off x="2884932" y="2075688"/>
            <a:ext cx="283464" cy="283464"/>
          </a:xfrm>
          <a:prstGeom prst="ellipse">
            <a:avLst/>
          </a:prstGeom>
          <a:solidFill>
            <a:srgbClr val="B4D9E3"/>
          </a:solidFill>
          <a:ln w="12700">
            <a:solidFill>
              <a:srgbClr val="FFFFFF"/>
            </a:solidFill>
            <a:prstDash val="solid"/>
          </a:ln>
        </p:spPr>
      </p:sp>
      <p:sp>
        <p:nvSpPr>
          <p:cNvPr id="16" name="Shape 14"/>
          <p:cNvSpPr/>
          <p:nvPr/>
        </p:nvSpPr>
        <p:spPr>
          <a:xfrm>
            <a:off x="2743200" y="2404506"/>
            <a:ext cx="566928" cy="907085"/>
          </a:xfrm>
          <a:prstGeom prst="roundRect">
            <a:avLst>
              <a:gd name="adj" fmla="val 19355"/>
            </a:avLst>
          </a:prstGeom>
          <a:solidFill>
            <a:srgbClr val="B4D9E3"/>
          </a:solidFill>
          <a:ln w="12700">
            <a:solidFill>
              <a:srgbClr val="FFFFFF"/>
            </a:solidFill>
            <a:prstDash val="solid"/>
          </a:ln>
        </p:spPr>
      </p:sp>
      <p:sp>
        <p:nvSpPr>
          <p:cNvPr id="17" name="Shape 15"/>
          <p:cNvSpPr/>
          <p:nvPr/>
        </p:nvSpPr>
        <p:spPr>
          <a:xfrm>
            <a:off x="2743200" y="2404506"/>
            <a:ext cx="158740" cy="907085"/>
          </a:xfrm>
          <a:prstGeom prst="roundRect">
            <a:avLst>
              <a:gd name="adj" fmla="val 11521"/>
            </a:avLst>
          </a:prstGeom>
          <a:solidFill>
            <a:srgbClr val="43A3A3"/>
          </a:solidFill>
          <a:ln w="12700">
            <a:solidFill>
              <a:srgbClr val="FFFFFF"/>
            </a:solidFill>
            <a:prstDash val="solid"/>
          </a:ln>
        </p:spPr>
      </p:sp>
      <p:sp>
        <p:nvSpPr>
          <p:cNvPr id="18" name="Shape 16"/>
          <p:cNvSpPr/>
          <p:nvPr/>
        </p:nvSpPr>
        <p:spPr>
          <a:xfrm>
            <a:off x="3616452" y="2075688"/>
            <a:ext cx="283464" cy="283464"/>
          </a:xfrm>
          <a:prstGeom prst="ellipse">
            <a:avLst/>
          </a:prstGeom>
          <a:solidFill>
            <a:srgbClr val="B4D9E3"/>
          </a:solidFill>
          <a:ln w="12700">
            <a:solidFill>
              <a:srgbClr val="FFFFFF"/>
            </a:solidFill>
            <a:prstDash val="solid"/>
          </a:ln>
        </p:spPr>
      </p:sp>
      <p:sp>
        <p:nvSpPr>
          <p:cNvPr id="19" name="Shape 17"/>
          <p:cNvSpPr/>
          <p:nvPr/>
        </p:nvSpPr>
        <p:spPr>
          <a:xfrm>
            <a:off x="3474720" y="2404506"/>
            <a:ext cx="566928" cy="907085"/>
          </a:xfrm>
          <a:prstGeom prst="roundRect">
            <a:avLst>
              <a:gd name="adj" fmla="val 19355"/>
            </a:avLst>
          </a:prstGeom>
          <a:solidFill>
            <a:srgbClr val="B4D9E3"/>
          </a:solidFill>
          <a:ln w="12700">
            <a:solidFill>
              <a:srgbClr val="FFFFFF"/>
            </a:solidFill>
            <a:prstDash val="solid"/>
          </a:ln>
        </p:spPr>
      </p:sp>
      <p:sp>
        <p:nvSpPr>
          <p:cNvPr id="20" name="Shape 18"/>
          <p:cNvSpPr/>
          <p:nvPr/>
        </p:nvSpPr>
        <p:spPr>
          <a:xfrm>
            <a:off x="4347972" y="2075688"/>
            <a:ext cx="283464" cy="283464"/>
          </a:xfrm>
          <a:prstGeom prst="ellipse">
            <a:avLst/>
          </a:prstGeom>
          <a:solidFill>
            <a:srgbClr val="B4D9E3"/>
          </a:solidFill>
          <a:ln w="12700">
            <a:solidFill>
              <a:srgbClr val="FFFFFF"/>
            </a:solidFill>
            <a:prstDash val="solid"/>
          </a:ln>
        </p:spPr>
      </p:sp>
      <p:sp>
        <p:nvSpPr>
          <p:cNvPr id="21" name="Shape 19"/>
          <p:cNvSpPr/>
          <p:nvPr/>
        </p:nvSpPr>
        <p:spPr>
          <a:xfrm>
            <a:off x="4206240" y="2404506"/>
            <a:ext cx="566928" cy="907085"/>
          </a:xfrm>
          <a:prstGeom prst="roundRect">
            <a:avLst>
              <a:gd name="adj" fmla="val 19355"/>
            </a:avLst>
          </a:prstGeom>
          <a:solidFill>
            <a:srgbClr val="B4D9E3"/>
          </a:solidFill>
          <a:ln w="12700">
            <a:solidFill>
              <a:srgbClr val="FFFFFF"/>
            </a:solidFill>
            <a:prstDash val="solid"/>
          </a:ln>
        </p:spPr>
      </p:sp>
      <p:sp>
        <p:nvSpPr>
          <p:cNvPr id="22" name="Shape 20"/>
          <p:cNvSpPr/>
          <p:nvPr/>
        </p:nvSpPr>
        <p:spPr>
          <a:xfrm>
            <a:off x="5079492" y="2075688"/>
            <a:ext cx="283464" cy="283464"/>
          </a:xfrm>
          <a:prstGeom prst="ellipse">
            <a:avLst/>
          </a:prstGeom>
          <a:solidFill>
            <a:srgbClr val="B4D9E3"/>
          </a:solidFill>
          <a:ln w="12700">
            <a:solidFill>
              <a:srgbClr val="FFFFFF"/>
            </a:solidFill>
            <a:prstDash val="solid"/>
          </a:ln>
        </p:spPr>
      </p:sp>
      <p:sp>
        <p:nvSpPr>
          <p:cNvPr id="23" name="Shape 21"/>
          <p:cNvSpPr/>
          <p:nvPr/>
        </p:nvSpPr>
        <p:spPr>
          <a:xfrm>
            <a:off x="4937760" y="2404506"/>
            <a:ext cx="566928" cy="907085"/>
          </a:xfrm>
          <a:prstGeom prst="roundRect">
            <a:avLst>
              <a:gd name="adj" fmla="val 19355"/>
            </a:avLst>
          </a:prstGeom>
          <a:solidFill>
            <a:srgbClr val="B4D9E3"/>
          </a:solidFill>
          <a:ln w="12700">
            <a:solidFill>
              <a:srgbClr val="FFFFFF"/>
            </a:solidFill>
            <a:prstDash val="solid"/>
          </a:ln>
        </p:spPr>
      </p:sp>
      <p:sp>
        <p:nvSpPr>
          <p:cNvPr id="24" name="Shape 22"/>
          <p:cNvSpPr/>
          <p:nvPr/>
        </p:nvSpPr>
        <p:spPr>
          <a:xfrm>
            <a:off x="5811012" y="2075688"/>
            <a:ext cx="283464" cy="283464"/>
          </a:xfrm>
          <a:prstGeom prst="ellipse">
            <a:avLst/>
          </a:prstGeom>
          <a:solidFill>
            <a:srgbClr val="B4D9E3"/>
          </a:solidFill>
          <a:ln w="12700">
            <a:solidFill>
              <a:srgbClr val="FFFFFF"/>
            </a:solidFill>
            <a:prstDash val="solid"/>
          </a:ln>
        </p:spPr>
      </p:sp>
      <p:sp>
        <p:nvSpPr>
          <p:cNvPr id="25" name="Shape 23"/>
          <p:cNvSpPr/>
          <p:nvPr/>
        </p:nvSpPr>
        <p:spPr>
          <a:xfrm>
            <a:off x="5669280" y="2404506"/>
            <a:ext cx="566928" cy="907085"/>
          </a:xfrm>
          <a:prstGeom prst="roundRect">
            <a:avLst>
              <a:gd name="adj" fmla="val 19355"/>
            </a:avLst>
          </a:prstGeom>
          <a:solidFill>
            <a:srgbClr val="B4D9E3"/>
          </a:solidFill>
          <a:ln w="12700">
            <a:solidFill>
              <a:srgbClr val="FFFFFF"/>
            </a:solidFill>
            <a:prstDash val="solid"/>
          </a:ln>
        </p:spPr>
      </p:sp>
      <p:sp>
        <p:nvSpPr>
          <p:cNvPr id="26" name="Shape 24"/>
          <p:cNvSpPr/>
          <p:nvPr/>
        </p:nvSpPr>
        <p:spPr>
          <a:xfrm>
            <a:off x="6542532" y="2075688"/>
            <a:ext cx="283464" cy="283464"/>
          </a:xfrm>
          <a:prstGeom prst="ellipse">
            <a:avLst/>
          </a:prstGeom>
          <a:solidFill>
            <a:srgbClr val="B4D9E3"/>
          </a:solidFill>
          <a:ln w="12700">
            <a:solidFill>
              <a:srgbClr val="FFFFFF"/>
            </a:solidFill>
            <a:prstDash val="solid"/>
          </a:ln>
        </p:spPr>
      </p:sp>
      <p:sp>
        <p:nvSpPr>
          <p:cNvPr id="27" name="Shape 25"/>
          <p:cNvSpPr/>
          <p:nvPr/>
        </p:nvSpPr>
        <p:spPr>
          <a:xfrm>
            <a:off x="6400800" y="2404506"/>
            <a:ext cx="566928" cy="907085"/>
          </a:xfrm>
          <a:prstGeom prst="roundRect">
            <a:avLst>
              <a:gd name="adj" fmla="val 19355"/>
            </a:avLst>
          </a:prstGeom>
          <a:solidFill>
            <a:srgbClr val="B4D9E3"/>
          </a:solidFill>
          <a:ln w="12700">
            <a:solidFill>
              <a:srgbClr val="FFFFFF"/>
            </a:solidFill>
            <a:prstDash val="solid"/>
          </a:ln>
        </p:spPr>
      </p:sp>
      <p:sp>
        <p:nvSpPr>
          <p:cNvPr id="28" name="Shape 26"/>
          <p:cNvSpPr/>
          <p:nvPr/>
        </p:nvSpPr>
        <p:spPr>
          <a:xfrm>
            <a:off x="7274052" y="2075688"/>
            <a:ext cx="283464" cy="283464"/>
          </a:xfrm>
          <a:prstGeom prst="ellipse">
            <a:avLst/>
          </a:prstGeom>
          <a:solidFill>
            <a:srgbClr val="B4D9E3"/>
          </a:solidFill>
          <a:ln w="12700">
            <a:solidFill>
              <a:srgbClr val="FFFFFF"/>
            </a:solidFill>
            <a:prstDash val="solid"/>
          </a:ln>
        </p:spPr>
      </p:sp>
      <p:sp>
        <p:nvSpPr>
          <p:cNvPr id="29" name="Shape 27"/>
          <p:cNvSpPr/>
          <p:nvPr/>
        </p:nvSpPr>
        <p:spPr>
          <a:xfrm>
            <a:off x="7132320" y="2404506"/>
            <a:ext cx="566928" cy="907085"/>
          </a:xfrm>
          <a:prstGeom prst="roundRect">
            <a:avLst>
              <a:gd name="adj" fmla="val 19355"/>
            </a:avLst>
          </a:prstGeom>
          <a:solidFill>
            <a:srgbClr val="B4D9E3"/>
          </a:solidFill>
          <a:ln w="12700">
            <a:solidFill>
              <a:srgbClr val="FFFFFF"/>
            </a:solidFill>
            <a:prstDash val="solid"/>
          </a:ln>
        </p:spPr>
      </p:sp>
      <p:sp>
        <p:nvSpPr>
          <p:cNvPr id="30" name="Text 28"/>
          <p:cNvSpPr txBox="1"/>
          <p:nvPr/>
        </p:nvSpPr>
        <p:spPr>
          <a:xfrm>
            <a:off x="8046720" y="2075688"/>
            <a:ext cx="3596335" cy="640080"/>
          </a:xfrm>
          <a:prstGeom prst="rect">
            <a:avLst/>
          </a:prstGeom>
          <a:noFill/>
          <a:ln/>
        </p:spPr>
        <p:txBody>
          <a:bodyPr wrap="square" lIns="0" tIns="0" rIns="0" bIns="0" rtlCol="0" anchor="ctr"/>
          <a:lstStyle/>
          <a:p>
            <a:pPr indent="0" marL="0">
              <a:buNone/>
            </a:pPr>
            <a:r>
              <a:rPr lang="en-US" sz="3600" b="1" i="1" dirty="0">
                <a:solidFill>
                  <a:srgbClr val="125C60"/>
                </a:solidFill>
                <a:latin typeface="Proxima Nova" pitchFamily="34" charset="0"/>
                <a:ea typeface="Proxima Nova" pitchFamily="34" charset="-122"/>
                <a:cs typeface="Proxima Nova" pitchFamily="34" charset="-120"/>
              </a:rPr>
              <a:t>32.8%</a:t>
            </a:r>
            <a:endParaRPr lang="en-US" sz="3600" dirty="0"/>
          </a:p>
        </p:txBody>
      </p:sp>
      <p:sp>
        <p:nvSpPr>
          <p:cNvPr id="31" name="Text 29"/>
          <p:cNvSpPr txBox="1"/>
          <p:nvPr/>
        </p:nvSpPr>
        <p:spPr>
          <a:xfrm>
            <a:off x="8046720" y="2761488"/>
            <a:ext cx="3596335" cy="731520"/>
          </a:xfrm>
          <a:prstGeom prst="rect">
            <a:avLst/>
          </a:prstGeom>
          <a:noFill/>
          <a:ln/>
        </p:spPr>
        <p:txBody>
          <a:bodyPr wrap="square" lIns="0" tIns="0" rIns="0" bIns="0" rtlCol="0" anchor="t"/>
          <a:lstStyle/>
          <a:p>
            <a:pPr indent="0" marL="0">
              <a:buNone/>
            </a:pPr>
            <a:r>
              <a:rPr lang="en-US" sz="1200" b="1" dirty="0">
                <a:solidFill>
                  <a:srgbClr val="231F20"/>
                </a:solidFill>
                <a:latin typeface="Proxima Nova" pitchFamily="34" charset="0"/>
                <a:ea typeface="Proxima Nova" pitchFamily="34" charset="-122"/>
                <a:cs typeface="Proxima Nova" pitchFamily="34" charset="-120"/>
              </a:rPr>
              <a:t>of all Anaheim jobs: 67,817 jobs supported by visitor spending</a:t>
            </a:r>
            <a:endParaRPr lang="en-US" sz="1200" dirty="0"/>
          </a:p>
        </p:txBody>
      </p:sp>
      <p:sp>
        <p:nvSpPr>
          <p:cNvPr id="32" name="Shape 30"/>
          <p:cNvSpPr/>
          <p:nvPr/>
        </p:nvSpPr>
        <p:spPr>
          <a:xfrm>
            <a:off x="548640" y="3474720"/>
            <a:ext cx="11094415" cy="45720"/>
          </a:xfrm>
          <a:prstGeom prst="rect">
            <a:avLst/>
          </a:prstGeom>
          <a:solidFill>
            <a:srgbClr val="125C60"/>
          </a:solidFill>
          <a:ln w="12700">
            <a:solidFill>
              <a:srgbClr val="125C60"/>
            </a:solidFill>
            <a:prstDash val="solid"/>
          </a:ln>
        </p:spPr>
      </p:sp>
      <p:sp>
        <p:nvSpPr>
          <p:cNvPr id="33" name="Text 31"/>
          <p:cNvSpPr txBox="1"/>
          <p:nvPr/>
        </p:nvSpPr>
        <p:spPr>
          <a:xfrm>
            <a:off x="548640" y="3566160"/>
            <a:ext cx="2743200"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WHY IT MATTERS</a:t>
            </a:r>
            <a:endParaRPr lang="en-US" sz="1000" dirty="0"/>
          </a:p>
        </p:txBody>
      </p:sp>
      <p:sp>
        <p:nvSpPr>
          <p:cNvPr id="34" name="Text 32"/>
          <p:cNvSpPr txBox="1"/>
          <p:nvPr/>
        </p:nvSpPr>
        <p:spPr>
          <a:xfrm>
            <a:off x="548640" y="3822192"/>
            <a:ext cx="11094415" cy="1463040"/>
          </a:xfrm>
          <a:prstGeom prst="rect">
            <a:avLst/>
          </a:prstGeom>
          <a:noFill/>
          <a:ln/>
        </p:spPr>
        <p:txBody>
          <a:bodyPr wrap="square" lIns="0" tIns="0" rIns="0" bIns="0" rtlCol="0" anchor="t"/>
          <a:lstStyle/>
          <a:p>
            <a:pPr indent="0" marL="0">
              <a:buNone/>
            </a:pPr>
            <a:r>
              <a:rPr lang="en-US" sz="1250" dirty="0">
                <a:solidFill>
                  <a:srgbClr val="231F20"/>
                </a:solidFill>
                <a:latin typeface="Proxima Nova" pitchFamily="34" charset="0"/>
                <a:ea typeface="Proxima Nova" pitchFamily="34" charset="-122"/>
                <a:cs typeface="Proxima Nova" pitchFamily="34" charset="-120"/>
              </a:rPr>
              <a:t>Visitor spending reaches well beyond hotels and attractions. Tourism Economics counts direct, indirect and induced effects, which together support about one in three Anaheim jobs; these published ratios link visitor spending to jobs and tax revenue.</a:t>
            </a:r>
            <a:endParaRPr lang="en-US" sz="1250" dirty="0"/>
          </a:p>
        </p:txBody>
      </p:sp>
      <p:sp>
        <p:nvSpPr>
          <p:cNvPr id="3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of Visitors (calendar 2025; pub. 2026); share as reported</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Visitors support 67,817 Anaheim jobs; food and beverage is a growing share of tourism work</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Regional economic impact · Anaheim, Garden Grove and Orange County, 2025</a:t>
            </a:r>
            <a:endParaRPr lang="en-US" sz="1200" dirty="0"/>
          </a:p>
        </p:txBody>
      </p:sp>
      <p:graphicFrame>
        <p:nvGraphicFramePr>
          <p:cNvPr id="63"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94415" cy="914400"/>
        </p:xfrm>
        <a:graphic>
          <a:graphicData uri="http://schemas.openxmlformats.org/drawingml/2006/table">
            <a:tbl>
              <a:tblPr/>
              <a:tblGrid>
                <a:gridCol w="1463040"/>
                <a:gridCol w="1325880"/>
                <a:gridCol w="1463040"/>
                <a:gridCol w="1280160"/>
                <a:gridCol w="1188720"/>
                <a:gridCol w="1325880"/>
                <a:gridCol w="1371600"/>
                <a:gridCol w="1673352"/>
              </a:tblGrid>
              <a:tr h="384048">
                <a:tc>
                  <a:txBody>
                    <a:bodyPr/>
                    <a:lstStyle/>
                    <a:p>
                      <a:pPr algn="l" indent="0" marL="0">
                        <a:buNone/>
                      </a:pPr>
                      <a:r>
                        <a:rPr lang="en-US" sz="1050" b="1" dirty="0">
                          <a:solidFill>
                            <a:srgbClr val="FFFFFF"/>
                          </a:solidFill>
                          <a:latin typeface="Proxima Nova" pitchFamily="34" charset="0"/>
                          <a:ea typeface="Proxima Nova" pitchFamily="34" charset="-122"/>
                          <a:cs typeface="Proxima Nova" pitchFamily="34" charset="-120"/>
                        </a:rPr>
                        <a:t>Geography</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Visitor spending</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Total economic impact</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Jobs supported</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F&amp;B jobs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F&amp;B share of jobs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F&amp;B share of spending</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State &amp; local taxes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Anaheim</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$6.83B</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$10.4B</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67,817</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11,366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16.8%</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15.6%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$970.0M</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84048">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Garden Grove</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$769.3M</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$1.1B</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6,694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2,721</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40.6%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32.0%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$83.6M</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Orange County</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$17.99B</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$30.7B</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178,164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51,892</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29.1%</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27.6%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$3.09B</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6" name="chart-title"/>
          <p:cNvSpPr txBox="1"/>
          <p:nvPr/>
        </p:nvSpPr>
        <p:spPr>
          <a:xfrm>
            <a:off x="548640" y="3246120"/>
            <a:ext cx="5303520"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Food and beverage share of visitor-supported jobs</a:t>
            </a:r>
            <a:endParaRPr lang="en-US" sz="1300" dirty="0"/>
          </a:p>
        </p:txBody>
      </p:sp>
      <p:graphicFrame>
        <p:nvGraphicFramePr>
          <p:cNvPr id="7" name="chart" descr=""/>
          <p:cNvGraphicFramePr/>
          <p:nvPr/>
        </p:nvGraphicFramePr>
        <p:xfrm>
          <a:off x="548640" y="3611880"/>
          <a:ext cx="5303520" cy="2286000"/>
        </p:xfrm>
        <a:graphic xmlns:a="http://schemas.openxmlformats.org/drawingml/2006/main">
          <a:graphicData uri="http://schemas.openxmlformats.org/drawingml/2006/chart">
            <c:chart xmlns:c="http://schemas.openxmlformats.org/drawingml/2006/chart" r:id="rId1"/>
          </a:graphicData>
        </a:graphic>
      </p:graphicFrame>
      <p:graphicFrame>
        <p:nvGraphicFramePr>
          <p:cNvPr id="125" name="Table 1"/>
          <p:cNvGraphicFramePr>
            <a:graphicFrameLocks noGrp="1"/>
          </p:cNvGraphicFramePr>
          <p:nvPr>
            <p:extLst>
              <p:ext uri="{D42A27DB-BD31-4B8C-83A1-F6EECF244321}">
                <p14:modId xmlns:p14="http://schemas.microsoft.com/office/powerpoint/2010/main" val="1579011935"/>
              </p:ext>
            </p:extLst>
          </p:nvPr>
        </p:nvGraphicFramePr>
        <p:xfrm>
          <a:off x="6126480" y="3291840"/>
          <a:ext cx="5486400" cy="914400"/>
        </p:xfrm>
        <a:graphic>
          <a:graphicData uri="http://schemas.openxmlformats.org/drawingml/2006/table">
            <a:tbl>
              <a:tblPr/>
              <a:tblGrid>
                <a:gridCol w="1645920"/>
                <a:gridCol w="1280160"/>
                <a:gridCol w="1280160"/>
                <a:gridCol w="1280160"/>
              </a:tblGrid>
              <a:tr h="329184">
                <a:tc>
                  <a:txBody>
                    <a:bodyPr/>
                    <a:lstStyle/>
                    <a:p>
                      <a:pPr algn="l" indent="0" marL="0">
                        <a:buNone/>
                      </a:pPr>
                      <a:r>
                        <a:rPr lang="en-US" sz="1050" b="1" dirty="0">
                          <a:solidFill>
                            <a:srgbClr val="FFFFFF"/>
                          </a:solidFill>
                          <a:latin typeface="Proxima Nova" pitchFamily="34" charset="0"/>
                          <a:ea typeface="Proxima Nova" pitchFamily="34" charset="-122"/>
                          <a:cs typeface="Proxima Nova" pitchFamily="34" charset="-120"/>
                        </a:rPr>
                        <a:t>Category</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Anaheim</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Garden Grove</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Orange County</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Recreation</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34.0%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6.4%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22.0%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Lodging</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25.2%</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33.0%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25.9%</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Retail</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21.9%</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22.6%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20.5%</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Food &amp; beverage</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15.6%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32.0%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27.6%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Transportation</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3.3%</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6.1%</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3.9%</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9"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of Visitors 2025 (Anaheim, Garden Grove, Orange County). Shares are BI calculations.</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What it means for OC Vibe: Jobs and economy</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What this insight enhances for OC Vibe, and what OC Vibe needs to act on it</a:t>
            </a:r>
            <a:endParaRPr lang="en-US" sz="1200" dirty="0"/>
          </a:p>
        </p:txBody>
      </p:sp>
      <p:sp>
        <p:nvSpPr>
          <p:cNvPr id="4" name="Shape 2"/>
          <p:cNvSpPr/>
          <p:nvPr/>
        </p:nvSpPr>
        <p:spPr>
          <a:xfrm>
            <a:off x="548640" y="1417320"/>
            <a:ext cx="11094415" cy="914400"/>
          </a:xfrm>
          <a:prstGeom prst="rect">
            <a:avLst/>
          </a:prstGeom>
          <a:solidFill>
            <a:srgbClr val="B4D9E3"/>
          </a:solidFill>
          <a:ln w="12700">
            <a:solidFill>
              <a:srgbClr val="B4D9E3"/>
            </a:solidFill>
            <a:prstDash val="solid"/>
          </a:ln>
        </p:spPr>
      </p:sp>
      <p:sp>
        <p:nvSpPr>
          <p:cNvPr id="5" name="Text 3"/>
          <p:cNvSpPr txBox="1"/>
          <p:nvPr/>
        </p:nvSpPr>
        <p:spPr>
          <a:xfrm>
            <a:off x="685800" y="1463040"/>
            <a:ext cx="1828800" cy="201168"/>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KEY INSIGHT</a:t>
            </a:r>
            <a:endParaRPr lang="en-US" sz="900" dirty="0"/>
          </a:p>
        </p:txBody>
      </p:sp>
      <p:sp>
        <p:nvSpPr>
          <p:cNvPr id="6" name="Text 4"/>
          <p:cNvSpPr txBox="1"/>
          <p:nvPr/>
        </p:nvSpPr>
        <p:spPr>
          <a:xfrm>
            <a:off x="685800" y="1664208"/>
            <a:ext cx="10820095" cy="640080"/>
          </a:xfrm>
          <a:prstGeom prst="rect">
            <a:avLst/>
          </a:prstGeom>
          <a:noFill/>
          <a:ln/>
        </p:spPr>
        <p:txBody>
          <a:bodyPr wrap="square" lIns="0" tIns="0" rIns="0" bIns="0" rtlCol="0" anchor="t"/>
          <a:lstStyle/>
          <a:p>
            <a:pPr indent="0" marL="0">
              <a:buNone/>
            </a:pPr>
            <a:r>
              <a:rPr lang="en-US" sz="1100" dirty="0">
                <a:solidFill>
                  <a:srgbClr val="231F20"/>
                </a:solidFill>
                <a:latin typeface="Proxima Nova" pitchFamily="34" charset="0"/>
                <a:ea typeface="Proxima Nova" pitchFamily="34" charset="-122"/>
                <a:cs typeface="Proxima Nova" pitchFamily="34" charset="-120"/>
              </a:rPr>
              <a:t>Visitors supported </a:t>
            </a:r>
            <a:pPr indent="0" marL="0">
              <a:buNone/>
            </a:pPr>
            <a:r>
              <a:rPr lang="en-US" sz="1100" b="1" dirty="0">
                <a:solidFill>
                  <a:srgbClr val="125C60"/>
                </a:solidFill>
                <a:latin typeface="Proxima Nova" pitchFamily="34" charset="0"/>
                <a:ea typeface="Proxima Nova" pitchFamily="34" charset="-122"/>
                <a:cs typeface="Proxima Nova" pitchFamily="34" charset="-120"/>
              </a:rPr>
              <a:t>67,817</a:t>
            </a:r>
            <a:pPr indent="0" marL="0">
              <a:buNone/>
            </a:pPr>
            <a:r>
              <a:rPr lang="en-US" sz="1100" dirty="0">
                <a:solidFill>
                  <a:srgbClr val="231F20"/>
                </a:solidFill>
                <a:latin typeface="Proxima Nova" pitchFamily="34" charset="0"/>
                <a:ea typeface="Proxima Nova" pitchFamily="34" charset="-122"/>
                <a:cs typeface="Proxima Nova" pitchFamily="34" charset="-120"/>
              </a:rPr>
              <a:t> Anaheim jobs in 2025, about one in three, and </a:t>
            </a:r>
            <a:pPr indent="0" marL="0">
              <a:buNone/>
            </a:pPr>
            <a:r>
              <a:rPr lang="en-US" sz="1100" b="1" dirty="0">
                <a:solidFill>
                  <a:srgbClr val="125C60"/>
                </a:solidFill>
                <a:latin typeface="Proxima Nova" pitchFamily="34" charset="0"/>
                <a:ea typeface="Proxima Nova" pitchFamily="34" charset="-122"/>
                <a:cs typeface="Proxima Nova" pitchFamily="34" charset="-120"/>
              </a:rPr>
              <a:t>178,164</a:t>
            </a:r>
            <a:pPr indent="0" marL="0">
              <a:buNone/>
            </a:pPr>
            <a:r>
              <a:rPr lang="en-US" sz="1100" dirty="0">
                <a:solidFill>
                  <a:srgbClr val="231F20"/>
                </a:solidFill>
                <a:latin typeface="Proxima Nova" pitchFamily="34" charset="0"/>
                <a:ea typeface="Proxima Nova" pitchFamily="34" charset="-122"/>
                <a:cs typeface="Proxima Nova" pitchFamily="34" charset="-120"/>
              </a:rPr>
              <a:t> countywide. Food and beverage holds </a:t>
            </a:r>
            <a:pPr indent="0" marL="0">
              <a:buNone/>
            </a:pPr>
            <a:r>
              <a:rPr lang="en-US" sz="1100" b="1" dirty="0">
                <a:solidFill>
                  <a:srgbClr val="125C60"/>
                </a:solidFill>
                <a:latin typeface="Proxima Nova" pitchFamily="34" charset="0"/>
                <a:ea typeface="Proxima Nova" pitchFamily="34" charset="-122"/>
                <a:cs typeface="Proxima Nova" pitchFamily="34" charset="-120"/>
              </a:rPr>
              <a:t>16.8%</a:t>
            </a:r>
            <a:pPr indent="0" marL="0">
              <a:buNone/>
            </a:pPr>
            <a:r>
              <a:rPr lang="en-US" sz="1100" dirty="0">
                <a:solidFill>
                  <a:srgbClr val="231F20"/>
                </a:solidFill>
                <a:latin typeface="Proxima Nova" pitchFamily="34" charset="0"/>
                <a:ea typeface="Proxima Nova" pitchFamily="34" charset="-122"/>
                <a:cs typeface="Proxima Nova" pitchFamily="34" charset="-120"/>
              </a:rPr>
              <a:t> of those jobs in Anaheim and </a:t>
            </a:r>
            <a:pPr indent="0" marL="0">
              <a:buNone/>
            </a:pPr>
            <a:r>
              <a:rPr lang="en-US" sz="1100" b="1" dirty="0">
                <a:solidFill>
                  <a:srgbClr val="125C60"/>
                </a:solidFill>
                <a:latin typeface="Proxima Nova" pitchFamily="34" charset="0"/>
                <a:ea typeface="Proxima Nova" pitchFamily="34" charset="-122"/>
                <a:cs typeface="Proxima Nova" pitchFamily="34" charset="-120"/>
              </a:rPr>
              <a:t>29.1%</a:t>
            </a:r>
            <a:pPr indent="0" marL="0">
              <a:buNone/>
            </a:pPr>
            <a:r>
              <a:rPr lang="en-US" sz="1100" dirty="0">
                <a:solidFill>
                  <a:srgbClr val="231F20"/>
                </a:solidFill>
                <a:latin typeface="Proxima Nova" pitchFamily="34" charset="0"/>
                <a:ea typeface="Proxima Nova" pitchFamily="34" charset="-122"/>
                <a:cs typeface="Proxima Nova" pitchFamily="34" charset="-120"/>
              </a:rPr>
              <a:t> countywide.</a:t>
            </a:r>
            <a:endParaRPr lang="en-US" sz="1100" dirty="0"/>
          </a:p>
        </p:txBody>
      </p:sp>
      <p:sp>
        <p:nvSpPr>
          <p:cNvPr id="7" name="Shape 5"/>
          <p:cNvSpPr/>
          <p:nvPr/>
        </p:nvSpPr>
        <p:spPr>
          <a:xfrm>
            <a:off x="548640" y="2468880"/>
            <a:ext cx="5410048" cy="45720"/>
          </a:xfrm>
          <a:prstGeom prst="rect">
            <a:avLst/>
          </a:prstGeom>
          <a:solidFill>
            <a:srgbClr val="43A3A3"/>
          </a:solidFill>
          <a:ln w="12700">
            <a:solidFill>
              <a:srgbClr val="43A3A3"/>
            </a:solidFill>
            <a:prstDash val="solid"/>
          </a:ln>
        </p:spPr>
      </p:sp>
      <p:sp>
        <p:nvSpPr>
          <p:cNvPr id="8" name="Text 6"/>
          <p:cNvSpPr txBox="1"/>
          <p:nvPr/>
        </p:nvSpPr>
        <p:spPr>
          <a:xfrm>
            <a:off x="548640" y="2560320"/>
            <a:ext cx="5410048" cy="256032"/>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WHAT IT ENHANCES</a:t>
            </a:r>
            <a:endParaRPr lang="en-US" sz="1000" dirty="0"/>
          </a:p>
        </p:txBody>
      </p:sp>
      <p:sp>
        <p:nvSpPr>
          <p:cNvPr id="9" name="Text 7"/>
          <p:cNvSpPr txBox="1"/>
          <p:nvPr/>
        </p:nvSpPr>
        <p:spPr>
          <a:xfrm>
            <a:off x="548640" y="2852928"/>
            <a:ext cx="5410048" cy="3063240"/>
          </a:xfrm>
          <a:prstGeom prst="rect">
            <a:avLst/>
          </a:prstGeom>
          <a:noFill/>
          <a:ln/>
        </p:spPr>
        <p:txBody>
          <a:bodyPr wrap="square" lIns="0" tIns="0" rIns="0" bIns="0" rtlCol="0" anchor="t"/>
          <a:lstStyle/>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Community: Each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of visitor spending in Anaheim supports about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9.9 jobs</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and about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$142,000</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in state and local taxes (2025). [Calculation: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67,817 jobs</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$6,832M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9.9</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per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$970M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$6,832M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14.2%</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Programming: Food and beverage was the fastest-growing visitor spending category in 2025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+5.5%</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and OC Vibe plans 35+ restaurants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171,544</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sq ft).</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Community: Visitors saved each Anaheim household about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$8,940</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in taxes in 2025, a community benefit OC Vibe's visitors add to.</a:t>
            </a:r>
            <a:endParaRPr lang="en-US" sz="800" dirty="0"/>
          </a:p>
        </p:txBody>
      </p:sp>
      <p:sp>
        <p:nvSpPr>
          <p:cNvPr id="10" name="Shape 8"/>
          <p:cNvSpPr/>
          <p:nvPr/>
        </p:nvSpPr>
        <p:spPr>
          <a:xfrm>
            <a:off x="6233008" y="2468880"/>
            <a:ext cx="5410048" cy="45720"/>
          </a:xfrm>
          <a:prstGeom prst="rect">
            <a:avLst/>
          </a:prstGeom>
          <a:solidFill>
            <a:srgbClr val="125C60"/>
          </a:solidFill>
          <a:ln w="12700">
            <a:solidFill>
              <a:srgbClr val="125C60"/>
            </a:solidFill>
            <a:prstDash val="solid"/>
          </a:ln>
        </p:spPr>
      </p:sp>
      <p:sp>
        <p:nvSpPr>
          <p:cNvPr id="11" name="Text 9"/>
          <p:cNvSpPr txBox="1"/>
          <p:nvPr/>
        </p:nvSpPr>
        <p:spPr>
          <a:xfrm>
            <a:off x="6233008" y="2560320"/>
            <a:ext cx="5410048" cy="256032"/>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WHAT OC VIBE NEEDS</a:t>
            </a:r>
            <a:endParaRPr lang="en-US" sz="1000" dirty="0"/>
          </a:p>
        </p:txBody>
      </p:sp>
      <p:sp>
        <p:nvSpPr>
          <p:cNvPr id="12" name="Text 10"/>
          <p:cNvSpPr txBox="1"/>
          <p:nvPr/>
        </p:nvSpPr>
        <p:spPr>
          <a:xfrm>
            <a:off x="6233008" y="2852928"/>
            <a:ext cx="5410048" cy="3063240"/>
          </a:xfrm>
          <a:prstGeom prst="rect">
            <a:avLst/>
          </a:prstGeom>
          <a:noFill/>
          <a:ln/>
        </p:spPr>
        <p:txBody>
          <a:bodyPr wrap="square" lIns="0" tIns="0" rIns="0" bIns="0" rtlCol="0" anchor="t"/>
          <a:lstStyle/>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Operations: A hiring plan for the 2027 openings, with labor costs rising about </a:t>
            </a:r>
            <a:pPr algn="l" marL="177800" indent="-177800">
              <a:spcAft>
                <a:spcPts val="600"/>
              </a:spcAft>
              <a:buSzPct val="100000"/>
              <a:buChar char="•"/>
            </a:pPr>
            <a:r>
              <a:rPr lang="en-US" sz="1050" b="1" dirty="0">
                <a:solidFill>
                  <a:srgbClr val="125C60"/>
                </a:solidFill>
                <a:latin typeface="Proxima Nova" pitchFamily="34" charset="0"/>
                <a:ea typeface="Proxima Nova" pitchFamily="34" charset="-122"/>
                <a:cs typeface="Proxima Nova" pitchFamily="34" charset="-120"/>
              </a:rPr>
              <a:t>6%</a:t>
            </a:r>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 a year.</a:t>
            </a:r>
            <a:endParaRPr lang="en-US" sz="1050" dirty="0"/>
          </a:p>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Measurement: OC Vibe's sales by category once venues open, to replace citywide ratios with its own mix.</a:t>
            </a:r>
            <a:endParaRPr lang="en-US" sz="1050" dirty="0"/>
          </a:p>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Community: Local hiring and wage figures, to report OC Vibe's jobs benefit directly.</a:t>
            </a:r>
            <a:endParaRPr lang="en-US" sz="1050" dirty="0"/>
          </a:p>
        </p:txBody>
      </p:sp>
      <p:sp>
        <p:nvSpPr>
          <p:cNvPr id="13"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2025 (pub. Apr.–May 2026); City of Anaheim OCVibe page (2026); OCVIBE fact sheet (Apr. 2024); Visit Anaheim, 2025 tourism results (pub. June 3, 2026); LARC Market Intelligence Reports (Jan.–Sept.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Resort-area hotels fill 78% of rooms while new supply stays scarce</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Hotel market · CoStar, data through Aug. 2026</a:t>
            </a:r>
            <a:endParaRPr lang="en-US" sz="1200" dirty="0"/>
          </a:p>
        </p:txBody>
      </p:sp>
      <p:sp>
        <p:nvSpPr>
          <p:cNvPr id="5" name="Text 2"/>
          <p:cNvSpPr txBox="1"/>
          <p:nvPr/>
        </p:nvSpPr>
        <p:spPr>
          <a:xfrm>
            <a:off x="548640" y="1481328"/>
            <a:ext cx="7086600"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THE LEDE</a:t>
            </a:r>
            <a:endParaRPr lang="en-US" sz="1000" dirty="0"/>
          </a:p>
        </p:txBody>
      </p:sp>
      <p:sp>
        <p:nvSpPr>
          <p:cNvPr id="6" name="Text 3"/>
          <p:cNvSpPr txBox="1"/>
          <p:nvPr/>
        </p:nvSpPr>
        <p:spPr>
          <a:xfrm>
            <a:off x="548640" y="1737360"/>
            <a:ext cx="7086600" cy="1965960"/>
          </a:xfrm>
          <a:prstGeom prst="rect">
            <a:avLst/>
          </a:prstGeom>
          <a:noFill/>
          <a:ln/>
        </p:spPr>
        <p:txBody>
          <a:bodyPr wrap="square" lIns="0" tIns="0" rIns="0" bIns="0" rtlCol="0" anchor="t"/>
          <a:lstStyle/>
          <a:p>
            <a:pPr indent="0" marL="0">
              <a:buNone/>
            </a:pPr>
            <a:r>
              <a:rPr lang="en-US" sz="1350" b="1" dirty="0">
                <a:solidFill>
                  <a:srgbClr val="125C60"/>
                </a:solidFill>
                <a:latin typeface="Proxima Nova" pitchFamily="34" charset="0"/>
                <a:ea typeface="Proxima Nova" pitchFamily="34" charset="-122"/>
                <a:cs typeface="Proxima Nova" pitchFamily="34" charset="-120"/>
              </a:rPr>
              <a:t>ANAHEIM, Calif. (Oct. 13, 2026): </a:t>
            </a:r>
            <a:pPr indent="0" marL="0">
              <a:buNone/>
            </a:pPr>
            <a:r>
              <a:rPr lang="en-US" sz="1350" dirty="0">
                <a:solidFill>
                  <a:srgbClr val="231F20"/>
                </a:solidFill>
                <a:latin typeface="Proxima Nova" pitchFamily="34" charset="0"/>
                <a:ea typeface="Proxima Nova" pitchFamily="34" charset="-122"/>
                <a:cs typeface="Proxima Nova" pitchFamily="34" charset="-120"/>
              </a:rPr>
              <a:t>Demand is strong and new supply is scarce: Disneyland submarket hotels filled </a:t>
            </a:r>
            <a:pPr indent="0" marL="0">
              <a:buNone/>
            </a:pPr>
            <a:r>
              <a:rPr lang="en-US" sz="1350" b="1" dirty="0">
                <a:solidFill>
                  <a:srgbClr val="125C60"/>
                </a:solidFill>
                <a:latin typeface="Proxima Nova" pitchFamily="34" charset="0"/>
                <a:ea typeface="Proxima Nova" pitchFamily="34" charset="-122"/>
                <a:cs typeface="Proxima Nova" pitchFamily="34" charset="-120"/>
              </a:rPr>
              <a:t>78.4%</a:t>
            </a:r>
            <a:pPr indent="0" marL="0">
              <a:buNone/>
            </a:pPr>
            <a:r>
              <a:rPr lang="en-US" sz="1350" dirty="0">
                <a:solidFill>
                  <a:srgbClr val="231F20"/>
                </a:solidFill>
                <a:latin typeface="Proxima Nova" pitchFamily="34" charset="0"/>
                <a:ea typeface="Proxima Nova" pitchFamily="34" charset="-122"/>
                <a:cs typeface="Proxima Nova" pitchFamily="34" charset="-120"/>
              </a:rPr>
              <a:t> of rooms at </a:t>
            </a:r>
            <a:pPr indent="0" marL="0">
              <a:buNone/>
            </a:pPr>
            <a:r>
              <a:rPr lang="en-US" sz="1350" b="1" dirty="0">
                <a:solidFill>
                  <a:srgbClr val="125C60"/>
                </a:solidFill>
                <a:latin typeface="Proxima Nova" pitchFamily="34" charset="0"/>
                <a:ea typeface="Proxima Nova" pitchFamily="34" charset="-122"/>
                <a:cs typeface="Proxima Nova" pitchFamily="34" charset="-120"/>
              </a:rPr>
              <a:t>$255</a:t>
            </a:r>
            <a:pPr indent="0" marL="0">
              <a:buNone/>
            </a:pPr>
            <a:r>
              <a:rPr lang="en-US" sz="1350" dirty="0">
                <a:solidFill>
                  <a:srgbClr val="231F20"/>
                </a:solidFill>
                <a:latin typeface="Proxima Nova" pitchFamily="34" charset="0"/>
                <a:ea typeface="Proxima Nova" pitchFamily="34" charset="-122"/>
                <a:cs typeface="Proxima Nova" pitchFamily="34" charset="-120"/>
              </a:rPr>
              <a:t> a night, and only </a:t>
            </a:r>
            <a:pPr indent="0" marL="0">
              <a:buNone/>
            </a:pPr>
            <a:r>
              <a:rPr lang="en-US" sz="1350" b="1" dirty="0">
                <a:solidFill>
                  <a:srgbClr val="125C60"/>
                </a:solidFill>
                <a:latin typeface="Proxima Nova" pitchFamily="34" charset="0"/>
                <a:ea typeface="Proxima Nova" pitchFamily="34" charset="-122"/>
                <a:cs typeface="Proxima Nova" pitchFamily="34" charset="-120"/>
              </a:rPr>
              <a:t>668 rooms</a:t>
            </a:r>
            <a:pPr indent="0" marL="0">
              <a:buNone/>
            </a:pPr>
            <a:r>
              <a:rPr lang="en-US" sz="1350" dirty="0">
                <a:solidFill>
                  <a:srgbClr val="231F20"/>
                </a:solidFill>
                <a:latin typeface="Proxima Nova" pitchFamily="34" charset="0"/>
                <a:ea typeface="Proxima Nova" pitchFamily="34" charset="-122"/>
                <a:cs typeface="Proxima Nova" pitchFamily="34" charset="-120"/>
              </a:rPr>
              <a:t> are under construction countywide. Weeknights have the most room: Visit Anaheim hotels ran </a:t>
            </a:r>
            <a:pPr indent="0" marL="0">
              <a:buNone/>
            </a:pPr>
            <a:r>
              <a:rPr lang="en-US" sz="1350" b="1" dirty="0">
                <a:solidFill>
                  <a:srgbClr val="125C60"/>
                </a:solidFill>
                <a:latin typeface="Proxima Nova" pitchFamily="34" charset="0"/>
                <a:ea typeface="Proxima Nova" pitchFamily="34" charset="-122"/>
                <a:cs typeface="Proxima Nova" pitchFamily="34" charset="-120"/>
              </a:rPr>
              <a:t>70.6%</a:t>
            </a:r>
            <a:pPr indent="0" marL="0">
              <a:buNone/>
            </a:pPr>
            <a:r>
              <a:rPr lang="en-US" sz="1350" dirty="0">
                <a:solidFill>
                  <a:srgbClr val="231F20"/>
                </a:solidFill>
                <a:latin typeface="Proxima Nova" pitchFamily="34" charset="0"/>
                <a:ea typeface="Proxima Nova" pitchFamily="34" charset="-122"/>
                <a:cs typeface="Proxima Nova" pitchFamily="34" charset="-120"/>
              </a:rPr>
              <a:t> full on Sunday–Monday nights vs. </a:t>
            </a:r>
            <a:pPr indent="0" marL="0">
              <a:buNone/>
            </a:pPr>
            <a:r>
              <a:rPr lang="en-US" sz="1350" b="1" dirty="0">
                <a:solidFill>
                  <a:srgbClr val="125C60"/>
                </a:solidFill>
                <a:latin typeface="Proxima Nova" pitchFamily="34" charset="0"/>
                <a:ea typeface="Proxima Nova" pitchFamily="34" charset="-122"/>
                <a:cs typeface="Proxima Nova" pitchFamily="34" charset="-120"/>
              </a:rPr>
              <a:t>86.2%</a:t>
            </a:r>
            <a:pPr indent="0" marL="0">
              <a:buNone/>
            </a:pPr>
            <a:r>
              <a:rPr lang="en-US" sz="1350" dirty="0">
                <a:solidFill>
                  <a:srgbClr val="231F20"/>
                </a:solidFill>
                <a:latin typeface="Proxima Nova" pitchFamily="34" charset="0"/>
                <a:ea typeface="Proxima Nova" pitchFamily="34" charset="-122"/>
                <a:cs typeface="Proxima Nova" pitchFamily="34" charset="-120"/>
              </a:rPr>
              <a:t> on Friday–Saturday, a </a:t>
            </a:r>
            <a:pPr indent="0" marL="0">
              <a:buNone/>
            </a:pPr>
            <a:r>
              <a:rPr lang="en-US" sz="1350" b="1" dirty="0">
                <a:solidFill>
                  <a:srgbClr val="125C60"/>
                </a:solidFill>
                <a:latin typeface="Proxima Nova" pitchFamily="34" charset="0"/>
                <a:ea typeface="Proxima Nova" pitchFamily="34" charset="-122"/>
                <a:cs typeface="Proxima Nova" pitchFamily="34" charset="-120"/>
              </a:rPr>
              <a:t>15.7</a:t>
            </a:r>
            <a:pPr indent="0" marL="0">
              <a:buNone/>
            </a:pPr>
            <a:r>
              <a:rPr lang="en-US" sz="1350" dirty="0">
                <a:solidFill>
                  <a:srgbClr val="231F20"/>
                </a:solidFill>
                <a:latin typeface="Proxima Nova" pitchFamily="34" charset="0"/>
                <a:ea typeface="Proxima Nova" pitchFamily="34" charset="-122"/>
                <a:cs typeface="Proxima Nova" pitchFamily="34" charset="-120"/>
              </a:rPr>
              <a:t>-point gap (averages of the two nights each).</a:t>
            </a:r>
            <a:endParaRPr lang="en-US" sz="1350" dirty="0"/>
          </a:p>
        </p:txBody>
      </p:sp>
      <p:sp>
        <p:nvSpPr>
          <p:cNvPr id="7" name="Shape 4"/>
          <p:cNvSpPr/>
          <p:nvPr/>
        </p:nvSpPr>
        <p:spPr>
          <a:xfrm>
            <a:off x="548640" y="3822192"/>
            <a:ext cx="7086600" cy="45720"/>
          </a:xfrm>
          <a:prstGeom prst="rect">
            <a:avLst/>
          </a:prstGeom>
          <a:solidFill>
            <a:srgbClr val="125C60"/>
          </a:solidFill>
          <a:ln w="12700">
            <a:solidFill>
              <a:srgbClr val="125C60"/>
            </a:solidFill>
            <a:prstDash val="solid"/>
          </a:ln>
        </p:spPr>
      </p:sp>
      <p:sp>
        <p:nvSpPr>
          <p:cNvPr id="8" name="Text 5"/>
          <p:cNvSpPr txBox="1"/>
          <p:nvPr/>
        </p:nvSpPr>
        <p:spPr>
          <a:xfrm>
            <a:off x="548640" y="3931920"/>
            <a:ext cx="7086600"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WHY IT MATTERS</a:t>
            </a:r>
            <a:endParaRPr lang="en-US" sz="1000" dirty="0"/>
          </a:p>
        </p:txBody>
      </p:sp>
      <p:sp>
        <p:nvSpPr>
          <p:cNvPr id="9" name="Text 6"/>
          <p:cNvSpPr txBox="1"/>
          <p:nvPr/>
        </p:nvSpPr>
        <p:spPr>
          <a:xfrm>
            <a:off x="548640" y="4187952"/>
            <a:ext cx="7086600" cy="1691640"/>
          </a:xfrm>
          <a:prstGeom prst="rect">
            <a:avLst/>
          </a:prstGeom>
          <a:noFill/>
          <a:ln/>
        </p:spPr>
        <p:txBody>
          <a:bodyPr wrap="square" lIns="0" tIns="0" rIns="0" bIns="0" rtlCol="0" anchor="t"/>
          <a:lstStyle/>
          <a:p>
            <a:pPr indent="0" marL="0">
              <a:buNone/>
            </a:pPr>
            <a:r>
              <a:rPr lang="en-US" sz="1250" dirty="0">
                <a:solidFill>
                  <a:srgbClr val="231F20"/>
                </a:solidFill>
                <a:latin typeface="Proxima Nova" pitchFamily="34" charset="0"/>
                <a:ea typeface="Proxima Nova" pitchFamily="34" charset="-122"/>
                <a:cs typeface="Proxima Nova" pitchFamily="34" charset="-120"/>
              </a:rPr>
              <a:t>OC Vibe plans 550 hotel rooms in a market with strong demand and little new supply. CoStar reports </a:t>
            </a:r>
            <a:pPr indent="0" marL="0">
              <a:buNone/>
            </a:pPr>
            <a:r>
              <a:rPr lang="en-US" sz="1250" b="1" dirty="0">
                <a:solidFill>
                  <a:srgbClr val="125C60"/>
                </a:solidFill>
                <a:latin typeface="Proxima Nova" pitchFamily="34" charset="0"/>
                <a:ea typeface="Proxima Nova" pitchFamily="34" charset="-122"/>
                <a:cs typeface="Proxima Nova" pitchFamily="34" charset="-120"/>
              </a:rPr>
              <a:t>78.4%</a:t>
            </a:r>
            <a:pPr indent="0" marL="0">
              <a:buNone/>
            </a:pPr>
            <a:r>
              <a:rPr lang="en-US" sz="1250" dirty="0">
                <a:solidFill>
                  <a:srgbClr val="231F20"/>
                </a:solidFill>
                <a:latin typeface="Proxima Nova" pitchFamily="34" charset="0"/>
                <a:ea typeface="Proxima Nova" pitchFamily="34" charset="-122"/>
                <a:cs typeface="Proxima Nova" pitchFamily="34" charset="-120"/>
              </a:rPr>
              <a:t> occupancy in the Disneyland submarket and only </a:t>
            </a:r>
            <a:pPr indent="0" marL="0">
              <a:buNone/>
            </a:pPr>
            <a:r>
              <a:rPr lang="en-US" sz="1250" b="1" dirty="0">
                <a:solidFill>
                  <a:srgbClr val="125C60"/>
                </a:solidFill>
                <a:latin typeface="Proxima Nova" pitchFamily="34" charset="0"/>
                <a:ea typeface="Proxima Nova" pitchFamily="34" charset="-122"/>
                <a:cs typeface="Proxima Nova" pitchFamily="34" charset="-120"/>
              </a:rPr>
              <a:t>668 rooms</a:t>
            </a:r>
            <a:pPr indent="0" marL="0">
              <a:buNone/>
            </a:pPr>
            <a:r>
              <a:rPr lang="en-US" sz="1250" dirty="0">
                <a:solidFill>
                  <a:srgbClr val="231F20"/>
                </a:solidFill>
                <a:latin typeface="Proxima Nova" pitchFamily="34" charset="0"/>
                <a:ea typeface="Proxima Nova" pitchFamily="34" charset="-122"/>
                <a:cs typeface="Proxima Nova" pitchFamily="34" charset="-120"/>
              </a:rPr>
              <a:t> under construction countywide, and STR shows the most open rooms on Sunday and Monday nights.</a:t>
            </a:r>
            <a:endParaRPr lang="en-US" sz="1250" dirty="0"/>
          </a:p>
        </p:txBody>
      </p:sp>
      <p:sp>
        <p:nvSpPr>
          <p:cNvPr id="10" name="Text 7"/>
          <p:cNvSpPr txBox="1"/>
          <p:nvPr/>
        </p:nvSpPr>
        <p:spPr>
          <a:xfrm>
            <a:off x="8001000" y="1481328"/>
            <a:ext cx="3642055"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BY THE NUMBERS</a:t>
            </a:r>
            <a:endParaRPr lang="en-US" sz="1000" dirty="0"/>
          </a:p>
        </p:txBody>
      </p:sp>
      <p:sp>
        <p:nvSpPr>
          <p:cNvPr id="11" name="news-stat-0"/>
          <p:cNvSpPr/>
          <p:nvPr/>
        </p:nvSpPr>
        <p:spPr>
          <a:xfrm>
            <a:off x="8001000" y="1755648"/>
            <a:ext cx="3642055" cy="1280160"/>
          </a:xfrm>
          <a:prstGeom prst="roundRect">
            <a:avLst>
              <a:gd name="adj" fmla="val 4286"/>
            </a:avLst>
          </a:prstGeom>
          <a:solidFill>
            <a:srgbClr val="FFFFFF"/>
          </a:solidFill>
          <a:ln w="12700">
            <a:solidFill>
              <a:srgbClr val="B4D9E3"/>
            </a:solidFill>
            <a:prstDash val="solid"/>
          </a:ln>
        </p:spPr>
      </p:sp>
      <p:sp>
        <p:nvSpPr>
          <p:cNvPr id="12" name="Text 9"/>
          <p:cNvSpPr txBox="1"/>
          <p:nvPr/>
        </p:nvSpPr>
        <p:spPr>
          <a:xfrm>
            <a:off x="8138160" y="18288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DISNEYLAND SUBMARKET, 12 MONTHS</a:t>
            </a:r>
            <a:endParaRPr lang="en-US" sz="850" dirty="0"/>
          </a:p>
        </p:txBody>
      </p:sp>
      <p:sp>
        <p:nvSpPr>
          <p:cNvPr id="13" name="Text 10"/>
          <p:cNvSpPr txBox="1"/>
          <p:nvPr/>
        </p:nvSpPr>
        <p:spPr>
          <a:xfrm>
            <a:off x="8138160" y="20299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78.4%</a:t>
            </a:r>
            <a:endParaRPr lang="en-US" sz="2200" dirty="0"/>
          </a:p>
        </p:txBody>
      </p:sp>
      <p:sp>
        <p:nvSpPr>
          <p:cNvPr id="14" name="Text 11"/>
          <p:cNvSpPr txBox="1"/>
          <p:nvPr/>
        </p:nvSpPr>
        <p:spPr>
          <a:xfrm>
            <a:off x="8138160" y="24505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Hotel occupancy</a:t>
            </a:r>
            <a:endParaRPr lang="en-US" sz="1050" dirty="0"/>
          </a:p>
        </p:txBody>
      </p:sp>
      <p:sp>
        <p:nvSpPr>
          <p:cNvPr id="15" name="Text 12"/>
          <p:cNvSpPr txBox="1"/>
          <p:nvPr/>
        </p:nvSpPr>
        <p:spPr>
          <a:xfrm>
            <a:off x="8138160" y="27249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CoStar (through Aug. 2026)</a:t>
            </a:r>
            <a:endParaRPr lang="en-US" sz="750" dirty="0"/>
          </a:p>
        </p:txBody>
      </p:sp>
      <p:sp>
        <p:nvSpPr>
          <p:cNvPr id="16" name="news-stat-1"/>
          <p:cNvSpPr/>
          <p:nvPr/>
        </p:nvSpPr>
        <p:spPr>
          <a:xfrm>
            <a:off x="8001000" y="3127248"/>
            <a:ext cx="3642055" cy="1280160"/>
          </a:xfrm>
          <a:prstGeom prst="roundRect">
            <a:avLst>
              <a:gd name="adj" fmla="val 4286"/>
            </a:avLst>
          </a:prstGeom>
          <a:solidFill>
            <a:srgbClr val="FFFFFF"/>
          </a:solidFill>
          <a:ln w="12700">
            <a:solidFill>
              <a:srgbClr val="B4D9E3"/>
            </a:solidFill>
            <a:prstDash val="solid"/>
          </a:ln>
        </p:spPr>
      </p:sp>
      <p:sp>
        <p:nvSpPr>
          <p:cNvPr id="17" name="Text 14"/>
          <p:cNvSpPr txBox="1"/>
          <p:nvPr/>
        </p:nvSpPr>
        <p:spPr>
          <a:xfrm>
            <a:off x="8138160" y="32004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DISNEYLAND SUBMARKET, 2026 YTD</a:t>
            </a:r>
            <a:endParaRPr lang="en-US" sz="850" dirty="0"/>
          </a:p>
        </p:txBody>
      </p:sp>
      <p:sp>
        <p:nvSpPr>
          <p:cNvPr id="18" name="Text 15"/>
          <p:cNvSpPr txBox="1"/>
          <p:nvPr/>
        </p:nvSpPr>
        <p:spPr>
          <a:xfrm>
            <a:off x="8138160" y="34015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$199</a:t>
            </a:r>
            <a:endParaRPr lang="en-US" sz="2200" dirty="0"/>
          </a:p>
        </p:txBody>
      </p:sp>
      <p:sp>
        <p:nvSpPr>
          <p:cNvPr id="19" name="Text 16"/>
          <p:cNvSpPr txBox="1"/>
          <p:nvPr/>
        </p:nvSpPr>
        <p:spPr>
          <a:xfrm>
            <a:off x="8138160" y="38221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Revenue per available room</a:t>
            </a:r>
            <a:endParaRPr lang="en-US" sz="1050" dirty="0"/>
          </a:p>
        </p:txBody>
      </p:sp>
      <p:sp>
        <p:nvSpPr>
          <p:cNvPr id="20" name="Text 17"/>
          <p:cNvSpPr txBox="1"/>
          <p:nvPr/>
        </p:nvSpPr>
        <p:spPr>
          <a:xfrm>
            <a:off x="8138160" y="40965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CoStar (through Aug. 2026)</a:t>
            </a:r>
            <a:endParaRPr lang="en-US" sz="750" dirty="0"/>
          </a:p>
        </p:txBody>
      </p:sp>
      <p:sp>
        <p:nvSpPr>
          <p:cNvPr id="21" name="news-stat-2"/>
          <p:cNvSpPr/>
          <p:nvPr/>
        </p:nvSpPr>
        <p:spPr>
          <a:xfrm>
            <a:off x="8001000" y="4498848"/>
            <a:ext cx="3642055" cy="1280160"/>
          </a:xfrm>
          <a:prstGeom prst="roundRect">
            <a:avLst>
              <a:gd name="adj" fmla="val 4286"/>
            </a:avLst>
          </a:prstGeom>
          <a:solidFill>
            <a:srgbClr val="FFFFFF"/>
          </a:solidFill>
          <a:ln w="12700">
            <a:solidFill>
              <a:srgbClr val="B4D9E3"/>
            </a:solidFill>
            <a:prstDash val="solid"/>
          </a:ln>
        </p:spPr>
      </p:sp>
      <p:sp>
        <p:nvSpPr>
          <p:cNvPr id="22" name="Text 19"/>
          <p:cNvSpPr txBox="1"/>
          <p:nvPr/>
        </p:nvSpPr>
        <p:spPr>
          <a:xfrm>
            <a:off x="8138160" y="45720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ORANGE COUNTY, UNDER CONSTRUCTION</a:t>
            </a:r>
            <a:endParaRPr lang="en-US" sz="850" dirty="0"/>
          </a:p>
        </p:txBody>
      </p:sp>
      <p:sp>
        <p:nvSpPr>
          <p:cNvPr id="23" name="Text 20"/>
          <p:cNvSpPr txBox="1"/>
          <p:nvPr/>
        </p:nvSpPr>
        <p:spPr>
          <a:xfrm>
            <a:off x="8138160" y="47731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668</a:t>
            </a:r>
            <a:endParaRPr lang="en-US" sz="2200" dirty="0"/>
          </a:p>
        </p:txBody>
      </p:sp>
      <p:sp>
        <p:nvSpPr>
          <p:cNvPr id="24" name="Text 21"/>
          <p:cNvSpPr txBox="1"/>
          <p:nvPr/>
        </p:nvSpPr>
        <p:spPr>
          <a:xfrm>
            <a:off x="8138160" y="51937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New hotel rooms</a:t>
            </a:r>
            <a:endParaRPr lang="en-US" sz="1050" dirty="0"/>
          </a:p>
        </p:txBody>
      </p:sp>
      <p:sp>
        <p:nvSpPr>
          <p:cNvPr id="25" name="Text 22"/>
          <p:cNvSpPr txBox="1"/>
          <p:nvPr/>
        </p:nvSpPr>
        <p:spPr>
          <a:xfrm>
            <a:off x="8138160" y="54681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CoStar (through Aug. 2026)</a:t>
            </a:r>
            <a:endParaRPr lang="en-US" sz="750" dirty="0"/>
          </a:p>
        </p:txBody>
      </p:sp>
      <p:sp>
        <p:nvSpPr>
          <p:cNvPr id="2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CoStar reports and export (data through Aug. 2026; pulled Oct. 12, 2026); STR daily data, Visit Anaheim hotel sets (Jan. 1–Oct. 3,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The details: Hotel market</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who, what, when, where, why and how, each with its figure, source and date</a:t>
            </a:r>
            <a:endParaRPr lang="en-US" sz="1200" dirty="0"/>
          </a:p>
        </p:txBody>
      </p:sp>
      <p:sp>
        <p:nvSpPr>
          <p:cNvPr id="4" name="detail-card-0"/>
          <p:cNvSpPr/>
          <p:nvPr/>
        </p:nvSpPr>
        <p:spPr>
          <a:xfrm>
            <a:off x="548640" y="1417320"/>
            <a:ext cx="3588410" cy="2176272"/>
          </a:xfrm>
          <a:prstGeom prst="rect">
            <a:avLst/>
          </a:prstGeom>
          <a:solidFill>
            <a:srgbClr val="FFFFFF"/>
          </a:solidFill>
          <a:ln w="12700">
            <a:solidFill>
              <a:srgbClr val="B4D9E3"/>
            </a:solidFill>
            <a:prstDash val="solid"/>
          </a:ln>
        </p:spPr>
      </p:sp>
      <p:sp>
        <p:nvSpPr>
          <p:cNvPr id="5" name="Shape 3"/>
          <p:cNvSpPr/>
          <p:nvPr/>
        </p:nvSpPr>
        <p:spPr>
          <a:xfrm>
            <a:off x="548640" y="1417320"/>
            <a:ext cx="3588410" cy="64008"/>
          </a:xfrm>
          <a:prstGeom prst="rect">
            <a:avLst/>
          </a:prstGeom>
          <a:solidFill>
            <a:srgbClr val="43A3A3"/>
          </a:solidFill>
          <a:ln w="12700">
            <a:solidFill>
              <a:srgbClr val="43A3A3"/>
            </a:solidFill>
            <a:prstDash val="solid"/>
          </a:ln>
        </p:spPr>
      </p:sp>
      <p:sp>
        <p:nvSpPr>
          <p:cNvPr id="6" name="Text 4"/>
          <p:cNvSpPr txBox="1"/>
          <p:nvPr/>
        </p:nvSpPr>
        <p:spPr>
          <a:xfrm>
            <a:off x="685800"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WHO</a:t>
            </a:r>
            <a:endParaRPr lang="en-US" sz="900" dirty="0"/>
          </a:p>
        </p:txBody>
      </p:sp>
      <p:sp>
        <p:nvSpPr>
          <p:cNvPr id="7" name="Text 5"/>
          <p:cNvSpPr txBox="1"/>
          <p:nvPr/>
        </p:nvSpPr>
        <p:spPr>
          <a:xfrm>
            <a:off x="685800"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668</a:t>
            </a:r>
            <a:endParaRPr lang="en-US" sz="2200" dirty="0"/>
          </a:p>
        </p:txBody>
      </p:sp>
      <p:sp>
        <p:nvSpPr>
          <p:cNvPr id="8" name="Text 6"/>
          <p:cNvSpPr txBox="1"/>
          <p:nvPr/>
        </p:nvSpPr>
        <p:spPr>
          <a:xfrm>
            <a:off x="685800"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hotel rooms under construction countywide</a:t>
            </a:r>
            <a:endParaRPr lang="en-US" sz="1000" dirty="0"/>
          </a:p>
        </p:txBody>
      </p:sp>
      <p:sp>
        <p:nvSpPr>
          <p:cNvPr id="9" name="Text 7"/>
          <p:cNvSpPr txBox="1"/>
          <p:nvPr/>
        </p:nvSpPr>
        <p:spPr>
          <a:xfrm>
            <a:off x="685800"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Hotels in Orange County submarkets and Visit Anaheim's hotel sets; investors and developers.</a:t>
            </a:r>
            <a:endParaRPr lang="en-US" sz="950" dirty="0"/>
          </a:p>
        </p:txBody>
      </p:sp>
      <p:sp>
        <p:nvSpPr>
          <p:cNvPr id="10" name="Text 8"/>
          <p:cNvSpPr txBox="1"/>
          <p:nvPr/>
        </p:nvSpPr>
        <p:spPr>
          <a:xfrm>
            <a:off x="685800"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CoStar reports and export (data through Aug. 2026; pulled Oct. 12, 2026)</a:t>
            </a:r>
            <a:endParaRPr lang="en-US" sz="700" dirty="0"/>
          </a:p>
        </p:txBody>
      </p:sp>
      <p:sp>
        <p:nvSpPr>
          <p:cNvPr id="11" name="detail-card-1"/>
          <p:cNvSpPr/>
          <p:nvPr/>
        </p:nvSpPr>
        <p:spPr>
          <a:xfrm>
            <a:off x="4301642" y="1417320"/>
            <a:ext cx="3588410" cy="2176272"/>
          </a:xfrm>
          <a:prstGeom prst="rect">
            <a:avLst/>
          </a:prstGeom>
          <a:solidFill>
            <a:srgbClr val="FFFFFF"/>
          </a:solidFill>
          <a:ln w="12700">
            <a:solidFill>
              <a:srgbClr val="B4D9E3"/>
            </a:solidFill>
            <a:prstDash val="solid"/>
          </a:ln>
        </p:spPr>
      </p:sp>
      <p:sp>
        <p:nvSpPr>
          <p:cNvPr id="12" name="Shape 10"/>
          <p:cNvSpPr/>
          <p:nvPr/>
        </p:nvSpPr>
        <p:spPr>
          <a:xfrm>
            <a:off x="4301642" y="1417320"/>
            <a:ext cx="3588410" cy="64008"/>
          </a:xfrm>
          <a:prstGeom prst="rect">
            <a:avLst/>
          </a:prstGeom>
          <a:solidFill>
            <a:srgbClr val="43A3A3"/>
          </a:solidFill>
          <a:ln w="12700">
            <a:solidFill>
              <a:srgbClr val="43A3A3"/>
            </a:solidFill>
            <a:prstDash val="solid"/>
          </a:ln>
        </p:spPr>
      </p:sp>
      <p:sp>
        <p:nvSpPr>
          <p:cNvPr id="13" name="Text 11"/>
          <p:cNvSpPr txBox="1"/>
          <p:nvPr/>
        </p:nvSpPr>
        <p:spPr>
          <a:xfrm>
            <a:off x="4438802"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WHAT</a:t>
            </a:r>
            <a:endParaRPr lang="en-US" sz="900" dirty="0"/>
          </a:p>
        </p:txBody>
      </p:sp>
      <p:sp>
        <p:nvSpPr>
          <p:cNvPr id="14" name="Text 12"/>
          <p:cNvSpPr txBox="1"/>
          <p:nvPr/>
        </p:nvSpPr>
        <p:spPr>
          <a:xfrm>
            <a:off x="4438802"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78.4%</a:t>
            </a:r>
            <a:endParaRPr lang="en-US" sz="2200" dirty="0"/>
          </a:p>
        </p:txBody>
      </p:sp>
      <p:sp>
        <p:nvSpPr>
          <p:cNvPr id="15" name="Text 13"/>
          <p:cNvSpPr txBox="1"/>
          <p:nvPr/>
        </p:nvSpPr>
        <p:spPr>
          <a:xfrm>
            <a:off x="4438802"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Disneyland submarket occupancy, at $255 a night</a:t>
            </a:r>
            <a:endParaRPr lang="en-US" sz="1000" dirty="0"/>
          </a:p>
        </p:txBody>
      </p:sp>
      <p:sp>
        <p:nvSpPr>
          <p:cNvPr id="16" name="Text 14"/>
          <p:cNvSpPr txBox="1"/>
          <p:nvPr/>
        </p:nvSpPr>
        <p:spPr>
          <a:xfrm>
            <a:off x="4438802"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Resort-area hotels fill </a:t>
            </a:r>
            <a:pPr indent="0" marL="0">
              <a:buNone/>
            </a:pPr>
            <a:r>
              <a:rPr lang="en-US" sz="950" b="1" dirty="0">
                <a:solidFill>
                  <a:srgbClr val="125C60"/>
                </a:solidFill>
                <a:latin typeface="Proxima Nova" pitchFamily="34" charset="0"/>
                <a:ea typeface="Proxima Nova" pitchFamily="34" charset="-122"/>
                <a:cs typeface="Proxima Nova" pitchFamily="34" charset="-120"/>
              </a:rPr>
              <a:t>78.4%</a:t>
            </a:r>
            <a:pPr indent="0" marL="0">
              <a:buNone/>
            </a:pPr>
            <a:r>
              <a:rPr lang="en-US" sz="950" dirty="0">
                <a:solidFill>
                  <a:srgbClr val="231F20"/>
                </a:solidFill>
                <a:latin typeface="Proxima Nova" pitchFamily="34" charset="0"/>
                <a:ea typeface="Proxima Nova" pitchFamily="34" charset="-122"/>
                <a:cs typeface="Proxima Nova" pitchFamily="34" charset="-120"/>
              </a:rPr>
              <a:t> of rooms at </a:t>
            </a:r>
            <a:pPr indent="0" marL="0">
              <a:buNone/>
            </a:pPr>
            <a:r>
              <a:rPr lang="en-US" sz="950" b="1" dirty="0">
                <a:solidFill>
                  <a:srgbClr val="125C60"/>
                </a:solidFill>
                <a:latin typeface="Proxima Nova" pitchFamily="34" charset="0"/>
                <a:ea typeface="Proxima Nova" pitchFamily="34" charset="-122"/>
                <a:cs typeface="Proxima Nova" pitchFamily="34" charset="-120"/>
              </a:rPr>
              <a:t>$255</a:t>
            </a:r>
            <a:pPr indent="0" marL="0">
              <a:buNone/>
            </a:pPr>
            <a:r>
              <a:rPr lang="en-US" sz="950" dirty="0">
                <a:solidFill>
                  <a:srgbClr val="231F20"/>
                </a:solidFill>
                <a:latin typeface="Proxima Nova" pitchFamily="34" charset="0"/>
                <a:ea typeface="Proxima Nova" pitchFamily="34" charset="-122"/>
                <a:cs typeface="Proxima Nova" pitchFamily="34" charset="-120"/>
              </a:rPr>
              <a:t>; only </a:t>
            </a:r>
            <a:pPr indent="0" marL="0">
              <a:buNone/>
            </a:pPr>
            <a:r>
              <a:rPr lang="en-US" sz="950" b="1" dirty="0">
                <a:solidFill>
                  <a:srgbClr val="125C60"/>
                </a:solidFill>
                <a:latin typeface="Proxima Nova" pitchFamily="34" charset="0"/>
                <a:ea typeface="Proxima Nova" pitchFamily="34" charset="-122"/>
                <a:cs typeface="Proxima Nova" pitchFamily="34" charset="-120"/>
              </a:rPr>
              <a:t>668 rooms</a:t>
            </a:r>
            <a:pPr indent="0" marL="0">
              <a:buNone/>
            </a:pPr>
            <a:r>
              <a:rPr lang="en-US" sz="950" dirty="0">
                <a:solidFill>
                  <a:srgbClr val="231F20"/>
                </a:solidFill>
                <a:latin typeface="Proxima Nova" pitchFamily="34" charset="0"/>
                <a:ea typeface="Proxima Nova" pitchFamily="34" charset="-122"/>
                <a:cs typeface="Proxima Nova" pitchFamily="34" charset="-120"/>
              </a:rPr>
              <a:t> are under construction countywide; Sunday–Monday occupancy is </a:t>
            </a:r>
            <a:pPr indent="0" marL="0">
              <a:buNone/>
            </a:pPr>
            <a:r>
              <a:rPr lang="en-US" sz="950" b="1" dirty="0">
                <a:solidFill>
                  <a:srgbClr val="125C60"/>
                </a:solidFill>
                <a:latin typeface="Proxima Nova" pitchFamily="34" charset="0"/>
                <a:ea typeface="Proxima Nova" pitchFamily="34" charset="-122"/>
                <a:cs typeface="Proxima Nova" pitchFamily="34" charset="-120"/>
              </a:rPr>
              <a:t>70.6%</a:t>
            </a:r>
            <a:pPr indent="0" marL="0">
              <a:buNone/>
            </a:pPr>
            <a:r>
              <a:rPr lang="en-US" sz="950" dirty="0">
                <a:solidFill>
                  <a:srgbClr val="231F20"/>
                </a:solidFill>
                <a:latin typeface="Proxima Nova" pitchFamily="34" charset="0"/>
                <a:ea typeface="Proxima Nova" pitchFamily="34" charset="-122"/>
                <a:cs typeface="Proxima Nova" pitchFamily="34" charset="-120"/>
              </a:rPr>
              <a:t> vs. </a:t>
            </a:r>
            <a:pPr indent="0" marL="0">
              <a:buNone/>
            </a:pPr>
            <a:r>
              <a:rPr lang="en-US" sz="950" b="1" dirty="0">
                <a:solidFill>
                  <a:srgbClr val="125C60"/>
                </a:solidFill>
                <a:latin typeface="Proxima Nova" pitchFamily="34" charset="0"/>
                <a:ea typeface="Proxima Nova" pitchFamily="34" charset="-122"/>
                <a:cs typeface="Proxima Nova" pitchFamily="34" charset="-120"/>
              </a:rPr>
              <a:t>86.2%</a:t>
            </a:r>
            <a:pPr indent="0" marL="0">
              <a:buNone/>
            </a:pPr>
            <a:r>
              <a:rPr lang="en-US" sz="950" dirty="0">
                <a:solidFill>
                  <a:srgbClr val="231F20"/>
                </a:solidFill>
                <a:latin typeface="Proxima Nova" pitchFamily="34" charset="0"/>
                <a:ea typeface="Proxima Nova" pitchFamily="34" charset="-122"/>
                <a:cs typeface="Proxima Nova" pitchFamily="34" charset="-120"/>
              </a:rPr>
              <a:t> Friday–Saturday.</a:t>
            </a:r>
            <a:endParaRPr lang="en-US" sz="950" dirty="0"/>
          </a:p>
        </p:txBody>
      </p:sp>
      <p:sp>
        <p:nvSpPr>
          <p:cNvPr id="17" name="Text 15"/>
          <p:cNvSpPr txBox="1"/>
          <p:nvPr/>
        </p:nvSpPr>
        <p:spPr>
          <a:xfrm>
            <a:off x="4438802"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CoStar reports and export (data through Aug. 2026; pulled Oct. 12, 2026)</a:t>
            </a:r>
            <a:endParaRPr lang="en-US" sz="700" dirty="0"/>
          </a:p>
        </p:txBody>
      </p:sp>
      <p:sp>
        <p:nvSpPr>
          <p:cNvPr id="18" name="detail-card-2"/>
          <p:cNvSpPr/>
          <p:nvPr/>
        </p:nvSpPr>
        <p:spPr>
          <a:xfrm>
            <a:off x="8054645" y="1417320"/>
            <a:ext cx="3588410" cy="2176272"/>
          </a:xfrm>
          <a:prstGeom prst="rect">
            <a:avLst/>
          </a:prstGeom>
          <a:solidFill>
            <a:srgbClr val="FFFFFF"/>
          </a:solidFill>
          <a:ln w="12700">
            <a:solidFill>
              <a:srgbClr val="B4D9E3"/>
            </a:solidFill>
            <a:prstDash val="solid"/>
          </a:ln>
        </p:spPr>
      </p:sp>
      <p:sp>
        <p:nvSpPr>
          <p:cNvPr id="19" name="Shape 17"/>
          <p:cNvSpPr/>
          <p:nvPr/>
        </p:nvSpPr>
        <p:spPr>
          <a:xfrm>
            <a:off x="8054645" y="1417320"/>
            <a:ext cx="3588410" cy="64008"/>
          </a:xfrm>
          <a:prstGeom prst="rect">
            <a:avLst/>
          </a:prstGeom>
          <a:solidFill>
            <a:srgbClr val="43A3A3"/>
          </a:solidFill>
          <a:ln w="12700">
            <a:solidFill>
              <a:srgbClr val="43A3A3"/>
            </a:solidFill>
            <a:prstDash val="solid"/>
          </a:ln>
        </p:spPr>
      </p:sp>
      <p:sp>
        <p:nvSpPr>
          <p:cNvPr id="20" name="Text 18"/>
          <p:cNvSpPr txBox="1"/>
          <p:nvPr/>
        </p:nvSpPr>
        <p:spPr>
          <a:xfrm>
            <a:off x="8191805"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WHEN</a:t>
            </a:r>
            <a:endParaRPr lang="en-US" sz="900" dirty="0"/>
          </a:p>
        </p:txBody>
      </p:sp>
      <p:sp>
        <p:nvSpPr>
          <p:cNvPr id="21" name="Text 19"/>
          <p:cNvSpPr txBox="1"/>
          <p:nvPr/>
        </p:nvSpPr>
        <p:spPr>
          <a:xfrm>
            <a:off x="8191805"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Jan. 1–Oct. 3, 2026</a:t>
            </a:r>
            <a:endParaRPr lang="en-US" sz="2200" dirty="0"/>
          </a:p>
        </p:txBody>
      </p:sp>
      <p:sp>
        <p:nvSpPr>
          <p:cNvPr id="22" name="Text 20"/>
          <p:cNvSpPr txBox="1"/>
          <p:nvPr/>
        </p:nvSpPr>
        <p:spPr>
          <a:xfrm>
            <a:off x="8191805"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STR daily data period</a:t>
            </a:r>
            <a:endParaRPr lang="en-US" sz="1000" dirty="0"/>
          </a:p>
        </p:txBody>
      </p:sp>
      <p:sp>
        <p:nvSpPr>
          <p:cNvPr id="23" name="Text 21"/>
          <p:cNvSpPr txBox="1"/>
          <p:nvPr/>
        </p:nvSpPr>
        <p:spPr>
          <a:xfrm>
            <a:off x="8191805"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Trailing 12 months and year to date through Aug. 2026 (CoStar); Jan. 1–Oct. 3, 2026 (STR).</a:t>
            </a:r>
            <a:endParaRPr lang="en-US" sz="950" dirty="0"/>
          </a:p>
        </p:txBody>
      </p:sp>
      <p:sp>
        <p:nvSpPr>
          <p:cNvPr id="24" name="Text 22"/>
          <p:cNvSpPr txBox="1"/>
          <p:nvPr/>
        </p:nvSpPr>
        <p:spPr>
          <a:xfrm>
            <a:off x="8191805"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STR daily data, Visit Anaheim hotel sets (Jan. 1–Oct. 3, 2026)</a:t>
            </a:r>
            <a:endParaRPr lang="en-US" sz="700" dirty="0"/>
          </a:p>
        </p:txBody>
      </p:sp>
      <p:sp>
        <p:nvSpPr>
          <p:cNvPr id="25" name="detail-card-3"/>
          <p:cNvSpPr/>
          <p:nvPr/>
        </p:nvSpPr>
        <p:spPr>
          <a:xfrm>
            <a:off x="548640" y="3685032"/>
            <a:ext cx="3588410" cy="2176272"/>
          </a:xfrm>
          <a:prstGeom prst="rect">
            <a:avLst/>
          </a:prstGeom>
          <a:solidFill>
            <a:srgbClr val="FFFFFF"/>
          </a:solidFill>
          <a:ln w="12700">
            <a:solidFill>
              <a:srgbClr val="B4D9E3"/>
            </a:solidFill>
            <a:prstDash val="solid"/>
          </a:ln>
        </p:spPr>
      </p:sp>
      <p:sp>
        <p:nvSpPr>
          <p:cNvPr id="26" name="Shape 24"/>
          <p:cNvSpPr/>
          <p:nvPr/>
        </p:nvSpPr>
        <p:spPr>
          <a:xfrm>
            <a:off x="548640" y="3685032"/>
            <a:ext cx="3588410" cy="64008"/>
          </a:xfrm>
          <a:prstGeom prst="rect">
            <a:avLst/>
          </a:prstGeom>
          <a:solidFill>
            <a:srgbClr val="43A3A3"/>
          </a:solidFill>
          <a:ln w="12700">
            <a:solidFill>
              <a:srgbClr val="43A3A3"/>
            </a:solidFill>
            <a:prstDash val="solid"/>
          </a:ln>
        </p:spPr>
      </p:sp>
      <p:sp>
        <p:nvSpPr>
          <p:cNvPr id="27" name="Text 25"/>
          <p:cNvSpPr txBox="1"/>
          <p:nvPr/>
        </p:nvSpPr>
        <p:spPr>
          <a:xfrm>
            <a:off x="685800"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WHERE</a:t>
            </a:r>
            <a:endParaRPr lang="en-US" sz="900" dirty="0"/>
          </a:p>
        </p:txBody>
      </p:sp>
      <p:sp>
        <p:nvSpPr>
          <p:cNvPr id="28" name="Text 26"/>
          <p:cNvSpPr txBox="1"/>
          <p:nvPr/>
        </p:nvSpPr>
        <p:spPr>
          <a:xfrm>
            <a:off x="685800"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Anaheim+</a:t>
            </a:r>
            <a:endParaRPr lang="en-US" sz="2200" dirty="0"/>
          </a:p>
        </p:txBody>
      </p:sp>
      <p:sp>
        <p:nvSpPr>
          <p:cNvPr id="29" name="Text 27"/>
          <p:cNvSpPr txBox="1"/>
          <p:nvPr/>
        </p:nvSpPr>
        <p:spPr>
          <a:xfrm>
            <a:off x="685800"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Visit Anaheim hotel set; CoStar Orange County submarkets</a:t>
            </a:r>
            <a:endParaRPr lang="en-US" sz="1000" dirty="0"/>
          </a:p>
        </p:txBody>
      </p:sp>
      <p:sp>
        <p:nvSpPr>
          <p:cNvPr id="30" name="Text 28"/>
          <p:cNvSpPr txBox="1"/>
          <p:nvPr/>
        </p:nvSpPr>
        <p:spPr>
          <a:xfrm>
            <a:off x="685800"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CoStar Disneyland, Anaheim and other Orange County submarkets; Visit Anaheim's Anaheim+ and Garden Grove+ hotel sets.</a:t>
            </a:r>
            <a:endParaRPr lang="en-US" sz="950" dirty="0"/>
          </a:p>
        </p:txBody>
      </p:sp>
      <p:sp>
        <p:nvSpPr>
          <p:cNvPr id="31" name="Text 29"/>
          <p:cNvSpPr txBox="1"/>
          <p:nvPr/>
        </p:nvSpPr>
        <p:spPr>
          <a:xfrm>
            <a:off x="685800"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STR daily data, Visit Anaheim hotel sets (Jan. 1–Oct. 3, 2026); CoStar reports and export (data through Aug. 2026; pulled Oct. 12, 2026)</a:t>
            </a:r>
            <a:endParaRPr lang="en-US" sz="700" dirty="0"/>
          </a:p>
        </p:txBody>
      </p:sp>
      <p:sp>
        <p:nvSpPr>
          <p:cNvPr id="32" name="detail-card-4"/>
          <p:cNvSpPr/>
          <p:nvPr/>
        </p:nvSpPr>
        <p:spPr>
          <a:xfrm>
            <a:off x="4301642" y="3685032"/>
            <a:ext cx="3588410" cy="2176272"/>
          </a:xfrm>
          <a:prstGeom prst="rect">
            <a:avLst/>
          </a:prstGeom>
          <a:solidFill>
            <a:srgbClr val="FFFFFF"/>
          </a:solidFill>
          <a:ln w="12700">
            <a:solidFill>
              <a:srgbClr val="B4D9E3"/>
            </a:solidFill>
            <a:prstDash val="solid"/>
          </a:ln>
        </p:spPr>
      </p:sp>
      <p:sp>
        <p:nvSpPr>
          <p:cNvPr id="33" name="Shape 31"/>
          <p:cNvSpPr/>
          <p:nvPr/>
        </p:nvSpPr>
        <p:spPr>
          <a:xfrm>
            <a:off x="4301642" y="3685032"/>
            <a:ext cx="3588410" cy="64008"/>
          </a:xfrm>
          <a:prstGeom prst="rect">
            <a:avLst/>
          </a:prstGeom>
          <a:solidFill>
            <a:srgbClr val="43A3A3"/>
          </a:solidFill>
          <a:ln w="12700">
            <a:solidFill>
              <a:srgbClr val="43A3A3"/>
            </a:solidFill>
            <a:prstDash val="solid"/>
          </a:ln>
        </p:spPr>
      </p:sp>
      <p:sp>
        <p:nvSpPr>
          <p:cNvPr id="34" name="Text 32"/>
          <p:cNvSpPr txBox="1"/>
          <p:nvPr/>
        </p:nvSpPr>
        <p:spPr>
          <a:xfrm>
            <a:off x="4438802"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WHY</a:t>
            </a:r>
            <a:endParaRPr lang="en-US" sz="900" dirty="0"/>
          </a:p>
        </p:txBody>
      </p:sp>
      <p:sp>
        <p:nvSpPr>
          <p:cNvPr id="35" name="Text 33"/>
          <p:cNvSpPr txBox="1"/>
          <p:nvPr/>
        </p:nvSpPr>
        <p:spPr>
          <a:xfrm>
            <a:off x="4438802"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550</a:t>
            </a:r>
            <a:endParaRPr lang="en-US" sz="2200" dirty="0"/>
          </a:p>
        </p:txBody>
      </p:sp>
      <p:sp>
        <p:nvSpPr>
          <p:cNvPr id="36" name="Text 34"/>
          <p:cNvSpPr txBox="1"/>
          <p:nvPr/>
        </p:nvSpPr>
        <p:spPr>
          <a:xfrm>
            <a:off x="4438802"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hotel rooms planned at OC Vibe</a:t>
            </a:r>
            <a:endParaRPr lang="en-US" sz="1000" dirty="0"/>
          </a:p>
        </p:txBody>
      </p:sp>
      <p:sp>
        <p:nvSpPr>
          <p:cNvPr id="37" name="Text 35"/>
          <p:cNvSpPr txBox="1"/>
          <p:nvPr/>
        </p:nvSpPr>
        <p:spPr>
          <a:xfrm>
            <a:off x="4438802"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Hotel demand and supply decide whether OC Vibe's </a:t>
            </a:r>
            <a:pPr indent="0" marL="0">
              <a:buNone/>
            </a:pPr>
            <a:r>
              <a:rPr lang="en-US" sz="950" b="1" dirty="0">
                <a:solidFill>
                  <a:srgbClr val="125C60"/>
                </a:solidFill>
                <a:latin typeface="Proxima Nova" pitchFamily="34" charset="0"/>
                <a:ea typeface="Proxima Nova" pitchFamily="34" charset="-122"/>
                <a:cs typeface="Proxima Nova" pitchFamily="34" charset="-120"/>
              </a:rPr>
              <a:t>550 rooms</a:t>
            </a:r>
            <a:pPr indent="0" marL="0">
              <a:buNone/>
            </a:pPr>
            <a:r>
              <a:rPr lang="en-US" sz="950" dirty="0">
                <a:solidFill>
                  <a:srgbClr val="231F20"/>
                </a:solidFill>
                <a:latin typeface="Proxima Nova" pitchFamily="34" charset="0"/>
                <a:ea typeface="Proxima Nova" pitchFamily="34" charset="-122"/>
                <a:cs typeface="Proxima Nova" pitchFamily="34" charset="-120"/>
              </a:rPr>
              <a:t> will fill and which nights need help.</a:t>
            </a:r>
            <a:endParaRPr lang="en-US" sz="950" dirty="0"/>
          </a:p>
        </p:txBody>
      </p:sp>
      <p:sp>
        <p:nvSpPr>
          <p:cNvPr id="38" name="Text 36"/>
          <p:cNvSpPr txBox="1"/>
          <p:nvPr/>
        </p:nvSpPr>
        <p:spPr>
          <a:xfrm>
            <a:off x="4438802"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OCVIBE and City of Anaheim public releases (2024–2026)</a:t>
            </a:r>
            <a:endParaRPr lang="en-US" sz="700" dirty="0"/>
          </a:p>
        </p:txBody>
      </p:sp>
      <p:sp>
        <p:nvSpPr>
          <p:cNvPr id="39" name="detail-card-5"/>
          <p:cNvSpPr/>
          <p:nvPr/>
        </p:nvSpPr>
        <p:spPr>
          <a:xfrm>
            <a:off x="8054645" y="3685032"/>
            <a:ext cx="3588410" cy="2176272"/>
          </a:xfrm>
          <a:prstGeom prst="rect">
            <a:avLst/>
          </a:prstGeom>
          <a:solidFill>
            <a:srgbClr val="FFFFFF"/>
          </a:solidFill>
          <a:ln w="12700">
            <a:solidFill>
              <a:srgbClr val="B4D9E3"/>
            </a:solidFill>
            <a:prstDash val="solid"/>
          </a:ln>
        </p:spPr>
      </p:sp>
      <p:sp>
        <p:nvSpPr>
          <p:cNvPr id="40" name="Shape 38"/>
          <p:cNvSpPr/>
          <p:nvPr/>
        </p:nvSpPr>
        <p:spPr>
          <a:xfrm>
            <a:off x="8054645" y="3685032"/>
            <a:ext cx="3588410" cy="64008"/>
          </a:xfrm>
          <a:prstGeom prst="rect">
            <a:avLst/>
          </a:prstGeom>
          <a:solidFill>
            <a:srgbClr val="43A3A3"/>
          </a:solidFill>
          <a:ln w="12700">
            <a:solidFill>
              <a:srgbClr val="43A3A3"/>
            </a:solidFill>
            <a:prstDash val="solid"/>
          </a:ln>
        </p:spPr>
      </p:sp>
      <p:sp>
        <p:nvSpPr>
          <p:cNvPr id="41" name="Text 39"/>
          <p:cNvSpPr txBox="1"/>
          <p:nvPr/>
        </p:nvSpPr>
        <p:spPr>
          <a:xfrm>
            <a:off x="8191805"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HOW</a:t>
            </a:r>
            <a:endParaRPr lang="en-US" sz="900" dirty="0"/>
          </a:p>
        </p:txBody>
      </p:sp>
      <p:sp>
        <p:nvSpPr>
          <p:cNvPr id="42" name="Text 40"/>
          <p:cNvSpPr txBox="1"/>
          <p:nvPr/>
        </p:nvSpPr>
        <p:spPr>
          <a:xfrm>
            <a:off x="8191805"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15.7 points</a:t>
            </a:r>
            <a:endParaRPr lang="en-US" sz="2200" dirty="0"/>
          </a:p>
        </p:txBody>
      </p:sp>
      <p:sp>
        <p:nvSpPr>
          <p:cNvPr id="43" name="Text 41"/>
          <p:cNvSpPr txBox="1"/>
          <p:nvPr/>
        </p:nvSpPr>
        <p:spPr>
          <a:xfrm>
            <a:off x="8191805"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Fri.–Sat. vs. Sun.–Mon. occupancy: 86.24% − 70.59%</a:t>
            </a:r>
            <a:endParaRPr lang="en-US" sz="1000" dirty="0"/>
          </a:p>
        </p:txBody>
      </p:sp>
      <p:sp>
        <p:nvSpPr>
          <p:cNvPr id="44" name="Text 42"/>
          <p:cNvSpPr txBox="1"/>
          <p:nvPr/>
        </p:nvSpPr>
        <p:spPr>
          <a:xfrm>
            <a:off x="8191805"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CoStar and STR performance data: occupancy, average rate and revenue per room by submarket, month and night of week.</a:t>
            </a:r>
            <a:endParaRPr lang="en-US" sz="950" dirty="0"/>
          </a:p>
        </p:txBody>
      </p:sp>
      <p:sp>
        <p:nvSpPr>
          <p:cNvPr id="45" name="Text 43"/>
          <p:cNvSpPr txBox="1"/>
          <p:nvPr/>
        </p:nvSpPr>
        <p:spPr>
          <a:xfrm>
            <a:off x="8191805"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STR daily data, Visit Anaheim hotel sets (Jan. 1–Oct. 3, 2026)</a:t>
            </a:r>
            <a:endParaRPr lang="en-US" sz="700" dirty="0"/>
          </a:p>
        </p:txBody>
      </p:sp>
      <p:sp>
        <p:nvSpPr>
          <p:cNvPr id="4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CoStar reports and export (data through Aug. 2026; pulled Oct. 12, 2026); STR daily data, Visit Anaheim hotel sets (Jan. 1–Oct. 3,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At a glance: Hotel market</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data infographics · every figure from this section, with its source and date</a:t>
            </a:r>
            <a:endParaRPr lang="en-US" sz="1200" dirty="0"/>
          </a:p>
        </p:txBody>
      </p:sp>
      <p:sp>
        <p:nvSpPr>
          <p:cNvPr id="4" name="Text 2"/>
          <p:cNvSpPr txBox="1"/>
          <p:nvPr/>
        </p:nvSpPr>
        <p:spPr>
          <a:xfrm>
            <a:off x="548640" y="1417320"/>
            <a:ext cx="5364328" cy="329184"/>
          </a:xfrm>
          <a:prstGeom prst="rect">
            <a:avLst/>
          </a:prstGeom>
          <a:noFill/>
          <a:ln/>
        </p:spPr>
        <p:txBody>
          <a:bodyPr wrap="square" lIns="0" tIns="0" rIns="0" bIns="0" rtlCol="0" anchor="ctr">
            <a:normAutofit/>
          </a:bodyPr>
          <a:lstStyle/>
          <a:p>
            <a:pPr indent="0" marL="0">
              <a:buNone/>
            </a:pPr>
            <a:r>
              <a:rPr lang="en-US" sz="1500" b="1" i="1" dirty="0">
                <a:solidFill>
                  <a:srgbClr val="125C60"/>
                </a:solidFill>
                <a:latin typeface="Proxima Nova" pitchFamily="34" charset="0"/>
                <a:ea typeface="Proxima Nova" pitchFamily="34" charset="-122"/>
                <a:cs typeface="Proxima Nova" pitchFamily="34" charset="-120"/>
              </a:rPr>
              <a:t>How full Visit Anaheim hotels are, night by night</a:t>
            </a:r>
            <a:endParaRPr lang="en-US" sz="1500" dirty="0"/>
          </a:p>
        </p:txBody>
      </p:sp>
      <p:sp>
        <p:nvSpPr>
          <p:cNvPr id="5" name="Text 3"/>
          <p:cNvSpPr txBox="1"/>
          <p:nvPr/>
        </p:nvSpPr>
        <p:spPr>
          <a:xfrm>
            <a:off x="548640" y="1746504"/>
            <a:ext cx="5364328" cy="237744"/>
          </a:xfrm>
          <a:prstGeom prst="rect">
            <a:avLst/>
          </a:prstGeom>
          <a:noFill/>
          <a:ln/>
        </p:spPr>
        <p:txBody>
          <a:bodyPr wrap="square" lIns="0" tIns="0" rIns="0" bIns="0" rtlCol="0" anchor="ctr">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Average occupancy by night of the week, Jan. 1–Oct. 3, 2026 · Sunday and Monday highlighted</a:t>
            </a:r>
            <a:endParaRPr lang="en-US" sz="950" dirty="0"/>
          </a:p>
        </p:txBody>
      </p:sp>
      <p:sp>
        <p:nvSpPr>
          <p:cNvPr id="6" name="Shape 4"/>
          <p:cNvSpPr/>
          <p:nvPr/>
        </p:nvSpPr>
        <p:spPr>
          <a:xfrm>
            <a:off x="663590" y="2075688"/>
            <a:ext cx="536433" cy="2194560"/>
          </a:xfrm>
          <a:prstGeom prst="rect">
            <a:avLst/>
          </a:prstGeom>
          <a:solidFill>
            <a:srgbClr val="F9F9F2"/>
          </a:solidFill>
          <a:ln w="12700">
            <a:solidFill>
              <a:srgbClr val="B4D9E3"/>
            </a:solidFill>
            <a:prstDash val="solid"/>
          </a:ln>
        </p:spPr>
      </p:sp>
      <p:sp>
        <p:nvSpPr>
          <p:cNvPr id="7" name="Shape 5"/>
          <p:cNvSpPr/>
          <p:nvPr/>
        </p:nvSpPr>
        <p:spPr>
          <a:xfrm>
            <a:off x="663590" y="2720889"/>
            <a:ext cx="536433" cy="1549359"/>
          </a:xfrm>
          <a:prstGeom prst="rect">
            <a:avLst/>
          </a:prstGeom>
          <a:solidFill>
            <a:srgbClr val="43A3A3"/>
          </a:solidFill>
          <a:ln w="12700">
            <a:solidFill>
              <a:srgbClr val="43A3A3"/>
            </a:solidFill>
            <a:prstDash val="solid"/>
          </a:ln>
        </p:spPr>
      </p:sp>
      <p:sp>
        <p:nvSpPr>
          <p:cNvPr id="8" name="Text 6"/>
          <p:cNvSpPr txBox="1"/>
          <p:nvPr/>
        </p:nvSpPr>
        <p:spPr>
          <a:xfrm>
            <a:off x="548640" y="4315968"/>
            <a:ext cx="766333" cy="274320"/>
          </a:xfrm>
          <a:prstGeom prst="rect">
            <a:avLst/>
          </a:prstGeom>
          <a:noFill/>
          <a:ln/>
        </p:spPr>
        <p:txBody>
          <a:bodyPr wrap="square" lIns="0" tIns="0" rIns="0" bIns="0" rtlCol="0" anchor="ctr"/>
          <a:lstStyle/>
          <a:p>
            <a:pPr algn="ctr" indent="0" marL="0">
              <a:buNone/>
            </a:pPr>
            <a:r>
              <a:rPr lang="en-US" sz="1100" b="1" dirty="0">
                <a:solidFill>
                  <a:srgbClr val="231F20"/>
                </a:solidFill>
                <a:latin typeface="Proxima Nova" pitchFamily="34" charset="0"/>
                <a:ea typeface="Proxima Nova" pitchFamily="34" charset="-122"/>
                <a:cs typeface="Proxima Nova" pitchFamily="34" charset="-120"/>
              </a:rPr>
              <a:t>70.6%</a:t>
            </a:r>
            <a:endParaRPr lang="en-US" sz="1100" dirty="0"/>
          </a:p>
        </p:txBody>
      </p:sp>
      <p:sp>
        <p:nvSpPr>
          <p:cNvPr id="9" name="Text 7"/>
          <p:cNvSpPr txBox="1"/>
          <p:nvPr/>
        </p:nvSpPr>
        <p:spPr>
          <a:xfrm>
            <a:off x="548640" y="4572000"/>
            <a:ext cx="766333" cy="228600"/>
          </a:xfrm>
          <a:prstGeom prst="rect">
            <a:avLst/>
          </a:prstGeom>
          <a:noFill/>
          <a:ln/>
        </p:spPr>
        <p:txBody>
          <a:bodyPr wrap="square" lIns="0" tIns="0" rIns="0" bIns="0" rtlCol="0" anchor="ctr"/>
          <a:lstStyle/>
          <a:p>
            <a:pPr algn="ctr" indent="0" marL="0">
              <a:buNone/>
            </a:pPr>
            <a:r>
              <a:rPr lang="en-US" sz="900" b="1" dirty="0">
                <a:solidFill>
                  <a:srgbClr val="231F20"/>
                </a:solidFill>
                <a:latin typeface="Proxima Nova" pitchFamily="34" charset="0"/>
                <a:ea typeface="Proxima Nova" pitchFamily="34" charset="-122"/>
                <a:cs typeface="Proxima Nova" pitchFamily="34" charset="-120"/>
              </a:rPr>
              <a:t>SUN</a:t>
            </a:r>
            <a:endParaRPr lang="en-US" sz="900" dirty="0"/>
          </a:p>
        </p:txBody>
      </p:sp>
      <p:sp>
        <p:nvSpPr>
          <p:cNvPr id="10" name="Shape 8"/>
          <p:cNvSpPr/>
          <p:nvPr/>
        </p:nvSpPr>
        <p:spPr>
          <a:xfrm>
            <a:off x="1429922" y="2075688"/>
            <a:ext cx="536433" cy="2194560"/>
          </a:xfrm>
          <a:prstGeom prst="rect">
            <a:avLst/>
          </a:prstGeom>
          <a:solidFill>
            <a:srgbClr val="F9F9F2"/>
          </a:solidFill>
          <a:ln w="12700">
            <a:solidFill>
              <a:srgbClr val="B4D9E3"/>
            </a:solidFill>
            <a:prstDash val="solid"/>
          </a:ln>
        </p:spPr>
      </p:sp>
      <p:sp>
        <p:nvSpPr>
          <p:cNvPr id="11" name="Shape 9"/>
          <p:cNvSpPr/>
          <p:nvPr/>
        </p:nvSpPr>
        <p:spPr>
          <a:xfrm>
            <a:off x="1429922" y="2723083"/>
            <a:ext cx="536433" cy="1547165"/>
          </a:xfrm>
          <a:prstGeom prst="rect">
            <a:avLst/>
          </a:prstGeom>
          <a:solidFill>
            <a:srgbClr val="43A3A3"/>
          </a:solidFill>
          <a:ln w="12700">
            <a:solidFill>
              <a:srgbClr val="43A3A3"/>
            </a:solidFill>
            <a:prstDash val="solid"/>
          </a:ln>
        </p:spPr>
      </p:sp>
      <p:sp>
        <p:nvSpPr>
          <p:cNvPr id="12" name="Text 10"/>
          <p:cNvSpPr txBox="1"/>
          <p:nvPr/>
        </p:nvSpPr>
        <p:spPr>
          <a:xfrm>
            <a:off x="1314973" y="4315968"/>
            <a:ext cx="766333" cy="274320"/>
          </a:xfrm>
          <a:prstGeom prst="rect">
            <a:avLst/>
          </a:prstGeom>
          <a:noFill/>
          <a:ln/>
        </p:spPr>
        <p:txBody>
          <a:bodyPr wrap="square" lIns="0" tIns="0" rIns="0" bIns="0" rtlCol="0" anchor="ctr"/>
          <a:lstStyle/>
          <a:p>
            <a:pPr algn="ctr" indent="0" marL="0">
              <a:buNone/>
            </a:pPr>
            <a:r>
              <a:rPr lang="en-US" sz="1100" b="1" dirty="0">
                <a:solidFill>
                  <a:srgbClr val="231F20"/>
                </a:solidFill>
                <a:latin typeface="Proxima Nova" pitchFamily="34" charset="0"/>
                <a:ea typeface="Proxima Nova" pitchFamily="34" charset="-122"/>
                <a:cs typeface="Proxima Nova" pitchFamily="34" charset="-120"/>
              </a:rPr>
              <a:t>70.5%</a:t>
            </a:r>
            <a:endParaRPr lang="en-US" sz="1100" dirty="0"/>
          </a:p>
        </p:txBody>
      </p:sp>
      <p:sp>
        <p:nvSpPr>
          <p:cNvPr id="13" name="Text 11"/>
          <p:cNvSpPr txBox="1"/>
          <p:nvPr/>
        </p:nvSpPr>
        <p:spPr>
          <a:xfrm>
            <a:off x="1314973" y="4572000"/>
            <a:ext cx="766333" cy="228600"/>
          </a:xfrm>
          <a:prstGeom prst="rect">
            <a:avLst/>
          </a:prstGeom>
          <a:noFill/>
          <a:ln/>
        </p:spPr>
        <p:txBody>
          <a:bodyPr wrap="square" lIns="0" tIns="0" rIns="0" bIns="0" rtlCol="0" anchor="ctr"/>
          <a:lstStyle/>
          <a:p>
            <a:pPr algn="ctr" indent="0" marL="0">
              <a:buNone/>
            </a:pPr>
            <a:r>
              <a:rPr lang="en-US" sz="900" b="1" dirty="0">
                <a:solidFill>
                  <a:srgbClr val="231F20"/>
                </a:solidFill>
                <a:latin typeface="Proxima Nova" pitchFamily="34" charset="0"/>
                <a:ea typeface="Proxima Nova" pitchFamily="34" charset="-122"/>
                <a:cs typeface="Proxima Nova" pitchFamily="34" charset="-120"/>
              </a:rPr>
              <a:t>MON</a:t>
            </a:r>
            <a:endParaRPr lang="en-US" sz="900" dirty="0"/>
          </a:p>
        </p:txBody>
      </p:sp>
      <p:sp>
        <p:nvSpPr>
          <p:cNvPr id="14" name="Shape 12"/>
          <p:cNvSpPr/>
          <p:nvPr/>
        </p:nvSpPr>
        <p:spPr>
          <a:xfrm>
            <a:off x="2196255" y="2075688"/>
            <a:ext cx="536433" cy="2194560"/>
          </a:xfrm>
          <a:prstGeom prst="rect">
            <a:avLst/>
          </a:prstGeom>
          <a:solidFill>
            <a:srgbClr val="F9F9F2"/>
          </a:solidFill>
          <a:ln w="12700">
            <a:solidFill>
              <a:srgbClr val="B4D9E3"/>
            </a:solidFill>
            <a:prstDash val="solid"/>
          </a:ln>
        </p:spPr>
      </p:sp>
      <p:sp>
        <p:nvSpPr>
          <p:cNvPr id="15" name="Shape 13"/>
          <p:cNvSpPr/>
          <p:nvPr/>
        </p:nvSpPr>
        <p:spPr>
          <a:xfrm>
            <a:off x="2196255" y="2639690"/>
            <a:ext cx="536433" cy="1630558"/>
          </a:xfrm>
          <a:prstGeom prst="rect">
            <a:avLst/>
          </a:prstGeom>
          <a:solidFill>
            <a:srgbClr val="B4D9E3"/>
          </a:solidFill>
          <a:ln w="12700">
            <a:solidFill>
              <a:srgbClr val="B4D9E3"/>
            </a:solidFill>
            <a:prstDash val="solid"/>
          </a:ln>
        </p:spPr>
      </p:sp>
      <p:sp>
        <p:nvSpPr>
          <p:cNvPr id="16" name="Text 14"/>
          <p:cNvSpPr txBox="1"/>
          <p:nvPr/>
        </p:nvSpPr>
        <p:spPr>
          <a:xfrm>
            <a:off x="2081305" y="4315968"/>
            <a:ext cx="766333" cy="274320"/>
          </a:xfrm>
          <a:prstGeom prst="rect">
            <a:avLst/>
          </a:prstGeom>
          <a:noFill/>
          <a:ln/>
        </p:spPr>
        <p:txBody>
          <a:bodyPr wrap="square" lIns="0" tIns="0" rIns="0" bIns="0" rtlCol="0" anchor="ctr"/>
          <a:lstStyle/>
          <a:p>
            <a:pPr algn="ctr" indent="0" marL="0">
              <a:buNone/>
            </a:pPr>
            <a:r>
              <a:rPr lang="en-US" sz="1100" b="1" dirty="0">
                <a:solidFill>
                  <a:srgbClr val="231F20"/>
                </a:solidFill>
                <a:latin typeface="Proxima Nova" pitchFamily="34" charset="0"/>
                <a:ea typeface="Proxima Nova" pitchFamily="34" charset="-122"/>
                <a:cs typeface="Proxima Nova" pitchFamily="34" charset="-120"/>
              </a:rPr>
              <a:t>74.3%</a:t>
            </a:r>
            <a:endParaRPr lang="en-US" sz="1100" dirty="0"/>
          </a:p>
        </p:txBody>
      </p:sp>
      <p:sp>
        <p:nvSpPr>
          <p:cNvPr id="17" name="Text 15"/>
          <p:cNvSpPr txBox="1"/>
          <p:nvPr/>
        </p:nvSpPr>
        <p:spPr>
          <a:xfrm>
            <a:off x="2081305" y="4572000"/>
            <a:ext cx="766333" cy="228600"/>
          </a:xfrm>
          <a:prstGeom prst="rect">
            <a:avLst/>
          </a:prstGeom>
          <a:noFill/>
          <a:ln/>
        </p:spPr>
        <p:txBody>
          <a:bodyPr wrap="square" lIns="0" tIns="0" rIns="0" bIns="0" rtlCol="0" anchor="ctr"/>
          <a:lstStyle/>
          <a:p>
            <a:pPr algn="ctr" indent="0" marL="0">
              <a:buNone/>
            </a:pPr>
            <a:r>
              <a:rPr lang="en-US" sz="900" b="1" dirty="0">
                <a:solidFill>
                  <a:srgbClr val="231F20"/>
                </a:solidFill>
                <a:latin typeface="Proxima Nova" pitchFamily="34" charset="0"/>
                <a:ea typeface="Proxima Nova" pitchFamily="34" charset="-122"/>
                <a:cs typeface="Proxima Nova" pitchFamily="34" charset="-120"/>
              </a:rPr>
              <a:t>TUE</a:t>
            </a:r>
            <a:endParaRPr lang="en-US" sz="900" dirty="0"/>
          </a:p>
        </p:txBody>
      </p:sp>
      <p:sp>
        <p:nvSpPr>
          <p:cNvPr id="18" name="Shape 16"/>
          <p:cNvSpPr/>
          <p:nvPr/>
        </p:nvSpPr>
        <p:spPr>
          <a:xfrm>
            <a:off x="2962587" y="2075688"/>
            <a:ext cx="536433" cy="2194560"/>
          </a:xfrm>
          <a:prstGeom prst="rect">
            <a:avLst/>
          </a:prstGeom>
          <a:solidFill>
            <a:srgbClr val="F9F9F2"/>
          </a:solidFill>
          <a:ln w="12700">
            <a:solidFill>
              <a:srgbClr val="B4D9E3"/>
            </a:solidFill>
            <a:prstDash val="solid"/>
          </a:ln>
        </p:spPr>
      </p:sp>
      <p:sp>
        <p:nvSpPr>
          <p:cNvPr id="19" name="Shape 17"/>
          <p:cNvSpPr/>
          <p:nvPr/>
        </p:nvSpPr>
        <p:spPr>
          <a:xfrm>
            <a:off x="2962587" y="2584826"/>
            <a:ext cx="536433" cy="1685422"/>
          </a:xfrm>
          <a:prstGeom prst="rect">
            <a:avLst/>
          </a:prstGeom>
          <a:solidFill>
            <a:srgbClr val="B4D9E3"/>
          </a:solidFill>
          <a:ln w="12700">
            <a:solidFill>
              <a:srgbClr val="B4D9E3"/>
            </a:solidFill>
            <a:prstDash val="solid"/>
          </a:ln>
        </p:spPr>
      </p:sp>
      <p:sp>
        <p:nvSpPr>
          <p:cNvPr id="20" name="Text 18"/>
          <p:cNvSpPr txBox="1"/>
          <p:nvPr/>
        </p:nvSpPr>
        <p:spPr>
          <a:xfrm>
            <a:off x="2847638" y="4315968"/>
            <a:ext cx="766333" cy="274320"/>
          </a:xfrm>
          <a:prstGeom prst="rect">
            <a:avLst/>
          </a:prstGeom>
          <a:noFill/>
          <a:ln/>
        </p:spPr>
        <p:txBody>
          <a:bodyPr wrap="square" lIns="0" tIns="0" rIns="0" bIns="0" rtlCol="0" anchor="ctr"/>
          <a:lstStyle/>
          <a:p>
            <a:pPr algn="ctr" indent="0" marL="0">
              <a:buNone/>
            </a:pPr>
            <a:r>
              <a:rPr lang="en-US" sz="1100" b="1" dirty="0">
                <a:solidFill>
                  <a:srgbClr val="231F20"/>
                </a:solidFill>
                <a:latin typeface="Proxima Nova" pitchFamily="34" charset="0"/>
                <a:ea typeface="Proxima Nova" pitchFamily="34" charset="-122"/>
                <a:cs typeface="Proxima Nova" pitchFamily="34" charset="-120"/>
              </a:rPr>
              <a:t>76.8%</a:t>
            </a:r>
            <a:endParaRPr lang="en-US" sz="1100" dirty="0"/>
          </a:p>
        </p:txBody>
      </p:sp>
      <p:sp>
        <p:nvSpPr>
          <p:cNvPr id="21" name="Text 19"/>
          <p:cNvSpPr txBox="1"/>
          <p:nvPr/>
        </p:nvSpPr>
        <p:spPr>
          <a:xfrm>
            <a:off x="2847638" y="4572000"/>
            <a:ext cx="766333" cy="228600"/>
          </a:xfrm>
          <a:prstGeom prst="rect">
            <a:avLst/>
          </a:prstGeom>
          <a:noFill/>
          <a:ln/>
        </p:spPr>
        <p:txBody>
          <a:bodyPr wrap="square" lIns="0" tIns="0" rIns="0" bIns="0" rtlCol="0" anchor="ctr"/>
          <a:lstStyle/>
          <a:p>
            <a:pPr algn="ctr" indent="0" marL="0">
              <a:buNone/>
            </a:pPr>
            <a:r>
              <a:rPr lang="en-US" sz="900" b="1" dirty="0">
                <a:solidFill>
                  <a:srgbClr val="231F20"/>
                </a:solidFill>
                <a:latin typeface="Proxima Nova" pitchFamily="34" charset="0"/>
                <a:ea typeface="Proxima Nova" pitchFamily="34" charset="-122"/>
                <a:cs typeface="Proxima Nova" pitchFamily="34" charset="-120"/>
              </a:rPr>
              <a:t>WED</a:t>
            </a:r>
            <a:endParaRPr lang="en-US" sz="900" dirty="0"/>
          </a:p>
        </p:txBody>
      </p:sp>
      <p:sp>
        <p:nvSpPr>
          <p:cNvPr id="22" name="Shape 20"/>
          <p:cNvSpPr/>
          <p:nvPr/>
        </p:nvSpPr>
        <p:spPr>
          <a:xfrm>
            <a:off x="3728920" y="2075688"/>
            <a:ext cx="536433" cy="2194560"/>
          </a:xfrm>
          <a:prstGeom prst="rect">
            <a:avLst/>
          </a:prstGeom>
          <a:solidFill>
            <a:srgbClr val="F9F9F2"/>
          </a:solidFill>
          <a:ln w="12700">
            <a:solidFill>
              <a:srgbClr val="B4D9E3"/>
            </a:solidFill>
            <a:prstDash val="solid"/>
          </a:ln>
        </p:spPr>
      </p:sp>
      <p:sp>
        <p:nvSpPr>
          <p:cNvPr id="23" name="Shape 21"/>
          <p:cNvSpPr/>
          <p:nvPr/>
        </p:nvSpPr>
        <p:spPr>
          <a:xfrm>
            <a:off x="3728920" y="2510211"/>
            <a:ext cx="536433" cy="1760037"/>
          </a:xfrm>
          <a:prstGeom prst="rect">
            <a:avLst/>
          </a:prstGeom>
          <a:solidFill>
            <a:srgbClr val="B4D9E3"/>
          </a:solidFill>
          <a:ln w="12700">
            <a:solidFill>
              <a:srgbClr val="B4D9E3"/>
            </a:solidFill>
            <a:prstDash val="solid"/>
          </a:ln>
        </p:spPr>
      </p:sp>
      <p:sp>
        <p:nvSpPr>
          <p:cNvPr id="24" name="Text 22"/>
          <p:cNvSpPr txBox="1"/>
          <p:nvPr/>
        </p:nvSpPr>
        <p:spPr>
          <a:xfrm>
            <a:off x="3613970" y="4315968"/>
            <a:ext cx="766333" cy="274320"/>
          </a:xfrm>
          <a:prstGeom prst="rect">
            <a:avLst/>
          </a:prstGeom>
          <a:noFill/>
          <a:ln/>
        </p:spPr>
        <p:txBody>
          <a:bodyPr wrap="square" lIns="0" tIns="0" rIns="0" bIns="0" rtlCol="0" anchor="ctr"/>
          <a:lstStyle/>
          <a:p>
            <a:pPr algn="ctr" indent="0" marL="0">
              <a:buNone/>
            </a:pPr>
            <a:r>
              <a:rPr lang="en-US" sz="1100" b="1" dirty="0">
                <a:solidFill>
                  <a:srgbClr val="231F20"/>
                </a:solidFill>
                <a:latin typeface="Proxima Nova" pitchFamily="34" charset="0"/>
                <a:ea typeface="Proxima Nova" pitchFamily="34" charset="-122"/>
                <a:cs typeface="Proxima Nova" pitchFamily="34" charset="-120"/>
              </a:rPr>
              <a:t>80.2%</a:t>
            </a:r>
            <a:endParaRPr lang="en-US" sz="1100" dirty="0"/>
          </a:p>
        </p:txBody>
      </p:sp>
      <p:sp>
        <p:nvSpPr>
          <p:cNvPr id="25" name="Text 23"/>
          <p:cNvSpPr txBox="1"/>
          <p:nvPr/>
        </p:nvSpPr>
        <p:spPr>
          <a:xfrm>
            <a:off x="3613970" y="4572000"/>
            <a:ext cx="766333" cy="228600"/>
          </a:xfrm>
          <a:prstGeom prst="rect">
            <a:avLst/>
          </a:prstGeom>
          <a:noFill/>
          <a:ln/>
        </p:spPr>
        <p:txBody>
          <a:bodyPr wrap="square" lIns="0" tIns="0" rIns="0" bIns="0" rtlCol="0" anchor="ctr"/>
          <a:lstStyle/>
          <a:p>
            <a:pPr algn="ctr" indent="0" marL="0">
              <a:buNone/>
            </a:pPr>
            <a:r>
              <a:rPr lang="en-US" sz="900" b="1" dirty="0">
                <a:solidFill>
                  <a:srgbClr val="231F20"/>
                </a:solidFill>
                <a:latin typeface="Proxima Nova" pitchFamily="34" charset="0"/>
                <a:ea typeface="Proxima Nova" pitchFamily="34" charset="-122"/>
                <a:cs typeface="Proxima Nova" pitchFamily="34" charset="-120"/>
              </a:rPr>
              <a:t>THU</a:t>
            </a:r>
            <a:endParaRPr lang="en-US" sz="900" dirty="0"/>
          </a:p>
        </p:txBody>
      </p:sp>
      <p:sp>
        <p:nvSpPr>
          <p:cNvPr id="26" name="Shape 24"/>
          <p:cNvSpPr/>
          <p:nvPr/>
        </p:nvSpPr>
        <p:spPr>
          <a:xfrm>
            <a:off x="4495252" y="2075688"/>
            <a:ext cx="536433" cy="2194560"/>
          </a:xfrm>
          <a:prstGeom prst="rect">
            <a:avLst/>
          </a:prstGeom>
          <a:solidFill>
            <a:srgbClr val="F9F9F2"/>
          </a:solidFill>
          <a:ln w="12700">
            <a:solidFill>
              <a:srgbClr val="B4D9E3"/>
            </a:solidFill>
            <a:prstDash val="solid"/>
          </a:ln>
        </p:spPr>
      </p:sp>
      <p:sp>
        <p:nvSpPr>
          <p:cNvPr id="27" name="Shape 25"/>
          <p:cNvSpPr/>
          <p:nvPr/>
        </p:nvSpPr>
        <p:spPr>
          <a:xfrm>
            <a:off x="4495252" y="2389510"/>
            <a:ext cx="536433" cy="1880738"/>
          </a:xfrm>
          <a:prstGeom prst="rect">
            <a:avLst/>
          </a:prstGeom>
          <a:solidFill>
            <a:srgbClr val="B4D9E3"/>
          </a:solidFill>
          <a:ln w="12700">
            <a:solidFill>
              <a:srgbClr val="B4D9E3"/>
            </a:solidFill>
            <a:prstDash val="solid"/>
          </a:ln>
        </p:spPr>
      </p:sp>
      <p:sp>
        <p:nvSpPr>
          <p:cNvPr id="28" name="Text 26"/>
          <p:cNvSpPr txBox="1"/>
          <p:nvPr/>
        </p:nvSpPr>
        <p:spPr>
          <a:xfrm>
            <a:off x="4380303" y="4315968"/>
            <a:ext cx="766333" cy="274320"/>
          </a:xfrm>
          <a:prstGeom prst="rect">
            <a:avLst/>
          </a:prstGeom>
          <a:noFill/>
          <a:ln/>
        </p:spPr>
        <p:txBody>
          <a:bodyPr wrap="square" lIns="0" tIns="0" rIns="0" bIns="0" rtlCol="0" anchor="ctr"/>
          <a:lstStyle/>
          <a:p>
            <a:pPr algn="ctr" indent="0" marL="0">
              <a:buNone/>
            </a:pPr>
            <a:r>
              <a:rPr lang="en-US" sz="1100" b="1" dirty="0">
                <a:solidFill>
                  <a:srgbClr val="231F20"/>
                </a:solidFill>
                <a:latin typeface="Proxima Nova" pitchFamily="34" charset="0"/>
                <a:ea typeface="Proxima Nova" pitchFamily="34" charset="-122"/>
                <a:cs typeface="Proxima Nova" pitchFamily="34" charset="-120"/>
              </a:rPr>
              <a:t>85.7%</a:t>
            </a:r>
            <a:endParaRPr lang="en-US" sz="1100" dirty="0"/>
          </a:p>
        </p:txBody>
      </p:sp>
      <p:sp>
        <p:nvSpPr>
          <p:cNvPr id="29" name="Text 27"/>
          <p:cNvSpPr txBox="1"/>
          <p:nvPr/>
        </p:nvSpPr>
        <p:spPr>
          <a:xfrm>
            <a:off x="4380303" y="4572000"/>
            <a:ext cx="766333" cy="228600"/>
          </a:xfrm>
          <a:prstGeom prst="rect">
            <a:avLst/>
          </a:prstGeom>
          <a:noFill/>
          <a:ln/>
        </p:spPr>
        <p:txBody>
          <a:bodyPr wrap="square" lIns="0" tIns="0" rIns="0" bIns="0" rtlCol="0" anchor="ctr"/>
          <a:lstStyle/>
          <a:p>
            <a:pPr algn="ctr" indent="0" marL="0">
              <a:buNone/>
            </a:pPr>
            <a:r>
              <a:rPr lang="en-US" sz="900" b="1" dirty="0">
                <a:solidFill>
                  <a:srgbClr val="231F20"/>
                </a:solidFill>
                <a:latin typeface="Proxima Nova" pitchFamily="34" charset="0"/>
                <a:ea typeface="Proxima Nova" pitchFamily="34" charset="-122"/>
                <a:cs typeface="Proxima Nova" pitchFamily="34" charset="-120"/>
              </a:rPr>
              <a:t>FRI</a:t>
            </a:r>
            <a:endParaRPr lang="en-US" sz="900" dirty="0"/>
          </a:p>
        </p:txBody>
      </p:sp>
      <p:sp>
        <p:nvSpPr>
          <p:cNvPr id="30" name="Shape 28"/>
          <p:cNvSpPr/>
          <p:nvPr/>
        </p:nvSpPr>
        <p:spPr>
          <a:xfrm>
            <a:off x="5261585" y="2075688"/>
            <a:ext cx="536433" cy="2194560"/>
          </a:xfrm>
          <a:prstGeom prst="rect">
            <a:avLst/>
          </a:prstGeom>
          <a:solidFill>
            <a:srgbClr val="F9F9F2"/>
          </a:solidFill>
          <a:ln w="12700">
            <a:solidFill>
              <a:srgbClr val="B4D9E3"/>
            </a:solidFill>
            <a:prstDash val="solid"/>
          </a:ln>
        </p:spPr>
      </p:sp>
      <p:sp>
        <p:nvSpPr>
          <p:cNvPr id="31" name="Shape 29"/>
          <p:cNvSpPr/>
          <p:nvPr/>
        </p:nvSpPr>
        <p:spPr>
          <a:xfrm>
            <a:off x="5261585" y="2365370"/>
            <a:ext cx="536433" cy="1904878"/>
          </a:xfrm>
          <a:prstGeom prst="rect">
            <a:avLst/>
          </a:prstGeom>
          <a:solidFill>
            <a:srgbClr val="B4D9E3"/>
          </a:solidFill>
          <a:ln w="12700">
            <a:solidFill>
              <a:srgbClr val="B4D9E3"/>
            </a:solidFill>
            <a:prstDash val="solid"/>
          </a:ln>
        </p:spPr>
      </p:sp>
      <p:sp>
        <p:nvSpPr>
          <p:cNvPr id="32" name="Text 30"/>
          <p:cNvSpPr txBox="1"/>
          <p:nvPr/>
        </p:nvSpPr>
        <p:spPr>
          <a:xfrm>
            <a:off x="5146635" y="4315968"/>
            <a:ext cx="766333" cy="274320"/>
          </a:xfrm>
          <a:prstGeom prst="rect">
            <a:avLst/>
          </a:prstGeom>
          <a:noFill/>
          <a:ln/>
        </p:spPr>
        <p:txBody>
          <a:bodyPr wrap="square" lIns="0" tIns="0" rIns="0" bIns="0" rtlCol="0" anchor="ctr"/>
          <a:lstStyle/>
          <a:p>
            <a:pPr algn="ctr" indent="0" marL="0">
              <a:buNone/>
            </a:pPr>
            <a:r>
              <a:rPr lang="en-US" sz="1100" b="1" dirty="0">
                <a:solidFill>
                  <a:srgbClr val="231F20"/>
                </a:solidFill>
                <a:latin typeface="Proxima Nova" pitchFamily="34" charset="0"/>
                <a:ea typeface="Proxima Nova" pitchFamily="34" charset="-122"/>
                <a:cs typeface="Proxima Nova" pitchFamily="34" charset="-120"/>
              </a:rPr>
              <a:t>86.8%</a:t>
            </a:r>
            <a:endParaRPr lang="en-US" sz="1100" dirty="0"/>
          </a:p>
        </p:txBody>
      </p:sp>
      <p:sp>
        <p:nvSpPr>
          <p:cNvPr id="33" name="Text 31"/>
          <p:cNvSpPr txBox="1"/>
          <p:nvPr/>
        </p:nvSpPr>
        <p:spPr>
          <a:xfrm>
            <a:off x="5146635" y="4572000"/>
            <a:ext cx="766333" cy="228600"/>
          </a:xfrm>
          <a:prstGeom prst="rect">
            <a:avLst/>
          </a:prstGeom>
          <a:noFill/>
          <a:ln/>
        </p:spPr>
        <p:txBody>
          <a:bodyPr wrap="square" lIns="0" tIns="0" rIns="0" bIns="0" rtlCol="0" anchor="ctr"/>
          <a:lstStyle/>
          <a:p>
            <a:pPr algn="ctr" indent="0" marL="0">
              <a:buNone/>
            </a:pPr>
            <a:r>
              <a:rPr lang="en-US" sz="900" b="1" dirty="0">
                <a:solidFill>
                  <a:srgbClr val="231F20"/>
                </a:solidFill>
                <a:latin typeface="Proxima Nova" pitchFamily="34" charset="0"/>
                <a:ea typeface="Proxima Nova" pitchFamily="34" charset="-122"/>
                <a:cs typeface="Proxima Nova" pitchFamily="34" charset="-120"/>
              </a:rPr>
              <a:t>SAT</a:t>
            </a:r>
            <a:endParaRPr lang="en-US" sz="900" dirty="0"/>
          </a:p>
        </p:txBody>
      </p:sp>
      <p:sp>
        <p:nvSpPr>
          <p:cNvPr id="34" name="Text 32"/>
          <p:cNvSpPr txBox="1"/>
          <p:nvPr/>
        </p:nvSpPr>
        <p:spPr>
          <a:xfrm>
            <a:off x="6278728" y="1417320"/>
            <a:ext cx="5364328" cy="329184"/>
          </a:xfrm>
          <a:prstGeom prst="rect">
            <a:avLst/>
          </a:prstGeom>
          <a:noFill/>
          <a:ln/>
        </p:spPr>
        <p:txBody>
          <a:bodyPr wrap="square" lIns="0" tIns="0" rIns="0" bIns="0" rtlCol="0" anchor="ctr">
            <a:normAutofit/>
          </a:bodyPr>
          <a:lstStyle/>
          <a:p>
            <a:pPr indent="0" marL="0">
              <a:buNone/>
            </a:pPr>
            <a:r>
              <a:rPr lang="en-US" sz="1500" b="1" i="1" dirty="0">
                <a:solidFill>
                  <a:srgbClr val="125C60"/>
                </a:solidFill>
                <a:latin typeface="Proxima Nova" pitchFamily="34" charset="0"/>
                <a:ea typeface="Proxima Nova" pitchFamily="34" charset="-122"/>
                <a:cs typeface="Proxima Nova" pitchFamily="34" charset="-120"/>
              </a:rPr>
              <a:t>New hotel supply is a sliver of the market</a:t>
            </a:r>
            <a:endParaRPr lang="en-US" sz="1500" dirty="0"/>
          </a:p>
        </p:txBody>
      </p:sp>
      <p:sp>
        <p:nvSpPr>
          <p:cNvPr id="35" name="Text 33"/>
          <p:cNvSpPr txBox="1"/>
          <p:nvPr/>
        </p:nvSpPr>
        <p:spPr>
          <a:xfrm>
            <a:off x="6278728" y="1746504"/>
            <a:ext cx="5364328" cy="237744"/>
          </a:xfrm>
          <a:prstGeom prst="rect">
            <a:avLst/>
          </a:prstGeom>
          <a:noFill/>
          <a:ln/>
        </p:spPr>
        <p:txBody>
          <a:bodyPr wrap="square" lIns="0" tIns="0" rIns="0" bIns="0" rtlCol="0" anchor="ctr">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Rooms under construction vs. existing rooms, Orange County</a:t>
            </a:r>
            <a:endParaRPr lang="en-US" sz="950" dirty="0"/>
          </a:p>
        </p:txBody>
      </p:sp>
      <p:sp>
        <p:nvSpPr>
          <p:cNvPr id="36" name="Shape 34"/>
          <p:cNvSpPr/>
          <p:nvPr/>
        </p:nvSpPr>
        <p:spPr>
          <a:xfrm>
            <a:off x="6278728" y="2167128"/>
            <a:ext cx="5364328" cy="731520"/>
          </a:xfrm>
          <a:prstGeom prst="rect">
            <a:avLst/>
          </a:prstGeom>
          <a:solidFill>
            <a:srgbClr val="B4D9E3"/>
          </a:solidFill>
          <a:ln w="12700">
            <a:solidFill>
              <a:srgbClr val="B4D9E3"/>
            </a:solidFill>
            <a:prstDash val="solid"/>
          </a:ln>
        </p:spPr>
      </p:sp>
      <p:sp>
        <p:nvSpPr>
          <p:cNvPr id="37" name="Shape 35"/>
          <p:cNvSpPr/>
          <p:nvPr/>
        </p:nvSpPr>
        <p:spPr>
          <a:xfrm>
            <a:off x="6278728" y="2167128"/>
            <a:ext cx="59008" cy="731520"/>
          </a:xfrm>
          <a:prstGeom prst="rect">
            <a:avLst/>
          </a:prstGeom>
          <a:solidFill>
            <a:srgbClr val="125C60"/>
          </a:solidFill>
          <a:ln w="12700">
            <a:solidFill>
              <a:srgbClr val="125C60"/>
            </a:solidFill>
            <a:prstDash val="solid"/>
          </a:ln>
        </p:spPr>
      </p:sp>
      <p:sp>
        <p:nvSpPr>
          <p:cNvPr id="38" name="Text 36"/>
          <p:cNvSpPr txBox="1"/>
          <p:nvPr/>
        </p:nvSpPr>
        <p:spPr>
          <a:xfrm>
            <a:off x="6278728" y="3035808"/>
            <a:ext cx="2682164" cy="457200"/>
          </a:xfrm>
          <a:prstGeom prst="rect">
            <a:avLst/>
          </a:prstGeom>
          <a:noFill/>
          <a:ln/>
        </p:spPr>
        <p:txBody>
          <a:bodyPr wrap="square" lIns="0" tIns="0" rIns="0" bIns="0" rtlCol="0" anchor="ctr"/>
          <a:lstStyle/>
          <a:p>
            <a:pPr indent="0" marL="0">
              <a:buNone/>
            </a:pPr>
            <a:r>
              <a:rPr lang="en-US" sz="1800" b="1" i="1" dirty="0">
                <a:solidFill>
                  <a:srgbClr val="125C60"/>
                </a:solidFill>
                <a:latin typeface="Proxima Nova" pitchFamily="34" charset="0"/>
                <a:ea typeface="Proxima Nova" pitchFamily="34" charset="-122"/>
                <a:cs typeface="Proxima Nova" pitchFamily="34" charset="-120"/>
              </a:rPr>
              <a:t>668 </a:t>
            </a:r>
            <a:pPr indent="0" marL="0">
              <a:buNone/>
            </a:pPr>
            <a:r>
              <a:rPr lang="en-US" sz="1100" dirty="0">
                <a:solidFill>
                  <a:srgbClr val="231F20"/>
                </a:solidFill>
                <a:latin typeface="Proxima Nova" pitchFamily="34" charset="0"/>
                <a:ea typeface="Proxima Nova" pitchFamily="34" charset="-122"/>
                <a:cs typeface="Proxima Nova" pitchFamily="34" charset="-120"/>
              </a:rPr>
              <a:t>rooms under construction (1.1%)</a:t>
            </a:r>
            <a:endParaRPr lang="en-US" sz="1800" dirty="0"/>
          </a:p>
        </p:txBody>
      </p:sp>
      <p:sp>
        <p:nvSpPr>
          <p:cNvPr id="39" name="Text 37"/>
          <p:cNvSpPr txBox="1"/>
          <p:nvPr/>
        </p:nvSpPr>
        <p:spPr>
          <a:xfrm>
            <a:off x="8960891" y="3035808"/>
            <a:ext cx="2682164" cy="457200"/>
          </a:xfrm>
          <a:prstGeom prst="rect">
            <a:avLst/>
          </a:prstGeom>
          <a:noFill/>
          <a:ln/>
        </p:spPr>
        <p:txBody>
          <a:bodyPr wrap="square" lIns="0" tIns="0" rIns="0" bIns="0" rtlCol="0" anchor="ctr"/>
          <a:lstStyle/>
          <a:p>
            <a:pPr algn="r" indent="0" marL="0">
              <a:buNone/>
            </a:pPr>
            <a:r>
              <a:rPr lang="en-US" sz="1800" b="1" i="1" dirty="0">
                <a:solidFill>
                  <a:srgbClr val="125C60"/>
                </a:solidFill>
                <a:latin typeface="Proxima Nova" pitchFamily="34" charset="0"/>
                <a:ea typeface="Proxima Nova" pitchFamily="34" charset="-122"/>
                <a:cs typeface="Proxima Nova" pitchFamily="34" charset="-120"/>
              </a:rPr>
              <a:t>60,223 </a:t>
            </a:r>
            <a:pPr algn="r" indent="0" marL="0">
              <a:buNone/>
            </a:pPr>
            <a:r>
              <a:rPr lang="en-US" sz="1100" dirty="0">
                <a:solidFill>
                  <a:srgbClr val="231F20"/>
                </a:solidFill>
                <a:latin typeface="Proxima Nova" pitchFamily="34" charset="0"/>
                <a:ea typeface="Proxima Nova" pitchFamily="34" charset="-122"/>
                <a:cs typeface="Proxima Nova" pitchFamily="34" charset="-120"/>
              </a:rPr>
              <a:t>existing rooms</a:t>
            </a:r>
            <a:endParaRPr lang="en-US" sz="1800" dirty="0"/>
          </a:p>
        </p:txBody>
      </p:sp>
      <p:sp>
        <p:nvSpPr>
          <p:cNvPr id="40" name="Text 38"/>
          <p:cNvSpPr txBox="1"/>
          <p:nvPr/>
        </p:nvSpPr>
        <p:spPr>
          <a:xfrm>
            <a:off x="6278728" y="3538728"/>
            <a:ext cx="5364328" cy="274320"/>
          </a:xfrm>
          <a:prstGeom prst="rect">
            <a:avLst/>
          </a:prstGeom>
          <a:noFill/>
          <a:ln/>
        </p:spPr>
        <p:txBody>
          <a:bodyPr wrap="square" lIns="0" tIns="0" rIns="0" bIns="0" rtlCol="0" anchor="ctr"/>
          <a:lstStyle/>
          <a:p>
            <a:pPr indent="0" marL="0">
              <a:buNone/>
            </a:pPr>
            <a:r>
              <a:rPr lang="en-US" sz="950" dirty="0">
                <a:solidFill>
                  <a:srgbClr val="231F20"/>
                </a:solidFill>
                <a:latin typeface="Proxima Nova" pitchFamily="34" charset="0"/>
                <a:ea typeface="Proxima Nova" pitchFamily="34" charset="-122"/>
                <a:cs typeface="Proxima Nova" pitchFamily="34" charset="-120"/>
              </a:rPr>
              <a:t>Calculation: 668 ÷ 60,223 = 1.1%</a:t>
            </a:r>
            <a:endParaRPr lang="en-US" sz="950" dirty="0"/>
          </a:p>
        </p:txBody>
      </p:sp>
      <p:sp>
        <p:nvSpPr>
          <p:cNvPr id="41" name="Shape 39"/>
          <p:cNvSpPr/>
          <p:nvPr/>
        </p:nvSpPr>
        <p:spPr>
          <a:xfrm>
            <a:off x="548640" y="4937760"/>
            <a:ext cx="11094415" cy="45720"/>
          </a:xfrm>
          <a:prstGeom prst="rect">
            <a:avLst/>
          </a:prstGeom>
          <a:solidFill>
            <a:srgbClr val="125C60"/>
          </a:solidFill>
          <a:ln w="12700">
            <a:solidFill>
              <a:srgbClr val="125C60"/>
            </a:solidFill>
            <a:prstDash val="solid"/>
          </a:ln>
        </p:spPr>
      </p:sp>
      <p:sp>
        <p:nvSpPr>
          <p:cNvPr id="42" name="Text 40"/>
          <p:cNvSpPr txBox="1"/>
          <p:nvPr/>
        </p:nvSpPr>
        <p:spPr>
          <a:xfrm>
            <a:off x="548640" y="5029200"/>
            <a:ext cx="2743200"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WHY IT MATTERS</a:t>
            </a:r>
            <a:endParaRPr lang="en-US" sz="1000" dirty="0"/>
          </a:p>
        </p:txBody>
      </p:sp>
      <p:sp>
        <p:nvSpPr>
          <p:cNvPr id="43" name="Text 41"/>
          <p:cNvSpPr txBox="1"/>
          <p:nvPr/>
        </p:nvSpPr>
        <p:spPr>
          <a:xfrm>
            <a:off x="548640" y="5285232"/>
            <a:ext cx="11094415" cy="594360"/>
          </a:xfrm>
          <a:prstGeom prst="rect">
            <a:avLst/>
          </a:prstGeom>
          <a:noFill/>
          <a:ln/>
        </p:spPr>
        <p:txBody>
          <a:bodyPr wrap="square" lIns="0" tIns="0" rIns="0" bIns="0" rtlCol="0" anchor="t"/>
          <a:lstStyle/>
          <a:p>
            <a:pPr indent="0" marL="0">
              <a:buNone/>
            </a:pPr>
            <a:r>
              <a:rPr lang="en-US" sz="1250" dirty="0">
                <a:solidFill>
                  <a:srgbClr val="231F20"/>
                </a:solidFill>
                <a:latin typeface="Proxima Nova" pitchFamily="34" charset="0"/>
                <a:ea typeface="Proxima Nova" pitchFamily="34" charset="-122"/>
                <a:cs typeface="Proxima Nova" pitchFamily="34" charset="-120"/>
              </a:rPr>
              <a:t>OC Vibe plans 550 hotel rooms in a market with strong demand and little new supply. CoStar reports </a:t>
            </a:r>
            <a:pPr indent="0" marL="0">
              <a:buNone/>
            </a:pPr>
            <a:r>
              <a:rPr lang="en-US" sz="1250" b="1" dirty="0">
                <a:solidFill>
                  <a:srgbClr val="125C60"/>
                </a:solidFill>
                <a:latin typeface="Proxima Nova" pitchFamily="34" charset="0"/>
                <a:ea typeface="Proxima Nova" pitchFamily="34" charset="-122"/>
                <a:cs typeface="Proxima Nova" pitchFamily="34" charset="-120"/>
              </a:rPr>
              <a:t>78.4%</a:t>
            </a:r>
            <a:pPr indent="0" marL="0">
              <a:buNone/>
            </a:pPr>
            <a:r>
              <a:rPr lang="en-US" sz="1250" dirty="0">
                <a:solidFill>
                  <a:srgbClr val="231F20"/>
                </a:solidFill>
                <a:latin typeface="Proxima Nova" pitchFamily="34" charset="0"/>
                <a:ea typeface="Proxima Nova" pitchFamily="34" charset="-122"/>
                <a:cs typeface="Proxima Nova" pitchFamily="34" charset="-120"/>
              </a:rPr>
              <a:t> occupancy in the Disneyland submarket and only </a:t>
            </a:r>
            <a:pPr indent="0" marL="0">
              <a:buNone/>
            </a:pPr>
            <a:r>
              <a:rPr lang="en-US" sz="1250" b="1" dirty="0">
                <a:solidFill>
                  <a:srgbClr val="125C60"/>
                </a:solidFill>
                <a:latin typeface="Proxima Nova" pitchFamily="34" charset="0"/>
                <a:ea typeface="Proxima Nova" pitchFamily="34" charset="-122"/>
                <a:cs typeface="Proxima Nova" pitchFamily="34" charset="-120"/>
              </a:rPr>
              <a:t>668 rooms</a:t>
            </a:r>
            <a:pPr indent="0" marL="0">
              <a:buNone/>
            </a:pPr>
            <a:r>
              <a:rPr lang="en-US" sz="1250" dirty="0">
                <a:solidFill>
                  <a:srgbClr val="231F20"/>
                </a:solidFill>
                <a:latin typeface="Proxima Nova" pitchFamily="34" charset="0"/>
                <a:ea typeface="Proxima Nova" pitchFamily="34" charset="-122"/>
                <a:cs typeface="Proxima Nova" pitchFamily="34" charset="-120"/>
              </a:rPr>
              <a:t> under construction countywide, and STR shows the most open rooms on Sunday and Monday nights.</a:t>
            </a:r>
            <a:endParaRPr lang="en-US" sz="1250" dirty="0"/>
          </a:p>
        </p:txBody>
      </p:sp>
      <p:sp>
        <p:nvSpPr>
          <p:cNvPr id="44"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STR daily data, Visit Anaheim hotel sets (Jan. 1–Oct. 3, 2026); CoStar (data through Aug. 2026; pulled Oct. 12,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Resort-area hotels fill 78.4% of rooms, the highest in Orange County</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CoStar hotel performance · trailing 12 months and 2026 year to date through Aug. 2026</a:t>
            </a:r>
            <a:endParaRPr lang="en-US" sz="1200" dirty="0"/>
          </a:p>
        </p:txBody>
      </p:sp>
      <p:sp>
        <p:nvSpPr>
          <p:cNvPr id="5" name="kpi-card-0"/>
          <p:cNvSpPr/>
          <p:nvPr/>
        </p:nvSpPr>
        <p:spPr>
          <a:xfrm>
            <a:off x="548640" y="1463040"/>
            <a:ext cx="2650160" cy="1463040"/>
          </a:xfrm>
          <a:prstGeom prst="roundRect">
            <a:avLst>
              <a:gd name="adj" fmla="val 5000"/>
            </a:avLst>
          </a:prstGeom>
          <a:solidFill>
            <a:srgbClr val="FFFFFF"/>
          </a:solidFill>
          <a:ln w="12700">
            <a:solidFill>
              <a:srgbClr val="B4D9E3"/>
            </a:solidFill>
            <a:prstDash val="solid"/>
          </a:ln>
        </p:spPr>
      </p:sp>
      <p:sp>
        <p:nvSpPr>
          <p:cNvPr id="6" name="Text 3"/>
          <p:cNvSpPr txBox="1"/>
          <p:nvPr/>
        </p:nvSpPr>
        <p:spPr>
          <a:xfrm>
            <a:off x="713232" y="1591056"/>
            <a:ext cx="232097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DISNEYLAND SUBMARKET, 12 MONTHS</a:t>
            </a:r>
            <a:endParaRPr lang="en-US" sz="900" dirty="0"/>
          </a:p>
        </p:txBody>
      </p:sp>
      <p:sp>
        <p:nvSpPr>
          <p:cNvPr id="7" name="Text 4"/>
          <p:cNvSpPr txBox="1"/>
          <p:nvPr/>
        </p:nvSpPr>
        <p:spPr>
          <a:xfrm>
            <a:off x="713232" y="1810512"/>
            <a:ext cx="232097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Hotel occupancy</a:t>
            </a:r>
            <a:endParaRPr lang="en-US" sz="1050" dirty="0"/>
          </a:p>
        </p:txBody>
      </p:sp>
      <p:sp>
        <p:nvSpPr>
          <p:cNvPr id="8" name="Text 5"/>
          <p:cNvSpPr txBox="1"/>
          <p:nvPr/>
        </p:nvSpPr>
        <p:spPr>
          <a:xfrm>
            <a:off x="713232" y="2084832"/>
            <a:ext cx="2320976" cy="548640"/>
          </a:xfrm>
          <a:prstGeom prst="rect">
            <a:avLst/>
          </a:prstGeom>
          <a:noFill/>
          <a:ln/>
        </p:spPr>
        <p:txBody>
          <a:bodyPr wrap="square" lIns="0" tIns="0" rIns="0" bIns="0" rtlCol="0" anchor="ctr"/>
          <a:lstStyle/>
          <a:p>
            <a:pPr indent="0" marL="0">
              <a:buNone/>
            </a:pPr>
            <a:r>
              <a:rPr lang="en-US" sz="2600" b="1" dirty="0">
                <a:solidFill>
                  <a:srgbClr val="125C60"/>
                </a:solidFill>
                <a:latin typeface="Proxima Nova" pitchFamily="34" charset="0"/>
                <a:ea typeface="Proxima Nova" pitchFamily="34" charset="-122"/>
                <a:cs typeface="Proxima Nova" pitchFamily="34" charset="-120"/>
              </a:rPr>
              <a:t>78.4%</a:t>
            </a:r>
            <a:endParaRPr lang="en-US" sz="2600" dirty="0"/>
          </a:p>
        </p:txBody>
      </p:sp>
      <p:sp>
        <p:nvSpPr>
          <p:cNvPr id="9" name="Text 6"/>
          <p:cNvSpPr txBox="1"/>
          <p:nvPr/>
        </p:nvSpPr>
        <p:spPr>
          <a:xfrm>
            <a:off x="713232" y="2633472"/>
            <a:ext cx="2320976" cy="20116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 +3.1% · Orange County 74.0%</a:t>
            </a:r>
            <a:endParaRPr lang="en-US" sz="1000" dirty="0"/>
          </a:p>
        </p:txBody>
      </p:sp>
      <p:sp>
        <p:nvSpPr>
          <p:cNvPr id="10" name="kpi-card-1"/>
          <p:cNvSpPr/>
          <p:nvPr/>
        </p:nvSpPr>
        <p:spPr>
          <a:xfrm>
            <a:off x="3363392" y="1463040"/>
            <a:ext cx="2650160" cy="1463040"/>
          </a:xfrm>
          <a:prstGeom prst="roundRect">
            <a:avLst>
              <a:gd name="adj" fmla="val 5000"/>
            </a:avLst>
          </a:prstGeom>
          <a:solidFill>
            <a:srgbClr val="FFFFFF"/>
          </a:solidFill>
          <a:ln w="12700">
            <a:solidFill>
              <a:srgbClr val="B4D9E3"/>
            </a:solidFill>
            <a:prstDash val="solid"/>
          </a:ln>
        </p:spPr>
      </p:sp>
      <p:sp>
        <p:nvSpPr>
          <p:cNvPr id="11" name="Text 8"/>
          <p:cNvSpPr txBox="1"/>
          <p:nvPr/>
        </p:nvSpPr>
        <p:spPr>
          <a:xfrm>
            <a:off x="3527984" y="1591056"/>
            <a:ext cx="232097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DISNEYLAND SUBMARKET, 2026 YTD</a:t>
            </a:r>
            <a:endParaRPr lang="en-US" sz="900" dirty="0"/>
          </a:p>
        </p:txBody>
      </p:sp>
      <p:sp>
        <p:nvSpPr>
          <p:cNvPr id="12" name="Text 9"/>
          <p:cNvSpPr txBox="1"/>
          <p:nvPr/>
        </p:nvSpPr>
        <p:spPr>
          <a:xfrm>
            <a:off x="3527984" y="1810512"/>
            <a:ext cx="232097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Revenue per available room</a:t>
            </a:r>
            <a:endParaRPr lang="en-US" sz="1050" dirty="0"/>
          </a:p>
        </p:txBody>
      </p:sp>
      <p:sp>
        <p:nvSpPr>
          <p:cNvPr id="13" name="Text 10"/>
          <p:cNvSpPr txBox="1"/>
          <p:nvPr/>
        </p:nvSpPr>
        <p:spPr>
          <a:xfrm>
            <a:off x="3527984" y="2084832"/>
            <a:ext cx="2320976" cy="548640"/>
          </a:xfrm>
          <a:prstGeom prst="rect">
            <a:avLst/>
          </a:prstGeom>
          <a:noFill/>
          <a:ln/>
        </p:spPr>
        <p:txBody>
          <a:bodyPr wrap="square" lIns="0" tIns="0" rIns="0" bIns="0" rtlCol="0" anchor="ctr"/>
          <a:lstStyle/>
          <a:p>
            <a:pPr indent="0" marL="0">
              <a:buNone/>
            </a:pPr>
            <a:r>
              <a:rPr lang="en-US" sz="2600" b="1" dirty="0">
                <a:solidFill>
                  <a:srgbClr val="125C60"/>
                </a:solidFill>
                <a:latin typeface="Proxima Nova" pitchFamily="34" charset="0"/>
                <a:ea typeface="Proxima Nova" pitchFamily="34" charset="-122"/>
                <a:cs typeface="Proxima Nova" pitchFamily="34" charset="-120"/>
              </a:rPr>
              <a:t>$199</a:t>
            </a:r>
            <a:endParaRPr lang="en-US" sz="2600" dirty="0"/>
          </a:p>
        </p:txBody>
      </p:sp>
      <p:sp>
        <p:nvSpPr>
          <p:cNvPr id="14" name="Text 11"/>
          <p:cNvSpPr txBox="1"/>
          <p:nvPr/>
        </p:nvSpPr>
        <p:spPr>
          <a:xfrm>
            <a:off x="3527984" y="2633472"/>
            <a:ext cx="2320976" cy="20116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 +10.9% vs. 2025 · Orange County ▲ +9.9%</a:t>
            </a:r>
            <a:endParaRPr lang="en-US" sz="1000" dirty="0"/>
          </a:p>
        </p:txBody>
      </p:sp>
      <p:sp>
        <p:nvSpPr>
          <p:cNvPr id="15" name="kpi-card-2"/>
          <p:cNvSpPr/>
          <p:nvPr/>
        </p:nvSpPr>
        <p:spPr>
          <a:xfrm>
            <a:off x="6178144" y="1463040"/>
            <a:ext cx="2650160" cy="1463040"/>
          </a:xfrm>
          <a:prstGeom prst="roundRect">
            <a:avLst>
              <a:gd name="adj" fmla="val 5000"/>
            </a:avLst>
          </a:prstGeom>
          <a:solidFill>
            <a:srgbClr val="FFFFFF"/>
          </a:solidFill>
          <a:ln w="12700">
            <a:solidFill>
              <a:srgbClr val="B4D9E3"/>
            </a:solidFill>
            <a:prstDash val="solid"/>
          </a:ln>
        </p:spPr>
      </p:sp>
      <p:sp>
        <p:nvSpPr>
          <p:cNvPr id="16" name="Text 13"/>
          <p:cNvSpPr txBox="1"/>
          <p:nvPr/>
        </p:nvSpPr>
        <p:spPr>
          <a:xfrm>
            <a:off x="6342736" y="1591056"/>
            <a:ext cx="232097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ORANGE COUNTY, UNDER CONSTRUCTION</a:t>
            </a:r>
            <a:endParaRPr lang="en-US" sz="900" dirty="0"/>
          </a:p>
        </p:txBody>
      </p:sp>
      <p:sp>
        <p:nvSpPr>
          <p:cNvPr id="17" name="Text 14"/>
          <p:cNvSpPr txBox="1"/>
          <p:nvPr/>
        </p:nvSpPr>
        <p:spPr>
          <a:xfrm>
            <a:off x="6342736" y="1810512"/>
            <a:ext cx="232097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New hotel rooms</a:t>
            </a:r>
            <a:endParaRPr lang="en-US" sz="1050" dirty="0"/>
          </a:p>
        </p:txBody>
      </p:sp>
      <p:sp>
        <p:nvSpPr>
          <p:cNvPr id="18" name="Text 15"/>
          <p:cNvSpPr txBox="1"/>
          <p:nvPr/>
        </p:nvSpPr>
        <p:spPr>
          <a:xfrm>
            <a:off x="6342736" y="2084832"/>
            <a:ext cx="2320976" cy="548640"/>
          </a:xfrm>
          <a:prstGeom prst="rect">
            <a:avLst/>
          </a:prstGeom>
          <a:noFill/>
          <a:ln/>
        </p:spPr>
        <p:txBody>
          <a:bodyPr wrap="square" lIns="0" tIns="0" rIns="0" bIns="0" rtlCol="0" anchor="ctr"/>
          <a:lstStyle/>
          <a:p>
            <a:pPr indent="0" marL="0">
              <a:buNone/>
            </a:pPr>
            <a:r>
              <a:rPr lang="en-US" sz="2600" b="1" dirty="0">
                <a:solidFill>
                  <a:srgbClr val="125C60"/>
                </a:solidFill>
                <a:latin typeface="Proxima Nova" pitchFamily="34" charset="0"/>
                <a:ea typeface="Proxima Nova" pitchFamily="34" charset="-122"/>
                <a:cs typeface="Proxima Nova" pitchFamily="34" charset="-120"/>
              </a:rPr>
              <a:t>668</a:t>
            </a:r>
            <a:endParaRPr lang="en-US" sz="2600" dirty="0"/>
          </a:p>
        </p:txBody>
      </p:sp>
      <p:sp>
        <p:nvSpPr>
          <p:cNvPr id="19" name="Text 16"/>
          <p:cNvSpPr txBox="1"/>
          <p:nvPr/>
        </p:nvSpPr>
        <p:spPr>
          <a:xfrm>
            <a:off x="6342736" y="2633472"/>
            <a:ext cx="2320976" cy="20116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3 hotels · 1.1% of 60,223 rooms, through 2028</a:t>
            </a:r>
            <a:endParaRPr lang="en-US" sz="1000" dirty="0"/>
          </a:p>
        </p:txBody>
      </p:sp>
      <p:sp>
        <p:nvSpPr>
          <p:cNvPr id="20" name="kpi-card-3"/>
          <p:cNvSpPr/>
          <p:nvPr/>
        </p:nvSpPr>
        <p:spPr>
          <a:xfrm>
            <a:off x="8992895" y="1463040"/>
            <a:ext cx="2650160" cy="1463040"/>
          </a:xfrm>
          <a:prstGeom prst="roundRect">
            <a:avLst>
              <a:gd name="adj" fmla="val 5000"/>
            </a:avLst>
          </a:prstGeom>
          <a:solidFill>
            <a:srgbClr val="FFFFFF"/>
          </a:solidFill>
          <a:ln w="12700">
            <a:solidFill>
              <a:srgbClr val="B4D9E3"/>
            </a:solidFill>
            <a:prstDash val="solid"/>
          </a:ln>
        </p:spPr>
      </p:sp>
      <p:sp>
        <p:nvSpPr>
          <p:cNvPr id="21" name="Text 18"/>
          <p:cNvSpPr txBox="1"/>
          <p:nvPr/>
        </p:nvSpPr>
        <p:spPr>
          <a:xfrm>
            <a:off x="9157487" y="1591056"/>
            <a:ext cx="232097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ORANGE COUNTY HOTELS, 12 MONTHS</a:t>
            </a:r>
            <a:endParaRPr lang="en-US" sz="900" dirty="0"/>
          </a:p>
        </p:txBody>
      </p:sp>
      <p:sp>
        <p:nvSpPr>
          <p:cNvPr id="22" name="Text 19"/>
          <p:cNvSpPr txBox="1"/>
          <p:nvPr/>
        </p:nvSpPr>
        <p:spPr>
          <a:xfrm>
            <a:off x="9157487" y="1810512"/>
            <a:ext cx="232097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F&amp;B share of hotel revenue</a:t>
            </a:r>
            <a:endParaRPr lang="en-US" sz="1050" dirty="0"/>
          </a:p>
        </p:txBody>
      </p:sp>
      <p:sp>
        <p:nvSpPr>
          <p:cNvPr id="23" name="Text 20"/>
          <p:cNvSpPr txBox="1"/>
          <p:nvPr/>
        </p:nvSpPr>
        <p:spPr>
          <a:xfrm>
            <a:off x="9157487" y="2084832"/>
            <a:ext cx="2320976" cy="548640"/>
          </a:xfrm>
          <a:prstGeom prst="rect">
            <a:avLst/>
          </a:prstGeom>
          <a:noFill/>
          <a:ln/>
        </p:spPr>
        <p:txBody>
          <a:bodyPr wrap="square" lIns="0" tIns="0" rIns="0" bIns="0" rtlCol="0" anchor="ctr"/>
          <a:lstStyle/>
          <a:p>
            <a:pPr indent="0" marL="0">
              <a:buNone/>
            </a:pPr>
            <a:r>
              <a:rPr lang="en-US" sz="2600" b="1" dirty="0">
                <a:solidFill>
                  <a:srgbClr val="125C60"/>
                </a:solidFill>
                <a:latin typeface="Proxima Nova" pitchFamily="34" charset="0"/>
                <a:ea typeface="Proxima Nova" pitchFamily="34" charset="-122"/>
                <a:cs typeface="Proxima Nova" pitchFamily="34" charset="-120"/>
              </a:rPr>
              <a:t>29.4%</a:t>
            </a:r>
            <a:endParaRPr lang="en-US" sz="2600" dirty="0"/>
          </a:p>
        </p:txBody>
      </p:sp>
      <p:sp>
        <p:nvSpPr>
          <p:cNvPr id="24" name="Text 21"/>
          <p:cNvSpPr txBox="1"/>
          <p:nvPr/>
        </p:nvSpPr>
        <p:spPr>
          <a:xfrm>
            <a:off x="9157487" y="2633472"/>
            <a:ext cx="2320976" cy="20116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Disneyland submarket 22.4% · food revenue per room ▲ +28.9%</a:t>
            </a:r>
            <a:endParaRPr lang="en-US" sz="1000" dirty="0"/>
          </a:p>
        </p:txBody>
      </p:sp>
      <p:graphicFrame>
        <p:nvGraphicFramePr>
          <p:cNvPr id="68" name="Table 0"/>
          <p:cNvGraphicFramePr>
            <a:graphicFrameLocks noGrp="1"/>
          </p:cNvGraphicFramePr>
          <p:nvPr>
            <p:extLst>
              <p:ext uri="{D42A27DB-BD31-4B8C-83A1-F6EECF244321}">
                <p14:modId xmlns:p14="http://schemas.microsoft.com/office/powerpoint/2010/main" val="1579011935"/>
              </p:ext>
            </p:extLst>
          </p:nvPr>
        </p:nvGraphicFramePr>
        <p:xfrm>
          <a:off x="548640" y="3154680"/>
          <a:ext cx="6949440" cy="914400"/>
        </p:xfrm>
        <a:graphic>
          <a:graphicData uri="http://schemas.openxmlformats.org/drawingml/2006/table">
            <a:tbl>
              <a:tblPr/>
              <a:tblGrid>
                <a:gridCol w="2194560"/>
                <a:gridCol w="822960"/>
                <a:gridCol w="914400"/>
                <a:gridCol w="1005840"/>
                <a:gridCol w="1005840"/>
                <a:gridCol w="1005840"/>
              </a:tblGrid>
              <a:tr h="329184">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Submarket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Rooms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Occupancy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Average nightly rate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Revenue per available room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Change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2918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Disneyland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21,213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78.4%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$255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$200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 +7.9%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2918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Newport Beach/Dana Point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11,719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70.8%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$300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$212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 +7.1%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Santa Ana/Costa Mesa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14,209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72.7%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$173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 +5.6%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Anaheim (outside Disneyland submarket)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5,445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71.6%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$130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$93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 +5.1%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Orange County Northwest/Fullerton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7,637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70.4%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$132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$93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 +0.8%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Orange County total</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60,223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74.0%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$218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$162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 +6.9%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26" name="chart-title"/>
          <p:cNvSpPr txBox="1"/>
          <p:nvPr/>
        </p:nvSpPr>
        <p:spPr>
          <a:xfrm>
            <a:off x="7726680" y="3108960"/>
            <a:ext cx="3886200"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Revenue per available room, past 12 months</a:t>
            </a:r>
            <a:endParaRPr lang="en-US" sz="1300" dirty="0"/>
          </a:p>
        </p:txBody>
      </p:sp>
      <p:graphicFrame>
        <p:nvGraphicFramePr>
          <p:cNvPr id="27" name="chart" descr=""/>
          <p:cNvGraphicFramePr/>
          <p:nvPr/>
        </p:nvGraphicFramePr>
        <p:xfrm>
          <a:off x="7726680" y="3474720"/>
          <a:ext cx="3886200" cy="2468880"/>
        </p:xfrm>
        <a:graphic xmlns:a="http://schemas.openxmlformats.org/drawingml/2006/main">
          <a:graphicData uri="http://schemas.openxmlformats.org/drawingml/2006/chart">
            <c:chart xmlns:c="http://schemas.openxmlformats.org/drawingml/2006/chart" r:id="rId1"/>
          </a:graphicData>
        </a:graphic>
      </p:graphicFrame>
      <p:sp>
        <p:nvSpPr>
          <p:cNvPr id="28"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CoStar Group, Orange County Hospitality Market and Disneyland Hospitality Submarket reports (pulled Oct. 12, 2026). © 2026 CoStar Group, licensed to Visit Anaheim.</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Only 668 hotel rooms are under construction countywide, which leaves room for OC Vibe's hotels</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CoStar construction, hotel investment and Orange County economy</a:t>
            </a:r>
            <a:endParaRPr lang="en-US" sz="1200" dirty="0"/>
          </a:p>
        </p:txBody>
      </p:sp>
      <p:sp>
        <p:nvSpPr>
          <p:cNvPr id="4" name="Text 2"/>
          <p:cNvSpPr txBox="1"/>
          <p:nvPr/>
        </p:nvSpPr>
        <p:spPr>
          <a:xfrm>
            <a:off x="548640" y="1463040"/>
            <a:ext cx="5669280" cy="274320"/>
          </a:xfrm>
          <a:prstGeom prst="rect">
            <a:avLst/>
          </a:prstGeom>
          <a:noFill/>
          <a:ln/>
        </p:spPr>
        <p:txBody>
          <a:bodyPr wrap="square" lIns="0" tIns="0" rIns="0" bIns="0" rtlCol="0" anchor="ct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Disneyland submarket by year</a:t>
            </a:r>
            <a:endParaRPr lang="en-US" sz="1200" dirty="0"/>
          </a:p>
        </p:txBody>
      </p:sp>
      <p:graphicFrame>
        <p:nvGraphicFramePr>
          <p:cNvPr id="69" name="Table 0"/>
          <p:cNvGraphicFramePr>
            <a:graphicFrameLocks noGrp="1"/>
          </p:cNvGraphicFramePr>
          <p:nvPr>
            <p:extLst>
              <p:ext uri="{D42A27DB-BD31-4B8C-83A1-F6EECF244321}">
                <p14:modId xmlns:p14="http://schemas.microsoft.com/office/powerpoint/2010/main" val="1579011935"/>
              </p:ext>
            </p:extLst>
          </p:nvPr>
        </p:nvGraphicFramePr>
        <p:xfrm>
          <a:off x="548640" y="1783080"/>
          <a:ext cx="5669280" cy="914400"/>
        </p:xfrm>
        <a:graphic>
          <a:graphicData uri="http://schemas.openxmlformats.org/drawingml/2006/table">
            <a:tbl>
              <a:tblPr/>
              <a:tblGrid>
                <a:gridCol w="1737360"/>
                <a:gridCol w="914400"/>
                <a:gridCol w="1051560"/>
                <a:gridCol w="1051560"/>
                <a:gridCol w="914400"/>
              </a:tblGrid>
              <a:tr h="274320">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Year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Occupancy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Average nightly rate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Revenue per available room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Change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2019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82.0%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$190.22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$155.94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 +5.1%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2022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75.0%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$226.45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$169.75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 +66.4%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2023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77.0%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$245.13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$188.87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 +11.3%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2024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76.0%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$243.22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$184.86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A10009"/>
                          </a:solidFill>
                          <a:latin typeface="Proxima Nova" pitchFamily="34" charset="0"/>
                          <a:ea typeface="Proxima Nova" pitchFamily="34" charset="-122"/>
                          <a:cs typeface="Proxima Nova" pitchFamily="34" charset="-120"/>
                        </a:rPr>
                        <a:t>▼ −2.1%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75.9%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$246.00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$186.80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 +1.0%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2026 YTD (Jan.–Aug.)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78.6%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$252.55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$198.51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 +10.9%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bl>
          </a:graphicData>
        </a:graphic>
      </p:graphicFrame>
      <p:sp>
        <p:nvSpPr>
          <p:cNvPr id="6" name="Text 3"/>
          <p:cNvSpPr txBox="1"/>
          <p:nvPr/>
        </p:nvSpPr>
        <p:spPr>
          <a:xfrm>
            <a:off x="548640" y="3886200"/>
            <a:ext cx="5669280" cy="274320"/>
          </a:xfrm>
          <a:prstGeom prst="rect">
            <a:avLst/>
          </a:prstGeom>
          <a:noFill/>
          <a:ln/>
        </p:spPr>
        <p:txBody>
          <a:bodyPr wrap="square" lIns="0" tIns="0" rIns="0" bIns="0" rtlCol="0" anchor="ct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Under construction in Orange County</a:t>
            </a:r>
            <a:endParaRPr lang="en-US" sz="1200" dirty="0"/>
          </a:p>
        </p:txBody>
      </p:sp>
      <p:graphicFrame>
        <p:nvGraphicFramePr>
          <p:cNvPr id="137" name="Table 1"/>
          <p:cNvGraphicFramePr>
            <a:graphicFrameLocks noGrp="1"/>
          </p:cNvGraphicFramePr>
          <p:nvPr>
            <p:extLst>
              <p:ext uri="{D42A27DB-BD31-4B8C-83A1-F6EECF244321}">
                <p14:modId xmlns:p14="http://schemas.microsoft.com/office/powerpoint/2010/main" val="1579011935"/>
              </p:ext>
            </p:extLst>
          </p:nvPr>
        </p:nvGraphicFramePr>
        <p:xfrm>
          <a:off x="548640" y="4206240"/>
          <a:ext cx="5669280" cy="914400"/>
        </p:xfrm>
        <a:graphic>
          <a:graphicData uri="http://schemas.openxmlformats.org/drawingml/2006/table">
            <a:tbl>
              <a:tblPr/>
              <a:tblGrid>
                <a:gridCol w="2468880"/>
                <a:gridCol w="1371600"/>
                <a:gridCol w="640080"/>
                <a:gridCol w="1188720"/>
              </a:tblGrid>
              <a:tr h="274320">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Hotel</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Submarket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Rooms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Expected opening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Tribute Portfolio Anaheim Downtown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Disneyland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Mar. 2027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Home2 Suites by Hilton Irvine/Orange County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Santa Ana/Costa Mesa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172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June 2027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Kimpton Garden Grove Anaheim (mixed-use)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Disneyland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371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Sept. 2028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8" name="Text 4"/>
          <p:cNvSpPr txBox="1"/>
          <p:nvPr/>
        </p:nvSpPr>
        <p:spPr>
          <a:xfrm>
            <a:off x="6492240" y="1463040"/>
            <a:ext cx="5120640" cy="274320"/>
          </a:xfrm>
          <a:prstGeom prst="rect">
            <a:avLst/>
          </a:prstGeom>
          <a:noFill/>
          <a:ln/>
        </p:spPr>
        <p:txBody>
          <a:bodyPr wrap="square" lIns="0" tIns="0" rIns="0" bIns="0" rtlCol="0" anchor="ct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Orange County economy</a:t>
            </a:r>
            <a:endParaRPr lang="en-US" sz="1200" dirty="0"/>
          </a:p>
        </p:txBody>
      </p:sp>
      <p:graphicFrame>
        <p:nvGraphicFramePr>
          <p:cNvPr id="205" name="Table 2"/>
          <p:cNvGraphicFramePr>
            <a:graphicFrameLocks noGrp="1"/>
          </p:cNvGraphicFramePr>
          <p:nvPr>
            <p:extLst>
              <p:ext uri="{D42A27DB-BD31-4B8C-83A1-F6EECF244321}">
                <p14:modId xmlns:p14="http://schemas.microsoft.com/office/powerpoint/2010/main" val="1579011935"/>
              </p:ext>
            </p:extLst>
          </p:nvPr>
        </p:nvGraphicFramePr>
        <p:xfrm>
          <a:off x="6492240" y="1783080"/>
          <a:ext cx="5120640" cy="914400"/>
        </p:xfrm>
        <a:graphic>
          <a:graphicData uri="http://schemas.openxmlformats.org/drawingml/2006/table">
            <a:tbl>
              <a:tblPr/>
              <a:tblGrid>
                <a:gridCol w="2926080"/>
                <a:gridCol w="1188720"/>
                <a:gridCol w="1005840"/>
              </a:tblGrid>
              <a:tr h="274320">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Measure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Orange County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U.S.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Leisure &amp; hospitality jobs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244K</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n/a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Leisure &amp; hospitality concentration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Leisure &amp; hospitality job growth</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+2.69%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+1.59%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Leisure &amp; hospitality forecast, per year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+0.98%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+0.59%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Total job growth</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+0.53%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+0.44%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Median household income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$121,883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$85,449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Unemployment rate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4.1%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4.3%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Population (12-month change)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3.14M (−0.3%)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+0.2%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10" name="Text 5"/>
          <p:cNvSpPr txBox="1"/>
          <p:nvPr/>
        </p:nvSpPr>
        <p:spPr>
          <a:xfrm>
            <a:off x="6492240" y="4754880"/>
            <a:ext cx="5120640" cy="1097280"/>
          </a:xfrm>
          <a:prstGeom prst="rect">
            <a:avLst/>
          </a:prstGeom>
          <a:noFill/>
          <a:ln/>
        </p:spPr>
        <p:txBody>
          <a:bodyPr wrap="square" lIns="0" tIns="0" rIns="0" bIns="0" rtlCol="0" anchor="t"/>
          <a:lstStyle/>
          <a:p>
            <a:pPr indent="0" marL="0">
              <a:buNone/>
            </a:pPr>
            <a:r>
              <a:rPr lang="en-US" sz="1050" b="1" dirty="0">
                <a:solidFill>
                  <a:srgbClr val="125C60"/>
                </a:solidFill>
                <a:latin typeface="Proxima Nova" pitchFamily="34" charset="0"/>
                <a:ea typeface="Proxima Nova" pitchFamily="34" charset="-122"/>
                <a:cs typeface="Proxima Nova" pitchFamily="34" charset="-120"/>
              </a:rPr>
              <a:t>Investment: </a:t>
            </a:r>
            <a:pPr indent="0" marL="0">
              <a:buNone/>
            </a:pPr>
            <a:r>
              <a:rPr lang="en-US" sz="1050" dirty="0">
                <a:solidFill>
                  <a:srgbClr val="231F20"/>
                </a:solidFill>
                <a:latin typeface="Proxima Nova" pitchFamily="34" charset="0"/>
                <a:ea typeface="Proxima Nova" pitchFamily="34" charset="-122"/>
                <a:cs typeface="Proxima Nova" pitchFamily="34" charset="-120"/>
              </a:rPr>
              <a:t>hotel sales slowed with higher borrowing costs ($234.2M in the past 12 months vs. a $311M three-year average). Market cap rate 7.2% in the Disneyland submarket. CoStar notes the OC Vibe district could create opportunities for future hotel investment.</a:t>
            </a:r>
            <a:endParaRPr lang="en-US" sz="1050" dirty="0"/>
          </a:p>
        </p:txBody>
      </p:sp>
      <p:sp>
        <p:nvSpPr>
          <p:cNvPr id="11"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CoStar Group, Orange County Hospitality Market, Disneyland Submarket and Capital Markets reports (Oct. 12, 2026); Oxford Economics via CoStar. © 2026 CoStar Group.</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Sunday and Monday nights are where OC Vibe can add the most hotel stays</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STR, Visit Anaheim hotels, Jan. 1–Oct. 3, 2026 · CoStar submarkets by month, 2026</a:t>
            </a:r>
            <a:endParaRPr lang="en-US" sz="1200" dirty="0"/>
          </a:p>
        </p:txBody>
      </p:sp>
      <p:sp>
        <p:nvSpPr>
          <p:cNvPr id="5" name="chart-title"/>
          <p:cNvSpPr txBox="1"/>
          <p:nvPr/>
        </p:nvSpPr>
        <p:spPr>
          <a:xfrm>
            <a:off x="548640" y="1417320"/>
            <a:ext cx="5120640"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Sunday and Monday nights run 16 points below Friday and Saturday</a:t>
            </a:r>
            <a:endParaRPr lang="en-US" sz="1300" dirty="0"/>
          </a:p>
        </p:txBody>
      </p:sp>
      <p:graphicFrame>
        <p:nvGraphicFramePr>
          <p:cNvPr id="6" name="chart" descr=""/>
          <p:cNvGraphicFramePr/>
          <p:nvPr/>
        </p:nvGraphicFramePr>
        <p:xfrm>
          <a:off x="548640" y="1783080"/>
          <a:ext cx="5120640" cy="2468880"/>
        </p:xfrm>
        <a:graphic xmlns:a="http://schemas.openxmlformats.org/drawingml/2006/main">
          <a:graphicData uri="http://schemas.openxmlformats.org/drawingml/2006/chart">
            <c:chart xmlns:c="http://schemas.openxmlformats.org/drawingml/2006/chart" r:id="rId1"/>
          </a:graphicData>
        </a:graphic>
      </p:graphicFrame>
      <p:graphicFrame>
        <p:nvGraphicFramePr>
          <p:cNvPr id="70" name="Table 0"/>
          <p:cNvGraphicFramePr>
            <a:graphicFrameLocks noGrp="1"/>
          </p:cNvGraphicFramePr>
          <p:nvPr>
            <p:extLst>
              <p:ext uri="{D42A27DB-BD31-4B8C-83A1-F6EECF244321}">
                <p14:modId xmlns:p14="http://schemas.microsoft.com/office/powerpoint/2010/main" val="1579011935"/>
              </p:ext>
            </p:extLst>
          </p:nvPr>
        </p:nvGraphicFramePr>
        <p:xfrm>
          <a:off x="548640" y="4343400"/>
          <a:ext cx="5120640" cy="914400"/>
        </p:xfrm>
        <a:graphic>
          <a:graphicData uri="http://schemas.openxmlformats.org/drawingml/2006/table">
            <a:tbl>
              <a:tblPr/>
              <a:tblGrid>
                <a:gridCol w="2103120"/>
                <a:gridCol w="1005840"/>
                <a:gridCol w="1005840"/>
                <a:gridCol w="1005840"/>
              </a:tblGrid>
              <a:tr h="237744">
                <a:tc>
                  <a:txBody>
                    <a:bodyPr/>
                    <a:lstStyle/>
                    <a:p>
                      <a:pPr algn="l" indent="0" marL="0">
                        <a:buNone/>
                      </a:pPr>
                      <a:r>
                        <a:rPr lang="en-US" sz="900" b="1" dirty="0">
                          <a:solidFill>
                            <a:srgbClr val="FFFFFF"/>
                          </a:solidFill>
                          <a:latin typeface="Proxima Nova" pitchFamily="34" charset="0"/>
                          <a:ea typeface="Proxima Nova" pitchFamily="34" charset="-122"/>
                          <a:cs typeface="Proxima Nova" pitchFamily="34" charset="-120"/>
                        </a:rPr>
                        <a:t>Measure</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00" b="1" dirty="0">
                          <a:solidFill>
                            <a:srgbClr val="FFFFFF"/>
                          </a:solidFill>
                          <a:latin typeface="Proxima Nova" pitchFamily="34" charset="0"/>
                          <a:ea typeface="Proxima Nova" pitchFamily="34" charset="-122"/>
                          <a:cs typeface="Proxima Nova" pitchFamily="34" charset="-120"/>
                        </a:rPr>
                        <a:t>Anaheim+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00" b="1" dirty="0">
                          <a:solidFill>
                            <a:srgbClr val="FFFFFF"/>
                          </a:solidFill>
                          <a:latin typeface="Proxima Nova" pitchFamily="34" charset="0"/>
                          <a:ea typeface="Proxima Nova" pitchFamily="34" charset="-122"/>
                          <a:cs typeface="Proxima Nova" pitchFamily="34" charset="-120"/>
                        </a:rPr>
                        <a:t>Garden Grove+</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00" b="1" dirty="0">
                          <a:solidFill>
                            <a:srgbClr val="FFFFFF"/>
                          </a:solidFill>
                          <a:latin typeface="Proxima Nova" pitchFamily="34" charset="0"/>
                          <a:ea typeface="Proxima Nova" pitchFamily="34" charset="-122"/>
                          <a:cs typeface="Proxima Nova" pitchFamily="34" charset="-120"/>
                        </a:rPr>
                        <a:t>Anaheim–Garden Grove+</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237744">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Rooms</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21,318</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4,407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25,725</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37744">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Occupancy</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00" b="1" dirty="0">
                          <a:solidFill>
                            <a:srgbClr val="231F20"/>
                          </a:solidFill>
                          <a:latin typeface="Proxima Nova" pitchFamily="34" charset="0"/>
                          <a:ea typeface="Proxima Nova" pitchFamily="34" charset="-122"/>
                          <a:cs typeface="Proxima Nova" pitchFamily="34" charset="-120"/>
                        </a:rPr>
                        <a:t>77.9%</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00" b="1" dirty="0">
                          <a:solidFill>
                            <a:srgbClr val="231F20"/>
                          </a:solidFill>
                          <a:latin typeface="Proxima Nova" pitchFamily="34" charset="0"/>
                          <a:ea typeface="Proxima Nova" pitchFamily="34" charset="-122"/>
                          <a:cs typeface="Proxima Nova" pitchFamily="34" charset="-120"/>
                        </a:rPr>
                        <a:t>73.7%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00" b="1" dirty="0">
                          <a:solidFill>
                            <a:srgbClr val="231F20"/>
                          </a:solidFill>
                          <a:latin typeface="Proxima Nova" pitchFamily="34" charset="0"/>
                          <a:ea typeface="Proxima Nova" pitchFamily="34" charset="-122"/>
                          <a:cs typeface="Proxima Nova" pitchFamily="34" charset="-120"/>
                        </a:rPr>
                        <a:t>77.2%</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237744">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Average nightly rate</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$241</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$166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$229</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37744">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Revenue per available room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$188</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$122</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$177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37744">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Group share of rooms sold</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18.2%</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15.3%</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17.7%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37744">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Nights at 90%+ occupancy</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38</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52</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40</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graphicFrame>
        <p:nvGraphicFramePr>
          <p:cNvPr id="139" name="Table 1"/>
          <p:cNvGraphicFramePr>
            <a:graphicFrameLocks noGrp="1"/>
          </p:cNvGraphicFramePr>
          <p:nvPr>
            <p:extLst>
              <p:ext uri="{D42A27DB-BD31-4B8C-83A1-F6EECF244321}">
                <p14:modId xmlns:p14="http://schemas.microsoft.com/office/powerpoint/2010/main" val="1579011935"/>
              </p:ext>
            </p:extLst>
          </p:nvPr>
        </p:nvGraphicFramePr>
        <p:xfrm>
          <a:off x="5943600" y="1463040"/>
          <a:ext cx="5699455" cy="914400"/>
        </p:xfrm>
        <a:graphic>
          <a:graphicData uri="http://schemas.openxmlformats.org/drawingml/2006/table">
            <a:tbl>
              <a:tblPr/>
              <a:tblGrid>
                <a:gridCol w="731520"/>
                <a:gridCol w="1051560"/>
                <a:gridCol w="868680"/>
                <a:gridCol w="1005840"/>
                <a:gridCol w="868680"/>
                <a:gridCol w="1170432"/>
              </a:tblGrid>
              <a:tr h="310896">
                <a:tc>
                  <a:txBody>
                    <a:bodyPr/>
                    <a:lstStyle/>
                    <a:p>
                      <a:pPr algn="l" indent="0" marL="0">
                        <a:buNone/>
                      </a:pPr>
                      <a:r>
                        <a:rPr lang="en-US" sz="900" b="1" dirty="0">
                          <a:solidFill>
                            <a:srgbClr val="FFFFFF"/>
                          </a:solidFill>
                          <a:latin typeface="Proxima Nova" pitchFamily="34" charset="0"/>
                          <a:ea typeface="Proxima Nova" pitchFamily="34" charset="-122"/>
                          <a:cs typeface="Proxima Nova" pitchFamily="34" charset="-120"/>
                        </a:rPr>
                        <a:t>Month</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00" b="1" dirty="0">
                          <a:solidFill>
                            <a:srgbClr val="FFFFFF"/>
                          </a:solidFill>
                          <a:latin typeface="Proxima Nova" pitchFamily="34" charset="0"/>
                          <a:ea typeface="Proxima Nova" pitchFamily="34" charset="-122"/>
                          <a:cs typeface="Proxima Nova" pitchFamily="34" charset="-120"/>
                        </a:rPr>
                        <a:t>Disneyland occupancy</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00" b="1" dirty="0">
                          <a:solidFill>
                            <a:srgbClr val="FFFFFF"/>
                          </a:solidFill>
                          <a:latin typeface="Proxima Nova" pitchFamily="34" charset="0"/>
                          <a:ea typeface="Proxima Nova" pitchFamily="34" charset="-122"/>
                          <a:cs typeface="Proxima Nova" pitchFamily="34" charset="-120"/>
                        </a:rPr>
                        <a:t>Disneyland rate</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00" b="1" dirty="0">
                          <a:solidFill>
                            <a:srgbClr val="FFFFFF"/>
                          </a:solidFill>
                          <a:latin typeface="Proxima Nova" pitchFamily="34" charset="0"/>
                          <a:ea typeface="Proxima Nova" pitchFamily="34" charset="-122"/>
                          <a:cs typeface="Proxima Nova" pitchFamily="34" charset="-120"/>
                        </a:rPr>
                        <a:t>Anaheim occupancy</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00" b="1" dirty="0">
                          <a:solidFill>
                            <a:srgbClr val="FFFFFF"/>
                          </a:solidFill>
                          <a:latin typeface="Proxima Nova" pitchFamily="34" charset="0"/>
                          <a:ea typeface="Proxima Nova" pitchFamily="34" charset="-122"/>
                          <a:cs typeface="Proxima Nova" pitchFamily="34" charset="-120"/>
                        </a:rPr>
                        <a:t>Anaheim rate</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00" b="1" dirty="0">
                          <a:solidFill>
                            <a:srgbClr val="FFFFFF"/>
                          </a:solidFill>
                          <a:latin typeface="Proxima Nova" pitchFamily="34" charset="0"/>
                          <a:ea typeface="Proxima Nova" pitchFamily="34" charset="-122"/>
                          <a:cs typeface="Proxima Nova" pitchFamily="34" charset="-120"/>
                        </a:rPr>
                        <a:t>Anaheim change</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1089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Jan.</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69.7%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$237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63.2%</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$122</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 +6.9%</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1089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Feb.</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79.6%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$258</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74.3%</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$133</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 +21.0%</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1089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March</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82.2%</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$279</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76.8%</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$144</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 +5.2%</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1089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April</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81.7%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$256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73.3%</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$130</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 +16.7%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1089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May</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74.9%</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$240</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68.7%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$126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 +2.8%</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1089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June</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79.3%</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$253</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73.9%</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$132</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 +6.0%</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1089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July</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00" b="1" dirty="0">
                          <a:solidFill>
                            <a:srgbClr val="231F20"/>
                          </a:solidFill>
                          <a:latin typeface="Proxima Nova" pitchFamily="34" charset="0"/>
                          <a:ea typeface="Proxima Nova" pitchFamily="34" charset="-122"/>
                          <a:cs typeface="Proxima Nova" pitchFamily="34" charset="-120"/>
                        </a:rPr>
                        <a:t>85.5%</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00" b="1" dirty="0">
                          <a:solidFill>
                            <a:srgbClr val="231F20"/>
                          </a:solidFill>
                          <a:latin typeface="Proxima Nova" pitchFamily="34" charset="0"/>
                          <a:ea typeface="Proxima Nova" pitchFamily="34" charset="-122"/>
                          <a:cs typeface="Proxima Nova" pitchFamily="34" charset="-120"/>
                        </a:rPr>
                        <a:t>$258</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00" b="1" dirty="0">
                          <a:solidFill>
                            <a:srgbClr val="231F20"/>
                          </a:solidFill>
                          <a:latin typeface="Proxima Nova" pitchFamily="34" charset="0"/>
                          <a:ea typeface="Proxima Nova" pitchFamily="34" charset="-122"/>
                          <a:cs typeface="Proxima Nova" pitchFamily="34" charset="-120"/>
                        </a:rPr>
                        <a:t>80.6%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00" b="1" dirty="0">
                          <a:solidFill>
                            <a:srgbClr val="231F20"/>
                          </a:solidFill>
                          <a:latin typeface="Proxima Nova" pitchFamily="34" charset="0"/>
                          <a:ea typeface="Proxima Nova" pitchFamily="34" charset="-122"/>
                          <a:cs typeface="Proxima Nova" pitchFamily="34" charset="-120"/>
                        </a:rPr>
                        <a:t>$142</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00" b="1" dirty="0">
                          <a:solidFill>
                            <a:srgbClr val="231F20"/>
                          </a:solidFill>
                          <a:latin typeface="Proxima Nova" pitchFamily="34" charset="0"/>
                          <a:ea typeface="Proxima Nova" pitchFamily="34" charset="-122"/>
                          <a:cs typeface="Proxima Nova" pitchFamily="34" charset="-120"/>
                        </a:rPr>
                        <a:t>▲ +3.4%</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1089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Aug.</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76.2%</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$236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71.4%</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$126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 +1.4%</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9" name="Text 3"/>
          <p:cNvSpPr txBox="1"/>
          <p:nvPr/>
        </p:nvSpPr>
        <p:spPr>
          <a:xfrm>
            <a:off x="5943600" y="4434840"/>
            <a:ext cx="5699455" cy="1371600"/>
          </a:xfrm>
          <a:prstGeom prst="rect">
            <a:avLst/>
          </a:prstGeom>
          <a:noFill/>
          <a:ln/>
        </p:spPr>
        <p:txBody>
          <a:bodyPr wrap="square" lIns="0" tIns="0" rIns="0" bIns="0" rtlCol="0" anchor="t"/>
          <a:lstStyle/>
          <a:p>
            <a:pPr indent="0" marL="0">
              <a:buNone/>
            </a:pPr>
            <a:r>
              <a:rPr lang="en-US" sz="1050" dirty="0">
                <a:solidFill>
                  <a:srgbClr val="231F20"/>
                </a:solidFill>
                <a:latin typeface="Proxima Nova" pitchFamily="34" charset="0"/>
                <a:ea typeface="Proxima Nova" pitchFamily="34" charset="-122"/>
                <a:cs typeface="Proxima Nova" pitchFamily="34" charset="-120"/>
              </a:rPr>
              <a:t>Sunday and Monday are the open nights: Visit Anaheim hotels ran </a:t>
            </a:r>
            <a:pPr indent="0" marL="0">
              <a:buNone/>
            </a:pPr>
            <a:r>
              <a:rPr lang="en-US" sz="1050" b="1" dirty="0">
                <a:solidFill>
                  <a:srgbClr val="125C60"/>
                </a:solidFill>
                <a:latin typeface="Proxima Nova" pitchFamily="34" charset="0"/>
                <a:ea typeface="Proxima Nova" pitchFamily="34" charset="-122"/>
                <a:cs typeface="Proxima Nova" pitchFamily="34" charset="-120"/>
              </a:rPr>
              <a:t>70.6%</a:t>
            </a:r>
            <a:pPr indent="0" marL="0">
              <a:buNone/>
            </a:pPr>
            <a:r>
              <a:rPr lang="en-US" sz="1050" dirty="0">
                <a:solidFill>
                  <a:srgbClr val="231F20"/>
                </a:solidFill>
                <a:latin typeface="Proxima Nova" pitchFamily="34" charset="0"/>
                <a:ea typeface="Proxima Nova" pitchFamily="34" charset="-122"/>
                <a:cs typeface="Proxima Nova" pitchFamily="34" charset="-120"/>
              </a:rPr>
              <a:t> occupancy on those nights in 2026 vs. </a:t>
            </a:r>
            <a:pPr indent="0" marL="0">
              <a:buNone/>
            </a:pPr>
            <a:r>
              <a:rPr lang="en-US" sz="1050" b="1" dirty="0">
                <a:solidFill>
                  <a:srgbClr val="125C60"/>
                </a:solidFill>
                <a:latin typeface="Proxima Nova" pitchFamily="34" charset="0"/>
                <a:ea typeface="Proxima Nova" pitchFamily="34" charset="-122"/>
                <a:cs typeface="Proxima Nova" pitchFamily="34" charset="-120"/>
              </a:rPr>
              <a:t>86.2%</a:t>
            </a:r>
            <a:pPr indent="0" marL="0">
              <a:buNone/>
            </a:pPr>
            <a:r>
              <a:rPr lang="en-US" sz="1050" dirty="0">
                <a:solidFill>
                  <a:srgbClr val="231F20"/>
                </a:solidFill>
                <a:latin typeface="Proxima Nova" pitchFamily="34" charset="0"/>
                <a:ea typeface="Proxima Nova" pitchFamily="34" charset="-122"/>
                <a:cs typeface="Proxima Nova" pitchFamily="34" charset="-120"/>
              </a:rPr>
              <a:t> on Fridays and Saturdays (STR). Each point OC Vibe adds on Sunday and Monday nights is about </a:t>
            </a:r>
            <a:pPr indent="0" marL="0">
              <a:buNone/>
            </a:pPr>
            <a:r>
              <a:rPr lang="en-US" sz="1050" b="1" dirty="0">
                <a:solidFill>
                  <a:srgbClr val="125C60"/>
                </a:solidFill>
                <a:latin typeface="Proxima Nova" pitchFamily="34" charset="0"/>
                <a:ea typeface="Proxima Nova" pitchFamily="34" charset="-122"/>
                <a:cs typeface="Proxima Nova" pitchFamily="34" charset="-120"/>
              </a:rPr>
              <a:t>22,200 room nights</a:t>
            </a:r>
            <a:pPr indent="0" marL="0">
              <a:buNone/>
            </a:pPr>
            <a:r>
              <a:rPr lang="en-US" sz="1050" dirty="0">
                <a:solidFill>
                  <a:srgbClr val="231F20"/>
                </a:solidFill>
                <a:latin typeface="Proxima Nova" pitchFamily="34" charset="0"/>
                <a:ea typeface="Proxima Nova" pitchFamily="34" charset="-122"/>
                <a:cs typeface="Proxima Nova" pitchFamily="34" charset="-120"/>
              </a:rPr>
              <a:t> and </a:t>
            </a:r>
            <a:pPr indent="0" marL="0">
              <a:buNone/>
            </a:pPr>
            <a:r>
              <a:rPr lang="en-US" sz="1050" b="1" dirty="0">
                <a:solidFill>
                  <a:srgbClr val="125C60"/>
                </a:solidFill>
                <a:latin typeface="Proxima Nova" pitchFamily="34" charset="0"/>
                <a:ea typeface="Proxima Nova" pitchFamily="34" charset="-122"/>
                <a:cs typeface="Proxima Nova" pitchFamily="34" charset="-120"/>
              </a:rPr>
              <a:t>$5.1M</a:t>
            </a:r>
            <a:pPr indent="0" marL="0">
              <a:buNone/>
            </a:pPr>
            <a:r>
              <a:rPr lang="en-US" sz="1050" dirty="0">
                <a:solidFill>
                  <a:srgbClr val="231F20"/>
                </a:solidFill>
                <a:latin typeface="Proxima Nova" pitchFamily="34" charset="0"/>
                <a:ea typeface="Proxima Nova" pitchFamily="34" charset="-122"/>
                <a:cs typeface="Proxima Nova" pitchFamily="34" charset="-120"/>
              </a:rPr>
              <a:t> in room revenue a year.</a:t>
            </a:r>
            <a:endParaRPr lang="en-US" sz="1050" dirty="0"/>
          </a:p>
        </p:txBody>
      </p:sp>
      <p:sp>
        <p:nvSpPr>
          <p:cNvPr id="10"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STR daily data, Visit Anaheim hotel sets (Jan. 1–Oct. 3, 2026; provided Oct. 12, 2026); CoStar submarket export (Jan.–Aug.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When Anaheim hotels have room: a 2026 calendar for events and programming</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Visit Anaheim hotel set (Anaheim+), Jan.–Sept. 2026 · weeknights = Sunday–Thursday nights</a:t>
            </a:r>
            <a:endParaRPr lang="en-US" sz="1200" dirty="0"/>
          </a:p>
        </p:txBody>
      </p:sp>
      <p:graphicFrame>
        <p:nvGraphicFramePr>
          <p:cNvPr id="71"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94415" cy="914400"/>
        </p:xfrm>
        <a:graphic>
          <a:graphicData uri="http://schemas.openxmlformats.org/drawingml/2006/table">
            <a:tbl>
              <a:tblPr/>
              <a:tblGrid>
                <a:gridCol w="1188720"/>
                <a:gridCol w="1371600"/>
                <a:gridCol w="1463040"/>
                <a:gridCol w="1828800"/>
                <a:gridCol w="2011680"/>
                <a:gridCol w="1463040"/>
                <a:gridCol w="1764792"/>
              </a:tblGrid>
              <a:tr h="384048">
                <a:tc>
                  <a:txBody>
                    <a:bodyPr/>
                    <a:lstStyle/>
                    <a:p>
                      <a:pPr algn="l" indent="0" marL="0">
                        <a:buNone/>
                      </a:pPr>
                      <a:r>
                        <a:rPr lang="en-US" sz="1050" b="1" dirty="0">
                          <a:solidFill>
                            <a:srgbClr val="FFFFFF"/>
                          </a:solidFill>
                          <a:latin typeface="Proxima Nova" pitchFamily="34" charset="0"/>
                          <a:ea typeface="Proxima Nova" pitchFamily="34" charset="-122"/>
                          <a:cs typeface="Proxima Nova" pitchFamily="34" charset="-120"/>
                        </a:rPr>
                        <a:t>Month</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Occupancy</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Average rate</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Weeknight occupancy</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Friday–Saturday occupancy</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Nights at 90%+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Group share of rooms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Jan.</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69.1%</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$229</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63.9%</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79.9%</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19.2%</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Feb.</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78.9%</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$250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75.6%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87.3%</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5</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25.0%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Mar.</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81.2%</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$269</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79.4%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86.5%</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22.2%</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Apr.</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80.8%</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$248</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77.8%</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89.0%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5</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18.0%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May</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74.7%</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$233</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70.5%</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83.4%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14.7%</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June</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77.6%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$240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75.7%</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83.1%</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16.0%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July</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83.6%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$230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80.6%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91.0%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10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17.7%</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84048">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Aug.</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76.1%</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$228</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71.9%</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86.6%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15.2%</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Sept.</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78.2%</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$237</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73.9%</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90.0%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15.8%</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STR daily data, Visit Anaheim hotel sets (Jan. 1–Oct. 3, 2026); weeknight and monthly figures are BI calculations.</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70</a:t>
            </a:fld>
            <a:endParaRPr 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How the numbers are calculated: Hotel market</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Each step with its calculation, result and source</a:t>
            </a:r>
            <a:endParaRPr lang="en-US" sz="1200" dirty="0"/>
          </a:p>
        </p:txBody>
      </p:sp>
      <p:graphicFrame>
        <p:nvGraphicFramePr>
          <p:cNvPr id="72"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286000"/>
                <a:gridCol w="5120640"/>
                <a:gridCol w="1280160"/>
                <a:gridCol w="2404872"/>
              </a:tblGrid>
              <a:tr h="384048">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Step</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Calculation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Result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Source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Disneyland submarket occupancy and rate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Reported by source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78.4%; $255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CoStar (12 months to Aug.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Rooms under construction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Reported by source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668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CoStar (Aug.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Sunday–Monday occupancy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(Sunday 70.6% + Monday 70.5%) ÷ 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70.6%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STR (2026); BI calculation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Friday–Saturday occupancy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(Friday 85.7% + Saturday 86.8%) ÷ 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86.2%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STR (2026); BI calculation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CoStar (12 months to Aug. 2026); CoStar (Aug. 2026); STR (2026); BI calculation</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71</a:t>
            </a:fld>
            <a:endParaRPr 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What it means for OC Vibe: Hotel market</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What this insight enhances for OC Vibe, and what OC Vibe needs to act on it</a:t>
            </a:r>
            <a:endParaRPr lang="en-US" sz="1200" dirty="0"/>
          </a:p>
        </p:txBody>
      </p:sp>
      <p:sp>
        <p:nvSpPr>
          <p:cNvPr id="4" name="Shape 2"/>
          <p:cNvSpPr/>
          <p:nvPr/>
        </p:nvSpPr>
        <p:spPr>
          <a:xfrm>
            <a:off x="548640" y="1417320"/>
            <a:ext cx="11094415" cy="914400"/>
          </a:xfrm>
          <a:prstGeom prst="rect">
            <a:avLst/>
          </a:prstGeom>
          <a:solidFill>
            <a:srgbClr val="B4D9E3"/>
          </a:solidFill>
          <a:ln w="12700">
            <a:solidFill>
              <a:srgbClr val="B4D9E3"/>
            </a:solidFill>
            <a:prstDash val="solid"/>
          </a:ln>
        </p:spPr>
      </p:sp>
      <p:sp>
        <p:nvSpPr>
          <p:cNvPr id="5" name="Text 3"/>
          <p:cNvSpPr txBox="1"/>
          <p:nvPr/>
        </p:nvSpPr>
        <p:spPr>
          <a:xfrm>
            <a:off x="685800" y="1463040"/>
            <a:ext cx="1828800" cy="201168"/>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KEY INSIGHT</a:t>
            </a:r>
            <a:endParaRPr lang="en-US" sz="900" dirty="0"/>
          </a:p>
        </p:txBody>
      </p:sp>
      <p:sp>
        <p:nvSpPr>
          <p:cNvPr id="6" name="Text 4"/>
          <p:cNvSpPr txBox="1"/>
          <p:nvPr/>
        </p:nvSpPr>
        <p:spPr>
          <a:xfrm>
            <a:off x="685800" y="1664208"/>
            <a:ext cx="10820095" cy="640080"/>
          </a:xfrm>
          <a:prstGeom prst="rect">
            <a:avLst/>
          </a:prstGeom>
          <a:noFill/>
          <a:ln/>
        </p:spPr>
        <p:txBody>
          <a:bodyPr wrap="square" lIns="0" tIns="0" rIns="0" bIns="0" rtlCol="0" anchor="t"/>
          <a:lstStyle/>
          <a:p>
            <a:pPr indent="0" marL="0">
              <a:buNone/>
            </a:pPr>
            <a:r>
              <a:rPr lang="en-US" sz="1100" dirty="0">
                <a:solidFill>
                  <a:srgbClr val="231F20"/>
                </a:solidFill>
                <a:latin typeface="Proxima Nova" pitchFamily="34" charset="0"/>
                <a:ea typeface="Proxima Nova" pitchFamily="34" charset="-122"/>
                <a:cs typeface="Proxima Nova" pitchFamily="34" charset="-120"/>
              </a:rPr>
              <a:t>Demand is strong and new supply is scarce: Disneyland submarket hotels filled </a:t>
            </a:r>
            <a:pPr indent="0" marL="0">
              <a:buNone/>
            </a:pPr>
            <a:r>
              <a:rPr lang="en-US" sz="1100" b="1" dirty="0">
                <a:solidFill>
                  <a:srgbClr val="125C60"/>
                </a:solidFill>
                <a:latin typeface="Proxima Nova" pitchFamily="34" charset="0"/>
                <a:ea typeface="Proxima Nova" pitchFamily="34" charset="-122"/>
                <a:cs typeface="Proxima Nova" pitchFamily="34" charset="-120"/>
              </a:rPr>
              <a:t>78.4%</a:t>
            </a:r>
            <a:pPr indent="0" marL="0">
              <a:buNone/>
            </a:pPr>
            <a:r>
              <a:rPr lang="en-US" sz="1100" dirty="0">
                <a:solidFill>
                  <a:srgbClr val="231F20"/>
                </a:solidFill>
                <a:latin typeface="Proxima Nova" pitchFamily="34" charset="0"/>
                <a:ea typeface="Proxima Nova" pitchFamily="34" charset="-122"/>
                <a:cs typeface="Proxima Nova" pitchFamily="34" charset="-120"/>
              </a:rPr>
              <a:t> of rooms at </a:t>
            </a:r>
            <a:pPr indent="0" marL="0">
              <a:buNone/>
            </a:pPr>
            <a:r>
              <a:rPr lang="en-US" sz="1100" b="1" dirty="0">
                <a:solidFill>
                  <a:srgbClr val="125C60"/>
                </a:solidFill>
                <a:latin typeface="Proxima Nova" pitchFamily="34" charset="0"/>
                <a:ea typeface="Proxima Nova" pitchFamily="34" charset="-122"/>
                <a:cs typeface="Proxima Nova" pitchFamily="34" charset="-120"/>
              </a:rPr>
              <a:t>$255</a:t>
            </a:r>
            <a:pPr indent="0" marL="0">
              <a:buNone/>
            </a:pPr>
            <a:r>
              <a:rPr lang="en-US" sz="1100" dirty="0">
                <a:solidFill>
                  <a:srgbClr val="231F20"/>
                </a:solidFill>
                <a:latin typeface="Proxima Nova" pitchFamily="34" charset="0"/>
                <a:ea typeface="Proxima Nova" pitchFamily="34" charset="-122"/>
                <a:cs typeface="Proxima Nova" pitchFamily="34" charset="-120"/>
              </a:rPr>
              <a:t> a night, and only </a:t>
            </a:r>
            <a:pPr indent="0" marL="0">
              <a:buNone/>
            </a:pPr>
            <a:r>
              <a:rPr lang="en-US" sz="1100" b="1" dirty="0">
                <a:solidFill>
                  <a:srgbClr val="125C60"/>
                </a:solidFill>
                <a:latin typeface="Proxima Nova" pitchFamily="34" charset="0"/>
                <a:ea typeface="Proxima Nova" pitchFamily="34" charset="-122"/>
                <a:cs typeface="Proxima Nova" pitchFamily="34" charset="-120"/>
              </a:rPr>
              <a:t>668 rooms</a:t>
            </a:r>
            <a:pPr indent="0" marL="0">
              <a:buNone/>
            </a:pPr>
            <a:r>
              <a:rPr lang="en-US" sz="1100" dirty="0">
                <a:solidFill>
                  <a:srgbClr val="231F20"/>
                </a:solidFill>
                <a:latin typeface="Proxima Nova" pitchFamily="34" charset="0"/>
                <a:ea typeface="Proxima Nova" pitchFamily="34" charset="-122"/>
                <a:cs typeface="Proxima Nova" pitchFamily="34" charset="-120"/>
              </a:rPr>
              <a:t> are under construction countywide. Weeknights have the most room: Visit Anaheim hotels ran </a:t>
            </a:r>
            <a:pPr indent="0" marL="0">
              <a:buNone/>
            </a:pPr>
            <a:r>
              <a:rPr lang="en-US" sz="1100" b="1" dirty="0">
                <a:solidFill>
                  <a:srgbClr val="125C60"/>
                </a:solidFill>
                <a:latin typeface="Proxima Nova" pitchFamily="34" charset="0"/>
                <a:ea typeface="Proxima Nova" pitchFamily="34" charset="-122"/>
                <a:cs typeface="Proxima Nova" pitchFamily="34" charset="-120"/>
              </a:rPr>
              <a:t>70.6%</a:t>
            </a:r>
            <a:pPr indent="0" marL="0">
              <a:buNone/>
            </a:pPr>
            <a:r>
              <a:rPr lang="en-US" sz="1100" dirty="0">
                <a:solidFill>
                  <a:srgbClr val="231F20"/>
                </a:solidFill>
                <a:latin typeface="Proxima Nova" pitchFamily="34" charset="0"/>
                <a:ea typeface="Proxima Nova" pitchFamily="34" charset="-122"/>
                <a:cs typeface="Proxima Nova" pitchFamily="34" charset="-120"/>
              </a:rPr>
              <a:t> full on Sunday–Monday nights vs. </a:t>
            </a:r>
            <a:pPr indent="0" marL="0">
              <a:buNone/>
            </a:pPr>
            <a:r>
              <a:rPr lang="en-US" sz="1100" b="1" dirty="0">
                <a:solidFill>
                  <a:srgbClr val="125C60"/>
                </a:solidFill>
                <a:latin typeface="Proxima Nova" pitchFamily="34" charset="0"/>
                <a:ea typeface="Proxima Nova" pitchFamily="34" charset="-122"/>
                <a:cs typeface="Proxima Nova" pitchFamily="34" charset="-120"/>
              </a:rPr>
              <a:t>86.2%</a:t>
            </a:r>
            <a:pPr indent="0" marL="0">
              <a:buNone/>
            </a:pPr>
            <a:r>
              <a:rPr lang="en-US" sz="1100" dirty="0">
                <a:solidFill>
                  <a:srgbClr val="231F20"/>
                </a:solidFill>
                <a:latin typeface="Proxima Nova" pitchFamily="34" charset="0"/>
                <a:ea typeface="Proxima Nova" pitchFamily="34" charset="-122"/>
                <a:cs typeface="Proxima Nova" pitchFamily="34" charset="-120"/>
              </a:rPr>
              <a:t> on Friday–Saturday, a </a:t>
            </a:r>
            <a:pPr indent="0" marL="0">
              <a:buNone/>
            </a:pPr>
            <a:r>
              <a:rPr lang="en-US" sz="1100" b="1" dirty="0">
                <a:solidFill>
                  <a:srgbClr val="125C60"/>
                </a:solidFill>
                <a:latin typeface="Proxima Nova" pitchFamily="34" charset="0"/>
                <a:ea typeface="Proxima Nova" pitchFamily="34" charset="-122"/>
                <a:cs typeface="Proxima Nova" pitchFamily="34" charset="-120"/>
              </a:rPr>
              <a:t>15.7</a:t>
            </a:r>
            <a:pPr indent="0" marL="0">
              <a:buNone/>
            </a:pPr>
            <a:r>
              <a:rPr lang="en-US" sz="1100" dirty="0">
                <a:solidFill>
                  <a:srgbClr val="231F20"/>
                </a:solidFill>
                <a:latin typeface="Proxima Nova" pitchFamily="34" charset="0"/>
                <a:ea typeface="Proxima Nova" pitchFamily="34" charset="-122"/>
                <a:cs typeface="Proxima Nova" pitchFamily="34" charset="-120"/>
              </a:rPr>
              <a:t>-point gap (averages of the two nights each).</a:t>
            </a:r>
            <a:endParaRPr lang="en-US" sz="1100" dirty="0"/>
          </a:p>
        </p:txBody>
      </p:sp>
      <p:sp>
        <p:nvSpPr>
          <p:cNvPr id="7" name="Shape 5"/>
          <p:cNvSpPr/>
          <p:nvPr/>
        </p:nvSpPr>
        <p:spPr>
          <a:xfrm>
            <a:off x="548640" y="2468880"/>
            <a:ext cx="5410048" cy="45720"/>
          </a:xfrm>
          <a:prstGeom prst="rect">
            <a:avLst/>
          </a:prstGeom>
          <a:solidFill>
            <a:srgbClr val="43A3A3"/>
          </a:solidFill>
          <a:ln w="12700">
            <a:solidFill>
              <a:srgbClr val="43A3A3"/>
            </a:solidFill>
            <a:prstDash val="solid"/>
          </a:ln>
        </p:spPr>
      </p:sp>
      <p:sp>
        <p:nvSpPr>
          <p:cNvPr id="8" name="Text 6"/>
          <p:cNvSpPr txBox="1"/>
          <p:nvPr/>
        </p:nvSpPr>
        <p:spPr>
          <a:xfrm>
            <a:off x="548640" y="2560320"/>
            <a:ext cx="5410048" cy="256032"/>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WHAT IT ENHANCES</a:t>
            </a:r>
            <a:endParaRPr lang="en-US" sz="1000" dirty="0"/>
          </a:p>
        </p:txBody>
      </p:sp>
      <p:sp>
        <p:nvSpPr>
          <p:cNvPr id="9" name="Text 7"/>
          <p:cNvSpPr txBox="1"/>
          <p:nvPr/>
        </p:nvSpPr>
        <p:spPr>
          <a:xfrm>
            <a:off x="548640" y="2852928"/>
            <a:ext cx="5410048" cy="3063240"/>
          </a:xfrm>
          <a:prstGeom prst="rect">
            <a:avLst/>
          </a:prstGeom>
          <a:noFill/>
          <a:ln/>
        </p:spPr>
        <p:txBody>
          <a:bodyPr wrap="square" lIns="0" tIns="0" rIns="0" bIns="0" rtlCol="0" anchor="t"/>
          <a:lstStyle/>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Hotels: OC Vibe plans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550 rooms</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in two hotels, while only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668 rooms</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are under construction across Orange County.</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Events: Open weeknights for events: Jan., May, Aug. and Sept. weeknights ran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64%–74%</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full in 2026, while July had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10 nights</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at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90%</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[Calculation: Weeknight occupancy = Sunday–Thursday room nights sold ÷ rooms available, by month (STR daily data); nights at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90%</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counted from daily occupancy]</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Programming: Food and beverage is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29.4%</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of Orange County hotel revenue, and food revenue per room rose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28.9%</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a:t>
            </a:r>
            <a:endParaRPr lang="en-US" sz="800" dirty="0"/>
          </a:p>
        </p:txBody>
      </p:sp>
      <p:sp>
        <p:nvSpPr>
          <p:cNvPr id="10" name="Shape 8"/>
          <p:cNvSpPr/>
          <p:nvPr/>
        </p:nvSpPr>
        <p:spPr>
          <a:xfrm>
            <a:off x="6233008" y="2468880"/>
            <a:ext cx="5410048" cy="45720"/>
          </a:xfrm>
          <a:prstGeom prst="rect">
            <a:avLst/>
          </a:prstGeom>
          <a:solidFill>
            <a:srgbClr val="125C60"/>
          </a:solidFill>
          <a:ln w="12700">
            <a:solidFill>
              <a:srgbClr val="125C60"/>
            </a:solidFill>
            <a:prstDash val="solid"/>
          </a:ln>
        </p:spPr>
      </p:sp>
      <p:sp>
        <p:nvSpPr>
          <p:cNvPr id="11" name="Text 9"/>
          <p:cNvSpPr txBox="1"/>
          <p:nvPr/>
        </p:nvSpPr>
        <p:spPr>
          <a:xfrm>
            <a:off x="6233008" y="2560320"/>
            <a:ext cx="5410048" cy="256032"/>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WHAT OC VIBE NEEDS</a:t>
            </a:r>
            <a:endParaRPr lang="en-US" sz="1000" dirty="0"/>
          </a:p>
        </p:txBody>
      </p:sp>
      <p:sp>
        <p:nvSpPr>
          <p:cNvPr id="12" name="Text 10"/>
          <p:cNvSpPr txBox="1"/>
          <p:nvPr/>
        </p:nvSpPr>
        <p:spPr>
          <a:xfrm>
            <a:off x="6233008" y="2852928"/>
            <a:ext cx="5410048" cy="3063240"/>
          </a:xfrm>
          <a:prstGeom prst="rect">
            <a:avLst/>
          </a:prstGeom>
          <a:noFill/>
          <a:ln/>
        </p:spPr>
        <p:txBody>
          <a:bodyPr wrap="square" lIns="0" tIns="0" rIns="0" bIns="0" rtlCol="0" anchor="t"/>
          <a:lstStyle/>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Hotels: A rate position between the Anaheim submarket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$130</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and the Disneyland submarket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$255</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set by night of week.</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Events: Group blocks timed to convention season: groups took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25.0%</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of rooms in Feb. and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22.2%</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in Mar. 2026. [Calculation: Group share = group room nights ÷ all room nights sold, by month (STR daily data)]</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Measurement: Monthly occupancy and rate from OC Vibe's hotels once open, to compare with STR and CoStar.</a:t>
            </a:r>
            <a:endParaRPr lang="en-US" sz="800" dirty="0"/>
          </a:p>
        </p:txBody>
      </p:sp>
      <p:sp>
        <p:nvSpPr>
          <p:cNvPr id="13"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CoStar reports and export (data through Aug. 2026; pulled Oct. 12, 2026); STR daily data, Visit Anaheim hotel sets (Jan. 1–Oct. 3, 2026); City of Anaheim OCVibe page (2026); OCVIBE fact sheet (Apr. 2024)</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72</a:t>
            </a:fld>
            <a:endParaRPr lang="en-US"/>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One more night per visitor is worth about $794 million in lodging</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One more night · Scenario based on 2025 visitors, spending and length of stay</a:t>
            </a:r>
            <a:endParaRPr lang="en-US" sz="1200" dirty="0"/>
          </a:p>
        </p:txBody>
      </p:sp>
      <p:sp>
        <p:nvSpPr>
          <p:cNvPr id="5" name="Text 2"/>
          <p:cNvSpPr txBox="1"/>
          <p:nvPr/>
        </p:nvSpPr>
        <p:spPr>
          <a:xfrm>
            <a:off x="548640" y="1481328"/>
            <a:ext cx="7086600"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THE LEDE</a:t>
            </a:r>
            <a:endParaRPr lang="en-US" sz="1000" dirty="0"/>
          </a:p>
        </p:txBody>
      </p:sp>
      <p:sp>
        <p:nvSpPr>
          <p:cNvPr id="6" name="Text 3"/>
          <p:cNvSpPr txBox="1"/>
          <p:nvPr/>
        </p:nvSpPr>
        <p:spPr>
          <a:xfrm>
            <a:off x="548640" y="1737360"/>
            <a:ext cx="7086600" cy="1965960"/>
          </a:xfrm>
          <a:prstGeom prst="rect">
            <a:avLst/>
          </a:prstGeom>
          <a:noFill/>
          <a:ln/>
        </p:spPr>
        <p:txBody>
          <a:bodyPr wrap="square" lIns="0" tIns="0" rIns="0" bIns="0" rtlCol="0" anchor="t"/>
          <a:lstStyle/>
          <a:p>
            <a:pPr indent="0" marL="0">
              <a:buNone/>
            </a:pPr>
            <a:r>
              <a:rPr lang="en-US" sz="1350" b="1" dirty="0">
                <a:solidFill>
                  <a:srgbClr val="125C60"/>
                </a:solidFill>
                <a:latin typeface="Proxima Nova" pitchFamily="34" charset="0"/>
                <a:ea typeface="Proxima Nova" pitchFamily="34" charset="-122"/>
                <a:cs typeface="Proxima Nova" pitchFamily="34" charset="-120"/>
              </a:rPr>
              <a:t>ANAHEIM, Calif. (Oct. 13, 2026): </a:t>
            </a:r>
            <a:pPr indent="0" marL="0">
              <a:buNone/>
            </a:pPr>
            <a:r>
              <a:rPr lang="en-US" sz="1350" dirty="0">
                <a:solidFill>
                  <a:srgbClr val="231F20"/>
                </a:solidFill>
                <a:latin typeface="Proxima Nova" pitchFamily="34" charset="0"/>
                <a:ea typeface="Proxima Nova" pitchFamily="34" charset="-122"/>
                <a:cs typeface="Proxima Nova" pitchFamily="34" charset="-120"/>
              </a:rPr>
              <a:t>If every Anaheim visitor stayed one more night, lodging spending would rise about </a:t>
            </a:r>
            <a:pPr indent="0" marL="0">
              <a:buNone/>
            </a:pPr>
            <a:r>
              <a:rPr lang="en-US" sz="1350" b="1" dirty="0">
                <a:solidFill>
                  <a:srgbClr val="125C60"/>
                </a:solidFill>
                <a:latin typeface="Proxima Nova" pitchFamily="34" charset="0"/>
                <a:ea typeface="Proxima Nova" pitchFamily="34" charset="-122"/>
                <a:cs typeface="Proxima Nova" pitchFamily="34" charset="-120"/>
              </a:rPr>
              <a:t>$794M</a:t>
            </a:r>
            <a:pPr indent="0" marL="0">
              <a:buNone/>
            </a:pPr>
            <a:r>
              <a:rPr lang="en-US" sz="1350" dirty="0">
                <a:solidFill>
                  <a:srgbClr val="231F20"/>
                </a:solidFill>
                <a:latin typeface="Proxima Nova" pitchFamily="34" charset="0"/>
                <a:ea typeface="Proxima Nova" pitchFamily="34" charset="-122"/>
                <a:cs typeface="Proxima Nova" pitchFamily="34" charset="-120"/>
              </a:rPr>
              <a:t> (</a:t>
            </a:r>
            <a:pPr indent="0" marL="0">
              <a:buNone/>
            </a:pPr>
            <a:r>
              <a:rPr lang="en-US" sz="1350" b="1" dirty="0">
                <a:solidFill>
                  <a:srgbClr val="125C60"/>
                </a:solidFill>
                <a:latin typeface="Proxima Nova" pitchFamily="34" charset="0"/>
                <a:ea typeface="Proxima Nova" pitchFamily="34" charset="-122"/>
                <a:cs typeface="Proxima Nova" pitchFamily="34" charset="-120"/>
              </a:rPr>
              <a:t>$1.724B</a:t>
            </a:r>
            <a:pPr indent="0" marL="0">
              <a:buNone/>
            </a:pPr>
            <a:r>
              <a:rPr lang="en-US" sz="1350" dirty="0">
                <a:solidFill>
                  <a:srgbClr val="231F20"/>
                </a:solidFill>
                <a:latin typeface="Proxima Nova" pitchFamily="34" charset="0"/>
                <a:ea typeface="Proxima Nova" pitchFamily="34" charset="-122"/>
                <a:cs typeface="Proxima Nova" pitchFamily="34" charset="-120"/>
              </a:rPr>
              <a:t> 2025 lodging spending ÷ </a:t>
            </a:r>
            <a:pPr indent="0" marL="0">
              <a:buNone/>
            </a:pPr>
            <a:r>
              <a:rPr lang="en-US" sz="1350" b="1" dirty="0">
                <a:solidFill>
                  <a:srgbClr val="125C60"/>
                </a:solidFill>
                <a:latin typeface="Proxima Nova" pitchFamily="34" charset="0"/>
                <a:ea typeface="Proxima Nova" pitchFamily="34" charset="-122"/>
                <a:cs typeface="Proxima Nova" pitchFamily="34" charset="-120"/>
              </a:rPr>
              <a:t>2.17</a:t>
            </a:r>
            <a:pPr indent="0" marL="0">
              <a:buNone/>
            </a:pPr>
            <a:r>
              <a:rPr lang="en-US" sz="1350" dirty="0">
                <a:solidFill>
                  <a:srgbClr val="231F20"/>
                </a:solidFill>
                <a:latin typeface="Proxima Nova" pitchFamily="34" charset="0"/>
                <a:ea typeface="Proxima Nova" pitchFamily="34" charset="-122"/>
                <a:cs typeface="Proxima Nova" pitchFamily="34" charset="-120"/>
              </a:rPr>
              <a:t>-day average stay; Visit Anaheim Extra Night study). Each </a:t>
            </a:r>
            <a:pPr indent="0" marL="0">
              <a:buNone/>
            </a:pPr>
            <a:r>
              <a:rPr lang="en-US" sz="1350" b="1" dirty="0">
                <a:solidFill>
                  <a:srgbClr val="125C60"/>
                </a:solidFill>
                <a:latin typeface="Proxima Nova" pitchFamily="34" charset="0"/>
                <a:ea typeface="Proxima Nova" pitchFamily="34" charset="-122"/>
                <a:cs typeface="Proxima Nova" pitchFamily="34" charset="-120"/>
              </a:rPr>
              <a:t>1%</a:t>
            </a:r>
            <a:pPr indent="0" marL="0">
              <a:buNone/>
            </a:pPr>
            <a:r>
              <a:rPr lang="en-US" sz="1350" dirty="0">
                <a:solidFill>
                  <a:srgbClr val="231F20"/>
                </a:solidFill>
                <a:latin typeface="Proxima Nova" pitchFamily="34" charset="0"/>
                <a:ea typeface="Proxima Nova" pitchFamily="34" charset="-122"/>
                <a:cs typeface="Proxima Nova" pitchFamily="34" charset="-120"/>
              </a:rPr>
              <a:t> of Anaheim visitors who stay one more day adds about </a:t>
            </a:r>
            <a:pPr indent="0" marL="0">
              <a:buNone/>
            </a:pPr>
            <a:r>
              <a:rPr lang="en-US" sz="1350" b="1" dirty="0">
                <a:solidFill>
                  <a:srgbClr val="125C60"/>
                </a:solidFill>
                <a:latin typeface="Proxima Nova" pitchFamily="34" charset="0"/>
                <a:ea typeface="Proxima Nova" pitchFamily="34" charset="-122"/>
                <a:cs typeface="Proxima Nova" pitchFamily="34" charset="-120"/>
              </a:rPr>
              <a:t>$31.5M</a:t>
            </a:r>
            <a:pPr indent="0" marL="0">
              <a:buNone/>
            </a:pPr>
            <a:r>
              <a:rPr lang="en-US" sz="1350" dirty="0">
                <a:solidFill>
                  <a:srgbClr val="231F20"/>
                </a:solidFill>
                <a:latin typeface="Proxima Nova" pitchFamily="34" charset="0"/>
                <a:ea typeface="Proxima Nova" pitchFamily="34" charset="-122"/>
                <a:cs typeface="Proxima Nova" pitchFamily="34" charset="-120"/>
              </a:rPr>
              <a:t> in visitor spending (</a:t>
            </a:r>
            <a:pPr indent="0" marL="0">
              <a:buNone/>
            </a:pPr>
            <a:r>
              <a:rPr lang="en-US" sz="1350" b="1" dirty="0">
                <a:solidFill>
                  <a:srgbClr val="125C60"/>
                </a:solidFill>
                <a:latin typeface="Proxima Nova" pitchFamily="34" charset="0"/>
                <a:ea typeface="Proxima Nova" pitchFamily="34" charset="-122"/>
                <a:cs typeface="Proxima Nova" pitchFamily="34" charset="-120"/>
              </a:rPr>
              <a:t>26.5M</a:t>
            </a:r>
            <a:pPr indent="0" marL="0">
              <a:buNone/>
            </a:pPr>
            <a:r>
              <a:rPr lang="en-US" sz="1350" dirty="0">
                <a:solidFill>
                  <a:srgbClr val="231F20"/>
                </a:solidFill>
                <a:latin typeface="Proxima Nova" pitchFamily="34" charset="0"/>
                <a:ea typeface="Proxima Nova" pitchFamily="34" charset="-122"/>
                <a:cs typeface="Proxima Nova" pitchFamily="34" charset="-120"/>
              </a:rPr>
              <a:t> visitors × </a:t>
            </a:r>
            <a:pPr indent="0" marL="0">
              <a:buNone/>
            </a:pPr>
            <a:r>
              <a:rPr lang="en-US" sz="1350" b="1" dirty="0">
                <a:solidFill>
                  <a:srgbClr val="125C60"/>
                </a:solidFill>
                <a:latin typeface="Proxima Nova" pitchFamily="34" charset="0"/>
                <a:ea typeface="Proxima Nova" pitchFamily="34" charset="-122"/>
                <a:cs typeface="Proxima Nova" pitchFamily="34" charset="-120"/>
              </a:rPr>
              <a:t>1%</a:t>
            </a:r>
            <a:pPr indent="0" marL="0">
              <a:buNone/>
            </a:pPr>
            <a:r>
              <a:rPr lang="en-US" sz="1350" dirty="0">
                <a:solidFill>
                  <a:srgbClr val="231F20"/>
                </a:solidFill>
                <a:latin typeface="Proxima Nova" pitchFamily="34" charset="0"/>
                <a:ea typeface="Proxima Nova" pitchFamily="34" charset="-122"/>
                <a:cs typeface="Proxima Nova" pitchFamily="34" charset="-120"/>
              </a:rPr>
              <a:t> × </a:t>
            </a:r>
            <a:pPr indent="0" marL="0">
              <a:buNone/>
            </a:pPr>
            <a:r>
              <a:rPr lang="en-US" sz="1350" b="1" dirty="0">
                <a:solidFill>
                  <a:srgbClr val="125C60"/>
                </a:solidFill>
                <a:latin typeface="Proxima Nova" pitchFamily="34" charset="0"/>
                <a:ea typeface="Proxima Nova" pitchFamily="34" charset="-122"/>
                <a:cs typeface="Proxima Nova" pitchFamily="34" charset="-120"/>
              </a:rPr>
              <a:t>$118.71</a:t>
            </a:r>
            <a:pPr indent="0" marL="0">
              <a:buNone/>
            </a:pPr>
            <a:r>
              <a:rPr lang="en-US" sz="1350" dirty="0">
                <a:solidFill>
                  <a:srgbClr val="231F20"/>
                </a:solidFill>
                <a:latin typeface="Proxima Nova" pitchFamily="34" charset="0"/>
                <a:ea typeface="Proxima Nova" pitchFamily="34" charset="-122"/>
                <a:cs typeface="Proxima Nova" pitchFamily="34" charset="-120"/>
              </a:rPr>
              <a:t> per visitor day).</a:t>
            </a:r>
            <a:endParaRPr lang="en-US" sz="1350" dirty="0"/>
          </a:p>
        </p:txBody>
      </p:sp>
      <p:sp>
        <p:nvSpPr>
          <p:cNvPr id="7" name="Shape 4"/>
          <p:cNvSpPr/>
          <p:nvPr/>
        </p:nvSpPr>
        <p:spPr>
          <a:xfrm>
            <a:off x="548640" y="3822192"/>
            <a:ext cx="7086600" cy="45720"/>
          </a:xfrm>
          <a:prstGeom prst="rect">
            <a:avLst/>
          </a:prstGeom>
          <a:solidFill>
            <a:srgbClr val="125C60"/>
          </a:solidFill>
          <a:ln w="12700">
            <a:solidFill>
              <a:srgbClr val="125C60"/>
            </a:solidFill>
            <a:prstDash val="solid"/>
          </a:ln>
        </p:spPr>
      </p:sp>
      <p:sp>
        <p:nvSpPr>
          <p:cNvPr id="8" name="Text 5"/>
          <p:cNvSpPr txBox="1"/>
          <p:nvPr/>
        </p:nvSpPr>
        <p:spPr>
          <a:xfrm>
            <a:off x="548640" y="3931920"/>
            <a:ext cx="7086600"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WHY IT MATTERS</a:t>
            </a:r>
            <a:endParaRPr lang="en-US" sz="1000" dirty="0"/>
          </a:p>
        </p:txBody>
      </p:sp>
      <p:sp>
        <p:nvSpPr>
          <p:cNvPr id="9" name="Text 6"/>
          <p:cNvSpPr txBox="1"/>
          <p:nvPr/>
        </p:nvSpPr>
        <p:spPr>
          <a:xfrm>
            <a:off x="548640" y="4187952"/>
            <a:ext cx="7086600" cy="1691640"/>
          </a:xfrm>
          <a:prstGeom prst="rect">
            <a:avLst/>
          </a:prstGeom>
          <a:noFill/>
          <a:ln/>
        </p:spPr>
        <p:txBody>
          <a:bodyPr wrap="square" lIns="0" tIns="0" rIns="0" bIns="0" rtlCol="0" anchor="t"/>
          <a:lstStyle/>
          <a:p>
            <a:pPr indent="0" marL="0">
              <a:buNone/>
            </a:pPr>
            <a:r>
              <a:rPr lang="en-US" sz="1250" dirty="0">
                <a:solidFill>
                  <a:srgbClr val="231F20"/>
                </a:solidFill>
                <a:latin typeface="Proxima Nova" pitchFamily="34" charset="0"/>
                <a:ea typeface="Proxima Nova" pitchFamily="34" charset="-122"/>
                <a:cs typeface="Proxima Nova" pitchFamily="34" charset="-120"/>
              </a:rPr>
              <a:t>Longer stays raise spending without adding visitors. The Visit Anaheim Extra Night study values one more night per visitor at about </a:t>
            </a:r>
            <a:pPr indent="0" marL="0">
              <a:buNone/>
            </a:pPr>
            <a:r>
              <a:rPr lang="en-US" sz="1250" b="1" dirty="0">
                <a:solidFill>
                  <a:srgbClr val="125C60"/>
                </a:solidFill>
                <a:latin typeface="Proxima Nova" pitchFamily="34" charset="0"/>
                <a:ea typeface="Proxima Nova" pitchFamily="34" charset="-122"/>
                <a:cs typeface="Proxima Nova" pitchFamily="34" charset="-120"/>
              </a:rPr>
              <a:t>$794 million</a:t>
            </a:r>
            <a:pPr indent="0" marL="0">
              <a:buNone/>
            </a:pPr>
            <a:r>
              <a:rPr lang="en-US" sz="1250" dirty="0">
                <a:solidFill>
                  <a:srgbClr val="231F20"/>
                </a:solidFill>
                <a:latin typeface="Proxima Nova" pitchFamily="34" charset="0"/>
                <a:ea typeface="Proxima Nova" pitchFamily="34" charset="-122"/>
                <a:cs typeface="Proxima Nova" pitchFamily="34" charset="-120"/>
              </a:rPr>
              <a:t> in lodging (</a:t>
            </a:r>
            <a:pPr indent="0" marL="0">
              <a:buNone/>
            </a:pPr>
            <a:r>
              <a:rPr lang="en-US" sz="1250" b="1" dirty="0">
                <a:solidFill>
                  <a:srgbClr val="125C60"/>
                </a:solidFill>
                <a:latin typeface="Proxima Nova" pitchFamily="34" charset="0"/>
                <a:ea typeface="Proxima Nova" pitchFamily="34" charset="-122"/>
                <a:cs typeface="Proxima Nova" pitchFamily="34" charset="-120"/>
              </a:rPr>
              <a:t>$1.724B</a:t>
            </a:r>
            <a:pPr indent="0" marL="0">
              <a:buNone/>
            </a:pPr>
            <a:r>
              <a:rPr lang="en-US" sz="1250" dirty="0">
                <a:solidFill>
                  <a:srgbClr val="231F20"/>
                </a:solidFill>
                <a:latin typeface="Proxima Nova" pitchFamily="34" charset="0"/>
                <a:ea typeface="Proxima Nova" pitchFamily="34" charset="-122"/>
                <a:cs typeface="Proxima Nova" pitchFamily="34" charset="-120"/>
              </a:rPr>
              <a:t> ÷ </a:t>
            </a:r>
            <a:pPr indent="0" marL="0">
              <a:buNone/>
            </a:pPr>
            <a:r>
              <a:rPr lang="en-US" sz="1250" b="1" dirty="0">
                <a:solidFill>
                  <a:srgbClr val="125C60"/>
                </a:solidFill>
                <a:latin typeface="Proxima Nova" pitchFamily="34" charset="0"/>
                <a:ea typeface="Proxima Nova" pitchFamily="34" charset="-122"/>
                <a:cs typeface="Proxima Nova" pitchFamily="34" charset="-120"/>
              </a:rPr>
              <a:t>2.17 days</a:t>
            </a:r>
            <a:pPr indent="0" marL="0">
              <a:buNone/>
            </a:pPr>
            <a:r>
              <a:rPr lang="en-US" sz="1250" dirty="0">
                <a:solidFill>
                  <a:srgbClr val="231F20"/>
                </a:solidFill>
                <a:latin typeface="Proxima Nova" pitchFamily="34" charset="0"/>
                <a:ea typeface="Proxima Nova" pitchFamily="34" charset="-122"/>
                <a:cs typeface="Proxima Nova" pitchFamily="34" charset="-120"/>
              </a:rPr>
              <a:t>), holding spending per day constant.</a:t>
            </a:r>
            <a:endParaRPr lang="en-US" sz="1250" dirty="0"/>
          </a:p>
        </p:txBody>
      </p:sp>
      <p:sp>
        <p:nvSpPr>
          <p:cNvPr id="10" name="Text 7"/>
          <p:cNvSpPr txBox="1"/>
          <p:nvPr/>
        </p:nvSpPr>
        <p:spPr>
          <a:xfrm>
            <a:off x="8001000" y="1481328"/>
            <a:ext cx="3642055"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BY THE NUMBERS</a:t>
            </a:r>
            <a:endParaRPr lang="en-US" sz="1000" dirty="0"/>
          </a:p>
        </p:txBody>
      </p:sp>
      <p:sp>
        <p:nvSpPr>
          <p:cNvPr id="11" name="news-stat-0"/>
          <p:cNvSpPr/>
          <p:nvPr/>
        </p:nvSpPr>
        <p:spPr>
          <a:xfrm>
            <a:off x="8001000" y="1755648"/>
            <a:ext cx="3642055" cy="1280160"/>
          </a:xfrm>
          <a:prstGeom prst="roundRect">
            <a:avLst>
              <a:gd name="adj" fmla="val 4286"/>
            </a:avLst>
          </a:prstGeom>
          <a:solidFill>
            <a:srgbClr val="FFFFFF"/>
          </a:solidFill>
          <a:ln w="12700">
            <a:solidFill>
              <a:srgbClr val="B4D9E3"/>
            </a:solidFill>
            <a:prstDash val="solid"/>
          </a:ln>
        </p:spPr>
      </p:sp>
      <p:sp>
        <p:nvSpPr>
          <p:cNvPr id="12" name="Text 9"/>
          <p:cNvSpPr txBox="1"/>
          <p:nvPr/>
        </p:nvSpPr>
        <p:spPr>
          <a:xfrm>
            <a:off x="8138160" y="18288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ONE MORE NIGHT (HEADLINE)</a:t>
            </a:r>
            <a:endParaRPr lang="en-US" sz="850" dirty="0"/>
          </a:p>
        </p:txBody>
      </p:sp>
      <p:sp>
        <p:nvSpPr>
          <p:cNvPr id="13" name="Text 10"/>
          <p:cNvSpPr txBox="1"/>
          <p:nvPr/>
        </p:nvSpPr>
        <p:spPr>
          <a:xfrm>
            <a:off x="8138160" y="20299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$794M</a:t>
            </a:r>
            <a:endParaRPr lang="en-US" sz="2200" dirty="0"/>
          </a:p>
        </p:txBody>
      </p:sp>
      <p:sp>
        <p:nvSpPr>
          <p:cNvPr id="14" name="Text 11"/>
          <p:cNvSpPr txBox="1"/>
          <p:nvPr/>
        </p:nvSpPr>
        <p:spPr>
          <a:xfrm>
            <a:off x="8138160" y="24505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Added lodging spending</a:t>
            </a:r>
            <a:endParaRPr lang="en-US" sz="1050" dirty="0"/>
          </a:p>
        </p:txBody>
      </p:sp>
      <p:sp>
        <p:nvSpPr>
          <p:cNvPr id="15" name="Text 12"/>
          <p:cNvSpPr txBox="1"/>
          <p:nvPr/>
        </p:nvSpPr>
        <p:spPr>
          <a:xfrm>
            <a:off x="8138160" y="27249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BI calc. Oct. 12, 2026; TE 2025; Azira</a:t>
            </a:r>
            <a:endParaRPr lang="en-US" sz="750" dirty="0"/>
          </a:p>
        </p:txBody>
      </p:sp>
      <p:sp>
        <p:nvSpPr>
          <p:cNvPr id="16" name="news-stat-1"/>
          <p:cNvSpPr/>
          <p:nvPr/>
        </p:nvSpPr>
        <p:spPr>
          <a:xfrm>
            <a:off x="8001000" y="3127248"/>
            <a:ext cx="3642055" cy="1280160"/>
          </a:xfrm>
          <a:prstGeom prst="roundRect">
            <a:avLst>
              <a:gd name="adj" fmla="val 4286"/>
            </a:avLst>
          </a:prstGeom>
          <a:solidFill>
            <a:srgbClr val="FFFFFF"/>
          </a:solidFill>
          <a:ln w="12700">
            <a:solidFill>
              <a:srgbClr val="B4D9E3"/>
            </a:solidFill>
            <a:prstDash val="solid"/>
          </a:ln>
        </p:spPr>
      </p:sp>
      <p:sp>
        <p:nvSpPr>
          <p:cNvPr id="17" name="Text 14"/>
          <p:cNvSpPr txBox="1"/>
          <p:nvPr/>
        </p:nvSpPr>
        <p:spPr>
          <a:xfrm>
            <a:off x="8138160" y="32004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OVERNIGHT VISITORS ONLY</a:t>
            </a:r>
            <a:endParaRPr lang="en-US" sz="850" dirty="0"/>
          </a:p>
        </p:txBody>
      </p:sp>
      <p:sp>
        <p:nvSpPr>
          <p:cNvPr id="18" name="Text 15"/>
          <p:cNvSpPr txBox="1"/>
          <p:nvPr/>
        </p:nvSpPr>
        <p:spPr>
          <a:xfrm>
            <a:off x="8138160" y="34015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$1.02B</a:t>
            </a:r>
            <a:endParaRPr lang="en-US" sz="2200" dirty="0"/>
          </a:p>
        </p:txBody>
      </p:sp>
      <p:sp>
        <p:nvSpPr>
          <p:cNvPr id="19" name="Text 16"/>
          <p:cNvSpPr txBox="1"/>
          <p:nvPr/>
        </p:nvSpPr>
        <p:spPr>
          <a:xfrm>
            <a:off x="8138160" y="38221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Added spending, all categories</a:t>
            </a:r>
            <a:endParaRPr lang="en-US" sz="1050" dirty="0"/>
          </a:p>
        </p:txBody>
      </p:sp>
      <p:sp>
        <p:nvSpPr>
          <p:cNvPr id="20" name="Text 17"/>
          <p:cNvSpPr txBox="1"/>
          <p:nvPr/>
        </p:nvSpPr>
        <p:spPr>
          <a:xfrm>
            <a:off x="8138160" y="40965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BI calculation (Oct. 12, 2026)</a:t>
            </a:r>
            <a:endParaRPr lang="en-US" sz="750" dirty="0"/>
          </a:p>
        </p:txBody>
      </p:sp>
      <p:sp>
        <p:nvSpPr>
          <p:cNvPr id="21" name="news-stat-2"/>
          <p:cNvSpPr/>
          <p:nvPr/>
        </p:nvSpPr>
        <p:spPr>
          <a:xfrm>
            <a:off x="8001000" y="4498848"/>
            <a:ext cx="3642055" cy="1280160"/>
          </a:xfrm>
          <a:prstGeom prst="roundRect">
            <a:avLst>
              <a:gd name="adj" fmla="val 4286"/>
            </a:avLst>
          </a:prstGeom>
          <a:solidFill>
            <a:srgbClr val="FFFFFF"/>
          </a:solidFill>
          <a:ln w="12700">
            <a:solidFill>
              <a:srgbClr val="B4D9E3"/>
            </a:solidFill>
            <a:prstDash val="solid"/>
          </a:ln>
        </p:spPr>
      </p:sp>
      <p:sp>
        <p:nvSpPr>
          <p:cNvPr id="22" name="Text 19"/>
          <p:cNvSpPr txBox="1"/>
          <p:nvPr/>
        </p:nvSpPr>
        <p:spPr>
          <a:xfrm>
            <a:off x="8138160" y="45720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UPPER BOUND</a:t>
            </a:r>
            <a:endParaRPr lang="en-US" sz="850" dirty="0"/>
          </a:p>
        </p:txBody>
      </p:sp>
      <p:sp>
        <p:nvSpPr>
          <p:cNvPr id="23" name="Text 20"/>
          <p:cNvSpPr txBox="1"/>
          <p:nvPr/>
        </p:nvSpPr>
        <p:spPr>
          <a:xfrm>
            <a:off x="8138160" y="47731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$3.15B</a:t>
            </a:r>
            <a:endParaRPr lang="en-US" sz="2200" dirty="0"/>
          </a:p>
        </p:txBody>
      </p:sp>
      <p:sp>
        <p:nvSpPr>
          <p:cNvPr id="24" name="Text 21"/>
          <p:cNvSpPr txBox="1"/>
          <p:nvPr/>
        </p:nvSpPr>
        <p:spPr>
          <a:xfrm>
            <a:off x="8138160" y="51937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All visitors, all categories</a:t>
            </a:r>
            <a:endParaRPr lang="en-US" sz="1050" dirty="0"/>
          </a:p>
        </p:txBody>
      </p:sp>
      <p:sp>
        <p:nvSpPr>
          <p:cNvPr id="25" name="Text 22"/>
          <p:cNvSpPr txBox="1"/>
          <p:nvPr/>
        </p:nvSpPr>
        <p:spPr>
          <a:xfrm>
            <a:off x="8138160" y="54681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BI calculation (Oct. 12, 2026)</a:t>
            </a:r>
            <a:endParaRPr lang="en-US" sz="750" dirty="0"/>
          </a:p>
        </p:txBody>
      </p:sp>
      <p:sp>
        <p:nvSpPr>
          <p:cNvPr id="2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BI, Extra Night study (2025 inputs; recalculated Oct. 12, 2026); Visit Anaheim BI calculation from source data (Oct. 13,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73</a:t>
            </a:fld>
            <a:endParaRPr lang="en-US"/>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The details: One more night</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who, what, when, where, why and how, each with its figure, source and date</a:t>
            </a:r>
            <a:endParaRPr lang="en-US" sz="1200" dirty="0"/>
          </a:p>
        </p:txBody>
      </p:sp>
      <p:sp>
        <p:nvSpPr>
          <p:cNvPr id="4" name="detail-card-0"/>
          <p:cNvSpPr/>
          <p:nvPr/>
        </p:nvSpPr>
        <p:spPr>
          <a:xfrm>
            <a:off x="548640" y="1417320"/>
            <a:ext cx="3588410" cy="2176272"/>
          </a:xfrm>
          <a:prstGeom prst="rect">
            <a:avLst/>
          </a:prstGeom>
          <a:solidFill>
            <a:srgbClr val="FFFFFF"/>
          </a:solidFill>
          <a:ln w="12700">
            <a:solidFill>
              <a:srgbClr val="B4D9E3"/>
            </a:solidFill>
            <a:prstDash val="solid"/>
          </a:ln>
        </p:spPr>
      </p:sp>
      <p:sp>
        <p:nvSpPr>
          <p:cNvPr id="5" name="Shape 3"/>
          <p:cNvSpPr/>
          <p:nvPr/>
        </p:nvSpPr>
        <p:spPr>
          <a:xfrm>
            <a:off x="548640" y="1417320"/>
            <a:ext cx="3588410" cy="64008"/>
          </a:xfrm>
          <a:prstGeom prst="rect">
            <a:avLst/>
          </a:prstGeom>
          <a:solidFill>
            <a:srgbClr val="43A3A3"/>
          </a:solidFill>
          <a:ln w="12700">
            <a:solidFill>
              <a:srgbClr val="43A3A3"/>
            </a:solidFill>
            <a:prstDash val="solid"/>
          </a:ln>
        </p:spPr>
      </p:sp>
      <p:sp>
        <p:nvSpPr>
          <p:cNvPr id="6" name="Text 4"/>
          <p:cNvSpPr txBox="1"/>
          <p:nvPr/>
        </p:nvSpPr>
        <p:spPr>
          <a:xfrm>
            <a:off x="685800"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WHO</a:t>
            </a:r>
            <a:endParaRPr lang="en-US" sz="900" dirty="0"/>
          </a:p>
        </p:txBody>
      </p:sp>
      <p:sp>
        <p:nvSpPr>
          <p:cNvPr id="7" name="Text 5"/>
          <p:cNvSpPr txBox="1"/>
          <p:nvPr/>
        </p:nvSpPr>
        <p:spPr>
          <a:xfrm>
            <a:off x="685800"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26.5M</a:t>
            </a:r>
            <a:endParaRPr lang="en-US" sz="2200" dirty="0"/>
          </a:p>
        </p:txBody>
      </p:sp>
      <p:sp>
        <p:nvSpPr>
          <p:cNvPr id="8" name="Text 6"/>
          <p:cNvSpPr txBox="1"/>
          <p:nvPr/>
        </p:nvSpPr>
        <p:spPr>
          <a:xfrm>
            <a:off x="685800"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Anaheim visitors, 2025</a:t>
            </a:r>
            <a:endParaRPr lang="en-US" sz="1000" dirty="0"/>
          </a:p>
        </p:txBody>
      </p:sp>
      <p:sp>
        <p:nvSpPr>
          <p:cNvPr id="9" name="Text 7"/>
          <p:cNvSpPr txBox="1"/>
          <p:nvPr/>
        </p:nvSpPr>
        <p:spPr>
          <a:xfrm>
            <a:off x="685800"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All </a:t>
            </a:r>
            <a:pPr indent="0" marL="0">
              <a:buNone/>
            </a:pPr>
            <a:r>
              <a:rPr lang="en-US" sz="950" b="1" dirty="0">
                <a:solidFill>
                  <a:srgbClr val="125C60"/>
                </a:solidFill>
                <a:latin typeface="Proxima Nova" pitchFamily="34" charset="0"/>
                <a:ea typeface="Proxima Nova" pitchFamily="34" charset="-122"/>
                <a:cs typeface="Proxima Nova" pitchFamily="34" charset="-120"/>
              </a:rPr>
              <a:t>26.5 million</a:t>
            </a:r>
            <a:pPr indent="0" marL="0">
              <a:buNone/>
            </a:pPr>
            <a:r>
              <a:rPr lang="en-US" sz="950" dirty="0">
                <a:solidFill>
                  <a:srgbClr val="231F20"/>
                </a:solidFill>
                <a:latin typeface="Proxima Nova" pitchFamily="34" charset="0"/>
                <a:ea typeface="Proxima Nova" pitchFamily="34" charset="-122"/>
                <a:cs typeface="Proxima Nova" pitchFamily="34" charset="-120"/>
              </a:rPr>
              <a:t> Anaheim visitors (</a:t>
            </a:r>
            <a:pPr indent="0" marL="0">
              <a:buNone/>
            </a:pPr>
            <a:r>
              <a:rPr lang="en-US" sz="950" b="1" dirty="0">
                <a:solidFill>
                  <a:srgbClr val="125C60"/>
                </a:solidFill>
                <a:latin typeface="Proxima Nova" pitchFamily="34" charset="0"/>
                <a:ea typeface="Proxima Nova" pitchFamily="34" charset="-122"/>
                <a:cs typeface="Proxima Nova" pitchFamily="34" charset="-120"/>
              </a:rPr>
              <a:t>17.9 million</a:t>
            </a:r>
            <a:pPr indent="0" marL="0">
              <a:buNone/>
            </a:pPr>
            <a:r>
              <a:rPr lang="en-US" sz="950" dirty="0">
                <a:solidFill>
                  <a:srgbClr val="231F20"/>
                </a:solidFill>
                <a:latin typeface="Proxima Nova" pitchFamily="34" charset="0"/>
                <a:ea typeface="Proxima Nova" pitchFamily="34" charset="-122"/>
                <a:cs typeface="Proxima Nova" pitchFamily="34" charset="-120"/>
              </a:rPr>
              <a:t> day visitors, </a:t>
            </a:r>
            <a:pPr indent="0" marL="0">
              <a:buNone/>
            </a:pPr>
            <a:r>
              <a:rPr lang="en-US" sz="950" b="1" dirty="0">
                <a:solidFill>
                  <a:srgbClr val="125C60"/>
                </a:solidFill>
                <a:latin typeface="Proxima Nova" pitchFamily="34" charset="0"/>
                <a:ea typeface="Proxima Nova" pitchFamily="34" charset="-122"/>
                <a:cs typeface="Proxima Nova" pitchFamily="34" charset="-120"/>
              </a:rPr>
              <a:t>8.6 million</a:t>
            </a:r>
            <a:pPr indent="0" marL="0">
              <a:buNone/>
            </a:pPr>
            <a:r>
              <a:rPr lang="en-US" sz="950" dirty="0">
                <a:solidFill>
                  <a:srgbClr val="231F20"/>
                </a:solidFill>
                <a:latin typeface="Proxima Nova" pitchFamily="34" charset="0"/>
                <a:ea typeface="Proxima Nova" pitchFamily="34" charset="-122"/>
                <a:cs typeface="Proxima Nova" pitchFamily="34" charset="-120"/>
              </a:rPr>
              <a:t> overnight).</a:t>
            </a:r>
            <a:endParaRPr lang="en-US" sz="950" dirty="0"/>
          </a:p>
        </p:txBody>
      </p:sp>
      <p:sp>
        <p:nvSpPr>
          <p:cNvPr id="10" name="Text 8"/>
          <p:cNvSpPr txBox="1"/>
          <p:nvPr/>
        </p:nvSpPr>
        <p:spPr>
          <a:xfrm>
            <a:off x="685800"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Tourism Economics, Economic Impact of Visitors (calendar 2025; pub. 2026)</a:t>
            </a:r>
            <a:endParaRPr lang="en-US" sz="700" dirty="0"/>
          </a:p>
        </p:txBody>
      </p:sp>
      <p:sp>
        <p:nvSpPr>
          <p:cNvPr id="11" name="detail-card-1"/>
          <p:cNvSpPr/>
          <p:nvPr/>
        </p:nvSpPr>
        <p:spPr>
          <a:xfrm>
            <a:off x="4301642" y="1417320"/>
            <a:ext cx="3588410" cy="2176272"/>
          </a:xfrm>
          <a:prstGeom prst="rect">
            <a:avLst/>
          </a:prstGeom>
          <a:solidFill>
            <a:srgbClr val="FFFFFF"/>
          </a:solidFill>
          <a:ln w="12700">
            <a:solidFill>
              <a:srgbClr val="B4D9E3"/>
            </a:solidFill>
            <a:prstDash val="solid"/>
          </a:ln>
        </p:spPr>
      </p:sp>
      <p:sp>
        <p:nvSpPr>
          <p:cNvPr id="12" name="Shape 10"/>
          <p:cNvSpPr/>
          <p:nvPr/>
        </p:nvSpPr>
        <p:spPr>
          <a:xfrm>
            <a:off x="4301642" y="1417320"/>
            <a:ext cx="3588410" cy="64008"/>
          </a:xfrm>
          <a:prstGeom prst="rect">
            <a:avLst/>
          </a:prstGeom>
          <a:solidFill>
            <a:srgbClr val="43A3A3"/>
          </a:solidFill>
          <a:ln w="12700">
            <a:solidFill>
              <a:srgbClr val="43A3A3"/>
            </a:solidFill>
            <a:prstDash val="solid"/>
          </a:ln>
        </p:spPr>
      </p:sp>
      <p:sp>
        <p:nvSpPr>
          <p:cNvPr id="13" name="Text 11"/>
          <p:cNvSpPr txBox="1"/>
          <p:nvPr/>
        </p:nvSpPr>
        <p:spPr>
          <a:xfrm>
            <a:off x="4438802"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WHAT</a:t>
            </a:r>
            <a:endParaRPr lang="en-US" sz="900" dirty="0"/>
          </a:p>
        </p:txBody>
      </p:sp>
      <p:sp>
        <p:nvSpPr>
          <p:cNvPr id="14" name="Text 12"/>
          <p:cNvSpPr txBox="1"/>
          <p:nvPr/>
        </p:nvSpPr>
        <p:spPr>
          <a:xfrm>
            <a:off x="4438802"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$794M</a:t>
            </a:r>
            <a:endParaRPr lang="en-US" sz="2200" dirty="0"/>
          </a:p>
        </p:txBody>
      </p:sp>
      <p:sp>
        <p:nvSpPr>
          <p:cNvPr id="15" name="Text 13"/>
          <p:cNvSpPr txBox="1"/>
          <p:nvPr/>
        </p:nvSpPr>
        <p:spPr>
          <a:xfrm>
            <a:off x="4438802"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one more night in lodging: $1.724B ÷ 2.17 days</a:t>
            </a:r>
            <a:endParaRPr lang="en-US" sz="1000" dirty="0"/>
          </a:p>
        </p:txBody>
      </p:sp>
      <p:sp>
        <p:nvSpPr>
          <p:cNvPr id="16" name="Text 14"/>
          <p:cNvSpPr txBox="1"/>
          <p:nvPr/>
        </p:nvSpPr>
        <p:spPr>
          <a:xfrm>
            <a:off x="4438802"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One more night is worth about </a:t>
            </a:r>
            <a:pPr indent="0" marL="0">
              <a:buNone/>
            </a:pPr>
            <a:r>
              <a:rPr lang="en-US" sz="950" b="1" dirty="0">
                <a:solidFill>
                  <a:srgbClr val="125C60"/>
                </a:solidFill>
                <a:latin typeface="Proxima Nova" pitchFamily="34" charset="0"/>
                <a:ea typeface="Proxima Nova" pitchFamily="34" charset="-122"/>
                <a:cs typeface="Proxima Nova" pitchFamily="34" charset="-120"/>
              </a:rPr>
              <a:t>$794M</a:t>
            </a:r>
            <a:pPr indent="0" marL="0">
              <a:buNone/>
            </a:pPr>
            <a:r>
              <a:rPr lang="en-US" sz="950" dirty="0">
                <a:solidFill>
                  <a:srgbClr val="231F20"/>
                </a:solidFill>
                <a:latin typeface="Proxima Nova" pitchFamily="34" charset="0"/>
                <a:ea typeface="Proxima Nova" pitchFamily="34" charset="-122"/>
                <a:cs typeface="Proxima Nova" pitchFamily="34" charset="-120"/>
              </a:rPr>
              <a:t> in lodging citywide; each </a:t>
            </a:r>
            <a:pPr indent="0" marL="0">
              <a:buNone/>
            </a:pPr>
            <a:r>
              <a:rPr lang="en-US" sz="950" b="1" dirty="0">
                <a:solidFill>
                  <a:srgbClr val="125C60"/>
                </a:solidFill>
                <a:latin typeface="Proxima Nova" pitchFamily="34" charset="0"/>
                <a:ea typeface="Proxima Nova" pitchFamily="34" charset="-122"/>
                <a:cs typeface="Proxima Nova" pitchFamily="34" charset="-120"/>
              </a:rPr>
              <a:t>1%</a:t>
            </a:r>
            <a:pPr indent="0" marL="0">
              <a:buNone/>
            </a:pPr>
            <a:r>
              <a:rPr lang="en-US" sz="950" dirty="0">
                <a:solidFill>
                  <a:srgbClr val="231F20"/>
                </a:solidFill>
                <a:latin typeface="Proxima Nova" pitchFamily="34" charset="0"/>
                <a:ea typeface="Proxima Nova" pitchFamily="34" charset="-122"/>
                <a:cs typeface="Proxima Nova" pitchFamily="34" charset="-120"/>
              </a:rPr>
              <a:t> of visitors adding a day is worth </a:t>
            </a:r>
            <a:pPr indent="0" marL="0">
              <a:buNone/>
            </a:pPr>
            <a:r>
              <a:rPr lang="en-US" sz="950" b="1" dirty="0">
                <a:solidFill>
                  <a:srgbClr val="125C60"/>
                </a:solidFill>
                <a:latin typeface="Proxima Nova" pitchFamily="34" charset="0"/>
                <a:ea typeface="Proxima Nova" pitchFamily="34" charset="-122"/>
                <a:cs typeface="Proxima Nova" pitchFamily="34" charset="-120"/>
              </a:rPr>
              <a:t>$31.5M</a:t>
            </a:r>
            <a:pPr indent="0" marL="0">
              <a:buNone/>
            </a:pPr>
            <a:r>
              <a:rPr lang="en-US" sz="950" dirty="0">
                <a:solidFill>
                  <a:srgbClr val="231F20"/>
                </a:solidFill>
                <a:latin typeface="Proxima Nova" pitchFamily="34" charset="0"/>
                <a:ea typeface="Proxima Nova" pitchFamily="34" charset="-122"/>
                <a:cs typeface="Proxima Nova" pitchFamily="34" charset="-120"/>
              </a:rPr>
              <a:t>.</a:t>
            </a:r>
            <a:endParaRPr lang="en-US" sz="950" dirty="0"/>
          </a:p>
        </p:txBody>
      </p:sp>
      <p:sp>
        <p:nvSpPr>
          <p:cNvPr id="17" name="Text 15"/>
          <p:cNvSpPr txBox="1"/>
          <p:nvPr/>
        </p:nvSpPr>
        <p:spPr>
          <a:xfrm>
            <a:off x="4438802"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Visit Anaheim BI, Extra Night study (2025 inputs; recalculated Oct. 12, 2026)</a:t>
            </a:r>
            <a:endParaRPr lang="en-US" sz="700" dirty="0"/>
          </a:p>
        </p:txBody>
      </p:sp>
      <p:sp>
        <p:nvSpPr>
          <p:cNvPr id="18" name="detail-card-2"/>
          <p:cNvSpPr/>
          <p:nvPr/>
        </p:nvSpPr>
        <p:spPr>
          <a:xfrm>
            <a:off x="8054645" y="1417320"/>
            <a:ext cx="3588410" cy="2176272"/>
          </a:xfrm>
          <a:prstGeom prst="rect">
            <a:avLst/>
          </a:prstGeom>
          <a:solidFill>
            <a:srgbClr val="FFFFFF"/>
          </a:solidFill>
          <a:ln w="12700">
            <a:solidFill>
              <a:srgbClr val="B4D9E3"/>
            </a:solidFill>
            <a:prstDash val="solid"/>
          </a:ln>
        </p:spPr>
      </p:sp>
      <p:sp>
        <p:nvSpPr>
          <p:cNvPr id="19" name="Shape 17"/>
          <p:cNvSpPr/>
          <p:nvPr/>
        </p:nvSpPr>
        <p:spPr>
          <a:xfrm>
            <a:off x="8054645" y="1417320"/>
            <a:ext cx="3588410" cy="64008"/>
          </a:xfrm>
          <a:prstGeom prst="rect">
            <a:avLst/>
          </a:prstGeom>
          <a:solidFill>
            <a:srgbClr val="43A3A3"/>
          </a:solidFill>
          <a:ln w="12700">
            <a:solidFill>
              <a:srgbClr val="43A3A3"/>
            </a:solidFill>
            <a:prstDash val="solid"/>
          </a:ln>
        </p:spPr>
      </p:sp>
      <p:sp>
        <p:nvSpPr>
          <p:cNvPr id="20" name="Text 18"/>
          <p:cNvSpPr txBox="1"/>
          <p:nvPr/>
        </p:nvSpPr>
        <p:spPr>
          <a:xfrm>
            <a:off x="8191805"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WHEN</a:t>
            </a:r>
            <a:endParaRPr lang="en-US" sz="900" dirty="0"/>
          </a:p>
        </p:txBody>
      </p:sp>
      <p:sp>
        <p:nvSpPr>
          <p:cNvPr id="21" name="Text 19"/>
          <p:cNvSpPr txBox="1"/>
          <p:nvPr/>
        </p:nvSpPr>
        <p:spPr>
          <a:xfrm>
            <a:off x="8191805"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2025</a:t>
            </a:r>
            <a:endParaRPr lang="en-US" sz="2200" dirty="0"/>
          </a:p>
        </p:txBody>
      </p:sp>
      <p:sp>
        <p:nvSpPr>
          <p:cNvPr id="22" name="Text 20"/>
          <p:cNvSpPr txBox="1"/>
          <p:nvPr/>
        </p:nvSpPr>
        <p:spPr>
          <a:xfrm>
            <a:off x="8191805"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visitors, spending and length of stay</a:t>
            </a:r>
            <a:endParaRPr lang="en-US" sz="1000" dirty="0"/>
          </a:p>
        </p:txBody>
      </p:sp>
      <p:sp>
        <p:nvSpPr>
          <p:cNvPr id="23" name="Text 21"/>
          <p:cNvSpPr txBox="1"/>
          <p:nvPr/>
        </p:nvSpPr>
        <p:spPr>
          <a:xfrm>
            <a:off x="8191805"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2025 visitors, spending and length of stay.</a:t>
            </a:r>
            <a:endParaRPr lang="en-US" sz="950" dirty="0"/>
          </a:p>
        </p:txBody>
      </p:sp>
      <p:sp>
        <p:nvSpPr>
          <p:cNvPr id="24" name="Text 22"/>
          <p:cNvSpPr txBox="1"/>
          <p:nvPr/>
        </p:nvSpPr>
        <p:spPr>
          <a:xfrm>
            <a:off x="8191805"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Visit Anaheim BI, Extra Night study (2025 inputs; recalculated Oct. 12, 2026)</a:t>
            </a:r>
            <a:endParaRPr lang="en-US" sz="700" dirty="0"/>
          </a:p>
        </p:txBody>
      </p:sp>
      <p:sp>
        <p:nvSpPr>
          <p:cNvPr id="25" name="detail-card-3"/>
          <p:cNvSpPr/>
          <p:nvPr/>
        </p:nvSpPr>
        <p:spPr>
          <a:xfrm>
            <a:off x="548640" y="3685032"/>
            <a:ext cx="3588410" cy="2176272"/>
          </a:xfrm>
          <a:prstGeom prst="rect">
            <a:avLst/>
          </a:prstGeom>
          <a:solidFill>
            <a:srgbClr val="FFFFFF"/>
          </a:solidFill>
          <a:ln w="12700">
            <a:solidFill>
              <a:srgbClr val="B4D9E3"/>
            </a:solidFill>
            <a:prstDash val="solid"/>
          </a:ln>
        </p:spPr>
      </p:sp>
      <p:sp>
        <p:nvSpPr>
          <p:cNvPr id="26" name="Shape 24"/>
          <p:cNvSpPr/>
          <p:nvPr/>
        </p:nvSpPr>
        <p:spPr>
          <a:xfrm>
            <a:off x="548640" y="3685032"/>
            <a:ext cx="3588410" cy="64008"/>
          </a:xfrm>
          <a:prstGeom prst="rect">
            <a:avLst/>
          </a:prstGeom>
          <a:solidFill>
            <a:srgbClr val="43A3A3"/>
          </a:solidFill>
          <a:ln w="12700">
            <a:solidFill>
              <a:srgbClr val="43A3A3"/>
            </a:solidFill>
            <a:prstDash val="solid"/>
          </a:ln>
        </p:spPr>
      </p:sp>
      <p:sp>
        <p:nvSpPr>
          <p:cNvPr id="27" name="Text 25"/>
          <p:cNvSpPr txBox="1"/>
          <p:nvPr/>
        </p:nvSpPr>
        <p:spPr>
          <a:xfrm>
            <a:off x="685800"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WHERE</a:t>
            </a:r>
            <a:endParaRPr lang="en-US" sz="900" dirty="0"/>
          </a:p>
        </p:txBody>
      </p:sp>
      <p:sp>
        <p:nvSpPr>
          <p:cNvPr id="28" name="Text 26"/>
          <p:cNvSpPr txBox="1"/>
          <p:nvPr/>
        </p:nvSpPr>
        <p:spPr>
          <a:xfrm>
            <a:off x="685800"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Anaheim</a:t>
            </a:r>
            <a:endParaRPr lang="en-US" sz="2200" dirty="0"/>
          </a:p>
        </p:txBody>
      </p:sp>
      <p:sp>
        <p:nvSpPr>
          <p:cNvPr id="29" name="Text 27"/>
          <p:cNvSpPr txBox="1"/>
          <p:nvPr/>
        </p:nvSpPr>
        <p:spPr>
          <a:xfrm>
            <a:off x="685800"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hotels and businesses citywide</a:t>
            </a:r>
            <a:endParaRPr lang="en-US" sz="1000" dirty="0"/>
          </a:p>
        </p:txBody>
      </p:sp>
      <p:sp>
        <p:nvSpPr>
          <p:cNvPr id="30" name="Text 28"/>
          <p:cNvSpPr txBox="1"/>
          <p:nvPr/>
        </p:nvSpPr>
        <p:spPr>
          <a:xfrm>
            <a:off x="685800"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City of Anaheim hotels and businesses.</a:t>
            </a:r>
            <a:endParaRPr lang="en-US" sz="950" dirty="0"/>
          </a:p>
        </p:txBody>
      </p:sp>
      <p:sp>
        <p:nvSpPr>
          <p:cNvPr id="31" name="Text 29"/>
          <p:cNvSpPr txBox="1"/>
          <p:nvPr/>
        </p:nvSpPr>
        <p:spPr>
          <a:xfrm>
            <a:off x="685800"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Visit Anaheim BI, Extra Night study (2025 inputs; recalculated Oct. 12, 2026)</a:t>
            </a:r>
            <a:endParaRPr lang="en-US" sz="700" dirty="0"/>
          </a:p>
        </p:txBody>
      </p:sp>
      <p:sp>
        <p:nvSpPr>
          <p:cNvPr id="32" name="detail-card-4"/>
          <p:cNvSpPr/>
          <p:nvPr/>
        </p:nvSpPr>
        <p:spPr>
          <a:xfrm>
            <a:off x="4301642" y="3685032"/>
            <a:ext cx="3588410" cy="2176272"/>
          </a:xfrm>
          <a:prstGeom prst="rect">
            <a:avLst/>
          </a:prstGeom>
          <a:solidFill>
            <a:srgbClr val="FFFFFF"/>
          </a:solidFill>
          <a:ln w="12700">
            <a:solidFill>
              <a:srgbClr val="B4D9E3"/>
            </a:solidFill>
            <a:prstDash val="solid"/>
          </a:ln>
        </p:spPr>
      </p:sp>
      <p:sp>
        <p:nvSpPr>
          <p:cNvPr id="33" name="Shape 31"/>
          <p:cNvSpPr/>
          <p:nvPr/>
        </p:nvSpPr>
        <p:spPr>
          <a:xfrm>
            <a:off x="4301642" y="3685032"/>
            <a:ext cx="3588410" cy="64008"/>
          </a:xfrm>
          <a:prstGeom prst="rect">
            <a:avLst/>
          </a:prstGeom>
          <a:solidFill>
            <a:srgbClr val="43A3A3"/>
          </a:solidFill>
          <a:ln w="12700">
            <a:solidFill>
              <a:srgbClr val="43A3A3"/>
            </a:solidFill>
            <a:prstDash val="solid"/>
          </a:ln>
        </p:spPr>
      </p:sp>
      <p:sp>
        <p:nvSpPr>
          <p:cNvPr id="34" name="Text 32"/>
          <p:cNvSpPr txBox="1"/>
          <p:nvPr/>
        </p:nvSpPr>
        <p:spPr>
          <a:xfrm>
            <a:off x="4438802"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WHY</a:t>
            </a:r>
            <a:endParaRPr lang="en-US" sz="900" dirty="0"/>
          </a:p>
        </p:txBody>
      </p:sp>
      <p:sp>
        <p:nvSpPr>
          <p:cNvPr id="35" name="Text 33"/>
          <p:cNvSpPr txBox="1"/>
          <p:nvPr/>
        </p:nvSpPr>
        <p:spPr>
          <a:xfrm>
            <a:off x="4438802"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$31.5M</a:t>
            </a:r>
            <a:endParaRPr lang="en-US" sz="2200" dirty="0"/>
          </a:p>
        </p:txBody>
      </p:sp>
      <p:sp>
        <p:nvSpPr>
          <p:cNvPr id="36" name="Text 34"/>
          <p:cNvSpPr txBox="1"/>
          <p:nvPr/>
        </p:nvSpPr>
        <p:spPr>
          <a:xfrm>
            <a:off x="4438802"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each 1% adding a day: 26.5M × 1% × $118.71</a:t>
            </a:r>
            <a:endParaRPr lang="en-US" sz="1000" dirty="0"/>
          </a:p>
        </p:txBody>
      </p:sp>
      <p:sp>
        <p:nvSpPr>
          <p:cNvPr id="37" name="Text 35"/>
          <p:cNvSpPr txBox="1"/>
          <p:nvPr/>
        </p:nvSpPr>
        <p:spPr>
          <a:xfrm>
            <a:off x="4438802"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Longer stays are the fastest way to grow spending without more visitors; OC Vibe's evening venues and hotels are built for this.</a:t>
            </a:r>
            <a:endParaRPr lang="en-US" sz="950" dirty="0"/>
          </a:p>
        </p:txBody>
      </p:sp>
      <p:sp>
        <p:nvSpPr>
          <p:cNvPr id="38" name="Text 36"/>
          <p:cNvSpPr txBox="1"/>
          <p:nvPr/>
        </p:nvSpPr>
        <p:spPr>
          <a:xfrm>
            <a:off x="4438802"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Visit Anaheim BI, Extra Night study (2025 inputs; recalculated Oct. 12, 2026)</a:t>
            </a:r>
            <a:endParaRPr lang="en-US" sz="700" dirty="0"/>
          </a:p>
        </p:txBody>
      </p:sp>
      <p:sp>
        <p:nvSpPr>
          <p:cNvPr id="39" name="detail-card-5"/>
          <p:cNvSpPr/>
          <p:nvPr/>
        </p:nvSpPr>
        <p:spPr>
          <a:xfrm>
            <a:off x="8054645" y="3685032"/>
            <a:ext cx="3588410" cy="2176272"/>
          </a:xfrm>
          <a:prstGeom prst="rect">
            <a:avLst/>
          </a:prstGeom>
          <a:solidFill>
            <a:srgbClr val="FFFFFF"/>
          </a:solidFill>
          <a:ln w="12700">
            <a:solidFill>
              <a:srgbClr val="B4D9E3"/>
            </a:solidFill>
            <a:prstDash val="solid"/>
          </a:ln>
        </p:spPr>
      </p:sp>
      <p:sp>
        <p:nvSpPr>
          <p:cNvPr id="40" name="Shape 38"/>
          <p:cNvSpPr/>
          <p:nvPr/>
        </p:nvSpPr>
        <p:spPr>
          <a:xfrm>
            <a:off x="8054645" y="3685032"/>
            <a:ext cx="3588410" cy="64008"/>
          </a:xfrm>
          <a:prstGeom prst="rect">
            <a:avLst/>
          </a:prstGeom>
          <a:solidFill>
            <a:srgbClr val="43A3A3"/>
          </a:solidFill>
          <a:ln w="12700">
            <a:solidFill>
              <a:srgbClr val="43A3A3"/>
            </a:solidFill>
            <a:prstDash val="solid"/>
          </a:ln>
        </p:spPr>
      </p:sp>
      <p:sp>
        <p:nvSpPr>
          <p:cNvPr id="41" name="Text 39"/>
          <p:cNvSpPr txBox="1"/>
          <p:nvPr/>
        </p:nvSpPr>
        <p:spPr>
          <a:xfrm>
            <a:off x="8191805"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HOW</a:t>
            </a:r>
            <a:endParaRPr lang="en-US" sz="900" dirty="0"/>
          </a:p>
        </p:txBody>
      </p:sp>
      <p:sp>
        <p:nvSpPr>
          <p:cNvPr id="42" name="Text 40"/>
          <p:cNvSpPr txBox="1"/>
          <p:nvPr/>
        </p:nvSpPr>
        <p:spPr>
          <a:xfrm>
            <a:off x="8191805"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2.17 days</a:t>
            </a:r>
            <a:endParaRPr lang="en-US" sz="2200" dirty="0"/>
          </a:p>
        </p:txBody>
      </p:sp>
      <p:sp>
        <p:nvSpPr>
          <p:cNvPr id="43" name="Text 41"/>
          <p:cNvSpPr txBox="1"/>
          <p:nvPr/>
        </p:nvSpPr>
        <p:spPr>
          <a:xfrm>
            <a:off x="8191805"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weighted average stay, 2025</a:t>
            </a:r>
            <a:endParaRPr lang="en-US" sz="1000" dirty="0"/>
          </a:p>
        </p:txBody>
      </p:sp>
      <p:sp>
        <p:nvSpPr>
          <p:cNvPr id="44" name="Text 42"/>
          <p:cNvSpPr txBox="1"/>
          <p:nvPr/>
        </p:nvSpPr>
        <p:spPr>
          <a:xfrm>
            <a:off x="8191805"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2025 lodging spending (</a:t>
            </a:r>
            <a:pPr indent="0" marL="0">
              <a:buNone/>
            </a:pPr>
            <a:r>
              <a:rPr lang="en-US" sz="950" b="1" dirty="0">
                <a:solidFill>
                  <a:srgbClr val="125C60"/>
                </a:solidFill>
                <a:latin typeface="Proxima Nova" pitchFamily="34" charset="0"/>
                <a:ea typeface="Proxima Nova" pitchFamily="34" charset="-122"/>
                <a:cs typeface="Proxima Nova" pitchFamily="34" charset="-120"/>
              </a:rPr>
              <a:t>$1.724B</a:t>
            </a:r>
            <a:pPr indent="0" marL="0">
              <a:buNone/>
            </a:pPr>
            <a:r>
              <a:rPr lang="en-US" sz="950" dirty="0">
                <a:solidFill>
                  <a:srgbClr val="231F20"/>
                </a:solidFill>
                <a:latin typeface="Proxima Nova" pitchFamily="34" charset="0"/>
                <a:ea typeface="Proxima Nova" pitchFamily="34" charset="-122"/>
                <a:cs typeface="Proxima Nova" pitchFamily="34" charset="-120"/>
              </a:rPr>
              <a:t>) ÷ weighted stay (</a:t>
            </a:r>
            <a:pPr indent="0" marL="0">
              <a:buNone/>
            </a:pPr>
            <a:r>
              <a:rPr lang="en-US" sz="950" b="1" dirty="0">
                <a:solidFill>
                  <a:srgbClr val="125C60"/>
                </a:solidFill>
                <a:latin typeface="Proxima Nova" pitchFamily="34" charset="0"/>
                <a:ea typeface="Proxima Nova" pitchFamily="34" charset="-122"/>
                <a:cs typeface="Proxima Nova" pitchFamily="34" charset="-120"/>
              </a:rPr>
              <a:t>2.17 days</a:t>
            </a:r>
            <a:pPr indent="0" marL="0">
              <a:buNone/>
            </a:pPr>
            <a:r>
              <a:rPr lang="en-US" sz="950" dirty="0">
                <a:solidFill>
                  <a:srgbClr val="231F20"/>
                </a:solidFill>
                <a:latin typeface="Proxima Nova" pitchFamily="34" charset="0"/>
                <a:ea typeface="Proxima Nova" pitchFamily="34" charset="-122"/>
                <a:cs typeface="Proxima Nova" pitchFamily="34" charset="-120"/>
              </a:rPr>
              <a:t>); scenarios hold spending per day constant.</a:t>
            </a:r>
            <a:endParaRPr lang="en-US" sz="950" dirty="0"/>
          </a:p>
        </p:txBody>
      </p:sp>
      <p:sp>
        <p:nvSpPr>
          <p:cNvPr id="45" name="Text 43"/>
          <p:cNvSpPr txBox="1"/>
          <p:nvPr/>
        </p:nvSpPr>
        <p:spPr>
          <a:xfrm>
            <a:off x="8191805"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Visit Anaheim BI, Extra Night study (2025 inputs; recalculated Oct. 12, 2026)</a:t>
            </a:r>
            <a:endParaRPr lang="en-US" sz="700" dirty="0"/>
          </a:p>
        </p:txBody>
      </p:sp>
      <p:sp>
        <p:nvSpPr>
          <p:cNvPr id="4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BI, Extra Night study (2025 inputs; recalculated Oct. 12, 2026); Tourism Economics, Economic Impact 2025 (pub. Apr.–May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74</a:t>
            </a:fld>
            <a:endParaRPr lang="en-US"/>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At a glance: One more night</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data infographic · every figure from this section, with its source and date</a:t>
            </a:r>
            <a:endParaRPr lang="en-US" sz="1200" dirty="0"/>
          </a:p>
        </p:txBody>
      </p:sp>
      <p:sp>
        <p:nvSpPr>
          <p:cNvPr id="4" name="Text 2"/>
          <p:cNvSpPr txBox="1"/>
          <p:nvPr/>
        </p:nvSpPr>
        <p:spPr>
          <a:xfrm>
            <a:off x="548640" y="1417320"/>
            <a:ext cx="11094415" cy="329184"/>
          </a:xfrm>
          <a:prstGeom prst="rect">
            <a:avLst/>
          </a:prstGeom>
          <a:noFill/>
          <a:ln/>
        </p:spPr>
        <p:txBody>
          <a:bodyPr wrap="square" lIns="0" tIns="0" rIns="0" bIns="0" rtlCol="0" anchor="ctr">
            <a:normAutofit/>
          </a:bodyPr>
          <a:lstStyle/>
          <a:p>
            <a:pPr indent="0" marL="0">
              <a:buNone/>
            </a:pPr>
            <a:r>
              <a:rPr lang="en-US" sz="1500" b="1" i="1" dirty="0">
                <a:solidFill>
                  <a:srgbClr val="125C60"/>
                </a:solidFill>
                <a:latin typeface="Proxima Nova" pitchFamily="34" charset="0"/>
                <a:ea typeface="Proxima Nova" pitchFamily="34" charset="-122"/>
                <a:cs typeface="Proxima Nova" pitchFamily="34" charset="-120"/>
              </a:rPr>
              <a:t>Most Anaheim visitors come for the day</a:t>
            </a:r>
            <a:endParaRPr lang="en-US" sz="1500" dirty="0"/>
          </a:p>
        </p:txBody>
      </p:sp>
      <p:sp>
        <p:nvSpPr>
          <p:cNvPr id="5" name="Text 3"/>
          <p:cNvSpPr txBox="1"/>
          <p:nvPr/>
        </p:nvSpPr>
        <p:spPr>
          <a:xfrm>
            <a:off x="548640" y="1746504"/>
            <a:ext cx="11094415" cy="237744"/>
          </a:xfrm>
          <a:prstGeom prst="rect">
            <a:avLst/>
          </a:prstGeom>
          <a:noFill/>
          <a:ln/>
        </p:spPr>
        <p:txBody>
          <a:bodyPr wrap="square" lIns="0" tIns="0" rIns="0" bIns="0" rtlCol="0" anchor="ctr">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Day and overnight visitors, calendar 2025</a:t>
            </a:r>
            <a:endParaRPr lang="en-US" sz="950" dirty="0"/>
          </a:p>
        </p:txBody>
      </p:sp>
      <p:sp>
        <p:nvSpPr>
          <p:cNvPr id="6" name="Shape 4"/>
          <p:cNvSpPr/>
          <p:nvPr/>
        </p:nvSpPr>
        <p:spPr>
          <a:xfrm>
            <a:off x="548640" y="2167128"/>
            <a:ext cx="11094415" cy="731520"/>
          </a:xfrm>
          <a:prstGeom prst="rect">
            <a:avLst/>
          </a:prstGeom>
          <a:solidFill>
            <a:srgbClr val="B4D9E3"/>
          </a:solidFill>
          <a:ln w="12700">
            <a:solidFill>
              <a:srgbClr val="B4D9E3"/>
            </a:solidFill>
            <a:prstDash val="solid"/>
          </a:ln>
        </p:spPr>
      </p:sp>
      <p:sp>
        <p:nvSpPr>
          <p:cNvPr id="7" name="Shape 5"/>
          <p:cNvSpPr/>
          <p:nvPr/>
        </p:nvSpPr>
        <p:spPr>
          <a:xfrm>
            <a:off x="548640" y="2167128"/>
            <a:ext cx="3605685" cy="731520"/>
          </a:xfrm>
          <a:prstGeom prst="rect">
            <a:avLst/>
          </a:prstGeom>
          <a:solidFill>
            <a:srgbClr val="125C60"/>
          </a:solidFill>
          <a:ln w="12700">
            <a:solidFill>
              <a:srgbClr val="125C60"/>
            </a:solidFill>
            <a:prstDash val="solid"/>
          </a:ln>
        </p:spPr>
      </p:sp>
      <p:sp>
        <p:nvSpPr>
          <p:cNvPr id="8" name="Text 6"/>
          <p:cNvSpPr txBox="1"/>
          <p:nvPr/>
        </p:nvSpPr>
        <p:spPr>
          <a:xfrm>
            <a:off x="548640" y="3035808"/>
            <a:ext cx="5547208" cy="457200"/>
          </a:xfrm>
          <a:prstGeom prst="rect">
            <a:avLst/>
          </a:prstGeom>
          <a:noFill/>
          <a:ln/>
        </p:spPr>
        <p:txBody>
          <a:bodyPr wrap="square" lIns="0" tIns="0" rIns="0" bIns="0" rtlCol="0" anchor="ctr"/>
          <a:lstStyle/>
          <a:p>
            <a:pPr indent="0" marL="0">
              <a:buNone/>
            </a:pPr>
            <a:r>
              <a:rPr lang="en-US" sz="1800" b="1" i="1" dirty="0">
                <a:solidFill>
                  <a:srgbClr val="125C60"/>
                </a:solidFill>
                <a:latin typeface="Proxima Nova" pitchFamily="34" charset="0"/>
                <a:ea typeface="Proxima Nova" pitchFamily="34" charset="-122"/>
                <a:cs typeface="Proxima Nova" pitchFamily="34" charset="-120"/>
              </a:rPr>
              <a:t>8.6M </a:t>
            </a:r>
            <a:pPr indent="0" marL="0">
              <a:buNone/>
            </a:pPr>
            <a:r>
              <a:rPr lang="en-US" sz="1100" dirty="0">
                <a:solidFill>
                  <a:srgbClr val="231F20"/>
                </a:solidFill>
                <a:latin typeface="Proxima Nova" pitchFamily="34" charset="0"/>
                <a:ea typeface="Proxima Nova" pitchFamily="34" charset="-122"/>
                <a:cs typeface="Proxima Nova" pitchFamily="34" charset="-120"/>
              </a:rPr>
              <a:t>overnight visitors (32.5%)</a:t>
            </a:r>
            <a:endParaRPr lang="en-US" sz="1800" dirty="0"/>
          </a:p>
        </p:txBody>
      </p:sp>
      <p:sp>
        <p:nvSpPr>
          <p:cNvPr id="9" name="Text 7"/>
          <p:cNvSpPr txBox="1"/>
          <p:nvPr/>
        </p:nvSpPr>
        <p:spPr>
          <a:xfrm>
            <a:off x="6095848" y="3035808"/>
            <a:ext cx="5547208" cy="457200"/>
          </a:xfrm>
          <a:prstGeom prst="rect">
            <a:avLst/>
          </a:prstGeom>
          <a:noFill/>
          <a:ln/>
        </p:spPr>
        <p:txBody>
          <a:bodyPr wrap="square" lIns="0" tIns="0" rIns="0" bIns="0" rtlCol="0" anchor="ctr"/>
          <a:lstStyle/>
          <a:p>
            <a:pPr algn="r" indent="0" marL="0">
              <a:buNone/>
            </a:pPr>
            <a:r>
              <a:rPr lang="en-US" sz="1800" b="1" i="1" dirty="0">
                <a:solidFill>
                  <a:srgbClr val="125C60"/>
                </a:solidFill>
                <a:latin typeface="Proxima Nova" pitchFamily="34" charset="0"/>
                <a:ea typeface="Proxima Nova" pitchFamily="34" charset="-122"/>
                <a:cs typeface="Proxima Nova" pitchFamily="34" charset="-120"/>
              </a:rPr>
              <a:t>26.5M </a:t>
            </a:r>
            <a:pPr algn="r" indent="0" marL="0">
              <a:buNone/>
            </a:pPr>
            <a:r>
              <a:rPr lang="en-US" sz="1100" dirty="0">
                <a:solidFill>
                  <a:srgbClr val="231F20"/>
                </a:solidFill>
                <a:latin typeface="Proxima Nova" pitchFamily="34" charset="0"/>
                <a:ea typeface="Proxima Nova" pitchFamily="34" charset="-122"/>
                <a:cs typeface="Proxima Nova" pitchFamily="34" charset="-120"/>
              </a:rPr>
              <a:t>all visitors (17.9M day visitors)</a:t>
            </a:r>
            <a:endParaRPr lang="en-US" sz="1800" dirty="0"/>
          </a:p>
        </p:txBody>
      </p:sp>
      <p:sp>
        <p:nvSpPr>
          <p:cNvPr id="10" name="Text 8"/>
          <p:cNvSpPr txBox="1"/>
          <p:nvPr/>
        </p:nvSpPr>
        <p:spPr>
          <a:xfrm>
            <a:off x="548640" y="3538728"/>
            <a:ext cx="11094415" cy="274320"/>
          </a:xfrm>
          <a:prstGeom prst="rect">
            <a:avLst/>
          </a:prstGeom>
          <a:noFill/>
          <a:ln/>
        </p:spPr>
        <p:txBody>
          <a:bodyPr wrap="square" lIns="0" tIns="0" rIns="0" bIns="0" rtlCol="0" anchor="ctr"/>
          <a:lstStyle/>
          <a:p>
            <a:pPr indent="0" marL="0">
              <a:buNone/>
            </a:pPr>
            <a:r>
              <a:rPr lang="en-US" sz="950" dirty="0">
                <a:solidFill>
                  <a:srgbClr val="231F20"/>
                </a:solidFill>
                <a:latin typeface="Proxima Nova" pitchFamily="34" charset="0"/>
                <a:ea typeface="Proxima Nova" pitchFamily="34" charset="-122"/>
                <a:cs typeface="Proxima Nova" pitchFamily="34" charset="-120"/>
              </a:rPr>
              <a:t>Calculation: 8.6M ÷ 26.5M = 32.5%; day visitors 17.9M ÷ 26.5M = 67.5%</a:t>
            </a:r>
            <a:endParaRPr lang="en-US" sz="950" dirty="0"/>
          </a:p>
        </p:txBody>
      </p:sp>
      <p:sp>
        <p:nvSpPr>
          <p:cNvPr id="11" name="Shape 9"/>
          <p:cNvSpPr/>
          <p:nvPr/>
        </p:nvSpPr>
        <p:spPr>
          <a:xfrm>
            <a:off x="548640" y="4023360"/>
            <a:ext cx="11094415" cy="45720"/>
          </a:xfrm>
          <a:prstGeom prst="rect">
            <a:avLst/>
          </a:prstGeom>
          <a:solidFill>
            <a:srgbClr val="125C60"/>
          </a:solidFill>
          <a:ln w="12700">
            <a:solidFill>
              <a:srgbClr val="125C60"/>
            </a:solidFill>
            <a:prstDash val="solid"/>
          </a:ln>
        </p:spPr>
      </p:sp>
      <p:sp>
        <p:nvSpPr>
          <p:cNvPr id="12" name="Text 10"/>
          <p:cNvSpPr txBox="1"/>
          <p:nvPr/>
        </p:nvSpPr>
        <p:spPr>
          <a:xfrm>
            <a:off x="548640" y="4114800"/>
            <a:ext cx="2743200"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WHY IT MATTERS</a:t>
            </a:r>
            <a:endParaRPr lang="en-US" sz="1000" dirty="0"/>
          </a:p>
        </p:txBody>
      </p:sp>
      <p:sp>
        <p:nvSpPr>
          <p:cNvPr id="13" name="Text 11"/>
          <p:cNvSpPr txBox="1"/>
          <p:nvPr/>
        </p:nvSpPr>
        <p:spPr>
          <a:xfrm>
            <a:off x="548640" y="4370832"/>
            <a:ext cx="11094415" cy="1463040"/>
          </a:xfrm>
          <a:prstGeom prst="rect">
            <a:avLst/>
          </a:prstGeom>
          <a:noFill/>
          <a:ln/>
        </p:spPr>
        <p:txBody>
          <a:bodyPr wrap="square" lIns="0" tIns="0" rIns="0" bIns="0" rtlCol="0" anchor="t"/>
          <a:lstStyle/>
          <a:p>
            <a:pPr indent="0" marL="0">
              <a:buNone/>
            </a:pPr>
            <a:r>
              <a:rPr lang="en-US" sz="1250" dirty="0">
                <a:solidFill>
                  <a:srgbClr val="231F20"/>
                </a:solidFill>
                <a:latin typeface="Proxima Nova" pitchFamily="34" charset="0"/>
                <a:ea typeface="Proxima Nova" pitchFamily="34" charset="-122"/>
                <a:cs typeface="Proxima Nova" pitchFamily="34" charset="-120"/>
              </a:rPr>
              <a:t>Longer stays raise spending without adding visitors. The Visit Anaheim Extra Night study values one more night per visitor at about </a:t>
            </a:r>
            <a:pPr indent="0" marL="0">
              <a:buNone/>
            </a:pPr>
            <a:r>
              <a:rPr lang="en-US" sz="1250" b="1" dirty="0">
                <a:solidFill>
                  <a:srgbClr val="125C60"/>
                </a:solidFill>
                <a:latin typeface="Proxima Nova" pitchFamily="34" charset="0"/>
                <a:ea typeface="Proxima Nova" pitchFamily="34" charset="-122"/>
                <a:cs typeface="Proxima Nova" pitchFamily="34" charset="-120"/>
              </a:rPr>
              <a:t>$794 million</a:t>
            </a:r>
            <a:pPr indent="0" marL="0">
              <a:buNone/>
            </a:pPr>
            <a:r>
              <a:rPr lang="en-US" sz="1250" dirty="0">
                <a:solidFill>
                  <a:srgbClr val="231F20"/>
                </a:solidFill>
                <a:latin typeface="Proxima Nova" pitchFamily="34" charset="0"/>
                <a:ea typeface="Proxima Nova" pitchFamily="34" charset="-122"/>
                <a:cs typeface="Proxima Nova" pitchFamily="34" charset="-120"/>
              </a:rPr>
              <a:t> in lodging (</a:t>
            </a:r>
            <a:pPr indent="0" marL="0">
              <a:buNone/>
            </a:pPr>
            <a:r>
              <a:rPr lang="en-US" sz="1250" b="1" dirty="0">
                <a:solidFill>
                  <a:srgbClr val="125C60"/>
                </a:solidFill>
                <a:latin typeface="Proxima Nova" pitchFamily="34" charset="0"/>
                <a:ea typeface="Proxima Nova" pitchFamily="34" charset="-122"/>
                <a:cs typeface="Proxima Nova" pitchFamily="34" charset="-120"/>
              </a:rPr>
              <a:t>$1.724B</a:t>
            </a:r>
            <a:pPr indent="0" marL="0">
              <a:buNone/>
            </a:pPr>
            <a:r>
              <a:rPr lang="en-US" sz="1250" dirty="0">
                <a:solidFill>
                  <a:srgbClr val="231F20"/>
                </a:solidFill>
                <a:latin typeface="Proxima Nova" pitchFamily="34" charset="0"/>
                <a:ea typeface="Proxima Nova" pitchFamily="34" charset="-122"/>
                <a:cs typeface="Proxima Nova" pitchFamily="34" charset="-120"/>
              </a:rPr>
              <a:t> ÷ </a:t>
            </a:r>
            <a:pPr indent="0" marL="0">
              <a:buNone/>
            </a:pPr>
            <a:r>
              <a:rPr lang="en-US" sz="1250" b="1" dirty="0">
                <a:solidFill>
                  <a:srgbClr val="125C60"/>
                </a:solidFill>
                <a:latin typeface="Proxima Nova" pitchFamily="34" charset="0"/>
                <a:ea typeface="Proxima Nova" pitchFamily="34" charset="-122"/>
                <a:cs typeface="Proxima Nova" pitchFamily="34" charset="-120"/>
              </a:rPr>
              <a:t>2.17 days</a:t>
            </a:r>
            <a:pPr indent="0" marL="0">
              <a:buNone/>
            </a:pPr>
            <a:r>
              <a:rPr lang="en-US" sz="1250" dirty="0">
                <a:solidFill>
                  <a:srgbClr val="231F20"/>
                </a:solidFill>
                <a:latin typeface="Proxima Nova" pitchFamily="34" charset="0"/>
                <a:ea typeface="Proxima Nova" pitchFamily="34" charset="-122"/>
                <a:cs typeface="Proxima Nova" pitchFamily="34" charset="-120"/>
              </a:rPr>
              <a:t>), holding spending per day constant.</a:t>
            </a:r>
            <a:endParaRPr lang="en-US" sz="1250" dirty="0"/>
          </a:p>
        </p:txBody>
      </p:sp>
      <p:sp>
        <p:nvSpPr>
          <p:cNvPr id="14"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of Visitors (calendar 2025; pub. 2026); Visit Anaheim BI, Extra Night study (Oct. 12,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75</a:t>
            </a:fld>
            <a:endParaRPr lang="en-US"/>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One more night by scenario: lodging and total visitor spending</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Extra Night study · scenario estimates based on 2025 data</a:t>
            </a:r>
            <a:endParaRPr lang="en-US" sz="1200" dirty="0"/>
          </a:p>
        </p:txBody>
      </p:sp>
      <p:sp>
        <p:nvSpPr>
          <p:cNvPr id="5" name="chart-title"/>
          <p:cNvSpPr txBox="1"/>
          <p:nvPr/>
        </p:nvSpPr>
        <p:spPr>
          <a:xfrm>
            <a:off x="548640" y="1463040"/>
            <a:ext cx="5394960"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Added spending by scenario ($ billions, estimates)</a:t>
            </a:r>
            <a:endParaRPr lang="en-US" sz="1300" dirty="0"/>
          </a:p>
        </p:txBody>
      </p:sp>
      <p:graphicFrame>
        <p:nvGraphicFramePr>
          <p:cNvPr id="6" name="chart" descr=""/>
          <p:cNvGraphicFramePr/>
          <p:nvPr/>
        </p:nvGraphicFramePr>
        <p:xfrm>
          <a:off x="548640" y="1828800"/>
          <a:ext cx="5394960" cy="2377440"/>
        </p:xfrm>
        <a:graphic xmlns:a="http://schemas.openxmlformats.org/drawingml/2006/main">
          <a:graphicData uri="http://schemas.openxmlformats.org/drawingml/2006/chart">
            <c:chart xmlns:c="http://schemas.openxmlformats.org/drawingml/2006/chart" r:id="rId1"/>
          </a:graphicData>
        </a:graphic>
      </p:graphicFrame>
      <p:graphicFrame>
        <p:nvGraphicFramePr>
          <p:cNvPr id="77" name="Table 0"/>
          <p:cNvGraphicFramePr>
            <a:graphicFrameLocks noGrp="1"/>
          </p:cNvGraphicFramePr>
          <p:nvPr>
            <p:extLst>
              <p:ext uri="{D42A27DB-BD31-4B8C-83A1-F6EECF244321}">
                <p14:modId xmlns:p14="http://schemas.microsoft.com/office/powerpoint/2010/main" val="1579011935"/>
              </p:ext>
            </p:extLst>
          </p:nvPr>
        </p:nvGraphicFramePr>
        <p:xfrm>
          <a:off x="6217920" y="1463040"/>
          <a:ext cx="5394960" cy="914400"/>
        </p:xfrm>
        <a:graphic>
          <a:graphicData uri="http://schemas.openxmlformats.org/drawingml/2006/table">
            <a:tbl>
              <a:tblPr/>
              <a:tblGrid>
                <a:gridCol w="2377440"/>
                <a:gridCol w="1051560"/>
                <a:gridCol w="1965960"/>
              </a:tblGrid>
              <a:tr h="301752">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Step</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Value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Basis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01752">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Visitors, 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26.5M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Domestic / international share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93.2% / 6.8%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24.7M ÷ 26.5M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01752">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Average stay, domestic / international</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1.9 / 5.9 days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Azira location data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Weighted average stay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2.17 days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93.2% × 1.9 + 6.8% × 5.9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01752">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Lodging spending, 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$1.72B</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 (all accommodation types)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One more night of lodging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$794M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$1.72B ÷ 2.17 days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01752">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Total visitor spending, 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$6.83B</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Spending per visitor-day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$118.71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$6.83B ÷ (26.5M × 2.17)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01752">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One more day, overnight visitors only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$1.02B</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8.6M × spending per visitor-day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One more day, every visitor (upper bound)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$3.15B</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$6.83B ÷ 2.17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8" name="callout"/>
          <p:cNvSpPr/>
          <p:nvPr/>
        </p:nvSpPr>
        <p:spPr>
          <a:xfrm>
            <a:off x="548640" y="4434840"/>
            <a:ext cx="5394960" cy="1417320"/>
          </a:xfrm>
          <a:prstGeom prst="roundRect">
            <a:avLst>
              <a:gd name="adj" fmla="val 3871"/>
            </a:avLst>
          </a:prstGeom>
          <a:solidFill>
            <a:srgbClr val="F9F9F2"/>
          </a:solidFill>
          <a:ln w="12700">
            <a:solidFill>
              <a:srgbClr val="125C60"/>
            </a:solidFill>
            <a:prstDash val="solid"/>
          </a:ln>
        </p:spPr>
      </p:sp>
      <p:sp>
        <p:nvSpPr>
          <p:cNvPr id="9" name="Text 4"/>
          <p:cNvSpPr txBox="1"/>
          <p:nvPr/>
        </p:nvSpPr>
        <p:spPr>
          <a:xfrm>
            <a:off x="731520" y="4572000"/>
            <a:ext cx="5029200" cy="1188720"/>
          </a:xfrm>
          <a:prstGeom prst="rect">
            <a:avLst/>
          </a:prstGeom>
          <a:noFill/>
          <a:ln/>
        </p:spPr>
        <p:txBody>
          <a:bodyPr wrap="square" lIns="0" tIns="0" rIns="0" bIns="0" rtlCol="0" anchor="t"/>
          <a:lstStyle/>
          <a:p>
            <a:pPr indent="0" marL="0">
              <a:buNone/>
            </a:pPr>
            <a:r>
              <a:rPr lang="en-US" sz="1200" b="1" dirty="0">
                <a:solidFill>
                  <a:srgbClr val="125C60"/>
                </a:solidFill>
                <a:latin typeface="Proxima Nova" pitchFamily="34" charset="0"/>
                <a:ea typeface="Proxima Nova" pitchFamily="34" charset="-122"/>
                <a:cs typeface="Proxima Nova" pitchFamily="34" charset="-120"/>
              </a:rPr>
              <a:t>Why it matters for OC Vibe: </a:t>
            </a:r>
            <a:pPr indent="0" marL="0">
              <a:buNone/>
            </a:pPr>
            <a:r>
              <a:rPr lang="en-US" sz="1200" dirty="0">
                <a:solidFill>
                  <a:srgbClr val="231F20"/>
                </a:solidFill>
                <a:latin typeface="Proxima Nova" pitchFamily="34" charset="0"/>
                <a:ea typeface="Proxima Nova" pitchFamily="34" charset="-122"/>
                <a:cs typeface="Proxima Nova" pitchFamily="34" charset="-120"/>
              </a:rPr>
              <a:t>evening events at Honda Center and the new concert hall, plus 550 planned hotel rooms, are the draws that turn day trips into overnight stays.</a:t>
            </a:r>
            <a:endParaRPr lang="en-US" sz="1200" dirty="0"/>
          </a:p>
        </p:txBody>
      </p:sp>
      <p:sp>
        <p:nvSpPr>
          <p:cNvPr id="10"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BI, Extra Night study (Tourism Economics 2025 spending; Azira length of stay). Estimates hold spending per day constant.</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76</a:t>
            </a:fld>
            <a:endParaRPr lang="en-US"/>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Group business booked with TID incentives peaks at 30 events in 2026</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Tourism Improvement District incentive bookings by event year · Simpleview</a:t>
            </a:r>
            <a:endParaRPr lang="en-US" sz="1200" dirty="0"/>
          </a:p>
        </p:txBody>
      </p:sp>
      <p:graphicFrame>
        <p:nvGraphicFramePr>
          <p:cNvPr id="78"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5852160" cy="914400"/>
        </p:xfrm>
        <a:graphic>
          <a:graphicData uri="http://schemas.openxmlformats.org/drawingml/2006/table">
            <a:tbl>
              <a:tblPr/>
              <a:tblGrid>
                <a:gridCol w="1280160"/>
                <a:gridCol w="1097280"/>
                <a:gridCol w="1737360"/>
                <a:gridCol w="1737360"/>
              </a:tblGrid>
              <a:tr h="301752">
                <a:tc>
                  <a:txBody>
                    <a:bodyPr/>
                    <a:lstStyle/>
                    <a:p>
                      <a:pPr algn="l" indent="0" marL="0">
                        <a:buNone/>
                      </a:pPr>
                      <a:r>
                        <a:rPr lang="en-US" sz="1050" b="1" dirty="0">
                          <a:solidFill>
                            <a:srgbClr val="FFFFFF"/>
                          </a:solidFill>
                          <a:latin typeface="Proxima Nova" pitchFamily="34" charset="0"/>
                          <a:ea typeface="Proxima Nova" pitchFamily="34" charset="-122"/>
                          <a:cs typeface="Proxima Nova" pitchFamily="34" charset="-120"/>
                        </a:rPr>
                        <a:t>Event year</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Events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Room nights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Attendees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01752">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2022</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260,199</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312,900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01752">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2023</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327,558</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268,900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01752">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2024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502,401</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533,774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01752">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2025</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369,827</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397,964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01752">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2026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30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460,566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651,200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01752">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2027</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401,201</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503,796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01752">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2028</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299,178</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419,540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01752">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2029</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15</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286,883</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218,500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01752">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2030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8</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213,374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115,840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01752">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2031</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105,951</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82,500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01752">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2032</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3</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66,361</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40,540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01752">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2033</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167,194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95,000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01752">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2034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125,163</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87,000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6" name="chart-title"/>
          <p:cNvSpPr txBox="1"/>
          <p:nvPr/>
        </p:nvSpPr>
        <p:spPr>
          <a:xfrm>
            <a:off x="6766560" y="1463040"/>
            <a:ext cx="4846320"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Room nights by event year (thousands)</a:t>
            </a:r>
            <a:endParaRPr lang="en-US" sz="1300" dirty="0"/>
          </a:p>
        </p:txBody>
      </p:sp>
      <p:graphicFrame>
        <p:nvGraphicFramePr>
          <p:cNvPr id="7" name="chart" descr=""/>
          <p:cNvGraphicFramePr/>
          <p:nvPr/>
        </p:nvGraphicFramePr>
        <p:xfrm>
          <a:off x="6766560" y="1828800"/>
          <a:ext cx="4846320" cy="4023360"/>
        </p:xfrm>
        <a:graphic xmlns:a="http://schemas.openxmlformats.org/drawingml/2006/main">
          <a:graphicData uri="http://schemas.openxmlformats.org/drawingml/2006/chart">
            <c:chart xmlns:c="http://schemas.openxmlformats.org/drawingml/2006/chart" r:id="rId1"/>
          </a:graphicData>
        </a:graphic>
      </p:graphicFrame>
      <p:sp>
        <p:nvSpPr>
          <p:cNvPr id="8"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Simpleview, TID incentive buydowns (Extra Night study)</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77</a:t>
            </a:fld>
            <a:endParaRPr lang="en-US"/>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How the numbers are calculated: One more night</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Each step with its calculation, result and source</a:t>
            </a:r>
            <a:endParaRPr lang="en-US" sz="1200" dirty="0"/>
          </a:p>
        </p:txBody>
      </p:sp>
      <p:graphicFrame>
        <p:nvGraphicFramePr>
          <p:cNvPr id="79"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286000"/>
                <a:gridCol w="5120640"/>
                <a:gridCol w="1280160"/>
                <a:gridCol w="2404872"/>
              </a:tblGrid>
              <a:tr h="384048">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Step</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Calculation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Result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Source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Average stay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93.2% domestic visitors × 1.9 days + 6.8% international × 5.9 days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2.17 days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 Azira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One more night, lodging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$1.724B lodging spending ÷ 2.17 days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$794M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 (2025); BI calculation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Spending per visitor day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$258 ÷ 2.17 days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$118.71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BI calculation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Each 1% of visitors adding a day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26.5M × 1% × $118.71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$31.5M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 Anaheim BI calculation from source data (Oct. 13,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Azira; Tourism Economics (2025); BI calculation; BI calculation; Visit Anaheim BI calculation from source data (Oct. 13,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78</a:t>
            </a:fld>
            <a:endParaRPr lang="en-US"/>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What it means for OC Vibe: One more night</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What this insight enhances for OC Vibe, and what OC Vibe needs to act on it</a:t>
            </a:r>
            <a:endParaRPr lang="en-US" sz="1200" dirty="0"/>
          </a:p>
        </p:txBody>
      </p:sp>
      <p:sp>
        <p:nvSpPr>
          <p:cNvPr id="4" name="Shape 2"/>
          <p:cNvSpPr/>
          <p:nvPr/>
        </p:nvSpPr>
        <p:spPr>
          <a:xfrm>
            <a:off x="548640" y="1417320"/>
            <a:ext cx="11094415" cy="914400"/>
          </a:xfrm>
          <a:prstGeom prst="rect">
            <a:avLst/>
          </a:prstGeom>
          <a:solidFill>
            <a:srgbClr val="B4D9E3"/>
          </a:solidFill>
          <a:ln w="12700">
            <a:solidFill>
              <a:srgbClr val="B4D9E3"/>
            </a:solidFill>
            <a:prstDash val="solid"/>
          </a:ln>
        </p:spPr>
      </p:sp>
      <p:sp>
        <p:nvSpPr>
          <p:cNvPr id="5" name="Text 3"/>
          <p:cNvSpPr txBox="1"/>
          <p:nvPr/>
        </p:nvSpPr>
        <p:spPr>
          <a:xfrm>
            <a:off x="685800" y="1463040"/>
            <a:ext cx="1828800" cy="201168"/>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KEY INSIGHT</a:t>
            </a:r>
            <a:endParaRPr lang="en-US" sz="900" dirty="0"/>
          </a:p>
        </p:txBody>
      </p:sp>
      <p:sp>
        <p:nvSpPr>
          <p:cNvPr id="6" name="Text 4"/>
          <p:cNvSpPr txBox="1"/>
          <p:nvPr/>
        </p:nvSpPr>
        <p:spPr>
          <a:xfrm>
            <a:off x="685800" y="1664208"/>
            <a:ext cx="10820095" cy="640080"/>
          </a:xfrm>
          <a:prstGeom prst="rect">
            <a:avLst/>
          </a:prstGeom>
          <a:noFill/>
          <a:ln/>
        </p:spPr>
        <p:txBody>
          <a:bodyPr wrap="square" lIns="0" tIns="0" rIns="0" bIns="0" rtlCol="0" anchor="t"/>
          <a:lstStyle/>
          <a:p>
            <a:pPr indent="0" marL="0">
              <a:buNone/>
            </a:pPr>
            <a:r>
              <a:rPr lang="en-US" sz="1100" dirty="0">
                <a:solidFill>
                  <a:srgbClr val="231F20"/>
                </a:solidFill>
                <a:latin typeface="Proxima Nova" pitchFamily="34" charset="0"/>
                <a:ea typeface="Proxima Nova" pitchFamily="34" charset="-122"/>
                <a:cs typeface="Proxima Nova" pitchFamily="34" charset="-120"/>
              </a:rPr>
              <a:t>If every Anaheim visitor stayed one more night, lodging spending would rise about </a:t>
            </a:r>
            <a:pPr indent="0" marL="0">
              <a:buNone/>
            </a:pPr>
            <a:r>
              <a:rPr lang="en-US" sz="1100" b="1" dirty="0">
                <a:solidFill>
                  <a:srgbClr val="125C60"/>
                </a:solidFill>
                <a:latin typeface="Proxima Nova" pitchFamily="34" charset="0"/>
                <a:ea typeface="Proxima Nova" pitchFamily="34" charset="-122"/>
                <a:cs typeface="Proxima Nova" pitchFamily="34" charset="-120"/>
              </a:rPr>
              <a:t>$794M</a:t>
            </a:r>
            <a:pPr indent="0" marL="0">
              <a:buNone/>
            </a:pPr>
            <a:r>
              <a:rPr lang="en-US" sz="1100" dirty="0">
                <a:solidFill>
                  <a:srgbClr val="231F20"/>
                </a:solidFill>
                <a:latin typeface="Proxima Nova" pitchFamily="34" charset="0"/>
                <a:ea typeface="Proxima Nova" pitchFamily="34" charset="-122"/>
                <a:cs typeface="Proxima Nova" pitchFamily="34" charset="-120"/>
              </a:rPr>
              <a:t> (</a:t>
            </a:r>
            <a:pPr indent="0" marL="0">
              <a:buNone/>
            </a:pPr>
            <a:r>
              <a:rPr lang="en-US" sz="1100" b="1" dirty="0">
                <a:solidFill>
                  <a:srgbClr val="125C60"/>
                </a:solidFill>
                <a:latin typeface="Proxima Nova" pitchFamily="34" charset="0"/>
                <a:ea typeface="Proxima Nova" pitchFamily="34" charset="-122"/>
                <a:cs typeface="Proxima Nova" pitchFamily="34" charset="-120"/>
              </a:rPr>
              <a:t>$1.724B</a:t>
            </a:r>
            <a:pPr indent="0" marL="0">
              <a:buNone/>
            </a:pPr>
            <a:r>
              <a:rPr lang="en-US" sz="1100" dirty="0">
                <a:solidFill>
                  <a:srgbClr val="231F20"/>
                </a:solidFill>
                <a:latin typeface="Proxima Nova" pitchFamily="34" charset="0"/>
                <a:ea typeface="Proxima Nova" pitchFamily="34" charset="-122"/>
                <a:cs typeface="Proxima Nova" pitchFamily="34" charset="-120"/>
              </a:rPr>
              <a:t> 2025 lodging spending ÷ </a:t>
            </a:r>
            <a:pPr indent="0" marL="0">
              <a:buNone/>
            </a:pPr>
            <a:r>
              <a:rPr lang="en-US" sz="1100" b="1" dirty="0">
                <a:solidFill>
                  <a:srgbClr val="125C60"/>
                </a:solidFill>
                <a:latin typeface="Proxima Nova" pitchFamily="34" charset="0"/>
                <a:ea typeface="Proxima Nova" pitchFamily="34" charset="-122"/>
                <a:cs typeface="Proxima Nova" pitchFamily="34" charset="-120"/>
              </a:rPr>
              <a:t>2.17</a:t>
            </a:r>
            <a:pPr indent="0" marL="0">
              <a:buNone/>
            </a:pPr>
            <a:r>
              <a:rPr lang="en-US" sz="1100" dirty="0">
                <a:solidFill>
                  <a:srgbClr val="231F20"/>
                </a:solidFill>
                <a:latin typeface="Proxima Nova" pitchFamily="34" charset="0"/>
                <a:ea typeface="Proxima Nova" pitchFamily="34" charset="-122"/>
                <a:cs typeface="Proxima Nova" pitchFamily="34" charset="-120"/>
              </a:rPr>
              <a:t>-day average stay; Visit Anaheim Extra Night study). Each </a:t>
            </a:r>
            <a:pPr indent="0" marL="0">
              <a:buNone/>
            </a:pPr>
            <a:r>
              <a:rPr lang="en-US" sz="1100" b="1" dirty="0">
                <a:solidFill>
                  <a:srgbClr val="125C60"/>
                </a:solidFill>
                <a:latin typeface="Proxima Nova" pitchFamily="34" charset="0"/>
                <a:ea typeface="Proxima Nova" pitchFamily="34" charset="-122"/>
                <a:cs typeface="Proxima Nova" pitchFamily="34" charset="-120"/>
              </a:rPr>
              <a:t>1%</a:t>
            </a:r>
            <a:pPr indent="0" marL="0">
              <a:buNone/>
            </a:pPr>
            <a:r>
              <a:rPr lang="en-US" sz="1100" dirty="0">
                <a:solidFill>
                  <a:srgbClr val="231F20"/>
                </a:solidFill>
                <a:latin typeface="Proxima Nova" pitchFamily="34" charset="0"/>
                <a:ea typeface="Proxima Nova" pitchFamily="34" charset="-122"/>
                <a:cs typeface="Proxima Nova" pitchFamily="34" charset="-120"/>
              </a:rPr>
              <a:t> of Anaheim visitors who stay one more day adds about </a:t>
            </a:r>
            <a:pPr indent="0" marL="0">
              <a:buNone/>
            </a:pPr>
            <a:r>
              <a:rPr lang="en-US" sz="1100" b="1" dirty="0">
                <a:solidFill>
                  <a:srgbClr val="125C60"/>
                </a:solidFill>
                <a:latin typeface="Proxima Nova" pitchFamily="34" charset="0"/>
                <a:ea typeface="Proxima Nova" pitchFamily="34" charset="-122"/>
                <a:cs typeface="Proxima Nova" pitchFamily="34" charset="-120"/>
              </a:rPr>
              <a:t>$31.5M</a:t>
            </a:r>
            <a:pPr indent="0" marL="0">
              <a:buNone/>
            </a:pPr>
            <a:r>
              <a:rPr lang="en-US" sz="1100" dirty="0">
                <a:solidFill>
                  <a:srgbClr val="231F20"/>
                </a:solidFill>
                <a:latin typeface="Proxima Nova" pitchFamily="34" charset="0"/>
                <a:ea typeface="Proxima Nova" pitchFamily="34" charset="-122"/>
                <a:cs typeface="Proxima Nova" pitchFamily="34" charset="-120"/>
              </a:rPr>
              <a:t> in visitor spending (</a:t>
            </a:r>
            <a:pPr indent="0" marL="0">
              <a:buNone/>
            </a:pPr>
            <a:r>
              <a:rPr lang="en-US" sz="1100" b="1" dirty="0">
                <a:solidFill>
                  <a:srgbClr val="125C60"/>
                </a:solidFill>
                <a:latin typeface="Proxima Nova" pitchFamily="34" charset="0"/>
                <a:ea typeface="Proxima Nova" pitchFamily="34" charset="-122"/>
                <a:cs typeface="Proxima Nova" pitchFamily="34" charset="-120"/>
              </a:rPr>
              <a:t>26.5M</a:t>
            </a:r>
            <a:pPr indent="0" marL="0">
              <a:buNone/>
            </a:pPr>
            <a:r>
              <a:rPr lang="en-US" sz="1100" dirty="0">
                <a:solidFill>
                  <a:srgbClr val="231F20"/>
                </a:solidFill>
                <a:latin typeface="Proxima Nova" pitchFamily="34" charset="0"/>
                <a:ea typeface="Proxima Nova" pitchFamily="34" charset="-122"/>
                <a:cs typeface="Proxima Nova" pitchFamily="34" charset="-120"/>
              </a:rPr>
              <a:t> visitors × </a:t>
            </a:r>
            <a:pPr indent="0" marL="0">
              <a:buNone/>
            </a:pPr>
            <a:r>
              <a:rPr lang="en-US" sz="1100" b="1" dirty="0">
                <a:solidFill>
                  <a:srgbClr val="125C60"/>
                </a:solidFill>
                <a:latin typeface="Proxima Nova" pitchFamily="34" charset="0"/>
                <a:ea typeface="Proxima Nova" pitchFamily="34" charset="-122"/>
                <a:cs typeface="Proxima Nova" pitchFamily="34" charset="-120"/>
              </a:rPr>
              <a:t>1%</a:t>
            </a:r>
            <a:pPr indent="0" marL="0">
              <a:buNone/>
            </a:pPr>
            <a:r>
              <a:rPr lang="en-US" sz="1100" dirty="0">
                <a:solidFill>
                  <a:srgbClr val="231F20"/>
                </a:solidFill>
                <a:latin typeface="Proxima Nova" pitchFamily="34" charset="0"/>
                <a:ea typeface="Proxima Nova" pitchFamily="34" charset="-122"/>
                <a:cs typeface="Proxima Nova" pitchFamily="34" charset="-120"/>
              </a:rPr>
              <a:t> × </a:t>
            </a:r>
            <a:pPr indent="0" marL="0">
              <a:buNone/>
            </a:pPr>
            <a:r>
              <a:rPr lang="en-US" sz="1100" b="1" dirty="0">
                <a:solidFill>
                  <a:srgbClr val="125C60"/>
                </a:solidFill>
                <a:latin typeface="Proxima Nova" pitchFamily="34" charset="0"/>
                <a:ea typeface="Proxima Nova" pitchFamily="34" charset="-122"/>
                <a:cs typeface="Proxima Nova" pitchFamily="34" charset="-120"/>
              </a:rPr>
              <a:t>$118.71</a:t>
            </a:r>
            <a:pPr indent="0" marL="0">
              <a:buNone/>
            </a:pPr>
            <a:r>
              <a:rPr lang="en-US" sz="1100" dirty="0">
                <a:solidFill>
                  <a:srgbClr val="231F20"/>
                </a:solidFill>
                <a:latin typeface="Proxima Nova" pitchFamily="34" charset="0"/>
                <a:ea typeface="Proxima Nova" pitchFamily="34" charset="-122"/>
                <a:cs typeface="Proxima Nova" pitchFamily="34" charset="-120"/>
              </a:rPr>
              <a:t> per visitor day).</a:t>
            </a:r>
            <a:endParaRPr lang="en-US" sz="1100" dirty="0"/>
          </a:p>
        </p:txBody>
      </p:sp>
      <p:sp>
        <p:nvSpPr>
          <p:cNvPr id="7" name="Shape 5"/>
          <p:cNvSpPr/>
          <p:nvPr/>
        </p:nvSpPr>
        <p:spPr>
          <a:xfrm>
            <a:off x="548640" y="2468880"/>
            <a:ext cx="5410048" cy="45720"/>
          </a:xfrm>
          <a:prstGeom prst="rect">
            <a:avLst/>
          </a:prstGeom>
          <a:solidFill>
            <a:srgbClr val="43A3A3"/>
          </a:solidFill>
          <a:ln w="12700">
            <a:solidFill>
              <a:srgbClr val="43A3A3"/>
            </a:solidFill>
            <a:prstDash val="solid"/>
          </a:ln>
        </p:spPr>
      </p:sp>
      <p:sp>
        <p:nvSpPr>
          <p:cNvPr id="8" name="Text 6"/>
          <p:cNvSpPr txBox="1"/>
          <p:nvPr/>
        </p:nvSpPr>
        <p:spPr>
          <a:xfrm>
            <a:off x="548640" y="2560320"/>
            <a:ext cx="5410048" cy="256032"/>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WHAT IT ENHANCES</a:t>
            </a:r>
            <a:endParaRPr lang="en-US" sz="1000" dirty="0"/>
          </a:p>
        </p:txBody>
      </p:sp>
      <p:sp>
        <p:nvSpPr>
          <p:cNvPr id="9" name="Text 7"/>
          <p:cNvSpPr txBox="1"/>
          <p:nvPr/>
        </p:nvSpPr>
        <p:spPr>
          <a:xfrm>
            <a:off x="548640" y="2852928"/>
            <a:ext cx="5410048" cy="3063240"/>
          </a:xfrm>
          <a:prstGeom prst="rect">
            <a:avLst/>
          </a:prstGeom>
          <a:noFill/>
          <a:ln/>
        </p:spPr>
        <p:txBody>
          <a:bodyPr wrap="square" lIns="0" tIns="0" rIns="0" bIns="0" rtlCol="0" anchor="t"/>
          <a:lstStyle/>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Hotels: Two in three Anaheim visitors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67.5%</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are day visitors; evening shows and 550 planned hotel rooms are what turn a day trip into an overnight stay. [Calculation: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17.9M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day visitors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26.5M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visitors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67.5%</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Events: Each point of Sunday–Monday hotel occupancy citywide is about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22,200 room nights</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and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$5.1M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in room revenue a year. [Calculation: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21,318 rooms</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1 point × 104 Sunday and Monday nights a year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22,171 room nights</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$229.90</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average Sunday–Monday rate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$5.1M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Events: Groups booked with Tourism Improvement District incentives (as of Jan. 2025): 30 events and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460,566 room nights</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in 2026, 26 events in 2027.</a:t>
            </a:r>
            <a:endParaRPr lang="en-US" sz="800" dirty="0"/>
          </a:p>
        </p:txBody>
      </p:sp>
      <p:sp>
        <p:nvSpPr>
          <p:cNvPr id="10" name="Shape 8"/>
          <p:cNvSpPr/>
          <p:nvPr/>
        </p:nvSpPr>
        <p:spPr>
          <a:xfrm>
            <a:off x="6233008" y="2468880"/>
            <a:ext cx="5410048" cy="45720"/>
          </a:xfrm>
          <a:prstGeom prst="rect">
            <a:avLst/>
          </a:prstGeom>
          <a:solidFill>
            <a:srgbClr val="125C60"/>
          </a:solidFill>
          <a:ln w="12700">
            <a:solidFill>
              <a:srgbClr val="125C60"/>
            </a:solidFill>
            <a:prstDash val="solid"/>
          </a:ln>
        </p:spPr>
      </p:sp>
      <p:sp>
        <p:nvSpPr>
          <p:cNvPr id="11" name="Text 9"/>
          <p:cNvSpPr txBox="1"/>
          <p:nvPr/>
        </p:nvSpPr>
        <p:spPr>
          <a:xfrm>
            <a:off x="6233008" y="2560320"/>
            <a:ext cx="5410048" cy="256032"/>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WHAT OC VIBE NEEDS</a:t>
            </a:r>
            <a:endParaRPr lang="en-US" sz="1000" dirty="0"/>
          </a:p>
        </p:txBody>
      </p:sp>
      <p:sp>
        <p:nvSpPr>
          <p:cNvPr id="12" name="Text 10"/>
          <p:cNvSpPr txBox="1"/>
          <p:nvPr/>
        </p:nvSpPr>
        <p:spPr>
          <a:xfrm>
            <a:off x="6233008" y="2852928"/>
            <a:ext cx="5410048" cy="3063240"/>
          </a:xfrm>
          <a:prstGeom prst="rect">
            <a:avLst/>
          </a:prstGeom>
          <a:noFill/>
          <a:ln/>
        </p:spPr>
        <p:txBody>
          <a:bodyPr wrap="square" lIns="0" tIns="0" rIns="0" bIns="0" rtlCol="0" anchor="t"/>
          <a:lstStyle/>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Hotels: Show-and-stay packages with nearby hotels for 2027, since OC Vibe's own hotels open in 2028.</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Measurement: Package redemptions (nights added) shared with Visit Anaheim, to measure the add-a-day share.</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Strategy: Planning values in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steps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$15.7M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at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0.5%</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$31.5M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at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$62.9M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at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rather than the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$3.15B</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ceiling. [Calculation: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0.5%</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26.5M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$118.71</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$15.7M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$31.5M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$62.9M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a:t>
            </a:r>
            <a:endParaRPr lang="en-US" sz="800" dirty="0"/>
          </a:p>
        </p:txBody>
      </p:sp>
      <p:sp>
        <p:nvSpPr>
          <p:cNvPr id="13"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BI, Extra Night study (2025 inputs; recalculated Oct. 12, 2026); Visit Anaheim BI calculation from source data (Oct. 13, 2026); Tourism Economics, Economic Impact 2025 (pub. Apr.–May 2026); City of Anaheim OCVibe page (2026); OCVIBE fact sheet (Apr. 2024); STR daily data, Visit Anaheim hotel sets (Jan. 1–Oct. 3, 2026); Simpleview TID incentive bookings (exported Jan. 20, 2025)</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79</a:t>
            </a:fld>
            <a:endParaRPr lang="en-US"/>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275,000 vehicles a day pass OC Vibe on SR-57</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Getting here · OCTA traffic map Aug. 2026 · OCTA bus schedules Aug.–Nov. 2026 · Azira Aug. 2026</a:t>
            </a:r>
            <a:endParaRPr lang="en-US" sz="1200" dirty="0"/>
          </a:p>
        </p:txBody>
      </p:sp>
      <p:sp>
        <p:nvSpPr>
          <p:cNvPr id="5" name="Text 2"/>
          <p:cNvSpPr txBox="1"/>
          <p:nvPr/>
        </p:nvSpPr>
        <p:spPr>
          <a:xfrm>
            <a:off x="548640" y="1481328"/>
            <a:ext cx="7086600"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THE LEDE</a:t>
            </a:r>
            <a:endParaRPr lang="en-US" sz="1000" dirty="0"/>
          </a:p>
        </p:txBody>
      </p:sp>
      <p:sp>
        <p:nvSpPr>
          <p:cNvPr id="6" name="Text 3"/>
          <p:cNvSpPr txBox="1"/>
          <p:nvPr/>
        </p:nvSpPr>
        <p:spPr>
          <a:xfrm>
            <a:off x="548640" y="1737360"/>
            <a:ext cx="7086600" cy="1965960"/>
          </a:xfrm>
          <a:prstGeom prst="rect">
            <a:avLst/>
          </a:prstGeom>
          <a:noFill/>
          <a:ln/>
        </p:spPr>
        <p:txBody>
          <a:bodyPr wrap="square" lIns="0" tIns="0" rIns="0" bIns="0" rtlCol="0" anchor="t"/>
          <a:lstStyle/>
          <a:p>
            <a:pPr indent="0" marL="0">
              <a:buNone/>
            </a:pPr>
            <a:r>
              <a:rPr lang="en-US" sz="1350" b="1" dirty="0">
                <a:solidFill>
                  <a:srgbClr val="125C60"/>
                </a:solidFill>
                <a:latin typeface="Proxima Nova" pitchFamily="34" charset="0"/>
                <a:ea typeface="Proxima Nova" pitchFamily="34" charset="-122"/>
                <a:cs typeface="Proxima Nova" pitchFamily="34" charset="-120"/>
              </a:rPr>
              <a:t>ANAHEIM, Calif. (Oct. 13, 2026): </a:t>
            </a:r>
            <a:pPr indent="0" marL="0">
              <a:buNone/>
            </a:pPr>
            <a:r>
              <a:rPr lang="en-US" sz="1350" dirty="0">
                <a:solidFill>
                  <a:srgbClr val="231F20"/>
                </a:solidFill>
                <a:latin typeface="Proxima Nova" pitchFamily="34" charset="0"/>
                <a:ea typeface="Proxima Nova" pitchFamily="34" charset="-122"/>
                <a:cs typeface="Proxima Nova" pitchFamily="34" charset="-120"/>
              </a:rPr>
              <a:t>Most visitors arrive by car: </a:t>
            </a:r>
            <a:pPr indent="0" marL="0">
              <a:buNone/>
            </a:pPr>
            <a:r>
              <a:rPr lang="en-US" sz="1350" b="1" dirty="0">
                <a:solidFill>
                  <a:srgbClr val="125C60"/>
                </a:solidFill>
                <a:latin typeface="Proxima Nova" pitchFamily="34" charset="0"/>
                <a:ea typeface="Proxima Nova" pitchFamily="34" charset="-122"/>
                <a:cs typeface="Proxima Nova" pitchFamily="34" charset="-120"/>
              </a:rPr>
              <a:t>74.0%</a:t>
            </a:r>
            <a:pPr indent="0" marL="0">
              <a:buNone/>
            </a:pPr>
            <a:r>
              <a:rPr lang="en-US" sz="1350" dirty="0">
                <a:solidFill>
                  <a:srgbClr val="231F20"/>
                </a:solidFill>
                <a:latin typeface="Proxima Nova" pitchFamily="34" charset="0"/>
                <a:ea typeface="Proxima Nova" pitchFamily="34" charset="-122"/>
                <a:cs typeface="Proxima Nova" pitchFamily="34" charset="-120"/>
              </a:rPr>
              <a:t> of domestic trips start within 50 miles, and SR-57 beside OC Vibe carries about </a:t>
            </a:r>
            <a:pPr indent="0" marL="0">
              <a:buNone/>
            </a:pPr>
            <a:r>
              <a:rPr lang="en-US" sz="1350" b="1" dirty="0">
                <a:solidFill>
                  <a:srgbClr val="125C60"/>
                </a:solidFill>
                <a:latin typeface="Proxima Nova" pitchFamily="34" charset="0"/>
                <a:ea typeface="Proxima Nova" pitchFamily="34" charset="-122"/>
                <a:cs typeface="Proxima Nova" pitchFamily="34" charset="-120"/>
              </a:rPr>
              <a:t>275,000 vehicles</a:t>
            </a:r>
            <a:pPr indent="0" marL="0">
              <a:buNone/>
            </a:pPr>
            <a:r>
              <a:rPr lang="en-US" sz="1350" dirty="0">
                <a:solidFill>
                  <a:srgbClr val="231F20"/>
                </a:solidFill>
                <a:latin typeface="Proxima Nova" pitchFamily="34" charset="0"/>
                <a:ea typeface="Proxima Nova" pitchFamily="34" charset="-122"/>
                <a:cs typeface="Proxima Nova" pitchFamily="34" charset="-120"/>
              </a:rPr>
              <a:t> a weekday. ARTIC adds 277 weekday bus trips (routes 50, 53 and 553: 100 + 102 + 75), Amtrak and Metrolink.</a:t>
            </a:r>
            <a:endParaRPr lang="en-US" sz="1350" dirty="0"/>
          </a:p>
        </p:txBody>
      </p:sp>
      <p:sp>
        <p:nvSpPr>
          <p:cNvPr id="7" name="Shape 4"/>
          <p:cNvSpPr/>
          <p:nvPr/>
        </p:nvSpPr>
        <p:spPr>
          <a:xfrm>
            <a:off x="548640" y="3822192"/>
            <a:ext cx="7086600" cy="45720"/>
          </a:xfrm>
          <a:prstGeom prst="rect">
            <a:avLst/>
          </a:prstGeom>
          <a:solidFill>
            <a:srgbClr val="125C60"/>
          </a:solidFill>
          <a:ln w="12700">
            <a:solidFill>
              <a:srgbClr val="125C60"/>
            </a:solidFill>
            <a:prstDash val="solid"/>
          </a:ln>
        </p:spPr>
      </p:sp>
      <p:sp>
        <p:nvSpPr>
          <p:cNvPr id="8" name="Text 5"/>
          <p:cNvSpPr txBox="1"/>
          <p:nvPr/>
        </p:nvSpPr>
        <p:spPr>
          <a:xfrm>
            <a:off x="548640" y="3931920"/>
            <a:ext cx="7086600"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WHY IT MATTERS</a:t>
            </a:r>
            <a:endParaRPr lang="en-US" sz="1000" dirty="0"/>
          </a:p>
        </p:txBody>
      </p:sp>
      <p:sp>
        <p:nvSpPr>
          <p:cNvPr id="9" name="Text 6"/>
          <p:cNvSpPr txBox="1"/>
          <p:nvPr/>
        </p:nvSpPr>
        <p:spPr>
          <a:xfrm>
            <a:off x="548640" y="4187952"/>
            <a:ext cx="7086600" cy="1691640"/>
          </a:xfrm>
          <a:prstGeom prst="rect">
            <a:avLst/>
          </a:prstGeom>
          <a:noFill/>
          <a:ln/>
        </p:spPr>
        <p:txBody>
          <a:bodyPr wrap="square" lIns="0" tIns="0" rIns="0" bIns="0" rtlCol="0" anchor="t"/>
          <a:lstStyle/>
          <a:p>
            <a:pPr indent="0" marL="0">
              <a:buNone/>
            </a:pPr>
            <a:r>
              <a:rPr lang="en-US" sz="1250" dirty="0">
                <a:solidFill>
                  <a:srgbClr val="231F20"/>
                </a:solidFill>
                <a:latin typeface="Proxima Nova" pitchFamily="34" charset="0"/>
                <a:ea typeface="Proxima Nova" pitchFamily="34" charset="-122"/>
                <a:cs typeface="Proxima Nova" pitchFamily="34" charset="-120"/>
              </a:rPr>
              <a:t>Access decides how many visitors OC Vibe can host on peak nights. Most visitors arrive by car, and SR-57 beside OC Vibe carries about </a:t>
            </a:r>
            <a:pPr indent="0" marL="0">
              <a:buNone/>
            </a:pPr>
            <a:r>
              <a:rPr lang="en-US" sz="1250" b="1" dirty="0">
                <a:solidFill>
                  <a:srgbClr val="125C60"/>
                </a:solidFill>
                <a:latin typeface="Proxima Nova" pitchFamily="34" charset="0"/>
                <a:ea typeface="Proxima Nova" pitchFamily="34" charset="-122"/>
                <a:cs typeface="Proxima Nova" pitchFamily="34" charset="-120"/>
              </a:rPr>
              <a:t>275,000 vehicles</a:t>
            </a:r>
            <a:pPr indent="0" marL="0">
              <a:buNone/>
            </a:pPr>
            <a:r>
              <a:rPr lang="en-US" sz="1250" dirty="0">
                <a:solidFill>
                  <a:srgbClr val="231F20"/>
                </a:solidFill>
                <a:latin typeface="Proxima Nova" pitchFamily="34" charset="0"/>
                <a:ea typeface="Proxima Nova" pitchFamily="34" charset="-122"/>
                <a:cs typeface="Proxima Nova" pitchFamily="34" charset="-120"/>
              </a:rPr>
              <a:t> a day; ARTIC adds bus and rail service, though only 11 weekday buses leave after 10 p.m.</a:t>
            </a:r>
            <a:endParaRPr lang="en-US" sz="1250" dirty="0"/>
          </a:p>
        </p:txBody>
      </p:sp>
      <p:sp>
        <p:nvSpPr>
          <p:cNvPr id="10" name="Text 7"/>
          <p:cNvSpPr txBox="1"/>
          <p:nvPr/>
        </p:nvSpPr>
        <p:spPr>
          <a:xfrm>
            <a:off x="8001000" y="1481328"/>
            <a:ext cx="3642055"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BY THE NUMBERS</a:t>
            </a:r>
            <a:endParaRPr lang="en-US" sz="1000" dirty="0"/>
          </a:p>
        </p:txBody>
      </p:sp>
      <p:sp>
        <p:nvSpPr>
          <p:cNvPr id="11" name="news-stat-0"/>
          <p:cNvSpPr/>
          <p:nvPr/>
        </p:nvSpPr>
        <p:spPr>
          <a:xfrm>
            <a:off x="8001000" y="1755648"/>
            <a:ext cx="3642055" cy="1280160"/>
          </a:xfrm>
          <a:prstGeom prst="roundRect">
            <a:avLst>
              <a:gd name="adj" fmla="val 4286"/>
            </a:avLst>
          </a:prstGeom>
          <a:solidFill>
            <a:srgbClr val="FFFFFF"/>
          </a:solidFill>
          <a:ln w="12700">
            <a:solidFill>
              <a:srgbClr val="B4D9E3"/>
            </a:solidFill>
            <a:prstDash val="solid"/>
          </a:ln>
        </p:spPr>
      </p:sp>
      <p:sp>
        <p:nvSpPr>
          <p:cNvPr id="12" name="Text 9"/>
          <p:cNvSpPr txBox="1"/>
          <p:nvPr/>
        </p:nvSpPr>
        <p:spPr>
          <a:xfrm>
            <a:off x="8138160" y="18288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SR-57 BESIDE OC VIBE</a:t>
            </a:r>
            <a:endParaRPr lang="en-US" sz="850" dirty="0"/>
          </a:p>
        </p:txBody>
      </p:sp>
      <p:sp>
        <p:nvSpPr>
          <p:cNvPr id="13" name="Text 10"/>
          <p:cNvSpPr txBox="1"/>
          <p:nvPr/>
        </p:nvSpPr>
        <p:spPr>
          <a:xfrm>
            <a:off x="8138160" y="20299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275,000</a:t>
            </a:r>
            <a:endParaRPr lang="en-US" sz="2200" dirty="0"/>
          </a:p>
        </p:txBody>
      </p:sp>
      <p:sp>
        <p:nvSpPr>
          <p:cNvPr id="14" name="Text 11"/>
          <p:cNvSpPr txBox="1"/>
          <p:nvPr/>
        </p:nvSpPr>
        <p:spPr>
          <a:xfrm>
            <a:off x="8138160" y="24505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Vehicles per weekday</a:t>
            </a:r>
            <a:endParaRPr lang="en-US" sz="1050" dirty="0"/>
          </a:p>
        </p:txBody>
      </p:sp>
      <p:sp>
        <p:nvSpPr>
          <p:cNvPr id="15" name="Text 12"/>
          <p:cNvSpPr txBox="1"/>
          <p:nvPr/>
        </p:nvSpPr>
        <p:spPr>
          <a:xfrm>
            <a:off x="8138160" y="27249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OCTA map (Aug. 2026; Caltrans 2024)</a:t>
            </a:r>
            <a:endParaRPr lang="en-US" sz="750" dirty="0"/>
          </a:p>
        </p:txBody>
      </p:sp>
      <p:sp>
        <p:nvSpPr>
          <p:cNvPr id="16" name="news-stat-1"/>
          <p:cNvSpPr/>
          <p:nvPr/>
        </p:nvSpPr>
        <p:spPr>
          <a:xfrm>
            <a:off x="8001000" y="3127248"/>
            <a:ext cx="3642055" cy="1280160"/>
          </a:xfrm>
          <a:prstGeom prst="roundRect">
            <a:avLst>
              <a:gd name="adj" fmla="val 4286"/>
            </a:avLst>
          </a:prstGeom>
          <a:solidFill>
            <a:srgbClr val="FFFFFF"/>
          </a:solidFill>
          <a:ln w="12700">
            <a:solidFill>
              <a:srgbClr val="B4D9E3"/>
            </a:solidFill>
            <a:prstDash val="solid"/>
          </a:ln>
        </p:spPr>
      </p:sp>
      <p:sp>
        <p:nvSpPr>
          <p:cNvPr id="17" name="Text 14"/>
          <p:cNvSpPr txBox="1"/>
          <p:nvPr/>
        </p:nvSpPr>
        <p:spPr>
          <a:xfrm>
            <a:off x="8138160" y="32004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ARTIC BUS SERVICE</a:t>
            </a:r>
            <a:endParaRPr lang="en-US" sz="850" dirty="0"/>
          </a:p>
        </p:txBody>
      </p:sp>
      <p:sp>
        <p:nvSpPr>
          <p:cNvPr id="18" name="Text 15"/>
          <p:cNvSpPr txBox="1"/>
          <p:nvPr/>
        </p:nvSpPr>
        <p:spPr>
          <a:xfrm>
            <a:off x="8138160" y="34015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277</a:t>
            </a:r>
            <a:endParaRPr lang="en-US" sz="2200" dirty="0"/>
          </a:p>
        </p:txBody>
      </p:sp>
      <p:sp>
        <p:nvSpPr>
          <p:cNvPr id="19" name="Text 16"/>
          <p:cNvSpPr txBox="1"/>
          <p:nvPr/>
        </p:nvSpPr>
        <p:spPr>
          <a:xfrm>
            <a:off x="8138160" y="38221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Weekday bus trips stopping at ARTIC</a:t>
            </a:r>
            <a:endParaRPr lang="en-US" sz="1050" dirty="0"/>
          </a:p>
        </p:txBody>
      </p:sp>
      <p:sp>
        <p:nvSpPr>
          <p:cNvPr id="20" name="Text 17"/>
          <p:cNvSpPr txBox="1"/>
          <p:nvPr/>
        </p:nvSpPr>
        <p:spPr>
          <a:xfrm>
            <a:off x="8138160" y="40965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OCTA schedules (Aug.–Nov. 2026)</a:t>
            </a:r>
            <a:endParaRPr lang="en-US" sz="750" dirty="0"/>
          </a:p>
        </p:txBody>
      </p:sp>
      <p:sp>
        <p:nvSpPr>
          <p:cNvPr id="21" name="news-stat-2"/>
          <p:cNvSpPr/>
          <p:nvPr/>
        </p:nvSpPr>
        <p:spPr>
          <a:xfrm>
            <a:off x="8001000" y="4498848"/>
            <a:ext cx="3642055" cy="1280160"/>
          </a:xfrm>
          <a:prstGeom prst="roundRect">
            <a:avLst>
              <a:gd name="adj" fmla="val 4286"/>
            </a:avLst>
          </a:prstGeom>
          <a:solidFill>
            <a:srgbClr val="FFFFFF"/>
          </a:solidFill>
          <a:ln w="12700">
            <a:solidFill>
              <a:srgbClr val="B4D9E3"/>
            </a:solidFill>
            <a:prstDash val="solid"/>
          </a:ln>
        </p:spPr>
      </p:sp>
      <p:sp>
        <p:nvSpPr>
          <p:cNvPr id="22" name="Text 19"/>
          <p:cNvSpPr txBox="1"/>
          <p:nvPr/>
        </p:nvSpPr>
        <p:spPr>
          <a:xfrm>
            <a:off x="8138160" y="45720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VISITOR ORIGIN</a:t>
            </a:r>
            <a:endParaRPr lang="en-US" sz="850" dirty="0"/>
          </a:p>
        </p:txBody>
      </p:sp>
      <p:sp>
        <p:nvSpPr>
          <p:cNvPr id="23" name="Text 20"/>
          <p:cNvSpPr txBox="1"/>
          <p:nvPr/>
        </p:nvSpPr>
        <p:spPr>
          <a:xfrm>
            <a:off x="8138160" y="47731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74.0%</a:t>
            </a:r>
            <a:endParaRPr lang="en-US" sz="2200" dirty="0"/>
          </a:p>
        </p:txBody>
      </p:sp>
      <p:sp>
        <p:nvSpPr>
          <p:cNvPr id="24" name="Text 21"/>
          <p:cNvSpPr txBox="1"/>
          <p:nvPr/>
        </p:nvSpPr>
        <p:spPr>
          <a:xfrm>
            <a:off x="8138160" y="51937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Domestic trips from within 50 miles</a:t>
            </a:r>
            <a:endParaRPr lang="en-US" sz="1050" dirty="0"/>
          </a:p>
        </p:txBody>
      </p:sp>
      <p:sp>
        <p:nvSpPr>
          <p:cNvPr id="25" name="Text 22"/>
          <p:cNvSpPr txBox="1"/>
          <p:nvPr/>
        </p:nvSpPr>
        <p:spPr>
          <a:xfrm>
            <a:off x="8138160" y="54681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Azira via Symphony (2026)</a:t>
            </a:r>
            <a:endParaRPr lang="en-US" sz="750" dirty="0"/>
          </a:p>
        </p:txBody>
      </p:sp>
      <p:sp>
        <p:nvSpPr>
          <p:cNvPr id="2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Azira via Symphony (District 5, Jan. 1–May 31, 2026; domestic visitors, Aug. 2026); OCTA Traffic Flow Map (pub. Aug. 2026) and bus schedules (Aug. 9–Nov. 7, 2026); Amtrak ANA fact sheet (2024 data; pub. Oct. 27, 2025); Metrolink FY26 Q2 (Oct.–Dec. 2025)</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80</a:t>
            </a:fld>
            <a:endParaRPr lang="en-US"/>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The details: Getting here</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who, what, when, where, why and how, each with its figure, source and date</a:t>
            </a:r>
            <a:endParaRPr lang="en-US" sz="1200" dirty="0"/>
          </a:p>
        </p:txBody>
      </p:sp>
      <p:sp>
        <p:nvSpPr>
          <p:cNvPr id="4" name="detail-card-0"/>
          <p:cNvSpPr/>
          <p:nvPr/>
        </p:nvSpPr>
        <p:spPr>
          <a:xfrm>
            <a:off x="548640" y="1417320"/>
            <a:ext cx="3588410" cy="2176272"/>
          </a:xfrm>
          <a:prstGeom prst="rect">
            <a:avLst/>
          </a:prstGeom>
          <a:solidFill>
            <a:srgbClr val="FFFFFF"/>
          </a:solidFill>
          <a:ln w="12700">
            <a:solidFill>
              <a:srgbClr val="B4D9E3"/>
            </a:solidFill>
            <a:prstDash val="solid"/>
          </a:ln>
        </p:spPr>
      </p:sp>
      <p:sp>
        <p:nvSpPr>
          <p:cNvPr id="5" name="Shape 3"/>
          <p:cNvSpPr/>
          <p:nvPr/>
        </p:nvSpPr>
        <p:spPr>
          <a:xfrm>
            <a:off x="548640" y="1417320"/>
            <a:ext cx="3588410" cy="64008"/>
          </a:xfrm>
          <a:prstGeom prst="rect">
            <a:avLst/>
          </a:prstGeom>
          <a:solidFill>
            <a:srgbClr val="43A3A3"/>
          </a:solidFill>
          <a:ln w="12700">
            <a:solidFill>
              <a:srgbClr val="43A3A3"/>
            </a:solidFill>
            <a:prstDash val="solid"/>
          </a:ln>
        </p:spPr>
      </p:sp>
      <p:sp>
        <p:nvSpPr>
          <p:cNvPr id="6" name="Text 4"/>
          <p:cNvSpPr txBox="1"/>
          <p:nvPr/>
        </p:nvSpPr>
        <p:spPr>
          <a:xfrm>
            <a:off x="685800"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WHO</a:t>
            </a:r>
            <a:endParaRPr lang="en-US" sz="900" dirty="0"/>
          </a:p>
        </p:txBody>
      </p:sp>
      <p:sp>
        <p:nvSpPr>
          <p:cNvPr id="7" name="Text 5"/>
          <p:cNvSpPr txBox="1"/>
          <p:nvPr/>
        </p:nvSpPr>
        <p:spPr>
          <a:xfrm>
            <a:off x="685800"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74.0%</a:t>
            </a:r>
            <a:endParaRPr lang="en-US" sz="2200" dirty="0"/>
          </a:p>
        </p:txBody>
      </p:sp>
      <p:sp>
        <p:nvSpPr>
          <p:cNvPr id="8" name="Text 6"/>
          <p:cNvSpPr txBox="1"/>
          <p:nvPr/>
        </p:nvSpPr>
        <p:spPr>
          <a:xfrm>
            <a:off x="685800"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of domestic trips start within 50 miles; most arrive by car</a:t>
            </a:r>
            <a:endParaRPr lang="en-US" sz="1000" dirty="0"/>
          </a:p>
        </p:txBody>
      </p:sp>
      <p:sp>
        <p:nvSpPr>
          <p:cNvPr id="9" name="Text 7"/>
          <p:cNvSpPr txBox="1"/>
          <p:nvPr/>
        </p:nvSpPr>
        <p:spPr>
          <a:xfrm>
            <a:off x="685800"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Visitors arriving by car, bus, Amtrak and Metrolink; OCTA, the City and OC Vibe as operators.</a:t>
            </a:r>
            <a:endParaRPr lang="en-US" sz="950" dirty="0"/>
          </a:p>
        </p:txBody>
      </p:sp>
      <p:sp>
        <p:nvSpPr>
          <p:cNvPr id="10" name="Text 8"/>
          <p:cNvSpPr txBox="1"/>
          <p:nvPr/>
        </p:nvSpPr>
        <p:spPr>
          <a:xfrm>
            <a:off x="685800"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Azira via Symphony (domestic visitors, Aug. 2026)</a:t>
            </a:r>
            <a:endParaRPr lang="en-US" sz="700" dirty="0"/>
          </a:p>
        </p:txBody>
      </p:sp>
      <p:sp>
        <p:nvSpPr>
          <p:cNvPr id="11" name="detail-card-1"/>
          <p:cNvSpPr/>
          <p:nvPr/>
        </p:nvSpPr>
        <p:spPr>
          <a:xfrm>
            <a:off x="4301642" y="1417320"/>
            <a:ext cx="3588410" cy="2176272"/>
          </a:xfrm>
          <a:prstGeom prst="rect">
            <a:avLst/>
          </a:prstGeom>
          <a:solidFill>
            <a:srgbClr val="FFFFFF"/>
          </a:solidFill>
          <a:ln w="12700">
            <a:solidFill>
              <a:srgbClr val="B4D9E3"/>
            </a:solidFill>
            <a:prstDash val="solid"/>
          </a:ln>
        </p:spPr>
      </p:sp>
      <p:sp>
        <p:nvSpPr>
          <p:cNvPr id="12" name="Shape 10"/>
          <p:cNvSpPr/>
          <p:nvPr/>
        </p:nvSpPr>
        <p:spPr>
          <a:xfrm>
            <a:off x="4301642" y="1417320"/>
            <a:ext cx="3588410" cy="64008"/>
          </a:xfrm>
          <a:prstGeom prst="rect">
            <a:avLst/>
          </a:prstGeom>
          <a:solidFill>
            <a:srgbClr val="43A3A3"/>
          </a:solidFill>
          <a:ln w="12700">
            <a:solidFill>
              <a:srgbClr val="43A3A3"/>
            </a:solidFill>
            <a:prstDash val="solid"/>
          </a:ln>
        </p:spPr>
      </p:sp>
      <p:sp>
        <p:nvSpPr>
          <p:cNvPr id="13" name="Text 11"/>
          <p:cNvSpPr txBox="1"/>
          <p:nvPr/>
        </p:nvSpPr>
        <p:spPr>
          <a:xfrm>
            <a:off x="4438802"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WHAT</a:t>
            </a:r>
            <a:endParaRPr lang="en-US" sz="900" dirty="0"/>
          </a:p>
        </p:txBody>
      </p:sp>
      <p:sp>
        <p:nvSpPr>
          <p:cNvPr id="14" name="Text 12"/>
          <p:cNvSpPr txBox="1"/>
          <p:nvPr/>
        </p:nvSpPr>
        <p:spPr>
          <a:xfrm>
            <a:off x="4438802"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275,000</a:t>
            </a:r>
            <a:endParaRPr lang="en-US" sz="2200" dirty="0"/>
          </a:p>
        </p:txBody>
      </p:sp>
      <p:sp>
        <p:nvSpPr>
          <p:cNvPr id="15" name="Text 13"/>
          <p:cNvSpPr txBox="1"/>
          <p:nvPr/>
        </p:nvSpPr>
        <p:spPr>
          <a:xfrm>
            <a:off x="4438802"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vehicles a day on SR-57 beside OC Vibe</a:t>
            </a:r>
            <a:endParaRPr lang="en-US" sz="1000" dirty="0"/>
          </a:p>
        </p:txBody>
      </p:sp>
      <p:sp>
        <p:nvSpPr>
          <p:cNvPr id="16" name="Text 14"/>
          <p:cNvSpPr txBox="1"/>
          <p:nvPr/>
        </p:nvSpPr>
        <p:spPr>
          <a:xfrm>
            <a:off x="4438802"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SR-57 carries about </a:t>
            </a:r>
            <a:pPr indent="0" marL="0">
              <a:buNone/>
            </a:pPr>
            <a:r>
              <a:rPr lang="en-US" sz="950" b="1" dirty="0">
                <a:solidFill>
                  <a:srgbClr val="125C60"/>
                </a:solidFill>
                <a:latin typeface="Proxima Nova" pitchFamily="34" charset="0"/>
                <a:ea typeface="Proxima Nova" pitchFamily="34" charset="-122"/>
                <a:cs typeface="Proxima Nova" pitchFamily="34" charset="-120"/>
              </a:rPr>
              <a:t>275,000 vehicles</a:t>
            </a:r>
            <a:pPr indent="0" marL="0">
              <a:buNone/>
            </a:pPr>
            <a:r>
              <a:rPr lang="en-US" sz="950" dirty="0">
                <a:solidFill>
                  <a:srgbClr val="231F20"/>
                </a:solidFill>
                <a:latin typeface="Proxima Nova" pitchFamily="34" charset="0"/>
                <a:ea typeface="Proxima Nova" pitchFamily="34" charset="-122"/>
                <a:cs typeface="Proxima Nova" pitchFamily="34" charset="-120"/>
              </a:rPr>
              <a:t> a day beside OC Vibe; 277 weekday buses stop at ARTIC (11 leave after 10 p.m.); </a:t>
            </a:r>
            <a:pPr indent="0" marL="0">
              <a:buNone/>
            </a:pPr>
            <a:r>
              <a:rPr lang="en-US" sz="950" b="1" dirty="0">
                <a:solidFill>
                  <a:srgbClr val="125C60"/>
                </a:solidFill>
                <a:latin typeface="Proxima Nova" pitchFamily="34" charset="0"/>
                <a:ea typeface="Proxima Nova" pitchFamily="34" charset="-122"/>
                <a:cs typeface="Proxima Nova" pitchFamily="34" charset="-120"/>
              </a:rPr>
              <a:t>191,153</a:t>
            </a:r>
            <a:pPr indent="0" marL="0">
              <a:buNone/>
            </a:pPr>
            <a:r>
              <a:rPr lang="en-US" sz="950" dirty="0">
                <a:solidFill>
                  <a:srgbClr val="231F20"/>
                </a:solidFill>
                <a:latin typeface="Proxima Nova" pitchFamily="34" charset="0"/>
                <a:ea typeface="Proxima Nova" pitchFamily="34" charset="-122"/>
                <a:cs typeface="Proxima Nova" pitchFamily="34" charset="-120"/>
              </a:rPr>
              <a:t> Amtrak passengers used the station in 2024.</a:t>
            </a:r>
            <a:endParaRPr lang="en-US" sz="950" dirty="0"/>
          </a:p>
        </p:txBody>
      </p:sp>
      <p:sp>
        <p:nvSpPr>
          <p:cNvPr id="17" name="Text 15"/>
          <p:cNvSpPr txBox="1"/>
          <p:nvPr/>
        </p:nvSpPr>
        <p:spPr>
          <a:xfrm>
            <a:off x="4438802"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OCTA Traffic Flow Map (pub. Aug. 2026)</a:t>
            </a:r>
            <a:endParaRPr lang="en-US" sz="700" dirty="0"/>
          </a:p>
        </p:txBody>
      </p:sp>
      <p:sp>
        <p:nvSpPr>
          <p:cNvPr id="18" name="detail-card-2"/>
          <p:cNvSpPr/>
          <p:nvPr/>
        </p:nvSpPr>
        <p:spPr>
          <a:xfrm>
            <a:off x="8054645" y="1417320"/>
            <a:ext cx="3588410" cy="2176272"/>
          </a:xfrm>
          <a:prstGeom prst="rect">
            <a:avLst/>
          </a:prstGeom>
          <a:solidFill>
            <a:srgbClr val="FFFFFF"/>
          </a:solidFill>
          <a:ln w="12700">
            <a:solidFill>
              <a:srgbClr val="B4D9E3"/>
            </a:solidFill>
            <a:prstDash val="solid"/>
          </a:ln>
        </p:spPr>
      </p:sp>
      <p:sp>
        <p:nvSpPr>
          <p:cNvPr id="19" name="Shape 17"/>
          <p:cNvSpPr/>
          <p:nvPr/>
        </p:nvSpPr>
        <p:spPr>
          <a:xfrm>
            <a:off x="8054645" y="1417320"/>
            <a:ext cx="3588410" cy="64008"/>
          </a:xfrm>
          <a:prstGeom prst="rect">
            <a:avLst/>
          </a:prstGeom>
          <a:solidFill>
            <a:srgbClr val="43A3A3"/>
          </a:solidFill>
          <a:ln w="12700">
            <a:solidFill>
              <a:srgbClr val="43A3A3"/>
            </a:solidFill>
            <a:prstDash val="solid"/>
          </a:ln>
        </p:spPr>
      </p:sp>
      <p:sp>
        <p:nvSpPr>
          <p:cNvPr id="20" name="Text 18"/>
          <p:cNvSpPr txBox="1"/>
          <p:nvPr/>
        </p:nvSpPr>
        <p:spPr>
          <a:xfrm>
            <a:off x="8191805"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WHEN</a:t>
            </a:r>
            <a:endParaRPr lang="en-US" sz="900" dirty="0"/>
          </a:p>
        </p:txBody>
      </p:sp>
      <p:sp>
        <p:nvSpPr>
          <p:cNvPr id="21" name="Text 19"/>
          <p:cNvSpPr txBox="1"/>
          <p:nvPr/>
        </p:nvSpPr>
        <p:spPr>
          <a:xfrm>
            <a:off x="8191805"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Aug. 9–Nov. 7, 2026</a:t>
            </a:r>
            <a:endParaRPr lang="en-US" sz="2200" dirty="0"/>
          </a:p>
        </p:txBody>
      </p:sp>
      <p:sp>
        <p:nvSpPr>
          <p:cNvPr id="22" name="Text 20"/>
          <p:cNvSpPr txBox="1"/>
          <p:nvPr/>
        </p:nvSpPr>
        <p:spPr>
          <a:xfrm>
            <a:off x="8191805"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current OCTA bus schedule</a:t>
            </a:r>
            <a:endParaRPr lang="en-US" sz="1000" dirty="0"/>
          </a:p>
        </p:txBody>
      </p:sp>
      <p:sp>
        <p:nvSpPr>
          <p:cNvPr id="23" name="Text 21"/>
          <p:cNvSpPr txBox="1"/>
          <p:nvPr/>
        </p:nvSpPr>
        <p:spPr>
          <a:xfrm>
            <a:off x="8191805"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Traffic counts 2021–2024 (2026 map); bus schedules Aug. 9–Nov. 7, 2026; Amtrak 2024; Metrolink Oct.–Dec. 2025.</a:t>
            </a:r>
            <a:endParaRPr lang="en-US" sz="950" dirty="0"/>
          </a:p>
        </p:txBody>
      </p:sp>
      <p:sp>
        <p:nvSpPr>
          <p:cNvPr id="24" name="Text 22"/>
          <p:cNvSpPr txBox="1"/>
          <p:nvPr/>
        </p:nvSpPr>
        <p:spPr>
          <a:xfrm>
            <a:off x="8191805"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OCTA bus schedules (Aug. 9–Nov. 7, 2026)</a:t>
            </a:r>
            <a:endParaRPr lang="en-US" sz="700" dirty="0"/>
          </a:p>
        </p:txBody>
      </p:sp>
      <p:sp>
        <p:nvSpPr>
          <p:cNvPr id="25" name="detail-card-3"/>
          <p:cNvSpPr/>
          <p:nvPr/>
        </p:nvSpPr>
        <p:spPr>
          <a:xfrm>
            <a:off x="548640" y="3685032"/>
            <a:ext cx="3588410" cy="2176272"/>
          </a:xfrm>
          <a:prstGeom prst="rect">
            <a:avLst/>
          </a:prstGeom>
          <a:solidFill>
            <a:srgbClr val="FFFFFF"/>
          </a:solidFill>
          <a:ln w="12700">
            <a:solidFill>
              <a:srgbClr val="B4D9E3"/>
            </a:solidFill>
            <a:prstDash val="solid"/>
          </a:ln>
        </p:spPr>
      </p:sp>
      <p:sp>
        <p:nvSpPr>
          <p:cNvPr id="26" name="Shape 24"/>
          <p:cNvSpPr/>
          <p:nvPr/>
        </p:nvSpPr>
        <p:spPr>
          <a:xfrm>
            <a:off x="548640" y="3685032"/>
            <a:ext cx="3588410" cy="64008"/>
          </a:xfrm>
          <a:prstGeom prst="rect">
            <a:avLst/>
          </a:prstGeom>
          <a:solidFill>
            <a:srgbClr val="43A3A3"/>
          </a:solidFill>
          <a:ln w="12700">
            <a:solidFill>
              <a:srgbClr val="43A3A3"/>
            </a:solidFill>
            <a:prstDash val="solid"/>
          </a:ln>
        </p:spPr>
      </p:sp>
      <p:sp>
        <p:nvSpPr>
          <p:cNvPr id="27" name="Text 25"/>
          <p:cNvSpPr txBox="1"/>
          <p:nvPr/>
        </p:nvSpPr>
        <p:spPr>
          <a:xfrm>
            <a:off x="685800"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WHERE</a:t>
            </a:r>
            <a:endParaRPr lang="en-US" sz="900" dirty="0"/>
          </a:p>
        </p:txBody>
      </p:sp>
      <p:sp>
        <p:nvSpPr>
          <p:cNvPr id="28" name="Text 26"/>
          <p:cNvSpPr txBox="1"/>
          <p:nvPr/>
        </p:nvSpPr>
        <p:spPr>
          <a:xfrm>
            <a:off x="685800"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ARTIC</a:t>
            </a:r>
            <a:endParaRPr lang="en-US" sz="2200" dirty="0"/>
          </a:p>
        </p:txBody>
      </p:sp>
      <p:sp>
        <p:nvSpPr>
          <p:cNvPr id="29" name="Text 27"/>
          <p:cNvSpPr txBox="1"/>
          <p:nvPr/>
        </p:nvSpPr>
        <p:spPr>
          <a:xfrm>
            <a:off x="685800"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2626 E. Katella Ave., beside OC Vibe</a:t>
            </a:r>
            <a:endParaRPr lang="en-US" sz="1000" dirty="0"/>
          </a:p>
        </p:txBody>
      </p:sp>
      <p:sp>
        <p:nvSpPr>
          <p:cNvPr id="30" name="Text 28"/>
          <p:cNvSpPr txBox="1"/>
          <p:nvPr/>
        </p:nvSpPr>
        <p:spPr>
          <a:xfrm>
            <a:off x="685800"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SR-57, Katella Ave, Ball Rd, State College Blvd and ARTIC (2626 E. Katella Ave).</a:t>
            </a:r>
            <a:endParaRPr lang="en-US" sz="950" dirty="0"/>
          </a:p>
        </p:txBody>
      </p:sp>
      <p:sp>
        <p:nvSpPr>
          <p:cNvPr id="31" name="Text 29"/>
          <p:cNvSpPr txBox="1"/>
          <p:nvPr/>
        </p:nvSpPr>
        <p:spPr>
          <a:xfrm>
            <a:off x="685800"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OCTA bus schedules (Aug. 9–Nov. 7, 2026)</a:t>
            </a:r>
            <a:endParaRPr lang="en-US" sz="700" dirty="0"/>
          </a:p>
        </p:txBody>
      </p:sp>
      <p:sp>
        <p:nvSpPr>
          <p:cNvPr id="32" name="detail-card-4"/>
          <p:cNvSpPr/>
          <p:nvPr/>
        </p:nvSpPr>
        <p:spPr>
          <a:xfrm>
            <a:off x="4301642" y="3685032"/>
            <a:ext cx="3588410" cy="2176272"/>
          </a:xfrm>
          <a:prstGeom prst="rect">
            <a:avLst/>
          </a:prstGeom>
          <a:solidFill>
            <a:srgbClr val="FFFFFF"/>
          </a:solidFill>
          <a:ln w="12700">
            <a:solidFill>
              <a:srgbClr val="B4D9E3"/>
            </a:solidFill>
            <a:prstDash val="solid"/>
          </a:ln>
        </p:spPr>
      </p:sp>
      <p:sp>
        <p:nvSpPr>
          <p:cNvPr id="33" name="Shape 31"/>
          <p:cNvSpPr/>
          <p:nvPr/>
        </p:nvSpPr>
        <p:spPr>
          <a:xfrm>
            <a:off x="4301642" y="3685032"/>
            <a:ext cx="3588410" cy="64008"/>
          </a:xfrm>
          <a:prstGeom prst="rect">
            <a:avLst/>
          </a:prstGeom>
          <a:solidFill>
            <a:srgbClr val="43A3A3"/>
          </a:solidFill>
          <a:ln w="12700">
            <a:solidFill>
              <a:srgbClr val="43A3A3"/>
            </a:solidFill>
            <a:prstDash val="solid"/>
          </a:ln>
        </p:spPr>
      </p:sp>
      <p:sp>
        <p:nvSpPr>
          <p:cNvPr id="34" name="Text 32"/>
          <p:cNvSpPr txBox="1"/>
          <p:nvPr/>
        </p:nvSpPr>
        <p:spPr>
          <a:xfrm>
            <a:off x="4438802"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WHY</a:t>
            </a:r>
            <a:endParaRPr lang="en-US" sz="900" dirty="0"/>
          </a:p>
        </p:txBody>
      </p:sp>
      <p:sp>
        <p:nvSpPr>
          <p:cNvPr id="35" name="Text 33"/>
          <p:cNvSpPr txBox="1"/>
          <p:nvPr/>
        </p:nvSpPr>
        <p:spPr>
          <a:xfrm>
            <a:off x="4438802"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11</a:t>
            </a:r>
            <a:endParaRPr lang="en-US" sz="2200" dirty="0"/>
          </a:p>
        </p:txBody>
      </p:sp>
      <p:sp>
        <p:nvSpPr>
          <p:cNvPr id="36" name="Text 34"/>
          <p:cNvSpPr txBox="1"/>
          <p:nvPr/>
        </p:nvSpPr>
        <p:spPr>
          <a:xfrm>
            <a:off x="4438802"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weekday buses leave ARTIC after 10 p.m.</a:t>
            </a:r>
            <a:endParaRPr lang="en-US" sz="1000" dirty="0"/>
          </a:p>
        </p:txBody>
      </p:sp>
      <p:sp>
        <p:nvSpPr>
          <p:cNvPr id="37" name="Text 35"/>
          <p:cNvSpPr txBox="1"/>
          <p:nvPr/>
        </p:nvSpPr>
        <p:spPr>
          <a:xfrm>
            <a:off x="4438802"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Access shapes how many visitors OC Vibe can host on peak nights and how easily resort guests reach it.</a:t>
            </a:r>
            <a:endParaRPr lang="en-US" sz="950" dirty="0"/>
          </a:p>
        </p:txBody>
      </p:sp>
      <p:sp>
        <p:nvSpPr>
          <p:cNvPr id="38" name="Text 36"/>
          <p:cNvSpPr txBox="1"/>
          <p:nvPr/>
        </p:nvSpPr>
        <p:spPr>
          <a:xfrm>
            <a:off x="4438802"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OCTA bus schedules (Aug. 9–Nov. 7, 2026)</a:t>
            </a:r>
            <a:endParaRPr lang="en-US" sz="700" dirty="0"/>
          </a:p>
        </p:txBody>
      </p:sp>
      <p:sp>
        <p:nvSpPr>
          <p:cNvPr id="39" name="detail-card-5"/>
          <p:cNvSpPr/>
          <p:nvPr/>
        </p:nvSpPr>
        <p:spPr>
          <a:xfrm>
            <a:off x="8054645" y="3685032"/>
            <a:ext cx="3588410" cy="2176272"/>
          </a:xfrm>
          <a:prstGeom prst="rect">
            <a:avLst/>
          </a:prstGeom>
          <a:solidFill>
            <a:srgbClr val="FFFFFF"/>
          </a:solidFill>
          <a:ln w="12700">
            <a:solidFill>
              <a:srgbClr val="B4D9E3"/>
            </a:solidFill>
            <a:prstDash val="solid"/>
          </a:ln>
        </p:spPr>
      </p:sp>
      <p:sp>
        <p:nvSpPr>
          <p:cNvPr id="40" name="Shape 38"/>
          <p:cNvSpPr/>
          <p:nvPr/>
        </p:nvSpPr>
        <p:spPr>
          <a:xfrm>
            <a:off x="8054645" y="3685032"/>
            <a:ext cx="3588410" cy="64008"/>
          </a:xfrm>
          <a:prstGeom prst="rect">
            <a:avLst/>
          </a:prstGeom>
          <a:solidFill>
            <a:srgbClr val="43A3A3"/>
          </a:solidFill>
          <a:ln w="12700">
            <a:solidFill>
              <a:srgbClr val="43A3A3"/>
            </a:solidFill>
            <a:prstDash val="solid"/>
          </a:ln>
        </p:spPr>
      </p:sp>
      <p:sp>
        <p:nvSpPr>
          <p:cNvPr id="41" name="Text 39"/>
          <p:cNvSpPr txBox="1"/>
          <p:nvPr/>
        </p:nvSpPr>
        <p:spPr>
          <a:xfrm>
            <a:off x="8191805"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HOW</a:t>
            </a:r>
            <a:endParaRPr lang="en-US" sz="900" dirty="0"/>
          </a:p>
        </p:txBody>
      </p:sp>
      <p:sp>
        <p:nvSpPr>
          <p:cNvPr id="42" name="Text 40"/>
          <p:cNvSpPr txBox="1"/>
          <p:nvPr/>
        </p:nvSpPr>
        <p:spPr>
          <a:xfrm>
            <a:off x="8191805"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277</a:t>
            </a:r>
            <a:endParaRPr lang="en-US" sz="2200" dirty="0"/>
          </a:p>
        </p:txBody>
      </p:sp>
      <p:sp>
        <p:nvSpPr>
          <p:cNvPr id="43" name="Text 41"/>
          <p:cNvSpPr txBox="1"/>
          <p:nvPr/>
        </p:nvSpPr>
        <p:spPr>
          <a:xfrm>
            <a:off x="8191805"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weekday bus trips at ARTIC: 100 + 102 + 75 (routes 50, 53 and 553)</a:t>
            </a:r>
            <a:endParaRPr lang="en-US" sz="1000" dirty="0"/>
          </a:p>
        </p:txBody>
      </p:sp>
      <p:sp>
        <p:nvSpPr>
          <p:cNvPr id="44" name="Text 42"/>
          <p:cNvSpPr txBox="1"/>
          <p:nvPr/>
        </p:nvSpPr>
        <p:spPr>
          <a:xfrm>
            <a:off x="8191805"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BI analysis of OCTA's traffic map and bus schedules; rail station and line reports; California transit operator statistics.</a:t>
            </a:r>
            <a:endParaRPr lang="en-US" sz="950" dirty="0"/>
          </a:p>
        </p:txBody>
      </p:sp>
      <p:sp>
        <p:nvSpPr>
          <p:cNvPr id="45" name="Text 43"/>
          <p:cNvSpPr txBox="1"/>
          <p:nvPr/>
        </p:nvSpPr>
        <p:spPr>
          <a:xfrm>
            <a:off x="8191805"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OCTA bus schedules (Aug. 9–Nov. 7, 2026)</a:t>
            </a:r>
            <a:endParaRPr lang="en-US" sz="700" dirty="0"/>
          </a:p>
        </p:txBody>
      </p:sp>
      <p:sp>
        <p:nvSpPr>
          <p:cNvPr id="4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OCTA Traffic Flow Map (pub. Aug. 2026) and bus schedules (Aug. 9–Nov. 7, 2026); Amtrak ANA fact sheet (2024 data; pub. Oct. 27, 2025); Metrolink FY26 Q2 (Oct.–Dec. 2025); U.S. BTS Transportation Economic Trends (2019–2025; accessed Oct. 12, 2026); Mindtrip trip planner messages (Oct. 1, 2025–Oct. 11,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81</a:t>
            </a:fld>
            <a:endParaRPr lang="en-US"/>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At a glance: Getting here</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data infographic · every figure from this section, with its source and date</a:t>
            </a:r>
            <a:endParaRPr lang="en-US" sz="1200" dirty="0"/>
          </a:p>
        </p:txBody>
      </p:sp>
      <p:sp>
        <p:nvSpPr>
          <p:cNvPr id="4" name="Text 2"/>
          <p:cNvSpPr txBox="1"/>
          <p:nvPr/>
        </p:nvSpPr>
        <p:spPr>
          <a:xfrm>
            <a:off x="548640" y="1417320"/>
            <a:ext cx="11094415" cy="329184"/>
          </a:xfrm>
          <a:prstGeom prst="rect">
            <a:avLst/>
          </a:prstGeom>
          <a:noFill/>
          <a:ln/>
        </p:spPr>
        <p:txBody>
          <a:bodyPr wrap="square" lIns="0" tIns="0" rIns="0" bIns="0" rtlCol="0" anchor="ctr">
            <a:normAutofit/>
          </a:bodyPr>
          <a:lstStyle/>
          <a:p>
            <a:pPr indent="0" marL="0">
              <a:buNone/>
            </a:pPr>
            <a:r>
              <a:rPr lang="en-US" sz="1500" b="1" i="1" dirty="0">
                <a:solidFill>
                  <a:srgbClr val="125C60"/>
                </a:solidFill>
                <a:latin typeface="Proxima Nova" pitchFamily="34" charset="0"/>
                <a:ea typeface="Proxima Nova" pitchFamily="34" charset="-122"/>
                <a:cs typeface="Proxima Nova" pitchFamily="34" charset="-120"/>
              </a:rPr>
              <a:t>ARTIC departures: weekday OCTA bus trips</a:t>
            </a:r>
            <a:endParaRPr lang="en-US" sz="1500" dirty="0"/>
          </a:p>
        </p:txBody>
      </p:sp>
      <p:sp>
        <p:nvSpPr>
          <p:cNvPr id="5" name="Text 3"/>
          <p:cNvSpPr txBox="1"/>
          <p:nvPr/>
        </p:nvSpPr>
        <p:spPr>
          <a:xfrm>
            <a:off x="548640" y="1746504"/>
            <a:ext cx="11094415" cy="237744"/>
          </a:xfrm>
          <a:prstGeom prst="rect">
            <a:avLst/>
          </a:prstGeom>
          <a:noFill/>
          <a:ln/>
        </p:spPr>
        <p:txBody>
          <a:bodyPr wrap="square" lIns="0" tIns="0" rIns="0" bIns="0" rtlCol="0" anchor="ctr">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OCTA schedules, Aug. 9–Nov. 7, 2026 · beside OC Vibe at 2626 E. Katella Ave.</a:t>
            </a:r>
            <a:endParaRPr lang="en-US" sz="950" dirty="0"/>
          </a:p>
        </p:txBody>
      </p:sp>
      <p:sp>
        <p:nvSpPr>
          <p:cNvPr id="6" name="Shape 4"/>
          <p:cNvSpPr/>
          <p:nvPr/>
        </p:nvSpPr>
        <p:spPr>
          <a:xfrm>
            <a:off x="548640" y="2075688"/>
            <a:ext cx="11094415" cy="2148840"/>
          </a:xfrm>
          <a:prstGeom prst="roundRect">
            <a:avLst>
              <a:gd name="adj" fmla="val 2553"/>
            </a:avLst>
          </a:prstGeom>
          <a:solidFill>
            <a:srgbClr val="125C60"/>
          </a:solidFill>
          <a:ln w="12700">
            <a:solidFill>
              <a:srgbClr val="125C60"/>
            </a:solidFill>
            <a:prstDash val="solid"/>
          </a:ln>
        </p:spPr>
      </p:sp>
      <p:sp>
        <p:nvSpPr>
          <p:cNvPr id="7" name="Text 5"/>
          <p:cNvSpPr txBox="1"/>
          <p:nvPr/>
        </p:nvSpPr>
        <p:spPr>
          <a:xfrm>
            <a:off x="731520" y="2167128"/>
            <a:ext cx="2743200" cy="274320"/>
          </a:xfrm>
          <a:prstGeom prst="rect">
            <a:avLst/>
          </a:prstGeom>
          <a:noFill/>
          <a:ln/>
        </p:spPr>
        <p:txBody>
          <a:bodyPr wrap="square" lIns="0" tIns="0" rIns="0" bIns="0" rtlCol="0" anchor="ctr"/>
          <a:lstStyle/>
          <a:p>
            <a:pPr indent="0" marL="0">
              <a:buNone/>
            </a:pPr>
            <a:r>
              <a:rPr lang="en-US" sz="900" b="1" spc="100" kern="0" dirty="0">
                <a:solidFill>
                  <a:srgbClr val="FFFFFF"/>
                </a:solidFill>
                <a:latin typeface="Proxima Nova" pitchFamily="34" charset="0"/>
                <a:ea typeface="Proxima Nova" pitchFamily="34" charset="-122"/>
                <a:cs typeface="Proxima Nova" pitchFamily="34" charset="-120"/>
              </a:rPr>
              <a:t>ROUTE</a:t>
            </a:r>
            <a:endParaRPr lang="en-US" sz="900" dirty="0"/>
          </a:p>
        </p:txBody>
      </p:sp>
      <p:sp>
        <p:nvSpPr>
          <p:cNvPr id="8" name="Text 6"/>
          <p:cNvSpPr txBox="1"/>
          <p:nvPr/>
        </p:nvSpPr>
        <p:spPr>
          <a:xfrm>
            <a:off x="1645920" y="2167128"/>
            <a:ext cx="2743200" cy="274320"/>
          </a:xfrm>
          <a:prstGeom prst="rect">
            <a:avLst/>
          </a:prstGeom>
          <a:noFill/>
          <a:ln/>
        </p:spPr>
        <p:txBody>
          <a:bodyPr wrap="square" lIns="0" tIns="0" rIns="0" bIns="0" rtlCol="0" anchor="ctr"/>
          <a:lstStyle/>
          <a:p>
            <a:pPr indent="0" marL="0">
              <a:buNone/>
            </a:pPr>
            <a:r>
              <a:rPr lang="en-US" sz="900" b="1" spc="100" kern="0" dirty="0">
                <a:solidFill>
                  <a:srgbClr val="FFFFFF"/>
                </a:solidFill>
                <a:latin typeface="Proxima Nova" pitchFamily="34" charset="0"/>
                <a:ea typeface="Proxima Nova" pitchFamily="34" charset="-122"/>
                <a:cs typeface="Proxima Nova" pitchFamily="34" charset="-120"/>
              </a:rPr>
              <a:t>CORRIDOR</a:t>
            </a:r>
            <a:endParaRPr lang="en-US" sz="900" dirty="0"/>
          </a:p>
        </p:txBody>
      </p:sp>
      <p:sp>
        <p:nvSpPr>
          <p:cNvPr id="9" name="Text 7"/>
          <p:cNvSpPr txBox="1"/>
          <p:nvPr/>
        </p:nvSpPr>
        <p:spPr>
          <a:xfrm>
            <a:off x="7427177" y="2167128"/>
            <a:ext cx="2743200" cy="274320"/>
          </a:xfrm>
          <a:prstGeom prst="rect">
            <a:avLst/>
          </a:prstGeom>
          <a:noFill/>
          <a:ln/>
        </p:spPr>
        <p:txBody>
          <a:bodyPr wrap="square" lIns="0" tIns="0" rIns="0" bIns="0" rtlCol="0" anchor="ctr"/>
          <a:lstStyle/>
          <a:p>
            <a:pPr indent="0" marL="0">
              <a:buNone/>
            </a:pPr>
            <a:r>
              <a:rPr lang="en-US" sz="900" b="1" spc="100" kern="0" dirty="0">
                <a:solidFill>
                  <a:srgbClr val="FFFFFF"/>
                </a:solidFill>
                <a:latin typeface="Proxima Nova" pitchFamily="34" charset="0"/>
                <a:ea typeface="Proxima Nova" pitchFamily="34" charset="-122"/>
                <a:cs typeface="Proxima Nova" pitchFamily="34" charset="-120"/>
              </a:rPr>
              <a:t>WEEKDAY TRIPS</a:t>
            </a:r>
            <a:endParaRPr lang="en-US" sz="900" dirty="0"/>
          </a:p>
        </p:txBody>
      </p:sp>
      <p:sp>
        <p:nvSpPr>
          <p:cNvPr id="10" name="Shape 8"/>
          <p:cNvSpPr/>
          <p:nvPr/>
        </p:nvSpPr>
        <p:spPr>
          <a:xfrm>
            <a:off x="731520" y="2532888"/>
            <a:ext cx="685800" cy="310896"/>
          </a:xfrm>
          <a:prstGeom prst="roundRect">
            <a:avLst>
              <a:gd name="adj" fmla="val 11765"/>
            </a:avLst>
          </a:prstGeom>
          <a:solidFill>
            <a:srgbClr val="43A3A3"/>
          </a:solidFill>
          <a:ln w="12700">
            <a:solidFill>
              <a:srgbClr val="FFFFFF"/>
            </a:solidFill>
            <a:prstDash val="solid"/>
          </a:ln>
        </p:spPr>
      </p:sp>
      <p:sp>
        <p:nvSpPr>
          <p:cNvPr id="11" name="Text 9"/>
          <p:cNvSpPr txBox="1"/>
          <p:nvPr/>
        </p:nvSpPr>
        <p:spPr>
          <a:xfrm>
            <a:off x="731520" y="2532888"/>
            <a:ext cx="685800"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Proxima Nova" pitchFamily="34" charset="0"/>
                <a:ea typeface="Proxima Nova" pitchFamily="34" charset="-122"/>
                <a:cs typeface="Proxima Nova" pitchFamily="34" charset="-120"/>
              </a:rPr>
              <a:t>50</a:t>
            </a:r>
            <a:endParaRPr lang="en-US" sz="1300" dirty="0"/>
          </a:p>
        </p:txBody>
      </p:sp>
      <p:sp>
        <p:nvSpPr>
          <p:cNvPr id="12" name="Text 10"/>
          <p:cNvSpPr txBox="1"/>
          <p:nvPr/>
        </p:nvSpPr>
        <p:spPr>
          <a:xfrm>
            <a:off x="1645920" y="2532888"/>
            <a:ext cx="5689817" cy="310896"/>
          </a:xfrm>
          <a:prstGeom prst="rect">
            <a:avLst/>
          </a:prstGeom>
          <a:noFill/>
          <a:ln/>
        </p:spPr>
        <p:txBody>
          <a:bodyPr wrap="square" lIns="0" tIns="0" rIns="0" bIns="0" rtlCol="0" anchor="ctr">
            <a:normAutofit/>
          </a:bodyPr>
          <a:lstStyle/>
          <a:p>
            <a:pPr indent="0" marL="0">
              <a:buNone/>
            </a:pPr>
            <a:r>
              <a:rPr lang="en-US" sz="1100" dirty="0">
                <a:solidFill>
                  <a:srgbClr val="FFFFFF"/>
                </a:solidFill>
                <a:latin typeface="Proxima Nova" pitchFamily="34" charset="0"/>
                <a:ea typeface="Proxima Nova" pitchFamily="34" charset="-122"/>
                <a:cs typeface="Proxima Nova" pitchFamily="34" charset="-120"/>
              </a:rPr>
              <a:t>Long Beach–Orange via Katella Ave</a:t>
            </a:r>
            <a:endParaRPr lang="en-US" sz="1100" dirty="0"/>
          </a:p>
        </p:txBody>
      </p:sp>
      <p:sp>
        <p:nvSpPr>
          <p:cNvPr id="13" name="Shape 11"/>
          <p:cNvSpPr/>
          <p:nvPr/>
        </p:nvSpPr>
        <p:spPr>
          <a:xfrm>
            <a:off x="7427177" y="2642616"/>
            <a:ext cx="3263063" cy="91440"/>
          </a:xfrm>
          <a:prstGeom prst="rect">
            <a:avLst/>
          </a:prstGeom>
          <a:solidFill>
            <a:srgbClr val="B4D9E3"/>
          </a:solidFill>
          <a:ln w="12700">
            <a:solidFill>
              <a:srgbClr val="B4D9E3"/>
            </a:solidFill>
            <a:prstDash val="solid"/>
          </a:ln>
        </p:spPr>
      </p:sp>
      <p:sp>
        <p:nvSpPr>
          <p:cNvPr id="14" name="Text 12"/>
          <p:cNvSpPr txBox="1"/>
          <p:nvPr/>
        </p:nvSpPr>
        <p:spPr>
          <a:xfrm>
            <a:off x="10820095" y="2532888"/>
            <a:ext cx="685800" cy="310896"/>
          </a:xfrm>
          <a:prstGeom prst="rect">
            <a:avLst/>
          </a:prstGeom>
          <a:noFill/>
          <a:ln/>
        </p:spPr>
        <p:txBody>
          <a:bodyPr wrap="square" lIns="0" tIns="0" rIns="0" bIns="0" rtlCol="0" anchor="ctr"/>
          <a:lstStyle/>
          <a:p>
            <a:pPr algn="r" indent="0" marL="0">
              <a:buNone/>
            </a:pPr>
            <a:r>
              <a:rPr lang="en-US" sz="1400" b="1" dirty="0">
                <a:solidFill>
                  <a:srgbClr val="FFFFFF"/>
                </a:solidFill>
                <a:latin typeface="Proxima Nova" pitchFamily="34" charset="0"/>
                <a:ea typeface="Proxima Nova" pitchFamily="34" charset="-122"/>
                <a:cs typeface="Proxima Nova" pitchFamily="34" charset="-120"/>
              </a:rPr>
              <a:t>100</a:t>
            </a:r>
            <a:endParaRPr lang="en-US" sz="1400" dirty="0"/>
          </a:p>
        </p:txBody>
      </p:sp>
      <p:sp>
        <p:nvSpPr>
          <p:cNvPr id="15" name="Shape 13"/>
          <p:cNvSpPr/>
          <p:nvPr/>
        </p:nvSpPr>
        <p:spPr>
          <a:xfrm>
            <a:off x="731520" y="2944368"/>
            <a:ext cx="685800" cy="310896"/>
          </a:xfrm>
          <a:prstGeom prst="roundRect">
            <a:avLst>
              <a:gd name="adj" fmla="val 11765"/>
            </a:avLst>
          </a:prstGeom>
          <a:solidFill>
            <a:srgbClr val="43A3A3"/>
          </a:solidFill>
          <a:ln w="12700">
            <a:solidFill>
              <a:srgbClr val="FFFFFF"/>
            </a:solidFill>
            <a:prstDash val="solid"/>
          </a:ln>
        </p:spPr>
      </p:sp>
      <p:sp>
        <p:nvSpPr>
          <p:cNvPr id="16" name="Text 14"/>
          <p:cNvSpPr txBox="1"/>
          <p:nvPr/>
        </p:nvSpPr>
        <p:spPr>
          <a:xfrm>
            <a:off x="731520" y="2944368"/>
            <a:ext cx="685800"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Proxima Nova" pitchFamily="34" charset="0"/>
                <a:ea typeface="Proxima Nova" pitchFamily="34" charset="-122"/>
                <a:cs typeface="Proxima Nova" pitchFamily="34" charset="-120"/>
              </a:rPr>
              <a:t>53</a:t>
            </a:r>
            <a:endParaRPr lang="en-US" sz="1300" dirty="0"/>
          </a:p>
        </p:txBody>
      </p:sp>
      <p:sp>
        <p:nvSpPr>
          <p:cNvPr id="17" name="Text 15"/>
          <p:cNvSpPr txBox="1"/>
          <p:nvPr/>
        </p:nvSpPr>
        <p:spPr>
          <a:xfrm>
            <a:off x="1645920" y="2944368"/>
            <a:ext cx="5689817" cy="310896"/>
          </a:xfrm>
          <a:prstGeom prst="rect">
            <a:avLst/>
          </a:prstGeom>
          <a:noFill/>
          <a:ln/>
        </p:spPr>
        <p:txBody>
          <a:bodyPr wrap="square" lIns="0" tIns="0" rIns="0" bIns="0" rtlCol="0" anchor="ctr">
            <a:normAutofit/>
          </a:bodyPr>
          <a:lstStyle/>
          <a:p>
            <a:pPr indent="0" marL="0">
              <a:buNone/>
            </a:pPr>
            <a:r>
              <a:rPr lang="en-US" sz="1100" dirty="0">
                <a:solidFill>
                  <a:srgbClr val="FFFFFF"/>
                </a:solidFill>
                <a:latin typeface="Proxima Nova" pitchFamily="34" charset="0"/>
                <a:ea typeface="Proxima Nova" pitchFamily="34" charset="-122"/>
                <a:cs typeface="Proxima Nova" pitchFamily="34" charset="-120"/>
              </a:rPr>
              <a:t>Anaheim–Irvine via Main St</a:t>
            </a:r>
            <a:endParaRPr lang="en-US" sz="1100" dirty="0"/>
          </a:p>
        </p:txBody>
      </p:sp>
      <p:sp>
        <p:nvSpPr>
          <p:cNvPr id="18" name="Shape 16"/>
          <p:cNvSpPr/>
          <p:nvPr/>
        </p:nvSpPr>
        <p:spPr>
          <a:xfrm>
            <a:off x="7427177" y="3054096"/>
            <a:ext cx="3328325" cy="91440"/>
          </a:xfrm>
          <a:prstGeom prst="rect">
            <a:avLst/>
          </a:prstGeom>
          <a:solidFill>
            <a:srgbClr val="B4D9E3"/>
          </a:solidFill>
          <a:ln w="12700">
            <a:solidFill>
              <a:srgbClr val="B4D9E3"/>
            </a:solidFill>
            <a:prstDash val="solid"/>
          </a:ln>
        </p:spPr>
      </p:sp>
      <p:sp>
        <p:nvSpPr>
          <p:cNvPr id="19" name="Text 17"/>
          <p:cNvSpPr txBox="1"/>
          <p:nvPr/>
        </p:nvSpPr>
        <p:spPr>
          <a:xfrm>
            <a:off x="10820095" y="2944368"/>
            <a:ext cx="685800" cy="310896"/>
          </a:xfrm>
          <a:prstGeom prst="rect">
            <a:avLst/>
          </a:prstGeom>
          <a:noFill/>
          <a:ln/>
        </p:spPr>
        <p:txBody>
          <a:bodyPr wrap="square" lIns="0" tIns="0" rIns="0" bIns="0" rtlCol="0" anchor="ctr"/>
          <a:lstStyle/>
          <a:p>
            <a:pPr algn="r" indent="0" marL="0">
              <a:buNone/>
            </a:pPr>
            <a:r>
              <a:rPr lang="en-US" sz="1400" b="1" dirty="0">
                <a:solidFill>
                  <a:srgbClr val="FFFFFF"/>
                </a:solidFill>
                <a:latin typeface="Proxima Nova" pitchFamily="34" charset="0"/>
                <a:ea typeface="Proxima Nova" pitchFamily="34" charset="-122"/>
                <a:cs typeface="Proxima Nova" pitchFamily="34" charset="-120"/>
              </a:rPr>
              <a:t>102</a:t>
            </a:r>
            <a:endParaRPr lang="en-US" sz="1400" dirty="0"/>
          </a:p>
        </p:txBody>
      </p:sp>
      <p:sp>
        <p:nvSpPr>
          <p:cNvPr id="20" name="Shape 18"/>
          <p:cNvSpPr/>
          <p:nvPr/>
        </p:nvSpPr>
        <p:spPr>
          <a:xfrm>
            <a:off x="731520" y="3355848"/>
            <a:ext cx="685800" cy="310896"/>
          </a:xfrm>
          <a:prstGeom prst="roundRect">
            <a:avLst>
              <a:gd name="adj" fmla="val 11765"/>
            </a:avLst>
          </a:prstGeom>
          <a:solidFill>
            <a:srgbClr val="43A3A3"/>
          </a:solidFill>
          <a:ln w="12700">
            <a:solidFill>
              <a:srgbClr val="FFFFFF"/>
            </a:solidFill>
            <a:prstDash val="solid"/>
          </a:ln>
        </p:spPr>
      </p:sp>
      <p:sp>
        <p:nvSpPr>
          <p:cNvPr id="21" name="Text 19"/>
          <p:cNvSpPr txBox="1"/>
          <p:nvPr/>
        </p:nvSpPr>
        <p:spPr>
          <a:xfrm>
            <a:off x="731520" y="3355848"/>
            <a:ext cx="685800"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Proxima Nova" pitchFamily="34" charset="0"/>
                <a:ea typeface="Proxima Nova" pitchFamily="34" charset="-122"/>
                <a:cs typeface="Proxima Nova" pitchFamily="34" charset="-120"/>
              </a:rPr>
              <a:t>553</a:t>
            </a:r>
            <a:endParaRPr lang="en-US" sz="1300" dirty="0"/>
          </a:p>
        </p:txBody>
      </p:sp>
      <p:sp>
        <p:nvSpPr>
          <p:cNvPr id="22" name="Text 20"/>
          <p:cNvSpPr txBox="1"/>
          <p:nvPr/>
        </p:nvSpPr>
        <p:spPr>
          <a:xfrm>
            <a:off x="1645920" y="3355848"/>
            <a:ext cx="5689817" cy="310896"/>
          </a:xfrm>
          <a:prstGeom prst="rect">
            <a:avLst/>
          </a:prstGeom>
          <a:noFill/>
          <a:ln/>
        </p:spPr>
        <p:txBody>
          <a:bodyPr wrap="square" lIns="0" tIns="0" rIns="0" bIns="0" rtlCol="0" anchor="ctr">
            <a:normAutofit/>
          </a:bodyPr>
          <a:lstStyle/>
          <a:p>
            <a:pPr indent="0" marL="0">
              <a:buNone/>
            </a:pPr>
            <a:r>
              <a:rPr lang="en-US" sz="1100" dirty="0">
                <a:solidFill>
                  <a:srgbClr val="FFFFFF"/>
                </a:solidFill>
                <a:latin typeface="Proxima Nova" pitchFamily="34" charset="0"/>
                <a:ea typeface="Proxima Nova" pitchFamily="34" charset="-122"/>
                <a:cs typeface="Proxima Nova" pitchFamily="34" charset="-120"/>
              </a:rPr>
              <a:t>Rapid Anaheim–Costa Mesa via Katella/Main</a:t>
            </a:r>
            <a:endParaRPr lang="en-US" sz="1100" dirty="0"/>
          </a:p>
        </p:txBody>
      </p:sp>
      <p:sp>
        <p:nvSpPr>
          <p:cNvPr id="23" name="Shape 21"/>
          <p:cNvSpPr/>
          <p:nvPr/>
        </p:nvSpPr>
        <p:spPr>
          <a:xfrm>
            <a:off x="7427177" y="3465576"/>
            <a:ext cx="2447297" cy="91440"/>
          </a:xfrm>
          <a:prstGeom prst="rect">
            <a:avLst/>
          </a:prstGeom>
          <a:solidFill>
            <a:srgbClr val="B4D9E3"/>
          </a:solidFill>
          <a:ln w="12700">
            <a:solidFill>
              <a:srgbClr val="B4D9E3"/>
            </a:solidFill>
            <a:prstDash val="solid"/>
          </a:ln>
        </p:spPr>
      </p:sp>
      <p:sp>
        <p:nvSpPr>
          <p:cNvPr id="24" name="Text 22"/>
          <p:cNvSpPr txBox="1"/>
          <p:nvPr/>
        </p:nvSpPr>
        <p:spPr>
          <a:xfrm>
            <a:off x="10820095" y="3355848"/>
            <a:ext cx="685800" cy="310896"/>
          </a:xfrm>
          <a:prstGeom prst="rect">
            <a:avLst/>
          </a:prstGeom>
          <a:noFill/>
          <a:ln/>
        </p:spPr>
        <p:txBody>
          <a:bodyPr wrap="square" lIns="0" tIns="0" rIns="0" bIns="0" rtlCol="0" anchor="ctr"/>
          <a:lstStyle/>
          <a:p>
            <a:pPr algn="r" indent="0" marL="0">
              <a:buNone/>
            </a:pPr>
            <a:r>
              <a:rPr lang="en-US" sz="1400" b="1" dirty="0">
                <a:solidFill>
                  <a:srgbClr val="FFFFFF"/>
                </a:solidFill>
                <a:latin typeface="Proxima Nova" pitchFamily="34" charset="0"/>
                <a:ea typeface="Proxima Nova" pitchFamily="34" charset="-122"/>
                <a:cs typeface="Proxima Nova" pitchFamily="34" charset="-120"/>
              </a:rPr>
              <a:t>75</a:t>
            </a:r>
            <a:endParaRPr lang="en-US" sz="1400" dirty="0"/>
          </a:p>
        </p:txBody>
      </p:sp>
      <p:sp>
        <p:nvSpPr>
          <p:cNvPr id="25" name="Shape 23"/>
          <p:cNvSpPr/>
          <p:nvPr/>
        </p:nvSpPr>
        <p:spPr>
          <a:xfrm>
            <a:off x="731520" y="3767328"/>
            <a:ext cx="685800" cy="310896"/>
          </a:xfrm>
          <a:prstGeom prst="roundRect">
            <a:avLst>
              <a:gd name="adj" fmla="val 11765"/>
            </a:avLst>
          </a:prstGeom>
          <a:solidFill>
            <a:srgbClr val="FFFFFF"/>
          </a:solidFill>
          <a:ln w="12700">
            <a:solidFill>
              <a:srgbClr val="FFFFFF"/>
            </a:solidFill>
            <a:prstDash val="solid"/>
          </a:ln>
        </p:spPr>
      </p:sp>
      <p:sp>
        <p:nvSpPr>
          <p:cNvPr id="26" name="Text 24"/>
          <p:cNvSpPr txBox="1"/>
          <p:nvPr/>
        </p:nvSpPr>
        <p:spPr>
          <a:xfrm>
            <a:off x="731520" y="3767328"/>
            <a:ext cx="685800" cy="310896"/>
          </a:xfrm>
          <a:prstGeom prst="rect">
            <a:avLst/>
          </a:prstGeom>
          <a:noFill/>
          <a:ln/>
        </p:spPr>
        <p:txBody>
          <a:bodyPr wrap="square" lIns="0" tIns="0" rIns="0" bIns="0" rtlCol="0" anchor="ctr"/>
          <a:lstStyle/>
          <a:p>
            <a:pPr algn="ctr" indent="0" marL="0">
              <a:buNone/>
            </a:pPr>
            <a:r>
              <a:rPr lang="en-US" sz="1300" b="1" dirty="0">
                <a:solidFill>
                  <a:srgbClr val="125C60"/>
                </a:solidFill>
                <a:latin typeface="Proxima Nova" pitchFamily="34" charset="0"/>
                <a:ea typeface="Proxima Nova" pitchFamily="34" charset="-122"/>
                <a:cs typeface="Proxima Nova" pitchFamily="34" charset="-120"/>
              </a:rPr>
              <a:t>All</a:t>
            </a:r>
            <a:endParaRPr lang="en-US" sz="1300" dirty="0"/>
          </a:p>
        </p:txBody>
      </p:sp>
      <p:sp>
        <p:nvSpPr>
          <p:cNvPr id="27" name="Text 25"/>
          <p:cNvSpPr txBox="1"/>
          <p:nvPr/>
        </p:nvSpPr>
        <p:spPr>
          <a:xfrm>
            <a:off x="1645920" y="3767328"/>
            <a:ext cx="5689817" cy="310896"/>
          </a:xfrm>
          <a:prstGeom prst="rect">
            <a:avLst/>
          </a:prstGeom>
          <a:noFill/>
          <a:ln/>
        </p:spPr>
        <p:txBody>
          <a:bodyPr wrap="square" lIns="0" tIns="0" rIns="0" bIns="0" rtlCol="0" anchor="ctr">
            <a:normAutofit/>
          </a:bodyPr>
          <a:lstStyle/>
          <a:p>
            <a:pPr indent="0" marL="0">
              <a:buNone/>
            </a:pPr>
            <a:r>
              <a:rPr lang="en-US" sz="1100" dirty="0">
                <a:solidFill>
                  <a:srgbClr val="FFFFFF"/>
                </a:solidFill>
                <a:latin typeface="Proxima Nova" pitchFamily="34" charset="0"/>
                <a:ea typeface="Proxima Nova" pitchFamily="34" charset="-122"/>
                <a:cs typeface="Proxima Nova" pitchFamily="34" charset="-120"/>
              </a:rPr>
              <a:t>All routes (100 + 102 + 75)</a:t>
            </a:r>
            <a:endParaRPr lang="en-US" sz="1100" dirty="0"/>
          </a:p>
        </p:txBody>
      </p:sp>
      <p:sp>
        <p:nvSpPr>
          <p:cNvPr id="28" name="Text 26"/>
          <p:cNvSpPr txBox="1"/>
          <p:nvPr/>
        </p:nvSpPr>
        <p:spPr>
          <a:xfrm>
            <a:off x="10820095" y="3767328"/>
            <a:ext cx="685800" cy="310896"/>
          </a:xfrm>
          <a:prstGeom prst="rect">
            <a:avLst/>
          </a:prstGeom>
          <a:noFill/>
          <a:ln/>
        </p:spPr>
        <p:txBody>
          <a:bodyPr wrap="square" lIns="0" tIns="0" rIns="0" bIns="0" rtlCol="0" anchor="ctr"/>
          <a:lstStyle/>
          <a:p>
            <a:pPr algn="r" indent="0" marL="0">
              <a:buNone/>
            </a:pPr>
            <a:r>
              <a:rPr lang="en-US" sz="1400" b="1" dirty="0">
                <a:solidFill>
                  <a:srgbClr val="FFFFFF"/>
                </a:solidFill>
                <a:latin typeface="Proxima Nova" pitchFamily="34" charset="0"/>
                <a:ea typeface="Proxima Nova" pitchFamily="34" charset="-122"/>
                <a:cs typeface="Proxima Nova" pitchFamily="34" charset="-120"/>
              </a:rPr>
              <a:t>277</a:t>
            </a:r>
            <a:endParaRPr lang="en-US" sz="1400" dirty="0"/>
          </a:p>
        </p:txBody>
      </p:sp>
      <p:sp>
        <p:nvSpPr>
          <p:cNvPr id="29" name="Shape 27"/>
          <p:cNvSpPr/>
          <p:nvPr/>
        </p:nvSpPr>
        <p:spPr>
          <a:xfrm>
            <a:off x="548640" y="4361688"/>
            <a:ext cx="3576218" cy="777240"/>
          </a:xfrm>
          <a:prstGeom prst="rect">
            <a:avLst/>
          </a:prstGeom>
          <a:solidFill>
            <a:srgbClr val="FFFFFF"/>
          </a:solidFill>
          <a:ln w="12700">
            <a:solidFill>
              <a:srgbClr val="B4D9E3"/>
            </a:solidFill>
            <a:prstDash val="solid"/>
          </a:ln>
        </p:spPr>
      </p:sp>
      <p:sp>
        <p:nvSpPr>
          <p:cNvPr id="30" name="Text 28"/>
          <p:cNvSpPr txBox="1"/>
          <p:nvPr/>
        </p:nvSpPr>
        <p:spPr>
          <a:xfrm>
            <a:off x="658368" y="4407408"/>
            <a:ext cx="3356762" cy="365760"/>
          </a:xfrm>
          <a:prstGeom prst="rect">
            <a:avLst/>
          </a:prstGeom>
          <a:noFill/>
          <a:ln/>
        </p:spPr>
        <p:txBody>
          <a:bodyPr wrap="square" lIns="0" tIns="0" rIns="0" bIns="0" rtlCol="0" anchor="ctr"/>
          <a:lstStyle/>
          <a:p>
            <a:pPr indent="0" marL="0">
              <a:buNone/>
            </a:pPr>
            <a:r>
              <a:rPr lang="en-US" sz="1800" b="1" i="1" dirty="0">
                <a:solidFill>
                  <a:srgbClr val="125C60"/>
                </a:solidFill>
                <a:latin typeface="Proxima Nova" pitchFamily="34" charset="0"/>
                <a:ea typeface="Proxima Nova" pitchFamily="34" charset="-122"/>
                <a:cs typeface="Proxima Nova" pitchFamily="34" charset="-120"/>
              </a:rPr>
              <a:t>11</a:t>
            </a:r>
            <a:endParaRPr lang="en-US" sz="1800" dirty="0"/>
          </a:p>
        </p:txBody>
      </p:sp>
      <p:sp>
        <p:nvSpPr>
          <p:cNvPr id="31" name="Text 29"/>
          <p:cNvSpPr txBox="1"/>
          <p:nvPr/>
        </p:nvSpPr>
        <p:spPr>
          <a:xfrm>
            <a:off x="658368" y="4773168"/>
            <a:ext cx="3356762" cy="320040"/>
          </a:xfrm>
          <a:prstGeom prst="rect">
            <a:avLst/>
          </a:prstGeom>
          <a:noFill/>
          <a:ln/>
        </p:spPr>
        <p:txBody>
          <a:bodyPr wrap="square" lIns="0" tIns="0" rIns="0" bIns="0" rtlCol="0" anchor="ctr">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weekday buses leave after 10 p.m.</a:t>
            </a:r>
            <a:endParaRPr lang="en-US" sz="950" dirty="0"/>
          </a:p>
        </p:txBody>
      </p:sp>
      <p:sp>
        <p:nvSpPr>
          <p:cNvPr id="32" name="Shape 30"/>
          <p:cNvSpPr/>
          <p:nvPr/>
        </p:nvSpPr>
        <p:spPr>
          <a:xfrm>
            <a:off x="4307738" y="4361688"/>
            <a:ext cx="3576218" cy="777240"/>
          </a:xfrm>
          <a:prstGeom prst="rect">
            <a:avLst/>
          </a:prstGeom>
          <a:solidFill>
            <a:srgbClr val="FFFFFF"/>
          </a:solidFill>
          <a:ln w="12700">
            <a:solidFill>
              <a:srgbClr val="B4D9E3"/>
            </a:solidFill>
            <a:prstDash val="solid"/>
          </a:ln>
        </p:spPr>
      </p:sp>
      <p:sp>
        <p:nvSpPr>
          <p:cNvPr id="33" name="Text 31"/>
          <p:cNvSpPr txBox="1"/>
          <p:nvPr/>
        </p:nvSpPr>
        <p:spPr>
          <a:xfrm>
            <a:off x="4417466" y="4407408"/>
            <a:ext cx="3356762" cy="365760"/>
          </a:xfrm>
          <a:prstGeom prst="rect">
            <a:avLst/>
          </a:prstGeom>
          <a:noFill/>
          <a:ln/>
        </p:spPr>
        <p:txBody>
          <a:bodyPr wrap="square" lIns="0" tIns="0" rIns="0" bIns="0" rtlCol="0" anchor="ctr"/>
          <a:lstStyle/>
          <a:p>
            <a:pPr indent="0" marL="0">
              <a:buNone/>
            </a:pPr>
            <a:r>
              <a:rPr lang="en-US" sz="1800" b="1" i="1" dirty="0">
                <a:solidFill>
                  <a:srgbClr val="125C60"/>
                </a:solidFill>
                <a:latin typeface="Proxima Nova" pitchFamily="34" charset="0"/>
                <a:ea typeface="Proxima Nova" pitchFamily="34" charset="-122"/>
                <a:cs typeface="Proxima Nova" pitchFamily="34" charset="-120"/>
              </a:rPr>
              <a:t>275,000</a:t>
            </a:r>
            <a:endParaRPr lang="en-US" sz="1800" dirty="0"/>
          </a:p>
        </p:txBody>
      </p:sp>
      <p:sp>
        <p:nvSpPr>
          <p:cNvPr id="34" name="Text 32"/>
          <p:cNvSpPr txBox="1"/>
          <p:nvPr/>
        </p:nvSpPr>
        <p:spPr>
          <a:xfrm>
            <a:off x="4417466" y="4773168"/>
            <a:ext cx="3356762" cy="320040"/>
          </a:xfrm>
          <a:prstGeom prst="rect">
            <a:avLst/>
          </a:prstGeom>
          <a:noFill/>
          <a:ln/>
        </p:spPr>
        <p:txBody>
          <a:bodyPr wrap="square" lIns="0" tIns="0" rIns="0" bIns="0" rtlCol="0" anchor="ctr">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vehicles a weekday on SR-57 (Caltrans 2024)</a:t>
            </a:r>
            <a:endParaRPr lang="en-US" sz="950" dirty="0"/>
          </a:p>
        </p:txBody>
      </p:sp>
      <p:sp>
        <p:nvSpPr>
          <p:cNvPr id="35" name="Shape 33"/>
          <p:cNvSpPr/>
          <p:nvPr/>
        </p:nvSpPr>
        <p:spPr>
          <a:xfrm>
            <a:off x="8066837" y="4361688"/>
            <a:ext cx="3576218" cy="777240"/>
          </a:xfrm>
          <a:prstGeom prst="rect">
            <a:avLst/>
          </a:prstGeom>
          <a:solidFill>
            <a:srgbClr val="FFFFFF"/>
          </a:solidFill>
          <a:ln w="12700">
            <a:solidFill>
              <a:srgbClr val="B4D9E3"/>
            </a:solidFill>
            <a:prstDash val="solid"/>
          </a:ln>
        </p:spPr>
      </p:sp>
      <p:sp>
        <p:nvSpPr>
          <p:cNvPr id="36" name="Text 34"/>
          <p:cNvSpPr txBox="1"/>
          <p:nvPr/>
        </p:nvSpPr>
        <p:spPr>
          <a:xfrm>
            <a:off x="8176565" y="4407408"/>
            <a:ext cx="3356762" cy="365760"/>
          </a:xfrm>
          <a:prstGeom prst="rect">
            <a:avLst/>
          </a:prstGeom>
          <a:noFill/>
          <a:ln/>
        </p:spPr>
        <p:txBody>
          <a:bodyPr wrap="square" lIns="0" tIns="0" rIns="0" bIns="0" rtlCol="0" anchor="ctr"/>
          <a:lstStyle/>
          <a:p>
            <a:pPr indent="0" marL="0">
              <a:buNone/>
            </a:pPr>
            <a:r>
              <a:rPr lang="en-US" sz="1800" b="1" i="1" dirty="0">
                <a:solidFill>
                  <a:srgbClr val="125C60"/>
                </a:solidFill>
                <a:latin typeface="Proxima Nova" pitchFamily="34" charset="0"/>
                <a:ea typeface="Proxima Nova" pitchFamily="34" charset="-122"/>
                <a:cs typeface="Proxima Nova" pitchFamily="34" charset="-120"/>
              </a:rPr>
              <a:t>191,153</a:t>
            </a:r>
            <a:endParaRPr lang="en-US" sz="1800" dirty="0"/>
          </a:p>
        </p:txBody>
      </p:sp>
      <p:sp>
        <p:nvSpPr>
          <p:cNvPr id="37" name="Text 35"/>
          <p:cNvSpPr txBox="1"/>
          <p:nvPr/>
        </p:nvSpPr>
        <p:spPr>
          <a:xfrm>
            <a:off x="8176565" y="4773168"/>
            <a:ext cx="3356762" cy="320040"/>
          </a:xfrm>
          <a:prstGeom prst="rect">
            <a:avLst/>
          </a:prstGeom>
          <a:noFill/>
          <a:ln/>
        </p:spPr>
        <p:txBody>
          <a:bodyPr wrap="square" lIns="0" tIns="0" rIns="0" bIns="0" rtlCol="0" anchor="ctr">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Amtrak passengers at Anaheim, 2024</a:t>
            </a:r>
            <a:endParaRPr lang="en-US" sz="950" dirty="0"/>
          </a:p>
        </p:txBody>
      </p:sp>
      <p:sp>
        <p:nvSpPr>
          <p:cNvPr id="38"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OCTA bus schedules (Aug. 9–Nov. 7, 2026); OCTA Traffic Flow Map (Aug. 2026); Amtrak ANA fact sheet (2024 data)</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82</a:t>
            </a:fld>
            <a:endParaRPr lang="en-US"/>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OC Vibe sits beside one of the busiest corridors in Orange County</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Weekday average daily traffic · OCTA 2026 Traffic Flow Map (published Aug. 2026)</a:t>
            </a:r>
            <a:endParaRPr lang="en-US" sz="1200" dirty="0"/>
          </a:p>
        </p:txBody>
      </p:sp>
      <p:graphicFrame>
        <p:nvGraphicFramePr>
          <p:cNvPr id="84"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6035040" cy="914400"/>
        </p:xfrm>
        <a:graphic>
          <a:graphicData uri="http://schemas.openxmlformats.org/drawingml/2006/table">
            <a:tbl>
              <a:tblPr/>
              <a:tblGrid>
                <a:gridCol w="3566160"/>
                <a:gridCol w="1188720"/>
                <a:gridCol w="1280160"/>
              </a:tblGrid>
              <a:tr h="329184">
                <a:tc>
                  <a:txBody>
                    <a:bodyPr/>
                    <a:lstStyle/>
                    <a:p>
                      <a:pPr algn="l" indent="0" marL="0">
                        <a:buNone/>
                      </a:pPr>
                      <a:r>
                        <a:rPr lang="en-US" sz="1050" b="1" dirty="0">
                          <a:solidFill>
                            <a:srgbClr val="FFFFFF"/>
                          </a:solidFill>
                          <a:latin typeface="Proxima Nova" pitchFamily="34" charset="0"/>
                          <a:ea typeface="Proxima Nova" pitchFamily="34" charset="-122"/>
                          <a:cs typeface="Proxima Nova" pitchFamily="34" charset="-120"/>
                        </a:rPr>
                        <a:t>Road segment</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Vehicles per day</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1050" b="1" dirty="0">
                          <a:solidFill>
                            <a:srgbClr val="FFFFFF"/>
                          </a:solidFill>
                          <a:latin typeface="Proxima Nova" pitchFamily="34" charset="0"/>
                          <a:ea typeface="Proxima Nova" pitchFamily="34" charset="-122"/>
                          <a:cs typeface="Proxima Nova" pitchFamily="34" charset="-120"/>
                        </a:rPr>
                        <a:t>Count year</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SR-57 (Orange Fwy), Ball Rd to Katella Ave</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275K</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Caltrans 2024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SR-57, north of Ball Rd</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287K</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Caltrans 2024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SR-57, Katella Ave to Orangewood Ave</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242K</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Caltrans 2024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I-5, Anaheim Resort area</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299K</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Caltrans 2024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Ball Rd, State College Blvd to SR-57</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54K</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2024 count</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Katella Ave, State College Blvd to SR-57</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36K</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2021 count</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Katella Ave, SR-57 to Santa Ana River</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29K</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2021 count</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Katella Ave, east of river (Orange)</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24K</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2024 count</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State College Blvd near Katella Ave</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25K</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2024 count</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Orangewood Ave at SR-57</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25K</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2021 count</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pic>
        <p:nvPicPr>
          <p:cNvPr id="6" name="Image 0" descr="Excerpt of the OCTA 2026 Traffic Flow Map around SR-57, Katella Ave and ARTIC">    </p:cNvPr>
          <p:cNvPicPr>
            <a:picLocks noChangeAspect="1"/>
          </p:cNvPicPr>
          <p:nvPr/>
        </p:nvPicPr>
        <p:blipFill>
          <a:blip r:embed="rId1"/>
          <a:stretch>
            <a:fillRect/>
          </a:stretch>
        </p:blipFill>
        <p:spPr>
          <a:xfrm>
            <a:off x="6858000" y="1417320"/>
            <a:ext cx="4754880" cy="4120896"/>
          </a:xfrm>
          <a:prstGeom prst="rect">
            <a:avLst/>
          </a:prstGeom>
        </p:spPr>
      </p:pic>
      <p:sp>
        <p:nvSpPr>
          <p:cNvPr id="7" name="Text 2"/>
          <p:cNvSpPr txBox="1"/>
          <p:nvPr/>
        </p:nvSpPr>
        <p:spPr>
          <a:xfrm>
            <a:off x="548640" y="5120640"/>
            <a:ext cx="6035040" cy="731520"/>
          </a:xfrm>
          <a:prstGeom prst="rect">
            <a:avLst/>
          </a:prstGeom>
          <a:noFill/>
          <a:ln/>
        </p:spPr>
        <p:txBody>
          <a:bodyPr wrap="square" lIns="0" tIns="0" rIns="0" bIns="0" rtlCol="0" anchor="ctr"/>
          <a:lstStyle/>
          <a:p>
            <a:pPr indent="0" marL="0">
              <a:buNone/>
            </a:pPr>
            <a:r>
              <a:rPr lang="en-US" sz="1050" dirty="0">
                <a:solidFill>
                  <a:srgbClr val="231F20"/>
                </a:solidFill>
                <a:latin typeface="Proxima Nova" pitchFamily="34" charset="0"/>
                <a:ea typeface="Proxima Nova" pitchFamily="34" charset="-122"/>
                <a:cs typeface="Proxima Nova" pitchFamily="34" charset="-120"/>
              </a:rPr>
              <a:t>Freeway volumes are Caltrans 2024 counts; Katella Ave beside OC Vibe was last counted in 2021. New counts before the 2027 openings would set a baseline.</a:t>
            </a:r>
            <a:endParaRPr lang="en-US" sz="1050" dirty="0"/>
          </a:p>
        </p:txBody>
      </p:sp>
      <p:sp>
        <p:nvSpPr>
          <p:cNvPr id="8"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Orange County Transportation Authority, 2026 Traffic Flow Map (thousands of vehicles per weekday; Roman numerals = years before 2026 the count was taken)</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83</a:t>
            </a:fld>
            <a:endParaRPr lang="en-US"/>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ARTIC sees 277 weekday bus trips and a 14-minute one-seat ride to the resort</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OCTA bus service at ARTIC · schedules Aug. 9–Nov. 7, 2026</a:t>
            </a:r>
            <a:endParaRPr lang="en-US" sz="1200" dirty="0"/>
          </a:p>
        </p:txBody>
      </p:sp>
      <p:sp>
        <p:nvSpPr>
          <p:cNvPr id="4" name="kpi-card-0"/>
          <p:cNvSpPr/>
          <p:nvPr/>
        </p:nvSpPr>
        <p:spPr>
          <a:xfrm>
            <a:off x="548640" y="1463040"/>
            <a:ext cx="3588410" cy="1463040"/>
          </a:xfrm>
          <a:prstGeom prst="roundRect">
            <a:avLst>
              <a:gd name="adj" fmla="val 5000"/>
            </a:avLst>
          </a:prstGeom>
          <a:solidFill>
            <a:srgbClr val="FFFFFF"/>
          </a:solidFill>
          <a:ln w="12700">
            <a:solidFill>
              <a:srgbClr val="B4D9E3"/>
            </a:solidFill>
            <a:prstDash val="solid"/>
          </a:ln>
        </p:spPr>
      </p:sp>
      <p:sp>
        <p:nvSpPr>
          <p:cNvPr id="5" name="Text 3"/>
          <p:cNvSpPr txBox="1"/>
          <p:nvPr/>
        </p:nvSpPr>
        <p:spPr>
          <a:xfrm>
            <a:off x="713232" y="1591056"/>
            <a:ext cx="325922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WEEKDAY</a:t>
            </a:r>
            <a:endParaRPr lang="en-US" sz="900" dirty="0"/>
          </a:p>
        </p:txBody>
      </p:sp>
      <p:sp>
        <p:nvSpPr>
          <p:cNvPr id="6" name="Text 4"/>
          <p:cNvSpPr txBox="1"/>
          <p:nvPr/>
        </p:nvSpPr>
        <p:spPr>
          <a:xfrm>
            <a:off x="713232" y="1810512"/>
            <a:ext cx="325922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Bus trips stopping at ARTIC</a:t>
            </a:r>
            <a:endParaRPr lang="en-US" sz="1050" dirty="0"/>
          </a:p>
        </p:txBody>
      </p:sp>
      <p:sp>
        <p:nvSpPr>
          <p:cNvPr id="7" name="Text 5"/>
          <p:cNvSpPr txBox="1"/>
          <p:nvPr/>
        </p:nvSpPr>
        <p:spPr>
          <a:xfrm>
            <a:off x="713232" y="2084832"/>
            <a:ext cx="3259226" cy="548640"/>
          </a:xfrm>
          <a:prstGeom prst="rect">
            <a:avLst/>
          </a:prstGeom>
          <a:noFill/>
          <a:ln/>
        </p:spPr>
        <p:txBody>
          <a:bodyPr wrap="square" lIns="0" tIns="0" rIns="0" bIns="0" rtlCol="0" anchor="ctr"/>
          <a:lstStyle/>
          <a:p>
            <a:pPr indent="0" marL="0">
              <a:buNone/>
            </a:pPr>
            <a:r>
              <a:rPr lang="en-US" sz="2800" b="1" dirty="0">
                <a:solidFill>
                  <a:srgbClr val="125C60"/>
                </a:solidFill>
                <a:latin typeface="Proxima Nova" pitchFamily="34" charset="0"/>
                <a:ea typeface="Proxima Nova" pitchFamily="34" charset="-122"/>
                <a:cs typeface="Proxima Nova" pitchFamily="34" charset="-120"/>
              </a:rPr>
              <a:t>277</a:t>
            </a:r>
            <a:endParaRPr lang="en-US" sz="2800" dirty="0"/>
          </a:p>
        </p:txBody>
      </p:sp>
      <p:sp>
        <p:nvSpPr>
          <p:cNvPr id="8" name="Text 6"/>
          <p:cNvSpPr txBox="1"/>
          <p:nvPr/>
        </p:nvSpPr>
        <p:spPr>
          <a:xfrm>
            <a:off x="713232" y="2633472"/>
            <a:ext cx="3259226" cy="20116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Routes 50, 53 and 553 · one every 3–4 min at peak</a:t>
            </a:r>
            <a:endParaRPr lang="en-US" sz="1000" dirty="0"/>
          </a:p>
        </p:txBody>
      </p:sp>
      <p:sp>
        <p:nvSpPr>
          <p:cNvPr id="9" name="kpi-card-1"/>
          <p:cNvSpPr/>
          <p:nvPr/>
        </p:nvSpPr>
        <p:spPr>
          <a:xfrm>
            <a:off x="4301642" y="1463040"/>
            <a:ext cx="3588410" cy="1463040"/>
          </a:xfrm>
          <a:prstGeom prst="roundRect">
            <a:avLst>
              <a:gd name="adj" fmla="val 5000"/>
            </a:avLst>
          </a:prstGeom>
          <a:solidFill>
            <a:srgbClr val="FFFFFF"/>
          </a:solidFill>
          <a:ln w="12700">
            <a:solidFill>
              <a:srgbClr val="B4D9E3"/>
            </a:solidFill>
            <a:prstDash val="solid"/>
          </a:ln>
        </p:spPr>
      </p:sp>
      <p:sp>
        <p:nvSpPr>
          <p:cNvPr id="10" name="Text 8"/>
          <p:cNvSpPr txBox="1"/>
          <p:nvPr/>
        </p:nvSpPr>
        <p:spPr>
          <a:xfrm>
            <a:off x="4466234" y="1591056"/>
            <a:ext cx="325922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TO THE RESORT</a:t>
            </a:r>
            <a:endParaRPr lang="en-US" sz="900" dirty="0"/>
          </a:p>
        </p:txBody>
      </p:sp>
      <p:sp>
        <p:nvSpPr>
          <p:cNvPr id="11" name="Text 9"/>
          <p:cNvSpPr txBox="1"/>
          <p:nvPr/>
        </p:nvSpPr>
        <p:spPr>
          <a:xfrm>
            <a:off x="4466234" y="1810512"/>
            <a:ext cx="325922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One-seat weekday trips</a:t>
            </a:r>
            <a:endParaRPr lang="en-US" sz="1050" dirty="0"/>
          </a:p>
        </p:txBody>
      </p:sp>
      <p:sp>
        <p:nvSpPr>
          <p:cNvPr id="12" name="Text 10"/>
          <p:cNvSpPr txBox="1"/>
          <p:nvPr/>
        </p:nvSpPr>
        <p:spPr>
          <a:xfrm>
            <a:off x="4466234" y="2084832"/>
            <a:ext cx="3259226" cy="548640"/>
          </a:xfrm>
          <a:prstGeom prst="rect">
            <a:avLst/>
          </a:prstGeom>
          <a:noFill/>
          <a:ln/>
        </p:spPr>
        <p:txBody>
          <a:bodyPr wrap="square" lIns="0" tIns="0" rIns="0" bIns="0" rtlCol="0" anchor="ctr"/>
          <a:lstStyle/>
          <a:p>
            <a:pPr indent="0" marL="0">
              <a:buNone/>
            </a:pPr>
            <a:r>
              <a:rPr lang="en-US" sz="2800" b="1" dirty="0">
                <a:solidFill>
                  <a:srgbClr val="125C60"/>
                </a:solidFill>
                <a:latin typeface="Proxima Nova" pitchFamily="34" charset="0"/>
                <a:ea typeface="Proxima Nova" pitchFamily="34" charset="-122"/>
                <a:cs typeface="Proxima Nova" pitchFamily="34" charset="-120"/>
              </a:rPr>
              <a:t>87</a:t>
            </a:r>
            <a:endParaRPr lang="en-US" sz="2800" dirty="0"/>
          </a:p>
        </p:txBody>
      </p:sp>
      <p:sp>
        <p:nvSpPr>
          <p:cNvPr id="13" name="Text 11"/>
          <p:cNvSpPr txBox="1"/>
          <p:nvPr/>
        </p:nvSpPr>
        <p:spPr>
          <a:xfrm>
            <a:off x="4466234" y="2633472"/>
            <a:ext cx="3259226" cy="20116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About 13 min (Route 50), 15 min (Route 553)</a:t>
            </a:r>
            <a:endParaRPr lang="en-US" sz="1000" dirty="0"/>
          </a:p>
        </p:txBody>
      </p:sp>
      <p:sp>
        <p:nvSpPr>
          <p:cNvPr id="14" name="kpi-card-2"/>
          <p:cNvSpPr/>
          <p:nvPr/>
        </p:nvSpPr>
        <p:spPr>
          <a:xfrm>
            <a:off x="8054645" y="1463040"/>
            <a:ext cx="3588410" cy="1463040"/>
          </a:xfrm>
          <a:prstGeom prst="roundRect">
            <a:avLst>
              <a:gd name="adj" fmla="val 5000"/>
            </a:avLst>
          </a:prstGeom>
          <a:solidFill>
            <a:srgbClr val="FFFFFF"/>
          </a:solidFill>
          <a:ln w="12700">
            <a:solidFill>
              <a:srgbClr val="B4D9E3"/>
            </a:solidFill>
            <a:prstDash val="solid"/>
          </a:ln>
        </p:spPr>
      </p:sp>
      <p:sp>
        <p:nvSpPr>
          <p:cNvPr id="15" name="Text 13"/>
          <p:cNvSpPr txBox="1"/>
          <p:nvPr/>
        </p:nvSpPr>
        <p:spPr>
          <a:xfrm>
            <a:off x="8219237" y="1591056"/>
            <a:ext cx="325922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AFTER 10 P.M.</a:t>
            </a:r>
            <a:endParaRPr lang="en-US" sz="900" dirty="0"/>
          </a:p>
        </p:txBody>
      </p:sp>
      <p:sp>
        <p:nvSpPr>
          <p:cNvPr id="16" name="Text 14"/>
          <p:cNvSpPr txBox="1"/>
          <p:nvPr/>
        </p:nvSpPr>
        <p:spPr>
          <a:xfrm>
            <a:off x="8219237" y="1810512"/>
            <a:ext cx="325922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Weekday departures</a:t>
            </a:r>
            <a:endParaRPr lang="en-US" sz="1050" dirty="0"/>
          </a:p>
        </p:txBody>
      </p:sp>
      <p:sp>
        <p:nvSpPr>
          <p:cNvPr id="17" name="Text 15"/>
          <p:cNvSpPr txBox="1"/>
          <p:nvPr/>
        </p:nvSpPr>
        <p:spPr>
          <a:xfrm>
            <a:off x="8219237" y="2084832"/>
            <a:ext cx="3259226" cy="548640"/>
          </a:xfrm>
          <a:prstGeom prst="rect">
            <a:avLst/>
          </a:prstGeom>
          <a:noFill/>
          <a:ln/>
        </p:spPr>
        <p:txBody>
          <a:bodyPr wrap="square" lIns="0" tIns="0" rIns="0" bIns="0" rtlCol="0" anchor="ctr"/>
          <a:lstStyle/>
          <a:p>
            <a:pPr indent="0" marL="0">
              <a:buNone/>
            </a:pPr>
            <a:r>
              <a:rPr lang="en-US" sz="2800" b="1" dirty="0">
                <a:solidFill>
                  <a:srgbClr val="125C60"/>
                </a:solidFill>
                <a:latin typeface="Proxima Nova" pitchFamily="34" charset="0"/>
                <a:ea typeface="Proxima Nova" pitchFamily="34" charset="-122"/>
                <a:cs typeface="Proxima Nova" pitchFamily="34" charset="-120"/>
              </a:rPr>
              <a:t>11</a:t>
            </a:r>
            <a:endParaRPr lang="en-US" sz="2800" dirty="0"/>
          </a:p>
        </p:txBody>
      </p:sp>
      <p:sp>
        <p:nvSpPr>
          <p:cNvPr id="18" name="Text 16"/>
          <p:cNvSpPr txBox="1"/>
          <p:nvPr/>
        </p:nvSpPr>
        <p:spPr>
          <a:xfrm>
            <a:off x="8219237" y="2633472"/>
            <a:ext cx="3259226" cy="20116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16 buses stop after 10 p.m.; 5 end there · last at 1:38 a.m.</a:t>
            </a:r>
            <a:endParaRPr lang="en-US" sz="1000" dirty="0"/>
          </a:p>
        </p:txBody>
      </p:sp>
      <p:graphicFrame>
        <p:nvGraphicFramePr>
          <p:cNvPr id="85" name="Table 0"/>
          <p:cNvGraphicFramePr>
            <a:graphicFrameLocks noGrp="1"/>
          </p:cNvGraphicFramePr>
          <p:nvPr>
            <p:extLst>
              <p:ext uri="{D42A27DB-BD31-4B8C-83A1-F6EECF244321}">
                <p14:modId xmlns:p14="http://schemas.microsoft.com/office/powerpoint/2010/main" val="1579011935"/>
              </p:ext>
            </p:extLst>
          </p:nvPr>
        </p:nvGraphicFramePr>
        <p:xfrm>
          <a:off x="548640" y="3154680"/>
          <a:ext cx="5486400" cy="914400"/>
        </p:xfrm>
        <a:graphic>
          <a:graphicData uri="http://schemas.openxmlformats.org/drawingml/2006/table">
            <a:tbl>
              <a:tblPr/>
              <a:tblGrid>
                <a:gridCol w="731520"/>
                <a:gridCol w="2560320"/>
                <a:gridCol w="731520"/>
                <a:gridCol w="731520"/>
                <a:gridCol w="731520"/>
              </a:tblGrid>
              <a:tr h="329184">
                <a:tc>
                  <a:txBody>
                    <a:bodyPr/>
                    <a:lstStyle/>
                    <a:p>
                      <a:pPr algn="l" indent="0" marL="0">
                        <a:buNone/>
                      </a:pPr>
                      <a:r>
                        <a:rPr lang="en-US" sz="1000" b="1" dirty="0">
                          <a:solidFill>
                            <a:srgbClr val="FFFFFF"/>
                          </a:solidFill>
                          <a:latin typeface="Proxima Nova" pitchFamily="34" charset="0"/>
                          <a:ea typeface="Proxima Nova" pitchFamily="34" charset="-122"/>
                          <a:cs typeface="Proxima Nova" pitchFamily="34" charset="-120"/>
                        </a:rPr>
                        <a:t>Route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1000" b="1" dirty="0">
                          <a:solidFill>
                            <a:srgbClr val="FFFFFF"/>
                          </a:solidFill>
                          <a:latin typeface="Proxima Nova" pitchFamily="34" charset="0"/>
                          <a:ea typeface="Proxima Nova" pitchFamily="34" charset="-122"/>
                          <a:cs typeface="Proxima Nova" pitchFamily="34" charset="-120"/>
                        </a:rPr>
                        <a:t>Corridor</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Weekday</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Saturday</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Sunday</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29184">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50</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Long Beach–Orange via Katella Ave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100</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59</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58</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53</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Anaheim–Irvine via Main St</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102</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123</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123</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553</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Rapid Anaheim–Costa Mesa via Katella/Main</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75</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n/a</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n/a</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All</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ARTIC total</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277</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182</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181</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bl>
          </a:graphicData>
        </a:graphic>
      </p:graphicFrame>
      <p:graphicFrame>
        <p:nvGraphicFramePr>
          <p:cNvPr id="169" name="Table 1"/>
          <p:cNvGraphicFramePr>
            <a:graphicFrameLocks noGrp="1"/>
          </p:cNvGraphicFramePr>
          <p:nvPr>
            <p:extLst>
              <p:ext uri="{D42A27DB-BD31-4B8C-83A1-F6EECF244321}">
                <p14:modId xmlns:p14="http://schemas.microsoft.com/office/powerpoint/2010/main" val="1579011935"/>
              </p:ext>
            </p:extLst>
          </p:nvPr>
        </p:nvGraphicFramePr>
        <p:xfrm>
          <a:off x="6217920" y="3154680"/>
          <a:ext cx="5394960" cy="914400"/>
        </p:xfrm>
        <a:graphic>
          <a:graphicData uri="http://schemas.openxmlformats.org/drawingml/2006/table">
            <a:tbl>
              <a:tblPr/>
              <a:tblGrid>
                <a:gridCol w="1828800"/>
                <a:gridCol w="2011680"/>
                <a:gridCol w="1554480"/>
              </a:tblGrid>
              <a:tr h="457200">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Project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Status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Timing</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5720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ARTIC–Disneyland Resort transit link</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City studying gondola, trackless streetcar or autonomous vehicles (gondola up to $11M per mile)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Goal: in place for the 2028 Olympics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OC Streetcar (Santa Ana–Garden Grove)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Daytime testing since April 2026; contractor lawsuit pending</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Full service targeted by end of 2026; Anaheim extension speculative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California High-Speed Rail (ARTIC–Union Station–San Francisco)</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Central Valley segment under construction</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Central Valley service 2033; full corridor as late as 2040</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John Wayne Airport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Passengers +3% in 2025, +4% Jan.–Apr. 2026; $700M terminal upgrade (no added capacity)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Upgrade by 2031</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DisneylandForward 6,000-space parking structure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Permits filed Oct. 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Construction expected to begin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21"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OCTA bus schedules (GTFS), Visit Anaheim BI analysis; LARC Market Intelligence Report (Sept. 2026). Bus data excludes Metrolink and Amtrak, which also serve ARTIC.</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84</a:t>
            </a:fld>
            <a:endParaRPr lang="en-US"/>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Most visitors drive, and driving costs are up a third since 2019</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Commute patterns and transportation cost trends · U.S. Bureau of Transportation Statistics; Azira</a:t>
            </a:r>
            <a:endParaRPr lang="en-US" sz="1200" dirty="0"/>
          </a:p>
        </p:txBody>
      </p:sp>
      <p:sp>
        <p:nvSpPr>
          <p:cNvPr id="4" name="kpi-card-0"/>
          <p:cNvSpPr/>
          <p:nvPr/>
        </p:nvSpPr>
        <p:spPr>
          <a:xfrm>
            <a:off x="548640" y="1463040"/>
            <a:ext cx="3588410" cy="1463040"/>
          </a:xfrm>
          <a:prstGeom prst="roundRect">
            <a:avLst>
              <a:gd name="adj" fmla="val 5000"/>
            </a:avLst>
          </a:prstGeom>
          <a:solidFill>
            <a:srgbClr val="FFFFFF"/>
          </a:solidFill>
          <a:ln w="12700">
            <a:solidFill>
              <a:srgbClr val="B4D9E3"/>
            </a:solidFill>
            <a:prstDash val="solid"/>
          </a:ln>
        </p:spPr>
      </p:sp>
      <p:sp>
        <p:nvSpPr>
          <p:cNvPr id="5" name="Text 3"/>
          <p:cNvSpPr txBox="1"/>
          <p:nvPr/>
        </p:nvSpPr>
        <p:spPr>
          <a:xfrm>
            <a:off x="713232" y="1591056"/>
            <a:ext cx="325922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VISITOR ORIGIN</a:t>
            </a:r>
            <a:endParaRPr lang="en-US" sz="900" dirty="0"/>
          </a:p>
        </p:txBody>
      </p:sp>
      <p:sp>
        <p:nvSpPr>
          <p:cNvPr id="6" name="Text 4"/>
          <p:cNvSpPr txBox="1"/>
          <p:nvPr/>
        </p:nvSpPr>
        <p:spPr>
          <a:xfrm>
            <a:off x="713232" y="1810512"/>
            <a:ext cx="325922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Domestic trips from within 50 miles</a:t>
            </a:r>
            <a:endParaRPr lang="en-US" sz="1050" dirty="0"/>
          </a:p>
        </p:txBody>
      </p:sp>
      <p:sp>
        <p:nvSpPr>
          <p:cNvPr id="7" name="Text 5"/>
          <p:cNvSpPr txBox="1"/>
          <p:nvPr/>
        </p:nvSpPr>
        <p:spPr>
          <a:xfrm>
            <a:off x="713232" y="2084832"/>
            <a:ext cx="3259226" cy="548640"/>
          </a:xfrm>
          <a:prstGeom prst="rect">
            <a:avLst/>
          </a:prstGeom>
          <a:noFill/>
          <a:ln/>
        </p:spPr>
        <p:txBody>
          <a:bodyPr wrap="square" lIns="0" tIns="0" rIns="0" bIns="0" rtlCol="0" anchor="ctr"/>
          <a:lstStyle/>
          <a:p>
            <a:pPr indent="0" marL="0">
              <a:buNone/>
            </a:pPr>
            <a:r>
              <a:rPr lang="en-US" sz="2800" b="1" dirty="0">
                <a:solidFill>
                  <a:srgbClr val="125C60"/>
                </a:solidFill>
                <a:latin typeface="Proxima Nova" pitchFamily="34" charset="0"/>
                <a:ea typeface="Proxima Nova" pitchFamily="34" charset="-122"/>
                <a:cs typeface="Proxima Nova" pitchFamily="34" charset="-120"/>
              </a:rPr>
              <a:t>74.0%</a:t>
            </a:r>
            <a:endParaRPr lang="en-US" sz="2800" dirty="0"/>
          </a:p>
        </p:txBody>
      </p:sp>
      <p:sp>
        <p:nvSpPr>
          <p:cNvPr id="8" name="Text 6"/>
          <p:cNvSpPr txBox="1"/>
          <p:nvPr/>
        </p:nvSpPr>
        <p:spPr>
          <a:xfrm>
            <a:off x="713232" y="2633472"/>
            <a:ext cx="3259226" cy="20116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Anaheim and Garden Grove, Aug. 2026</a:t>
            </a:r>
            <a:endParaRPr lang="en-US" sz="1000" dirty="0"/>
          </a:p>
        </p:txBody>
      </p:sp>
      <p:sp>
        <p:nvSpPr>
          <p:cNvPr id="9" name="kpi-card-1"/>
          <p:cNvSpPr/>
          <p:nvPr/>
        </p:nvSpPr>
        <p:spPr>
          <a:xfrm>
            <a:off x="4301642" y="1463040"/>
            <a:ext cx="3588410" cy="1463040"/>
          </a:xfrm>
          <a:prstGeom prst="roundRect">
            <a:avLst>
              <a:gd name="adj" fmla="val 5000"/>
            </a:avLst>
          </a:prstGeom>
          <a:solidFill>
            <a:srgbClr val="FFFFFF"/>
          </a:solidFill>
          <a:ln w="12700">
            <a:solidFill>
              <a:srgbClr val="B4D9E3"/>
            </a:solidFill>
            <a:prstDash val="solid"/>
          </a:ln>
        </p:spPr>
      </p:sp>
      <p:sp>
        <p:nvSpPr>
          <p:cNvPr id="10" name="Text 8"/>
          <p:cNvSpPr txBox="1"/>
          <p:nvPr/>
        </p:nvSpPr>
        <p:spPr>
          <a:xfrm>
            <a:off x="4466234" y="1591056"/>
            <a:ext cx="325922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ORANGE COUNTY WORKERS</a:t>
            </a:r>
            <a:endParaRPr lang="en-US" sz="900" dirty="0"/>
          </a:p>
        </p:txBody>
      </p:sp>
      <p:sp>
        <p:nvSpPr>
          <p:cNvPr id="11" name="Text 9"/>
          <p:cNvSpPr txBox="1"/>
          <p:nvPr/>
        </p:nvSpPr>
        <p:spPr>
          <a:xfrm>
            <a:off x="4466234" y="1810512"/>
            <a:ext cx="325922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Drive alone to work</a:t>
            </a:r>
            <a:endParaRPr lang="en-US" sz="1050" dirty="0"/>
          </a:p>
        </p:txBody>
      </p:sp>
      <p:sp>
        <p:nvSpPr>
          <p:cNvPr id="12" name="Text 10"/>
          <p:cNvSpPr txBox="1"/>
          <p:nvPr/>
        </p:nvSpPr>
        <p:spPr>
          <a:xfrm>
            <a:off x="4466234" y="2084832"/>
            <a:ext cx="3259226" cy="548640"/>
          </a:xfrm>
          <a:prstGeom prst="rect">
            <a:avLst/>
          </a:prstGeom>
          <a:noFill/>
          <a:ln/>
        </p:spPr>
        <p:txBody>
          <a:bodyPr wrap="square" lIns="0" tIns="0" rIns="0" bIns="0" rtlCol="0" anchor="ctr"/>
          <a:lstStyle/>
          <a:p>
            <a:pPr indent="0" marL="0">
              <a:buNone/>
            </a:pPr>
            <a:r>
              <a:rPr lang="en-US" sz="2800" b="1" dirty="0">
                <a:solidFill>
                  <a:srgbClr val="125C60"/>
                </a:solidFill>
                <a:latin typeface="Proxima Nova" pitchFamily="34" charset="0"/>
                <a:ea typeface="Proxima Nova" pitchFamily="34" charset="-122"/>
                <a:cs typeface="Proxima Nova" pitchFamily="34" charset="-120"/>
              </a:rPr>
              <a:t>67.5%</a:t>
            </a:r>
            <a:endParaRPr lang="en-US" sz="2800" dirty="0"/>
          </a:p>
        </p:txBody>
      </p:sp>
      <p:sp>
        <p:nvSpPr>
          <p:cNvPr id="13" name="Text 11"/>
          <p:cNvSpPr txBox="1"/>
          <p:nvPr/>
        </p:nvSpPr>
        <p:spPr>
          <a:xfrm>
            <a:off x="4466234" y="2633472"/>
            <a:ext cx="3259226" cy="20116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Public transportation 1.2%</a:t>
            </a:r>
            <a:endParaRPr lang="en-US" sz="1000" dirty="0"/>
          </a:p>
        </p:txBody>
      </p:sp>
      <p:sp>
        <p:nvSpPr>
          <p:cNvPr id="14" name="kpi-card-2"/>
          <p:cNvSpPr/>
          <p:nvPr/>
        </p:nvSpPr>
        <p:spPr>
          <a:xfrm>
            <a:off x="8054645" y="1463040"/>
            <a:ext cx="3588410" cy="1463040"/>
          </a:xfrm>
          <a:prstGeom prst="roundRect">
            <a:avLst>
              <a:gd name="adj" fmla="val 5000"/>
            </a:avLst>
          </a:prstGeom>
          <a:solidFill>
            <a:srgbClr val="FFFFFF"/>
          </a:solidFill>
          <a:ln w="12700">
            <a:solidFill>
              <a:srgbClr val="B4D9E3"/>
            </a:solidFill>
            <a:prstDash val="solid"/>
          </a:ln>
        </p:spPr>
      </p:sp>
      <p:sp>
        <p:nvSpPr>
          <p:cNvPr id="15" name="Text 13"/>
          <p:cNvSpPr txBox="1"/>
          <p:nvPr/>
        </p:nvSpPr>
        <p:spPr>
          <a:xfrm>
            <a:off x="8219237" y="1591056"/>
            <a:ext cx="325922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U.S. CAR COST PER MILE</a:t>
            </a:r>
            <a:endParaRPr lang="en-US" sz="900" dirty="0"/>
          </a:p>
        </p:txBody>
      </p:sp>
      <p:sp>
        <p:nvSpPr>
          <p:cNvPr id="16" name="Text 14"/>
          <p:cNvSpPr txBox="1"/>
          <p:nvPr/>
        </p:nvSpPr>
        <p:spPr>
          <a:xfrm>
            <a:off x="8219237" y="1810512"/>
            <a:ext cx="325922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2024 average</a:t>
            </a:r>
            <a:endParaRPr lang="en-US" sz="1050" dirty="0"/>
          </a:p>
        </p:txBody>
      </p:sp>
      <p:sp>
        <p:nvSpPr>
          <p:cNvPr id="17" name="Text 15"/>
          <p:cNvSpPr txBox="1"/>
          <p:nvPr/>
        </p:nvSpPr>
        <p:spPr>
          <a:xfrm>
            <a:off x="8219237" y="2084832"/>
            <a:ext cx="3259226" cy="548640"/>
          </a:xfrm>
          <a:prstGeom prst="rect">
            <a:avLst/>
          </a:prstGeom>
          <a:noFill/>
          <a:ln/>
        </p:spPr>
        <p:txBody>
          <a:bodyPr wrap="square" lIns="0" tIns="0" rIns="0" bIns="0" rtlCol="0" anchor="ctr"/>
          <a:lstStyle/>
          <a:p>
            <a:pPr indent="0" marL="0">
              <a:buNone/>
            </a:pPr>
            <a:r>
              <a:rPr lang="en-US" sz="2800" b="1" dirty="0">
                <a:solidFill>
                  <a:srgbClr val="125C60"/>
                </a:solidFill>
                <a:latin typeface="Proxima Nova" pitchFamily="34" charset="0"/>
                <a:ea typeface="Proxima Nova" pitchFamily="34" charset="-122"/>
                <a:cs typeface="Proxima Nova" pitchFamily="34" charset="-120"/>
              </a:rPr>
              <a:t>$0.82</a:t>
            </a:r>
            <a:endParaRPr lang="en-US" sz="2800" dirty="0"/>
          </a:p>
        </p:txBody>
      </p:sp>
      <p:sp>
        <p:nvSpPr>
          <p:cNvPr id="18" name="Text 16"/>
          <p:cNvSpPr txBox="1"/>
          <p:nvPr/>
        </p:nvSpPr>
        <p:spPr>
          <a:xfrm>
            <a:off x="8219237" y="2633472"/>
            <a:ext cx="3259226" cy="20116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 +32% vs. 2019</a:t>
            </a:r>
            <a:endParaRPr lang="en-US" sz="1000" dirty="0"/>
          </a:p>
        </p:txBody>
      </p:sp>
      <p:graphicFrame>
        <p:nvGraphicFramePr>
          <p:cNvPr id="86" name="Table 0"/>
          <p:cNvGraphicFramePr>
            <a:graphicFrameLocks noGrp="1"/>
          </p:cNvGraphicFramePr>
          <p:nvPr>
            <p:extLst>
              <p:ext uri="{D42A27DB-BD31-4B8C-83A1-F6EECF244321}">
                <p14:modId xmlns:p14="http://schemas.microsoft.com/office/powerpoint/2010/main" val="1579011935"/>
              </p:ext>
            </p:extLst>
          </p:nvPr>
        </p:nvGraphicFramePr>
        <p:xfrm>
          <a:off x="548640" y="3154680"/>
          <a:ext cx="4937760" cy="914400"/>
        </p:xfrm>
        <a:graphic>
          <a:graphicData uri="http://schemas.openxmlformats.org/drawingml/2006/table">
            <a:tbl>
              <a:tblPr/>
              <a:tblGrid>
                <a:gridCol w="2377440"/>
                <a:gridCol w="1371600"/>
                <a:gridCol w="1188720"/>
              </a:tblGrid>
              <a:tr h="329184">
                <a:tc>
                  <a:txBody>
                    <a:bodyPr/>
                    <a:lstStyle/>
                    <a:p>
                      <a:pPr algn="l" indent="0" marL="0">
                        <a:buNone/>
                      </a:pPr>
                      <a:r>
                        <a:rPr lang="en-US" sz="1050" b="1" dirty="0">
                          <a:solidFill>
                            <a:srgbClr val="FFFFFF"/>
                          </a:solidFill>
                          <a:latin typeface="Proxima Nova" pitchFamily="34" charset="0"/>
                          <a:ea typeface="Proxima Nova" pitchFamily="34" charset="-122"/>
                          <a:cs typeface="Proxima Nova" pitchFamily="34" charset="-120"/>
                        </a:rPr>
                        <a:t>Means of transportation</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Workers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Share</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Drove alone</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1,057,284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67.5%</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Worked from home</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290,235</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18.5%</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Carpooled</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139,549</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8.9%</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Walked</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26,586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1.7%</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Public transportation</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18,009</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1.2%</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graphicFrame>
        <p:nvGraphicFramePr>
          <p:cNvPr id="171" name="Table 1"/>
          <p:cNvGraphicFramePr>
            <a:graphicFrameLocks noGrp="1"/>
          </p:cNvGraphicFramePr>
          <p:nvPr>
            <p:extLst>
              <p:ext uri="{D42A27DB-BD31-4B8C-83A1-F6EECF244321}">
                <p14:modId xmlns:p14="http://schemas.microsoft.com/office/powerpoint/2010/main" val="1579011935"/>
              </p:ext>
            </p:extLst>
          </p:nvPr>
        </p:nvGraphicFramePr>
        <p:xfrm>
          <a:off x="5669280" y="3154680"/>
          <a:ext cx="5943600" cy="914400"/>
        </p:xfrm>
        <a:graphic>
          <a:graphicData uri="http://schemas.openxmlformats.org/drawingml/2006/table">
            <a:tbl>
              <a:tblPr/>
              <a:tblGrid>
                <a:gridCol w="731520"/>
                <a:gridCol w="1463040"/>
                <a:gridCol w="1280160"/>
                <a:gridCol w="1188720"/>
                <a:gridCol w="1280160"/>
              </a:tblGrid>
              <a:tr h="310896">
                <a:tc>
                  <a:txBody>
                    <a:bodyPr/>
                    <a:lstStyle/>
                    <a:p>
                      <a:pPr algn="l" indent="0" marL="0">
                        <a:buNone/>
                      </a:pPr>
                      <a:r>
                        <a:rPr lang="en-US" sz="1000" b="1" dirty="0">
                          <a:solidFill>
                            <a:srgbClr val="FFFFFF"/>
                          </a:solidFill>
                          <a:latin typeface="Proxima Nova" pitchFamily="34" charset="0"/>
                          <a:ea typeface="Proxima Nova" pitchFamily="34" charset="-122"/>
                          <a:cs typeface="Proxima Nova" pitchFamily="34" charset="-120"/>
                        </a:rPr>
                        <a:t>Year</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Gasoline, West Coast ($/gal)</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Gasoline, U.S. ($/gal)</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Domestic airfare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Car cost per mile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10896">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2019</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$3.34</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$2.60</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$352</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$0.62</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10896">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2020</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$2.82</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$2.17</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$292</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$0.64</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10896">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2021</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$3.70</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$3.01</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$307</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$0.64</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10896">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2022</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$4.95</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$3.95</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$378</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$0.72</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10896">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2023</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$4.51</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$3.52</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$382</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$0.81</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10896">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2024</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$4.18</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$3.30</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$384</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$0.82</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10896">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2025</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$4.09</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$3.10</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$387</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n/a</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bl>
          </a:graphicData>
        </a:graphic>
      </p:graphicFrame>
      <p:sp>
        <p:nvSpPr>
          <p:cNvPr id="21"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U.S. BTS County Transportation Profile (Orange County) and Transportation Economic Trends; Azira via Symphony. Shares are BI calculations.</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85</a:t>
            </a:fld>
            <a:endParaRPr lang="en-US"/>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Rail already brings visitors to OC Vibe's front door at ARTIC</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Amtrak at Anaheim (ANA), 2018–2024 · Metrolink lines serving Anaheim, Oct.–Dec. 2025</a:t>
            </a:r>
            <a:endParaRPr lang="en-US" sz="1200" dirty="0"/>
          </a:p>
        </p:txBody>
      </p:sp>
      <p:graphicFrame>
        <p:nvGraphicFramePr>
          <p:cNvPr id="87"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4023360" cy="914400"/>
        </p:xfrm>
        <a:graphic>
          <a:graphicData uri="http://schemas.openxmlformats.org/drawingml/2006/table">
            <a:tbl>
              <a:tblPr/>
              <a:tblGrid>
                <a:gridCol w="1097280"/>
                <a:gridCol w="1737360"/>
                <a:gridCol w="1188720"/>
              </a:tblGrid>
              <a:tr h="329184">
                <a:tc>
                  <a:txBody>
                    <a:bodyPr/>
                    <a:lstStyle/>
                    <a:p>
                      <a:pPr algn="l" indent="0" marL="0">
                        <a:buNone/>
                      </a:pPr>
                      <a:r>
                        <a:rPr lang="en-US" sz="1050" b="1" dirty="0">
                          <a:solidFill>
                            <a:srgbClr val="FFFFFF"/>
                          </a:solidFill>
                          <a:latin typeface="Proxima Nova" pitchFamily="34" charset="0"/>
                          <a:ea typeface="Proxima Nova" pitchFamily="34" charset="-122"/>
                          <a:cs typeface="Proxima Nova" pitchFamily="34" charset="-120"/>
                        </a:rPr>
                        <a:t>Year</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Passengers (thousands)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vs. 2018</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2018</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256.6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100%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2019</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242.0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94%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2020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112.6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44%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2021</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71.9</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28%</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2022</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163.8</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64%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2023</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70.7</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28%</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2024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191.2</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75%</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bl>
          </a:graphicData>
        </a:graphic>
      </p:graphicFrame>
      <p:graphicFrame>
        <p:nvGraphicFramePr>
          <p:cNvPr id="173" name="Table 1"/>
          <p:cNvGraphicFramePr>
            <a:graphicFrameLocks noGrp="1"/>
          </p:cNvGraphicFramePr>
          <p:nvPr>
            <p:extLst>
              <p:ext uri="{D42A27DB-BD31-4B8C-83A1-F6EECF244321}">
                <p14:modId xmlns:p14="http://schemas.microsoft.com/office/powerpoint/2010/main" val="1579011935"/>
              </p:ext>
            </p:extLst>
          </p:nvPr>
        </p:nvGraphicFramePr>
        <p:xfrm>
          <a:off x="4754880" y="1463040"/>
          <a:ext cx="6888175" cy="914400"/>
        </p:xfrm>
        <a:graphic>
          <a:graphicData uri="http://schemas.openxmlformats.org/drawingml/2006/table">
            <a:tbl>
              <a:tblPr/>
              <a:tblGrid>
                <a:gridCol w="2377440"/>
                <a:gridCol w="1143000"/>
                <a:gridCol w="3364992"/>
              </a:tblGrid>
              <a:tr h="420624">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Measure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Value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Detail</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2062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Amtrak passengers, 2024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191,153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Average trip 76 miles; average fare $28.00; 89.5% of trips under 100 miles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42062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Top Amtrak city pairs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San Diego, Los Angeles, San Diego Old Town, Solana Beach, Oceanside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2062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People within 25 / 50 miles of the station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7.9M / 15.6M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Rail Passengers Association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2062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Metrolink Orange County Line, weekday riders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5,116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+4% vs. a year earlier; 50,778 weekend riders in the quarter (−6%)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2062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Metrolink Inland Empire–Orange County Line, weekday riders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2,331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+6%; 15,964 weekend riders (−41%)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2062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Metrolink trips that are not commutes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55%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Rider median household income $90,399; average trip 38 miles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7" name="Text 2"/>
          <p:cNvSpPr txBox="1"/>
          <p:nvPr/>
        </p:nvSpPr>
        <p:spPr>
          <a:xfrm>
            <a:off x="548640" y="4343400"/>
            <a:ext cx="4023360" cy="1463040"/>
          </a:xfrm>
          <a:prstGeom prst="rect">
            <a:avLst/>
          </a:prstGeom>
          <a:noFill/>
          <a:ln/>
        </p:spPr>
        <p:txBody>
          <a:bodyPr wrap="square" lIns="0" tIns="0" rIns="0" bIns="0" rtlCol="0" anchor="t"/>
          <a:lstStyle/>
          <a:p>
            <a:pPr indent="0" marL="0">
              <a:buNone/>
            </a:pPr>
            <a:r>
              <a:rPr lang="en-US" sz="1050" dirty="0">
                <a:solidFill>
                  <a:srgbClr val="231F20"/>
                </a:solidFill>
                <a:latin typeface="Proxima Nova" pitchFamily="34" charset="0"/>
                <a:ea typeface="Proxima Nova" pitchFamily="34" charset="-122"/>
                <a:cs typeface="Proxima Nova" pitchFamily="34" charset="-120"/>
              </a:rPr>
              <a:t>Rail already brings visitors to OC Vibe's front door: </a:t>
            </a:r>
            <a:pPr indent="0" marL="0">
              <a:buNone/>
            </a:pPr>
            <a:r>
              <a:rPr lang="en-US" sz="1050" b="1" dirty="0">
                <a:solidFill>
                  <a:srgbClr val="125C60"/>
                </a:solidFill>
                <a:latin typeface="Proxima Nova" pitchFamily="34" charset="0"/>
                <a:ea typeface="Proxima Nova" pitchFamily="34" charset="-122"/>
                <a:cs typeface="Proxima Nova" pitchFamily="34" charset="-120"/>
              </a:rPr>
              <a:t>191,153</a:t>
            </a:r>
            <a:pPr indent="0" marL="0">
              <a:buNone/>
            </a:pPr>
            <a:r>
              <a:rPr lang="en-US" sz="1050" dirty="0">
                <a:solidFill>
                  <a:srgbClr val="231F20"/>
                </a:solidFill>
                <a:latin typeface="Proxima Nova" pitchFamily="34" charset="0"/>
                <a:ea typeface="Proxima Nova" pitchFamily="34" charset="-122"/>
                <a:cs typeface="Proxima Nova" pitchFamily="34" charset="-120"/>
              </a:rPr>
              <a:t> Amtrak passengers used the Anaheim station at ARTIC in 2024 (</a:t>
            </a:r>
            <a:pPr indent="0" marL="0">
              <a:buNone/>
            </a:pPr>
            <a:r>
              <a:rPr lang="en-US" sz="1050" b="1" dirty="0">
                <a:solidFill>
                  <a:srgbClr val="125C60"/>
                </a:solidFill>
                <a:latin typeface="Proxima Nova" pitchFamily="34" charset="0"/>
                <a:ea typeface="Proxima Nova" pitchFamily="34" charset="-122"/>
                <a:cs typeface="Proxima Nova" pitchFamily="34" charset="-120"/>
              </a:rPr>
              <a:t>79%</a:t>
            </a:r>
            <a:pPr indent="0" marL="0">
              <a:buNone/>
            </a:pPr>
            <a:r>
              <a:rPr lang="en-US" sz="1050" dirty="0">
                <a:solidFill>
                  <a:srgbClr val="231F20"/>
                </a:solidFill>
                <a:latin typeface="Proxima Nova" pitchFamily="34" charset="0"/>
                <a:ea typeface="Proxima Nova" pitchFamily="34" charset="-122"/>
                <a:cs typeface="Proxima Nova" pitchFamily="34" charset="-120"/>
              </a:rPr>
              <a:t> of the 2018 level), mostly on trips under 100 miles from San Diego and Los Angeles. </a:t>
            </a:r>
            <a:pPr indent="0" marL="0">
              <a:buNone/>
            </a:pPr>
            <a:r>
              <a:rPr lang="en-US" sz="1050" b="1" dirty="0">
                <a:solidFill>
                  <a:srgbClr val="125C60"/>
                </a:solidFill>
                <a:latin typeface="Proxima Nova" pitchFamily="34" charset="0"/>
                <a:ea typeface="Proxima Nova" pitchFamily="34" charset="-122"/>
                <a:cs typeface="Proxima Nova" pitchFamily="34" charset="-120"/>
              </a:rPr>
              <a:t>15.6 million</a:t>
            </a:r>
            <a:pPr indent="0" marL="0">
              <a:buNone/>
            </a:pPr>
            <a:r>
              <a:rPr lang="en-US" sz="1050" dirty="0">
                <a:solidFill>
                  <a:srgbClr val="231F20"/>
                </a:solidFill>
                <a:latin typeface="Proxima Nova" pitchFamily="34" charset="0"/>
                <a:ea typeface="Proxima Nova" pitchFamily="34" charset="-122"/>
                <a:cs typeface="Proxima Nova" pitchFamily="34" charset="-120"/>
              </a:rPr>
              <a:t> people live within 50 miles of the station.</a:t>
            </a:r>
            <a:endParaRPr lang="en-US" sz="1050" dirty="0"/>
          </a:p>
        </p:txBody>
      </p:sp>
      <p:sp>
        <p:nvSpPr>
          <p:cNvPr id="8"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Rail Passengers Association, Amtrak ANA fact sheet (Oct. 27, 2025; 2018–2024 data); Metrolink Fact Sheet FY2025-26 Q2 (Oct.–Dec. 2025).</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86</a:t>
            </a:fld>
            <a:endParaRPr lang="en-US"/>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Transit ridership fell 38% from 2007 to 2017 while the bus fleet grew</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Orange County transit passengers and vehicles · all operators · data ends in 2017</a:t>
            </a:r>
            <a:endParaRPr lang="en-US" sz="1200" dirty="0"/>
          </a:p>
        </p:txBody>
      </p:sp>
      <p:graphicFrame>
        <p:nvGraphicFramePr>
          <p:cNvPr id="88"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7040880" cy="914400"/>
        </p:xfrm>
        <a:graphic>
          <a:graphicData uri="http://schemas.openxmlformats.org/drawingml/2006/table">
            <a:tbl>
              <a:tblPr/>
              <a:tblGrid>
                <a:gridCol w="640080"/>
                <a:gridCol w="1143000"/>
                <a:gridCol w="914400"/>
                <a:gridCol w="1143000"/>
                <a:gridCol w="1005840"/>
                <a:gridCol w="914400"/>
                <a:gridCol w="1280160"/>
              </a:tblGrid>
              <a:tr h="265176">
                <a:tc>
                  <a:txBody>
                    <a:bodyPr/>
                    <a:lstStyle/>
                    <a:p>
                      <a:pPr algn="l" indent="0" marL="0">
                        <a:buNone/>
                      </a:pPr>
                      <a:r>
                        <a:rPr lang="en-US" sz="900" b="1" dirty="0">
                          <a:solidFill>
                            <a:srgbClr val="FFFFFF"/>
                          </a:solidFill>
                          <a:latin typeface="Proxima Nova" pitchFamily="34" charset="0"/>
                          <a:ea typeface="Proxima Nova" pitchFamily="34" charset="-122"/>
                          <a:cs typeface="Proxima Nova" pitchFamily="34" charset="-120"/>
                        </a:rPr>
                        <a:t>Year</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00" b="1" dirty="0">
                          <a:solidFill>
                            <a:srgbClr val="FFFFFF"/>
                          </a:solidFill>
                          <a:latin typeface="Proxima Nova" pitchFamily="34" charset="0"/>
                          <a:ea typeface="Proxima Nova" pitchFamily="34" charset="-122"/>
                          <a:cs typeface="Proxima Nova" pitchFamily="34" charset="-120"/>
                        </a:rPr>
                        <a:t>Passengers, all</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00" b="1" dirty="0">
                          <a:solidFill>
                            <a:srgbClr val="FFFFFF"/>
                          </a:solidFill>
                          <a:latin typeface="Proxima Nova" pitchFamily="34" charset="0"/>
                          <a:ea typeface="Proxima Nova" pitchFamily="34" charset="-122"/>
                          <a:cs typeface="Proxima Nova" pitchFamily="34" charset="-120"/>
                        </a:rPr>
                        <a:t>Bus</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00" b="1" dirty="0">
                          <a:solidFill>
                            <a:srgbClr val="FFFFFF"/>
                          </a:solidFill>
                          <a:latin typeface="Proxima Nova" pitchFamily="34" charset="0"/>
                          <a:ea typeface="Proxima Nova" pitchFamily="34" charset="-122"/>
                          <a:cs typeface="Proxima Nova" pitchFamily="34" charset="-120"/>
                        </a:rPr>
                        <a:t>Demand response</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00" b="1" dirty="0">
                          <a:solidFill>
                            <a:srgbClr val="FFFFFF"/>
                          </a:solidFill>
                          <a:latin typeface="Proxima Nova" pitchFamily="34" charset="0"/>
                          <a:ea typeface="Proxima Nova" pitchFamily="34" charset="-122"/>
                          <a:cs typeface="Proxima Nova" pitchFamily="34" charset="-120"/>
                        </a:rPr>
                        <a:t>OCTA vehicles</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00" b="1" dirty="0">
                          <a:solidFill>
                            <a:srgbClr val="FFFFFF"/>
                          </a:solidFill>
                          <a:latin typeface="Proxima Nova" pitchFamily="34" charset="0"/>
                          <a:ea typeface="Proxima Nova" pitchFamily="34" charset="-122"/>
                          <a:cs typeface="Proxima Nova" pitchFamily="34" charset="-120"/>
                        </a:rPr>
                        <a:t>All vehicles</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00" b="1" dirty="0">
                          <a:solidFill>
                            <a:srgbClr val="FFFFFF"/>
                          </a:solidFill>
                          <a:latin typeface="Proxima Nova" pitchFamily="34" charset="0"/>
                          <a:ea typeface="Proxima Nova" pitchFamily="34" charset="-122"/>
                          <a:cs typeface="Proxima Nova" pitchFamily="34" charset="-120"/>
                        </a:rPr>
                        <a:t>Expenses per passenger</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26517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2017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00" b="1" dirty="0">
                          <a:solidFill>
                            <a:srgbClr val="231F20"/>
                          </a:solidFill>
                          <a:latin typeface="Proxima Nova" pitchFamily="34" charset="0"/>
                          <a:ea typeface="Proxima Nova" pitchFamily="34" charset="-122"/>
                          <a:cs typeface="Proxima Nova" pitchFamily="34" charset="-120"/>
                        </a:rPr>
                        <a:t>43.8M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00" b="1" dirty="0">
                          <a:solidFill>
                            <a:srgbClr val="231F20"/>
                          </a:solidFill>
                          <a:latin typeface="Proxima Nova" pitchFamily="34" charset="0"/>
                          <a:ea typeface="Proxima Nova" pitchFamily="34" charset="-122"/>
                          <a:cs typeface="Proxima Nova" pitchFamily="34" charset="-120"/>
                        </a:rPr>
                        <a:t>40.9M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00" b="1" dirty="0">
                          <a:solidFill>
                            <a:srgbClr val="231F20"/>
                          </a:solidFill>
                          <a:latin typeface="Proxima Nova" pitchFamily="34" charset="0"/>
                          <a:ea typeface="Proxima Nova" pitchFamily="34" charset="-122"/>
                          <a:cs typeface="Proxima Nova" pitchFamily="34" charset="-120"/>
                        </a:rPr>
                        <a:t>1.61M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00" b="1" dirty="0">
                          <a:solidFill>
                            <a:srgbClr val="231F20"/>
                          </a:solidFill>
                          <a:latin typeface="Proxima Nova" pitchFamily="34" charset="0"/>
                          <a:ea typeface="Proxima Nova" pitchFamily="34" charset="-122"/>
                          <a:cs typeface="Proxima Nova" pitchFamily="34" charset="-120"/>
                        </a:rPr>
                        <a:t>1,066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00" b="1" dirty="0">
                          <a:solidFill>
                            <a:srgbClr val="231F20"/>
                          </a:solidFill>
                          <a:latin typeface="Proxima Nova" pitchFamily="34" charset="0"/>
                          <a:ea typeface="Proxima Nova" pitchFamily="34" charset="-122"/>
                          <a:cs typeface="Proxima Nova" pitchFamily="34" charset="-120"/>
                        </a:rPr>
                        <a:t>1,577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00" b="1" dirty="0">
                          <a:solidFill>
                            <a:srgbClr val="231F20"/>
                          </a:solidFill>
                          <a:latin typeface="Proxima Nova" pitchFamily="34" charset="0"/>
                          <a:ea typeface="Proxima Nova" pitchFamily="34" charset="-122"/>
                          <a:cs typeface="Proxima Nova" pitchFamily="34" charset="-120"/>
                        </a:rPr>
                        <a:t>$7.00</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26517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2016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47.2M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44.2M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1.79M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1,078</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1,953</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$6.66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6517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2015</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50.9M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47.9M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1.71M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1,014</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1,603</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$5.80</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6517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2014</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52.4M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49.5M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1.65M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1,060</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1,591</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$5.64</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6517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2013</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54.3M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51.4M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1.63M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1,087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1,646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$5.34</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6517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2012</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55.8M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53.1M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1.57M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961</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1,503</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$5.03</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6517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2011</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54.3M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51.9M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1.52M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926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1,477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$4.93</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6517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2010</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56.3M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54.0M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2.33M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876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1,481</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$5.07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6517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2009</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67.2M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64.9M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1.46M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953</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1,473</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$4.43</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6517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2008</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67.5M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65.7M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1.42M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773</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1,157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$4.26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6517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2007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70.7M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69.5M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1.23M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648</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911</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$3.85</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6517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2006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69.5M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68.0M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1.21M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652</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966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$3.72</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6517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2005</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68.9M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67.4M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1.20M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648</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996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$3.59</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6517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2004</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69.0M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67.6M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1.08M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642</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938</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$3.26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6517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2003</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66.4M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65.2M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0.91M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615</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923</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$3.28</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7863840" y="1417320"/>
            <a:ext cx="3779215" cy="4480560"/>
          </a:xfrm>
          <a:prstGeom prst="rect">
            <a:avLst/>
          </a:prstGeom>
          <a:noFill/>
          <a:ln/>
        </p:spPr>
        <p:txBody>
          <a:bodyPr wrap="square" lIns="0" tIns="0" rIns="0" bIns="0" rtlCol="0" anchor="t"/>
          <a:lstStyle/>
          <a:p>
            <a:pPr indent="0" marL="0">
              <a:buNone/>
            </a:pPr>
            <a:r>
              <a:rPr lang="en-US" sz="1050" dirty="0">
                <a:solidFill>
                  <a:srgbClr val="231F20"/>
                </a:solidFill>
                <a:latin typeface="Proxima Nova" pitchFamily="34" charset="0"/>
                <a:ea typeface="Proxima Nova" pitchFamily="34" charset="-122"/>
                <a:cs typeface="Proxima Nova" pitchFamily="34" charset="-120"/>
              </a:rPr>
              <a:t>Orange County transit ridership peaked at </a:t>
            </a:r>
            <a:pPr indent="0" marL="0">
              <a:buNone/>
            </a:pPr>
            <a:r>
              <a:rPr lang="en-US" sz="1050" b="1" dirty="0">
                <a:solidFill>
                  <a:srgbClr val="125C60"/>
                </a:solidFill>
                <a:latin typeface="Proxima Nova" pitchFamily="34" charset="0"/>
                <a:ea typeface="Proxima Nova" pitchFamily="34" charset="-122"/>
                <a:cs typeface="Proxima Nova" pitchFamily="34" charset="-120"/>
              </a:rPr>
              <a:t>70.7M</a:t>
            </a:r>
            <a:pPr indent="0" marL="0">
              <a:buNone/>
            </a:pPr>
            <a:r>
              <a:rPr lang="en-US" sz="1050" dirty="0">
                <a:solidFill>
                  <a:srgbClr val="231F20"/>
                </a:solidFill>
                <a:latin typeface="Proxima Nova" pitchFamily="34" charset="0"/>
                <a:ea typeface="Proxima Nova" pitchFamily="34" charset="-122"/>
                <a:cs typeface="Proxima Nova" pitchFamily="34" charset="-120"/>
              </a:rPr>
              <a:t> passengers in 2007 and fell to </a:t>
            </a:r>
            <a:pPr indent="0" marL="0">
              <a:buNone/>
            </a:pPr>
            <a:r>
              <a:rPr lang="en-US" sz="1050" b="1" dirty="0">
                <a:solidFill>
                  <a:srgbClr val="125C60"/>
                </a:solidFill>
                <a:latin typeface="Proxima Nova" pitchFamily="34" charset="0"/>
                <a:ea typeface="Proxima Nova" pitchFamily="34" charset="-122"/>
                <a:cs typeface="Proxima Nova" pitchFamily="34" charset="-120"/>
              </a:rPr>
              <a:t>43.8M</a:t>
            </a:r>
            <a:pPr indent="0" marL="0">
              <a:buNone/>
            </a:pPr>
            <a:r>
              <a:rPr lang="en-US" sz="1050" dirty="0">
                <a:solidFill>
                  <a:srgbClr val="231F20"/>
                </a:solidFill>
                <a:latin typeface="Proxima Nova" pitchFamily="34" charset="0"/>
                <a:ea typeface="Proxima Nova" pitchFamily="34" charset="-122"/>
                <a:cs typeface="Proxima Nova" pitchFamily="34" charset="-120"/>
              </a:rPr>
              <a:t> by 2017 (</a:t>
            </a:r>
            <a:pPr indent="0" marL="0">
              <a:buNone/>
            </a:pPr>
            <a:r>
              <a:rPr lang="en-US" sz="1050" b="1" dirty="0">
                <a:solidFill>
                  <a:srgbClr val="125C60"/>
                </a:solidFill>
                <a:latin typeface="Proxima Nova" pitchFamily="34" charset="0"/>
                <a:ea typeface="Proxima Nova" pitchFamily="34" charset="-122"/>
                <a:cs typeface="Proxima Nova" pitchFamily="34" charset="-120"/>
              </a:rPr>
              <a:t>-38%</a:t>
            </a:r>
            <a:pPr indent="0" marL="0">
              <a:buNone/>
            </a:pPr>
            <a:r>
              <a:rPr lang="en-US" sz="1050" dirty="0">
                <a:solidFill>
                  <a:srgbClr val="231F20"/>
                </a:solidFill>
                <a:latin typeface="Proxima Nova" pitchFamily="34" charset="0"/>
                <a:ea typeface="Proxima Nova" pitchFamily="34" charset="-122"/>
                <a:cs typeface="Proxima Nova" pitchFamily="34" charset="-120"/>
              </a:rPr>
              <a:t>), while OCTA's vehicle fleet grew from </a:t>
            </a:r>
            <a:pPr indent="0" marL="0">
              <a:buNone/>
            </a:pPr>
            <a:r>
              <a:rPr lang="en-US" sz="1050" b="1" dirty="0">
                <a:solidFill>
                  <a:srgbClr val="125C60"/>
                </a:solidFill>
                <a:latin typeface="Proxima Nova" pitchFamily="34" charset="0"/>
                <a:ea typeface="Proxima Nova" pitchFamily="34" charset="-122"/>
                <a:cs typeface="Proxima Nova" pitchFamily="34" charset="-120"/>
              </a:rPr>
              <a:t>615 to 1,066</a:t>
            </a:r>
            <a:pPr indent="0" marL="0">
              <a:buNone/>
            </a:pPr>
            <a:r>
              <a:rPr lang="en-US" sz="1050" dirty="0">
                <a:solidFill>
                  <a:srgbClr val="231F20"/>
                </a:solidFill>
                <a:latin typeface="Proxima Nova" pitchFamily="34" charset="0"/>
                <a:ea typeface="Proxima Nova" pitchFamily="34" charset="-122"/>
                <a:cs typeface="Proxima Nova" pitchFamily="34" charset="-120"/>
              </a:rPr>
              <a:t>. Expenses per passenger rose from </a:t>
            </a:r>
            <a:pPr indent="0" marL="0">
              <a:buNone/>
            </a:pPr>
            <a:r>
              <a:rPr lang="en-US" sz="1050" b="1" dirty="0">
                <a:solidFill>
                  <a:srgbClr val="125C60"/>
                </a:solidFill>
                <a:latin typeface="Proxima Nova" pitchFamily="34" charset="0"/>
                <a:ea typeface="Proxima Nova" pitchFamily="34" charset="-122"/>
                <a:cs typeface="Proxima Nova" pitchFamily="34" charset="-120"/>
              </a:rPr>
              <a:t>$3.28 to $7.00</a:t>
            </a:r>
            <a:pPr indent="0" marL="0">
              <a:buNone/>
            </a:pPr>
            <a:r>
              <a:rPr lang="en-US" sz="1050" dirty="0">
                <a:solidFill>
                  <a:srgbClr val="231F20"/>
                </a:solidFill>
                <a:latin typeface="Proxima Nova" pitchFamily="34" charset="0"/>
                <a:ea typeface="Proxima Nova" pitchFamily="34" charset="-122"/>
                <a:cs typeface="Proxima Nova" pitchFamily="34" charset="-120"/>
              </a:rPr>
              <a:t>. For OC Vibe this means most guests will drive, and that buses have spare seats outside peak hours. Solution: pair event-night service requests with ticket-and-transit promotions so added buses fill.</a:t>
            </a:r>
            <a:endParaRPr lang="en-US" sz="1050" dirty="0"/>
          </a:p>
        </p:txBody>
      </p:sp>
      <p:sp>
        <p:nvSpPr>
          <p:cNvPr id="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California's transit systems data snapshots, Orange County: Transit Operating Statistics (employees, passengers, vehicles) and Transit Financial Data (revenues and expenses), 2003–2017; downloaded Oct. 12, 2026. Expenses per passenger is a BI calculation.</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87</a:t>
            </a:fld>
            <a:endParaRPr lang="en-US"/>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Orange County transit: fewer staff and rising costs, 2003–2017</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OCTA, OCTA specialized service and Laguna Beach · nominal dollars · data ends in 2017</a:t>
            </a:r>
            <a:endParaRPr lang="en-US" sz="1200" dirty="0"/>
          </a:p>
        </p:txBody>
      </p:sp>
      <p:graphicFrame>
        <p:nvGraphicFramePr>
          <p:cNvPr id="89"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7040880" cy="914400"/>
        </p:xfrm>
        <a:graphic>
          <a:graphicData uri="http://schemas.openxmlformats.org/drawingml/2006/table">
            <a:tbl>
              <a:tblPr/>
              <a:tblGrid>
                <a:gridCol w="548640"/>
                <a:gridCol w="868680"/>
                <a:gridCol w="1051560"/>
                <a:gridCol w="1051560"/>
                <a:gridCol w="1234440"/>
                <a:gridCol w="1005840"/>
                <a:gridCol w="1280160"/>
              </a:tblGrid>
              <a:tr h="274320">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Year</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850" b="1" dirty="0">
                          <a:solidFill>
                            <a:srgbClr val="FFFFFF"/>
                          </a:solidFill>
                          <a:latin typeface="Proxima Nova" pitchFamily="34" charset="0"/>
                          <a:ea typeface="Proxima Nova" pitchFamily="34" charset="-122"/>
                          <a:cs typeface="Proxima Nova" pitchFamily="34" charset="-120"/>
                        </a:rPr>
                        <a:t>OCTA staff</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850" b="1" dirty="0">
                          <a:solidFill>
                            <a:srgbClr val="FFFFFF"/>
                          </a:solidFill>
                          <a:latin typeface="Proxima Nova" pitchFamily="34" charset="0"/>
                          <a:ea typeface="Proxima Nova" pitchFamily="34" charset="-122"/>
                          <a:cs typeface="Proxima Nova" pitchFamily="34" charset="-120"/>
                        </a:rPr>
                        <a:t>OCTA expenses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850" b="1" dirty="0">
                          <a:solidFill>
                            <a:srgbClr val="FFFFFF"/>
                          </a:solidFill>
                          <a:latin typeface="Proxima Nova" pitchFamily="34" charset="0"/>
                          <a:ea typeface="Proxima Nova" pitchFamily="34" charset="-122"/>
                          <a:cs typeface="Proxima Nova" pitchFamily="34" charset="-120"/>
                        </a:rPr>
                        <a:t>Specialized service staff</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850" b="1" dirty="0">
                          <a:solidFill>
                            <a:srgbClr val="FFFFFF"/>
                          </a:solidFill>
                          <a:latin typeface="Proxima Nova" pitchFamily="34" charset="0"/>
                          <a:ea typeface="Proxima Nova" pitchFamily="34" charset="-122"/>
                          <a:cs typeface="Proxima Nova" pitchFamily="34" charset="-120"/>
                        </a:rPr>
                        <a:t>Specialized service expenses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850" b="1" dirty="0">
                          <a:solidFill>
                            <a:srgbClr val="FFFFFF"/>
                          </a:solidFill>
                          <a:latin typeface="Proxima Nova" pitchFamily="34" charset="0"/>
                          <a:ea typeface="Proxima Nova" pitchFamily="34" charset="-122"/>
                          <a:cs typeface="Proxima Nova" pitchFamily="34" charset="-120"/>
                        </a:rPr>
                        <a:t>All operators, staff</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850" b="1" dirty="0">
                          <a:solidFill>
                            <a:srgbClr val="FFFFFF"/>
                          </a:solidFill>
                          <a:latin typeface="Proxima Nova" pitchFamily="34" charset="0"/>
                          <a:ea typeface="Proxima Nova" pitchFamily="34" charset="-122"/>
                          <a:cs typeface="Proxima Nova" pitchFamily="34" charset="-120"/>
                        </a:rPr>
                        <a:t>All operators, expenses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27432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2017</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850" b="1" dirty="0">
                          <a:solidFill>
                            <a:srgbClr val="231F20"/>
                          </a:solidFill>
                          <a:latin typeface="Proxima Nova" pitchFamily="34" charset="0"/>
                          <a:ea typeface="Proxima Nova" pitchFamily="34" charset="-122"/>
                          <a:cs typeface="Proxima Nova" pitchFamily="34" charset="-120"/>
                        </a:rPr>
                        <a:t>1,526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850" b="1" dirty="0">
                          <a:solidFill>
                            <a:srgbClr val="231F20"/>
                          </a:solidFill>
                          <a:latin typeface="Proxima Nova" pitchFamily="34" charset="0"/>
                          <a:ea typeface="Proxima Nova" pitchFamily="34" charset="-122"/>
                          <a:cs typeface="Proxima Nova" pitchFamily="34" charset="-120"/>
                        </a:rPr>
                        <a:t>$227.9M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850" b="1" dirty="0">
                          <a:solidFill>
                            <a:srgbClr val="231F20"/>
                          </a:solidFill>
                          <a:latin typeface="Proxima Nova" pitchFamily="34" charset="0"/>
                          <a:ea typeface="Proxima Nova" pitchFamily="34" charset="-122"/>
                          <a:cs typeface="Proxima Nova" pitchFamily="34" charset="-120"/>
                        </a:rPr>
                        <a:t>618</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850" b="1" dirty="0">
                          <a:solidFill>
                            <a:srgbClr val="231F20"/>
                          </a:solidFill>
                          <a:latin typeface="Proxima Nova" pitchFamily="34" charset="0"/>
                          <a:ea typeface="Proxima Nova" pitchFamily="34" charset="-122"/>
                          <a:cs typeface="Proxima Nova" pitchFamily="34" charset="-120"/>
                        </a:rPr>
                        <a:t>$75.1M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850" b="1" dirty="0">
                          <a:solidFill>
                            <a:srgbClr val="231F20"/>
                          </a:solidFill>
                          <a:latin typeface="Proxima Nova" pitchFamily="34" charset="0"/>
                          <a:ea typeface="Proxima Nova" pitchFamily="34" charset="-122"/>
                          <a:cs typeface="Proxima Nova" pitchFamily="34" charset="-120"/>
                        </a:rPr>
                        <a:t>2,176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850" b="1" dirty="0">
                          <a:solidFill>
                            <a:srgbClr val="231F20"/>
                          </a:solidFill>
                          <a:latin typeface="Proxima Nova" pitchFamily="34" charset="0"/>
                          <a:ea typeface="Proxima Nova" pitchFamily="34" charset="-122"/>
                          <a:cs typeface="Proxima Nova" pitchFamily="34" charset="-120"/>
                        </a:rPr>
                        <a:t>$306.1M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27432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2015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1,486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$222.0M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633</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$70.3M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2,244</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$295.3M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2013</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1,606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$233.4M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586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$54.1M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2,208</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$289.7M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2011</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1,567</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$216.9M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528</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$48.5M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2,199</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$267.8M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2010</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1,585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$237.5M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822</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$45.8M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2,489</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$285.6M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2009</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2,235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$257.6M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647</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$37.4M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2,976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$297.4M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2007</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1,854</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$238.1M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577</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$32.5M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2,511</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$272.1M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2005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1,929</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$213.6M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627</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$32.3M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2,572</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$247.3M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2003</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1,786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$193.4M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674</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$23.0M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2,474</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$217.6M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graphicFrame>
        <p:nvGraphicFramePr>
          <p:cNvPr id="177" name="Table 1"/>
          <p:cNvGraphicFramePr>
            <a:graphicFrameLocks noGrp="1"/>
          </p:cNvGraphicFramePr>
          <p:nvPr>
            <p:extLst>
              <p:ext uri="{D42A27DB-BD31-4B8C-83A1-F6EECF244321}">
                <p14:modId xmlns:p14="http://schemas.microsoft.com/office/powerpoint/2010/main" val="1579011935"/>
              </p:ext>
            </p:extLst>
          </p:nvPr>
        </p:nvGraphicFramePr>
        <p:xfrm>
          <a:off x="548640" y="4206240"/>
          <a:ext cx="7040880" cy="914400"/>
        </p:xfrm>
        <a:graphic>
          <a:graphicData uri="http://schemas.openxmlformats.org/drawingml/2006/table">
            <a:tbl>
              <a:tblPr/>
              <a:tblGrid>
                <a:gridCol w="548640"/>
                <a:gridCol w="1097280"/>
                <a:gridCol w="1097280"/>
                <a:gridCol w="1463040"/>
                <a:gridCol w="1280160"/>
                <a:gridCol w="1554480"/>
              </a:tblGrid>
              <a:tr h="246888">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Year</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850" b="1" dirty="0">
                          <a:solidFill>
                            <a:srgbClr val="FFFFFF"/>
                          </a:solidFill>
                          <a:latin typeface="Proxima Nova" pitchFamily="34" charset="0"/>
                          <a:ea typeface="Proxima Nova" pitchFamily="34" charset="-122"/>
                          <a:cs typeface="Proxima Nova" pitchFamily="34" charset="-120"/>
                        </a:rPr>
                        <a:t>Revenues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850" b="1" dirty="0">
                          <a:solidFill>
                            <a:srgbClr val="FFFFFF"/>
                          </a:solidFill>
                          <a:latin typeface="Proxima Nova" pitchFamily="34" charset="0"/>
                          <a:ea typeface="Proxima Nova" pitchFamily="34" charset="-122"/>
                          <a:cs typeface="Proxima Nova" pitchFamily="34" charset="-120"/>
                        </a:rPr>
                        <a:t>Expenses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850" b="1" dirty="0">
                          <a:solidFill>
                            <a:srgbClr val="FFFFFF"/>
                          </a:solidFill>
                          <a:latin typeface="Proxima Nova" pitchFamily="34" charset="0"/>
                          <a:ea typeface="Proxima Nova" pitchFamily="34" charset="-122"/>
                          <a:cs typeface="Proxima Nova" pitchFamily="34" charset="-120"/>
                        </a:rPr>
                        <a:t>Revenues less expenses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850" b="1" dirty="0">
                          <a:solidFill>
                            <a:srgbClr val="FFFFFF"/>
                          </a:solidFill>
                          <a:latin typeface="Proxima Nova" pitchFamily="34" charset="0"/>
                          <a:ea typeface="Proxima Nova" pitchFamily="34" charset="-122"/>
                          <a:cs typeface="Proxima Nova" pitchFamily="34" charset="-120"/>
                        </a:rPr>
                        <a:t>OCTA revenues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850" b="1" dirty="0">
                          <a:solidFill>
                            <a:srgbClr val="FFFFFF"/>
                          </a:solidFill>
                          <a:latin typeface="Proxima Nova" pitchFamily="34" charset="0"/>
                          <a:ea typeface="Proxima Nova" pitchFamily="34" charset="-122"/>
                          <a:cs typeface="Proxima Nova" pitchFamily="34" charset="-120"/>
                        </a:rPr>
                        <a:t>Specialized service revenues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2468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2017</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850" b="1" dirty="0">
                          <a:solidFill>
                            <a:srgbClr val="231F20"/>
                          </a:solidFill>
                          <a:latin typeface="Proxima Nova" pitchFamily="34" charset="0"/>
                          <a:ea typeface="Proxima Nova" pitchFamily="34" charset="-122"/>
                          <a:cs typeface="Proxima Nova" pitchFamily="34" charset="-120"/>
                        </a:rPr>
                        <a:t>$305.2M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850" b="1" dirty="0">
                          <a:solidFill>
                            <a:srgbClr val="231F20"/>
                          </a:solidFill>
                          <a:latin typeface="Proxima Nova" pitchFamily="34" charset="0"/>
                          <a:ea typeface="Proxima Nova" pitchFamily="34" charset="-122"/>
                          <a:cs typeface="Proxima Nova" pitchFamily="34" charset="-120"/>
                        </a:rPr>
                        <a:t>$306.1M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850" b="1" dirty="0">
                          <a:solidFill>
                            <a:srgbClr val="231F20"/>
                          </a:solidFill>
                          <a:latin typeface="Proxima Nova" pitchFamily="34" charset="0"/>
                          <a:ea typeface="Proxima Nova" pitchFamily="34" charset="-122"/>
                          <a:cs typeface="Proxima Nova" pitchFamily="34" charset="-120"/>
                        </a:rPr>
                        <a:t>−$0.9M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850" b="1" dirty="0">
                          <a:solidFill>
                            <a:srgbClr val="231F20"/>
                          </a:solidFill>
                          <a:latin typeface="Proxima Nova" pitchFamily="34" charset="0"/>
                          <a:ea typeface="Proxima Nova" pitchFamily="34" charset="-122"/>
                          <a:cs typeface="Proxima Nova" pitchFamily="34" charset="-120"/>
                        </a:rPr>
                        <a:t>$264.1M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850" b="1" dirty="0">
                          <a:solidFill>
                            <a:srgbClr val="231F20"/>
                          </a:solidFill>
                          <a:latin typeface="Proxima Nova" pitchFamily="34" charset="0"/>
                          <a:ea typeface="Proxima Nova" pitchFamily="34" charset="-122"/>
                          <a:cs typeface="Proxima Nova" pitchFamily="34" charset="-120"/>
                        </a:rPr>
                        <a:t>$38.1M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2468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2015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$300.4M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$295.3M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$5.1M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$264.8M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$33.3M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468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2013</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$321.7M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$289.7M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$32.0M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$284.8M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$34.9M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468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2011</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$243.9M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$267.8M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−$23.9M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$212.7M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$29.0M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468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2010</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$279.8M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$285.6M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−$5.8M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$250.4M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$27.4M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6" name="Text 2"/>
          <p:cNvSpPr txBox="1"/>
          <p:nvPr/>
        </p:nvSpPr>
        <p:spPr>
          <a:xfrm>
            <a:off x="7863840" y="1417320"/>
            <a:ext cx="3779215" cy="4480560"/>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Orange County transit, 2003–2017: OCTA's staff fell </a:t>
            </a:r>
            <a:pPr indent="0" marL="0">
              <a:buNone/>
            </a:pPr>
            <a:r>
              <a:rPr lang="en-US" sz="1000" b="1" dirty="0">
                <a:solidFill>
                  <a:srgbClr val="125C60"/>
                </a:solidFill>
                <a:latin typeface="Proxima Nova" pitchFamily="34" charset="0"/>
                <a:ea typeface="Proxima Nova" pitchFamily="34" charset="-122"/>
                <a:cs typeface="Proxima Nova" pitchFamily="34" charset="-120"/>
              </a:rPr>
              <a:t>14.6%</a:t>
            </a:r>
            <a:pPr indent="0" marL="0">
              <a:buNone/>
            </a:pPr>
            <a:r>
              <a:rPr lang="en-US" sz="1000" dirty="0">
                <a:solidFill>
                  <a:srgbClr val="231F20"/>
                </a:solidFill>
                <a:latin typeface="Proxima Nova" pitchFamily="34" charset="0"/>
                <a:ea typeface="Proxima Nova" pitchFamily="34" charset="-122"/>
                <a:cs typeface="Proxima Nova" pitchFamily="34" charset="-120"/>
              </a:rPr>
              <a:t> (</a:t>
            </a:r>
            <a:pPr indent="0" marL="0">
              <a:buNone/>
            </a:pPr>
            <a:r>
              <a:rPr lang="en-US" sz="1000" b="1" dirty="0">
                <a:solidFill>
                  <a:srgbClr val="125C60"/>
                </a:solidFill>
                <a:latin typeface="Proxima Nova" pitchFamily="34" charset="0"/>
                <a:ea typeface="Proxima Nova" pitchFamily="34" charset="-122"/>
                <a:cs typeface="Proxima Nova" pitchFamily="34" charset="-120"/>
              </a:rPr>
              <a:t>1,786 to 1,526</a:t>
            </a:r>
            <a:pPr indent="0" marL="0">
              <a:buNone/>
            </a:pPr>
            <a:r>
              <a:rPr lang="en-US" sz="1000" dirty="0">
                <a:solidFill>
                  <a:srgbClr val="231F20"/>
                </a:solidFill>
                <a:latin typeface="Proxima Nova" pitchFamily="34" charset="0"/>
                <a:ea typeface="Proxima Nova" pitchFamily="34" charset="-122"/>
                <a:cs typeface="Proxima Nova" pitchFamily="34" charset="-120"/>
              </a:rPr>
              <a:t>), with the largest drop after 2009 (</a:t>
            </a:r>
            <a:pPr indent="0" marL="0">
              <a:buNone/>
            </a:pPr>
            <a:r>
              <a:rPr lang="en-US" sz="1000" b="1" dirty="0">
                <a:solidFill>
                  <a:srgbClr val="125C60"/>
                </a:solidFill>
                <a:latin typeface="Proxima Nova" pitchFamily="34" charset="0"/>
                <a:ea typeface="Proxima Nova" pitchFamily="34" charset="-122"/>
                <a:cs typeface="Proxima Nova" pitchFamily="34" charset="-120"/>
              </a:rPr>
              <a:t>2,235 to 1,585</a:t>
            </a:r>
            <a:pPr indent="0" marL="0">
              <a:buNone/>
            </a:pPr>
            <a:r>
              <a:rPr lang="en-US" sz="1000" dirty="0">
                <a:solidFill>
                  <a:srgbClr val="231F20"/>
                </a:solidFill>
                <a:latin typeface="Proxima Nova" pitchFamily="34" charset="0"/>
                <a:ea typeface="Proxima Nova" pitchFamily="34" charset="-122"/>
                <a:cs typeface="Proxima Nova" pitchFamily="34" charset="-120"/>
              </a:rPr>
              <a:t>), while its expenses rose </a:t>
            </a:r>
            <a:pPr indent="0" marL="0">
              <a:buNone/>
            </a:pPr>
            <a:r>
              <a:rPr lang="en-US" sz="1000" b="1" dirty="0">
                <a:solidFill>
                  <a:srgbClr val="125C60"/>
                </a:solidFill>
                <a:latin typeface="Proxima Nova" pitchFamily="34" charset="0"/>
                <a:ea typeface="Proxima Nova" pitchFamily="34" charset="-122"/>
                <a:cs typeface="Proxima Nova" pitchFamily="34" charset="-120"/>
              </a:rPr>
              <a:t>17.9%</a:t>
            </a:r>
            <a:pPr indent="0" marL="0">
              <a:buNone/>
            </a:pPr>
            <a:r>
              <a:rPr lang="en-US" sz="1000" dirty="0">
                <a:solidFill>
                  <a:srgbClr val="231F20"/>
                </a:solidFill>
                <a:latin typeface="Proxima Nova" pitchFamily="34" charset="0"/>
                <a:ea typeface="Proxima Nova" pitchFamily="34" charset="-122"/>
                <a:cs typeface="Proxima Nova" pitchFamily="34" charset="-120"/>
              </a:rPr>
              <a:t> (</a:t>
            </a:r>
            <a:pPr indent="0" marL="0">
              <a:buNone/>
            </a:pPr>
            <a:r>
              <a:rPr lang="en-US" sz="1000" b="1" dirty="0">
                <a:solidFill>
                  <a:srgbClr val="125C60"/>
                </a:solidFill>
                <a:latin typeface="Proxima Nova" pitchFamily="34" charset="0"/>
                <a:ea typeface="Proxima Nova" pitchFamily="34" charset="-122"/>
                <a:cs typeface="Proxima Nova" pitchFamily="34" charset="-120"/>
              </a:rPr>
              <a:t>$193.4M to $227.9M</a:t>
            </a:r>
            <a:pPr indent="0" marL="0">
              <a:buNone/>
            </a:pPr>
            <a:r>
              <a:rPr lang="en-US" sz="1000" dirty="0">
                <a:solidFill>
                  <a:srgbClr val="231F20"/>
                </a:solidFill>
                <a:latin typeface="Proxima Nova" pitchFamily="34" charset="0"/>
                <a:ea typeface="Proxima Nova" pitchFamily="34" charset="-122"/>
                <a:cs typeface="Proxima Nova" pitchFamily="34" charset="-120"/>
              </a:rPr>
              <a:t>), or from </a:t>
            </a:r>
            <a:pPr indent="0" marL="0">
              <a:buNone/>
            </a:pPr>
            <a:r>
              <a:rPr lang="en-US" sz="1000" b="1" dirty="0">
                <a:solidFill>
                  <a:srgbClr val="125C60"/>
                </a:solidFill>
                <a:latin typeface="Proxima Nova" pitchFamily="34" charset="0"/>
                <a:ea typeface="Proxima Nova" pitchFamily="34" charset="-122"/>
                <a:cs typeface="Proxima Nova" pitchFamily="34" charset="-120"/>
              </a:rPr>
              <a:t>$108K to $149K</a:t>
            </a:r>
            <a:pPr indent="0" marL="0">
              <a:buNone/>
            </a:pPr>
            <a:r>
              <a:rPr lang="en-US" sz="1000" dirty="0">
                <a:solidFill>
                  <a:srgbClr val="231F20"/>
                </a:solidFill>
                <a:latin typeface="Proxima Nova" pitchFamily="34" charset="0"/>
                <a:ea typeface="Proxima Nova" pitchFamily="34" charset="-122"/>
                <a:cs typeface="Proxima Nova" pitchFamily="34" charset="-120"/>
              </a:rPr>
              <a:t> per employee. Specialized service expenses grew fastest (</a:t>
            </a:r>
            <a:pPr indent="0" marL="0">
              <a:buNone/>
            </a:pPr>
            <a:r>
              <a:rPr lang="en-US" sz="1000" b="1" dirty="0">
                <a:solidFill>
                  <a:srgbClr val="125C60"/>
                </a:solidFill>
                <a:latin typeface="Proxima Nova" pitchFamily="34" charset="0"/>
                <a:ea typeface="Proxima Nova" pitchFamily="34" charset="-122"/>
                <a:cs typeface="Proxima Nova" pitchFamily="34" charset="-120"/>
              </a:rPr>
              <a:t>$23.0M to $75.1M</a:t>
            </a:r>
            <a:pPr indent="0" marL="0">
              <a:buNone/>
            </a:pPr>
            <a:r>
              <a:rPr lang="en-US" sz="1000" dirty="0">
                <a:solidFill>
                  <a:srgbClr val="231F20"/>
                </a:solidFill>
                <a:latin typeface="Proxima Nova" pitchFamily="34" charset="0"/>
                <a:ea typeface="Proxima Nova" pitchFamily="34" charset="-122"/>
                <a:cs typeface="Proxima Nova" pitchFamily="34" charset="-120"/>
              </a:rPr>
              <a:t>, </a:t>
            </a:r>
            <a:pPr indent="0" marL="0">
              <a:buNone/>
            </a:pPr>
            <a:r>
              <a:rPr lang="en-US" sz="1000" b="1" dirty="0">
                <a:solidFill>
                  <a:srgbClr val="125C60"/>
                </a:solidFill>
                <a:latin typeface="Proxima Nova" pitchFamily="34" charset="0"/>
                <a:ea typeface="Proxima Nova" pitchFamily="34" charset="-122"/>
                <a:cs typeface="Proxima Nova" pitchFamily="34" charset="-120"/>
              </a:rPr>
              <a:t>+227%</a:t>
            </a:r>
            <a:pPr indent="0" marL="0">
              <a:buNone/>
            </a:pPr>
            <a:r>
              <a:rPr lang="en-US" sz="1000" dirty="0">
                <a:solidFill>
                  <a:srgbClr val="231F20"/>
                </a:solidFill>
                <a:latin typeface="Proxima Nova" pitchFamily="34" charset="0"/>
                <a:ea typeface="Proxima Nova" pitchFamily="34" charset="-122"/>
                <a:cs typeface="Proxima Nova" pitchFamily="34" charset="-120"/>
              </a:rPr>
              <a:t>). Countywide, expenses exceeded revenues in 10 of 15 years (2017: </a:t>
            </a:r>
            <a:pPr indent="0" marL="0">
              <a:buNone/>
            </a:pPr>
            <a:r>
              <a:rPr lang="en-US" sz="1000" b="1" dirty="0">
                <a:solidFill>
                  <a:srgbClr val="125C60"/>
                </a:solidFill>
                <a:latin typeface="Proxima Nova" pitchFamily="34" charset="0"/>
                <a:ea typeface="Proxima Nova" pitchFamily="34" charset="-122"/>
                <a:cs typeface="Proxima Nova" pitchFamily="34" charset="-120"/>
              </a:rPr>
              <a:t>−$0.9M</a:t>
            </a:r>
            <a:pPr indent="0" marL="0">
              <a:buNone/>
            </a:pPr>
            <a:r>
              <a:rPr lang="en-US" sz="1000" dirty="0">
                <a:solidFill>
                  <a:srgbClr val="231F20"/>
                </a:solidFill>
                <a:latin typeface="Proxima Nova" pitchFamily="34" charset="0"/>
                <a:ea typeface="Proxima Nova" pitchFamily="34" charset="-122"/>
                <a:cs typeface="Proxima Nova" pitchFamily="34" charset="-120"/>
              </a:rPr>
              <a:t>). A leaner, cost-pressured system can limit how much extra event-night service OCTA adds on short notice. Solution: OC Vibe should request event-night service early, share its event calendar with OCTA, and consider co-funding late-night service on its biggest nights. The data ends in 2017, so it shows the long-term trend, not today's budgets.</a:t>
            </a:r>
            <a:endParaRPr lang="en-US" sz="1000" dirty="0"/>
          </a:p>
        </p:txBody>
      </p:sp>
      <p:sp>
        <p:nvSpPr>
          <p:cNvPr id="7"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California's transit systems data snapshots, Orange County: Transit Operating Statistics (employees, passengers, vehicles) and Transit Financial Data (revenues and expenses), 2003–2017; downloaded Oct. 12, 2026. Selected years shown; all years in the dashboard. * 2006 total includes a Laguna Beach reporting outlier.</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88</a:t>
            </a:fld>
            <a:endParaRPr lang="en-US"/>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Orange County transit riders fell 38% from the 2007 peak</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Total passengers a year, all operators, millions · 2003–2017 (latest available)</a:t>
            </a:r>
            <a:endParaRPr lang="en-US" sz="1200" dirty="0"/>
          </a:p>
        </p:txBody>
      </p:sp>
      <p:graphicFrame>
        <p:nvGraphicFramePr>
          <p:cNvPr id="4" name="line" descr=""/>
          <p:cNvGraphicFramePr/>
          <p:nvPr/>
        </p:nvGraphicFramePr>
        <p:xfrm>
          <a:off x="548640" y="1463040"/>
          <a:ext cx="11094415" cy="4297680"/>
        </p:xfrm>
        <a:graphic xmlns:a="http://schemas.openxmlformats.org/drawingml/2006/main">
          <a:graphicData uri="http://schemas.openxmlformats.org/drawingml/2006/chart">
            <c:chart xmlns:c="http://schemas.openxmlformats.org/drawingml/2006/chart" r:id="rId1"/>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California's transit systems data snapshots (2003–2017; downloaded Oct. 12,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89</a:t>
            </a:fld>
            <a:endParaRPr lang="en-US"/>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How the numbers are calculated: Getting here</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Each step with its calculation, result and source</a:t>
            </a:r>
            <a:endParaRPr lang="en-US" sz="1200" dirty="0"/>
          </a:p>
        </p:txBody>
      </p:sp>
      <p:graphicFrame>
        <p:nvGraphicFramePr>
          <p:cNvPr id="91"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286000"/>
                <a:gridCol w="5120640"/>
                <a:gridCol w="1280160"/>
                <a:gridCol w="2404872"/>
              </a:tblGrid>
              <a:tr h="384048">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Step</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Calculation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Result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Source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Domestic trips from within 50 miles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Reported by source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74.0%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Azira (Aug.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Vehicles on SR-57 beside OC Vibe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Reported (Caltrans 2024 count on OCTA's map)</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275,000 a weekday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OCTA (Aug.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Weekday bus trips stopping at ARTIC</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Route 50 (100) + route 53 (102) + route 553 (75) weekday trips stopping at ARTIC</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277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OCTA schedules (Aug.–Nov. 2026); BI count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Azira (Aug. 2026); OCTA (Aug. 2026); OCTA schedules (Aug.–Nov. 2026); BI count</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90</a:t>
            </a:fld>
            <a:endParaRPr lang="en-US"/>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What it means for OC Vibe: Getting here</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What this insight enhances for OC Vibe, and what OC Vibe needs to act on it</a:t>
            </a:r>
            <a:endParaRPr lang="en-US" sz="1200" dirty="0"/>
          </a:p>
        </p:txBody>
      </p:sp>
      <p:sp>
        <p:nvSpPr>
          <p:cNvPr id="4" name="Shape 2"/>
          <p:cNvSpPr/>
          <p:nvPr/>
        </p:nvSpPr>
        <p:spPr>
          <a:xfrm>
            <a:off x="548640" y="1417320"/>
            <a:ext cx="11094415" cy="914400"/>
          </a:xfrm>
          <a:prstGeom prst="rect">
            <a:avLst/>
          </a:prstGeom>
          <a:solidFill>
            <a:srgbClr val="B4D9E3"/>
          </a:solidFill>
          <a:ln w="12700">
            <a:solidFill>
              <a:srgbClr val="B4D9E3"/>
            </a:solidFill>
            <a:prstDash val="solid"/>
          </a:ln>
        </p:spPr>
      </p:sp>
      <p:sp>
        <p:nvSpPr>
          <p:cNvPr id="5" name="Text 3"/>
          <p:cNvSpPr txBox="1"/>
          <p:nvPr/>
        </p:nvSpPr>
        <p:spPr>
          <a:xfrm>
            <a:off x="685800" y="1463040"/>
            <a:ext cx="1828800" cy="201168"/>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KEY INSIGHT</a:t>
            </a:r>
            <a:endParaRPr lang="en-US" sz="900" dirty="0"/>
          </a:p>
        </p:txBody>
      </p:sp>
      <p:sp>
        <p:nvSpPr>
          <p:cNvPr id="6" name="Text 4"/>
          <p:cNvSpPr txBox="1"/>
          <p:nvPr/>
        </p:nvSpPr>
        <p:spPr>
          <a:xfrm>
            <a:off x="685800" y="1664208"/>
            <a:ext cx="10820095" cy="640080"/>
          </a:xfrm>
          <a:prstGeom prst="rect">
            <a:avLst/>
          </a:prstGeom>
          <a:noFill/>
          <a:ln/>
        </p:spPr>
        <p:txBody>
          <a:bodyPr wrap="square" lIns="0" tIns="0" rIns="0" bIns="0" rtlCol="0" anchor="t"/>
          <a:lstStyle/>
          <a:p>
            <a:pPr indent="0" marL="0">
              <a:buNone/>
            </a:pPr>
            <a:r>
              <a:rPr lang="en-US" sz="1100" dirty="0">
                <a:solidFill>
                  <a:srgbClr val="231F20"/>
                </a:solidFill>
                <a:latin typeface="Proxima Nova" pitchFamily="34" charset="0"/>
                <a:ea typeface="Proxima Nova" pitchFamily="34" charset="-122"/>
                <a:cs typeface="Proxima Nova" pitchFamily="34" charset="-120"/>
              </a:rPr>
              <a:t>Most visitors arrive by car: </a:t>
            </a:r>
            <a:pPr indent="0" marL="0">
              <a:buNone/>
            </a:pPr>
            <a:r>
              <a:rPr lang="en-US" sz="1100" b="1" dirty="0">
                <a:solidFill>
                  <a:srgbClr val="125C60"/>
                </a:solidFill>
                <a:latin typeface="Proxima Nova" pitchFamily="34" charset="0"/>
                <a:ea typeface="Proxima Nova" pitchFamily="34" charset="-122"/>
                <a:cs typeface="Proxima Nova" pitchFamily="34" charset="-120"/>
              </a:rPr>
              <a:t>74.0%</a:t>
            </a:r>
            <a:pPr indent="0" marL="0">
              <a:buNone/>
            </a:pPr>
            <a:r>
              <a:rPr lang="en-US" sz="1100" dirty="0">
                <a:solidFill>
                  <a:srgbClr val="231F20"/>
                </a:solidFill>
                <a:latin typeface="Proxima Nova" pitchFamily="34" charset="0"/>
                <a:ea typeface="Proxima Nova" pitchFamily="34" charset="-122"/>
                <a:cs typeface="Proxima Nova" pitchFamily="34" charset="-120"/>
              </a:rPr>
              <a:t> of domestic trips start within 50 miles, and SR-57 beside OC Vibe carries about </a:t>
            </a:r>
            <a:pPr indent="0" marL="0">
              <a:buNone/>
            </a:pPr>
            <a:r>
              <a:rPr lang="en-US" sz="1100" b="1" dirty="0">
                <a:solidFill>
                  <a:srgbClr val="125C60"/>
                </a:solidFill>
                <a:latin typeface="Proxima Nova" pitchFamily="34" charset="0"/>
                <a:ea typeface="Proxima Nova" pitchFamily="34" charset="-122"/>
                <a:cs typeface="Proxima Nova" pitchFamily="34" charset="-120"/>
              </a:rPr>
              <a:t>275,000 vehicles</a:t>
            </a:r>
            <a:pPr indent="0" marL="0">
              <a:buNone/>
            </a:pPr>
            <a:r>
              <a:rPr lang="en-US" sz="1100" dirty="0">
                <a:solidFill>
                  <a:srgbClr val="231F20"/>
                </a:solidFill>
                <a:latin typeface="Proxima Nova" pitchFamily="34" charset="0"/>
                <a:ea typeface="Proxima Nova" pitchFamily="34" charset="-122"/>
                <a:cs typeface="Proxima Nova" pitchFamily="34" charset="-120"/>
              </a:rPr>
              <a:t> a weekday. ARTIC adds 277 weekday bus trips (routes 50, 53 and 553: 100 + 102 + 75), Amtrak and Metrolink.</a:t>
            </a:r>
            <a:endParaRPr lang="en-US" sz="1100" dirty="0"/>
          </a:p>
        </p:txBody>
      </p:sp>
      <p:sp>
        <p:nvSpPr>
          <p:cNvPr id="7" name="Shape 5"/>
          <p:cNvSpPr/>
          <p:nvPr/>
        </p:nvSpPr>
        <p:spPr>
          <a:xfrm>
            <a:off x="548640" y="2468880"/>
            <a:ext cx="5410048" cy="45720"/>
          </a:xfrm>
          <a:prstGeom prst="rect">
            <a:avLst/>
          </a:prstGeom>
          <a:solidFill>
            <a:srgbClr val="43A3A3"/>
          </a:solidFill>
          <a:ln w="12700">
            <a:solidFill>
              <a:srgbClr val="43A3A3"/>
            </a:solidFill>
            <a:prstDash val="solid"/>
          </a:ln>
        </p:spPr>
      </p:sp>
      <p:sp>
        <p:nvSpPr>
          <p:cNvPr id="8" name="Text 6"/>
          <p:cNvSpPr txBox="1"/>
          <p:nvPr/>
        </p:nvSpPr>
        <p:spPr>
          <a:xfrm>
            <a:off x="548640" y="2560320"/>
            <a:ext cx="5410048" cy="256032"/>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WHAT IT ENHANCES</a:t>
            </a:r>
            <a:endParaRPr lang="en-US" sz="1000" dirty="0"/>
          </a:p>
        </p:txBody>
      </p:sp>
      <p:sp>
        <p:nvSpPr>
          <p:cNvPr id="9" name="Text 7"/>
          <p:cNvSpPr txBox="1"/>
          <p:nvPr/>
        </p:nvSpPr>
        <p:spPr>
          <a:xfrm>
            <a:off x="548640" y="2852928"/>
            <a:ext cx="5410048" cy="3063240"/>
          </a:xfrm>
          <a:prstGeom prst="rect">
            <a:avLst/>
          </a:prstGeom>
          <a:noFill/>
          <a:ln/>
        </p:spPr>
        <p:txBody>
          <a:bodyPr wrap="square" lIns="0" tIns="0" rIns="0" bIns="0" rtlCol="0" anchor="t"/>
          <a:lstStyle/>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Marketing: A large drive market: about </a:t>
            </a:r>
            <a:pPr algn="l" marL="177800" indent="-177800">
              <a:spcAft>
                <a:spcPts val="600"/>
              </a:spcAft>
              <a:buSzPct val="100000"/>
              <a:buChar char="•"/>
            </a:pPr>
            <a:r>
              <a:rPr lang="en-US" sz="1050" b="1" dirty="0">
                <a:solidFill>
                  <a:srgbClr val="125C60"/>
                </a:solidFill>
                <a:latin typeface="Proxima Nova" pitchFamily="34" charset="0"/>
                <a:ea typeface="Proxima Nova" pitchFamily="34" charset="-122"/>
                <a:cs typeface="Proxima Nova" pitchFamily="34" charset="-120"/>
              </a:rPr>
              <a:t>20 million</a:t>
            </a:r>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 people live within 90 miles, and </a:t>
            </a:r>
            <a:pPr algn="l" marL="177800" indent="-177800">
              <a:spcAft>
                <a:spcPts val="600"/>
              </a:spcAft>
              <a:buSzPct val="100000"/>
              <a:buChar char="•"/>
            </a:pPr>
            <a:r>
              <a:rPr lang="en-US" sz="1050" b="1" dirty="0">
                <a:solidFill>
                  <a:srgbClr val="125C60"/>
                </a:solidFill>
                <a:latin typeface="Proxima Nova" pitchFamily="34" charset="0"/>
                <a:ea typeface="Proxima Nova" pitchFamily="34" charset="-122"/>
                <a:cs typeface="Proxima Nova" pitchFamily="34" charset="-120"/>
              </a:rPr>
              <a:t>15.6 million</a:t>
            </a:r>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 within 50 miles of ARTIC.</a:t>
            </a:r>
            <a:endParaRPr lang="en-US" sz="1050" dirty="0"/>
          </a:p>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Operations: A transit front door: 277 weekday bus trips at ARTIC, Amtrak (</a:t>
            </a:r>
            <a:pPr algn="l" marL="177800" indent="-177800">
              <a:spcAft>
                <a:spcPts val="600"/>
              </a:spcAft>
              <a:buSzPct val="100000"/>
              <a:buChar char="•"/>
            </a:pPr>
            <a:r>
              <a:rPr lang="en-US" sz="1050" b="1" dirty="0">
                <a:solidFill>
                  <a:srgbClr val="125C60"/>
                </a:solidFill>
                <a:latin typeface="Proxima Nova" pitchFamily="34" charset="0"/>
                <a:ea typeface="Proxima Nova" pitchFamily="34" charset="-122"/>
                <a:cs typeface="Proxima Nova" pitchFamily="34" charset="-120"/>
              </a:rPr>
              <a:t>191,153</a:t>
            </a:r>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 passengers in 2024), Metrolink's Orange County Line (</a:t>
            </a:r>
            <a:pPr algn="l" marL="177800" indent="-177800">
              <a:spcAft>
                <a:spcPts val="600"/>
              </a:spcAft>
              <a:buSzPct val="100000"/>
              <a:buChar char="•"/>
            </a:pPr>
            <a:r>
              <a:rPr lang="en-US" sz="1050" b="1" dirty="0">
                <a:solidFill>
                  <a:srgbClr val="125C60"/>
                </a:solidFill>
                <a:latin typeface="Proxima Nova" pitchFamily="34" charset="0"/>
                <a:ea typeface="Proxima Nova" pitchFamily="34" charset="-122"/>
                <a:cs typeface="Proxima Nova" pitchFamily="34" charset="-120"/>
              </a:rPr>
              <a:t>5,116</a:t>
            </a:r>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 weekday riders, </a:t>
            </a:r>
            <a:pPr algn="l" marL="177800" indent="-177800">
              <a:spcAft>
                <a:spcPts val="600"/>
              </a:spcAft>
              <a:buSzPct val="100000"/>
              <a:buChar char="•"/>
            </a:pPr>
            <a:r>
              <a:rPr lang="en-US" sz="1050" b="1" dirty="0">
                <a:solidFill>
                  <a:srgbClr val="125C60"/>
                </a:solidFill>
                <a:latin typeface="Proxima Nova" pitchFamily="34" charset="0"/>
                <a:ea typeface="Proxima Nova" pitchFamily="34" charset="-122"/>
                <a:cs typeface="Proxima Nova" pitchFamily="34" charset="-120"/>
              </a:rPr>
              <a:t>+4%</a:t>
            </a:r>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 and the 2028 Katella bridge.</a:t>
            </a:r>
            <a:endParaRPr lang="en-US" sz="1050" dirty="0"/>
          </a:p>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Marketing: Travelers already ask Visit Anaheim's trip planner about ARTIC parking, Honda Center events and OC Vibe's opening.</a:t>
            </a:r>
            <a:endParaRPr lang="en-US" sz="1050" dirty="0"/>
          </a:p>
        </p:txBody>
      </p:sp>
      <p:sp>
        <p:nvSpPr>
          <p:cNvPr id="10" name="Shape 8"/>
          <p:cNvSpPr/>
          <p:nvPr/>
        </p:nvSpPr>
        <p:spPr>
          <a:xfrm>
            <a:off x="6233008" y="2468880"/>
            <a:ext cx="5410048" cy="45720"/>
          </a:xfrm>
          <a:prstGeom prst="rect">
            <a:avLst/>
          </a:prstGeom>
          <a:solidFill>
            <a:srgbClr val="125C60"/>
          </a:solidFill>
          <a:ln w="12700">
            <a:solidFill>
              <a:srgbClr val="125C60"/>
            </a:solidFill>
            <a:prstDash val="solid"/>
          </a:ln>
        </p:spPr>
      </p:sp>
      <p:sp>
        <p:nvSpPr>
          <p:cNvPr id="11" name="Text 9"/>
          <p:cNvSpPr txBox="1"/>
          <p:nvPr/>
        </p:nvSpPr>
        <p:spPr>
          <a:xfrm>
            <a:off x="6233008" y="2560320"/>
            <a:ext cx="5410048" cy="256032"/>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WHAT OC VIBE NEEDS</a:t>
            </a:r>
            <a:endParaRPr lang="en-US" sz="1000" dirty="0"/>
          </a:p>
        </p:txBody>
      </p:sp>
      <p:sp>
        <p:nvSpPr>
          <p:cNvPr id="12" name="Text 10"/>
          <p:cNvSpPr txBox="1"/>
          <p:nvPr/>
        </p:nvSpPr>
        <p:spPr>
          <a:xfrm>
            <a:off x="6233008" y="2852928"/>
            <a:ext cx="5410048" cy="3063240"/>
          </a:xfrm>
          <a:prstGeom prst="rect">
            <a:avLst/>
          </a:prstGeom>
          <a:noFill/>
          <a:ln/>
        </p:spPr>
        <p:txBody>
          <a:bodyPr wrap="square" lIns="0" tIns="0" rIns="0" bIns="0" rtlCol="0" anchor="t"/>
          <a:lstStyle/>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Operations: An event-night plan: Honda Center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18,300</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seats) and the concert hall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5,000 seats</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can hold events the same night, and the City lists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12,369–12,823</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planned parking spaces.</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Events: Late-night service requested early: only 11 OCTA buses leave ARTIC after 10 p.m.; OCTA's staff fell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14.6%</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from 2003 to 2017 and county transit riders fell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38%</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from 2007 to 2017. [Calculation: OCTA staff: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1,526</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1,786</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− 1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-14.6%</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(2003 to 2017); county transit riders: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43.8M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(2017)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70.7M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(2007) − 1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-38%</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Marketing: One 'getting to OC Vibe' page covering parking, bus, Amtrak and Metrolink.</a:t>
            </a:r>
            <a:endParaRPr lang="en-US" sz="800" dirty="0"/>
          </a:p>
        </p:txBody>
      </p:sp>
      <p:sp>
        <p:nvSpPr>
          <p:cNvPr id="13"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Azira via Symphony (District 5, Jan. 1–May 31, 2026; domestic visitors, Aug. 2026); OCTA Traffic Flow Map (pub. Aug. 2026) and bus schedules (Aug. 9–Nov. 7, 2026); Amtrak ANA fact sheet (2024 data; pub. Oct. 27, 2025); Metrolink FY26 Q2 (Oct.–Dec. 2025); CoStar reports and export (data through Aug. 2026; pulled Oct. 12, 2026); Mindtrip trip planner messages (Oct. 1, 2025–Oct. 11, 2026); LARC Market Intelligence Reports (Jan.–Sept. 2026); OCVIBE concert hall release, PR Newswire (Mar. 12, 2026); City of Anaheim OCVibe page (2026); OCVIBE fact sheet (Apr. 2024); California's transit systems data snapshots (2003–2017; downloaded Oct. 12,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91</a:t>
            </a:fld>
            <a:endParaRPr lang="en-US"/>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Visit Anaheim marketing drove 368,416 observed visits this year</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Marketing reach · Ad exposures Jan. 1–Aug. 31, 2026 · U.S. audiences</a:t>
            </a:r>
            <a:endParaRPr lang="en-US" sz="1200" dirty="0"/>
          </a:p>
        </p:txBody>
      </p:sp>
      <p:sp>
        <p:nvSpPr>
          <p:cNvPr id="5" name="Text 2"/>
          <p:cNvSpPr txBox="1"/>
          <p:nvPr/>
        </p:nvSpPr>
        <p:spPr>
          <a:xfrm>
            <a:off x="548640" y="1481328"/>
            <a:ext cx="7086600"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THE LEDE</a:t>
            </a:r>
            <a:endParaRPr lang="en-US" sz="1000" dirty="0"/>
          </a:p>
        </p:txBody>
      </p:sp>
      <p:sp>
        <p:nvSpPr>
          <p:cNvPr id="6" name="Text 3"/>
          <p:cNvSpPr txBox="1"/>
          <p:nvPr/>
        </p:nvSpPr>
        <p:spPr>
          <a:xfrm>
            <a:off x="548640" y="1737360"/>
            <a:ext cx="7086600" cy="1965960"/>
          </a:xfrm>
          <a:prstGeom prst="rect">
            <a:avLst/>
          </a:prstGeom>
          <a:noFill/>
          <a:ln/>
        </p:spPr>
        <p:txBody>
          <a:bodyPr wrap="square" lIns="0" tIns="0" rIns="0" bIns="0" rtlCol="0" anchor="t"/>
          <a:lstStyle/>
          <a:p>
            <a:pPr indent="0" marL="0">
              <a:buNone/>
            </a:pPr>
            <a:r>
              <a:rPr lang="en-US" sz="1350" b="1" dirty="0">
                <a:solidFill>
                  <a:srgbClr val="125C60"/>
                </a:solidFill>
                <a:latin typeface="Proxima Nova" pitchFamily="34" charset="0"/>
                <a:ea typeface="Proxima Nova" pitchFamily="34" charset="-122"/>
                <a:cs typeface="Proxima Nova" pitchFamily="34" charset="-120"/>
              </a:rPr>
              <a:t>ANAHEIM, Calif. (Oct. 13, 2026): </a:t>
            </a:r>
            <a:pPr indent="0" marL="0">
              <a:buNone/>
            </a:pPr>
            <a:r>
              <a:rPr lang="en-US" sz="1350" dirty="0">
                <a:solidFill>
                  <a:srgbClr val="231F20"/>
                </a:solidFill>
                <a:latin typeface="Proxima Nova" pitchFamily="34" charset="0"/>
                <a:ea typeface="Proxima Nova" pitchFamily="34" charset="-122"/>
                <a:cs typeface="Proxima Nova" pitchFamily="34" charset="-120"/>
              </a:rPr>
              <a:t>Visit Anaheim's paid media produced </a:t>
            </a:r>
            <a:pPr indent="0" marL="0">
              <a:buNone/>
            </a:pPr>
            <a:r>
              <a:rPr lang="en-US" sz="1350" b="1" dirty="0">
                <a:solidFill>
                  <a:srgbClr val="125C60"/>
                </a:solidFill>
                <a:latin typeface="Proxima Nova" pitchFamily="34" charset="0"/>
                <a:ea typeface="Proxima Nova" pitchFamily="34" charset="-122"/>
                <a:cs typeface="Proxima Nova" pitchFamily="34" charset="-120"/>
              </a:rPr>
              <a:t>31.0M</a:t>
            </a:r>
            <a:pPr indent="0" marL="0">
              <a:buNone/>
            </a:pPr>
            <a:r>
              <a:rPr lang="en-US" sz="1350" dirty="0">
                <a:solidFill>
                  <a:srgbClr val="231F20"/>
                </a:solidFill>
                <a:latin typeface="Proxima Nova" pitchFamily="34" charset="0"/>
                <a:ea typeface="Proxima Nova" pitchFamily="34" charset="-122"/>
                <a:cs typeface="Proxima Nova" pitchFamily="34" charset="-120"/>
              </a:rPr>
              <a:t> measurable impressions and </a:t>
            </a:r>
            <a:pPr indent="0" marL="0">
              <a:buNone/>
            </a:pPr>
            <a:r>
              <a:rPr lang="en-US" sz="1350" b="1" dirty="0">
                <a:solidFill>
                  <a:srgbClr val="125C60"/>
                </a:solidFill>
                <a:latin typeface="Proxima Nova" pitchFamily="34" charset="0"/>
                <a:ea typeface="Proxima Nova" pitchFamily="34" charset="-122"/>
                <a:cs typeface="Proxima Nova" pitchFamily="34" charset="-120"/>
              </a:rPr>
              <a:t>368,416</a:t>
            </a:r>
            <a:pPr indent="0" marL="0">
              <a:buNone/>
            </a:pPr>
            <a:r>
              <a:rPr lang="en-US" sz="1350" dirty="0">
                <a:solidFill>
                  <a:srgbClr val="231F20"/>
                </a:solidFill>
                <a:latin typeface="Proxima Nova" pitchFamily="34" charset="0"/>
                <a:ea typeface="Proxima Nova" pitchFamily="34" charset="-122"/>
                <a:cs typeface="Proxima Nova" pitchFamily="34" charset="-120"/>
              </a:rPr>
              <a:t> observed visits from January through August 2026; visitors arrived about </a:t>
            </a:r>
            <a:pPr indent="0" marL="0">
              <a:buNone/>
            </a:pPr>
            <a:r>
              <a:rPr lang="en-US" sz="1350" b="1" dirty="0">
                <a:solidFill>
                  <a:srgbClr val="125C60"/>
                </a:solidFill>
                <a:latin typeface="Proxima Nova" pitchFamily="34" charset="0"/>
                <a:ea typeface="Proxima Nova" pitchFamily="34" charset="-122"/>
                <a:cs typeface="Proxima Nova" pitchFamily="34" charset="-120"/>
              </a:rPr>
              <a:t>39 days</a:t>
            </a:r>
            <a:pPr indent="0" marL="0">
              <a:buNone/>
            </a:pPr>
            <a:r>
              <a:rPr lang="en-US" sz="1350" dirty="0">
                <a:solidFill>
                  <a:srgbClr val="231F20"/>
                </a:solidFill>
                <a:latin typeface="Proxima Nova" pitchFamily="34" charset="0"/>
                <a:ea typeface="Proxima Nova" pitchFamily="34" charset="-122"/>
                <a:cs typeface="Proxima Nova" pitchFamily="34" charset="-120"/>
              </a:rPr>
              <a:t> after seeing an ad.</a:t>
            </a:r>
            <a:endParaRPr lang="en-US" sz="1350" dirty="0"/>
          </a:p>
        </p:txBody>
      </p:sp>
      <p:sp>
        <p:nvSpPr>
          <p:cNvPr id="7" name="Shape 4"/>
          <p:cNvSpPr/>
          <p:nvPr/>
        </p:nvSpPr>
        <p:spPr>
          <a:xfrm>
            <a:off x="548640" y="3822192"/>
            <a:ext cx="7086600" cy="45720"/>
          </a:xfrm>
          <a:prstGeom prst="rect">
            <a:avLst/>
          </a:prstGeom>
          <a:solidFill>
            <a:srgbClr val="125C60"/>
          </a:solidFill>
          <a:ln w="12700">
            <a:solidFill>
              <a:srgbClr val="125C60"/>
            </a:solidFill>
            <a:prstDash val="solid"/>
          </a:ln>
        </p:spPr>
      </p:sp>
      <p:sp>
        <p:nvSpPr>
          <p:cNvPr id="8" name="Text 5"/>
          <p:cNvSpPr txBox="1"/>
          <p:nvPr/>
        </p:nvSpPr>
        <p:spPr>
          <a:xfrm>
            <a:off x="548640" y="3931920"/>
            <a:ext cx="7086600"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WHY IT MATTERS</a:t>
            </a:r>
            <a:endParaRPr lang="en-US" sz="1000" dirty="0"/>
          </a:p>
        </p:txBody>
      </p:sp>
      <p:sp>
        <p:nvSpPr>
          <p:cNvPr id="9" name="Text 6"/>
          <p:cNvSpPr txBox="1"/>
          <p:nvPr/>
        </p:nvSpPr>
        <p:spPr>
          <a:xfrm>
            <a:off x="548640" y="4187952"/>
            <a:ext cx="7086600" cy="1691640"/>
          </a:xfrm>
          <a:prstGeom prst="rect">
            <a:avLst/>
          </a:prstGeom>
          <a:noFill/>
          <a:ln/>
        </p:spPr>
        <p:txBody>
          <a:bodyPr wrap="square" lIns="0" tIns="0" rIns="0" bIns="0" rtlCol="0" anchor="t"/>
          <a:lstStyle/>
          <a:p>
            <a:pPr indent="0" marL="0">
              <a:buNone/>
            </a:pPr>
            <a:r>
              <a:rPr lang="en-US" sz="1250" dirty="0">
                <a:solidFill>
                  <a:srgbClr val="231F20"/>
                </a:solidFill>
                <a:latin typeface="Proxima Nova" pitchFamily="34" charset="0"/>
                <a:ea typeface="Proxima Nova" pitchFamily="34" charset="-122"/>
                <a:cs typeface="Proxima Nova" pitchFamily="34" charset="-120"/>
              </a:rPr>
              <a:t>Paid media already moves people to travel to Anaheim, which gives OC Vibe a proven channel. Azira matched </a:t>
            </a:r>
            <a:pPr indent="0" marL="0">
              <a:buNone/>
            </a:pPr>
            <a:r>
              <a:rPr lang="en-US" sz="1250" b="1" dirty="0">
                <a:solidFill>
                  <a:srgbClr val="125C60"/>
                </a:solidFill>
                <a:latin typeface="Proxima Nova" pitchFamily="34" charset="0"/>
                <a:ea typeface="Proxima Nova" pitchFamily="34" charset="-122"/>
                <a:cs typeface="Proxima Nova" pitchFamily="34" charset="-120"/>
              </a:rPr>
              <a:t>368,416</a:t>
            </a:r>
            <a:pPr indent="0" marL="0">
              <a:buNone/>
            </a:pPr>
            <a:r>
              <a:rPr lang="en-US" sz="1250" dirty="0">
                <a:solidFill>
                  <a:srgbClr val="231F20"/>
                </a:solidFill>
                <a:latin typeface="Proxima Nova" pitchFamily="34" charset="0"/>
                <a:ea typeface="Proxima Nova" pitchFamily="34" charset="-122"/>
                <a:cs typeface="Proxima Nova" pitchFamily="34" charset="-120"/>
              </a:rPr>
              <a:t> visits to </a:t>
            </a:r>
            <a:pPr indent="0" marL="0">
              <a:buNone/>
            </a:pPr>
            <a:r>
              <a:rPr lang="en-US" sz="1250" b="1" dirty="0">
                <a:solidFill>
                  <a:srgbClr val="125C60"/>
                </a:solidFill>
                <a:latin typeface="Proxima Nova" pitchFamily="34" charset="0"/>
                <a:ea typeface="Proxima Nova" pitchFamily="34" charset="-122"/>
                <a:cs typeface="Proxima Nova" pitchFamily="34" charset="-120"/>
              </a:rPr>
              <a:t>31.0 million</a:t>
            </a:r>
            <a:pPr indent="0" marL="0">
              <a:buNone/>
            </a:pPr>
            <a:r>
              <a:rPr lang="en-US" sz="1250" dirty="0">
                <a:solidFill>
                  <a:srgbClr val="231F20"/>
                </a:solidFill>
                <a:latin typeface="Proxima Nova" pitchFamily="34" charset="0"/>
                <a:ea typeface="Proxima Nova" pitchFamily="34" charset="-122"/>
                <a:cs typeface="Proxima Nova" pitchFamily="34" charset="-120"/>
              </a:rPr>
              <a:t> measurable impressions, or </a:t>
            </a:r>
            <a:pPr indent="0" marL="0">
              <a:buNone/>
            </a:pPr>
            <a:r>
              <a:rPr lang="en-US" sz="1250" b="1" dirty="0">
                <a:solidFill>
                  <a:srgbClr val="125C60"/>
                </a:solidFill>
                <a:latin typeface="Proxima Nova" pitchFamily="34" charset="0"/>
                <a:ea typeface="Proxima Nova" pitchFamily="34" charset="-122"/>
                <a:cs typeface="Proxima Nova" pitchFamily="34" charset="-120"/>
              </a:rPr>
              <a:t>11.9</a:t>
            </a:r>
            <a:pPr indent="0" marL="0">
              <a:buNone/>
            </a:pPr>
            <a:r>
              <a:rPr lang="en-US" sz="1250" dirty="0">
                <a:solidFill>
                  <a:srgbClr val="231F20"/>
                </a:solidFill>
                <a:latin typeface="Proxima Nova" pitchFamily="34" charset="0"/>
                <a:ea typeface="Proxima Nova" pitchFamily="34" charset="-122"/>
                <a:cs typeface="Proxima Nova" pitchFamily="34" charset="-120"/>
              </a:rPr>
              <a:t> visits per </a:t>
            </a:r>
            <a:pPr indent="0" marL="0">
              <a:buNone/>
            </a:pPr>
            <a:r>
              <a:rPr lang="en-US" sz="1250" b="1" dirty="0">
                <a:solidFill>
                  <a:srgbClr val="125C60"/>
                </a:solidFill>
                <a:latin typeface="Proxima Nova" pitchFamily="34" charset="0"/>
                <a:ea typeface="Proxima Nova" pitchFamily="34" charset="-122"/>
                <a:cs typeface="Proxima Nova" pitchFamily="34" charset="-120"/>
              </a:rPr>
              <a:t>1,000,</a:t>
            </a:r>
            <a:pPr indent="0" marL="0">
              <a:buNone/>
            </a:pPr>
            <a:r>
              <a:rPr lang="en-US" sz="1250" dirty="0">
                <a:solidFill>
                  <a:srgbClr val="231F20"/>
                </a:solidFill>
                <a:latin typeface="Proxima Nova" pitchFamily="34" charset="0"/>
                <a:ea typeface="Proxima Nova" pitchFamily="34" charset="-122"/>
                <a:cs typeface="Proxima Nova" pitchFamily="34" charset="-120"/>
              </a:rPr>
              <a:t> from Jan. 1 to Aug. 31, 2026.</a:t>
            </a:r>
            <a:endParaRPr lang="en-US" sz="1250" dirty="0"/>
          </a:p>
        </p:txBody>
      </p:sp>
      <p:sp>
        <p:nvSpPr>
          <p:cNvPr id="10" name="Text 7"/>
          <p:cNvSpPr txBox="1"/>
          <p:nvPr/>
        </p:nvSpPr>
        <p:spPr>
          <a:xfrm>
            <a:off x="8001000" y="1481328"/>
            <a:ext cx="3642055"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BY THE NUMBERS</a:t>
            </a:r>
            <a:endParaRPr lang="en-US" sz="1000" dirty="0"/>
          </a:p>
        </p:txBody>
      </p:sp>
      <p:sp>
        <p:nvSpPr>
          <p:cNvPr id="11" name="news-stat-0"/>
          <p:cNvSpPr/>
          <p:nvPr/>
        </p:nvSpPr>
        <p:spPr>
          <a:xfrm>
            <a:off x="8001000" y="1755648"/>
            <a:ext cx="3642055" cy="1280160"/>
          </a:xfrm>
          <a:prstGeom prst="roundRect">
            <a:avLst>
              <a:gd name="adj" fmla="val 4286"/>
            </a:avLst>
          </a:prstGeom>
          <a:solidFill>
            <a:srgbClr val="FFFFFF"/>
          </a:solidFill>
          <a:ln w="12700">
            <a:solidFill>
              <a:srgbClr val="B4D9E3"/>
            </a:solidFill>
            <a:prstDash val="solid"/>
          </a:ln>
        </p:spPr>
      </p:sp>
      <p:sp>
        <p:nvSpPr>
          <p:cNvPr id="12" name="Text 9"/>
          <p:cNvSpPr txBox="1"/>
          <p:nvPr/>
        </p:nvSpPr>
        <p:spPr>
          <a:xfrm>
            <a:off x="8138160" y="18288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ALL CAMPAIGNS</a:t>
            </a:r>
            <a:endParaRPr lang="en-US" sz="850" dirty="0"/>
          </a:p>
        </p:txBody>
      </p:sp>
      <p:sp>
        <p:nvSpPr>
          <p:cNvPr id="13" name="Text 10"/>
          <p:cNvSpPr txBox="1"/>
          <p:nvPr/>
        </p:nvSpPr>
        <p:spPr>
          <a:xfrm>
            <a:off x="8138160" y="20299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31.0M</a:t>
            </a:r>
            <a:endParaRPr lang="en-US" sz="2200" dirty="0"/>
          </a:p>
        </p:txBody>
      </p:sp>
      <p:sp>
        <p:nvSpPr>
          <p:cNvPr id="14" name="Text 11"/>
          <p:cNvSpPr txBox="1"/>
          <p:nvPr/>
        </p:nvSpPr>
        <p:spPr>
          <a:xfrm>
            <a:off x="8138160" y="24505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Measurable impressions</a:t>
            </a:r>
            <a:endParaRPr lang="en-US" sz="1050" dirty="0"/>
          </a:p>
        </p:txBody>
      </p:sp>
      <p:sp>
        <p:nvSpPr>
          <p:cNvPr id="15" name="Text 12"/>
          <p:cNvSpPr txBox="1"/>
          <p:nvPr/>
        </p:nvSpPr>
        <p:spPr>
          <a:xfrm>
            <a:off x="8138160" y="27249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Azira attribution (Jan.–Aug. 2026)</a:t>
            </a:r>
            <a:endParaRPr lang="en-US" sz="750" dirty="0"/>
          </a:p>
        </p:txBody>
      </p:sp>
      <p:sp>
        <p:nvSpPr>
          <p:cNvPr id="16" name="news-stat-1"/>
          <p:cNvSpPr/>
          <p:nvPr/>
        </p:nvSpPr>
        <p:spPr>
          <a:xfrm>
            <a:off x="8001000" y="3127248"/>
            <a:ext cx="3642055" cy="1280160"/>
          </a:xfrm>
          <a:prstGeom prst="roundRect">
            <a:avLst>
              <a:gd name="adj" fmla="val 4286"/>
            </a:avLst>
          </a:prstGeom>
          <a:solidFill>
            <a:srgbClr val="FFFFFF"/>
          </a:solidFill>
          <a:ln w="12700">
            <a:solidFill>
              <a:srgbClr val="B4D9E3"/>
            </a:solidFill>
            <a:prstDash val="solid"/>
          </a:ln>
        </p:spPr>
      </p:sp>
      <p:sp>
        <p:nvSpPr>
          <p:cNvPr id="17" name="Text 14"/>
          <p:cNvSpPr txBox="1"/>
          <p:nvPr/>
        </p:nvSpPr>
        <p:spPr>
          <a:xfrm>
            <a:off x="8138160" y="32004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ALL CAMPAIGNS</a:t>
            </a:r>
            <a:endParaRPr lang="en-US" sz="850" dirty="0"/>
          </a:p>
        </p:txBody>
      </p:sp>
      <p:sp>
        <p:nvSpPr>
          <p:cNvPr id="18" name="Text 15"/>
          <p:cNvSpPr txBox="1"/>
          <p:nvPr/>
        </p:nvSpPr>
        <p:spPr>
          <a:xfrm>
            <a:off x="8138160" y="34015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368,416</a:t>
            </a:r>
            <a:endParaRPr lang="en-US" sz="2200" dirty="0"/>
          </a:p>
        </p:txBody>
      </p:sp>
      <p:sp>
        <p:nvSpPr>
          <p:cNvPr id="19" name="Text 16"/>
          <p:cNvSpPr txBox="1"/>
          <p:nvPr/>
        </p:nvSpPr>
        <p:spPr>
          <a:xfrm>
            <a:off x="8138160" y="38221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Observed visits</a:t>
            </a:r>
            <a:endParaRPr lang="en-US" sz="1050" dirty="0"/>
          </a:p>
        </p:txBody>
      </p:sp>
      <p:sp>
        <p:nvSpPr>
          <p:cNvPr id="20" name="Text 17"/>
          <p:cNvSpPr txBox="1"/>
          <p:nvPr/>
        </p:nvSpPr>
        <p:spPr>
          <a:xfrm>
            <a:off x="8138160" y="40965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Azira attribution (Jan.–Aug. 2026)</a:t>
            </a:r>
            <a:endParaRPr lang="en-US" sz="750" dirty="0"/>
          </a:p>
        </p:txBody>
      </p:sp>
      <p:sp>
        <p:nvSpPr>
          <p:cNvPr id="21" name="news-stat-2"/>
          <p:cNvSpPr/>
          <p:nvPr/>
        </p:nvSpPr>
        <p:spPr>
          <a:xfrm>
            <a:off x="8001000" y="4498848"/>
            <a:ext cx="3642055" cy="1280160"/>
          </a:xfrm>
          <a:prstGeom prst="roundRect">
            <a:avLst>
              <a:gd name="adj" fmla="val 4286"/>
            </a:avLst>
          </a:prstGeom>
          <a:solidFill>
            <a:srgbClr val="FFFFFF"/>
          </a:solidFill>
          <a:ln w="12700">
            <a:solidFill>
              <a:srgbClr val="B4D9E3"/>
            </a:solidFill>
            <a:prstDash val="solid"/>
          </a:ln>
        </p:spPr>
      </p:sp>
      <p:sp>
        <p:nvSpPr>
          <p:cNvPr id="22" name="Text 19"/>
          <p:cNvSpPr txBox="1"/>
          <p:nvPr/>
        </p:nvSpPr>
        <p:spPr>
          <a:xfrm>
            <a:off x="8138160" y="45720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LUXURY CAMPAIGN</a:t>
            </a:r>
            <a:endParaRPr lang="en-US" sz="850" dirty="0"/>
          </a:p>
        </p:txBody>
      </p:sp>
      <p:sp>
        <p:nvSpPr>
          <p:cNvPr id="23" name="Text 20"/>
          <p:cNvSpPr txBox="1"/>
          <p:nvPr/>
        </p:nvSpPr>
        <p:spPr>
          <a:xfrm>
            <a:off x="8138160" y="47731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34.4</a:t>
            </a:r>
            <a:endParaRPr lang="en-US" sz="2200" dirty="0"/>
          </a:p>
        </p:txBody>
      </p:sp>
      <p:sp>
        <p:nvSpPr>
          <p:cNvPr id="24" name="Text 21"/>
          <p:cNvSpPr txBox="1"/>
          <p:nvPr/>
        </p:nvSpPr>
        <p:spPr>
          <a:xfrm>
            <a:off x="8138160" y="51937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Best visit rate</a:t>
            </a:r>
            <a:endParaRPr lang="en-US" sz="1050" dirty="0"/>
          </a:p>
        </p:txBody>
      </p:sp>
      <p:sp>
        <p:nvSpPr>
          <p:cNvPr id="25" name="Text 22"/>
          <p:cNvSpPr txBox="1"/>
          <p:nvPr/>
        </p:nvSpPr>
        <p:spPr>
          <a:xfrm>
            <a:off x="8138160" y="54681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Azira attribution (Jan.–Aug. 2026)</a:t>
            </a:r>
            <a:endParaRPr lang="en-US" sz="750" dirty="0"/>
          </a:p>
        </p:txBody>
      </p:sp>
      <p:sp>
        <p:nvSpPr>
          <p:cNvPr id="2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Azira media attribution via Symphony (ad exposures Jan. 1–Aug. 31,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92</a:t>
            </a:fld>
            <a:endParaRPr lang="en-US"/>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The details: Marketing reach</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who, what, when, where, why and how, each with its figure, source and date</a:t>
            </a:r>
            <a:endParaRPr lang="en-US" sz="1200" dirty="0"/>
          </a:p>
        </p:txBody>
      </p:sp>
      <p:sp>
        <p:nvSpPr>
          <p:cNvPr id="4" name="detail-card-0"/>
          <p:cNvSpPr/>
          <p:nvPr/>
        </p:nvSpPr>
        <p:spPr>
          <a:xfrm>
            <a:off x="548640" y="1417320"/>
            <a:ext cx="3588410" cy="2176272"/>
          </a:xfrm>
          <a:prstGeom prst="rect">
            <a:avLst/>
          </a:prstGeom>
          <a:solidFill>
            <a:srgbClr val="FFFFFF"/>
          </a:solidFill>
          <a:ln w="12700">
            <a:solidFill>
              <a:srgbClr val="B4D9E3"/>
            </a:solidFill>
            <a:prstDash val="solid"/>
          </a:ln>
        </p:spPr>
      </p:sp>
      <p:sp>
        <p:nvSpPr>
          <p:cNvPr id="5" name="Shape 3"/>
          <p:cNvSpPr/>
          <p:nvPr/>
        </p:nvSpPr>
        <p:spPr>
          <a:xfrm>
            <a:off x="548640" y="1417320"/>
            <a:ext cx="3588410" cy="64008"/>
          </a:xfrm>
          <a:prstGeom prst="rect">
            <a:avLst/>
          </a:prstGeom>
          <a:solidFill>
            <a:srgbClr val="43A3A3"/>
          </a:solidFill>
          <a:ln w="12700">
            <a:solidFill>
              <a:srgbClr val="43A3A3"/>
            </a:solidFill>
            <a:prstDash val="solid"/>
          </a:ln>
        </p:spPr>
      </p:sp>
      <p:sp>
        <p:nvSpPr>
          <p:cNvPr id="6" name="Text 4"/>
          <p:cNvSpPr txBox="1"/>
          <p:nvPr/>
        </p:nvSpPr>
        <p:spPr>
          <a:xfrm>
            <a:off x="685800"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WHO</a:t>
            </a:r>
            <a:endParaRPr lang="en-US" sz="900" dirty="0"/>
          </a:p>
        </p:txBody>
      </p:sp>
      <p:sp>
        <p:nvSpPr>
          <p:cNvPr id="7" name="Text 5"/>
          <p:cNvSpPr txBox="1"/>
          <p:nvPr/>
        </p:nvSpPr>
        <p:spPr>
          <a:xfrm>
            <a:off x="685800"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31.0M</a:t>
            </a:r>
            <a:endParaRPr lang="en-US" sz="2200" dirty="0"/>
          </a:p>
        </p:txBody>
      </p:sp>
      <p:sp>
        <p:nvSpPr>
          <p:cNvPr id="8" name="Text 6"/>
          <p:cNvSpPr txBox="1"/>
          <p:nvPr/>
        </p:nvSpPr>
        <p:spPr>
          <a:xfrm>
            <a:off x="685800"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measurable impressions</a:t>
            </a:r>
            <a:endParaRPr lang="en-US" sz="1000" dirty="0"/>
          </a:p>
        </p:txBody>
      </p:sp>
      <p:sp>
        <p:nvSpPr>
          <p:cNvPr id="9" name="Text 7"/>
          <p:cNvSpPr txBox="1"/>
          <p:nvPr/>
        </p:nvSpPr>
        <p:spPr>
          <a:xfrm>
            <a:off x="685800"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People who saw Visit Anaheim paid media and later visited Anaheim.</a:t>
            </a:r>
            <a:endParaRPr lang="en-US" sz="950" dirty="0"/>
          </a:p>
        </p:txBody>
      </p:sp>
      <p:sp>
        <p:nvSpPr>
          <p:cNvPr id="10" name="Text 8"/>
          <p:cNvSpPr txBox="1"/>
          <p:nvPr/>
        </p:nvSpPr>
        <p:spPr>
          <a:xfrm>
            <a:off x="685800"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Azira media attribution via Symphony (ad exposures Jan. 1–Aug. 31, 2026)</a:t>
            </a:r>
            <a:endParaRPr lang="en-US" sz="700" dirty="0"/>
          </a:p>
        </p:txBody>
      </p:sp>
      <p:sp>
        <p:nvSpPr>
          <p:cNvPr id="11" name="detail-card-1"/>
          <p:cNvSpPr/>
          <p:nvPr/>
        </p:nvSpPr>
        <p:spPr>
          <a:xfrm>
            <a:off x="4301642" y="1417320"/>
            <a:ext cx="3588410" cy="2176272"/>
          </a:xfrm>
          <a:prstGeom prst="rect">
            <a:avLst/>
          </a:prstGeom>
          <a:solidFill>
            <a:srgbClr val="FFFFFF"/>
          </a:solidFill>
          <a:ln w="12700">
            <a:solidFill>
              <a:srgbClr val="B4D9E3"/>
            </a:solidFill>
            <a:prstDash val="solid"/>
          </a:ln>
        </p:spPr>
      </p:sp>
      <p:sp>
        <p:nvSpPr>
          <p:cNvPr id="12" name="Shape 10"/>
          <p:cNvSpPr/>
          <p:nvPr/>
        </p:nvSpPr>
        <p:spPr>
          <a:xfrm>
            <a:off x="4301642" y="1417320"/>
            <a:ext cx="3588410" cy="64008"/>
          </a:xfrm>
          <a:prstGeom prst="rect">
            <a:avLst/>
          </a:prstGeom>
          <a:solidFill>
            <a:srgbClr val="43A3A3"/>
          </a:solidFill>
          <a:ln w="12700">
            <a:solidFill>
              <a:srgbClr val="43A3A3"/>
            </a:solidFill>
            <a:prstDash val="solid"/>
          </a:ln>
        </p:spPr>
      </p:sp>
      <p:sp>
        <p:nvSpPr>
          <p:cNvPr id="13" name="Text 11"/>
          <p:cNvSpPr txBox="1"/>
          <p:nvPr/>
        </p:nvSpPr>
        <p:spPr>
          <a:xfrm>
            <a:off x="4438802"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WHAT</a:t>
            </a:r>
            <a:endParaRPr lang="en-US" sz="900" dirty="0"/>
          </a:p>
        </p:txBody>
      </p:sp>
      <p:sp>
        <p:nvSpPr>
          <p:cNvPr id="14" name="Text 12"/>
          <p:cNvSpPr txBox="1"/>
          <p:nvPr/>
        </p:nvSpPr>
        <p:spPr>
          <a:xfrm>
            <a:off x="4438802"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368,416</a:t>
            </a:r>
            <a:endParaRPr lang="en-US" sz="2200" dirty="0"/>
          </a:p>
        </p:txBody>
      </p:sp>
      <p:sp>
        <p:nvSpPr>
          <p:cNvPr id="15" name="Text 13"/>
          <p:cNvSpPr txBox="1"/>
          <p:nvPr/>
        </p:nvSpPr>
        <p:spPr>
          <a:xfrm>
            <a:off x="4438802"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observed visits after ad exposure</a:t>
            </a:r>
            <a:endParaRPr lang="en-US" sz="1000" dirty="0"/>
          </a:p>
        </p:txBody>
      </p:sp>
      <p:sp>
        <p:nvSpPr>
          <p:cNvPr id="16" name="Text 14"/>
          <p:cNvSpPr txBox="1"/>
          <p:nvPr/>
        </p:nvSpPr>
        <p:spPr>
          <a:xfrm>
            <a:off x="4438802" y="2551176"/>
            <a:ext cx="3314090" cy="731520"/>
          </a:xfrm>
          <a:prstGeom prst="rect">
            <a:avLst/>
          </a:prstGeom>
          <a:noFill/>
          <a:ln/>
        </p:spPr>
        <p:txBody>
          <a:bodyPr wrap="square" lIns="0" tIns="0" rIns="0" bIns="0" rtlCol="0" anchor="t">
            <a:normAutofit/>
          </a:bodyPr>
          <a:lstStyle/>
          <a:p>
            <a:pPr indent="0" marL="0">
              <a:buNone/>
            </a:pPr>
            <a:r>
              <a:rPr lang="en-US" sz="950" b="1" dirty="0">
                <a:solidFill>
                  <a:srgbClr val="125C60"/>
                </a:solidFill>
                <a:latin typeface="Proxima Nova" pitchFamily="34" charset="0"/>
                <a:ea typeface="Proxima Nova" pitchFamily="34" charset="-122"/>
                <a:cs typeface="Proxima Nova" pitchFamily="34" charset="-120"/>
              </a:rPr>
              <a:t>368,416</a:t>
            </a:r>
            <a:pPr indent="0" marL="0">
              <a:buNone/>
            </a:pPr>
            <a:r>
              <a:rPr lang="en-US" sz="950" dirty="0">
                <a:solidFill>
                  <a:srgbClr val="231F20"/>
                </a:solidFill>
                <a:latin typeface="Proxima Nova" pitchFamily="34" charset="0"/>
                <a:ea typeface="Proxima Nova" pitchFamily="34" charset="-122"/>
                <a:cs typeface="Proxima Nova" pitchFamily="34" charset="-120"/>
              </a:rPr>
              <a:t> observed visits from </a:t>
            </a:r>
            <a:pPr indent="0" marL="0">
              <a:buNone/>
            </a:pPr>
            <a:r>
              <a:rPr lang="en-US" sz="950" b="1" dirty="0">
                <a:solidFill>
                  <a:srgbClr val="125C60"/>
                </a:solidFill>
                <a:latin typeface="Proxima Nova" pitchFamily="34" charset="0"/>
                <a:ea typeface="Proxima Nova" pitchFamily="34" charset="-122"/>
                <a:cs typeface="Proxima Nova" pitchFamily="34" charset="-120"/>
              </a:rPr>
              <a:t>31.0M</a:t>
            </a:r>
            <a:pPr indent="0" marL="0">
              <a:buNone/>
            </a:pPr>
            <a:r>
              <a:rPr lang="en-US" sz="950" dirty="0">
                <a:solidFill>
                  <a:srgbClr val="231F20"/>
                </a:solidFill>
                <a:latin typeface="Proxima Nova" pitchFamily="34" charset="0"/>
                <a:ea typeface="Proxima Nova" pitchFamily="34" charset="-122"/>
                <a:cs typeface="Proxima Nova" pitchFamily="34" charset="-120"/>
              </a:rPr>
              <a:t> measurable impressions (</a:t>
            </a:r>
            <a:pPr indent="0" marL="0">
              <a:buNone/>
            </a:pPr>
            <a:r>
              <a:rPr lang="en-US" sz="950" b="1" dirty="0">
                <a:solidFill>
                  <a:srgbClr val="125C60"/>
                </a:solidFill>
                <a:latin typeface="Proxima Nova" pitchFamily="34" charset="0"/>
                <a:ea typeface="Proxima Nova" pitchFamily="34" charset="-122"/>
                <a:cs typeface="Proxima Nova" pitchFamily="34" charset="-120"/>
              </a:rPr>
              <a:t>11.9</a:t>
            </a:r>
            <a:pPr indent="0" marL="0">
              <a:buNone/>
            </a:pPr>
            <a:r>
              <a:rPr lang="en-US" sz="950" dirty="0">
                <a:solidFill>
                  <a:srgbClr val="231F20"/>
                </a:solidFill>
                <a:latin typeface="Proxima Nova" pitchFamily="34" charset="0"/>
                <a:ea typeface="Proxima Nova" pitchFamily="34" charset="-122"/>
                <a:cs typeface="Proxima Nova" pitchFamily="34" charset="-120"/>
              </a:rPr>
              <a:t> per </a:t>
            </a:r>
            <a:pPr indent="0" marL="0">
              <a:buNone/>
            </a:pPr>
            <a:r>
              <a:rPr lang="en-US" sz="950" b="1" dirty="0">
                <a:solidFill>
                  <a:srgbClr val="125C60"/>
                </a:solidFill>
                <a:latin typeface="Proxima Nova" pitchFamily="34" charset="0"/>
                <a:ea typeface="Proxima Nova" pitchFamily="34" charset="-122"/>
                <a:cs typeface="Proxima Nova" pitchFamily="34" charset="-120"/>
              </a:rPr>
              <a:t>1,000</a:t>
            </a:r>
            <a:pPr indent="0" marL="0">
              <a:buNone/>
            </a:pPr>
            <a:r>
              <a:rPr lang="en-US" sz="950" dirty="0">
                <a:solidFill>
                  <a:srgbClr val="231F20"/>
                </a:solidFill>
                <a:latin typeface="Proxima Nova" pitchFamily="34" charset="0"/>
                <a:ea typeface="Proxima Nova" pitchFamily="34" charset="-122"/>
                <a:cs typeface="Proxima Nova" pitchFamily="34" charset="-120"/>
              </a:rPr>
              <a:t>); luxury placements returned </a:t>
            </a:r>
            <a:pPr indent="0" marL="0">
              <a:buNone/>
            </a:pPr>
            <a:r>
              <a:rPr lang="en-US" sz="950" b="1" dirty="0">
                <a:solidFill>
                  <a:srgbClr val="125C60"/>
                </a:solidFill>
                <a:latin typeface="Proxima Nova" pitchFamily="34" charset="0"/>
                <a:ea typeface="Proxima Nova" pitchFamily="34" charset="-122"/>
                <a:cs typeface="Proxima Nova" pitchFamily="34" charset="-120"/>
              </a:rPr>
              <a:t>34.4</a:t>
            </a:r>
            <a:pPr indent="0" marL="0">
              <a:buNone/>
            </a:pPr>
            <a:r>
              <a:rPr lang="en-US" sz="950" dirty="0">
                <a:solidFill>
                  <a:srgbClr val="231F20"/>
                </a:solidFill>
                <a:latin typeface="Proxima Nova" pitchFamily="34" charset="0"/>
                <a:ea typeface="Proxima Nova" pitchFamily="34" charset="-122"/>
                <a:cs typeface="Proxima Nova" pitchFamily="34" charset="-120"/>
              </a:rPr>
              <a:t>.</a:t>
            </a:r>
            <a:endParaRPr lang="en-US" sz="950" dirty="0"/>
          </a:p>
        </p:txBody>
      </p:sp>
      <p:sp>
        <p:nvSpPr>
          <p:cNvPr id="17" name="Text 15"/>
          <p:cNvSpPr txBox="1"/>
          <p:nvPr/>
        </p:nvSpPr>
        <p:spPr>
          <a:xfrm>
            <a:off x="4438802"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Azira media attribution via Symphony (ad exposures Jan. 1–Aug. 31, 2026)</a:t>
            </a:r>
            <a:endParaRPr lang="en-US" sz="700" dirty="0"/>
          </a:p>
        </p:txBody>
      </p:sp>
      <p:sp>
        <p:nvSpPr>
          <p:cNvPr id="18" name="detail-card-2"/>
          <p:cNvSpPr/>
          <p:nvPr/>
        </p:nvSpPr>
        <p:spPr>
          <a:xfrm>
            <a:off x="8054645" y="1417320"/>
            <a:ext cx="3588410" cy="2176272"/>
          </a:xfrm>
          <a:prstGeom prst="rect">
            <a:avLst/>
          </a:prstGeom>
          <a:solidFill>
            <a:srgbClr val="FFFFFF"/>
          </a:solidFill>
          <a:ln w="12700">
            <a:solidFill>
              <a:srgbClr val="B4D9E3"/>
            </a:solidFill>
            <a:prstDash val="solid"/>
          </a:ln>
        </p:spPr>
      </p:sp>
      <p:sp>
        <p:nvSpPr>
          <p:cNvPr id="19" name="Shape 17"/>
          <p:cNvSpPr/>
          <p:nvPr/>
        </p:nvSpPr>
        <p:spPr>
          <a:xfrm>
            <a:off x="8054645" y="1417320"/>
            <a:ext cx="3588410" cy="64008"/>
          </a:xfrm>
          <a:prstGeom prst="rect">
            <a:avLst/>
          </a:prstGeom>
          <a:solidFill>
            <a:srgbClr val="43A3A3"/>
          </a:solidFill>
          <a:ln w="12700">
            <a:solidFill>
              <a:srgbClr val="43A3A3"/>
            </a:solidFill>
            <a:prstDash val="solid"/>
          </a:ln>
        </p:spPr>
      </p:sp>
      <p:sp>
        <p:nvSpPr>
          <p:cNvPr id="20" name="Text 18"/>
          <p:cNvSpPr txBox="1"/>
          <p:nvPr/>
        </p:nvSpPr>
        <p:spPr>
          <a:xfrm>
            <a:off x="8191805"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WHEN</a:t>
            </a:r>
            <a:endParaRPr lang="en-US" sz="900" dirty="0"/>
          </a:p>
        </p:txBody>
      </p:sp>
      <p:sp>
        <p:nvSpPr>
          <p:cNvPr id="21" name="Text 19"/>
          <p:cNvSpPr txBox="1"/>
          <p:nvPr/>
        </p:nvSpPr>
        <p:spPr>
          <a:xfrm>
            <a:off x="8191805"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39 days</a:t>
            </a:r>
            <a:endParaRPr lang="en-US" sz="2200" dirty="0"/>
          </a:p>
        </p:txBody>
      </p:sp>
      <p:sp>
        <p:nvSpPr>
          <p:cNvPr id="22" name="Text 20"/>
          <p:cNvSpPr txBox="1"/>
          <p:nvPr/>
        </p:nvSpPr>
        <p:spPr>
          <a:xfrm>
            <a:off x="8191805"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average time from ad to visit</a:t>
            </a:r>
            <a:endParaRPr lang="en-US" sz="1000" dirty="0"/>
          </a:p>
        </p:txBody>
      </p:sp>
      <p:sp>
        <p:nvSpPr>
          <p:cNvPr id="23" name="Text 21"/>
          <p:cNvSpPr txBox="1"/>
          <p:nvPr/>
        </p:nvSpPr>
        <p:spPr>
          <a:xfrm>
            <a:off x="8191805"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Ad exposures Jan. 1–Aug. 31, 2026.</a:t>
            </a:r>
            <a:endParaRPr lang="en-US" sz="950" dirty="0"/>
          </a:p>
        </p:txBody>
      </p:sp>
      <p:sp>
        <p:nvSpPr>
          <p:cNvPr id="24" name="Text 22"/>
          <p:cNvSpPr txBox="1"/>
          <p:nvPr/>
        </p:nvSpPr>
        <p:spPr>
          <a:xfrm>
            <a:off x="8191805"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Azira media attribution via Symphony (ad exposures Jan. 1–Aug. 31, 2026)</a:t>
            </a:r>
            <a:endParaRPr lang="en-US" sz="700" dirty="0"/>
          </a:p>
        </p:txBody>
      </p:sp>
      <p:sp>
        <p:nvSpPr>
          <p:cNvPr id="25" name="detail-card-3"/>
          <p:cNvSpPr/>
          <p:nvPr/>
        </p:nvSpPr>
        <p:spPr>
          <a:xfrm>
            <a:off x="548640" y="3685032"/>
            <a:ext cx="3588410" cy="2176272"/>
          </a:xfrm>
          <a:prstGeom prst="rect">
            <a:avLst/>
          </a:prstGeom>
          <a:solidFill>
            <a:srgbClr val="FFFFFF"/>
          </a:solidFill>
          <a:ln w="12700">
            <a:solidFill>
              <a:srgbClr val="B4D9E3"/>
            </a:solidFill>
            <a:prstDash val="solid"/>
          </a:ln>
        </p:spPr>
      </p:sp>
      <p:sp>
        <p:nvSpPr>
          <p:cNvPr id="26" name="Shape 24"/>
          <p:cNvSpPr/>
          <p:nvPr/>
        </p:nvSpPr>
        <p:spPr>
          <a:xfrm>
            <a:off x="548640" y="3685032"/>
            <a:ext cx="3588410" cy="64008"/>
          </a:xfrm>
          <a:prstGeom prst="rect">
            <a:avLst/>
          </a:prstGeom>
          <a:solidFill>
            <a:srgbClr val="43A3A3"/>
          </a:solidFill>
          <a:ln w="12700">
            <a:solidFill>
              <a:srgbClr val="43A3A3"/>
            </a:solidFill>
            <a:prstDash val="solid"/>
          </a:ln>
        </p:spPr>
      </p:sp>
      <p:sp>
        <p:nvSpPr>
          <p:cNvPr id="27" name="Text 25"/>
          <p:cNvSpPr txBox="1"/>
          <p:nvPr/>
        </p:nvSpPr>
        <p:spPr>
          <a:xfrm>
            <a:off x="685800"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WHERE</a:t>
            </a:r>
            <a:endParaRPr lang="en-US" sz="900" dirty="0"/>
          </a:p>
        </p:txBody>
      </p:sp>
      <p:sp>
        <p:nvSpPr>
          <p:cNvPr id="28" name="Text 26"/>
          <p:cNvSpPr txBox="1"/>
          <p:nvPr/>
        </p:nvSpPr>
        <p:spPr>
          <a:xfrm>
            <a:off x="685800"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U.S.</a:t>
            </a:r>
            <a:endParaRPr lang="en-US" sz="2200" dirty="0"/>
          </a:p>
        </p:txBody>
      </p:sp>
      <p:sp>
        <p:nvSpPr>
          <p:cNvPr id="29" name="Text 27"/>
          <p:cNvSpPr txBox="1"/>
          <p:nvPr/>
        </p:nvSpPr>
        <p:spPr>
          <a:xfrm>
            <a:off x="685800"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audiences; visits observed in Anaheim</a:t>
            </a:r>
            <a:endParaRPr lang="en-US" sz="1000" dirty="0"/>
          </a:p>
        </p:txBody>
      </p:sp>
      <p:sp>
        <p:nvSpPr>
          <p:cNvPr id="30" name="Text 28"/>
          <p:cNvSpPr txBox="1"/>
          <p:nvPr/>
        </p:nvSpPr>
        <p:spPr>
          <a:xfrm>
            <a:off x="685800"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U.S. audiences; visits observed in Anaheim.</a:t>
            </a:r>
            <a:endParaRPr lang="en-US" sz="950" dirty="0"/>
          </a:p>
        </p:txBody>
      </p:sp>
      <p:sp>
        <p:nvSpPr>
          <p:cNvPr id="31" name="Text 29"/>
          <p:cNvSpPr txBox="1"/>
          <p:nvPr/>
        </p:nvSpPr>
        <p:spPr>
          <a:xfrm>
            <a:off x="685800"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Azira media attribution via Symphony (ad exposures Jan. 1–Aug. 31, 2026)</a:t>
            </a:r>
            <a:endParaRPr lang="en-US" sz="700" dirty="0"/>
          </a:p>
        </p:txBody>
      </p:sp>
      <p:sp>
        <p:nvSpPr>
          <p:cNvPr id="32" name="detail-card-4"/>
          <p:cNvSpPr/>
          <p:nvPr/>
        </p:nvSpPr>
        <p:spPr>
          <a:xfrm>
            <a:off x="4301642" y="3685032"/>
            <a:ext cx="3588410" cy="2176272"/>
          </a:xfrm>
          <a:prstGeom prst="rect">
            <a:avLst/>
          </a:prstGeom>
          <a:solidFill>
            <a:srgbClr val="FFFFFF"/>
          </a:solidFill>
          <a:ln w="12700">
            <a:solidFill>
              <a:srgbClr val="B4D9E3"/>
            </a:solidFill>
            <a:prstDash val="solid"/>
          </a:ln>
        </p:spPr>
      </p:sp>
      <p:sp>
        <p:nvSpPr>
          <p:cNvPr id="33" name="Shape 31"/>
          <p:cNvSpPr/>
          <p:nvPr/>
        </p:nvSpPr>
        <p:spPr>
          <a:xfrm>
            <a:off x="4301642" y="3685032"/>
            <a:ext cx="3588410" cy="64008"/>
          </a:xfrm>
          <a:prstGeom prst="rect">
            <a:avLst/>
          </a:prstGeom>
          <a:solidFill>
            <a:srgbClr val="43A3A3"/>
          </a:solidFill>
          <a:ln w="12700">
            <a:solidFill>
              <a:srgbClr val="43A3A3"/>
            </a:solidFill>
            <a:prstDash val="solid"/>
          </a:ln>
        </p:spPr>
      </p:sp>
      <p:sp>
        <p:nvSpPr>
          <p:cNvPr id="34" name="Text 32"/>
          <p:cNvSpPr txBox="1"/>
          <p:nvPr/>
        </p:nvSpPr>
        <p:spPr>
          <a:xfrm>
            <a:off x="4438802"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WHY</a:t>
            </a:r>
            <a:endParaRPr lang="en-US" sz="900" dirty="0"/>
          </a:p>
        </p:txBody>
      </p:sp>
      <p:sp>
        <p:nvSpPr>
          <p:cNvPr id="35" name="Text 33"/>
          <p:cNvSpPr txBox="1"/>
          <p:nvPr/>
        </p:nvSpPr>
        <p:spPr>
          <a:xfrm>
            <a:off x="4438802"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34.4</a:t>
            </a:r>
            <a:endParaRPr lang="en-US" sz="2200" dirty="0"/>
          </a:p>
        </p:txBody>
      </p:sp>
      <p:sp>
        <p:nvSpPr>
          <p:cNvPr id="36" name="Text 34"/>
          <p:cNvSpPr txBox="1"/>
          <p:nvPr/>
        </p:nvSpPr>
        <p:spPr>
          <a:xfrm>
            <a:off x="4438802"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visits per 1,000 impressions, luxury placements</a:t>
            </a:r>
            <a:endParaRPr lang="en-US" sz="1000" dirty="0"/>
          </a:p>
        </p:txBody>
      </p:sp>
      <p:sp>
        <p:nvSpPr>
          <p:cNvPr id="37" name="Text 35"/>
          <p:cNvSpPr txBox="1"/>
          <p:nvPr/>
        </p:nvSpPr>
        <p:spPr>
          <a:xfrm>
            <a:off x="4438802"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Campaigns can put OC Vibe in front of audiences who already convert to visits.</a:t>
            </a:r>
            <a:endParaRPr lang="en-US" sz="950" dirty="0"/>
          </a:p>
        </p:txBody>
      </p:sp>
      <p:sp>
        <p:nvSpPr>
          <p:cNvPr id="38" name="Text 36"/>
          <p:cNvSpPr txBox="1"/>
          <p:nvPr/>
        </p:nvSpPr>
        <p:spPr>
          <a:xfrm>
            <a:off x="4438802"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Azira media attribution via Symphony (ad exposures Jan. 1–Aug. 31, 2026)</a:t>
            </a:r>
            <a:endParaRPr lang="en-US" sz="700" dirty="0"/>
          </a:p>
        </p:txBody>
      </p:sp>
      <p:sp>
        <p:nvSpPr>
          <p:cNvPr id="39" name="detail-card-5"/>
          <p:cNvSpPr/>
          <p:nvPr/>
        </p:nvSpPr>
        <p:spPr>
          <a:xfrm>
            <a:off x="8054645" y="3685032"/>
            <a:ext cx="3588410" cy="2176272"/>
          </a:xfrm>
          <a:prstGeom prst="rect">
            <a:avLst/>
          </a:prstGeom>
          <a:solidFill>
            <a:srgbClr val="FFFFFF"/>
          </a:solidFill>
          <a:ln w="12700">
            <a:solidFill>
              <a:srgbClr val="B4D9E3"/>
            </a:solidFill>
            <a:prstDash val="solid"/>
          </a:ln>
        </p:spPr>
      </p:sp>
      <p:sp>
        <p:nvSpPr>
          <p:cNvPr id="40" name="Shape 38"/>
          <p:cNvSpPr/>
          <p:nvPr/>
        </p:nvSpPr>
        <p:spPr>
          <a:xfrm>
            <a:off x="8054645" y="3685032"/>
            <a:ext cx="3588410" cy="64008"/>
          </a:xfrm>
          <a:prstGeom prst="rect">
            <a:avLst/>
          </a:prstGeom>
          <a:solidFill>
            <a:srgbClr val="43A3A3"/>
          </a:solidFill>
          <a:ln w="12700">
            <a:solidFill>
              <a:srgbClr val="43A3A3"/>
            </a:solidFill>
            <a:prstDash val="solid"/>
          </a:ln>
        </p:spPr>
      </p:sp>
      <p:sp>
        <p:nvSpPr>
          <p:cNvPr id="41" name="Text 39"/>
          <p:cNvSpPr txBox="1"/>
          <p:nvPr/>
        </p:nvSpPr>
        <p:spPr>
          <a:xfrm>
            <a:off x="8191805"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HOW</a:t>
            </a:r>
            <a:endParaRPr lang="en-US" sz="900" dirty="0"/>
          </a:p>
        </p:txBody>
      </p:sp>
      <p:sp>
        <p:nvSpPr>
          <p:cNvPr id="42" name="Text 40"/>
          <p:cNvSpPr txBox="1"/>
          <p:nvPr/>
        </p:nvSpPr>
        <p:spPr>
          <a:xfrm>
            <a:off x="8191805"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11.9</a:t>
            </a:r>
            <a:endParaRPr lang="en-US" sz="2200" dirty="0"/>
          </a:p>
        </p:txBody>
      </p:sp>
      <p:sp>
        <p:nvSpPr>
          <p:cNvPr id="43" name="Text 41"/>
          <p:cNvSpPr txBox="1"/>
          <p:nvPr/>
        </p:nvSpPr>
        <p:spPr>
          <a:xfrm>
            <a:off x="8191805"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visits per 1,000 impressions: 368,416 ÷ 31.0M × 1,000</a:t>
            </a:r>
            <a:endParaRPr lang="en-US" sz="1000" dirty="0"/>
          </a:p>
        </p:txBody>
      </p:sp>
      <p:sp>
        <p:nvSpPr>
          <p:cNvPr id="44" name="Text 42"/>
          <p:cNvSpPr txBox="1"/>
          <p:nvPr/>
        </p:nvSpPr>
        <p:spPr>
          <a:xfrm>
            <a:off x="8191805"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Azira matches exposed devices to later visits (first visit at least three days after exposure).</a:t>
            </a:r>
            <a:endParaRPr lang="en-US" sz="950" dirty="0"/>
          </a:p>
        </p:txBody>
      </p:sp>
      <p:sp>
        <p:nvSpPr>
          <p:cNvPr id="45" name="Text 43"/>
          <p:cNvSpPr txBox="1"/>
          <p:nvPr/>
        </p:nvSpPr>
        <p:spPr>
          <a:xfrm>
            <a:off x="8191805"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Azira media attribution via Symphony (ad exposures Jan. 1–Aug. 31, 2026)</a:t>
            </a:r>
            <a:endParaRPr lang="en-US" sz="700" dirty="0"/>
          </a:p>
        </p:txBody>
      </p:sp>
      <p:sp>
        <p:nvSpPr>
          <p:cNvPr id="4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Azira media attribution via Symphony (ad exposures Jan. 1–Aug. 31,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93</a:t>
            </a:fld>
            <a:endParaRPr lang="en-US"/>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At a glance: Marketing reach</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data infographic · every figure from this section, with its source and date</a:t>
            </a:r>
            <a:endParaRPr lang="en-US" sz="1200" dirty="0"/>
          </a:p>
        </p:txBody>
      </p:sp>
      <p:sp>
        <p:nvSpPr>
          <p:cNvPr id="4" name="Text 2"/>
          <p:cNvSpPr txBox="1"/>
          <p:nvPr/>
        </p:nvSpPr>
        <p:spPr>
          <a:xfrm>
            <a:off x="548640" y="1417320"/>
            <a:ext cx="11094415" cy="329184"/>
          </a:xfrm>
          <a:prstGeom prst="rect">
            <a:avLst/>
          </a:prstGeom>
          <a:noFill/>
          <a:ln/>
        </p:spPr>
        <p:txBody>
          <a:bodyPr wrap="square" lIns="0" tIns="0" rIns="0" bIns="0" rtlCol="0" anchor="ctr">
            <a:normAutofit/>
          </a:bodyPr>
          <a:lstStyle/>
          <a:p>
            <a:pPr indent="0" marL="0">
              <a:buNone/>
            </a:pPr>
            <a:r>
              <a:rPr lang="en-US" sz="1500" b="1" i="1" dirty="0">
                <a:solidFill>
                  <a:srgbClr val="125C60"/>
                </a:solidFill>
                <a:latin typeface="Proxima Nova" pitchFamily="34" charset="0"/>
                <a:ea typeface="Proxima Nova" pitchFamily="34" charset="-122"/>
                <a:cs typeface="Proxima Nova" pitchFamily="34" charset="-120"/>
              </a:rPr>
              <a:t>From ad impressions to visits in Anaheim</a:t>
            </a:r>
            <a:endParaRPr lang="en-US" sz="1500" dirty="0"/>
          </a:p>
        </p:txBody>
      </p:sp>
      <p:sp>
        <p:nvSpPr>
          <p:cNvPr id="5" name="Text 3"/>
          <p:cNvSpPr txBox="1"/>
          <p:nvPr/>
        </p:nvSpPr>
        <p:spPr>
          <a:xfrm>
            <a:off x="548640" y="1746504"/>
            <a:ext cx="11094415" cy="237744"/>
          </a:xfrm>
          <a:prstGeom prst="rect">
            <a:avLst/>
          </a:prstGeom>
          <a:noFill/>
          <a:ln/>
        </p:spPr>
        <p:txBody>
          <a:bodyPr wrap="square" lIns="0" tIns="0" rIns="0" bIns="0" rtlCol="0" anchor="ctr">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Visit Anaheim paid media, ad exposures Jan. 1–Aug. 31, 2026</a:t>
            </a:r>
            <a:endParaRPr lang="en-US" sz="950" dirty="0"/>
          </a:p>
        </p:txBody>
      </p:sp>
      <p:sp>
        <p:nvSpPr>
          <p:cNvPr id="6" name="Shape 4"/>
          <p:cNvSpPr/>
          <p:nvPr/>
        </p:nvSpPr>
        <p:spPr>
          <a:xfrm flipV="1">
            <a:off x="1103361" y="2075688"/>
            <a:ext cx="9984974" cy="822960"/>
          </a:xfrm>
          <a:prstGeom prst="trapezoid">
            <a:avLst/>
          </a:prstGeom>
          <a:solidFill>
            <a:srgbClr val="B4D9E3"/>
          </a:solidFill>
          <a:ln w="12700">
            <a:solidFill>
              <a:srgbClr val="FFFFFF"/>
            </a:solidFill>
            <a:prstDash val="solid"/>
          </a:ln>
        </p:spPr>
      </p:sp>
      <p:sp>
        <p:nvSpPr>
          <p:cNvPr id="7" name="Text 5"/>
          <p:cNvSpPr txBox="1"/>
          <p:nvPr/>
        </p:nvSpPr>
        <p:spPr>
          <a:xfrm>
            <a:off x="1103361" y="2148840"/>
            <a:ext cx="9984974" cy="411480"/>
          </a:xfrm>
          <a:prstGeom prst="rect">
            <a:avLst/>
          </a:prstGeom>
          <a:noFill/>
          <a:ln/>
        </p:spPr>
        <p:txBody>
          <a:bodyPr wrap="square" lIns="0" tIns="0" rIns="0" bIns="0" rtlCol="0" anchor="ctr"/>
          <a:lstStyle/>
          <a:p>
            <a:pPr algn="ctr" indent="0" marL="0">
              <a:buNone/>
            </a:pPr>
            <a:r>
              <a:rPr lang="en-US" sz="2200" b="1" i="1" dirty="0">
                <a:solidFill>
                  <a:srgbClr val="231F20"/>
                </a:solidFill>
                <a:latin typeface="Proxima Nova" pitchFamily="34" charset="0"/>
                <a:ea typeface="Proxima Nova" pitchFamily="34" charset="-122"/>
                <a:cs typeface="Proxima Nova" pitchFamily="34" charset="-120"/>
              </a:rPr>
              <a:t>31.0M</a:t>
            </a:r>
            <a:endParaRPr lang="en-US" sz="2200" dirty="0"/>
          </a:p>
        </p:txBody>
      </p:sp>
      <p:sp>
        <p:nvSpPr>
          <p:cNvPr id="8" name="Text 6"/>
          <p:cNvSpPr txBox="1"/>
          <p:nvPr/>
        </p:nvSpPr>
        <p:spPr>
          <a:xfrm>
            <a:off x="1103361" y="2551176"/>
            <a:ext cx="9984974" cy="274320"/>
          </a:xfrm>
          <a:prstGeom prst="rect">
            <a:avLst/>
          </a:prstGeom>
          <a:noFill/>
          <a:ln/>
        </p:spPr>
        <p:txBody>
          <a:bodyPr wrap="square" lIns="0" tIns="0" rIns="0" bIns="0" rtlCol="0" anchor="ctr"/>
          <a:lstStyle/>
          <a:p>
            <a:pPr algn="ctr" indent="0" marL="0">
              <a:buNone/>
            </a:pPr>
            <a:r>
              <a:rPr lang="en-US" sz="1000" b="1" dirty="0">
                <a:solidFill>
                  <a:srgbClr val="231F20"/>
                </a:solidFill>
                <a:latin typeface="Proxima Nova" pitchFamily="34" charset="0"/>
                <a:ea typeface="Proxima Nova" pitchFamily="34" charset="-122"/>
                <a:cs typeface="Proxima Nova" pitchFamily="34" charset="-120"/>
              </a:rPr>
              <a:t>measurable impressions</a:t>
            </a:r>
            <a:endParaRPr lang="en-US" sz="1000" dirty="0"/>
          </a:p>
        </p:txBody>
      </p:sp>
      <p:sp>
        <p:nvSpPr>
          <p:cNvPr id="9" name="Shape 7"/>
          <p:cNvSpPr/>
          <p:nvPr/>
        </p:nvSpPr>
        <p:spPr>
          <a:xfrm flipV="1">
            <a:off x="3322244" y="2990088"/>
            <a:ext cx="5547208" cy="822960"/>
          </a:xfrm>
          <a:prstGeom prst="trapezoid">
            <a:avLst/>
          </a:prstGeom>
          <a:solidFill>
            <a:srgbClr val="43A3A3"/>
          </a:solidFill>
          <a:ln w="12700">
            <a:solidFill>
              <a:srgbClr val="FFFFFF"/>
            </a:solidFill>
            <a:prstDash val="solid"/>
          </a:ln>
        </p:spPr>
      </p:sp>
      <p:sp>
        <p:nvSpPr>
          <p:cNvPr id="10" name="Text 8"/>
          <p:cNvSpPr txBox="1"/>
          <p:nvPr/>
        </p:nvSpPr>
        <p:spPr>
          <a:xfrm>
            <a:off x="3322244" y="3063240"/>
            <a:ext cx="5547208" cy="411480"/>
          </a:xfrm>
          <a:prstGeom prst="rect">
            <a:avLst/>
          </a:prstGeom>
          <a:noFill/>
          <a:ln/>
        </p:spPr>
        <p:txBody>
          <a:bodyPr wrap="square" lIns="0" tIns="0" rIns="0" bIns="0" rtlCol="0" anchor="ctr"/>
          <a:lstStyle/>
          <a:p>
            <a:pPr algn="ctr" indent="0" marL="0">
              <a:buNone/>
            </a:pPr>
            <a:r>
              <a:rPr lang="en-US" sz="2200" b="1" i="1" dirty="0">
                <a:solidFill>
                  <a:srgbClr val="231F20"/>
                </a:solidFill>
                <a:latin typeface="Proxima Nova" pitchFamily="34" charset="0"/>
                <a:ea typeface="Proxima Nova" pitchFamily="34" charset="-122"/>
                <a:cs typeface="Proxima Nova" pitchFamily="34" charset="-120"/>
              </a:rPr>
              <a:t>368,416</a:t>
            </a:r>
            <a:endParaRPr lang="en-US" sz="2200" dirty="0"/>
          </a:p>
        </p:txBody>
      </p:sp>
      <p:sp>
        <p:nvSpPr>
          <p:cNvPr id="11" name="Text 9"/>
          <p:cNvSpPr txBox="1"/>
          <p:nvPr/>
        </p:nvSpPr>
        <p:spPr>
          <a:xfrm>
            <a:off x="3322244" y="3465576"/>
            <a:ext cx="5547208" cy="274320"/>
          </a:xfrm>
          <a:prstGeom prst="rect">
            <a:avLst/>
          </a:prstGeom>
          <a:noFill/>
          <a:ln/>
        </p:spPr>
        <p:txBody>
          <a:bodyPr wrap="square" lIns="0" tIns="0" rIns="0" bIns="0" rtlCol="0" anchor="ctr"/>
          <a:lstStyle/>
          <a:p>
            <a:pPr algn="ctr" indent="0" marL="0">
              <a:buNone/>
            </a:pPr>
            <a:r>
              <a:rPr lang="en-US" sz="1000" b="1" dirty="0">
                <a:solidFill>
                  <a:srgbClr val="231F20"/>
                </a:solidFill>
                <a:latin typeface="Proxima Nova" pitchFamily="34" charset="0"/>
                <a:ea typeface="Proxima Nova" pitchFamily="34" charset="-122"/>
                <a:cs typeface="Proxima Nova" pitchFamily="34" charset="-120"/>
              </a:rPr>
              <a:t>observed visits (first visit 3+ days after exposure)</a:t>
            </a:r>
            <a:endParaRPr lang="en-US" sz="1000" dirty="0"/>
          </a:p>
        </p:txBody>
      </p:sp>
      <p:sp>
        <p:nvSpPr>
          <p:cNvPr id="12" name="Shape 10"/>
          <p:cNvSpPr/>
          <p:nvPr/>
        </p:nvSpPr>
        <p:spPr>
          <a:xfrm>
            <a:off x="548640" y="4041648"/>
            <a:ext cx="5410048" cy="45720"/>
          </a:xfrm>
          <a:prstGeom prst="rect">
            <a:avLst/>
          </a:prstGeom>
          <a:solidFill>
            <a:srgbClr val="125C60"/>
          </a:solidFill>
          <a:ln w="12700">
            <a:solidFill>
              <a:srgbClr val="125C60"/>
            </a:solidFill>
            <a:prstDash val="solid"/>
          </a:ln>
        </p:spPr>
      </p:sp>
      <p:sp>
        <p:nvSpPr>
          <p:cNvPr id="13" name="Text 11"/>
          <p:cNvSpPr txBox="1"/>
          <p:nvPr/>
        </p:nvSpPr>
        <p:spPr>
          <a:xfrm>
            <a:off x="548640" y="4133088"/>
            <a:ext cx="5410048" cy="384048"/>
          </a:xfrm>
          <a:prstGeom prst="rect">
            <a:avLst/>
          </a:prstGeom>
          <a:noFill/>
          <a:ln/>
        </p:spPr>
        <p:txBody>
          <a:bodyPr wrap="square" lIns="0" tIns="0" rIns="0" bIns="0" rtlCol="0" anchor="ctr"/>
          <a:lstStyle/>
          <a:p>
            <a:pPr indent="0" marL="0">
              <a:buNone/>
            </a:pPr>
            <a:r>
              <a:rPr lang="en-US" sz="2000" b="1" i="1" dirty="0">
                <a:solidFill>
                  <a:srgbClr val="125C60"/>
                </a:solidFill>
                <a:latin typeface="Proxima Nova" pitchFamily="34" charset="0"/>
                <a:ea typeface="Proxima Nova" pitchFamily="34" charset="-122"/>
                <a:cs typeface="Proxima Nova" pitchFamily="34" charset="-120"/>
              </a:rPr>
              <a:t>11.9</a:t>
            </a:r>
            <a:endParaRPr lang="en-US" sz="2000" dirty="0"/>
          </a:p>
        </p:txBody>
      </p:sp>
      <p:sp>
        <p:nvSpPr>
          <p:cNvPr id="14" name="Text 12"/>
          <p:cNvSpPr txBox="1"/>
          <p:nvPr/>
        </p:nvSpPr>
        <p:spPr>
          <a:xfrm>
            <a:off x="548640" y="4517136"/>
            <a:ext cx="5410048" cy="256032"/>
          </a:xfrm>
          <a:prstGeom prst="rect">
            <a:avLst/>
          </a:prstGeom>
          <a:noFill/>
          <a:ln/>
        </p:spPr>
        <p:txBody>
          <a:bodyPr wrap="square" lIns="0" tIns="0" rIns="0" bIns="0" rtlCol="0" anchor="ct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visits per 1,000 impressions, all campaigns</a:t>
            </a:r>
            <a:endParaRPr lang="en-US" sz="1050" dirty="0"/>
          </a:p>
        </p:txBody>
      </p:sp>
      <p:sp>
        <p:nvSpPr>
          <p:cNvPr id="15" name="Text 13"/>
          <p:cNvSpPr txBox="1"/>
          <p:nvPr/>
        </p:nvSpPr>
        <p:spPr>
          <a:xfrm>
            <a:off x="548640" y="4773168"/>
            <a:ext cx="5410048" cy="237744"/>
          </a:xfrm>
          <a:prstGeom prst="rect">
            <a:avLst/>
          </a:prstGeom>
          <a:noFill/>
          <a:ln/>
        </p:spPr>
        <p:txBody>
          <a:bodyPr wrap="square" lIns="0" tIns="0" rIns="0" bIns="0" rtlCol="0" anchor="ctr"/>
          <a:lstStyle/>
          <a:p>
            <a:pPr indent="0" marL="0">
              <a:buNone/>
            </a:pPr>
            <a:r>
              <a:rPr lang="en-US" sz="900" dirty="0">
                <a:solidFill>
                  <a:srgbClr val="231F20"/>
                </a:solidFill>
                <a:latin typeface="Proxima Nova" pitchFamily="34" charset="0"/>
                <a:ea typeface="Proxima Nova" pitchFamily="34" charset="-122"/>
                <a:cs typeface="Proxima Nova" pitchFamily="34" charset="-120"/>
              </a:rPr>
              <a:t>368,416 ÷ 31.0M × 1,000</a:t>
            </a:r>
            <a:endParaRPr lang="en-US" sz="900" dirty="0"/>
          </a:p>
        </p:txBody>
      </p:sp>
      <p:sp>
        <p:nvSpPr>
          <p:cNvPr id="16" name="Shape 14"/>
          <p:cNvSpPr/>
          <p:nvPr/>
        </p:nvSpPr>
        <p:spPr>
          <a:xfrm>
            <a:off x="6233008" y="4041648"/>
            <a:ext cx="5410048" cy="45720"/>
          </a:xfrm>
          <a:prstGeom prst="rect">
            <a:avLst/>
          </a:prstGeom>
          <a:solidFill>
            <a:srgbClr val="125C60"/>
          </a:solidFill>
          <a:ln w="12700">
            <a:solidFill>
              <a:srgbClr val="125C60"/>
            </a:solidFill>
            <a:prstDash val="solid"/>
          </a:ln>
        </p:spPr>
      </p:sp>
      <p:sp>
        <p:nvSpPr>
          <p:cNvPr id="17" name="Text 15"/>
          <p:cNvSpPr txBox="1"/>
          <p:nvPr/>
        </p:nvSpPr>
        <p:spPr>
          <a:xfrm>
            <a:off x="6233008" y="4133088"/>
            <a:ext cx="5410048" cy="384048"/>
          </a:xfrm>
          <a:prstGeom prst="rect">
            <a:avLst/>
          </a:prstGeom>
          <a:noFill/>
          <a:ln/>
        </p:spPr>
        <p:txBody>
          <a:bodyPr wrap="square" lIns="0" tIns="0" rIns="0" bIns="0" rtlCol="0" anchor="ctr"/>
          <a:lstStyle/>
          <a:p>
            <a:pPr indent="0" marL="0">
              <a:buNone/>
            </a:pPr>
            <a:r>
              <a:rPr lang="en-US" sz="2000" b="1" i="1" dirty="0">
                <a:solidFill>
                  <a:srgbClr val="125C60"/>
                </a:solidFill>
                <a:latin typeface="Proxima Nova" pitchFamily="34" charset="0"/>
                <a:ea typeface="Proxima Nova" pitchFamily="34" charset="-122"/>
                <a:cs typeface="Proxima Nova" pitchFamily="34" charset="-120"/>
              </a:rPr>
              <a:t>34.4</a:t>
            </a:r>
            <a:endParaRPr lang="en-US" sz="2000" dirty="0"/>
          </a:p>
        </p:txBody>
      </p:sp>
      <p:sp>
        <p:nvSpPr>
          <p:cNvPr id="18" name="Text 16"/>
          <p:cNvSpPr txBox="1"/>
          <p:nvPr/>
        </p:nvSpPr>
        <p:spPr>
          <a:xfrm>
            <a:off x="6233008" y="4517136"/>
            <a:ext cx="5410048" cy="256032"/>
          </a:xfrm>
          <a:prstGeom prst="rect">
            <a:avLst/>
          </a:prstGeom>
          <a:noFill/>
          <a:ln/>
        </p:spPr>
        <p:txBody>
          <a:bodyPr wrap="square" lIns="0" tIns="0" rIns="0" bIns="0" rtlCol="0" anchor="ct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visits per 1,000 impressions, luxury placements</a:t>
            </a:r>
            <a:endParaRPr lang="en-US" sz="1050" dirty="0"/>
          </a:p>
        </p:txBody>
      </p:sp>
      <p:sp>
        <p:nvSpPr>
          <p:cNvPr id="19" name="Text 17"/>
          <p:cNvSpPr txBox="1"/>
          <p:nvPr/>
        </p:nvSpPr>
        <p:spPr>
          <a:xfrm>
            <a:off x="6233008" y="4773168"/>
            <a:ext cx="5410048" cy="237744"/>
          </a:xfrm>
          <a:prstGeom prst="rect">
            <a:avLst/>
          </a:prstGeom>
          <a:noFill/>
          <a:ln/>
        </p:spPr>
        <p:txBody>
          <a:bodyPr wrap="square" lIns="0" tIns="0" rIns="0" bIns="0" rtlCol="0" anchor="ctr"/>
          <a:lstStyle/>
          <a:p>
            <a:pPr indent="0" marL="0">
              <a:buNone/>
            </a:pPr>
            <a:r>
              <a:rPr lang="en-US" sz="900" dirty="0">
                <a:solidFill>
                  <a:srgbClr val="231F20"/>
                </a:solidFill>
                <a:latin typeface="Proxima Nova" pitchFamily="34" charset="0"/>
                <a:ea typeface="Proxima Nova" pitchFamily="34" charset="-122"/>
                <a:cs typeface="Proxima Nova" pitchFamily="34" charset="-120"/>
              </a:rPr>
              <a:t>2.9× the all-campaign rate: 34.4 ÷ 11.9</a:t>
            </a:r>
            <a:endParaRPr lang="en-US" sz="900" dirty="0"/>
          </a:p>
        </p:txBody>
      </p:sp>
      <p:sp>
        <p:nvSpPr>
          <p:cNvPr id="20"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Azira media attribution via Symphony (ad exposures Jan. 1–Aug. 31,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94</a:t>
            </a:fld>
            <a:endParaRPr lang="en-US"/>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Which placements turn impressions into visits</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Symphony | Azira media attribution · ad exposures Jan. 1–Aug. 31, 2026</a:t>
            </a:r>
            <a:endParaRPr lang="en-US" sz="1200" dirty="0"/>
          </a:p>
        </p:txBody>
      </p:sp>
      <p:sp>
        <p:nvSpPr>
          <p:cNvPr id="5" name="kpi-card-0"/>
          <p:cNvSpPr/>
          <p:nvPr/>
        </p:nvSpPr>
        <p:spPr>
          <a:xfrm>
            <a:off x="548640" y="1463040"/>
            <a:ext cx="3588410" cy="1463040"/>
          </a:xfrm>
          <a:prstGeom prst="roundRect">
            <a:avLst>
              <a:gd name="adj" fmla="val 5000"/>
            </a:avLst>
          </a:prstGeom>
          <a:solidFill>
            <a:srgbClr val="FFFFFF"/>
          </a:solidFill>
          <a:ln w="12700">
            <a:solidFill>
              <a:srgbClr val="B4D9E3"/>
            </a:solidFill>
            <a:prstDash val="solid"/>
          </a:ln>
        </p:spPr>
      </p:sp>
      <p:sp>
        <p:nvSpPr>
          <p:cNvPr id="6" name="Text 3"/>
          <p:cNvSpPr txBox="1"/>
          <p:nvPr/>
        </p:nvSpPr>
        <p:spPr>
          <a:xfrm>
            <a:off x="713232" y="1591056"/>
            <a:ext cx="325922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ALL CAMPAIGNS</a:t>
            </a:r>
            <a:endParaRPr lang="en-US" sz="900" dirty="0"/>
          </a:p>
        </p:txBody>
      </p:sp>
      <p:sp>
        <p:nvSpPr>
          <p:cNvPr id="7" name="Text 4"/>
          <p:cNvSpPr txBox="1"/>
          <p:nvPr/>
        </p:nvSpPr>
        <p:spPr>
          <a:xfrm>
            <a:off x="713232" y="1810512"/>
            <a:ext cx="325922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Measurable impressions</a:t>
            </a:r>
            <a:endParaRPr lang="en-US" sz="1050" dirty="0"/>
          </a:p>
        </p:txBody>
      </p:sp>
      <p:sp>
        <p:nvSpPr>
          <p:cNvPr id="8" name="Text 5"/>
          <p:cNvSpPr txBox="1"/>
          <p:nvPr/>
        </p:nvSpPr>
        <p:spPr>
          <a:xfrm>
            <a:off x="713232" y="2084832"/>
            <a:ext cx="3259226" cy="548640"/>
          </a:xfrm>
          <a:prstGeom prst="rect">
            <a:avLst/>
          </a:prstGeom>
          <a:noFill/>
          <a:ln/>
        </p:spPr>
        <p:txBody>
          <a:bodyPr wrap="square" lIns="0" tIns="0" rIns="0" bIns="0" rtlCol="0" anchor="ctr"/>
          <a:lstStyle/>
          <a:p>
            <a:pPr indent="0" marL="0">
              <a:buNone/>
            </a:pPr>
            <a:r>
              <a:rPr lang="en-US" sz="2800" b="1" dirty="0">
                <a:solidFill>
                  <a:srgbClr val="125C60"/>
                </a:solidFill>
                <a:latin typeface="Proxima Nova" pitchFamily="34" charset="0"/>
                <a:ea typeface="Proxima Nova" pitchFamily="34" charset="-122"/>
                <a:cs typeface="Proxima Nova" pitchFamily="34" charset="-120"/>
              </a:rPr>
              <a:t>31.0M</a:t>
            </a:r>
            <a:endParaRPr lang="en-US" sz="2800" dirty="0"/>
          </a:p>
        </p:txBody>
      </p:sp>
      <p:sp>
        <p:nvSpPr>
          <p:cNvPr id="9" name="Text 6"/>
          <p:cNvSpPr txBox="1"/>
          <p:nvPr/>
        </p:nvSpPr>
        <p:spPr>
          <a:xfrm>
            <a:off x="713232" y="2633472"/>
            <a:ext cx="3259226" cy="20116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U.S. audiences, Jan.–Aug. 2026</a:t>
            </a:r>
            <a:endParaRPr lang="en-US" sz="1000" dirty="0"/>
          </a:p>
        </p:txBody>
      </p:sp>
      <p:sp>
        <p:nvSpPr>
          <p:cNvPr id="10" name="kpi-card-1"/>
          <p:cNvSpPr/>
          <p:nvPr/>
        </p:nvSpPr>
        <p:spPr>
          <a:xfrm>
            <a:off x="4301642" y="1463040"/>
            <a:ext cx="3588410" cy="1463040"/>
          </a:xfrm>
          <a:prstGeom prst="roundRect">
            <a:avLst>
              <a:gd name="adj" fmla="val 5000"/>
            </a:avLst>
          </a:prstGeom>
          <a:solidFill>
            <a:srgbClr val="FFFFFF"/>
          </a:solidFill>
          <a:ln w="12700">
            <a:solidFill>
              <a:srgbClr val="B4D9E3"/>
            </a:solidFill>
            <a:prstDash val="solid"/>
          </a:ln>
        </p:spPr>
      </p:sp>
      <p:sp>
        <p:nvSpPr>
          <p:cNvPr id="11" name="Text 8"/>
          <p:cNvSpPr txBox="1"/>
          <p:nvPr/>
        </p:nvSpPr>
        <p:spPr>
          <a:xfrm>
            <a:off x="4466234" y="1591056"/>
            <a:ext cx="325922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ALL CAMPAIGNS</a:t>
            </a:r>
            <a:endParaRPr lang="en-US" sz="900" dirty="0"/>
          </a:p>
        </p:txBody>
      </p:sp>
      <p:sp>
        <p:nvSpPr>
          <p:cNvPr id="12" name="Text 9"/>
          <p:cNvSpPr txBox="1"/>
          <p:nvPr/>
        </p:nvSpPr>
        <p:spPr>
          <a:xfrm>
            <a:off x="4466234" y="1810512"/>
            <a:ext cx="325922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Observed visits</a:t>
            </a:r>
            <a:endParaRPr lang="en-US" sz="1050" dirty="0"/>
          </a:p>
        </p:txBody>
      </p:sp>
      <p:sp>
        <p:nvSpPr>
          <p:cNvPr id="13" name="Text 10"/>
          <p:cNvSpPr txBox="1"/>
          <p:nvPr/>
        </p:nvSpPr>
        <p:spPr>
          <a:xfrm>
            <a:off x="4466234" y="2084832"/>
            <a:ext cx="3259226" cy="548640"/>
          </a:xfrm>
          <a:prstGeom prst="rect">
            <a:avLst/>
          </a:prstGeom>
          <a:noFill/>
          <a:ln/>
        </p:spPr>
        <p:txBody>
          <a:bodyPr wrap="square" lIns="0" tIns="0" rIns="0" bIns="0" rtlCol="0" anchor="ctr"/>
          <a:lstStyle/>
          <a:p>
            <a:pPr indent="0" marL="0">
              <a:buNone/>
            </a:pPr>
            <a:r>
              <a:rPr lang="en-US" sz="2800" b="1" dirty="0">
                <a:solidFill>
                  <a:srgbClr val="125C60"/>
                </a:solidFill>
                <a:latin typeface="Proxima Nova" pitchFamily="34" charset="0"/>
                <a:ea typeface="Proxima Nova" pitchFamily="34" charset="-122"/>
                <a:cs typeface="Proxima Nova" pitchFamily="34" charset="-120"/>
              </a:rPr>
              <a:t>368,416</a:t>
            </a:r>
            <a:endParaRPr lang="en-US" sz="2800" dirty="0"/>
          </a:p>
        </p:txBody>
      </p:sp>
      <p:sp>
        <p:nvSpPr>
          <p:cNvPr id="14" name="Text 11"/>
          <p:cNvSpPr txBox="1"/>
          <p:nvPr/>
        </p:nvSpPr>
        <p:spPr>
          <a:xfrm>
            <a:off x="4466234" y="2633472"/>
            <a:ext cx="3259226" cy="20116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11.9 per 1,000 impressions · visit rate 1.19%</a:t>
            </a:r>
            <a:endParaRPr lang="en-US" sz="1000" dirty="0"/>
          </a:p>
        </p:txBody>
      </p:sp>
      <p:sp>
        <p:nvSpPr>
          <p:cNvPr id="15" name="kpi-card-2"/>
          <p:cNvSpPr/>
          <p:nvPr/>
        </p:nvSpPr>
        <p:spPr>
          <a:xfrm>
            <a:off x="8054645" y="1463040"/>
            <a:ext cx="3588410" cy="1463040"/>
          </a:xfrm>
          <a:prstGeom prst="roundRect">
            <a:avLst>
              <a:gd name="adj" fmla="val 5000"/>
            </a:avLst>
          </a:prstGeom>
          <a:solidFill>
            <a:srgbClr val="FFFFFF"/>
          </a:solidFill>
          <a:ln w="12700">
            <a:solidFill>
              <a:srgbClr val="B4D9E3"/>
            </a:solidFill>
            <a:prstDash val="solid"/>
          </a:ln>
        </p:spPr>
      </p:sp>
      <p:sp>
        <p:nvSpPr>
          <p:cNvPr id="16" name="Text 13"/>
          <p:cNvSpPr txBox="1"/>
          <p:nvPr/>
        </p:nvSpPr>
        <p:spPr>
          <a:xfrm>
            <a:off x="8219237" y="1591056"/>
            <a:ext cx="325922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LUXURY CAMPAIGN</a:t>
            </a:r>
            <a:endParaRPr lang="en-US" sz="900" dirty="0"/>
          </a:p>
        </p:txBody>
      </p:sp>
      <p:sp>
        <p:nvSpPr>
          <p:cNvPr id="17" name="Text 14"/>
          <p:cNvSpPr txBox="1"/>
          <p:nvPr/>
        </p:nvSpPr>
        <p:spPr>
          <a:xfrm>
            <a:off x="8219237" y="1810512"/>
            <a:ext cx="325922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Best visit rate</a:t>
            </a:r>
            <a:endParaRPr lang="en-US" sz="1050" dirty="0"/>
          </a:p>
        </p:txBody>
      </p:sp>
      <p:sp>
        <p:nvSpPr>
          <p:cNvPr id="18" name="Text 15"/>
          <p:cNvSpPr txBox="1"/>
          <p:nvPr/>
        </p:nvSpPr>
        <p:spPr>
          <a:xfrm>
            <a:off x="8219237" y="2084832"/>
            <a:ext cx="3259226" cy="548640"/>
          </a:xfrm>
          <a:prstGeom prst="rect">
            <a:avLst/>
          </a:prstGeom>
          <a:noFill/>
          <a:ln/>
        </p:spPr>
        <p:txBody>
          <a:bodyPr wrap="square" lIns="0" tIns="0" rIns="0" bIns="0" rtlCol="0" anchor="ctr"/>
          <a:lstStyle/>
          <a:p>
            <a:pPr indent="0" marL="0">
              <a:buNone/>
            </a:pPr>
            <a:r>
              <a:rPr lang="en-US" sz="2800" b="1" dirty="0">
                <a:solidFill>
                  <a:srgbClr val="125C60"/>
                </a:solidFill>
                <a:latin typeface="Proxima Nova" pitchFamily="34" charset="0"/>
                <a:ea typeface="Proxima Nova" pitchFamily="34" charset="-122"/>
                <a:cs typeface="Proxima Nova" pitchFamily="34" charset="-120"/>
              </a:rPr>
              <a:t>34.4</a:t>
            </a:r>
            <a:endParaRPr lang="en-US" sz="2800" dirty="0"/>
          </a:p>
        </p:txBody>
      </p:sp>
      <p:sp>
        <p:nvSpPr>
          <p:cNvPr id="19" name="Text 16"/>
          <p:cNvSpPr txBox="1"/>
          <p:nvPr/>
        </p:nvSpPr>
        <p:spPr>
          <a:xfrm>
            <a:off x="8219237" y="2633472"/>
            <a:ext cx="3259226" cy="20116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visits per 1,000 impressions</a:t>
            </a:r>
            <a:endParaRPr lang="en-US" sz="1000" dirty="0"/>
          </a:p>
        </p:txBody>
      </p:sp>
      <p:graphicFrame>
        <p:nvGraphicFramePr>
          <p:cNvPr id="96" name="Table 0"/>
          <p:cNvGraphicFramePr>
            <a:graphicFrameLocks noGrp="1"/>
          </p:cNvGraphicFramePr>
          <p:nvPr>
            <p:extLst>
              <p:ext uri="{D42A27DB-BD31-4B8C-83A1-F6EECF244321}">
                <p14:modId xmlns:p14="http://schemas.microsoft.com/office/powerpoint/2010/main" val="1579011935"/>
              </p:ext>
            </p:extLst>
          </p:nvPr>
        </p:nvGraphicFramePr>
        <p:xfrm>
          <a:off x="548640" y="3108960"/>
          <a:ext cx="6766560" cy="914400"/>
        </p:xfrm>
        <a:graphic>
          <a:graphicData uri="http://schemas.openxmlformats.org/drawingml/2006/table">
            <a:tbl>
              <a:tblPr/>
              <a:tblGrid>
                <a:gridCol w="1737360"/>
                <a:gridCol w="1737360"/>
                <a:gridCol w="1188720"/>
                <a:gridCol w="1005840"/>
                <a:gridCol w="1097280"/>
              </a:tblGrid>
              <a:tr h="246888">
                <a:tc>
                  <a:txBody>
                    <a:bodyPr/>
                    <a:lstStyle/>
                    <a:p>
                      <a:pPr algn="l" indent="0" marL="0">
                        <a:buNone/>
                      </a:pPr>
                      <a:r>
                        <a:rPr lang="en-US" sz="1000" b="1" dirty="0">
                          <a:solidFill>
                            <a:srgbClr val="FFFFFF"/>
                          </a:solidFill>
                          <a:latin typeface="Proxima Nova" pitchFamily="34" charset="0"/>
                          <a:ea typeface="Proxima Nova" pitchFamily="34" charset="-122"/>
                          <a:cs typeface="Proxima Nova" pitchFamily="34" charset="-120"/>
                        </a:rPr>
                        <a:t>Campaign</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1000" b="1" dirty="0">
                          <a:solidFill>
                            <a:srgbClr val="FFFFFF"/>
                          </a:solidFill>
                          <a:latin typeface="Proxima Nova" pitchFamily="34" charset="0"/>
                          <a:ea typeface="Proxima Nova" pitchFamily="34" charset="-122"/>
                          <a:cs typeface="Proxima Nova" pitchFamily="34" charset="-120"/>
                        </a:rPr>
                        <a:t>Channel</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Impressions (K)</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Visits (K)</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Visits per 1,000</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24688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Leisure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Epsilon</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8,100.7</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121.7</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15.0</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4688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Leisure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TripAdvisor</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4,019.4</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53.9</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13.4</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4688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Leisure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Basis DSP (Adgenuity)</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2,236.7</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63.9</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28.6</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4688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Leisure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Travelzoo</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1,062.3</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9.8</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9.3</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4688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New Brand</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Basis DSP (Adgenuity)</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8,675.5</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67.9</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7.8</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4688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Luxury</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Epsilon</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2,259.3</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32.1</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14.2</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4688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Luxury</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Basis DSP (Adgenuity)</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2,177.3</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74.9</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34.4</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24688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Tourism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Expedia</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763.8</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17.6</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23.0</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4688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Tourism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Priceline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698.6</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4.0</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5.7</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4688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Fall/Winter 25–26</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Expedia</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245.1</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7.5</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30.4</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21" name="callout"/>
          <p:cNvSpPr/>
          <p:nvPr/>
        </p:nvSpPr>
        <p:spPr>
          <a:xfrm>
            <a:off x="7589520" y="3108960"/>
            <a:ext cx="4023360" cy="2194560"/>
          </a:xfrm>
          <a:prstGeom prst="roundRect">
            <a:avLst>
              <a:gd name="adj" fmla="val 2500"/>
            </a:avLst>
          </a:prstGeom>
          <a:solidFill>
            <a:srgbClr val="F9F9F2"/>
          </a:solidFill>
          <a:ln w="12700">
            <a:solidFill>
              <a:srgbClr val="125C60"/>
            </a:solidFill>
            <a:prstDash val="solid"/>
          </a:ln>
        </p:spPr>
      </p:sp>
      <p:sp>
        <p:nvSpPr>
          <p:cNvPr id="22" name="Text 18"/>
          <p:cNvSpPr txBox="1"/>
          <p:nvPr/>
        </p:nvSpPr>
        <p:spPr>
          <a:xfrm>
            <a:off x="7772400" y="3246120"/>
            <a:ext cx="3657600" cy="1920240"/>
          </a:xfrm>
          <a:prstGeom prst="rect">
            <a:avLst/>
          </a:prstGeom>
          <a:noFill/>
          <a:ln/>
        </p:spPr>
        <p:txBody>
          <a:bodyPr wrap="square" lIns="0" tIns="0" rIns="0" bIns="0" rtlCol="0" anchor="t"/>
          <a:lstStyle/>
          <a:p>
            <a:pPr indent="0" marL="0">
              <a:buNone/>
            </a:pPr>
            <a:r>
              <a:rPr lang="en-US" sz="1200" b="1" dirty="0">
                <a:solidFill>
                  <a:srgbClr val="125C60"/>
                </a:solidFill>
                <a:latin typeface="Proxima Nova" pitchFamily="34" charset="0"/>
                <a:ea typeface="Proxima Nova" pitchFamily="34" charset="-122"/>
                <a:cs typeface="Proxima Nova" pitchFamily="34" charset="-120"/>
              </a:rPr>
              <a:t>Opportunity for OC Vibe: </a:t>
            </a:r>
            <a:pPr indent="0" marL="0">
              <a:buNone/>
            </a:pPr>
            <a:r>
              <a:rPr lang="en-US" sz="1200" dirty="0">
                <a:solidFill>
                  <a:srgbClr val="231F20"/>
                </a:solidFill>
                <a:latin typeface="Proxima Nova" pitchFamily="34" charset="0"/>
                <a:ea typeface="Proxima Nova" pitchFamily="34" charset="-122"/>
                <a:cs typeface="Proxima Nova" pitchFamily="34" charset="-120"/>
              </a:rPr>
              <a:t>luxury and travel-planning placements convert best (up to 34.4 visits per 1,000 impressions). OC Vibe events and dining can be featured in this content.</a:t>
            </a:r>
            <a:endParaRPr lang="en-US" sz="1200" dirty="0"/>
          </a:p>
        </p:txBody>
      </p:sp>
      <p:sp>
        <p:nvSpPr>
          <p:cNvPr id="23"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Symphony | Tourism Economics, Azira Media Attribution (first visit at least three days after exposure)</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95</a:t>
            </a:fld>
            <a:endParaRPr lang="en-US"/>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How the numbers are calculated: Marketing reach</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Each step with its calculation, result and source</a:t>
            </a:r>
            <a:endParaRPr lang="en-US" sz="1200" dirty="0"/>
          </a:p>
        </p:txBody>
      </p:sp>
      <p:graphicFrame>
        <p:nvGraphicFramePr>
          <p:cNvPr id="9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286000"/>
                <a:gridCol w="5120640"/>
                <a:gridCol w="1280160"/>
                <a:gridCol w="2404872"/>
              </a:tblGrid>
              <a:tr h="384048">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Step</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Calculation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Result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Source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Measurable impressions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Reported by source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31.0M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Azira (Jan.–Aug.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Observed visits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Reported by source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368,416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Azira (Jan.–Aug.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Visits per 1,000 impressions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368,416 observed visits ÷ 31.0M impressions × 1,000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11.9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BI calculation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Days from ad to visit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Reported by source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Azira (Jan.–Aug.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Azira (Jan.–Aug. 2026); BI calculation</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96</a:t>
            </a:fld>
            <a:endParaRPr lang="en-US"/>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What it means for OC Vibe: Marketing reach</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What this insight enhances for OC Vibe, and what OC Vibe needs to act on it</a:t>
            </a:r>
            <a:endParaRPr lang="en-US" sz="1200" dirty="0"/>
          </a:p>
        </p:txBody>
      </p:sp>
      <p:sp>
        <p:nvSpPr>
          <p:cNvPr id="4" name="Shape 2"/>
          <p:cNvSpPr/>
          <p:nvPr/>
        </p:nvSpPr>
        <p:spPr>
          <a:xfrm>
            <a:off x="548640" y="1417320"/>
            <a:ext cx="11094415" cy="914400"/>
          </a:xfrm>
          <a:prstGeom prst="rect">
            <a:avLst/>
          </a:prstGeom>
          <a:solidFill>
            <a:srgbClr val="B4D9E3"/>
          </a:solidFill>
          <a:ln w="12700">
            <a:solidFill>
              <a:srgbClr val="B4D9E3"/>
            </a:solidFill>
            <a:prstDash val="solid"/>
          </a:ln>
        </p:spPr>
      </p:sp>
      <p:sp>
        <p:nvSpPr>
          <p:cNvPr id="5" name="Text 3"/>
          <p:cNvSpPr txBox="1"/>
          <p:nvPr/>
        </p:nvSpPr>
        <p:spPr>
          <a:xfrm>
            <a:off x="685800" y="1463040"/>
            <a:ext cx="1828800" cy="201168"/>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KEY INSIGHT</a:t>
            </a:r>
            <a:endParaRPr lang="en-US" sz="900" dirty="0"/>
          </a:p>
        </p:txBody>
      </p:sp>
      <p:sp>
        <p:nvSpPr>
          <p:cNvPr id="6" name="Text 4"/>
          <p:cNvSpPr txBox="1"/>
          <p:nvPr/>
        </p:nvSpPr>
        <p:spPr>
          <a:xfrm>
            <a:off x="685800" y="1664208"/>
            <a:ext cx="10820095" cy="640080"/>
          </a:xfrm>
          <a:prstGeom prst="rect">
            <a:avLst/>
          </a:prstGeom>
          <a:noFill/>
          <a:ln/>
        </p:spPr>
        <p:txBody>
          <a:bodyPr wrap="square" lIns="0" tIns="0" rIns="0" bIns="0" rtlCol="0" anchor="t"/>
          <a:lstStyle/>
          <a:p>
            <a:pPr indent="0" marL="0">
              <a:buNone/>
            </a:pPr>
            <a:r>
              <a:rPr lang="en-US" sz="1100" dirty="0">
                <a:solidFill>
                  <a:srgbClr val="231F20"/>
                </a:solidFill>
                <a:latin typeface="Proxima Nova" pitchFamily="34" charset="0"/>
                <a:ea typeface="Proxima Nova" pitchFamily="34" charset="-122"/>
                <a:cs typeface="Proxima Nova" pitchFamily="34" charset="-120"/>
              </a:rPr>
              <a:t>Visit Anaheim's paid media produced </a:t>
            </a:r>
            <a:pPr indent="0" marL="0">
              <a:buNone/>
            </a:pPr>
            <a:r>
              <a:rPr lang="en-US" sz="1100" b="1" dirty="0">
                <a:solidFill>
                  <a:srgbClr val="125C60"/>
                </a:solidFill>
                <a:latin typeface="Proxima Nova" pitchFamily="34" charset="0"/>
                <a:ea typeface="Proxima Nova" pitchFamily="34" charset="-122"/>
                <a:cs typeface="Proxima Nova" pitchFamily="34" charset="-120"/>
              </a:rPr>
              <a:t>31.0M</a:t>
            </a:r>
            <a:pPr indent="0" marL="0">
              <a:buNone/>
            </a:pPr>
            <a:r>
              <a:rPr lang="en-US" sz="1100" dirty="0">
                <a:solidFill>
                  <a:srgbClr val="231F20"/>
                </a:solidFill>
                <a:latin typeface="Proxima Nova" pitchFamily="34" charset="0"/>
                <a:ea typeface="Proxima Nova" pitchFamily="34" charset="-122"/>
                <a:cs typeface="Proxima Nova" pitchFamily="34" charset="-120"/>
              </a:rPr>
              <a:t> measurable impressions and </a:t>
            </a:r>
            <a:pPr indent="0" marL="0">
              <a:buNone/>
            </a:pPr>
            <a:r>
              <a:rPr lang="en-US" sz="1100" b="1" dirty="0">
                <a:solidFill>
                  <a:srgbClr val="125C60"/>
                </a:solidFill>
                <a:latin typeface="Proxima Nova" pitchFamily="34" charset="0"/>
                <a:ea typeface="Proxima Nova" pitchFamily="34" charset="-122"/>
                <a:cs typeface="Proxima Nova" pitchFamily="34" charset="-120"/>
              </a:rPr>
              <a:t>368,416</a:t>
            </a:r>
            <a:pPr indent="0" marL="0">
              <a:buNone/>
            </a:pPr>
            <a:r>
              <a:rPr lang="en-US" sz="1100" dirty="0">
                <a:solidFill>
                  <a:srgbClr val="231F20"/>
                </a:solidFill>
                <a:latin typeface="Proxima Nova" pitchFamily="34" charset="0"/>
                <a:ea typeface="Proxima Nova" pitchFamily="34" charset="-122"/>
                <a:cs typeface="Proxima Nova" pitchFamily="34" charset="-120"/>
              </a:rPr>
              <a:t> observed visits from January through August 2026; visitors arrived about </a:t>
            </a:r>
            <a:pPr indent="0" marL="0">
              <a:buNone/>
            </a:pPr>
            <a:r>
              <a:rPr lang="en-US" sz="1100" b="1" dirty="0">
                <a:solidFill>
                  <a:srgbClr val="125C60"/>
                </a:solidFill>
                <a:latin typeface="Proxima Nova" pitchFamily="34" charset="0"/>
                <a:ea typeface="Proxima Nova" pitchFamily="34" charset="-122"/>
                <a:cs typeface="Proxima Nova" pitchFamily="34" charset="-120"/>
              </a:rPr>
              <a:t>39 days</a:t>
            </a:r>
            <a:pPr indent="0" marL="0">
              <a:buNone/>
            </a:pPr>
            <a:r>
              <a:rPr lang="en-US" sz="1100" dirty="0">
                <a:solidFill>
                  <a:srgbClr val="231F20"/>
                </a:solidFill>
                <a:latin typeface="Proxima Nova" pitchFamily="34" charset="0"/>
                <a:ea typeface="Proxima Nova" pitchFamily="34" charset="-122"/>
                <a:cs typeface="Proxima Nova" pitchFamily="34" charset="-120"/>
              </a:rPr>
              <a:t> after seeing an ad.</a:t>
            </a:r>
            <a:endParaRPr lang="en-US" sz="1100" dirty="0"/>
          </a:p>
        </p:txBody>
      </p:sp>
      <p:sp>
        <p:nvSpPr>
          <p:cNvPr id="7" name="Shape 5"/>
          <p:cNvSpPr/>
          <p:nvPr/>
        </p:nvSpPr>
        <p:spPr>
          <a:xfrm>
            <a:off x="548640" y="2468880"/>
            <a:ext cx="5410048" cy="45720"/>
          </a:xfrm>
          <a:prstGeom prst="rect">
            <a:avLst/>
          </a:prstGeom>
          <a:solidFill>
            <a:srgbClr val="43A3A3"/>
          </a:solidFill>
          <a:ln w="12700">
            <a:solidFill>
              <a:srgbClr val="43A3A3"/>
            </a:solidFill>
            <a:prstDash val="solid"/>
          </a:ln>
        </p:spPr>
      </p:sp>
      <p:sp>
        <p:nvSpPr>
          <p:cNvPr id="8" name="Text 6"/>
          <p:cNvSpPr txBox="1"/>
          <p:nvPr/>
        </p:nvSpPr>
        <p:spPr>
          <a:xfrm>
            <a:off x="548640" y="2560320"/>
            <a:ext cx="5410048" cy="256032"/>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WHAT IT ENHANCES</a:t>
            </a:r>
            <a:endParaRPr lang="en-US" sz="1000" dirty="0"/>
          </a:p>
        </p:txBody>
      </p:sp>
      <p:sp>
        <p:nvSpPr>
          <p:cNvPr id="9" name="Text 7"/>
          <p:cNvSpPr txBox="1"/>
          <p:nvPr/>
        </p:nvSpPr>
        <p:spPr>
          <a:xfrm>
            <a:off x="548640" y="2852928"/>
            <a:ext cx="5410048" cy="3063240"/>
          </a:xfrm>
          <a:prstGeom prst="rect">
            <a:avLst/>
          </a:prstGeom>
          <a:noFill/>
          <a:ln/>
        </p:spPr>
        <p:txBody>
          <a:bodyPr wrap="square" lIns="0" tIns="0" rIns="0" bIns="0" rtlCol="0" anchor="t"/>
          <a:lstStyle/>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Marketing: Reach that converts: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11.9</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visits per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1,000</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impressions overall and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34.4</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for the best luxury placements. [Calculation: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368,416</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observed visits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31.0M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impressions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1,000</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11.9</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74.9K</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visits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2,177.3K</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impressions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1,000</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34.4</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(Basis DSP luxury placements)]</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Measurement: A measurable channel: attribution can track visits from target markets once OC Vibe appears in campaigns.</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Events: Timing: visitors arrive about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39 days</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after an ad, so events can be marketed six to eight weeks ahead.</a:t>
            </a:r>
            <a:endParaRPr lang="en-US" sz="800" dirty="0"/>
          </a:p>
        </p:txBody>
      </p:sp>
      <p:sp>
        <p:nvSpPr>
          <p:cNvPr id="10" name="Shape 8"/>
          <p:cNvSpPr/>
          <p:nvPr/>
        </p:nvSpPr>
        <p:spPr>
          <a:xfrm>
            <a:off x="6233008" y="2468880"/>
            <a:ext cx="5410048" cy="45720"/>
          </a:xfrm>
          <a:prstGeom prst="rect">
            <a:avLst/>
          </a:prstGeom>
          <a:solidFill>
            <a:srgbClr val="125C60"/>
          </a:solidFill>
          <a:ln w="12700">
            <a:solidFill>
              <a:srgbClr val="125C60"/>
            </a:solidFill>
            <a:prstDash val="solid"/>
          </a:ln>
        </p:spPr>
      </p:sp>
      <p:sp>
        <p:nvSpPr>
          <p:cNvPr id="11" name="Text 9"/>
          <p:cNvSpPr txBox="1"/>
          <p:nvPr/>
        </p:nvSpPr>
        <p:spPr>
          <a:xfrm>
            <a:off x="6233008" y="2560320"/>
            <a:ext cx="5410048" cy="256032"/>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WHAT OC VIBE NEEDS</a:t>
            </a:r>
            <a:endParaRPr lang="en-US" sz="1000" dirty="0"/>
          </a:p>
        </p:txBody>
      </p:sp>
      <p:sp>
        <p:nvSpPr>
          <p:cNvPr id="12" name="Text 10"/>
          <p:cNvSpPr txBox="1"/>
          <p:nvPr/>
        </p:nvSpPr>
        <p:spPr>
          <a:xfrm>
            <a:off x="6233008" y="2852928"/>
            <a:ext cx="5410048" cy="3063240"/>
          </a:xfrm>
          <a:prstGeom prst="rect">
            <a:avLst/>
          </a:prstGeom>
          <a:noFill/>
          <a:ln/>
        </p:spPr>
        <p:txBody>
          <a:bodyPr wrap="square" lIns="0" tIns="0" rIns="0" bIns="0" rtlCol="0" anchor="t"/>
          <a:lstStyle/>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Events: An event calendar shared with Visit Anaheim six to eight weeks ahead.</a:t>
            </a:r>
            <a:endParaRPr lang="en-US" sz="1050" dirty="0"/>
          </a:p>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Marketing: OC Vibe venue, dining and opening content for Visit Anaheim's luxury and travel-planning channels.</a:t>
            </a:r>
            <a:endParaRPr lang="en-US" sz="1050" dirty="0"/>
          </a:p>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Measurement: Control markets for key campaigns, since attribution shows association, not cause.</a:t>
            </a:r>
            <a:endParaRPr lang="en-US" sz="1050" dirty="0"/>
          </a:p>
        </p:txBody>
      </p:sp>
      <p:sp>
        <p:nvSpPr>
          <p:cNvPr id="13"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Azira media attribution via Symphony (ad exposures Jan. 1–Aug. 31,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97</a:t>
            </a:fld>
            <a:endParaRPr lang="en-US"/>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Anaheim hotel revenue per room up 11.4% as OC Vibe nears opening</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Market outlook · LARC Market Intelligence Reports, Jan.–Sept. 2026</a:t>
            </a:r>
            <a:endParaRPr lang="en-US" sz="1200" dirty="0"/>
          </a:p>
        </p:txBody>
      </p:sp>
      <p:sp>
        <p:nvSpPr>
          <p:cNvPr id="5" name="Text 2"/>
          <p:cNvSpPr txBox="1"/>
          <p:nvPr/>
        </p:nvSpPr>
        <p:spPr>
          <a:xfrm>
            <a:off x="548640" y="1481328"/>
            <a:ext cx="7086600"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THE LEDE</a:t>
            </a:r>
            <a:endParaRPr lang="en-US" sz="1000" dirty="0"/>
          </a:p>
        </p:txBody>
      </p:sp>
      <p:sp>
        <p:nvSpPr>
          <p:cNvPr id="6" name="Text 3"/>
          <p:cNvSpPr txBox="1"/>
          <p:nvPr/>
        </p:nvSpPr>
        <p:spPr>
          <a:xfrm>
            <a:off x="548640" y="1737360"/>
            <a:ext cx="7086600" cy="1965960"/>
          </a:xfrm>
          <a:prstGeom prst="rect">
            <a:avLst/>
          </a:prstGeom>
          <a:noFill/>
          <a:ln/>
        </p:spPr>
        <p:txBody>
          <a:bodyPr wrap="square" lIns="0" tIns="0" rIns="0" bIns="0" rtlCol="0" anchor="t"/>
          <a:lstStyle/>
          <a:p>
            <a:pPr indent="0" marL="0">
              <a:buNone/>
            </a:pPr>
            <a:r>
              <a:rPr lang="en-US" sz="1350" b="1" dirty="0">
                <a:solidFill>
                  <a:srgbClr val="125C60"/>
                </a:solidFill>
                <a:latin typeface="Proxima Nova" pitchFamily="34" charset="0"/>
                <a:ea typeface="Proxima Nova" pitchFamily="34" charset="-122"/>
                <a:cs typeface="Proxima Nova" pitchFamily="34" charset="-120"/>
              </a:rPr>
              <a:t>ANAHEIM, Calif. (Oct. 13, 2026): </a:t>
            </a:r>
            <a:pPr indent="0" marL="0">
              <a:buNone/>
            </a:pPr>
            <a:r>
              <a:rPr lang="en-US" sz="1350" dirty="0">
                <a:solidFill>
                  <a:srgbClr val="231F20"/>
                </a:solidFill>
                <a:latin typeface="Proxima Nova" pitchFamily="34" charset="0"/>
                <a:ea typeface="Proxima Nova" pitchFamily="34" charset="-122"/>
                <a:cs typeface="Proxima Nova" pitchFamily="34" charset="-120"/>
              </a:rPr>
              <a:t>Anaheim hotel revenue per room rose </a:t>
            </a:r>
            <a:pPr indent="0" marL="0">
              <a:buNone/>
            </a:pPr>
            <a:r>
              <a:rPr lang="en-US" sz="1350" b="1" dirty="0">
                <a:solidFill>
                  <a:srgbClr val="125C60"/>
                </a:solidFill>
                <a:latin typeface="Proxima Nova" pitchFamily="34" charset="0"/>
                <a:ea typeface="Proxima Nova" pitchFamily="34" charset="-122"/>
                <a:cs typeface="Proxima Nova" pitchFamily="34" charset="-120"/>
              </a:rPr>
              <a:t>11.4%</a:t>
            </a:r>
            <a:pPr indent="0" marL="0">
              <a:buNone/>
            </a:pPr>
            <a:r>
              <a:rPr lang="en-US" sz="1350" dirty="0">
                <a:solidFill>
                  <a:srgbClr val="231F20"/>
                </a:solidFill>
                <a:latin typeface="Proxima Nova" pitchFamily="34" charset="0"/>
                <a:ea typeface="Proxima Nova" pitchFamily="34" charset="-122"/>
                <a:cs typeface="Proxima Nova" pitchFamily="34" charset="-120"/>
              </a:rPr>
              <a:t> in Q2 2026 (U.S. </a:t>
            </a:r>
            <a:pPr indent="0" marL="0">
              <a:buNone/>
            </a:pPr>
            <a:r>
              <a:rPr lang="en-US" sz="1350" b="1" dirty="0">
                <a:solidFill>
                  <a:srgbClr val="125C60"/>
                </a:solidFill>
                <a:latin typeface="Proxima Nova" pitchFamily="34" charset="0"/>
                <a:ea typeface="Proxima Nova" pitchFamily="34" charset="-122"/>
                <a:cs typeface="Proxima Nova" pitchFamily="34" charset="-120"/>
              </a:rPr>
              <a:t>+5.7%</a:t>
            </a:r>
            <a:pPr indent="0" marL="0">
              <a:buNone/>
            </a:pPr>
            <a:r>
              <a:rPr lang="en-US" sz="1350" dirty="0">
                <a:solidFill>
                  <a:srgbClr val="231F20"/>
                </a:solidFill>
                <a:latin typeface="Proxima Nova" pitchFamily="34" charset="0"/>
                <a:ea typeface="Proxima Nova" pitchFamily="34" charset="-122"/>
                <a:cs typeface="Proxima Nova" pitchFamily="34" charset="-120"/>
              </a:rPr>
              <a:t>), and Convention Center room nights are pacing </a:t>
            </a:r>
            <a:pPr indent="0" marL="0">
              <a:buNone/>
            </a:pPr>
            <a:r>
              <a:rPr lang="en-US" sz="1350" b="1" dirty="0">
                <a:solidFill>
                  <a:srgbClr val="125C60"/>
                </a:solidFill>
                <a:latin typeface="Proxima Nova" pitchFamily="34" charset="0"/>
                <a:ea typeface="Proxima Nova" pitchFamily="34" charset="-122"/>
                <a:cs typeface="Proxima Nova" pitchFamily="34" charset="-120"/>
              </a:rPr>
              <a:t>+12%</a:t>
            </a:r>
            <a:pPr indent="0" marL="0">
              <a:buNone/>
            </a:pPr>
            <a:r>
              <a:rPr lang="en-US" sz="1350" dirty="0">
                <a:solidFill>
                  <a:srgbClr val="231F20"/>
                </a:solidFill>
                <a:latin typeface="Proxima Nova" pitchFamily="34" charset="0"/>
                <a:ea typeface="Proxima Nova" pitchFamily="34" charset="-122"/>
                <a:cs typeface="Proxima Nova" pitchFamily="34" charset="-120"/>
              </a:rPr>
              <a:t> for 2026 and </a:t>
            </a:r>
            <a:pPr indent="0" marL="0">
              <a:buNone/>
            </a:pPr>
            <a:r>
              <a:rPr lang="en-US" sz="1350" b="1" dirty="0">
                <a:solidFill>
                  <a:srgbClr val="125C60"/>
                </a:solidFill>
                <a:latin typeface="Proxima Nova" pitchFamily="34" charset="0"/>
                <a:ea typeface="Proxima Nova" pitchFamily="34" charset="-122"/>
                <a:cs typeface="Proxima Nova" pitchFamily="34" charset="-120"/>
              </a:rPr>
              <a:t>+17%</a:t>
            </a:r>
            <a:pPr indent="0" marL="0">
              <a:buNone/>
            </a:pPr>
            <a:r>
              <a:rPr lang="en-US" sz="1350" dirty="0">
                <a:solidFill>
                  <a:srgbClr val="231F20"/>
                </a:solidFill>
                <a:latin typeface="Proxima Nova" pitchFamily="34" charset="0"/>
                <a:ea typeface="Proxima Nova" pitchFamily="34" charset="-122"/>
                <a:cs typeface="Proxima Nova" pitchFamily="34" charset="-120"/>
              </a:rPr>
              <a:t> for 2027. Costs are the headwind: prices are rising about </a:t>
            </a:r>
            <a:pPr indent="0" marL="0">
              <a:buNone/>
            </a:pPr>
            <a:r>
              <a:rPr lang="en-US" sz="1350" b="1" dirty="0">
                <a:solidFill>
                  <a:srgbClr val="125C60"/>
                </a:solidFill>
                <a:latin typeface="Proxima Nova" pitchFamily="34" charset="0"/>
                <a:ea typeface="Proxima Nova" pitchFamily="34" charset="-122"/>
                <a:cs typeface="Proxima Nova" pitchFamily="34" charset="-120"/>
              </a:rPr>
              <a:t>3.2%</a:t>
            </a:r>
            <a:pPr indent="0" marL="0">
              <a:buNone/>
            </a:pPr>
            <a:r>
              <a:rPr lang="en-US" sz="1350" dirty="0">
                <a:solidFill>
                  <a:srgbClr val="231F20"/>
                </a:solidFill>
                <a:latin typeface="Proxima Nova" pitchFamily="34" charset="0"/>
                <a:ea typeface="Proxima Nova" pitchFamily="34" charset="-122"/>
                <a:cs typeface="Proxima Nova" pitchFamily="34" charset="-120"/>
              </a:rPr>
              <a:t> a year and labor about </a:t>
            </a:r>
            <a:pPr indent="0" marL="0">
              <a:buNone/>
            </a:pPr>
            <a:r>
              <a:rPr lang="en-US" sz="1350" b="1" dirty="0">
                <a:solidFill>
                  <a:srgbClr val="125C60"/>
                </a:solidFill>
                <a:latin typeface="Proxima Nova" pitchFamily="34" charset="0"/>
                <a:ea typeface="Proxima Nova" pitchFamily="34" charset="-122"/>
                <a:cs typeface="Proxima Nova" pitchFamily="34" charset="-120"/>
              </a:rPr>
              <a:t>6%</a:t>
            </a:r>
            <a:pPr indent="0" marL="0">
              <a:buNone/>
            </a:pPr>
            <a:r>
              <a:rPr lang="en-US" sz="1350" dirty="0">
                <a:solidFill>
                  <a:srgbClr val="231F20"/>
                </a:solidFill>
                <a:latin typeface="Proxima Nova" pitchFamily="34" charset="0"/>
                <a:ea typeface="Proxima Nova" pitchFamily="34" charset="-122"/>
                <a:cs typeface="Proxima Nova" pitchFamily="34" charset="-120"/>
              </a:rPr>
              <a:t>.</a:t>
            </a:r>
            <a:endParaRPr lang="en-US" sz="1350" dirty="0"/>
          </a:p>
        </p:txBody>
      </p:sp>
      <p:sp>
        <p:nvSpPr>
          <p:cNvPr id="7" name="Shape 4"/>
          <p:cNvSpPr/>
          <p:nvPr/>
        </p:nvSpPr>
        <p:spPr>
          <a:xfrm>
            <a:off x="548640" y="3822192"/>
            <a:ext cx="7086600" cy="45720"/>
          </a:xfrm>
          <a:prstGeom prst="rect">
            <a:avLst/>
          </a:prstGeom>
          <a:solidFill>
            <a:srgbClr val="125C60"/>
          </a:solidFill>
          <a:ln w="12700">
            <a:solidFill>
              <a:srgbClr val="125C60"/>
            </a:solidFill>
            <a:prstDash val="solid"/>
          </a:ln>
        </p:spPr>
      </p:sp>
      <p:sp>
        <p:nvSpPr>
          <p:cNvPr id="8" name="Text 5"/>
          <p:cNvSpPr txBox="1"/>
          <p:nvPr/>
        </p:nvSpPr>
        <p:spPr>
          <a:xfrm>
            <a:off x="548640" y="3931920"/>
            <a:ext cx="7086600"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WHY IT MATTERS</a:t>
            </a:r>
            <a:endParaRPr lang="en-US" sz="1000" dirty="0"/>
          </a:p>
        </p:txBody>
      </p:sp>
      <p:sp>
        <p:nvSpPr>
          <p:cNvPr id="9" name="Text 6"/>
          <p:cNvSpPr txBox="1"/>
          <p:nvPr/>
        </p:nvSpPr>
        <p:spPr>
          <a:xfrm>
            <a:off x="548640" y="4187952"/>
            <a:ext cx="7086600" cy="1691640"/>
          </a:xfrm>
          <a:prstGeom prst="rect">
            <a:avLst/>
          </a:prstGeom>
          <a:noFill/>
          <a:ln/>
        </p:spPr>
        <p:txBody>
          <a:bodyPr wrap="square" lIns="0" tIns="0" rIns="0" bIns="0" rtlCol="0" anchor="t"/>
          <a:lstStyle/>
          <a:p>
            <a:pPr indent="0" marL="0">
              <a:buNone/>
            </a:pPr>
            <a:r>
              <a:rPr lang="en-US" sz="1250" dirty="0">
                <a:solidFill>
                  <a:srgbClr val="231F20"/>
                </a:solidFill>
                <a:latin typeface="Proxima Nova" pitchFamily="34" charset="0"/>
                <a:ea typeface="Proxima Nova" pitchFamily="34" charset="-122"/>
                <a:cs typeface="Proxima Nova" pitchFamily="34" charset="-120"/>
              </a:rPr>
              <a:t>OC Vibe opens into a market with rising hotel revenue and strong convention pace, along with rising costs. LARC reports Anaheim revenue per available room up </a:t>
            </a:r>
            <a:pPr indent="0" marL="0">
              <a:buNone/>
            </a:pPr>
            <a:r>
              <a:rPr lang="en-US" sz="1250" b="1" dirty="0">
                <a:solidFill>
                  <a:srgbClr val="125C60"/>
                </a:solidFill>
                <a:latin typeface="Proxima Nova" pitchFamily="34" charset="0"/>
                <a:ea typeface="Proxima Nova" pitchFamily="34" charset="-122"/>
                <a:cs typeface="Proxima Nova" pitchFamily="34" charset="-120"/>
              </a:rPr>
              <a:t>11.4%</a:t>
            </a:r>
            <a:pPr indent="0" marL="0">
              <a:buNone/>
            </a:pPr>
            <a:r>
              <a:rPr lang="en-US" sz="1250" dirty="0">
                <a:solidFill>
                  <a:srgbClr val="231F20"/>
                </a:solidFill>
                <a:latin typeface="Proxima Nova" pitchFamily="34" charset="0"/>
                <a:ea typeface="Proxima Nova" pitchFamily="34" charset="-122"/>
                <a:cs typeface="Proxima Nova" pitchFamily="34" charset="-120"/>
              </a:rPr>
              <a:t> in Q2 2026 and convention room nights pacing </a:t>
            </a:r>
            <a:pPr indent="0" marL="0">
              <a:buNone/>
            </a:pPr>
            <a:r>
              <a:rPr lang="en-US" sz="1250" b="1" dirty="0">
                <a:solidFill>
                  <a:srgbClr val="125C60"/>
                </a:solidFill>
                <a:latin typeface="Proxima Nova" pitchFamily="34" charset="0"/>
                <a:ea typeface="Proxima Nova" pitchFamily="34" charset="-122"/>
                <a:cs typeface="Proxima Nova" pitchFamily="34" charset="-120"/>
              </a:rPr>
              <a:t>17%</a:t>
            </a:r>
            <a:pPr indent="0" marL="0">
              <a:buNone/>
            </a:pPr>
            <a:r>
              <a:rPr lang="en-US" sz="1250" dirty="0">
                <a:solidFill>
                  <a:srgbClr val="231F20"/>
                </a:solidFill>
                <a:latin typeface="Proxima Nova" pitchFamily="34" charset="0"/>
                <a:ea typeface="Proxima Nova" pitchFamily="34" charset="-122"/>
                <a:cs typeface="Proxima Nova" pitchFamily="34" charset="-120"/>
              </a:rPr>
              <a:t> ahead for 2027, with inflation about </a:t>
            </a:r>
            <a:pPr indent="0" marL="0">
              <a:buNone/>
            </a:pPr>
            <a:r>
              <a:rPr lang="en-US" sz="1250" b="1" dirty="0">
                <a:solidFill>
                  <a:srgbClr val="125C60"/>
                </a:solidFill>
                <a:latin typeface="Proxima Nova" pitchFamily="34" charset="0"/>
                <a:ea typeface="Proxima Nova" pitchFamily="34" charset="-122"/>
                <a:cs typeface="Proxima Nova" pitchFamily="34" charset="-120"/>
              </a:rPr>
              <a:t>3.2%</a:t>
            </a:r>
            <a:pPr indent="0" marL="0">
              <a:buNone/>
            </a:pPr>
            <a:r>
              <a:rPr lang="en-US" sz="1250" dirty="0">
                <a:solidFill>
                  <a:srgbClr val="231F20"/>
                </a:solidFill>
                <a:latin typeface="Proxima Nova" pitchFamily="34" charset="0"/>
                <a:ea typeface="Proxima Nova" pitchFamily="34" charset="-122"/>
                <a:cs typeface="Proxima Nova" pitchFamily="34" charset="-120"/>
              </a:rPr>
              <a:t> a year.</a:t>
            </a:r>
            <a:endParaRPr lang="en-US" sz="1250" dirty="0"/>
          </a:p>
        </p:txBody>
      </p:sp>
      <p:sp>
        <p:nvSpPr>
          <p:cNvPr id="10" name="Text 7"/>
          <p:cNvSpPr txBox="1"/>
          <p:nvPr/>
        </p:nvSpPr>
        <p:spPr>
          <a:xfrm>
            <a:off x="8001000" y="1481328"/>
            <a:ext cx="3642055"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BY THE NUMBERS</a:t>
            </a:r>
            <a:endParaRPr lang="en-US" sz="1000" dirty="0"/>
          </a:p>
        </p:txBody>
      </p:sp>
      <p:sp>
        <p:nvSpPr>
          <p:cNvPr id="11" name="news-stat-0"/>
          <p:cNvSpPr/>
          <p:nvPr/>
        </p:nvSpPr>
        <p:spPr>
          <a:xfrm>
            <a:off x="8001000" y="1755648"/>
            <a:ext cx="3642055" cy="1280160"/>
          </a:xfrm>
          <a:prstGeom prst="roundRect">
            <a:avLst>
              <a:gd name="adj" fmla="val 4286"/>
            </a:avLst>
          </a:prstGeom>
          <a:solidFill>
            <a:srgbClr val="FFFFFF"/>
          </a:solidFill>
          <a:ln w="12700">
            <a:solidFill>
              <a:srgbClr val="B4D9E3"/>
            </a:solidFill>
            <a:prstDash val="solid"/>
          </a:ln>
        </p:spPr>
      </p:sp>
      <p:sp>
        <p:nvSpPr>
          <p:cNvPr id="12" name="Text 9"/>
          <p:cNvSpPr txBox="1"/>
          <p:nvPr/>
        </p:nvSpPr>
        <p:spPr>
          <a:xfrm>
            <a:off x="8138160" y="18288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ANAHEIM MARKET, Q2 2026</a:t>
            </a:r>
            <a:endParaRPr lang="en-US" sz="850" dirty="0"/>
          </a:p>
        </p:txBody>
      </p:sp>
      <p:sp>
        <p:nvSpPr>
          <p:cNvPr id="13" name="Text 10"/>
          <p:cNvSpPr txBox="1"/>
          <p:nvPr/>
        </p:nvSpPr>
        <p:spPr>
          <a:xfrm>
            <a:off x="8138160" y="20299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 +11.4%</a:t>
            </a:r>
            <a:endParaRPr lang="en-US" sz="2200" dirty="0"/>
          </a:p>
        </p:txBody>
      </p:sp>
      <p:sp>
        <p:nvSpPr>
          <p:cNvPr id="14" name="Text 11"/>
          <p:cNvSpPr txBox="1"/>
          <p:nvPr/>
        </p:nvSpPr>
        <p:spPr>
          <a:xfrm>
            <a:off x="8138160" y="24505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Revenue per available room</a:t>
            </a:r>
            <a:endParaRPr lang="en-US" sz="1050" dirty="0"/>
          </a:p>
        </p:txBody>
      </p:sp>
      <p:sp>
        <p:nvSpPr>
          <p:cNvPr id="15" name="Text 12"/>
          <p:cNvSpPr txBox="1"/>
          <p:nvPr/>
        </p:nvSpPr>
        <p:spPr>
          <a:xfrm>
            <a:off x="8138160" y="27249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LARC (Sept. 2026)</a:t>
            </a:r>
            <a:endParaRPr lang="en-US" sz="750" dirty="0"/>
          </a:p>
        </p:txBody>
      </p:sp>
      <p:sp>
        <p:nvSpPr>
          <p:cNvPr id="16" name="news-stat-1"/>
          <p:cNvSpPr/>
          <p:nvPr/>
        </p:nvSpPr>
        <p:spPr>
          <a:xfrm>
            <a:off x="8001000" y="3127248"/>
            <a:ext cx="3642055" cy="1280160"/>
          </a:xfrm>
          <a:prstGeom prst="roundRect">
            <a:avLst>
              <a:gd name="adj" fmla="val 4286"/>
            </a:avLst>
          </a:prstGeom>
          <a:solidFill>
            <a:srgbClr val="FFFFFF"/>
          </a:solidFill>
          <a:ln w="12700">
            <a:solidFill>
              <a:srgbClr val="B4D9E3"/>
            </a:solidFill>
            <a:prstDash val="solid"/>
          </a:ln>
        </p:spPr>
      </p:sp>
      <p:sp>
        <p:nvSpPr>
          <p:cNvPr id="17" name="Text 14"/>
          <p:cNvSpPr txBox="1"/>
          <p:nvPr/>
        </p:nvSpPr>
        <p:spPr>
          <a:xfrm>
            <a:off x="8138160" y="32004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ANAHEIM CONVENTION CENTER</a:t>
            </a:r>
            <a:endParaRPr lang="en-US" sz="850" dirty="0"/>
          </a:p>
        </p:txBody>
      </p:sp>
      <p:sp>
        <p:nvSpPr>
          <p:cNvPr id="18" name="Text 15"/>
          <p:cNvSpPr txBox="1"/>
          <p:nvPr/>
        </p:nvSpPr>
        <p:spPr>
          <a:xfrm>
            <a:off x="8138160" y="34015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 +12%</a:t>
            </a:r>
            <a:endParaRPr lang="en-US" sz="2200" dirty="0"/>
          </a:p>
        </p:txBody>
      </p:sp>
      <p:sp>
        <p:nvSpPr>
          <p:cNvPr id="19" name="Text 16"/>
          <p:cNvSpPr txBox="1"/>
          <p:nvPr/>
        </p:nvSpPr>
        <p:spPr>
          <a:xfrm>
            <a:off x="8138160" y="38221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Room nights on the books</a:t>
            </a:r>
            <a:endParaRPr lang="en-US" sz="1050" dirty="0"/>
          </a:p>
        </p:txBody>
      </p:sp>
      <p:sp>
        <p:nvSpPr>
          <p:cNvPr id="20" name="Text 17"/>
          <p:cNvSpPr txBox="1"/>
          <p:nvPr/>
        </p:nvSpPr>
        <p:spPr>
          <a:xfrm>
            <a:off x="8138160" y="40965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LARC (Sept. 2026)</a:t>
            </a:r>
            <a:endParaRPr lang="en-US" sz="750" dirty="0"/>
          </a:p>
        </p:txBody>
      </p:sp>
      <p:sp>
        <p:nvSpPr>
          <p:cNvPr id="21" name="news-stat-2"/>
          <p:cNvSpPr/>
          <p:nvPr/>
        </p:nvSpPr>
        <p:spPr>
          <a:xfrm>
            <a:off x="8001000" y="4498848"/>
            <a:ext cx="3642055" cy="1280160"/>
          </a:xfrm>
          <a:prstGeom prst="roundRect">
            <a:avLst>
              <a:gd name="adj" fmla="val 4286"/>
            </a:avLst>
          </a:prstGeom>
          <a:solidFill>
            <a:srgbClr val="FFFFFF"/>
          </a:solidFill>
          <a:ln w="12700">
            <a:solidFill>
              <a:srgbClr val="B4D9E3"/>
            </a:solidFill>
            <a:prstDash val="solid"/>
          </a:ln>
        </p:spPr>
      </p:sp>
      <p:sp>
        <p:nvSpPr>
          <p:cNvPr id="22" name="Text 19"/>
          <p:cNvSpPr txBox="1"/>
          <p:nvPr/>
        </p:nvSpPr>
        <p:spPr>
          <a:xfrm>
            <a:off x="8138160" y="45720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ANAHEIM INFLATION</a:t>
            </a:r>
            <a:endParaRPr lang="en-US" sz="850" dirty="0"/>
          </a:p>
        </p:txBody>
      </p:sp>
      <p:sp>
        <p:nvSpPr>
          <p:cNvPr id="23" name="Text 20"/>
          <p:cNvSpPr txBox="1"/>
          <p:nvPr/>
        </p:nvSpPr>
        <p:spPr>
          <a:xfrm>
            <a:off x="8138160" y="47731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3.2% a year</a:t>
            </a:r>
            <a:endParaRPr lang="en-US" sz="2200" dirty="0"/>
          </a:p>
        </p:txBody>
      </p:sp>
      <p:sp>
        <p:nvSpPr>
          <p:cNvPr id="24" name="Text 21"/>
          <p:cNvSpPr txBox="1"/>
          <p:nvPr/>
        </p:nvSpPr>
        <p:spPr>
          <a:xfrm>
            <a:off x="8138160" y="51937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Consumer prices, 3-year average</a:t>
            </a:r>
            <a:endParaRPr lang="en-US" sz="1050" dirty="0"/>
          </a:p>
        </p:txBody>
      </p:sp>
      <p:sp>
        <p:nvSpPr>
          <p:cNvPr id="25" name="Text 22"/>
          <p:cNvSpPr txBox="1"/>
          <p:nvPr/>
        </p:nvSpPr>
        <p:spPr>
          <a:xfrm>
            <a:off x="8138160" y="54681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LARC/Moody's (Sept. 2026)</a:t>
            </a:r>
            <a:endParaRPr lang="en-US" sz="750" dirty="0"/>
          </a:p>
        </p:txBody>
      </p:sp>
      <p:sp>
        <p:nvSpPr>
          <p:cNvPr id="2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LARC Market Intelligence Reports (Jan.–Sept.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98</a:t>
            </a:fld>
            <a:endParaRPr lang="en-US"/>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The details: Market outlook</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who, what, when, where, why and how, each with its figure, source and date</a:t>
            </a:r>
            <a:endParaRPr lang="en-US" sz="1200" dirty="0"/>
          </a:p>
        </p:txBody>
      </p:sp>
      <p:sp>
        <p:nvSpPr>
          <p:cNvPr id="4" name="detail-card-0"/>
          <p:cNvSpPr/>
          <p:nvPr/>
        </p:nvSpPr>
        <p:spPr>
          <a:xfrm>
            <a:off x="548640" y="1417320"/>
            <a:ext cx="3588410" cy="2176272"/>
          </a:xfrm>
          <a:prstGeom prst="rect">
            <a:avLst/>
          </a:prstGeom>
          <a:solidFill>
            <a:srgbClr val="FFFFFF"/>
          </a:solidFill>
          <a:ln w="12700">
            <a:solidFill>
              <a:srgbClr val="B4D9E3"/>
            </a:solidFill>
            <a:prstDash val="solid"/>
          </a:ln>
        </p:spPr>
      </p:sp>
      <p:sp>
        <p:nvSpPr>
          <p:cNvPr id="5" name="Shape 3"/>
          <p:cNvSpPr/>
          <p:nvPr/>
        </p:nvSpPr>
        <p:spPr>
          <a:xfrm>
            <a:off x="548640" y="1417320"/>
            <a:ext cx="3588410" cy="64008"/>
          </a:xfrm>
          <a:prstGeom prst="rect">
            <a:avLst/>
          </a:prstGeom>
          <a:solidFill>
            <a:srgbClr val="43A3A3"/>
          </a:solidFill>
          <a:ln w="12700">
            <a:solidFill>
              <a:srgbClr val="43A3A3"/>
            </a:solidFill>
            <a:prstDash val="solid"/>
          </a:ln>
        </p:spPr>
      </p:sp>
      <p:sp>
        <p:nvSpPr>
          <p:cNvPr id="6" name="Text 4"/>
          <p:cNvSpPr txBox="1"/>
          <p:nvPr/>
        </p:nvSpPr>
        <p:spPr>
          <a:xfrm>
            <a:off x="685800"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WHO</a:t>
            </a:r>
            <a:endParaRPr lang="en-US" sz="900" dirty="0"/>
          </a:p>
        </p:txBody>
      </p:sp>
      <p:sp>
        <p:nvSpPr>
          <p:cNvPr id="7" name="Text 5"/>
          <p:cNvSpPr txBox="1"/>
          <p:nvPr/>
        </p:nvSpPr>
        <p:spPr>
          <a:xfrm>
            <a:off x="685800"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+12%</a:t>
            </a:r>
            <a:endParaRPr lang="en-US" sz="2200" dirty="0"/>
          </a:p>
        </p:txBody>
      </p:sp>
      <p:sp>
        <p:nvSpPr>
          <p:cNvPr id="8" name="Text 6"/>
          <p:cNvSpPr txBox="1"/>
          <p:nvPr/>
        </p:nvSpPr>
        <p:spPr>
          <a:xfrm>
            <a:off x="685800"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Convention Center room nights on the books, 2026</a:t>
            </a:r>
            <a:endParaRPr lang="en-US" sz="1000" dirty="0"/>
          </a:p>
        </p:txBody>
      </p:sp>
      <p:sp>
        <p:nvSpPr>
          <p:cNvPr id="9" name="Text 7"/>
          <p:cNvSpPr txBox="1"/>
          <p:nvPr/>
        </p:nvSpPr>
        <p:spPr>
          <a:xfrm>
            <a:off x="685800"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Anaheim's hotel market, Anaheim Convention Center groups, and developers near OC Vibe.</a:t>
            </a:r>
            <a:endParaRPr lang="en-US" sz="950" dirty="0"/>
          </a:p>
        </p:txBody>
      </p:sp>
      <p:sp>
        <p:nvSpPr>
          <p:cNvPr id="10" name="Text 8"/>
          <p:cNvSpPr txBox="1"/>
          <p:nvPr/>
        </p:nvSpPr>
        <p:spPr>
          <a:xfrm>
            <a:off x="685800"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LARC Market Intelligence Reports (Jan.–Sept. 2026)</a:t>
            </a:r>
            <a:endParaRPr lang="en-US" sz="700" dirty="0"/>
          </a:p>
        </p:txBody>
      </p:sp>
      <p:sp>
        <p:nvSpPr>
          <p:cNvPr id="11" name="detail-card-1"/>
          <p:cNvSpPr/>
          <p:nvPr/>
        </p:nvSpPr>
        <p:spPr>
          <a:xfrm>
            <a:off x="4301642" y="1417320"/>
            <a:ext cx="3588410" cy="2176272"/>
          </a:xfrm>
          <a:prstGeom prst="rect">
            <a:avLst/>
          </a:prstGeom>
          <a:solidFill>
            <a:srgbClr val="FFFFFF"/>
          </a:solidFill>
          <a:ln w="12700">
            <a:solidFill>
              <a:srgbClr val="B4D9E3"/>
            </a:solidFill>
            <a:prstDash val="solid"/>
          </a:ln>
        </p:spPr>
      </p:sp>
      <p:sp>
        <p:nvSpPr>
          <p:cNvPr id="12" name="Shape 10"/>
          <p:cNvSpPr/>
          <p:nvPr/>
        </p:nvSpPr>
        <p:spPr>
          <a:xfrm>
            <a:off x="4301642" y="1417320"/>
            <a:ext cx="3588410" cy="64008"/>
          </a:xfrm>
          <a:prstGeom prst="rect">
            <a:avLst/>
          </a:prstGeom>
          <a:solidFill>
            <a:srgbClr val="43A3A3"/>
          </a:solidFill>
          <a:ln w="12700">
            <a:solidFill>
              <a:srgbClr val="43A3A3"/>
            </a:solidFill>
            <a:prstDash val="solid"/>
          </a:ln>
        </p:spPr>
      </p:sp>
      <p:sp>
        <p:nvSpPr>
          <p:cNvPr id="13" name="Text 11"/>
          <p:cNvSpPr txBox="1"/>
          <p:nvPr/>
        </p:nvSpPr>
        <p:spPr>
          <a:xfrm>
            <a:off x="4438802"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WHAT</a:t>
            </a:r>
            <a:endParaRPr lang="en-US" sz="900" dirty="0"/>
          </a:p>
        </p:txBody>
      </p:sp>
      <p:sp>
        <p:nvSpPr>
          <p:cNvPr id="14" name="Text 12"/>
          <p:cNvSpPr txBox="1"/>
          <p:nvPr/>
        </p:nvSpPr>
        <p:spPr>
          <a:xfrm>
            <a:off x="4438802"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+11.4%</a:t>
            </a:r>
            <a:endParaRPr lang="en-US" sz="2200" dirty="0"/>
          </a:p>
        </p:txBody>
      </p:sp>
      <p:sp>
        <p:nvSpPr>
          <p:cNvPr id="15" name="Text 13"/>
          <p:cNvSpPr txBox="1"/>
          <p:nvPr/>
        </p:nvSpPr>
        <p:spPr>
          <a:xfrm>
            <a:off x="4438802"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Anaheim hotel revenue per room, Q2 2026 (U.S. +5.7%)</a:t>
            </a:r>
            <a:endParaRPr lang="en-US" sz="1000" dirty="0"/>
          </a:p>
        </p:txBody>
      </p:sp>
      <p:sp>
        <p:nvSpPr>
          <p:cNvPr id="16" name="Text 14"/>
          <p:cNvSpPr txBox="1"/>
          <p:nvPr/>
        </p:nvSpPr>
        <p:spPr>
          <a:xfrm>
            <a:off x="4438802"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Q2 2026 hotel revenue per room </a:t>
            </a:r>
            <a:pPr indent="0" marL="0">
              <a:buNone/>
            </a:pPr>
            <a:r>
              <a:rPr lang="en-US" sz="950" b="1" dirty="0">
                <a:solidFill>
                  <a:srgbClr val="125C60"/>
                </a:solidFill>
                <a:latin typeface="Proxima Nova" pitchFamily="34" charset="0"/>
                <a:ea typeface="Proxima Nova" pitchFamily="34" charset="-122"/>
                <a:cs typeface="Proxima Nova" pitchFamily="34" charset="-120"/>
              </a:rPr>
              <a:t>+11.4%</a:t>
            </a:r>
            <a:pPr indent="0" marL="0">
              <a:buNone/>
            </a:pPr>
            <a:r>
              <a:rPr lang="en-US" sz="950" dirty="0">
                <a:solidFill>
                  <a:srgbClr val="231F20"/>
                </a:solidFill>
                <a:latin typeface="Proxima Nova" pitchFamily="34" charset="0"/>
                <a:ea typeface="Proxima Nova" pitchFamily="34" charset="-122"/>
                <a:cs typeface="Proxima Nova" pitchFamily="34" charset="-120"/>
              </a:rPr>
              <a:t> (U.S. </a:t>
            </a:r>
            <a:pPr indent="0" marL="0">
              <a:buNone/>
            </a:pPr>
            <a:r>
              <a:rPr lang="en-US" sz="950" b="1" dirty="0">
                <a:solidFill>
                  <a:srgbClr val="125C60"/>
                </a:solidFill>
                <a:latin typeface="Proxima Nova" pitchFamily="34" charset="0"/>
                <a:ea typeface="Proxima Nova" pitchFamily="34" charset="-122"/>
                <a:cs typeface="Proxima Nova" pitchFamily="34" charset="-120"/>
              </a:rPr>
              <a:t>+5.7%</a:t>
            </a:r>
            <a:pPr indent="0" marL="0">
              <a:buNone/>
            </a:pPr>
            <a:r>
              <a:rPr lang="en-US" sz="950" dirty="0">
                <a:solidFill>
                  <a:srgbClr val="231F20"/>
                </a:solidFill>
                <a:latin typeface="Proxima Nova" pitchFamily="34" charset="0"/>
                <a:ea typeface="Proxima Nova" pitchFamily="34" charset="-122"/>
                <a:cs typeface="Proxima Nova" pitchFamily="34" charset="-120"/>
              </a:rPr>
              <a:t>); convention room nights pacing </a:t>
            </a:r>
            <a:pPr indent="0" marL="0">
              <a:buNone/>
            </a:pPr>
            <a:r>
              <a:rPr lang="en-US" sz="950" b="1" dirty="0">
                <a:solidFill>
                  <a:srgbClr val="125C60"/>
                </a:solidFill>
                <a:latin typeface="Proxima Nova" pitchFamily="34" charset="0"/>
                <a:ea typeface="Proxima Nova" pitchFamily="34" charset="-122"/>
                <a:cs typeface="Proxima Nova" pitchFamily="34" charset="-120"/>
              </a:rPr>
              <a:t>+12%</a:t>
            </a:r>
            <a:pPr indent="0" marL="0">
              <a:buNone/>
            </a:pPr>
            <a:r>
              <a:rPr lang="en-US" sz="950" dirty="0">
                <a:solidFill>
                  <a:srgbClr val="231F20"/>
                </a:solidFill>
                <a:latin typeface="Proxima Nova" pitchFamily="34" charset="0"/>
                <a:ea typeface="Proxima Nova" pitchFamily="34" charset="-122"/>
                <a:cs typeface="Proxima Nova" pitchFamily="34" charset="-120"/>
              </a:rPr>
              <a:t> (2026) and </a:t>
            </a:r>
            <a:pPr indent="0" marL="0">
              <a:buNone/>
            </a:pPr>
            <a:r>
              <a:rPr lang="en-US" sz="950" b="1" dirty="0">
                <a:solidFill>
                  <a:srgbClr val="125C60"/>
                </a:solidFill>
                <a:latin typeface="Proxima Nova" pitchFamily="34" charset="0"/>
                <a:ea typeface="Proxima Nova" pitchFamily="34" charset="-122"/>
                <a:cs typeface="Proxima Nova" pitchFamily="34" charset="-120"/>
              </a:rPr>
              <a:t>+17%</a:t>
            </a:r>
            <a:pPr indent="0" marL="0">
              <a:buNone/>
            </a:pPr>
            <a:r>
              <a:rPr lang="en-US" sz="950" dirty="0">
                <a:solidFill>
                  <a:srgbClr val="231F20"/>
                </a:solidFill>
                <a:latin typeface="Proxima Nova" pitchFamily="34" charset="0"/>
                <a:ea typeface="Proxima Nova" pitchFamily="34" charset="-122"/>
                <a:cs typeface="Proxima Nova" pitchFamily="34" charset="-120"/>
              </a:rPr>
              <a:t> (2027); inflation about </a:t>
            </a:r>
            <a:pPr indent="0" marL="0">
              <a:buNone/>
            </a:pPr>
            <a:r>
              <a:rPr lang="en-US" sz="950" b="1" dirty="0">
                <a:solidFill>
                  <a:srgbClr val="125C60"/>
                </a:solidFill>
                <a:latin typeface="Proxima Nova" pitchFamily="34" charset="0"/>
                <a:ea typeface="Proxima Nova" pitchFamily="34" charset="-122"/>
                <a:cs typeface="Proxima Nova" pitchFamily="34" charset="-120"/>
              </a:rPr>
              <a:t>3.2%</a:t>
            </a:r>
            <a:pPr indent="0" marL="0">
              <a:buNone/>
            </a:pPr>
            <a:r>
              <a:rPr lang="en-US" sz="950" dirty="0">
                <a:solidFill>
                  <a:srgbClr val="231F20"/>
                </a:solidFill>
                <a:latin typeface="Proxima Nova" pitchFamily="34" charset="0"/>
                <a:ea typeface="Proxima Nova" pitchFamily="34" charset="-122"/>
                <a:cs typeface="Proxima Nova" pitchFamily="34" charset="-120"/>
              </a:rPr>
              <a:t> a year.</a:t>
            </a:r>
            <a:endParaRPr lang="en-US" sz="950" dirty="0"/>
          </a:p>
        </p:txBody>
      </p:sp>
      <p:sp>
        <p:nvSpPr>
          <p:cNvPr id="17" name="Text 15"/>
          <p:cNvSpPr txBox="1"/>
          <p:nvPr/>
        </p:nvSpPr>
        <p:spPr>
          <a:xfrm>
            <a:off x="4438802"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LARC Market Intelligence Reports (Jan.–Sept. 2026)</a:t>
            </a:r>
            <a:endParaRPr lang="en-US" sz="700" dirty="0"/>
          </a:p>
        </p:txBody>
      </p:sp>
      <p:sp>
        <p:nvSpPr>
          <p:cNvPr id="18" name="detail-card-2"/>
          <p:cNvSpPr/>
          <p:nvPr/>
        </p:nvSpPr>
        <p:spPr>
          <a:xfrm>
            <a:off x="8054645" y="1417320"/>
            <a:ext cx="3588410" cy="2176272"/>
          </a:xfrm>
          <a:prstGeom prst="rect">
            <a:avLst/>
          </a:prstGeom>
          <a:solidFill>
            <a:srgbClr val="FFFFFF"/>
          </a:solidFill>
          <a:ln w="12700">
            <a:solidFill>
              <a:srgbClr val="B4D9E3"/>
            </a:solidFill>
            <a:prstDash val="solid"/>
          </a:ln>
        </p:spPr>
      </p:sp>
      <p:sp>
        <p:nvSpPr>
          <p:cNvPr id="19" name="Shape 17"/>
          <p:cNvSpPr/>
          <p:nvPr/>
        </p:nvSpPr>
        <p:spPr>
          <a:xfrm>
            <a:off x="8054645" y="1417320"/>
            <a:ext cx="3588410" cy="64008"/>
          </a:xfrm>
          <a:prstGeom prst="rect">
            <a:avLst/>
          </a:prstGeom>
          <a:solidFill>
            <a:srgbClr val="43A3A3"/>
          </a:solidFill>
          <a:ln w="12700">
            <a:solidFill>
              <a:srgbClr val="43A3A3"/>
            </a:solidFill>
            <a:prstDash val="solid"/>
          </a:ln>
        </p:spPr>
      </p:sp>
      <p:sp>
        <p:nvSpPr>
          <p:cNvPr id="20" name="Text 18"/>
          <p:cNvSpPr txBox="1"/>
          <p:nvPr/>
        </p:nvSpPr>
        <p:spPr>
          <a:xfrm>
            <a:off x="8191805"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WHEN</a:t>
            </a:r>
            <a:endParaRPr lang="en-US" sz="900" dirty="0"/>
          </a:p>
        </p:txBody>
      </p:sp>
      <p:sp>
        <p:nvSpPr>
          <p:cNvPr id="21" name="Text 19"/>
          <p:cNvSpPr txBox="1"/>
          <p:nvPr/>
        </p:nvSpPr>
        <p:spPr>
          <a:xfrm>
            <a:off x="8191805"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Jan.–Sept. 2026</a:t>
            </a:r>
            <a:endParaRPr lang="en-US" sz="2200" dirty="0"/>
          </a:p>
        </p:txBody>
      </p:sp>
      <p:sp>
        <p:nvSpPr>
          <p:cNvPr id="22" name="Text 20"/>
          <p:cNvSpPr txBox="1"/>
          <p:nvPr/>
        </p:nvSpPr>
        <p:spPr>
          <a:xfrm>
            <a:off x="8191805"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LARC report editions; forecasts to 2030</a:t>
            </a:r>
            <a:endParaRPr lang="en-US" sz="1000" dirty="0"/>
          </a:p>
        </p:txBody>
      </p:sp>
      <p:sp>
        <p:nvSpPr>
          <p:cNvPr id="23" name="Text 21"/>
          <p:cNvSpPr txBox="1"/>
          <p:nvPr/>
        </p:nvSpPr>
        <p:spPr>
          <a:xfrm>
            <a:off x="8191805"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LARC reports January–September 2026; forecasts to 2030.</a:t>
            </a:r>
            <a:endParaRPr lang="en-US" sz="950" dirty="0"/>
          </a:p>
        </p:txBody>
      </p:sp>
      <p:sp>
        <p:nvSpPr>
          <p:cNvPr id="24" name="Text 22"/>
          <p:cNvSpPr txBox="1"/>
          <p:nvPr/>
        </p:nvSpPr>
        <p:spPr>
          <a:xfrm>
            <a:off x="8191805"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LARC Market Intelligence Reports (Jan.–Sept. 2026)</a:t>
            </a:r>
            <a:endParaRPr lang="en-US" sz="700" dirty="0"/>
          </a:p>
        </p:txBody>
      </p:sp>
      <p:sp>
        <p:nvSpPr>
          <p:cNvPr id="25" name="detail-card-3"/>
          <p:cNvSpPr/>
          <p:nvPr/>
        </p:nvSpPr>
        <p:spPr>
          <a:xfrm>
            <a:off x="548640" y="3685032"/>
            <a:ext cx="3588410" cy="2176272"/>
          </a:xfrm>
          <a:prstGeom prst="rect">
            <a:avLst/>
          </a:prstGeom>
          <a:solidFill>
            <a:srgbClr val="FFFFFF"/>
          </a:solidFill>
          <a:ln w="12700">
            <a:solidFill>
              <a:srgbClr val="B4D9E3"/>
            </a:solidFill>
            <a:prstDash val="solid"/>
          </a:ln>
        </p:spPr>
      </p:sp>
      <p:sp>
        <p:nvSpPr>
          <p:cNvPr id="26" name="Shape 24"/>
          <p:cNvSpPr/>
          <p:nvPr/>
        </p:nvSpPr>
        <p:spPr>
          <a:xfrm>
            <a:off x="548640" y="3685032"/>
            <a:ext cx="3588410" cy="64008"/>
          </a:xfrm>
          <a:prstGeom prst="rect">
            <a:avLst/>
          </a:prstGeom>
          <a:solidFill>
            <a:srgbClr val="43A3A3"/>
          </a:solidFill>
          <a:ln w="12700">
            <a:solidFill>
              <a:srgbClr val="43A3A3"/>
            </a:solidFill>
            <a:prstDash val="solid"/>
          </a:ln>
        </p:spPr>
      </p:sp>
      <p:sp>
        <p:nvSpPr>
          <p:cNvPr id="27" name="Text 25"/>
          <p:cNvSpPr txBox="1"/>
          <p:nvPr/>
        </p:nvSpPr>
        <p:spPr>
          <a:xfrm>
            <a:off x="685800"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WHERE</a:t>
            </a:r>
            <a:endParaRPr lang="en-US" sz="900" dirty="0"/>
          </a:p>
        </p:txBody>
      </p:sp>
      <p:sp>
        <p:nvSpPr>
          <p:cNvPr id="28" name="Text 26"/>
          <p:cNvSpPr txBox="1"/>
          <p:nvPr/>
        </p:nvSpPr>
        <p:spPr>
          <a:xfrm>
            <a:off x="685800"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Anaheim</a:t>
            </a:r>
            <a:endParaRPr lang="en-US" sz="2200" dirty="0"/>
          </a:p>
        </p:txBody>
      </p:sp>
      <p:sp>
        <p:nvSpPr>
          <p:cNvPr id="29" name="Text 27"/>
          <p:cNvSpPr txBox="1"/>
          <p:nvPr/>
        </p:nvSpPr>
        <p:spPr>
          <a:xfrm>
            <a:off x="685800"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hotel market, CoStar basis</a:t>
            </a:r>
            <a:endParaRPr lang="en-US" sz="1000" dirty="0"/>
          </a:p>
        </p:txBody>
      </p:sp>
      <p:sp>
        <p:nvSpPr>
          <p:cNvPr id="30" name="Text 28"/>
          <p:cNvSpPr txBox="1"/>
          <p:nvPr/>
        </p:nvSpPr>
        <p:spPr>
          <a:xfrm>
            <a:off x="685800"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Anaheim hotel market (CoStar basis), OC Vibe and nearby developments.</a:t>
            </a:r>
            <a:endParaRPr lang="en-US" sz="950" dirty="0"/>
          </a:p>
        </p:txBody>
      </p:sp>
      <p:sp>
        <p:nvSpPr>
          <p:cNvPr id="31" name="Text 29"/>
          <p:cNvSpPr txBox="1"/>
          <p:nvPr/>
        </p:nvSpPr>
        <p:spPr>
          <a:xfrm>
            <a:off x="685800"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LARC Market Intelligence Reports (Jan.–Sept. 2026)</a:t>
            </a:r>
            <a:endParaRPr lang="en-US" sz="700" dirty="0"/>
          </a:p>
        </p:txBody>
      </p:sp>
      <p:sp>
        <p:nvSpPr>
          <p:cNvPr id="32" name="detail-card-4"/>
          <p:cNvSpPr/>
          <p:nvPr/>
        </p:nvSpPr>
        <p:spPr>
          <a:xfrm>
            <a:off x="4301642" y="3685032"/>
            <a:ext cx="3588410" cy="2176272"/>
          </a:xfrm>
          <a:prstGeom prst="rect">
            <a:avLst/>
          </a:prstGeom>
          <a:solidFill>
            <a:srgbClr val="FFFFFF"/>
          </a:solidFill>
          <a:ln w="12700">
            <a:solidFill>
              <a:srgbClr val="B4D9E3"/>
            </a:solidFill>
            <a:prstDash val="solid"/>
          </a:ln>
        </p:spPr>
      </p:sp>
      <p:sp>
        <p:nvSpPr>
          <p:cNvPr id="33" name="Shape 31"/>
          <p:cNvSpPr/>
          <p:nvPr/>
        </p:nvSpPr>
        <p:spPr>
          <a:xfrm>
            <a:off x="4301642" y="3685032"/>
            <a:ext cx="3588410" cy="64008"/>
          </a:xfrm>
          <a:prstGeom prst="rect">
            <a:avLst/>
          </a:prstGeom>
          <a:solidFill>
            <a:srgbClr val="43A3A3"/>
          </a:solidFill>
          <a:ln w="12700">
            <a:solidFill>
              <a:srgbClr val="43A3A3"/>
            </a:solidFill>
            <a:prstDash val="solid"/>
          </a:ln>
        </p:spPr>
      </p:sp>
      <p:sp>
        <p:nvSpPr>
          <p:cNvPr id="34" name="Text 32"/>
          <p:cNvSpPr txBox="1"/>
          <p:nvPr/>
        </p:nvSpPr>
        <p:spPr>
          <a:xfrm>
            <a:off x="4438802"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WHY</a:t>
            </a:r>
            <a:endParaRPr lang="en-US" sz="900" dirty="0"/>
          </a:p>
        </p:txBody>
      </p:sp>
      <p:sp>
        <p:nvSpPr>
          <p:cNvPr id="35" name="Text 33"/>
          <p:cNvSpPr txBox="1"/>
          <p:nvPr/>
        </p:nvSpPr>
        <p:spPr>
          <a:xfrm>
            <a:off x="4438802"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+17%</a:t>
            </a:r>
            <a:endParaRPr lang="en-US" sz="2200" dirty="0"/>
          </a:p>
        </p:txBody>
      </p:sp>
      <p:sp>
        <p:nvSpPr>
          <p:cNvPr id="36" name="Text 34"/>
          <p:cNvSpPr txBox="1"/>
          <p:nvPr/>
        </p:nvSpPr>
        <p:spPr>
          <a:xfrm>
            <a:off x="4438802"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Convention Center room nights on the books, 2027</a:t>
            </a:r>
            <a:endParaRPr lang="en-US" sz="1000" dirty="0"/>
          </a:p>
        </p:txBody>
      </p:sp>
      <p:sp>
        <p:nvSpPr>
          <p:cNvPr id="37" name="Text 35"/>
          <p:cNvSpPr txBox="1"/>
          <p:nvPr/>
        </p:nvSpPr>
        <p:spPr>
          <a:xfrm>
            <a:off x="4438802"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The market OC Vibe opens into sets its pricing power and costs.</a:t>
            </a:r>
            <a:endParaRPr lang="en-US" sz="950" dirty="0"/>
          </a:p>
        </p:txBody>
      </p:sp>
      <p:sp>
        <p:nvSpPr>
          <p:cNvPr id="38" name="Text 36"/>
          <p:cNvSpPr txBox="1"/>
          <p:nvPr/>
        </p:nvSpPr>
        <p:spPr>
          <a:xfrm>
            <a:off x="4438802"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LARC Market Intelligence Reports (Jan.–Sept. 2026)</a:t>
            </a:r>
            <a:endParaRPr lang="en-US" sz="700" dirty="0"/>
          </a:p>
        </p:txBody>
      </p:sp>
      <p:sp>
        <p:nvSpPr>
          <p:cNvPr id="39" name="detail-card-5"/>
          <p:cNvSpPr/>
          <p:nvPr/>
        </p:nvSpPr>
        <p:spPr>
          <a:xfrm>
            <a:off x="8054645" y="3685032"/>
            <a:ext cx="3588410" cy="2176272"/>
          </a:xfrm>
          <a:prstGeom prst="rect">
            <a:avLst/>
          </a:prstGeom>
          <a:solidFill>
            <a:srgbClr val="FFFFFF"/>
          </a:solidFill>
          <a:ln w="12700">
            <a:solidFill>
              <a:srgbClr val="B4D9E3"/>
            </a:solidFill>
            <a:prstDash val="solid"/>
          </a:ln>
        </p:spPr>
      </p:sp>
      <p:sp>
        <p:nvSpPr>
          <p:cNvPr id="40" name="Shape 38"/>
          <p:cNvSpPr/>
          <p:nvPr/>
        </p:nvSpPr>
        <p:spPr>
          <a:xfrm>
            <a:off x="8054645" y="3685032"/>
            <a:ext cx="3588410" cy="64008"/>
          </a:xfrm>
          <a:prstGeom prst="rect">
            <a:avLst/>
          </a:prstGeom>
          <a:solidFill>
            <a:srgbClr val="43A3A3"/>
          </a:solidFill>
          <a:ln w="12700">
            <a:solidFill>
              <a:srgbClr val="43A3A3"/>
            </a:solidFill>
            <a:prstDash val="solid"/>
          </a:ln>
        </p:spPr>
      </p:sp>
      <p:sp>
        <p:nvSpPr>
          <p:cNvPr id="41" name="Text 39"/>
          <p:cNvSpPr txBox="1"/>
          <p:nvPr/>
        </p:nvSpPr>
        <p:spPr>
          <a:xfrm>
            <a:off x="8191805"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HOW</a:t>
            </a:r>
            <a:endParaRPr lang="en-US" sz="900" dirty="0"/>
          </a:p>
        </p:txBody>
      </p:sp>
      <p:sp>
        <p:nvSpPr>
          <p:cNvPr id="42" name="Text 40"/>
          <p:cNvSpPr txBox="1"/>
          <p:nvPr/>
        </p:nvSpPr>
        <p:spPr>
          <a:xfrm>
            <a:off x="8191805"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3.2%</a:t>
            </a:r>
            <a:endParaRPr lang="en-US" sz="2200" dirty="0"/>
          </a:p>
        </p:txBody>
      </p:sp>
      <p:sp>
        <p:nvSpPr>
          <p:cNvPr id="43" name="Text 41"/>
          <p:cNvSpPr txBox="1"/>
          <p:nvPr/>
        </p:nvSpPr>
        <p:spPr>
          <a:xfrm>
            <a:off x="8191805"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inflation a year (Moody's Analytics via LARC)</a:t>
            </a:r>
            <a:endParaRPr lang="en-US" sz="1000" dirty="0"/>
          </a:p>
        </p:txBody>
      </p:sp>
      <p:sp>
        <p:nvSpPr>
          <p:cNvPr id="44" name="Text 42"/>
          <p:cNvSpPr txBox="1"/>
          <p:nvPr/>
        </p:nvSpPr>
        <p:spPr>
          <a:xfrm>
            <a:off x="8191805"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LARC analysis of CoStar data, convention pace and Moody's Analytics economic forecasts.</a:t>
            </a:r>
            <a:endParaRPr lang="en-US" sz="950" dirty="0"/>
          </a:p>
        </p:txBody>
      </p:sp>
      <p:sp>
        <p:nvSpPr>
          <p:cNvPr id="45" name="Text 43"/>
          <p:cNvSpPr txBox="1"/>
          <p:nvPr/>
        </p:nvSpPr>
        <p:spPr>
          <a:xfrm>
            <a:off x="8191805"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LARC Market Intelligence Reports (Jan.–Sept. 2026)</a:t>
            </a:r>
            <a:endParaRPr lang="en-US" sz="700" dirty="0"/>
          </a:p>
        </p:txBody>
      </p:sp>
      <p:sp>
        <p:nvSpPr>
          <p:cNvPr id="4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LARC Market Intelligence Reports (Jan.–Sept.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99</a:t>
            </a:fld>
            <a:endParaRPr lang="en-US"/>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At a glance: Market outlook</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data infographic · every figure from this section, with its source and date</a:t>
            </a:r>
            <a:endParaRPr lang="en-US" sz="1200" dirty="0"/>
          </a:p>
        </p:txBody>
      </p:sp>
      <p:sp>
        <p:nvSpPr>
          <p:cNvPr id="4" name="Text 2"/>
          <p:cNvSpPr txBox="1"/>
          <p:nvPr/>
        </p:nvSpPr>
        <p:spPr>
          <a:xfrm>
            <a:off x="548640" y="1417320"/>
            <a:ext cx="11094415" cy="329184"/>
          </a:xfrm>
          <a:prstGeom prst="rect">
            <a:avLst/>
          </a:prstGeom>
          <a:noFill/>
          <a:ln/>
        </p:spPr>
        <p:txBody>
          <a:bodyPr wrap="square" lIns="0" tIns="0" rIns="0" bIns="0" rtlCol="0" anchor="ctr">
            <a:normAutofit/>
          </a:bodyPr>
          <a:lstStyle/>
          <a:p>
            <a:pPr indent="0" marL="0">
              <a:buNone/>
            </a:pPr>
            <a:r>
              <a:rPr lang="en-US" sz="1500" b="1" i="1" dirty="0">
                <a:solidFill>
                  <a:srgbClr val="125C60"/>
                </a:solidFill>
                <a:latin typeface="Proxima Nova" pitchFamily="34" charset="0"/>
                <a:ea typeface="Proxima Nova" pitchFamily="34" charset="-122"/>
                <a:cs typeface="Proxima Nova" pitchFamily="34" charset="-120"/>
              </a:rPr>
              <a:t>Anaheim vs. the U.S. and the year ahead</a:t>
            </a:r>
            <a:endParaRPr lang="en-US" sz="1500" dirty="0"/>
          </a:p>
        </p:txBody>
      </p:sp>
      <p:sp>
        <p:nvSpPr>
          <p:cNvPr id="5" name="Text 3"/>
          <p:cNvSpPr txBox="1"/>
          <p:nvPr/>
        </p:nvSpPr>
        <p:spPr>
          <a:xfrm>
            <a:off x="548640" y="1746504"/>
            <a:ext cx="11094415" cy="237744"/>
          </a:xfrm>
          <a:prstGeom prst="rect">
            <a:avLst/>
          </a:prstGeom>
          <a:noFill/>
          <a:ln/>
        </p:spPr>
        <p:txBody>
          <a:bodyPr wrap="square" lIns="0" tIns="0" rIns="0" bIns="0" rtlCol="0" anchor="ctr">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LARC Market Intelligence Reports, Jan.–Sept. 2026</a:t>
            </a:r>
            <a:endParaRPr lang="en-US" sz="950" dirty="0"/>
          </a:p>
        </p:txBody>
      </p:sp>
      <p:sp>
        <p:nvSpPr>
          <p:cNvPr id="6" name="Text 4"/>
          <p:cNvSpPr txBox="1"/>
          <p:nvPr/>
        </p:nvSpPr>
        <p:spPr>
          <a:xfrm>
            <a:off x="548640" y="2075688"/>
            <a:ext cx="2743200" cy="822960"/>
          </a:xfrm>
          <a:prstGeom prst="rect">
            <a:avLst/>
          </a:prstGeom>
          <a:noFill/>
          <a:ln/>
        </p:spPr>
        <p:txBody>
          <a:bodyPr wrap="square" lIns="0" tIns="0" rIns="0" bIns="0" rtlCol="0" anchor="ctr"/>
          <a:lstStyle/>
          <a:p>
            <a:pPr indent="0" marL="0">
              <a:buNone/>
            </a:pPr>
            <a:r>
              <a:rPr lang="en-US" sz="1200" b="1" dirty="0">
                <a:solidFill>
                  <a:srgbClr val="231F20"/>
                </a:solidFill>
                <a:latin typeface="Proxima Nova" pitchFamily="34" charset="0"/>
                <a:ea typeface="Proxima Nova" pitchFamily="34" charset="-122"/>
                <a:cs typeface="Proxima Nova" pitchFamily="34" charset="-120"/>
              </a:rPr>
              <a:t>Hotel revenue per room, Q2 2026</a:t>
            </a:r>
            <a:endParaRPr lang="en-US" sz="1200" dirty="0"/>
          </a:p>
        </p:txBody>
      </p:sp>
      <p:sp>
        <p:nvSpPr>
          <p:cNvPr id="7" name="Shape 5"/>
          <p:cNvSpPr/>
          <p:nvPr/>
        </p:nvSpPr>
        <p:spPr>
          <a:xfrm>
            <a:off x="3474720" y="2121408"/>
            <a:ext cx="8168335" cy="329184"/>
          </a:xfrm>
          <a:prstGeom prst="rect">
            <a:avLst/>
          </a:prstGeom>
          <a:solidFill>
            <a:srgbClr val="F9F9F2"/>
          </a:solidFill>
          <a:ln w="12700">
            <a:solidFill>
              <a:srgbClr val="F9F9F2"/>
            </a:solidFill>
            <a:prstDash val="solid"/>
          </a:ln>
        </p:spPr>
      </p:sp>
      <p:sp>
        <p:nvSpPr>
          <p:cNvPr id="8" name="Shape 6"/>
          <p:cNvSpPr/>
          <p:nvPr/>
        </p:nvSpPr>
        <p:spPr>
          <a:xfrm>
            <a:off x="3474720" y="2121408"/>
            <a:ext cx="5477589" cy="329184"/>
          </a:xfrm>
          <a:prstGeom prst="rect">
            <a:avLst/>
          </a:prstGeom>
          <a:solidFill>
            <a:srgbClr val="43A3A3"/>
          </a:solidFill>
          <a:ln w="12700">
            <a:solidFill>
              <a:srgbClr val="43A3A3"/>
            </a:solidFill>
            <a:prstDash val="solid"/>
          </a:ln>
        </p:spPr>
      </p:sp>
      <p:sp>
        <p:nvSpPr>
          <p:cNvPr id="9" name="Text 7"/>
          <p:cNvSpPr txBox="1"/>
          <p:nvPr/>
        </p:nvSpPr>
        <p:spPr>
          <a:xfrm>
            <a:off x="3566160" y="2121408"/>
            <a:ext cx="7985455" cy="329184"/>
          </a:xfrm>
          <a:prstGeom prst="rect">
            <a:avLst/>
          </a:prstGeom>
          <a:noFill/>
          <a:ln/>
        </p:spPr>
        <p:txBody>
          <a:bodyPr wrap="square" lIns="0" tIns="0" rIns="0" bIns="0" rtlCol="0" anchor="ctr"/>
          <a:lstStyle/>
          <a:p>
            <a:pPr indent="0" marL="0">
              <a:buNone/>
            </a:pPr>
            <a:r>
              <a:rPr lang="en-US" sz="1050" dirty="0">
                <a:solidFill>
                  <a:srgbClr val="231F20"/>
                </a:solidFill>
                <a:latin typeface="Proxima Nova" pitchFamily="34" charset="0"/>
                <a:ea typeface="Proxima Nova" pitchFamily="34" charset="-122"/>
                <a:cs typeface="Proxima Nova" pitchFamily="34" charset="-120"/>
              </a:rPr>
              <a:t>Anaheim </a:t>
            </a:r>
            <a:pPr indent="0" marL="0">
              <a:buNone/>
            </a:pPr>
            <a:r>
              <a:rPr lang="en-US" sz="1100" b="1" dirty="0">
                <a:solidFill>
                  <a:srgbClr val="231F20"/>
                </a:solidFill>
                <a:latin typeface="Proxima Nova" pitchFamily="34" charset="0"/>
                <a:ea typeface="Proxima Nova" pitchFamily="34" charset="-122"/>
                <a:cs typeface="Proxima Nova" pitchFamily="34" charset="-120"/>
              </a:rPr>
              <a:t>+11.4%</a:t>
            </a:r>
            <a:endParaRPr lang="en-US" sz="1050" dirty="0"/>
          </a:p>
        </p:txBody>
      </p:sp>
      <p:sp>
        <p:nvSpPr>
          <p:cNvPr id="10" name="Shape 8"/>
          <p:cNvSpPr/>
          <p:nvPr/>
        </p:nvSpPr>
        <p:spPr>
          <a:xfrm>
            <a:off x="3474720" y="2505456"/>
            <a:ext cx="8168335" cy="329184"/>
          </a:xfrm>
          <a:prstGeom prst="rect">
            <a:avLst/>
          </a:prstGeom>
          <a:solidFill>
            <a:srgbClr val="F9F9F2"/>
          </a:solidFill>
          <a:ln w="12700">
            <a:solidFill>
              <a:srgbClr val="F9F9F2"/>
            </a:solidFill>
            <a:prstDash val="solid"/>
          </a:ln>
        </p:spPr>
      </p:sp>
      <p:sp>
        <p:nvSpPr>
          <p:cNvPr id="11" name="Shape 9"/>
          <p:cNvSpPr/>
          <p:nvPr/>
        </p:nvSpPr>
        <p:spPr>
          <a:xfrm>
            <a:off x="3474720" y="2505456"/>
            <a:ext cx="2738795" cy="329184"/>
          </a:xfrm>
          <a:prstGeom prst="rect">
            <a:avLst/>
          </a:prstGeom>
          <a:solidFill>
            <a:srgbClr val="B4D9E3"/>
          </a:solidFill>
          <a:ln w="12700">
            <a:solidFill>
              <a:srgbClr val="B4D9E3"/>
            </a:solidFill>
            <a:prstDash val="solid"/>
          </a:ln>
        </p:spPr>
      </p:sp>
      <p:sp>
        <p:nvSpPr>
          <p:cNvPr id="12" name="Text 10"/>
          <p:cNvSpPr txBox="1"/>
          <p:nvPr/>
        </p:nvSpPr>
        <p:spPr>
          <a:xfrm>
            <a:off x="3566160" y="2505456"/>
            <a:ext cx="7985455" cy="329184"/>
          </a:xfrm>
          <a:prstGeom prst="rect">
            <a:avLst/>
          </a:prstGeom>
          <a:noFill/>
          <a:ln/>
        </p:spPr>
        <p:txBody>
          <a:bodyPr wrap="square" lIns="0" tIns="0" rIns="0" bIns="0" rtlCol="0" anchor="ctr"/>
          <a:lstStyle/>
          <a:p>
            <a:pPr indent="0" marL="0">
              <a:buNone/>
            </a:pPr>
            <a:r>
              <a:rPr lang="en-US" sz="1050" dirty="0">
                <a:solidFill>
                  <a:srgbClr val="231F20"/>
                </a:solidFill>
                <a:latin typeface="Proxima Nova" pitchFamily="34" charset="0"/>
                <a:ea typeface="Proxima Nova" pitchFamily="34" charset="-122"/>
                <a:cs typeface="Proxima Nova" pitchFamily="34" charset="-120"/>
              </a:rPr>
              <a:t>U.S. </a:t>
            </a:r>
            <a:pPr indent="0" marL="0">
              <a:buNone/>
            </a:pPr>
            <a:r>
              <a:rPr lang="en-US" sz="1100" b="1" dirty="0">
                <a:solidFill>
                  <a:srgbClr val="231F20"/>
                </a:solidFill>
                <a:latin typeface="Proxima Nova" pitchFamily="34" charset="0"/>
                <a:ea typeface="Proxima Nova" pitchFamily="34" charset="-122"/>
                <a:cs typeface="Proxima Nova" pitchFamily="34" charset="-120"/>
              </a:rPr>
              <a:t>+5.7%</a:t>
            </a:r>
            <a:endParaRPr lang="en-US" sz="1050" dirty="0"/>
          </a:p>
        </p:txBody>
      </p:sp>
      <p:sp>
        <p:nvSpPr>
          <p:cNvPr id="13" name="Text 11"/>
          <p:cNvSpPr txBox="1"/>
          <p:nvPr/>
        </p:nvSpPr>
        <p:spPr>
          <a:xfrm>
            <a:off x="548640" y="3127248"/>
            <a:ext cx="2743200" cy="822960"/>
          </a:xfrm>
          <a:prstGeom prst="rect">
            <a:avLst/>
          </a:prstGeom>
          <a:noFill/>
          <a:ln/>
        </p:spPr>
        <p:txBody>
          <a:bodyPr wrap="square" lIns="0" tIns="0" rIns="0" bIns="0" rtlCol="0" anchor="ctr"/>
          <a:lstStyle/>
          <a:p>
            <a:pPr indent="0" marL="0">
              <a:buNone/>
            </a:pPr>
            <a:r>
              <a:rPr lang="en-US" sz="1200" b="1" dirty="0">
                <a:solidFill>
                  <a:srgbClr val="231F20"/>
                </a:solidFill>
                <a:latin typeface="Proxima Nova" pitchFamily="34" charset="0"/>
                <a:ea typeface="Proxima Nova" pitchFamily="34" charset="-122"/>
                <a:cs typeface="Proxima Nova" pitchFamily="34" charset="-120"/>
              </a:rPr>
              <a:t>Convention room nights on the books</a:t>
            </a:r>
            <a:endParaRPr lang="en-US" sz="1200" dirty="0"/>
          </a:p>
        </p:txBody>
      </p:sp>
      <p:sp>
        <p:nvSpPr>
          <p:cNvPr id="14" name="Shape 12"/>
          <p:cNvSpPr/>
          <p:nvPr/>
        </p:nvSpPr>
        <p:spPr>
          <a:xfrm>
            <a:off x="3474720" y="3172968"/>
            <a:ext cx="8168335" cy="329184"/>
          </a:xfrm>
          <a:prstGeom prst="rect">
            <a:avLst/>
          </a:prstGeom>
          <a:solidFill>
            <a:srgbClr val="F9F9F2"/>
          </a:solidFill>
          <a:ln w="12700">
            <a:solidFill>
              <a:srgbClr val="F9F9F2"/>
            </a:solidFill>
            <a:prstDash val="solid"/>
          </a:ln>
        </p:spPr>
      </p:sp>
      <p:sp>
        <p:nvSpPr>
          <p:cNvPr id="15" name="Shape 13"/>
          <p:cNvSpPr/>
          <p:nvPr/>
        </p:nvSpPr>
        <p:spPr>
          <a:xfrm>
            <a:off x="3474720" y="3172968"/>
            <a:ext cx="8168335" cy="329184"/>
          </a:xfrm>
          <a:prstGeom prst="rect">
            <a:avLst/>
          </a:prstGeom>
          <a:solidFill>
            <a:srgbClr val="43A3A3"/>
          </a:solidFill>
          <a:ln w="12700">
            <a:solidFill>
              <a:srgbClr val="43A3A3"/>
            </a:solidFill>
            <a:prstDash val="solid"/>
          </a:ln>
        </p:spPr>
      </p:sp>
      <p:sp>
        <p:nvSpPr>
          <p:cNvPr id="16" name="Text 14"/>
          <p:cNvSpPr txBox="1"/>
          <p:nvPr/>
        </p:nvSpPr>
        <p:spPr>
          <a:xfrm>
            <a:off x="3566160" y="3172968"/>
            <a:ext cx="7985455" cy="329184"/>
          </a:xfrm>
          <a:prstGeom prst="rect">
            <a:avLst/>
          </a:prstGeom>
          <a:noFill/>
          <a:ln/>
        </p:spPr>
        <p:txBody>
          <a:bodyPr wrap="square" lIns="0" tIns="0" rIns="0" bIns="0" rtlCol="0" anchor="ctr"/>
          <a:lstStyle/>
          <a:p>
            <a:pPr indent="0" marL="0">
              <a:buNone/>
            </a:pPr>
            <a:r>
              <a:rPr lang="en-US" sz="1050" dirty="0">
                <a:solidFill>
                  <a:srgbClr val="231F20"/>
                </a:solidFill>
                <a:latin typeface="Proxima Nova" pitchFamily="34" charset="0"/>
                <a:ea typeface="Proxima Nova" pitchFamily="34" charset="-122"/>
                <a:cs typeface="Proxima Nova" pitchFamily="34" charset="-120"/>
              </a:rPr>
              <a:t>2027 events </a:t>
            </a:r>
            <a:pPr indent="0" marL="0">
              <a:buNone/>
            </a:pPr>
            <a:r>
              <a:rPr lang="en-US" sz="1100" b="1" dirty="0">
                <a:solidFill>
                  <a:srgbClr val="231F20"/>
                </a:solidFill>
                <a:latin typeface="Proxima Nova" pitchFamily="34" charset="0"/>
                <a:ea typeface="Proxima Nova" pitchFamily="34" charset="-122"/>
                <a:cs typeface="Proxima Nova" pitchFamily="34" charset="-120"/>
              </a:rPr>
              <a:t>+17%</a:t>
            </a:r>
            <a:endParaRPr lang="en-US" sz="1050" dirty="0"/>
          </a:p>
        </p:txBody>
      </p:sp>
      <p:sp>
        <p:nvSpPr>
          <p:cNvPr id="17" name="Shape 15"/>
          <p:cNvSpPr/>
          <p:nvPr/>
        </p:nvSpPr>
        <p:spPr>
          <a:xfrm>
            <a:off x="3474720" y="3557016"/>
            <a:ext cx="8168335" cy="329184"/>
          </a:xfrm>
          <a:prstGeom prst="rect">
            <a:avLst/>
          </a:prstGeom>
          <a:solidFill>
            <a:srgbClr val="F9F9F2"/>
          </a:solidFill>
          <a:ln w="12700">
            <a:solidFill>
              <a:srgbClr val="F9F9F2"/>
            </a:solidFill>
            <a:prstDash val="solid"/>
          </a:ln>
        </p:spPr>
      </p:sp>
      <p:sp>
        <p:nvSpPr>
          <p:cNvPr id="18" name="Shape 16"/>
          <p:cNvSpPr/>
          <p:nvPr/>
        </p:nvSpPr>
        <p:spPr>
          <a:xfrm>
            <a:off x="3474720" y="3557016"/>
            <a:ext cx="5765884" cy="329184"/>
          </a:xfrm>
          <a:prstGeom prst="rect">
            <a:avLst/>
          </a:prstGeom>
          <a:solidFill>
            <a:srgbClr val="B4D9E3"/>
          </a:solidFill>
          <a:ln w="12700">
            <a:solidFill>
              <a:srgbClr val="B4D9E3"/>
            </a:solidFill>
            <a:prstDash val="solid"/>
          </a:ln>
        </p:spPr>
      </p:sp>
      <p:sp>
        <p:nvSpPr>
          <p:cNvPr id="19" name="Text 17"/>
          <p:cNvSpPr txBox="1"/>
          <p:nvPr/>
        </p:nvSpPr>
        <p:spPr>
          <a:xfrm>
            <a:off x="3566160" y="3557016"/>
            <a:ext cx="7985455" cy="329184"/>
          </a:xfrm>
          <a:prstGeom prst="rect">
            <a:avLst/>
          </a:prstGeom>
          <a:noFill/>
          <a:ln/>
        </p:spPr>
        <p:txBody>
          <a:bodyPr wrap="square" lIns="0" tIns="0" rIns="0" bIns="0" rtlCol="0" anchor="ctr"/>
          <a:lstStyle/>
          <a:p>
            <a:pPr indent="0" marL="0">
              <a:buNone/>
            </a:pPr>
            <a:r>
              <a:rPr lang="en-US" sz="1050" dirty="0">
                <a:solidFill>
                  <a:srgbClr val="231F20"/>
                </a:solidFill>
                <a:latin typeface="Proxima Nova" pitchFamily="34" charset="0"/>
                <a:ea typeface="Proxima Nova" pitchFamily="34" charset="-122"/>
                <a:cs typeface="Proxima Nova" pitchFamily="34" charset="-120"/>
              </a:rPr>
              <a:t>2026 events </a:t>
            </a:r>
            <a:pPr indent="0" marL="0">
              <a:buNone/>
            </a:pPr>
            <a:r>
              <a:rPr lang="en-US" sz="1100" b="1" dirty="0">
                <a:solidFill>
                  <a:srgbClr val="231F20"/>
                </a:solidFill>
                <a:latin typeface="Proxima Nova" pitchFamily="34" charset="0"/>
                <a:ea typeface="Proxima Nova" pitchFamily="34" charset="-122"/>
                <a:cs typeface="Proxima Nova" pitchFamily="34" charset="-120"/>
              </a:rPr>
              <a:t>+12%</a:t>
            </a:r>
            <a:endParaRPr lang="en-US" sz="1050" dirty="0"/>
          </a:p>
        </p:txBody>
      </p:sp>
      <p:sp>
        <p:nvSpPr>
          <p:cNvPr id="20" name="Text 18"/>
          <p:cNvSpPr txBox="1"/>
          <p:nvPr/>
        </p:nvSpPr>
        <p:spPr>
          <a:xfrm>
            <a:off x="548640" y="4178808"/>
            <a:ext cx="2743200" cy="822960"/>
          </a:xfrm>
          <a:prstGeom prst="rect">
            <a:avLst/>
          </a:prstGeom>
          <a:noFill/>
          <a:ln/>
        </p:spPr>
        <p:txBody>
          <a:bodyPr wrap="square" lIns="0" tIns="0" rIns="0" bIns="0" rtlCol="0" anchor="ctr"/>
          <a:lstStyle/>
          <a:p>
            <a:pPr indent="0" marL="0">
              <a:buNone/>
            </a:pPr>
            <a:r>
              <a:rPr lang="en-US" sz="1200" b="1" dirty="0">
                <a:solidFill>
                  <a:srgbClr val="231F20"/>
                </a:solidFill>
                <a:latin typeface="Proxima Nova" pitchFamily="34" charset="0"/>
                <a:ea typeface="Proxima Nova" pitchFamily="34" charset="-122"/>
                <a:cs typeface="Proxima Nova" pitchFamily="34" charset="-120"/>
              </a:rPr>
              <a:t>Costs, a year</a:t>
            </a:r>
            <a:endParaRPr lang="en-US" sz="1200" dirty="0"/>
          </a:p>
        </p:txBody>
      </p:sp>
      <p:sp>
        <p:nvSpPr>
          <p:cNvPr id="21" name="Shape 19"/>
          <p:cNvSpPr/>
          <p:nvPr/>
        </p:nvSpPr>
        <p:spPr>
          <a:xfrm>
            <a:off x="3474720" y="4224528"/>
            <a:ext cx="8168335" cy="329184"/>
          </a:xfrm>
          <a:prstGeom prst="rect">
            <a:avLst/>
          </a:prstGeom>
          <a:solidFill>
            <a:srgbClr val="F9F9F2"/>
          </a:solidFill>
          <a:ln w="12700">
            <a:solidFill>
              <a:srgbClr val="F9F9F2"/>
            </a:solidFill>
            <a:prstDash val="solid"/>
          </a:ln>
        </p:spPr>
      </p:sp>
      <p:sp>
        <p:nvSpPr>
          <p:cNvPr id="22" name="Shape 20"/>
          <p:cNvSpPr/>
          <p:nvPr/>
        </p:nvSpPr>
        <p:spPr>
          <a:xfrm>
            <a:off x="3474720" y="4224528"/>
            <a:ext cx="2882942" cy="329184"/>
          </a:xfrm>
          <a:prstGeom prst="rect">
            <a:avLst/>
          </a:prstGeom>
          <a:solidFill>
            <a:srgbClr val="43A3A3"/>
          </a:solidFill>
          <a:ln w="12700">
            <a:solidFill>
              <a:srgbClr val="43A3A3"/>
            </a:solidFill>
            <a:prstDash val="solid"/>
          </a:ln>
        </p:spPr>
      </p:sp>
      <p:sp>
        <p:nvSpPr>
          <p:cNvPr id="23" name="Text 21"/>
          <p:cNvSpPr txBox="1"/>
          <p:nvPr/>
        </p:nvSpPr>
        <p:spPr>
          <a:xfrm>
            <a:off x="3566160" y="4224528"/>
            <a:ext cx="7985455" cy="329184"/>
          </a:xfrm>
          <a:prstGeom prst="rect">
            <a:avLst/>
          </a:prstGeom>
          <a:noFill/>
          <a:ln/>
        </p:spPr>
        <p:txBody>
          <a:bodyPr wrap="square" lIns="0" tIns="0" rIns="0" bIns="0" rtlCol="0" anchor="ctr"/>
          <a:lstStyle/>
          <a:p>
            <a:pPr indent="0" marL="0">
              <a:buNone/>
            </a:pPr>
            <a:r>
              <a:rPr lang="en-US" sz="1050" dirty="0">
                <a:solidFill>
                  <a:srgbClr val="231F20"/>
                </a:solidFill>
                <a:latin typeface="Proxima Nova" pitchFamily="34" charset="0"/>
                <a:ea typeface="Proxima Nova" pitchFamily="34" charset="-122"/>
                <a:cs typeface="Proxima Nova" pitchFamily="34" charset="-120"/>
              </a:rPr>
              <a:t>Hotel labor (about) </a:t>
            </a:r>
            <a:pPr indent="0" marL="0">
              <a:buNone/>
            </a:pPr>
            <a:r>
              <a:rPr lang="en-US" sz="1100" b="1" dirty="0">
                <a:solidFill>
                  <a:srgbClr val="231F20"/>
                </a:solidFill>
                <a:latin typeface="Proxima Nova" pitchFamily="34" charset="0"/>
                <a:ea typeface="Proxima Nova" pitchFamily="34" charset="-122"/>
                <a:cs typeface="Proxima Nova" pitchFamily="34" charset="-120"/>
              </a:rPr>
              <a:t>+6%</a:t>
            </a:r>
            <a:endParaRPr lang="en-US" sz="1050" dirty="0"/>
          </a:p>
        </p:txBody>
      </p:sp>
      <p:sp>
        <p:nvSpPr>
          <p:cNvPr id="24" name="Shape 22"/>
          <p:cNvSpPr/>
          <p:nvPr/>
        </p:nvSpPr>
        <p:spPr>
          <a:xfrm>
            <a:off x="3474720" y="4608576"/>
            <a:ext cx="8168335" cy="329184"/>
          </a:xfrm>
          <a:prstGeom prst="rect">
            <a:avLst/>
          </a:prstGeom>
          <a:solidFill>
            <a:srgbClr val="F9F9F2"/>
          </a:solidFill>
          <a:ln w="12700">
            <a:solidFill>
              <a:srgbClr val="F9F9F2"/>
            </a:solidFill>
            <a:prstDash val="solid"/>
          </a:ln>
        </p:spPr>
      </p:sp>
      <p:sp>
        <p:nvSpPr>
          <p:cNvPr id="25" name="Shape 23"/>
          <p:cNvSpPr/>
          <p:nvPr/>
        </p:nvSpPr>
        <p:spPr>
          <a:xfrm>
            <a:off x="3474720" y="4608576"/>
            <a:ext cx="1537569" cy="329184"/>
          </a:xfrm>
          <a:prstGeom prst="rect">
            <a:avLst/>
          </a:prstGeom>
          <a:solidFill>
            <a:srgbClr val="B4D9E3"/>
          </a:solidFill>
          <a:ln w="12700">
            <a:solidFill>
              <a:srgbClr val="B4D9E3"/>
            </a:solidFill>
            <a:prstDash val="solid"/>
          </a:ln>
        </p:spPr>
      </p:sp>
      <p:sp>
        <p:nvSpPr>
          <p:cNvPr id="26" name="Text 24"/>
          <p:cNvSpPr txBox="1"/>
          <p:nvPr/>
        </p:nvSpPr>
        <p:spPr>
          <a:xfrm>
            <a:off x="3566160" y="4608576"/>
            <a:ext cx="7985455" cy="329184"/>
          </a:xfrm>
          <a:prstGeom prst="rect">
            <a:avLst/>
          </a:prstGeom>
          <a:noFill/>
          <a:ln/>
        </p:spPr>
        <p:txBody>
          <a:bodyPr wrap="square" lIns="0" tIns="0" rIns="0" bIns="0" rtlCol="0" anchor="ctr"/>
          <a:lstStyle/>
          <a:p>
            <a:pPr indent="0" marL="0">
              <a:buNone/>
            </a:pPr>
            <a:r>
              <a:rPr lang="en-US" sz="1050" dirty="0">
                <a:solidFill>
                  <a:srgbClr val="231F20"/>
                </a:solidFill>
                <a:latin typeface="Proxima Nova" pitchFamily="34" charset="0"/>
                <a:ea typeface="Proxima Nova" pitchFamily="34" charset="-122"/>
                <a:cs typeface="Proxima Nova" pitchFamily="34" charset="-120"/>
              </a:rPr>
              <a:t>Anaheim prices </a:t>
            </a:r>
            <a:pPr indent="0" marL="0">
              <a:buNone/>
            </a:pPr>
            <a:r>
              <a:rPr lang="en-US" sz="1100" b="1" dirty="0">
                <a:solidFill>
                  <a:srgbClr val="231F20"/>
                </a:solidFill>
                <a:latin typeface="Proxima Nova" pitchFamily="34" charset="0"/>
                <a:ea typeface="Proxima Nova" pitchFamily="34" charset="-122"/>
                <a:cs typeface="Proxima Nova" pitchFamily="34" charset="-120"/>
              </a:rPr>
              <a:t>+3.2%</a:t>
            </a:r>
            <a:endParaRPr lang="en-US" sz="1050" dirty="0"/>
          </a:p>
        </p:txBody>
      </p:sp>
      <p:sp>
        <p:nvSpPr>
          <p:cNvPr id="27"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LARC Market Intelligence Reports (Jan.–Sept.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100</a:t>
            </a:fld>
            <a:endParaRPr lang="en-US"/>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OC Vibe: first buildings are up; market hall and plaza open in 2027</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OC Vibe and nearby developments as reported in LARC market reports, June–Sept. 2026</a:t>
            </a:r>
            <a:endParaRPr lang="en-US" sz="1200" dirty="0"/>
          </a:p>
        </p:txBody>
      </p:sp>
      <p:graphicFrame>
        <p:nvGraphicFramePr>
          <p:cNvPr id="102"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6675120" cy="914400"/>
        </p:xfrm>
        <a:graphic>
          <a:graphicData uri="http://schemas.openxmlformats.org/drawingml/2006/table">
            <a:tbl>
              <a:tblPr/>
              <a:tblGrid>
                <a:gridCol w="1554480"/>
                <a:gridCol w="5120640"/>
              </a:tblGrid>
              <a:tr h="438912">
                <a:tc>
                  <a:txBody>
                    <a:bodyPr/>
                    <a:lstStyle/>
                    <a:p>
                      <a:pPr algn="l" indent="0" marL="0">
                        <a:buNone/>
                      </a:pPr>
                      <a:r>
                        <a:rPr lang="en-US" sz="1000" b="1" dirty="0">
                          <a:solidFill>
                            <a:srgbClr val="FFFFFF"/>
                          </a:solidFill>
                          <a:latin typeface="Proxima Nova" pitchFamily="34" charset="0"/>
                          <a:ea typeface="Proxima Nova" pitchFamily="34" charset="-122"/>
                          <a:cs typeface="Proxima Nova" pitchFamily="34" charset="-120"/>
                        </a:rPr>
                        <a:t>Element</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1000" b="1" dirty="0">
                          <a:solidFill>
                            <a:srgbClr val="FFFFFF"/>
                          </a:solidFill>
                          <a:latin typeface="Proxima Nova" pitchFamily="34" charset="0"/>
                          <a:ea typeface="Proxima Nova" pitchFamily="34" charset="-122"/>
                          <a:cs typeface="Proxima Nova" pitchFamily="34" charset="-120"/>
                        </a:rPr>
                        <a:t>Detail</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38912">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Scale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100-acre, $5 billion mixed-use district; approved Oct. 2022</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38912">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Office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1 million sq ft; The Weave (168,000 sq ft, six stories) vertical construction complete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38912">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Entertainment</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835,500+ sq ft incl. Honda Center (18,300+ seats) and 185,500+ sq ft new (8,400+ seats); 104,000 sq ft concert hall vertical construction complete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38912">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Hotels</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Two hotels, 550 rooms (Arena Hotel 320, Meadow Hotel 230), in planning</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38912">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Residential</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2,500+ units, 15% low-income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38912">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Dining and retail</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~172,000 sq ft restaurant and outdoor dining; ~57,000 sq ft new retail plus 25,000 sq ft at ARTIC</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38912">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Public space and parking</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20 acres of parks and plazas, 3 miles of trails, OC River Walk (1.7 miles, $100M+); ~13,000 parking spaces</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38912">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Timing</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Katella Commons market hall (50,000 sq ft) and public plaza in 2027; final phase by 2033</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graphicFrame>
        <p:nvGraphicFramePr>
          <p:cNvPr id="203" name="Table 1"/>
          <p:cNvGraphicFramePr>
            <a:graphicFrameLocks noGrp="1"/>
          </p:cNvGraphicFramePr>
          <p:nvPr>
            <p:extLst>
              <p:ext uri="{D42A27DB-BD31-4B8C-83A1-F6EECF244321}">
                <p14:modId xmlns:p14="http://schemas.microsoft.com/office/powerpoint/2010/main" val="1579011935"/>
              </p:ext>
            </p:extLst>
          </p:nvPr>
        </p:nvGraphicFramePr>
        <p:xfrm>
          <a:off x="7498080" y="1463040"/>
          <a:ext cx="4114800" cy="914400"/>
        </p:xfrm>
        <a:graphic>
          <a:graphicData uri="http://schemas.openxmlformats.org/drawingml/2006/table">
            <a:tbl>
              <a:tblPr/>
              <a:tblGrid>
                <a:gridCol w="2286000"/>
                <a:gridCol w="548640"/>
                <a:gridCol w="1280160"/>
              </a:tblGrid>
              <a:tr h="384048">
                <a:tc>
                  <a:txBody>
                    <a:bodyPr/>
                    <a:lstStyle/>
                    <a:p>
                      <a:pPr algn="l" indent="0" marL="0">
                        <a:buNone/>
                      </a:pPr>
                      <a:r>
                        <a:rPr lang="en-US" sz="900" b="1" dirty="0">
                          <a:solidFill>
                            <a:srgbClr val="FFFFFF"/>
                          </a:solidFill>
                          <a:latin typeface="Proxima Nova" pitchFamily="34" charset="0"/>
                          <a:ea typeface="Proxima Nova" pitchFamily="34" charset="-122"/>
                          <a:cs typeface="Proxima Nova" pitchFamily="34" charset="-120"/>
                        </a:rPr>
                        <a:t>Project</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00" b="1" dirty="0">
                          <a:solidFill>
                            <a:srgbClr val="FFFFFF"/>
                          </a:solidFill>
                          <a:latin typeface="Proxima Nova" pitchFamily="34" charset="0"/>
                          <a:ea typeface="Proxima Nova" pitchFamily="34" charset="-122"/>
                          <a:cs typeface="Proxima Nova" pitchFamily="34" charset="-120"/>
                        </a:rPr>
                        <a:t>Rooms</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00" b="1" dirty="0">
                          <a:solidFill>
                            <a:srgbClr val="FFFFFF"/>
                          </a:solidFill>
                          <a:latin typeface="Proxima Nova" pitchFamily="34" charset="0"/>
                          <a:ea typeface="Proxima Nova" pitchFamily="34" charset="-122"/>
                          <a:cs typeface="Proxima Nova" pitchFamily="34" charset="-120"/>
                        </a:rPr>
                        <a:t>Status</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OC Vibe Arena Hotel</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00" b="1" dirty="0">
                          <a:solidFill>
                            <a:srgbClr val="231F20"/>
                          </a:solidFill>
                          <a:latin typeface="Proxima Nova" pitchFamily="34" charset="0"/>
                          <a:ea typeface="Proxima Nova" pitchFamily="34" charset="-122"/>
                          <a:cs typeface="Proxima Nova" pitchFamily="34" charset="-120"/>
                        </a:rPr>
                        <a:t>320</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Planning</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8404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OC Vibe Meadow Hotel</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230</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Planning</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Nickelodeon Hotel &amp; Resort Garden Grove</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500</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Planning</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Le Méridien Anaheim Garden Grove</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402</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Planning</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GardenWalk Hotel Two (Westgate)</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400</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Planning</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Disneyland Forward Hotel 2</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250</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Planning</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TownePlace Suites Anaheim Resort</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186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Planning</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Roadhouse Tribute Portfolio Anaheim Downtown</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125</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Construction, opening 1Q 2027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7"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Lodging Analytics Research &amp; Consulting (LARC), Anaheim Market Intelligence Reports (June, July and Sept.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101</a:t>
            </a:fld>
            <a:endParaRPr lang="en-US"/>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Hotel demand and conventions are strong; costs are the main headwind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LARC market outlook · Anaheim vs. U.S. · forecasts to 2030</a:t>
            </a:r>
            <a:endParaRPr lang="en-US" sz="1200" dirty="0"/>
          </a:p>
        </p:txBody>
      </p:sp>
      <p:sp>
        <p:nvSpPr>
          <p:cNvPr id="4" name="chart-title"/>
          <p:cNvSpPr txBox="1"/>
          <p:nvPr/>
        </p:nvSpPr>
        <p:spPr>
          <a:xfrm>
            <a:off x="548640" y="1463040"/>
            <a:ext cx="4937760"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Revenue per available room, change vs. last year</a:t>
            </a:r>
            <a:endParaRPr lang="en-US" sz="1300" dirty="0"/>
          </a:p>
        </p:txBody>
      </p:sp>
      <p:graphicFrame>
        <p:nvGraphicFramePr>
          <p:cNvPr id="5" name="chart" descr=""/>
          <p:cNvGraphicFramePr/>
          <p:nvPr/>
        </p:nvGraphicFramePr>
        <p:xfrm>
          <a:off x="548640" y="1828800"/>
          <a:ext cx="4937760" cy="2286000"/>
        </p:xfrm>
        <a:graphic xmlns:a="http://schemas.openxmlformats.org/drawingml/2006/main">
          <a:graphicData uri="http://schemas.openxmlformats.org/drawingml/2006/chart">
            <c:chart xmlns:c="http://schemas.openxmlformats.org/drawingml/2006/chart" r:id="rId1"/>
          </a:graphicData>
        </a:graphic>
      </p:graphicFrame>
      <p:graphicFrame>
        <p:nvGraphicFramePr>
          <p:cNvPr id="103" name="Table 0"/>
          <p:cNvGraphicFramePr>
            <a:graphicFrameLocks noGrp="1"/>
          </p:cNvGraphicFramePr>
          <p:nvPr>
            <p:extLst>
              <p:ext uri="{D42A27DB-BD31-4B8C-83A1-F6EECF244321}">
                <p14:modId xmlns:p14="http://schemas.microsoft.com/office/powerpoint/2010/main" val="1579011935"/>
              </p:ext>
            </p:extLst>
          </p:nvPr>
        </p:nvGraphicFramePr>
        <p:xfrm>
          <a:off x="5760720" y="1463040"/>
          <a:ext cx="5852160" cy="914400"/>
        </p:xfrm>
        <a:graphic>
          <a:graphicData uri="http://schemas.openxmlformats.org/drawingml/2006/table">
            <a:tbl>
              <a:tblPr/>
              <a:tblGrid>
                <a:gridCol w="1005840"/>
                <a:gridCol w="1097280"/>
                <a:gridCol w="1371600"/>
                <a:gridCol w="1371600"/>
                <a:gridCol w="1005840"/>
              </a:tblGrid>
              <a:tr h="310896">
                <a:tc>
                  <a:txBody>
                    <a:bodyPr/>
                    <a:lstStyle/>
                    <a:p>
                      <a:pPr algn="l" indent="0" marL="0">
                        <a:buNone/>
                      </a:pPr>
                      <a:r>
                        <a:rPr lang="en-US" sz="1000" b="1" dirty="0">
                          <a:solidFill>
                            <a:srgbClr val="FFFFFF"/>
                          </a:solidFill>
                          <a:latin typeface="Proxima Nova" pitchFamily="34" charset="0"/>
                          <a:ea typeface="Proxima Nova" pitchFamily="34" charset="-122"/>
                          <a:cs typeface="Proxima Nova" pitchFamily="34" charset="-120"/>
                        </a:rPr>
                        <a:t>Year</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Occupancy</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Average nightly rate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Revenue per available room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Change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10896">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2024</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71.7%</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$207.82</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$148.93</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A10009"/>
                          </a:solidFill>
                          <a:latin typeface="Proxima Nova" pitchFamily="34" charset="0"/>
                          <a:ea typeface="Proxima Nova" pitchFamily="34" charset="-122"/>
                          <a:cs typeface="Proxima Nova" pitchFamily="34" charset="-120"/>
                        </a:rPr>
                        <a:t>▼ −1.5%</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10896">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2025</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72.3%</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$209.68</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$151.58</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 +1.8%</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10896">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2026 F</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73.9%</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$219.53</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$162.18</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 +7.0%</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10896">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2027 F</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73.0%</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$232.78</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$169.95</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 +4.8%</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10896">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2028 F</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71.9%</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$244.80</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$175.90</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 +3.5%</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10896">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2029 F</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71.4%</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$255.09</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$182.20</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 +3.6%</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10896">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2030 F</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71.2%</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$264.56</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$188.33</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 +3.4%</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7" name="Text 3"/>
          <p:cNvSpPr txBox="1"/>
          <p:nvPr/>
        </p:nvSpPr>
        <p:spPr>
          <a:xfrm>
            <a:off x="548640" y="4343400"/>
            <a:ext cx="11094415" cy="1600200"/>
          </a:xfrm>
          <a:prstGeom prst="rect">
            <a:avLst/>
          </a:prstGeom>
          <a:noFill/>
          <a:ln/>
        </p:spPr>
        <p:txBody>
          <a:bodyPr wrap="square" lIns="0" tIns="0" rIns="0" bIns="0" rtlCol="0" anchor="t"/>
          <a:lstStyle/>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Conventions: room nights on the books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+12%</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for 2026 and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+17%</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for 2027 (Sept. 2026).</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Events: 2028 Olympics cycling and volleyball in Anaheim; the 2026 World Cup boost turns into a tough comparison in Q2–Q3 2027.</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Inflation: Anaheim prices forecast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+3.2%</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a year (3 yrs), above the U.S.; hotel labor costs about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+6%</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a year.</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Risks: gas prices and airfares (Iran conflict), possible federal shutdown, slower U.S. job growth.</a:t>
            </a:r>
            <a:endParaRPr lang="en-US" sz="1150" dirty="0"/>
          </a:p>
        </p:txBody>
      </p:sp>
      <p:sp>
        <p:nvSpPr>
          <p:cNvPr id="8"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LARC, Anaheim Market Intelligence Report, Sept. 2026 (Moody's Analytics economic inputs). F = forecast.</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102</a:t>
            </a:fld>
            <a:endParaRPr lang="en-US"/>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OC Vibe in recent public sources</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Phasing, venues and events as reported · figures differ by source</a:t>
            </a:r>
            <a:endParaRPr lang="en-US" sz="1200" dirty="0"/>
          </a:p>
        </p:txBody>
      </p:sp>
      <p:graphicFrame>
        <p:nvGraphicFramePr>
          <p:cNvPr id="104"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94415" cy="914400"/>
        </p:xfrm>
        <a:graphic>
          <a:graphicData uri="http://schemas.openxmlformats.org/drawingml/2006/table">
            <a:tbl>
              <a:tblPr/>
              <a:tblGrid>
                <a:gridCol w="1828800"/>
                <a:gridCol w="6035040"/>
                <a:gridCol w="3227832"/>
              </a:tblGrid>
              <a:tr h="502920">
                <a:tc>
                  <a:txBody>
                    <a:bodyPr/>
                    <a:lstStyle/>
                    <a:p>
                      <a:pPr algn="l" indent="0" marL="0">
                        <a:buNone/>
                      </a:pPr>
                      <a:r>
                        <a:rPr lang="en-US" sz="1050" b="1" dirty="0">
                          <a:solidFill>
                            <a:srgbClr val="FFFFFF"/>
                          </a:solidFill>
                          <a:latin typeface="Proxima Nova" pitchFamily="34" charset="0"/>
                          <a:ea typeface="Proxima Nova" pitchFamily="34" charset="-122"/>
                          <a:cs typeface="Proxima Nova" pitchFamily="34" charset="-120"/>
                        </a:rPr>
                        <a:t>Item</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1050" b="1" dirty="0">
                          <a:solidFill>
                            <a:srgbClr val="FFFFFF"/>
                          </a:solidFill>
                          <a:latin typeface="Proxima Nova" pitchFamily="34" charset="0"/>
                          <a:ea typeface="Proxima Nova" pitchFamily="34" charset="-122"/>
                          <a:cs typeface="Proxima Nova" pitchFamily="34" charset="-120"/>
                        </a:rPr>
                        <a:t>As reported</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1050" b="1" dirty="0">
                          <a:solidFill>
                            <a:srgbClr val="FFFFFF"/>
                          </a:solidFill>
                          <a:latin typeface="Proxima Nova" pitchFamily="34" charset="0"/>
                          <a:ea typeface="Proxima Nova" pitchFamily="34" charset="-122"/>
                          <a:cs typeface="Proxima Nova" pitchFamily="34" charset="-120"/>
                        </a:rPr>
                        <a:t>Source and date</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50292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Phase 1</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Opens early 2027: concert hall, Katella Commons market hall, The Weave office and Urban Park</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Orange County Business Journal (June 1, 2026)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50292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Concert hall</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5,000 capacity; concerts, comedy, televised and award shows, esports and private events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OCVIBE concert hall release, PR Newswire (Mar. 12, 2026)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50292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Katella Commons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50,000 sq ft food hall with 21 culinary concepts and six bars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Orange County Business Journal (June 1, 2026)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50292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Parking</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Two of three new garages open; parking in the two new garages is free</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Orange County Business Journal (June 1, 2026)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50292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2028</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Honda Center hosts LA28 indoor volleyball; first hotel and Katella bridge to ARTIC</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Orange County Business Journal (June 1, 2026); LARC Market Intelligence Reports (Jan.–Sept. 2026)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50292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Honda Center events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D23 evening showcases: 36,000+ guests over three nights, alongside the Convention Center expo (Aug. 2026)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BizBash (Sept. 16, 2026)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50292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Full build-out</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About 2033</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Orange County Business Journal (June 1, 2026)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Orange County Business Journal (June 1, 2026); OCVIBE concert hall release, PR Newswire (Mar. 12, 2026); BizBash (Sept. 16, 2026); LARC (Sept.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103</a:t>
            </a:fld>
            <a:endParaRPr lang="en-US"/>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Convention bookings for 2027 strengthened through 2026</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Convention Center room nights on the books vs. same point last year, by LARC report edition</a:t>
            </a:r>
            <a:endParaRPr lang="en-US" sz="1200" dirty="0"/>
          </a:p>
        </p:txBody>
      </p:sp>
      <p:graphicFrame>
        <p:nvGraphicFramePr>
          <p:cNvPr id="4" name="line" descr=""/>
          <p:cNvGraphicFramePr/>
          <p:nvPr/>
        </p:nvGraphicFramePr>
        <p:xfrm>
          <a:off x="548640" y="1463040"/>
          <a:ext cx="11094415" cy="4297680"/>
        </p:xfrm>
        <a:graphic xmlns:a="http://schemas.openxmlformats.org/drawingml/2006/main">
          <a:graphicData uri="http://schemas.openxmlformats.org/drawingml/2006/chart">
            <c:chart xmlns:c="http://schemas.openxmlformats.org/drawingml/2006/chart" r:id="rId1"/>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LARC Market Intelligence Reports (Jan.–Sept.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104</a:t>
            </a:fld>
            <a:endParaRPr lang="en-US"/>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What it means for OC Vibe: Market outlook</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What this insight enhances for OC Vibe, and what OC Vibe needs to act on it</a:t>
            </a:r>
            <a:endParaRPr lang="en-US" sz="1200" dirty="0"/>
          </a:p>
        </p:txBody>
      </p:sp>
      <p:sp>
        <p:nvSpPr>
          <p:cNvPr id="4" name="Shape 2"/>
          <p:cNvSpPr/>
          <p:nvPr/>
        </p:nvSpPr>
        <p:spPr>
          <a:xfrm>
            <a:off x="548640" y="1417320"/>
            <a:ext cx="11094415" cy="914400"/>
          </a:xfrm>
          <a:prstGeom prst="rect">
            <a:avLst/>
          </a:prstGeom>
          <a:solidFill>
            <a:srgbClr val="B4D9E3"/>
          </a:solidFill>
          <a:ln w="12700">
            <a:solidFill>
              <a:srgbClr val="B4D9E3"/>
            </a:solidFill>
            <a:prstDash val="solid"/>
          </a:ln>
        </p:spPr>
      </p:sp>
      <p:sp>
        <p:nvSpPr>
          <p:cNvPr id="5" name="Text 3"/>
          <p:cNvSpPr txBox="1"/>
          <p:nvPr/>
        </p:nvSpPr>
        <p:spPr>
          <a:xfrm>
            <a:off x="685800" y="1463040"/>
            <a:ext cx="1828800" cy="201168"/>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KEY INSIGHT</a:t>
            </a:r>
            <a:endParaRPr lang="en-US" sz="900" dirty="0"/>
          </a:p>
        </p:txBody>
      </p:sp>
      <p:sp>
        <p:nvSpPr>
          <p:cNvPr id="6" name="Text 4"/>
          <p:cNvSpPr txBox="1"/>
          <p:nvPr/>
        </p:nvSpPr>
        <p:spPr>
          <a:xfrm>
            <a:off x="685800" y="1664208"/>
            <a:ext cx="10820095" cy="640080"/>
          </a:xfrm>
          <a:prstGeom prst="rect">
            <a:avLst/>
          </a:prstGeom>
          <a:noFill/>
          <a:ln/>
        </p:spPr>
        <p:txBody>
          <a:bodyPr wrap="square" lIns="0" tIns="0" rIns="0" bIns="0" rtlCol="0" anchor="t"/>
          <a:lstStyle/>
          <a:p>
            <a:pPr indent="0" marL="0">
              <a:buNone/>
            </a:pPr>
            <a:r>
              <a:rPr lang="en-US" sz="1100" dirty="0">
                <a:solidFill>
                  <a:srgbClr val="231F20"/>
                </a:solidFill>
                <a:latin typeface="Proxima Nova" pitchFamily="34" charset="0"/>
                <a:ea typeface="Proxima Nova" pitchFamily="34" charset="-122"/>
                <a:cs typeface="Proxima Nova" pitchFamily="34" charset="-120"/>
              </a:rPr>
              <a:t>Anaheim hotel revenue per room rose </a:t>
            </a:r>
            <a:pPr indent="0" marL="0">
              <a:buNone/>
            </a:pPr>
            <a:r>
              <a:rPr lang="en-US" sz="1100" b="1" dirty="0">
                <a:solidFill>
                  <a:srgbClr val="125C60"/>
                </a:solidFill>
                <a:latin typeface="Proxima Nova" pitchFamily="34" charset="0"/>
                <a:ea typeface="Proxima Nova" pitchFamily="34" charset="-122"/>
                <a:cs typeface="Proxima Nova" pitchFamily="34" charset="-120"/>
              </a:rPr>
              <a:t>11.4%</a:t>
            </a:r>
            <a:pPr indent="0" marL="0">
              <a:buNone/>
            </a:pPr>
            <a:r>
              <a:rPr lang="en-US" sz="1100" dirty="0">
                <a:solidFill>
                  <a:srgbClr val="231F20"/>
                </a:solidFill>
                <a:latin typeface="Proxima Nova" pitchFamily="34" charset="0"/>
                <a:ea typeface="Proxima Nova" pitchFamily="34" charset="-122"/>
                <a:cs typeface="Proxima Nova" pitchFamily="34" charset="-120"/>
              </a:rPr>
              <a:t> in Q2 2026 (U.S. </a:t>
            </a:r>
            <a:pPr indent="0" marL="0">
              <a:buNone/>
            </a:pPr>
            <a:r>
              <a:rPr lang="en-US" sz="1100" b="1" dirty="0">
                <a:solidFill>
                  <a:srgbClr val="125C60"/>
                </a:solidFill>
                <a:latin typeface="Proxima Nova" pitchFamily="34" charset="0"/>
                <a:ea typeface="Proxima Nova" pitchFamily="34" charset="-122"/>
                <a:cs typeface="Proxima Nova" pitchFamily="34" charset="-120"/>
              </a:rPr>
              <a:t>+5.7%</a:t>
            </a:r>
            <a:pPr indent="0" marL="0">
              <a:buNone/>
            </a:pPr>
            <a:r>
              <a:rPr lang="en-US" sz="1100" dirty="0">
                <a:solidFill>
                  <a:srgbClr val="231F20"/>
                </a:solidFill>
                <a:latin typeface="Proxima Nova" pitchFamily="34" charset="0"/>
                <a:ea typeface="Proxima Nova" pitchFamily="34" charset="-122"/>
                <a:cs typeface="Proxima Nova" pitchFamily="34" charset="-120"/>
              </a:rPr>
              <a:t>), and Convention Center room nights are pacing </a:t>
            </a:r>
            <a:pPr indent="0" marL="0">
              <a:buNone/>
            </a:pPr>
            <a:r>
              <a:rPr lang="en-US" sz="1100" b="1" dirty="0">
                <a:solidFill>
                  <a:srgbClr val="125C60"/>
                </a:solidFill>
                <a:latin typeface="Proxima Nova" pitchFamily="34" charset="0"/>
                <a:ea typeface="Proxima Nova" pitchFamily="34" charset="-122"/>
                <a:cs typeface="Proxima Nova" pitchFamily="34" charset="-120"/>
              </a:rPr>
              <a:t>+12%</a:t>
            </a:r>
            <a:pPr indent="0" marL="0">
              <a:buNone/>
            </a:pPr>
            <a:r>
              <a:rPr lang="en-US" sz="1100" dirty="0">
                <a:solidFill>
                  <a:srgbClr val="231F20"/>
                </a:solidFill>
                <a:latin typeface="Proxima Nova" pitchFamily="34" charset="0"/>
                <a:ea typeface="Proxima Nova" pitchFamily="34" charset="-122"/>
                <a:cs typeface="Proxima Nova" pitchFamily="34" charset="-120"/>
              </a:rPr>
              <a:t> for 2026 and </a:t>
            </a:r>
            <a:pPr indent="0" marL="0">
              <a:buNone/>
            </a:pPr>
            <a:r>
              <a:rPr lang="en-US" sz="1100" b="1" dirty="0">
                <a:solidFill>
                  <a:srgbClr val="125C60"/>
                </a:solidFill>
                <a:latin typeface="Proxima Nova" pitchFamily="34" charset="0"/>
                <a:ea typeface="Proxima Nova" pitchFamily="34" charset="-122"/>
                <a:cs typeface="Proxima Nova" pitchFamily="34" charset="-120"/>
              </a:rPr>
              <a:t>+17%</a:t>
            </a:r>
            <a:pPr indent="0" marL="0">
              <a:buNone/>
            </a:pPr>
            <a:r>
              <a:rPr lang="en-US" sz="1100" dirty="0">
                <a:solidFill>
                  <a:srgbClr val="231F20"/>
                </a:solidFill>
                <a:latin typeface="Proxima Nova" pitchFamily="34" charset="0"/>
                <a:ea typeface="Proxima Nova" pitchFamily="34" charset="-122"/>
                <a:cs typeface="Proxima Nova" pitchFamily="34" charset="-120"/>
              </a:rPr>
              <a:t> for 2027. Costs are the headwind: prices are rising about </a:t>
            </a:r>
            <a:pPr indent="0" marL="0">
              <a:buNone/>
            </a:pPr>
            <a:r>
              <a:rPr lang="en-US" sz="1100" b="1" dirty="0">
                <a:solidFill>
                  <a:srgbClr val="125C60"/>
                </a:solidFill>
                <a:latin typeface="Proxima Nova" pitchFamily="34" charset="0"/>
                <a:ea typeface="Proxima Nova" pitchFamily="34" charset="-122"/>
                <a:cs typeface="Proxima Nova" pitchFamily="34" charset="-120"/>
              </a:rPr>
              <a:t>3.2%</a:t>
            </a:r>
            <a:pPr indent="0" marL="0">
              <a:buNone/>
            </a:pPr>
            <a:r>
              <a:rPr lang="en-US" sz="1100" dirty="0">
                <a:solidFill>
                  <a:srgbClr val="231F20"/>
                </a:solidFill>
                <a:latin typeface="Proxima Nova" pitchFamily="34" charset="0"/>
                <a:ea typeface="Proxima Nova" pitchFamily="34" charset="-122"/>
                <a:cs typeface="Proxima Nova" pitchFamily="34" charset="-120"/>
              </a:rPr>
              <a:t> a year and labor about </a:t>
            </a:r>
            <a:pPr indent="0" marL="0">
              <a:buNone/>
            </a:pPr>
            <a:r>
              <a:rPr lang="en-US" sz="1100" b="1" dirty="0">
                <a:solidFill>
                  <a:srgbClr val="125C60"/>
                </a:solidFill>
                <a:latin typeface="Proxima Nova" pitchFamily="34" charset="0"/>
                <a:ea typeface="Proxima Nova" pitchFamily="34" charset="-122"/>
                <a:cs typeface="Proxima Nova" pitchFamily="34" charset="-120"/>
              </a:rPr>
              <a:t>6%</a:t>
            </a:r>
            <a:pPr indent="0" marL="0">
              <a:buNone/>
            </a:pPr>
            <a:r>
              <a:rPr lang="en-US" sz="1100" dirty="0">
                <a:solidFill>
                  <a:srgbClr val="231F20"/>
                </a:solidFill>
                <a:latin typeface="Proxima Nova" pitchFamily="34" charset="0"/>
                <a:ea typeface="Proxima Nova" pitchFamily="34" charset="-122"/>
                <a:cs typeface="Proxima Nova" pitchFamily="34" charset="-120"/>
              </a:rPr>
              <a:t>.</a:t>
            </a:r>
            <a:endParaRPr lang="en-US" sz="1100" dirty="0"/>
          </a:p>
        </p:txBody>
      </p:sp>
      <p:sp>
        <p:nvSpPr>
          <p:cNvPr id="7" name="Shape 5"/>
          <p:cNvSpPr/>
          <p:nvPr/>
        </p:nvSpPr>
        <p:spPr>
          <a:xfrm>
            <a:off x="548640" y="2468880"/>
            <a:ext cx="5410048" cy="45720"/>
          </a:xfrm>
          <a:prstGeom prst="rect">
            <a:avLst/>
          </a:prstGeom>
          <a:solidFill>
            <a:srgbClr val="43A3A3"/>
          </a:solidFill>
          <a:ln w="12700">
            <a:solidFill>
              <a:srgbClr val="43A3A3"/>
            </a:solidFill>
            <a:prstDash val="solid"/>
          </a:ln>
        </p:spPr>
      </p:sp>
      <p:sp>
        <p:nvSpPr>
          <p:cNvPr id="8" name="Text 6"/>
          <p:cNvSpPr txBox="1"/>
          <p:nvPr/>
        </p:nvSpPr>
        <p:spPr>
          <a:xfrm>
            <a:off x="548640" y="2560320"/>
            <a:ext cx="5410048" cy="256032"/>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WHAT IT ENHANCES</a:t>
            </a:r>
            <a:endParaRPr lang="en-US" sz="1000" dirty="0"/>
          </a:p>
        </p:txBody>
      </p:sp>
      <p:sp>
        <p:nvSpPr>
          <p:cNvPr id="9" name="Text 7"/>
          <p:cNvSpPr txBox="1"/>
          <p:nvPr/>
        </p:nvSpPr>
        <p:spPr>
          <a:xfrm>
            <a:off x="548640" y="2852928"/>
            <a:ext cx="5410048" cy="3063240"/>
          </a:xfrm>
          <a:prstGeom prst="rect">
            <a:avLst/>
          </a:prstGeom>
          <a:noFill/>
          <a:ln/>
        </p:spPr>
        <p:txBody>
          <a:bodyPr wrap="square" lIns="0" tIns="0" rIns="0" bIns="0" rtlCol="0" anchor="t"/>
          <a:lstStyle/>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Events: Opens into growth: 2027 convention pacing (</a:t>
            </a:r>
            <a:pPr algn="l" marL="177800" indent="-177800">
              <a:spcAft>
                <a:spcPts val="600"/>
              </a:spcAft>
              <a:buSzPct val="100000"/>
              <a:buChar char="•"/>
            </a:pPr>
            <a:r>
              <a:rPr lang="en-US" sz="1050" b="1" dirty="0">
                <a:solidFill>
                  <a:srgbClr val="125C60"/>
                </a:solidFill>
                <a:latin typeface="Proxima Nova" pitchFamily="34" charset="0"/>
                <a:ea typeface="Proxima Nova" pitchFamily="34" charset="-122"/>
                <a:cs typeface="Proxima Nova" pitchFamily="34" charset="-120"/>
              </a:rPr>
              <a:t>+17%</a:t>
            </a:r>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 coincides with OC Vibe's first venues, and conventions (142 events secured for 2026, about </a:t>
            </a:r>
            <a:pPr algn="l" marL="177800" indent="-177800">
              <a:spcAft>
                <a:spcPts val="600"/>
              </a:spcAft>
              <a:buSzPct val="100000"/>
              <a:buChar char="•"/>
            </a:pPr>
            <a:r>
              <a:rPr lang="en-US" sz="1050" b="1" dirty="0">
                <a:solidFill>
                  <a:srgbClr val="125C60"/>
                </a:solidFill>
                <a:latin typeface="Proxima Nova" pitchFamily="34" charset="0"/>
                <a:ea typeface="Proxima Nova" pitchFamily="34" charset="-122"/>
                <a:cs typeface="Proxima Nova" pitchFamily="34" charset="-120"/>
              </a:rPr>
              <a:t>600,000 room nights</a:t>
            </a:r>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 bring weekday guests.</a:t>
            </a:r>
            <a:endParaRPr lang="en-US" sz="1050" dirty="0"/>
          </a:p>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Events: A proven pairing: D23's evening showcases at Honda Center drew </a:t>
            </a:r>
            <a:pPr algn="l" marL="177800" indent="-177800">
              <a:spcAft>
                <a:spcPts val="600"/>
              </a:spcAft>
              <a:buSzPct val="100000"/>
              <a:buChar char="•"/>
            </a:pPr>
            <a:r>
              <a:rPr lang="en-US" sz="1050" b="1" dirty="0">
                <a:solidFill>
                  <a:srgbClr val="125C60"/>
                </a:solidFill>
                <a:latin typeface="Proxima Nova" pitchFamily="34" charset="0"/>
                <a:ea typeface="Proxima Nova" pitchFamily="34" charset="-122"/>
                <a:cs typeface="Proxima Nova" pitchFamily="34" charset="-120"/>
              </a:rPr>
              <a:t>36,000</a:t>
            </a:r>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 guests over three nights alongside the Convention Center expo (Aug. 2026).</a:t>
            </a:r>
            <a:endParaRPr lang="en-US" sz="1050" dirty="0"/>
          </a:p>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Marketing: The 2028 Olympics bring indoor volleyball to Honda Center the same year OC Vibe's first hotel and the Katella bridge open.</a:t>
            </a:r>
            <a:endParaRPr lang="en-US" sz="1050" dirty="0"/>
          </a:p>
        </p:txBody>
      </p:sp>
      <p:sp>
        <p:nvSpPr>
          <p:cNvPr id="10" name="Shape 8"/>
          <p:cNvSpPr/>
          <p:nvPr/>
        </p:nvSpPr>
        <p:spPr>
          <a:xfrm>
            <a:off x="6233008" y="2468880"/>
            <a:ext cx="5410048" cy="45720"/>
          </a:xfrm>
          <a:prstGeom prst="rect">
            <a:avLst/>
          </a:prstGeom>
          <a:solidFill>
            <a:srgbClr val="125C60"/>
          </a:solidFill>
          <a:ln w="12700">
            <a:solidFill>
              <a:srgbClr val="125C60"/>
            </a:solidFill>
            <a:prstDash val="solid"/>
          </a:ln>
        </p:spPr>
      </p:sp>
      <p:sp>
        <p:nvSpPr>
          <p:cNvPr id="11" name="Text 9"/>
          <p:cNvSpPr txBox="1"/>
          <p:nvPr/>
        </p:nvSpPr>
        <p:spPr>
          <a:xfrm>
            <a:off x="6233008" y="2560320"/>
            <a:ext cx="5410048" cy="256032"/>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WHAT OC VIBE NEEDS</a:t>
            </a:r>
            <a:endParaRPr lang="en-US" sz="1000" dirty="0"/>
          </a:p>
        </p:txBody>
      </p:sp>
      <p:sp>
        <p:nvSpPr>
          <p:cNvPr id="12" name="Text 10"/>
          <p:cNvSpPr txBox="1"/>
          <p:nvPr/>
        </p:nvSpPr>
        <p:spPr>
          <a:xfrm>
            <a:off x="6233008" y="2852928"/>
            <a:ext cx="5410048" cy="3063240"/>
          </a:xfrm>
          <a:prstGeom prst="rect">
            <a:avLst/>
          </a:prstGeom>
          <a:noFill/>
          <a:ln/>
        </p:spPr>
        <p:txBody>
          <a:bodyPr wrap="square" lIns="0" tIns="0" rIns="0" bIns="0" rtlCol="0" anchor="t"/>
          <a:lstStyle/>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Events: Evening-event packages for 2027 Convention Center groups, sold with Visit Anaheim's sales team.</a:t>
            </a:r>
            <a:endParaRPr lang="en-US" sz="1050" dirty="0"/>
          </a:p>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Strategy: 2027 targets set against 2025 as well as 2026, since the 2026 World Cup makes Q2–Q3 2027 a tough comparison.</a:t>
            </a:r>
            <a:endParaRPr lang="en-US" sz="1050" dirty="0"/>
          </a:p>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Operations: Staffing and pricing plans with labor (about </a:t>
            </a:r>
            <a:pPr algn="l" marL="177800" indent="-177800">
              <a:spcAft>
                <a:spcPts val="600"/>
              </a:spcAft>
              <a:buSzPct val="100000"/>
              <a:buChar char="•"/>
            </a:pPr>
            <a:r>
              <a:rPr lang="en-US" sz="1050" b="1" dirty="0">
                <a:solidFill>
                  <a:srgbClr val="125C60"/>
                </a:solidFill>
                <a:latin typeface="Proxima Nova" pitchFamily="34" charset="0"/>
                <a:ea typeface="Proxima Nova" pitchFamily="34" charset="-122"/>
                <a:cs typeface="Proxima Nova" pitchFamily="34" charset="-120"/>
              </a:rPr>
              <a:t>6%</a:t>
            </a:r>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 a year) and price growth (about </a:t>
            </a:r>
            <a:pPr algn="l" marL="177800" indent="-177800">
              <a:spcAft>
                <a:spcPts val="600"/>
              </a:spcAft>
              <a:buSzPct val="100000"/>
              <a:buChar char="•"/>
            </a:pPr>
            <a:r>
              <a:rPr lang="en-US" sz="1050" b="1" dirty="0">
                <a:solidFill>
                  <a:srgbClr val="125C60"/>
                </a:solidFill>
                <a:latin typeface="Proxima Nova" pitchFamily="34" charset="0"/>
                <a:ea typeface="Proxima Nova" pitchFamily="34" charset="-122"/>
                <a:cs typeface="Proxima Nova" pitchFamily="34" charset="-120"/>
              </a:rPr>
              <a:t>3.2%</a:t>
            </a:r>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 a year) built in.</a:t>
            </a:r>
            <a:endParaRPr lang="en-US" sz="1050" dirty="0"/>
          </a:p>
        </p:txBody>
      </p:sp>
      <p:sp>
        <p:nvSpPr>
          <p:cNvPr id="13"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LARC Market Intelligence Reports (Jan.–Sept. 2026); Visit Anaheim via CoStar (2026 bookings); BizBash (Sept. 16, 2026); Orange County Business Journal (June 1,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105</a:t>
            </a:fld>
            <a:endParaRPr lang="en-US"/>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Growth, opportunities, quick wins, hurdles, pitfalls and explanations</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Every hurdle and pitfall comes with a solution · sources and dates in the dashboard</a:t>
            </a:r>
            <a:endParaRPr lang="en-US" sz="1200" dirty="0"/>
          </a:p>
        </p:txBody>
      </p:sp>
      <p:sp>
        <p:nvSpPr>
          <p:cNvPr id="4" name="Text 2"/>
          <p:cNvSpPr txBox="1"/>
          <p:nvPr/>
        </p:nvSpPr>
        <p:spPr>
          <a:xfrm>
            <a:off x="548640" y="1371600"/>
            <a:ext cx="5455768" cy="292608"/>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Anaheim and OC Vibe today</a:t>
            </a:r>
            <a:endParaRPr lang="en-US" sz="1300" dirty="0"/>
          </a:p>
        </p:txBody>
      </p:sp>
      <p:graphicFrame>
        <p:nvGraphicFramePr>
          <p:cNvPr id="107"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5455768" cy="914400"/>
        </p:xfrm>
        <a:graphic>
          <a:graphicData uri="http://schemas.openxmlformats.org/drawingml/2006/table">
            <a:tbl>
              <a:tblPr/>
              <a:tblGrid>
                <a:gridCol w="868680"/>
                <a:gridCol w="2971800"/>
                <a:gridCol w="1615288"/>
              </a:tblGrid>
              <a:tr h="457200">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Type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Point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Solution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Growth</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Tourism Economics forecasts Anaheim visitor spending of </a:t>
                      </a:r>
                      <a:pPr algn="l" indent="0" marL="0">
                        <a:buNone/>
                      </a:pPr>
                      <a:r>
                        <a:rPr lang="en-US" sz="750" b="1" dirty="0">
                          <a:solidFill>
                            <a:srgbClr val="125C60"/>
                          </a:solidFill>
                          <a:latin typeface="Proxima Nova" pitchFamily="34" charset="0"/>
                          <a:ea typeface="Proxima Nova" pitchFamily="34" charset="-122"/>
                          <a:cs typeface="Proxima Nova" pitchFamily="34" charset="-120"/>
                        </a:rPr>
                        <a:t>$7.2B</a:t>
                      </a:r>
                      <a:pPr algn="l" indent="0" marL="0">
                        <a:buNone/>
                      </a:pPr>
                      <a:r>
                        <a:rPr lang="en-US" sz="750" dirty="0">
                          <a:solidFill>
                            <a:srgbClr val="231F20"/>
                          </a:solidFill>
                          <a:latin typeface="Proxima Nova" pitchFamily="34" charset="0"/>
                          <a:ea typeface="Proxima Nova" pitchFamily="34" charset="-122"/>
                          <a:cs typeface="Proxima Nova" pitchFamily="34" charset="-120"/>
                        </a:rPr>
                        <a:t> in 2026, up </a:t>
                      </a:r>
                      <a:pPr algn="l" indent="0" marL="0">
                        <a:buNone/>
                      </a:pPr>
                      <a:r>
                        <a:rPr lang="en-US" sz="750" b="1" dirty="0">
                          <a:solidFill>
                            <a:srgbClr val="125C60"/>
                          </a:solidFill>
                          <a:latin typeface="Proxima Nova" pitchFamily="34" charset="0"/>
                          <a:ea typeface="Proxima Nova" pitchFamily="34" charset="-122"/>
                          <a:cs typeface="Proxima Nova" pitchFamily="34" charset="-120"/>
                        </a:rPr>
                        <a:t>5.6%</a:t>
                      </a:r>
                      <a:pPr algn="l" indent="0" marL="0">
                        <a:buNone/>
                      </a:pPr>
                      <a:r>
                        <a:rPr lang="en-US" sz="750" dirty="0">
                          <a:solidFill>
                            <a:srgbClr val="231F20"/>
                          </a:solidFill>
                          <a:latin typeface="Proxima Nova" pitchFamily="34" charset="0"/>
                          <a:ea typeface="Proxima Nova" pitchFamily="34" charset="-122"/>
                          <a:cs typeface="Proxima Nova" pitchFamily="34" charset="-120"/>
                        </a:rPr>
                        <a:t>, with visitors up </a:t>
                      </a:r>
                      <a:pPr algn="l" indent="0" marL="0">
                        <a:buNone/>
                      </a:pPr>
                      <a:r>
                        <a:rPr lang="en-US" sz="750" b="1" dirty="0">
                          <a:solidFill>
                            <a:srgbClr val="125C60"/>
                          </a:solidFill>
                          <a:latin typeface="Proxima Nova" pitchFamily="34" charset="0"/>
                          <a:ea typeface="Proxima Nova" pitchFamily="34" charset="-122"/>
                          <a:cs typeface="Proxima Nova" pitchFamily="34" charset="-120"/>
                        </a:rPr>
                        <a:t>1.9% to 27.0M</a:t>
                      </a:r>
                      <a:pPr algn="l" indent="0" marL="0">
                        <a:buNone/>
                      </a:pPr>
                      <a:r>
                        <a:rPr lang="en-US" sz="750" dirty="0">
                          <a:solidFill>
                            <a:srgbClr val="231F20"/>
                          </a:solidFill>
                          <a:latin typeface="Proxima Nova" pitchFamily="34" charset="0"/>
                          <a:ea typeface="Proxima Nova" pitchFamily="34" charset="-122"/>
                          <a:cs typeface="Proxima Nova" pitchFamily="34" charset="-120"/>
                        </a:rPr>
                        <a: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Opportunity</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The OC Vibe area already accounts for </a:t>
                      </a:r>
                      <a:pPr algn="l" indent="0" marL="0">
                        <a:buNone/>
                      </a:pPr>
                      <a:r>
                        <a:rPr lang="en-US" sz="750" b="1" dirty="0">
                          <a:solidFill>
                            <a:srgbClr val="125C60"/>
                          </a:solidFill>
                          <a:latin typeface="Proxima Nova" pitchFamily="34" charset="0"/>
                          <a:ea typeface="Proxima Nova" pitchFamily="34" charset="-122"/>
                          <a:cs typeface="Proxima Nova" pitchFamily="34" charset="-120"/>
                        </a:rPr>
                        <a:t>5.2%</a:t>
                      </a:r>
                      <a:pPr algn="l" indent="0" marL="0">
                        <a:buNone/>
                      </a:pPr>
                      <a:r>
                        <a:rPr lang="en-US" sz="750" dirty="0">
                          <a:solidFill>
                            <a:srgbClr val="231F20"/>
                          </a:solidFill>
                          <a:latin typeface="Proxima Nova" pitchFamily="34" charset="0"/>
                          <a:ea typeface="Proxima Nova" pitchFamily="34" charset="-122"/>
                          <a:cs typeface="Proxima Nova" pitchFamily="34" charset="-120"/>
                        </a:rPr>
                        <a:t> of Anaheim visitor days, a measured starting point.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Quick win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Capture ticket-buyer ZIP codes from the first 2027 shows so OC Vibe's visitors can be measured, not estimated.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Early hurdle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 OC Vibe attendance, ticketing or hotel data exists yet.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Agree a quarterly data exchange with Visit Anaheim BI before the 2027 openings.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Pitfall</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Citywide Tourism Economics totals do not measure OC Vibe.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Report OC Vibe with its own ticketing, hotel and card data and Datafy's area share, not a share of city totals.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Explanation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Tourism Economics measures visitors and spending for the City of Anaheim; Datafy and Azira measure activity in specific areas, such as the OC Vibe area and District 5.</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6" name="Text 3"/>
          <p:cNvSpPr txBox="1"/>
          <p:nvPr/>
        </p:nvSpPr>
        <p:spPr>
          <a:xfrm>
            <a:off x="6187288" y="1371600"/>
            <a:ext cx="5455768" cy="292608"/>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Orange County tourism</a:t>
            </a:r>
            <a:endParaRPr lang="en-US" sz="1300" dirty="0"/>
          </a:p>
        </p:txBody>
      </p:sp>
      <p:graphicFrame>
        <p:nvGraphicFramePr>
          <p:cNvPr id="213" name="Table 1"/>
          <p:cNvGraphicFramePr>
            <a:graphicFrameLocks noGrp="1"/>
          </p:cNvGraphicFramePr>
          <p:nvPr>
            <p:extLst>
              <p:ext uri="{D42A27DB-BD31-4B8C-83A1-F6EECF244321}">
                <p14:modId xmlns:p14="http://schemas.microsoft.com/office/powerpoint/2010/main" val="1579011935"/>
              </p:ext>
            </p:extLst>
          </p:nvPr>
        </p:nvGraphicFramePr>
        <p:xfrm>
          <a:off x="6187288" y="1691640"/>
          <a:ext cx="5455768" cy="914400"/>
        </p:xfrm>
        <a:graphic>
          <a:graphicData uri="http://schemas.openxmlformats.org/drawingml/2006/table">
            <a:tbl>
              <a:tblPr/>
              <a:tblGrid>
                <a:gridCol w="868680"/>
                <a:gridCol w="2971800"/>
                <a:gridCol w="1615288"/>
              </a:tblGrid>
              <a:tr h="457200">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Type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Point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Solution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Growth</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Orange County visitors rose from </a:t>
                      </a:r>
                      <a:pPr algn="l" indent="0" marL="0">
                        <a:buNone/>
                      </a:pPr>
                      <a:r>
                        <a:rPr lang="en-US" sz="750" b="1" dirty="0">
                          <a:solidFill>
                            <a:srgbClr val="125C60"/>
                          </a:solidFill>
                          <a:latin typeface="Proxima Nova" pitchFamily="34" charset="0"/>
                          <a:ea typeface="Proxima Nova" pitchFamily="34" charset="-122"/>
                          <a:cs typeface="Proxima Nova" pitchFamily="34" charset="-120"/>
                        </a:rPr>
                        <a:t>39.0M</a:t>
                      </a:r>
                      <a:pPr algn="l" indent="0" marL="0">
                        <a:buNone/>
                      </a:pPr>
                      <a:r>
                        <a:rPr lang="en-US" sz="750" dirty="0">
                          <a:solidFill>
                            <a:srgbClr val="231F20"/>
                          </a:solidFill>
                          <a:latin typeface="Proxima Nova" pitchFamily="34" charset="0"/>
                          <a:ea typeface="Proxima Nova" pitchFamily="34" charset="-122"/>
                          <a:cs typeface="Proxima Nova" pitchFamily="34" charset="-120"/>
                        </a:rPr>
                        <a:t> (2021) to </a:t>
                      </a:r>
                      <a:pPr algn="l" indent="0" marL="0">
                        <a:buNone/>
                      </a:pPr>
                      <a:r>
                        <a:rPr lang="en-US" sz="750" b="1" dirty="0">
                          <a:solidFill>
                            <a:srgbClr val="125C60"/>
                          </a:solidFill>
                          <a:latin typeface="Proxima Nova" pitchFamily="34" charset="0"/>
                          <a:ea typeface="Proxima Nova" pitchFamily="34" charset="-122"/>
                          <a:cs typeface="Proxima Nova" pitchFamily="34" charset="-120"/>
                        </a:rPr>
                        <a:t>51.3M</a:t>
                      </a:r>
                      <a:pPr algn="l" indent="0" marL="0">
                        <a:buNone/>
                      </a:pPr>
                      <a:r>
                        <a:rPr lang="en-US" sz="750" dirty="0">
                          <a:solidFill>
                            <a:srgbClr val="231F20"/>
                          </a:solidFill>
                          <a:latin typeface="Proxima Nova" pitchFamily="34" charset="0"/>
                          <a:ea typeface="Proxima Nova" pitchFamily="34" charset="-122"/>
                          <a:cs typeface="Proxima Nova" pitchFamily="34" charset="-120"/>
                        </a:rPr>
                        <a:t> (2025), </a:t>
                      </a:r>
                      <a:pPr algn="l" indent="0" marL="0">
                        <a:buNone/>
                      </a:pPr>
                      <a:r>
                        <a:rPr lang="en-US" sz="750" b="1" dirty="0">
                          <a:solidFill>
                            <a:srgbClr val="125C60"/>
                          </a:solidFill>
                          <a:latin typeface="Proxima Nova" pitchFamily="34" charset="0"/>
                          <a:ea typeface="Proxima Nova" pitchFamily="34" charset="-122"/>
                          <a:cs typeface="Proxima Nova" pitchFamily="34" charset="-120"/>
                        </a:rPr>
                        <a:t>+31.5%</a:t>
                      </a:r>
                      <a:pPr algn="l" indent="0" marL="0">
                        <a:buNone/>
                      </a:pPr>
                      <a:r>
                        <a:rPr lang="en-US" sz="750" dirty="0">
                          <a:solidFill>
                            <a:srgbClr val="231F20"/>
                          </a:solidFill>
                          <a:latin typeface="Proxima Nova" pitchFamily="34" charset="0"/>
                          <a:ea typeface="Proxima Nova" pitchFamily="34" charset="-122"/>
                          <a:cs typeface="Proxima Nova" pitchFamily="34" charset="-120"/>
                        </a:rPr>
                        <a:t>; visitor spending in 2025p was </a:t>
                      </a:r>
                      <a:pPr algn="l" indent="0" marL="0">
                        <a:buNone/>
                      </a:pPr>
                      <a:r>
                        <a:rPr lang="en-US" sz="750" b="1" dirty="0">
                          <a:solidFill>
                            <a:srgbClr val="125C60"/>
                          </a:solidFill>
                          <a:latin typeface="Proxima Nova" pitchFamily="34" charset="0"/>
                          <a:ea typeface="Proxima Nova" pitchFamily="34" charset="-122"/>
                          <a:cs typeface="Proxima Nova" pitchFamily="34" charset="-120"/>
                        </a:rPr>
                        <a:t>21.5%</a:t>
                      </a:r>
                      <a:pPr algn="l" indent="0" marL="0">
                        <a:buNone/>
                      </a:pPr>
                      <a:r>
                        <a:rPr lang="en-US" sz="750" dirty="0">
                          <a:solidFill>
                            <a:srgbClr val="231F20"/>
                          </a:solidFill>
                          <a:latin typeface="Proxima Nova" pitchFamily="34" charset="0"/>
                          <a:ea typeface="Proxima Nova" pitchFamily="34" charset="-122"/>
                          <a:cs typeface="Proxima Nova" pitchFamily="34" charset="-120"/>
                        </a:rPr>
                        <a:t> above 2019.</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Opportunity</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January (</a:t>
                      </a:r>
                      <a:pPr algn="l" indent="0" marL="0">
                        <a:buNone/>
                      </a:pPr>
                      <a:r>
                        <a:rPr lang="en-US" sz="750" b="1" dirty="0">
                          <a:solidFill>
                            <a:srgbClr val="125C60"/>
                          </a:solidFill>
                          <a:latin typeface="Proxima Nova" pitchFamily="34" charset="0"/>
                          <a:ea typeface="Proxima Nova" pitchFamily="34" charset="-122"/>
                          <a:cs typeface="Proxima Nova" pitchFamily="34" charset="-120"/>
                        </a:rPr>
                        <a:t>61.2%</a:t>
                      </a:r>
                      <a:pPr algn="l" indent="0" marL="0">
                        <a:buNone/>
                      </a:pPr>
                      <a:r>
                        <a:rPr lang="en-US" sz="750" dirty="0">
                          <a:solidFill>
                            <a:srgbClr val="231F20"/>
                          </a:solidFill>
                          <a:latin typeface="Proxima Nova" pitchFamily="34" charset="0"/>
                          <a:ea typeface="Proxima Nova" pitchFamily="34" charset="-122"/>
                          <a:cs typeface="Proxima Nova" pitchFamily="34" charset="-120"/>
                        </a:rPr>
                        <a:t>), December (</a:t>
                      </a:r>
                      <a:pPr algn="l" indent="0" marL="0">
                        <a:buNone/>
                      </a:pPr>
                      <a:r>
                        <a:rPr lang="en-US" sz="750" b="1" dirty="0">
                          <a:solidFill>
                            <a:srgbClr val="125C60"/>
                          </a:solidFill>
                          <a:latin typeface="Proxima Nova" pitchFamily="34" charset="0"/>
                          <a:ea typeface="Proxima Nova" pitchFamily="34" charset="-122"/>
                          <a:cs typeface="Proxima Nova" pitchFamily="34" charset="-120"/>
                        </a:rPr>
                        <a:t>68.9%</a:t>
                      </a:r>
                      <a:pPr algn="l" indent="0" marL="0">
                        <a:buNone/>
                      </a:pPr>
                      <a:r>
                        <a:rPr lang="en-US" sz="750" dirty="0">
                          <a:solidFill>
                            <a:srgbClr val="231F20"/>
                          </a:solidFill>
                          <a:latin typeface="Proxima Nova" pitchFamily="34" charset="0"/>
                          <a:ea typeface="Proxima Nova" pitchFamily="34" charset="-122"/>
                          <a:cs typeface="Proxima Nova" pitchFamily="34" charset="-120"/>
                        </a:rPr>
                        <a:t>) and February (</a:t>
                      </a:r>
                      <a:pPr algn="l" indent="0" marL="0">
                        <a:buNone/>
                      </a:pPr>
                      <a:r>
                        <a:rPr lang="en-US" sz="750" b="1" dirty="0">
                          <a:solidFill>
                            <a:srgbClr val="125C60"/>
                          </a:solidFill>
                          <a:latin typeface="Proxima Nova" pitchFamily="34" charset="0"/>
                          <a:ea typeface="Proxima Nova" pitchFamily="34" charset="-122"/>
                          <a:cs typeface="Proxima Nova" pitchFamily="34" charset="-120"/>
                        </a:rPr>
                        <a:t>69.0%</a:t>
                      </a:r>
                      <a:pPr algn="l" indent="0" marL="0">
                        <a:buNone/>
                      </a:pPr>
                      <a:r>
                        <a:rPr lang="en-US" sz="750" dirty="0">
                          <a:solidFill>
                            <a:srgbClr val="231F20"/>
                          </a:solidFill>
                          <a:latin typeface="Proxima Nova" pitchFamily="34" charset="0"/>
                          <a:ea typeface="Proxima Nova" pitchFamily="34" charset="-122"/>
                          <a:cs typeface="Proxima Nova" pitchFamily="34" charset="-120"/>
                        </a:rPr>
                        <a:t>) are the most open hotel months (2023-2025 averages).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Schedule OC Vibe events that draw overnight guests in those months and share dates with Visit Anaheim for hotel packages.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Quick win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The 2019 CIC profile answers purpose, party size and children for both Orange County and Anaheim.</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Use it now as the labeled 2019 baseline in ECA's study; it is in the Reports and data library.</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Early hurdle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 Orange County visitor count is published for 2020 or 2026 year to date, and the two visitor series use different methods.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Request 2019-2020 and 2026 county estimates from Tourism Economics; until they arrive, show Anaheim's Jan.-June 2026 count (</a:t>
                      </a:r>
                      <a:pPr algn="l" indent="0" marL="0">
                        <a:buNone/>
                      </a:pPr>
                      <a:r>
                        <a:rPr lang="en-US" sz="750" b="1" dirty="0">
                          <a:solidFill>
                            <a:srgbClr val="125C60"/>
                          </a:solidFill>
                          <a:latin typeface="Proxima Nova" pitchFamily="34" charset="0"/>
                          <a:ea typeface="Proxima Nova" pitchFamily="34" charset="-122"/>
                          <a:cs typeface="Proxima Nova" pitchFamily="34" charset="-120"/>
                        </a:rPr>
                        <a:t>+3.1%</a:t>
                      </a:r>
                      <a:pPr algn="l" indent="0" marL="0">
                        <a:buNone/>
                      </a:pPr>
                      <a:r>
                        <a:rPr lang="en-US" sz="750" dirty="0">
                          <a:solidFill>
                            <a:srgbClr val="231F20"/>
                          </a:solidFill>
                          <a:latin typeface="Proxima Nova" pitchFamily="34" charset="0"/>
                          <a:ea typeface="Proxima Nova" pitchFamily="34" charset="-122"/>
                          <a:cs typeface="Proxima Nova" pitchFamily="34" charset="-120"/>
                        </a:rPr>
                        <a:t>) and county hotel data as the current read.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Pitfall</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The Los Angeles-Long Beach-Anaheim metro area includes Orange County, so its </a:t>
                      </a:r>
                      <a:pPr algn="l" indent="0" marL="0">
                        <a:buNone/>
                      </a:pPr>
                      <a:r>
                        <a:rPr lang="en-US" sz="750" b="1" dirty="0">
                          <a:solidFill>
                            <a:srgbClr val="125C60"/>
                          </a:solidFill>
                          <a:latin typeface="Proxima Nova" pitchFamily="34" charset="0"/>
                          <a:ea typeface="Proxima Nova" pitchFamily="34" charset="-122"/>
                          <a:cs typeface="Proxima Nova" pitchFamily="34" charset="-120"/>
                        </a:rPr>
                        <a:t>44.7%</a:t>
                      </a:r>
                      <a:pPr algn="l" indent="0" marL="0">
                        <a:buNone/>
                      </a:pPr>
                      <a:r>
                        <a:rPr lang="en-US" sz="750" dirty="0">
                          <a:solidFill>
                            <a:srgbClr val="231F20"/>
                          </a:solidFill>
                          <a:latin typeface="Proxima Nova" pitchFamily="34" charset="0"/>
                          <a:ea typeface="Proxima Nova" pitchFamily="34" charset="-122"/>
                          <a:cs typeface="Proxima Nova" pitchFamily="34" charset="-120"/>
                        </a:rPr>
                        <a:t> share mixes local and Los Angeles County trips; Azira has no ZIP codes.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Report metro-level shares with that note; a county or ZIP origin split would require a custom pull from Symphony or a new survey.</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Explanation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Azira length of stay and distance shares shifted in 2026 (trips under 50 miles rose to </a:t>
                      </a:r>
                      <a:pPr algn="l" indent="0" marL="0">
                        <a:buNone/>
                      </a:pPr>
                      <a:r>
                        <a:rPr lang="en-US" sz="750" b="1" dirty="0">
                          <a:solidFill>
                            <a:srgbClr val="125C60"/>
                          </a:solidFill>
                          <a:latin typeface="Proxima Nova" pitchFamily="34" charset="0"/>
                          <a:ea typeface="Proxima Nova" pitchFamily="34" charset="-122"/>
                          <a:cs typeface="Proxima Nova" pitchFamily="34" charset="-120"/>
                        </a:rPr>
                        <a:t>73.9%-83.4%</a:t>
                      </a:r>
                      <a:pPr algn="l" indent="0" marL="0">
                        <a:buNone/>
                      </a:pPr>
                      <a:r>
                        <a:rPr lang="en-US" sz="750" dirty="0">
                          <a:solidFill>
                            <a:srgbClr val="231F20"/>
                          </a:solidFill>
                          <a:latin typeface="Proxima Nova" pitchFamily="34" charset="0"/>
                          <a:ea typeface="Proxima Nova" pitchFamily="34" charset="-122"/>
                          <a:cs typeface="Proxima Nova" pitchFamily="34" charset="-120"/>
                        </a:rPr>
                        <a:t> from </a:t>
                      </a:r>
                      <a:pPr algn="l" indent="0" marL="0">
                        <a:buNone/>
                      </a:pPr>
                      <a:r>
                        <a:rPr lang="en-US" sz="750" b="1" dirty="0">
                          <a:solidFill>
                            <a:srgbClr val="125C60"/>
                          </a:solidFill>
                          <a:latin typeface="Proxima Nova" pitchFamily="34" charset="0"/>
                          <a:ea typeface="Proxima Nova" pitchFamily="34" charset="-122"/>
                          <a:cs typeface="Proxima Nova" pitchFamily="34" charset="-120"/>
                        </a:rPr>
                        <a:t>59%-66%</a:t>
                      </a:r>
                      <a:pPr algn="l" indent="0" marL="0">
                        <a:buNone/>
                      </a:pPr>
                      <a:r>
                        <a:rPr lang="en-US" sz="750" dirty="0">
                          <a:solidFill>
                            <a:srgbClr val="231F20"/>
                          </a:solidFill>
                          <a:latin typeface="Proxima Nova" pitchFamily="34" charset="0"/>
                          <a:ea typeface="Proxima Nova" pitchFamily="34" charset="-122"/>
                          <a:cs typeface="Proxima Nova" pitchFamily="34" charset="-120"/>
                        </a:rPr>
                        <a: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Treat 2026 Azira trends as a method change until Symphony confirms; compare within 2026 only.</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8"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Anaheim and OC Vibe today: Tourism Economics, Anaheim Travel Forecast (Sept. 2026); Datafy Anaheim visitor report (calendar 2024) | Orange County tourism: Tourism Economics, Economic Impact of Visitors to Orange County, 2025 (pub. May 2026); Dean Runyan Associates for Visit California, The Economic Impact of Travel in California, 2025p (Apr. 2026), Orange County detail; CoStar, Orange County hotel market (monthly data through Sept. 2026; market report Oct. 12,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106</a:t>
            </a:fld>
            <a:endParaRPr lang="en-US"/>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Growth, opportunities, quick wins, hurdles, pitfalls and explanations (continued)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Every hurdle and pitfall comes with a solution · sources and dates in the dashboard</a:t>
            </a:r>
            <a:endParaRPr lang="en-US" sz="1200" dirty="0"/>
          </a:p>
        </p:txBody>
      </p:sp>
      <p:sp>
        <p:nvSpPr>
          <p:cNvPr id="4" name="Text 2"/>
          <p:cNvSpPr txBox="1"/>
          <p:nvPr/>
        </p:nvSpPr>
        <p:spPr>
          <a:xfrm>
            <a:off x="548640" y="1371600"/>
            <a:ext cx="5455768" cy="292608"/>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Who visits</a:t>
            </a:r>
            <a:endParaRPr lang="en-US" sz="1300" dirty="0"/>
          </a:p>
        </p:txBody>
      </p:sp>
      <p:graphicFrame>
        <p:nvGraphicFramePr>
          <p:cNvPr id="108"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5455768" cy="914400"/>
        </p:xfrm>
        <a:graphic>
          <a:graphicData uri="http://schemas.openxmlformats.org/drawingml/2006/table">
            <a:tbl>
              <a:tblPr/>
              <a:tblGrid>
                <a:gridCol w="868680"/>
                <a:gridCol w="2971800"/>
                <a:gridCol w="1615288"/>
              </a:tblGrid>
              <a:tr h="457200">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Type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Point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Solution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Growth</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b="1" dirty="0">
                          <a:solidFill>
                            <a:srgbClr val="125C60"/>
                          </a:solidFill>
                          <a:latin typeface="Proxima Nova" pitchFamily="34" charset="0"/>
                          <a:ea typeface="Proxima Nova" pitchFamily="34" charset="-122"/>
                          <a:cs typeface="Proxima Nova" pitchFamily="34" charset="-120"/>
                        </a:rPr>
                        <a:t>85.8%</a:t>
                      </a:r>
                      <a:pPr algn="l" indent="0" marL="0">
                        <a:buNone/>
                      </a:pPr>
                      <a:r>
                        <a:rPr lang="en-US" sz="750" dirty="0">
                          <a:solidFill>
                            <a:srgbClr val="231F20"/>
                          </a:solidFill>
                          <a:latin typeface="Proxima Nova" pitchFamily="34" charset="0"/>
                          <a:ea typeface="Proxima Nova" pitchFamily="34" charset="-122"/>
                          <a:cs typeface="Proxima Nova" pitchFamily="34" charset="-120"/>
                        </a:rPr>
                        <a:t> of District 5 visitors already stay overnight.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Opportunity</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b="1" dirty="0">
                          <a:solidFill>
                            <a:srgbClr val="125C60"/>
                          </a:solidFill>
                          <a:latin typeface="Proxima Nova" pitchFamily="34" charset="0"/>
                          <a:ea typeface="Proxima Nova" pitchFamily="34" charset="-122"/>
                          <a:cs typeface="Proxima Nova" pitchFamily="34" charset="-120"/>
                        </a:rPr>
                        <a:t>44%</a:t>
                      </a:r>
                      <a:pPr algn="l" indent="0" marL="0">
                        <a:buNone/>
                      </a:pPr>
                      <a:r>
                        <a:rPr lang="en-US" sz="750" dirty="0">
                          <a:solidFill>
                            <a:srgbClr val="231F20"/>
                          </a:solidFill>
                          <a:latin typeface="Proxima Nova" pitchFamily="34" charset="0"/>
                          <a:ea typeface="Proxima Nova" pitchFamily="34" charset="-122"/>
                          <a:cs typeface="Proxima Nova" pitchFamily="34" charset="-120"/>
                        </a:rPr>
                        <a:t> of District 5's domestic visitors come from outside California; fly-in markets include Seattle, Phoenix, Las Vegas, Orlando and New York.</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Quick win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Package OC Vibe with Anaheim Resort stays (</a:t>
                      </a:r>
                      <a:pPr algn="l" indent="0" marL="0">
                        <a:buNone/>
                      </a:pPr>
                      <a:r>
                        <a:rPr lang="en-US" sz="750" b="1" dirty="0">
                          <a:solidFill>
                            <a:srgbClr val="125C60"/>
                          </a:solidFill>
                          <a:latin typeface="Proxima Nova" pitchFamily="34" charset="0"/>
                          <a:ea typeface="Proxima Nova" pitchFamily="34" charset="-122"/>
                          <a:cs typeface="Proxima Nova" pitchFamily="34" charset="-120"/>
                        </a:rPr>
                        <a:t>13.7%</a:t>
                      </a:r>
                      <a:pPr algn="l" indent="0" marL="0">
                        <a:buNone/>
                      </a:pPr>
                      <a:r>
                        <a:rPr lang="en-US" sz="750" dirty="0">
                          <a:solidFill>
                            <a:srgbClr val="231F20"/>
                          </a:solidFill>
                          <a:latin typeface="Proxima Nova" pitchFamily="34" charset="0"/>
                          <a:ea typeface="Proxima Nova" pitchFamily="34" charset="-122"/>
                          <a:cs typeface="Proxima Nova" pitchFamily="34" charset="-120"/>
                        </a:rPr>
                        <a:t> of District 5 visitors already go there).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Early hurdle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International restaurant spending fell </a:t>
                      </a:r>
                      <a:pPr algn="l" indent="0" marL="0">
                        <a:buNone/>
                      </a:pPr>
                      <a:r>
                        <a:rPr lang="en-US" sz="750" b="1" dirty="0">
                          <a:solidFill>
                            <a:srgbClr val="125C60"/>
                          </a:solidFill>
                          <a:latin typeface="Proxima Nova" pitchFamily="34" charset="0"/>
                          <a:ea typeface="Proxima Nova" pitchFamily="34" charset="-122"/>
                          <a:cs typeface="Proxima Nova" pitchFamily="34" charset="-120"/>
                        </a:rPr>
                        <a:t>19.1%</a:t>
                      </a:r>
                      <a:pPr algn="l" indent="0" marL="0">
                        <a:buNone/>
                      </a:pPr>
                      <a:r>
                        <a:rPr lang="en-US" sz="750" dirty="0">
                          <a:solidFill>
                            <a:srgbClr val="231F20"/>
                          </a:solidFill>
                          <a:latin typeface="Proxima Nova" pitchFamily="34" charset="0"/>
                          <a:ea typeface="Proxima Nova" pitchFamily="34" charset="-122"/>
                          <a:cs typeface="Proxima Nova" pitchFamily="34" charset="-120"/>
                        </a:rPr>
                        <a:t> in August 2026.</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Offer menus and promotions aimed at Mexico and Canada visitors, the largest international markets.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Pitfall</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Azira, Datafy and Visa count visitors differently.</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Compare trends within each source, not levels across sources.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Explanation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Azira counts devices seen in District 5 (sample </a:t>
                      </a:r>
                      <a:pPr algn="l" indent="0" marL="0">
                        <a:buNone/>
                      </a:pPr>
                      <a:r>
                        <a:rPr lang="en-US" sz="750" b="1" dirty="0">
                          <a:solidFill>
                            <a:srgbClr val="125C60"/>
                          </a:solidFill>
                          <a:latin typeface="Proxima Nova" pitchFamily="34" charset="0"/>
                          <a:ea typeface="Proxima Nova" pitchFamily="34" charset="-122"/>
                          <a:cs typeface="Proxima Nova" pitchFamily="34" charset="-120"/>
                        </a:rPr>
                        <a:t>1,003,735,</a:t>
                      </a:r>
                      <a:pPr algn="l" indent="0" marL="0">
                        <a:buNone/>
                      </a:pPr>
                      <a:r>
                        <a:rPr lang="en-US" sz="750" dirty="0">
                          <a:solidFill>
                            <a:srgbClr val="231F20"/>
                          </a:solidFill>
                          <a:latin typeface="Proxima Nova" pitchFamily="34" charset="0"/>
                          <a:ea typeface="Proxima Nova" pitchFamily="34" charset="-122"/>
                          <a:cs typeface="Proxima Nova" pitchFamily="34" charset="-120"/>
                        </a:rPr>
                        <a:t> Jan.–May 2026); Datafy measures Anaheim visitor days in 2024. Both describe the area before OC Vibe's new venues open.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6" name="Text 3"/>
          <p:cNvSpPr txBox="1"/>
          <p:nvPr/>
        </p:nvSpPr>
        <p:spPr>
          <a:xfrm>
            <a:off x="6187288" y="1371600"/>
            <a:ext cx="5455768" cy="292608"/>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Visitor spending</a:t>
            </a:r>
            <a:endParaRPr lang="en-US" sz="1300" dirty="0"/>
          </a:p>
        </p:txBody>
      </p:sp>
      <p:graphicFrame>
        <p:nvGraphicFramePr>
          <p:cNvPr id="215" name="Table 1"/>
          <p:cNvGraphicFramePr>
            <a:graphicFrameLocks noGrp="1"/>
          </p:cNvGraphicFramePr>
          <p:nvPr>
            <p:extLst>
              <p:ext uri="{D42A27DB-BD31-4B8C-83A1-F6EECF244321}">
                <p14:modId xmlns:p14="http://schemas.microsoft.com/office/powerpoint/2010/main" val="1579011935"/>
              </p:ext>
            </p:extLst>
          </p:nvPr>
        </p:nvGraphicFramePr>
        <p:xfrm>
          <a:off x="6187288" y="1691640"/>
          <a:ext cx="5455768" cy="914400"/>
        </p:xfrm>
        <a:graphic>
          <a:graphicData uri="http://schemas.openxmlformats.org/drawingml/2006/table">
            <a:tbl>
              <a:tblPr/>
              <a:tblGrid>
                <a:gridCol w="868680"/>
                <a:gridCol w="2971800"/>
                <a:gridCol w="1615288"/>
              </a:tblGrid>
              <a:tr h="457200">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Type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Point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Solution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Growth</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Visitor spending grows faster than visits (</a:t>
                      </a:r>
                      <a:pPr algn="l" indent="0" marL="0">
                        <a:buNone/>
                      </a:pPr>
                      <a:r>
                        <a:rPr lang="en-US" sz="750" b="1" dirty="0">
                          <a:solidFill>
                            <a:srgbClr val="125C60"/>
                          </a:solidFill>
                          <a:latin typeface="Proxima Nova" pitchFamily="34" charset="0"/>
                          <a:ea typeface="Proxima Nova" pitchFamily="34" charset="-122"/>
                          <a:cs typeface="Proxima Nova" pitchFamily="34" charset="-120"/>
                        </a:rPr>
                        <a:t>+4.1%</a:t>
                      </a:r>
                      <a:pPr algn="l" indent="0" marL="0">
                        <a:buNone/>
                      </a:pPr>
                      <a:r>
                        <a:rPr lang="en-US" sz="750" dirty="0">
                          <a:solidFill>
                            <a:srgbClr val="231F20"/>
                          </a:solidFill>
                          <a:latin typeface="Proxima Nova" pitchFamily="34" charset="0"/>
                          <a:ea typeface="Proxima Nova" pitchFamily="34" charset="-122"/>
                          <a:cs typeface="Proxima Nova" pitchFamily="34" charset="-120"/>
                        </a:rPr>
                        <a:t> vs. </a:t>
                      </a:r>
                      <a:pPr algn="l" indent="0" marL="0">
                        <a:buNone/>
                      </a:pPr>
                      <a:r>
                        <a:rPr lang="en-US" sz="750" b="1" dirty="0">
                          <a:solidFill>
                            <a:srgbClr val="125C60"/>
                          </a:solidFill>
                          <a:latin typeface="Proxima Nova" pitchFamily="34" charset="0"/>
                          <a:ea typeface="Proxima Nova" pitchFamily="34" charset="-122"/>
                          <a:cs typeface="Proxima Nova" pitchFamily="34" charset="-120"/>
                        </a:rPr>
                        <a:t>+1.4%</a:t>
                      </a:r>
                      <a:pPr algn="l" indent="0" marL="0">
                        <a:buNone/>
                      </a:pPr>
                      <a:r>
                        <a:rPr lang="en-US" sz="750" dirty="0">
                          <a:solidFill>
                            <a:srgbClr val="231F20"/>
                          </a:solidFill>
                          <a:latin typeface="Proxima Nova" pitchFamily="34" charset="0"/>
                          <a:ea typeface="Proxima Nova" pitchFamily="34" charset="-122"/>
                          <a:cs typeface="Proxima Nova" pitchFamily="34" charset="-120"/>
                        </a:rPr>
                        <a:t> a year to 2028), so spending per visitor rises </a:t>
                      </a:r>
                      <a:pPr algn="l" indent="0" marL="0">
                        <a:buNone/>
                      </a:pPr>
                      <a:r>
                        <a:rPr lang="en-US" sz="750" b="1" dirty="0">
                          <a:solidFill>
                            <a:srgbClr val="125C60"/>
                          </a:solidFill>
                          <a:latin typeface="Proxima Nova" pitchFamily="34" charset="0"/>
                          <a:ea typeface="Proxima Nova" pitchFamily="34" charset="-122"/>
                          <a:cs typeface="Proxima Nova" pitchFamily="34" charset="-120"/>
                        </a:rPr>
                        <a:t>+2.6%</a:t>
                      </a:r>
                      <a:pPr algn="l" indent="0" marL="0">
                        <a:buNone/>
                      </a:pPr>
                      <a:r>
                        <a:rPr lang="en-US" sz="750" dirty="0">
                          <a:solidFill>
                            <a:srgbClr val="231F20"/>
                          </a:solidFill>
                          <a:latin typeface="Proxima Nova" pitchFamily="34" charset="0"/>
                          <a:ea typeface="Proxima Nova" pitchFamily="34" charset="-122"/>
                          <a:cs typeface="Proxima Nova" pitchFamily="34" charset="-120"/>
                        </a:rPr>
                        <a:t> a year.</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Opportunity</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Visa spending per card rose </a:t>
                      </a:r>
                      <a:pPr algn="l" indent="0" marL="0">
                        <a:buNone/>
                      </a:pPr>
                      <a:r>
                        <a:rPr lang="en-US" sz="750" b="1" dirty="0">
                          <a:solidFill>
                            <a:srgbClr val="125C60"/>
                          </a:solidFill>
                          <a:latin typeface="Proxima Nova" pitchFamily="34" charset="0"/>
                          <a:ea typeface="Proxima Nova" pitchFamily="34" charset="-122"/>
                          <a:cs typeface="Proxima Nova" pitchFamily="34" charset="-120"/>
                        </a:rPr>
                        <a:t>4.7% to $85</a:t>
                      </a:r>
                      <a:pPr algn="l" indent="0" marL="0">
                        <a:buNone/>
                      </a:pPr>
                      <a:r>
                        <a:rPr lang="en-US" sz="750" dirty="0">
                          <a:solidFill>
                            <a:srgbClr val="231F20"/>
                          </a:solidFill>
                          <a:latin typeface="Proxima Nova" pitchFamily="34" charset="0"/>
                          <a:ea typeface="Proxima Nova" pitchFamily="34" charset="-122"/>
                          <a:cs typeface="Proxima Nova" pitchFamily="34" charset="-120"/>
                        </a:rPr>
                        <a:t> in August 2026: visitors are spending more per trip.</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Quick win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Price OC Vibe dining and event packages for visitors, not only locals.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Early hurdle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International card spending fell </a:t>
                      </a:r>
                      <a:pPr algn="l" indent="0" marL="0">
                        <a:buNone/>
                      </a:pPr>
                      <a:r>
                        <a:rPr lang="en-US" sz="750" b="1" dirty="0">
                          <a:solidFill>
                            <a:srgbClr val="125C60"/>
                          </a:solidFill>
                          <a:latin typeface="Proxima Nova" pitchFamily="34" charset="0"/>
                          <a:ea typeface="Proxima Nova" pitchFamily="34" charset="-122"/>
                          <a:cs typeface="Proxima Nova" pitchFamily="34" charset="-120"/>
                        </a:rPr>
                        <a:t>5.0%</a:t>
                      </a:r>
                      <a:pPr algn="l" indent="0" marL="0">
                        <a:buNone/>
                      </a:pPr>
                      <a:r>
                        <a:rPr lang="en-US" sz="750" dirty="0">
                          <a:solidFill>
                            <a:srgbClr val="231F20"/>
                          </a:solidFill>
                          <a:latin typeface="Proxima Nova" pitchFamily="34" charset="0"/>
                          <a:ea typeface="Proxima Nova" pitchFamily="34" charset="-122"/>
                          <a:cs typeface="Proxima Nova" pitchFamily="34" charset="-120"/>
                        </a:rPr>
                        <a:t> in August 2026.</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Feature OC Vibe in Visit Anaheim's Mexico, Canada and Japan efforts, the top three international markets.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Pitfall</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Higher prices can inflate spending without more visitors.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Track visits and spending per visitor together, not spending alone.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Explanation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Spending grows faster than visits because spending per trip rises with prices (Anaheim inflation about </a:t>
                      </a:r>
                      <a:pPr algn="l" indent="0" marL="0">
                        <a:buNone/>
                      </a:pPr>
                      <a:r>
                        <a:rPr lang="en-US" sz="750" b="1" dirty="0">
                          <a:solidFill>
                            <a:srgbClr val="125C60"/>
                          </a:solidFill>
                          <a:latin typeface="Proxima Nova" pitchFamily="34" charset="0"/>
                          <a:ea typeface="Proxima Nova" pitchFamily="34" charset="-122"/>
                          <a:cs typeface="Proxima Nova" pitchFamily="34" charset="-120"/>
                        </a:rPr>
                        <a:t>3.2%</a:t>
                      </a:r>
                      <a:pPr algn="l" indent="0" marL="0">
                        <a:buNone/>
                      </a:pPr>
                      <a:r>
                        <a:rPr lang="en-US" sz="750" dirty="0">
                          <a:solidFill>
                            <a:srgbClr val="231F20"/>
                          </a:solidFill>
                          <a:latin typeface="Proxima Nova" pitchFamily="34" charset="0"/>
                          <a:ea typeface="Proxima Nova" pitchFamily="34" charset="-122"/>
                          <a:cs typeface="Proxima Nova" pitchFamily="34" charset="-120"/>
                        </a:rPr>
                        <a:t> a year) while visitor counts grow slowly.</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8"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Who visits: Azira via Symphony (District 5, Jan. 1–May 31, 2026; domestic visitors, Aug. 2026); Azira via Symphony (District 5, Jan. 1–May 31, 2026; domestic visitors, Aug. 2026); Visa Destination Insights via Symphony (Aug. 2026 vs. Aug. 2025) | Visitor spending: Tourism Economics, Travel Forecast (pub. Sept. 2026; data to Aug. 31, 2026); Visa Destination Insights via Symphony (Aug. 2026 vs. Aug. 2025)</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107</a:t>
            </a:fld>
            <a:endParaRPr lang="en-US"/>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Growth, opportunities, quick wins, hurdles, pitfalls and explanations (continued)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Every hurdle and pitfall comes with a solution · sources and dates in the dashboard</a:t>
            </a:r>
            <a:endParaRPr lang="en-US" sz="1200" dirty="0"/>
          </a:p>
        </p:txBody>
      </p:sp>
      <p:sp>
        <p:nvSpPr>
          <p:cNvPr id="4" name="Text 2"/>
          <p:cNvSpPr txBox="1"/>
          <p:nvPr/>
        </p:nvSpPr>
        <p:spPr>
          <a:xfrm>
            <a:off x="548640" y="1371600"/>
            <a:ext cx="5455768" cy="292608"/>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Jobs and economy</a:t>
            </a:r>
            <a:endParaRPr lang="en-US" sz="1300" dirty="0"/>
          </a:p>
        </p:txBody>
      </p:sp>
      <p:graphicFrame>
        <p:nvGraphicFramePr>
          <p:cNvPr id="109"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5455768" cy="914400"/>
        </p:xfrm>
        <a:graphic>
          <a:graphicData uri="http://schemas.openxmlformats.org/drawingml/2006/table">
            <a:tbl>
              <a:tblPr/>
              <a:tblGrid>
                <a:gridCol w="868680"/>
                <a:gridCol w="2971800"/>
                <a:gridCol w="1615288"/>
              </a:tblGrid>
              <a:tr h="457200">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Type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Point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Solution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Growth</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Visitor spending grew </a:t>
                      </a:r>
                      <a:pPr algn="l" indent="0" marL="0">
                        <a:buNone/>
                      </a:pPr>
                      <a:r>
                        <a:rPr lang="en-US" sz="750" b="1" dirty="0">
                          <a:solidFill>
                            <a:srgbClr val="125C60"/>
                          </a:solidFill>
                          <a:latin typeface="Proxima Nova" pitchFamily="34" charset="0"/>
                          <a:ea typeface="Proxima Nova" pitchFamily="34" charset="-122"/>
                          <a:cs typeface="Proxima Nova" pitchFamily="34" charset="-120"/>
                        </a:rPr>
                        <a:t>3.1%</a:t>
                      </a:r>
                      <a:pPr algn="l" indent="0" marL="0">
                        <a:buNone/>
                      </a:pPr>
                      <a:r>
                        <a:rPr lang="en-US" sz="750" dirty="0">
                          <a:solidFill>
                            <a:srgbClr val="231F20"/>
                          </a:solidFill>
                          <a:latin typeface="Proxima Nova" pitchFamily="34" charset="0"/>
                          <a:ea typeface="Proxima Nova" pitchFamily="34" charset="-122"/>
                          <a:cs typeface="Proxima Nova" pitchFamily="34" charset="-120"/>
                        </a:rPr>
                        <a:t> in 2025; jobs supported reached </a:t>
                      </a:r>
                      <a:pPr algn="l" indent="0" marL="0">
                        <a:buNone/>
                      </a:pPr>
                      <a:r>
                        <a:rPr lang="en-US" sz="750" b="1" dirty="0">
                          <a:solidFill>
                            <a:srgbClr val="125C60"/>
                          </a:solidFill>
                          <a:latin typeface="Proxima Nova" pitchFamily="34" charset="0"/>
                          <a:ea typeface="Proxima Nova" pitchFamily="34" charset="-122"/>
                          <a:cs typeface="Proxima Nova" pitchFamily="34" charset="-120"/>
                        </a:rPr>
                        <a:t>67,817</a:t>
                      </a:r>
                      <a:pPr algn="l" indent="0" marL="0">
                        <a:buNone/>
                      </a:pPr>
                      <a:r>
                        <a:rPr lang="en-US" sz="750" dirty="0">
                          <a:solidFill>
                            <a:srgbClr val="231F20"/>
                          </a:solidFill>
                          <a:latin typeface="Proxima Nova" pitchFamily="34" charset="0"/>
                          <a:ea typeface="Proxima Nova" pitchFamily="34" charset="-122"/>
                          <a:cs typeface="Proxima Nova" pitchFamily="34" charset="-120"/>
                        </a:rPr>
                        <a: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Opportunity</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Food and beverage was the fastest-growing category (</a:t>
                      </a:r>
                      <a:pPr algn="l" indent="0" marL="0">
                        <a:buNone/>
                      </a:pPr>
                      <a:r>
                        <a:rPr lang="en-US" sz="750" b="1" dirty="0">
                          <a:solidFill>
                            <a:srgbClr val="125C60"/>
                          </a:solidFill>
                          <a:latin typeface="Proxima Nova" pitchFamily="34" charset="0"/>
                          <a:ea typeface="Proxima Nova" pitchFamily="34" charset="-122"/>
                          <a:cs typeface="Proxima Nova" pitchFamily="34" charset="-120"/>
                        </a:rPr>
                        <a:t>+5.5%</a:t>
                      </a:r>
                      <a:pPr algn="l" indent="0" marL="0">
                        <a:buNone/>
                      </a:pPr>
                      <a:r>
                        <a:rPr lang="en-US" sz="750" dirty="0">
                          <a:solidFill>
                            <a:srgbClr val="231F20"/>
                          </a:solidFill>
                          <a:latin typeface="Proxima Nova" pitchFamily="34" charset="0"/>
                          <a:ea typeface="Proxima Nova" pitchFamily="34" charset="-122"/>
                          <a:cs typeface="Proxima Nova" pitchFamily="34" charset="-120"/>
                        </a:rPr>
                        <a:t>) and OC Vibe plans 35+ restaurants.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Quick win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Recruit restaurant staff through local hospitality programs before the 2027 openings.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Early hurdle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Labor costs are rising about </a:t>
                      </a:r>
                      <a:pPr algn="l" indent="0" marL="0">
                        <a:buNone/>
                      </a:pPr>
                      <a:r>
                        <a:rPr lang="en-US" sz="750" b="1" dirty="0">
                          <a:solidFill>
                            <a:srgbClr val="125C60"/>
                          </a:solidFill>
                          <a:latin typeface="Proxima Nova" pitchFamily="34" charset="0"/>
                          <a:ea typeface="Proxima Nova" pitchFamily="34" charset="-122"/>
                          <a:cs typeface="Proxima Nova" pitchFamily="34" charset="-120"/>
                        </a:rPr>
                        <a:t>6%</a:t>
                      </a:r>
                      <a:pPr algn="l" indent="0" marL="0">
                        <a:buNone/>
                      </a:pPr>
                      <a:r>
                        <a:rPr lang="en-US" sz="750" dirty="0">
                          <a:solidFill>
                            <a:srgbClr val="231F20"/>
                          </a:solidFill>
                          <a:latin typeface="Proxima Nova" pitchFamily="34" charset="0"/>
                          <a:ea typeface="Proxima Nova" pitchFamily="34" charset="-122"/>
                          <a:cs typeface="Proxima Nova" pitchFamily="34" charset="-120"/>
                        </a:rPr>
                        <a:t> a year.</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Plan staffing and pricing with those costs built in; cross-train staff across venues.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Pitfall</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Applying Anaheim's average ratios to a different mix of spending can misstate jobs.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Refine with OC Vibe's actual category mix once venues report sales.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Explanation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Tourism Economics converts visitor spending into direct, indirect and induced jobs and taxes; Anaheim's 2025 ratio is </a:t>
                      </a:r>
                      <a:pPr algn="l" indent="0" marL="0">
                        <a:buNone/>
                      </a:pPr>
                      <a:r>
                        <a:rPr lang="en-US" sz="750" b="1" dirty="0">
                          <a:solidFill>
                            <a:srgbClr val="125C60"/>
                          </a:solidFill>
                          <a:latin typeface="Proxima Nova" pitchFamily="34" charset="0"/>
                          <a:ea typeface="Proxima Nova" pitchFamily="34" charset="-122"/>
                          <a:cs typeface="Proxima Nova" pitchFamily="34" charset="-120"/>
                        </a:rPr>
                        <a:t>$1.53</a:t>
                      </a:r>
                      <a:pPr algn="l" indent="0" marL="0">
                        <a:buNone/>
                      </a:pPr>
                      <a:r>
                        <a:rPr lang="en-US" sz="750" dirty="0">
                          <a:solidFill>
                            <a:srgbClr val="231F20"/>
                          </a:solidFill>
                          <a:latin typeface="Proxima Nova" pitchFamily="34" charset="0"/>
                          <a:ea typeface="Proxima Nova" pitchFamily="34" charset="-122"/>
                          <a:cs typeface="Proxima Nova" pitchFamily="34" charset="-120"/>
                        </a:rPr>
                        <a:t> of total impact per </a:t>
                      </a:r>
                      <a:pPr algn="l" indent="0" marL="0">
                        <a:buNone/>
                      </a:pPr>
                      <a:r>
                        <a:rPr lang="en-US" sz="750" b="1" dirty="0">
                          <a:solidFill>
                            <a:srgbClr val="125C60"/>
                          </a:solidFill>
                          <a:latin typeface="Proxima Nova" pitchFamily="34" charset="0"/>
                          <a:ea typeface="Proxima Nova" pitchFamily="34" charset="-122"/>
                          <a:cs typeface="Proxima Nova" pitchFamily="34" charset="-120"/>
                        </a:rPr>
                        <a:t>$1</a:t>
                      </a:r>
                      <a:pPr algn="l" indent="0" marL="0">
                        <a:buNone/>
                      </a:pPr>
                      <a:r>
                        <a:rPr lang="en-US" sz="750" dirty="0">
                          <a:solidFill>
                            <a:srgbClr val="231F20"/>
                          </a:solidFill>
                          <a:latin typeface="Proxima Nova" pitchFamily="34" charset="0"/>
                          <a:ea typeface="Proxima Nova" pitchFamily="34" charset="-122"/>
                          <a:cs typeface="Proxima Nova" pitchFamily="34" charset="-120"/>
                        </a:rPr>
                        <a:t> of visitor spending.</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6" name="Text 3"/>
          <p:cNvSpPr txBox="1"/>
          <p:nvPr/>
        </p:nvSpPr>
        <p:spPr>
          <a:xfrm>
            <a:off x="6187288" y="1371600"/>
            <a:ext cx="5455768" cy="292608"/>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Hotel market</a:t>
            </a:r>
            <a:endParaRPr lang="en-US" sz="1300" dirty="0"/>
          </a:p>
        </p:txBody>
      </p:sp>
      <p:graphicFrame>
        <p:nvGraphicFramePr>
          <p:cNvPr id="217" name="Table 1"/>
          <p:cNvGraphicFramePr>
            <a:graphicFrameLocks noGrp="1"/>
          </p:cNvGraphicFramePr>
          <p:nvPr>
            <p:extLst>
              <p:ext uri="{D42A27DB-BD31-4B8C-83A1-F6EECF244321}">
                <p14:modId xmlns:p14="http://schemas.microsoft.com/office/powerpoint/2010/main" val="1579011935"/>
              </p:ext>
            </p:extLst>
          </p:nvPr>
        </p:nvGraphicFramePr>
        <p:xfrm>
          <a:off x="6187288" y="1691640"/>
          <a:ext cx="5455768" cy="914400"/>
        </p:xfrm>
        <a:graphic>
          <a:graphicData uri="http://schemas.openxmlformats.org/drawingml/2006/table">
            <a:tbl>
              <a:tblPr/>
              <a:tblGrid>
                <a:gridCol w="868680"/>
                <a:gridCol w="2971800"/>
                <a:gridCol w="1615288"/>
              </a:tblGrid>
              <a:tr h="457200">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Type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Point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Solution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Growth</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Resort-area hotel revenue per room was up in 8 of 8 months of 2026 (</a:t>
                      </a:r>
                      <a:pPr algn="l" indent="0" marL="0">
                        <a:buNone/>
                      </a:pPr>
                      <a:r>
                        <a:rPr lang="en-US" sz="750" b="1" dirty="0">
                          <a:solidFill>
                            <a:srgbClr val="125C60"/>
                          </a:solidFill>
                          <a:latin typeface="Proxima Nova" pitchFamily="34" charset="0"/>
                          <a:ea typeface="Proxima Nova" pitchFamily="34" charset="-122"/>
                          <a:cs typeface="Proxima Nova" pitchFamily="34" charset="-120"/>
                        </a:rPr>
                        <a:t>+10.9%</a:t>
                      </a:r>
                      <a:pPr algn="l" indent="0" marL="0">
                        <a:buNone/>
                      </a:pPr>
                      <a:r>
                        <a:rPr lang="en-US" sz="750" dirty="0">
                          <a:solidFill>
                            <a:srgbClr val="231F20"/>
                          </a:solidFill>
                          <a:latin typeface="Proxima Nova" pitchFamily="34" charset="0"/>
                          <a:ea typeface="Proxima Nova" pitchFamily="34" charset="-122"/>
                          <a:cs typeface="Proxima Nova" pitchFamily="34" charset="-120"/>
                        </a:rPr>
                        <a:t> year to date).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Opportunity</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Sunday–Monday occupancy is </a:t>
                      </a:r>
                      <a:pPr algn="l" indent="0" marL="0">
                        <a:buNone/>
                      </a:pPr>
                      <a:r>
                        <a:rPr lang="en-US" sz="750" b="1" dirty="0">
                          <a:solidFill>
                            <a:srgbClr val="125C60"/>
                          </a:solidFill>
                          <a:latin typeface="Proxima Nova" pitchFamily="34" charset="0"/>
                          <a:ea typeface="Proxima Nova" pitchFamily="34" charset="-122"/>
                          <a:cs typeface="Proxima Nova" pitchFamily="34" charset="-120"/>
                        </a:rPr>
                        <a:t>15.7 points</a:t>
                      </a:r>
                      <a:pPr algn="l" indent="0" marL="0">
                        <a:buNone/>
                      </a:pPr>
                      <a:r>
                        <a:rPr lang="en-US" sz="750" dirty="0">
                          <a:solidFill>
                            <a:srgbClr val="231F20"/>
                          </a:solidFill>
                          <a:latin typeface="Proxima Nova" pitchFamily="34" charset="0"/>
                          <a:ea typeface="Proxima Nova" pitchFamily="34" charset="-122"/>
                          <a:cs typeface="Proxima Nova" pitchFamily="34" charset="-120"/>
                        </a:rPr>
                        <a:t> below Friday–Saturday; each point is worth about </a:t>
                      </a:r>
                      <a:pPr algn="l" indent="0" marL="0">
                        <a:buNone/>
                      </a:pPr>
                      <a:r>
                        <a:rPr lang="en-US" sz="750" b="1" dirty="0">
                          <a:solidFill>
                            <a:srgbClr val="125C60"/>
                          </a:solidFill>
                          <a:latin typeface="Proxima Nova" pitchFamily="34" charset="0"/>
                          <a:ea typeface="Proxima Nova" pitchFamily="34" charset="-122"/>
                          <a:cs typeface="Proxima Nova" pitchFamily="34" charset="-120"/>
                        </a:rPr>
                        <a:t>$5.1M</a:t>
                      </a:r>
                      <a:pPr algn="l" indent="0" marL="0">
                        <a:buNone/>
                      </a:pPr>
                      <a:r>
                        <a:rPr lang="en-US" sz="750" dirty="0">
                          <a:solidFill>
                            <a:srgbClr val="231F20"/>
                          </a:solidFill>
                          <a:latin typeface="Proxima Nova" pitchFamily="34" charset="0"/>
                          <a:ea typeface="Proxima Nova" pitchFamily="34" charset="-122"/>
                          <a:cs typeface="Proxima Nova" pitchFamily="34" charset="-120"/>
                        </a:rPr>
                        <a:t> a year.</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Quick win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Schedule Sunday shows and Monday conventions-plus-concert nights.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Early hurdle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Construction and financing costs limit new hotels (</a:t>
                      </a:r>
                      <a:pPr algn="l" indent="0" marL="0">
                        <a:buNone/>
                      </a:pPr>
                      <a:r>
                        <a:rPr lang="en-US" sz="750" b="1" dirty="0">
                          <a:solidFill>
                            <a:srgbClr val="125C60"/>
                          </a:solidFill>
                          <a:latin typeface="Proxima Nova" pitchFamily="34" charset="0"/>
                          <a:ea typeface="Proxima Nova" pitchFamily="34" charset="-122"/>
                          <a:cs typeface="Proxima Nova" pitchFamily="34" charset="-120"/>
                        </a:rPr>
                        <a:t>668 rooms</a:t>
                      </a:r>
                      <a:pPr algn="l" indent="0" marL="0">
                        <a:buNone/>
                      </a:pPr>
                      <a:r>
                        <a:rPr lang="en-US" sz="750" dirty="0">
                          <a:solidFill>
                            <a:srgbClr val="231F20"/>
                          </a:solidFill>
                          <a:latin typeface="Proxima Nova" pitchFamily="34" charset="0"/>
                          <a:ea typeface="Proxima Nova" pitchFamily="34" charset="-122"/>
                          <a:cs typeface="Proxima Nova" pitchFamily="34" charset="-120"/>
                        </a:rPr>
                        <a:t> under construction countywide).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Phase OC Vibe's hotels with pre-sold group blocks from the convention center.</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Pitfall</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Pricing OC Vibe hotels at resort-area rates (</a:t>
                      </a:r>
                      <a:pPr algn="l" indent="0" marL="0">
                        <a:buNone/>
                      </a:pPr>
                      <a:r>
                        <a:rPr lang="en-US" sz="750" b="1" dirty="0">
                          <a:solidFill>
                            <a:srgbClr val="125C60"/>
                          </a:solidFill>
                          <a:latin typeface="Proxima Nova" pitchFamily="34" charset="0"/>
                          <a:ea typeface="Proxima Nova" pitchFamily="34" charset="-122"/>
                          <a:cs typeface="Proxima Nova" pitchFamily="34" charset="-120"/>
                        </a:rPr>
                        <a:t>$255</a:t>
                      </a:r>
                      <a:pPr algn="l" indent="0" marL="0">
                        <a:buNone/>
                      </a:pPr>
                      <a:r>
                        <a:rPr lang="en-US" sz="750" dirty="0">
                          <a:solidFill>
                            <a:srgbClr val="231F20"/>
                          </a:solidFill>
                          <a:latin typeface="Proxima Nova" pitchFamily="34" charset="0"/>
                          <a:ea typeface="Proxima Nova" pitchFamily="34" charset="-122"/>
                          <a:cs typeface="Proxima Nova" pitchFamily="34" charset="-120"/>
                        </a:rPr>
                        <a:t>) without resort-area demand.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Benchmark against both the Anaheim (</a:t>
                      </a:r>
                      <a:pPr algn="l" indent="0" marL="0">
                        <a:buNone/>
                      </a:pPr>
                      <a:r>
                        <a:rPr lang="en-US" sz="750" b="1" dirty="0">
                          <a:solidFill>
                            <a:srgbClr val="125C60"/>
                          </a:solidFill>
                          <a:latin typeface="Proxima Nova" pitchFamily="34" charset="0"/>
                          <a:ea typeface="Proxima Nova" pitchFamily="34" charset="-122"/>
                          <a:cs typeface="Proxima Nova" pitchFamily="34" charset="-120"/>
                        </a:rPr>
                        <a:t>$130</a:t>
                      </a:r>
                      <a:pPr algn="l" indent="0" marL="0">
                        <a:buNone/>
                      </a:pPr>
                      <a:r>
                        <a:rPr lang="en-US" sz="750" dirty="0">
                          <a:solidFill>
                            <a:srgbClr val="231F20"/>
                          </a:solidFill>
                          <a:latin typeface="Proxima Nova" pitchFamily="34" charset="0"/>
                          <a:ea typeface="Proxima Nova" pitchFamily="34" charset="-122"/>
                          <a:cs typeface="Proxima Nova" pitchFamily="34" charset="-120"/>
                        </a:rPr>
                        <a:t>) and Disneyland (</a:t>
                      </a:r>
                      <a:pPr algn="l" indent="0" marL="0">
                        <a:buNone/>
                      </a:pPr>
                      <a:r>
                        <a:rPr lang="en-US" sz="750" b="1" dirty="0">
                          <a:solidFill>
                            <a:srgbClr val="125C60"/>
                          </a:solidFill>
                          <a:latin typeface="Proxima Nova" pitchFamily="34" charset="0"/>
                          <a:ea typeface="Proxima Nova" pitchFamily="34" charset="-122"/>
                          <a:cs typeface="Proxima Nova" pitchFamily="34" charset="-120"/>
                        </a:rPr>
                        <a:t>$255</a:t>
                      </a:r>
                      <a:pPr algn="l" indent="0" marL="0">
                        <a:buNone/>
                      </a:pPr>
                      <a:r>
                        <a:rPr lang="en-US" sz="750" dirty="0">
                          <a:solidFill>
                            <a:srgbClr val="231F20"/>
                          </a:solidFill>
                          <a:latin typeface="Proxima Nova" pitchFamily="34" charset="0"/>
                          <a:ea typeface="Proxima Nova" pitchFamily="34" charset="-122"/>
                          <a:cs typeface="Proxima Nova" pitchFamily="34" charset="-120"/>
                        </a:rPr>
                        <a:t>) submarkets and adjust by night of week.</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Explanation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CoStar covers submarkets and STR covers Visit Anaheim's hotel sets; the two use different hotels, so compare trends, not levels.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8"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Jobs and economy: Tourism Economics, Economic Impact 2025 (pub. Apr.–May 2026); Tourism Economics, Economic Impact 2025 (pub. Apr.–May 2026); City of Anaheim OCVibe page (2026); OCVIBE fact sheet (Apr. 2024) | Hotel market: CoStar reports and export (data through Aug. 2026; pulled Oct. 12, 2026); STR daily data, Visit Anaheim hotel sets (Jan. 1–Oct. 3,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108</a:t>
            </a:fld>
            <a:endParaRPr lang="en-US"/>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Growth, opportunities, quick wins, hurdles, pitfalls and explanations (continued)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Every hurdle and pitfall comes with a solution · sources and dates in the dashboard</a:t>
            </a:r>
            <a:endParaRPr lang="en-US" sz="1200" dirty="0"/>
          </a:p>
        </p:txBody>
      </p:sp>
      <p:sp>
        <p:nvSpPr>
          <p:cNvPr id="4" name="Text 2"/>
          <p:cNvSpPr txBox="1"/>
          <p:nvPr/>
        </p:nvSpPr>
        <p:spPr>
          <a:xfrm>
            <a:off x="548640" y="1371600"/>
            <a:ext cx="5455768" cy="292608"/>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One more night</a:t>
            </a:r>
            <a:endParaRPr lang="en-US" sz="1300" dirty="0"/>
          </a:p>
        </p:txBody>
      </p:sp>
      <p:graphicFrame>
        <p:nvGraphicFramePr>
          <p:cNvPr id="110"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5455768" cy="914400"/>
        </p:xfrm>
        <a:graphic>
          <a:graphicData uri="http://schemas.openxmlformats.org/drawingml/2006/table">
            <a:tbl>
              <a:tblPr/>
              <a:tblGrid>
                <a:gridCol w="868680"/>
                <a:gridCol w="2971800"/>
                <a:gridCol w="1615288"/>
              </a:tblGrid>
              <a:tr h="457200">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Type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Point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Solution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Growth</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Each </a:t>
                      </a:r>
                      <a:pPr algn="l" indent="0" marL="0">
                        <a:buNone/>
                      </a:pPr>
                      <a:r>
                        <a:rPr lang="en-US" sz="750" b="1" dirty="0">
                          <a:solidFill>
                            <a:srgbClr val="125C60"/>
                          </a:solidFill>
                          <a:latin typeface="Proxima Nova" pitchFamily="34" charset="0"/>
                          <a:ea typeface="Proxima Nova" pitchFamily="34" charset="-122"/>
                          <a:cs typeface="Proxima Nova" pitchFamily="34" charset="-120"/>
                        </a:rPr>
                        <a:t>1%</a:t>
                      </a:r>
                      <a:pPr algn="l" indent="0" marL="0">
                        <a:buNone/>
                      </a:pPr>
                      <a:r>
                        <a:rPr lang="en-US" sz="750" dirty="0">
                          <a:solidFill>
                            <a:srgbClr val="231F20"/>
                          </a:solidFill>
                          <a:latin typeface="Proxima Nova" pitchFamily="34" charset="0"/>
                          <a:ea typeface="Proxima Nova" pitchFamily="34" charset="-122"/>
                          <a:cs typeface="Proxima Nova" pitchFamily="34" charset="-120"/>
                        </a:rPr>
                        <a:t> of visitors who add a day is worth </a:t>
                      </a:r>
                      <a:pPr algn="l" indent="0" marL="0">
                        <a:buNone/>
                      </a:pPr>
                      <a:r>
                        <a:rPr lang="en-US" sz="750" b="1" dirty="0">
                          <a:solidFill>
                            <a:srgbClr val="125C60"/>
                          </a:solidFill>
                          <a:latin typeface="Proxima Nova" pitchFamily="34" charset="0"/>
                          <a:ea typeface="Proxima Nova" pitchFamily="34" charset="-122"/>
                          <a:cs typeface="Proxima Nova" pitchFamily="34" charset="-120"/>
                        </a:rPr>
                        <a:t>$31.5M</a:t>
                      </a:r>
                      <a:pPr algn="l" indent="0" marL="0">
                        <a:buNone/>
                      </a:pPr>
                      <a:r>
                        <a:rPr lang="en-US" sz="750" dirty="0">
                          <a:solidFill>
                            <a:srgbClr val="231F20"/>
                          </a:solidFill>
                          <a:latin typeface="Proxima Nova" pitchFamily="34" charset="0"/>
                          <a:ea typeface="Proxima Nova" pitchFamily="34" charset="-122"/>
                          <a:cs typeface="Proxima Nova" pitchFamily="34" charset="-120"/>
                        </a:rPr>
                        <a:t> a year.</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Opportunity</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Two in three Anaheim visitors (</a:t>
                      </a:r>
                      <a:pPr algn="l" indent="0" marL="0">
                        <a:buNone/>
                      </a:pPr>
                      <a:r>
                        <a:rPr lang="en-US" sz="750" b="1" dirty="0">
                          <a:solidFill>
                            <a:srgbClr val="125C60"/>
                          </a:solidFill>
                          <a:latin typeface="Proxima Nova" pitchFamily="34" charset="0"/>
                          <a:ea typeface="Proxima Nova" pitchFamily="34" charset="-122"/>
                          <a:cs typeface="Proxima Nova" pitchFamily="34" charset="-120"/>
                        </a:rPr>
                        <a:t>67.5%</a:t>
                      </a:r>
                      <a:pPr algn="l" indent="0" marL="0">
                        <a:buNone/>
                      </a:pPr>
                      <a:r>
                        <a:rPr lang="en-US" sz="750" dirty="0">
                          <a:solidFill>
                            <a:srgbClr val="231F20"/>
                          </a:solidFill>
                          <a:latin typeface="Proxima Nova" pitchFamily="34" charset="0"/>
                          <a:ea typeface="Proxima Nova" pitchFamily="34" charset="-122"/>
                          <a:cs typeface="Proxima Nova" pitchFamily="34" charset="-120"/>
                        </a:rPr>
                        <a:t>) are day visitors who could be converted to overnight stays.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Quick win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Bundle evening shows with hotel nights and late checkout.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Early hurdle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OC Vibe's own hotels do not open until 2028.</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Partner with nearby Anaheim hotels for 2027 show-and-stay packages.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Pitfall</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The </a:t>
                      </a:r>
                      <a:pPr algn="l" indent="0" marL="0">
                        <a:buNone/>
                      </a:pPr>
                      <a:r>
                        <a:rPr lang="en-US" sz="750" b="1" dirty="0">
                          <a:solidFill>
                            <a:srgbClr val="125C60"/>
                          </a:solidFill>
                          <a:latin typeface="Proxima Nova" pitchFamily="34" charset="0"/>
                          <a:ea typeface="Proxima Nova" pitchFamily="34" charset="-122"/>
                          <a:cs typeface="Proxima Nova" pitchFamily="34" charset="-120"/>
                        </a:rPr>
                        <a:t>$3.15B</a:t>
                      </a:r>
                      <a:pPr algn="l" indent="0" marL="0">
                        <a:buNone/>
                      </a:pPr>
                      <a:r>
                        <a:rPr lang="en-US" sz="750" dirty="0">
                          <a:solidFill>
                            <a:srgbClr val="231F20"/>
                          </a:solidFill>
                          <a:latin typeface="Proxima Nova" pitchFamily="34" charset="0"/>
                          <a:ea typeface="Proxima Nova" pitchFamily="34" charset="-122"/>
                          <a:cs typeface="Proxima Nova" pitchFamily="34" charset="-120"/>
                        </a:rPr>
                        <a:t> upper bound assumes every visitor adds a day.</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Use the </a:t>
                      </a:r>
                      <a:pPr algn="l" indent="0" marL="0">
                        <a:buNone/>
                      </a:pPr>
                      <a:r>
                        <a:rPr lang="en-US" sz="750" b="1" dirty="0">
                          <a:solidFill>
                            <a:srgbClr val="125C60"/>
                          </a:solidFill>
                          <a:latin typeface="Proxima Nova" pitchFamily="34" charset="0"/>
                          <a:ea typeface="Proxima Nova" pitchFamily="34" charset="-122"/>
                          <a:cs typeface="Proxima Nova" pitchFamily="34" charset="-120"/>
                        </a:rPr>
                        <a:t>$794M</a:t>
                      </a:r>
                      <a:pPr algn="l" indent="0" marL="0">
                        <a:buNone/>
                      </a:pPr>
                      <a:r>
                        <a:rPr lang="en-US" sz="750" dirty="0">
                          <a:solidFill>
                            <a:srgbClr val="231F20"/>
                          </a:solidFill>
                          <a:latin typeface="Proxima Nova" pitchFamily="34" charset="0"/>
                          <a:ea typeface="Proxima Nova" pitchFamily="34" charset="-122"/>
                          <a:cs typeface="Proxima Nova" pitchFamily="34" charset="-120"/>
                        </a:rPr>
                        <a:t> lodging figure or the </a:t>
                      </a:r>
                      <a:pPr algn="l" indent="0" marL="0">
                        <a:buNone/>
                      </a:pPr>
                      <a:r>
                        <a:rPr lang="en-US" sz="750" b="1" dirty="0">
                          <a:solidFill>
                            <a:srgbClr val="125C60"/>
                          </a:solidFill>
                          <a:latin typeface="Proxima Nova" pitchFamily="34" charset="0"/>
                          <a:ea typeface="Proxima Nova" pitchFamily="34" charset="-122"/>
                          <a:cs typeface="Proxima Nova" pitchFamily="34" charset="-120"/>
                        </a:rPr>
                        <a:t>1%</a:t>
                      </a:r>
                      <a:pPr algn="l" indent="0" marL="0">
                        <a:buNone/>
                      </a:pPr>
                      <a:r>
                        <a:rPr lang="en-US" sz="750" dirty="0">
                          <a:solidFill>
                            <a:srgbClr val="231F20"/>
                          </a:solidFill>
                          <a:latin typeface="Proxima Nova" pitchFamily="34" charset="0"/>
                          <a:ea typeface="Proxima Nova" pitchFamily="34" charset="-122"/>
                          <a:cs typeface="Proxima Nova" pitchFamily="34" charset="-120"/>
                        </a:rPr>
                        <a:t>-step values when planning.</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Explanation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The </a:t>
                      </a:r>
                      <a:pPr algn="l" indent="0" marL="0">
                        <a:buNone/>
                      </a:pPr>
                      <a:r>
                        <a:rPr lang="en-US" sz="750" b="1" dirty="0">
                          <a:solidFill>
                            <a:srgbClr val="125C60"/>
                          </a:solidFill>
                          <a:latin typeface="Proxima Nova" pitchFamily="34" charset="0"/>
                          <a:ea typeface="Proxima Nova" pitchFamily="34" charset="-122"/>
                          <a:cs typeface="Proxima Nova" pitchFamily="34" charset="-120"/>
                        </a:rPr>
                        <a:t>$794M</a:t>
                      </a:r>
                      <a:pPr algn="l" indent="0" marL="0">
                        <a:buNone/>
                      </a:pPr>
                      <a:r>
                        <a:rPr lang="en-US" sz="750" dirty="0">
                          <a:solidFill>
                            <a:srgbClr val="231F20"/>
                          </a:solidFill>
                          <a:latin typeface="Proxima Nova" pitchFamily="34" charset="0"/>
                          <a:ea typeface="Proxima Nova" pitchFamily="34" charset="-122"/>
                          <a:cs typeface="Proxima Nova" pitchFamily="34" charset="-120"/>
                        </a:rPr>
                        <a:t> divides 2025 lodging spending (</a:t>
                      </a:r>
                      <a:pPr algn="l" indent="0" marL="0">
                        <a:buNone/>
                      </a:pPr>
                      <a:r>
                        <a:rPr lang="en-US" sz="750" b="1" dirty="0">
                          <a:solidFill>
                            <a:srgbClr val="125C60"/>
                          </a:solidFill>
                          <a:latin typeface="Proxima Nova" pitchFamily="34" charset="0"/>
                          <a:ea typeface="Proxima Nova" pitchFamily="34" charset="-122"/>
                          <a:cs typeface="Proxima Nova" pitchFamily="34" charset="-120"/>
                        </a:rPr>
                        <a:t>$1.72B</a:t>
                      </a:r>
                      <a:pPr algn="l" indent="0" marL="0">
                        <a:buNone/>
                      </a:pPr>
                      <a:r>
                        <a:rPr lang="en-US" sz="750" dirty="0">
                          <a:solidFill>
                            <a:srgbClr val="231F20"/>
                          </a:solidFill>
                          <a:latin typeface="Proxima Nova" pitchFamily="34" charset="0"/>
                          <a:ea typeface="Proxima Nova" pitchFamily="34" charset="-122"/>
                          <a:cs typeface="Proxima Nova" pitchFamily="34" charset="-120"/>
                        </a:rPr>
                        <a:t>) by the </a:t>
                      </a:r>
                      <a:pPr algn="l" indent="0" marL="0">
                        <a:buNone/>
                      </a:pPr>
                      <a:r>
                        <a:rPr lang="en-US" sz="750" b="1" dirty="0">
                          <a:solidFill>
                            <a:srgbClr val="125C60"/>
                          </a:solidFill>
                          <a:latin typeface="Proxima Nova" pitchFamily="34" charset="0"/>
                          <a:ea typeface="Proxima Nova" pitchFamily="34" charset="-122"/>
                          <a:cs typeface="Proxima Nova" pitchFamily="34" charset="-120"/>
                        </a:rPr>
                        <a:t>2.17</a:t>
                      </a:r>
                      <a:pPr algn="l" indent="0" marL="0">
                        <a:buNone/>
                      </a:pPr>
                      <a:r>
                        <a:rPr lang="en-US" sz="750" dirty="0">
                          <a:solidFill>
                            <a:srgbClr val="231F20"/>
                          </a:solidFill>
                          <a:latin typeface="Proxima Nova" pitchFamily="34" charset="0"/>
                          <a:ea typeface="Proxima Nova" pitchFamily="34" charset="-122"/>
                          <a:cs typeface="Proxima Nova" pitchFamily="34" charset="-120"/>
                        </a:rPr>
                        <a:t>-day average stay; it assumes spending per night stays the same.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6" name="Text 3"/>
          <p:cNvSpPr txBox="1"/>
          <p:nvPr/>
        </p:nvSpPr>
        <p:spPr>
          <a:xfrm>
            <a:off x="6187288" y="1371600"/>
            <a:ext cx="5455768" cy="292608"/>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Getting here</a:t>
            </a:r>
            <a:endParaRPr lang="en-US" sz="1300" dirty="0"/>
          </a:p>
        </p:txBody>
      </p:sp>
      <p:graphicFrame>
        <p:nvGraphicFramePr>
          <p:cNvPr id="219" name="Table 1"/>
          <p:cNvGraphicFramePr>
            <a:graphicFrameLocks noGrp="1"/>
          </p:cNvGraphicFramePr>
          <p:nvPr>
            <p:extLst>
              <p:ext uri="{D42A27DB-BD31-4B8C-83A1-F6EECF244321}">
                <p14:modId xmlns:p14="http://schemas.microsoft.com/office/powerpoint/2010/main" val="1579011935"/>
              </p:ext>
            </p:extLst>
          </p:nvPr>
        </p:nvGraphicFramePr>
        <p:xfrm>
          <a:off x="6187288" y="1691640"/>
          <a:ext cx="5455768" cy="914400"/>
        </p:xfrm>
        <a:graphic>
          <a:graphicData uri="http://schemas.openxmlformats.org/drawingml/2006/table">
            <a:tbl>
              <a:tblPr/>
              <a:tblGrid>
                <a:gridCol w="868680"/>
                <a:gridCol w="2971800"/>
                <a:gridCol w="1615288"/>
              </a:tblGrid>
              <a:tr h="457200">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Type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Point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Solution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Growth</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Metrolink's Orange County Line weekday riders rose </a:t>
                      </a:r>
                      <a:pPr algn="l" indent="0" marL="0">
                        <a:buNone/>
                      </a:pPr>
                      <a:r>
                        <a:rPr lang="en-US" sz="750" b="1" dirty="0">
                          <a:solidFill>
                            <a:srgbClr val="125C60"/>
                          </a:solidFill>
                          <a:latin typeface="Proxima Nova" pitchFamily="34" charset="0"/>
                          <a:ea typeface="Proxima Nova" pitchFamily="34" charset="-122"/>
                          <a:cs typeface="Proxima Nova" pitchFamily="34" charset="-120"/>
                        </a:rPr>
                        <a:t>4%</a:t>
                      </a:r>
                      <a:pPr algn="l" indent="0" marL="0">
                        <a:buNone/>
                      </a:pPr>
                      <a:r>
                        <a:rPr lang="en-US" sz="750" dirty="0">
                          <a:solidFill>
                            <a:srgbClr val="231F20"/>
                          </a:solidFill>
                          <a:latin typeface="Proxima Nova" pitchFamily="34" charset="0"/>
                          <a:ea typeface="Proxima Nova" pitchFamily="34" charset="-122"/>
                          <a:cs typeface="Proxima Nova" pitchFamily="34" charset="-120"/>
                        </a:rPr>
                        <a: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Opportunity</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b="1" dirty="0">
                          <a:solidFill>
                            <a:srgbClr val="125C60"/>
                          </a:solidFill>
                          <a:latin typeface="Proxima Nova" pitchFamily="34" charset="0"/>
                          <a:ea typeface="Proxima Nova" pitchFamily="34" charset="-122"/>
                          <a:cs typeface="Proxima Nova" pitchFamily="34" charset="-120"/>
                        </a:rPr>
                        <a:t>15.6 million</a:t>
                      </a:r>
                      <a:pPr algn="l" indent="0" marL="0">
                        <a:buNone/>
                      </a:pPr>
                      <a:r>
                        <a:rPr lang="en-US" sz="750" dirty="0">
                          <a:solidFill>
                            <a:srgbClr val="231F20"/>
                          </a:solidFill>
                          <a:latin typeface="Proxima Nova" pitchFamily="34" charset="0"/>
                          <a:ea typeface="Proxima Nova" pitchFamily="34" charset="-122"/>
                          <a:cs typeface="Proxima Nova" pitchFamily="34" charset="-120"/>
                        </a:rPr>
                        <a:t> people live within 50 miles of the ARTIC rail station.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Quick win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Publish one 'getting to OC Vibe' page with parking, bus, Amtrak and Metrolink options.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Early hurdle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Only 11 buses leave ARTIC after 10 p.m.</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Ask OCTA for event-night extra trips; set rideshare zones at ARTIC.</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Pitfall</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Honda Center and the concert hall can both hold events on the same night, while late transit is thin (11 buses after 10 p.m.).</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Coordinate event start times and parking plans with Honda Center, and ask OCTA for event-night service.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Explanation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Driving dominates because most visitors live within 50 miles and county transit riders fell from </a:t>
                      </a:r>
                      <a:pPr algn="l" indent="0" marL="0">
                        <a:buNone/>
                      </a:pPr>
                      <a:r>
                        <a:rPr lang="en-US" sz="750" b="1" dirty="0">
                          <a:solidFill>
                            <a:srgbClr val="125C60"/>
                          </a:solidFill>
                          <a:latin typeface="Proxima Nova" pitchFamily="34" charset="0"/>
                          <a:ea typeface="Proxima Nova" pitchFamily="34" charset="-122"/>
                          <a:cs typeface="Proxima Nova" pitchFamily="34" charset="-120"/>
                        </a:rPr>
                        <a:t>70.7M</a:t>
                      </a:r>
                      <a:pPr algn="l" indent="0" marL="0">
                        <a:buNone/>
                      </a:pPr>
                      <a:r>
                        <a:rPr lang="en-US" sz="750" dirty="0">
                          <a:solidFill>
                            <a:srgbClr val="231F20"/>
                          </a:solidFill>
                          <a:latin typeface="Proxima Nova" pitchFamily="34" charset="0"/>
                          <a:ea typeface="Proxima Nova" pitchFamily="34" charset="-122"/>
                          <a:cs typeface="Proxima Nova" pitchFamily="34" charset="-120"/>
                        </a:rPr>
                        <a:t> in 2007 to 43.8M in 2017; driving cost </a:t>
                      </a:r>
                      <a:pPr algn="l" indent="0" marL="0">
                        <a:buNone/>
                      </a:pPr>
                      <a:r>
                        <a:rPr lang="en-US" sz="750" b="1" dirty="0">
                          <a:solidFill>
                            <a:srgbClr val="125C60"/>
                          </a:solidFill>
                          <a:latin typeface="Proxima Nova" pitchFamily="34" charset="0"/>
                          <a:ea typeface="Proxima Nova" pitchFamily="34" charset="-122"/>
                          <a:cs typeface="Proxima Nova" pitchFamily="34" charset="-120"/>
                        </a:rPr>
                        <a:t>$0.82</a:t>
                      </a:r>
                      <a:pPr algn="l" indent="0" marL="0">
                        <a:buNone/>
                      </a:pPr>
                      <a:r>
                        <a:rPr lang="en-US" sz="750" dirty="0">
                          <a:solidFill>
                            <a:srgbClr val="231F20"/>
                          </a:solidFill>
                          <a:latin typeface="Proxima Nova" pitchFamily="34" charset="0"/>
                          <a:ea typeface="Proxima Nova" pitchFamily="34" charset="-122"/>
                          <a:cs typeface="Proxima Nova" pitchFamily="34" charset="-120"/>
                        </a:rPr>
                        <a:t> a mile in 2024.</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8"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One more night: Visit Anaheim BI, Extra Night study (2025 inputs; recalculated Oct. 12, 2026); Tourism Economics, Economic Impact 2025 (pub. Apr.–May 2026) | Getting here: Amtrak ANA fact sheet (2024 data; pub. Oct. 27, 2025); Metrolink FY26 Q2 (Oct.–Dec. 2025); OCTA Traffic Flow Map (pub. Aug. 2026) and bus schedules (Aug. 9–Nov. 7, 2026); Mindtrip trip planner messages (Oct. 1, 2025–Oct. 11,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109</a:t>
            </a:fld>
            <a:endParaRPr lang="en-US"/>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Growth, opportunities, quick wins, hurdles, pitfalls and explanations (continued)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Every hurdle and pitfall comes with a solution · sources and dates in the dashboard</a:t>
            </a:r>
            <a:endParaRPr lang="en-US" sz="1200" dirty="0"/>
          </a:p>
        </p:txBody>
      </p:sp>
      <p:sp>
        <p:nvSpPr>
          <p:cNvPr id="4" name="Text 2"/>
          <p:cNvSpPr txBox="1"/>
          <p:nvPr/>
        </p:nvSpPr>
        <p:spPr>
          <a:xfrm>
            <a:off x="548640" y="1371600"/>
            <a:ext cx="5455768" cy="292608"/>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Marketing reach</a:t>
            </a:r>
            <a:endParaRPr lang="en-US" sz="1300" dirty="0"/>
          </a:p>
        </p:txBody>
      </p:sp>
      <p:graphicFrame>
        <p:nvGraphicFramePr>
          <p:cNvPr id="111"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5455768" cy="914400"/>
        </p:xfrm>
        <a:graphic>
          <a:graphicData uri="http://schemas.openxmlformats.org/drawingml/2006/table">
            <a:tbl>
              <a:tblPr/>
              <a:tblGrid>
                <a:gridCol w="868680"/>
                <a:gridCol w="2971800"/>
                <a:gridCol w="1615288"/>
              </a:tblGrid>
              <a:tr h="457200">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Type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Point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Solution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Growth</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Paid media drove </a:t>
                      </a:r>
                      <a:pPr algn="l" indent="0" marL="0">
                        <a:buNone/>
                      </a:pPr>
                      <a:r>
                        <a:rPr lang="en-US" sz="750" b="1" dirty="0">
                          <a:solidFill>
                            <a:srgbClr val="125C60"/>
                          </a:solidFill>
                          <a:latin typeface="Proxima Nova" pitchFamily="34" charset="0"/>
                          <a:ea typeface="Proxima Nova" pitchFamily="34" charset="-122"/>
                          <a:cs typeface="Proxima Nova" pitchFamily="34" charset="-120"/>
                        </a:rPr>
                        <a:t>368,416</a:t>
                      </a:r>
                      <a:pPr algn="l" indent="0" marL="0">
                        <a:buNone/>
                      </a:pPr>
                      <a:r>
                        <a:rPr lang="en-US" sz="750" dirty="0">
                          <a:solidFill>
                            <a:srgbClr val="231F20"/>
                          </a:solidFill>
                          <a:latin typeface="Proxima Nova" pitchFamily="34" charset="0"/>
                          <a:ea typeface="Proxima Nova" pitchFamily="34" charset="-122"/>
                          <a:cs typeface="Proxima Nova" pitchFamily="34" charset="-120"/>
                        </a:rPr>
                        <a:t> observed visits in eight months of 2026.</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Opportunity</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Luxury placements returned </a:t>
                      </a:r>
                      <a:pPr algn="l" indent="0" marL="0">
                        <a:buNone/>
                      </a:pPr>
                      <a:r>
                        <a:rPr lang="en-US" sz="750" b="1" dirty="0">
                          <a:solidFill>
                            <a:srgbClr val="125C60"/>
                          </a:solidFill>
                          <a:latin typeface="Proxima Nova" pitchFamily="34" charset="0"/>
                          <a:ea typeface="Proxima Nova" pitchFamily="34" charset="-122"/>
                          <a:cs typeface="Proxima Nova" pitchFamily="34" charset="-120"/>
                        </a:rPr>
                        <a:t>34.4</a:t>
                      </a:r>
                      <a:pPr algn="l" indent="0" marL="0">
                        <a:buNone/>
                      </a:pPr>
                      <a:r>
                        <a:rPr lang="en-US" sz="750" dirty="0">
                          <a:solidFill>
                            <a:srgbClr val="231F20"/>
                          </a:solidFill>
                          <a:latin typeface="Proxima Nova" pitchFamily="34" charset="0"/>
                          <a:ea typeface="Proxima Nova" pitchFamily="34" charset="-122"/>
                          <a:cs typeface="Proxima Nova" pitchFamily="34" charset="-120"/>
                        </a:rPr>
                        <a:t> visits per </a:t>
                      </a:r>
                      <a:pPr algn="l" indent="0" marL="0">
                        <a:buNone/>
                      </a:pPr>
                      <a:r>
                        <a:rPr lang="en-US" sz="750" b="1" dirty="0">
                          <a:solidFill>
                            <a:srgbClr val="125C60"/>
                          </a:solidFill>
                          <a:latin typeface="Proxima Nova" pitchFamily="34" charset="0"/>
                          <a:ea typeface="Proxima Nova" pitchFamily="34" charset="-122"/>
                          <a:cs typeface="Proxima Nova" pitchFamily="34" charset="-120"/>
                        </a:rPr>
                        <a:t>1,000</a:t>
                      </a:r>
                      <a:pPr algn="l" indent="0" marL="0">
                        <a:buNone/>
                      </a:pPr>
                      <a:r>
                        <a:rPr lang="en-US" sz="750" dirty="0">
                          <a:solidFill>
                            <a:srgbClr val="231F20"/>
                          </a:solidFill>
                          <a:latin typeface="Proxima Nova" pitchFamily="34" charset="0"/>
                          <a:ea typeface="Proxima Nova" pitchFamily="34" charset="-122"/>
                          <a:cs typeface="Proxima Nova" pitchFamily="34" charset="-120"/>
                        </a:rPr>
                        <a:t> impressions, nearly three times the average.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Quick win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Add OC Vibe venues and dining to Visit Anaheim's luxury and travel-planning content.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Early hurdle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Visitors arrive about </a:t>
                      </a:r>
                      <a:pPr algn="l" indent="0" marL="0">
                        <a:buNone/>
                      </a:pPr>
                      <a:r>
                        <a:rPr lang="en-US" sz="750" b="1" dirty="0">
                          <a:solidFill>
                            <a:srgbClr val="125C60"/>
                          </a:solidFill>
                          <a:latin typeface="Proxima Nova" pitchFamily="34" charset="0"/>
                          <a:ea typeface="Proxima Nova" pitchFamily="34" charset="-122"/>
                          <a:cs typeface="Proxima Nova" pitchFamily="34" charset="-120"/>
                        </a:rPr>
                        <a:t>39 days</a:t>
                      </a:r>
                      <a:pPr algn="l" indent="0" marL="0">
                        <a:buNone/>
                      </a:pPr>
                      <a:r>
                        <a:rPr lang="en-US" sz="750" dirty="0">
                          <a:solidFill>
                            <a:srgbClr val="231F20"/>
                          </a:solidFill>
                          <a:latin typeface="Proxima Nova" pitchFamily="34" charset="0"/>
                          <a:ea typeface="Proxima Nova" pitchFamily="34" charset="-122"/>
                          <a:cs typeface="Proxima Nova" pitchFamily="34" charset="-120"/>
                        </a:rPr>
                        <a:t> after an ad.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Share OC Vibe event calendars six to eight weeks ahead.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Pitfall</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Attribution shows association, not proof that an ad caused a visit.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Use control markets or holdout tests for key campaigns.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Explanation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Attribution matches devices that saw an ad with devices later seen in Anaheim; it measures visits after exposure, not proof the ad caused them.</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6" name="Text 3"/>
          <p:cNvSpPr txBox="1"/>
          <p:nvPr/>
        </p:nvSpPr>
        <p:spPr>
          <a:xfrm>
            <a:off x="6187288" y="1371600"/>
            <a:ext cx="5455768" cy="292608"/>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Market outlook</a:t>
            </a:r>
            <a:endParaRPr lang="en-US" sz="1300" dirty="0"/>
          </a:p>
        </p:txBody>
      </p:sp>
      <p:graphicFrame>
        <p:nvGraphicFramePr>
          <p:cNvPr id="221" name="Table 1"/>
          <p:cNvGraphicFramePr>
            <a:graphicFrameLocks noGrp="1"/>
          </p:cNvGraphicFramePr>
          <p:nvPr>
            <p:extLst>
              <p:ext uri="{D42A27DB-BD31-4B8C-83A1-F6EECF244321}">
                <p14:modId xmlns:p14="http://schemas.microsoft.com/office/powerpoint/2010/main" val="1579011935"/>
              </p:ext>
            </p:extLst>
          </p:nvPr>
        </p:nvGraphicFramePr>
        <p:xfrm>
          <a:off x="6187288" y="1691640"/>
          <a:ext cx="5455768" cy="914400"/>
        </p:xfrm>
        <a:graphic>
          <a:graphicData uri="http://schemas.openxmlformats.org/drawingml/2006/table">
            <a:tbl>
              <a:tblPr/>
              <a:tblGrid>
                <a:gridCol w="868680"/>
                <a:gridCol w="2971800"/>
                <a:gridCol w="1615288"/>
              </a:tblGrid>
              <a:tr h="457200">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Type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Point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Solution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Growth</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Q2 2026 hotel revenue per room </a:t>
                      </a:r>
                      <a:pPr algn="l" indent="0" marL="0">
                        <a:buNone/>
                      </a:pPr>
                      <a:r>
                        <a:rPr lang="en-US" sz="750" b="1" dirty="0">
                          <a:solidFill>
                            <a:srgbClr val="125C60"/>
                          </a:solidFill>
                          <a:latin typeface="Proxima Nova" pitchFamily="34" charset="0"/>
                          <a:ea typeface="Proxima Nova" pitchFamily="34" charset="-122"/>
                          <a:cs typeface="Proxima Nova" pitchFamily="34" charset="-120"/>
                        </a:rPr>
                        <a:t>+11.4%</a:t>
                      </a:r>
                      <a:pPr algn="l" indent="0" marL="0">
                        <a:buNone/>
                      </a:pPr>
                      <a:r>
                        <a:rPr lang="en-US" sz="750" dirty="0">
                          <a:solidFill>
                            <a:srgbClr val="231F20"/>
                          </a:solidFill>
                          <a:latin typeface="Proxima Nova" pitchFamily="34" charset="0"/>
                          <a:ea typeface="Proxima Nova" pitchFamily="34" charset="-122"/>
                          <a:cs typeface="Proxima Nova" pitchFamily="34" charset="-120"/>
                        </a:rPr>
                        <a:t>, double the U.S. (</a:t>
                      </a:r>
                      <a:pPr algn="l" indent="0" marL="0">
                        <a:buNone/>
                      </a:pPr>
                      <a:r>
                        <a:rPr lang="en-US" sz="750" b="1" dirty="0">
                          <a:solidFill>
                            <a:srgbClr val="125C60"/>
                          </a:solidFill>
                          <a:latin typeface="Proxima Nova" pitchFamily="34" charset="0"/>
                          <a:ea typeface="Proxima Nova" pitchFamily="34" charset="-122"/>
                          <a:cs typeface="Proxima Nova" pitchFamily="34" charset="-120"/>
                        </a:rPr>
                        <a:t>+5.7%</a:t>
                      </a:r>
                      <a:pPr algn="l" indent="0" marL="0">
                        <a:buNone/>
                      </a:pPr>
                      <a:r>
                        <a:rPr lang="en-US" sz="750" dirty="0">
                          <a:solidFill>
                            <a:srgbClr val="231F20"/>
                          </a:solidFill>
                          <a:latin typeface="Proxima Nova" pitchFamily="34" charset="0"/>
                          <a:ea typeface="Proxima Nova" pitchFamily="34" charset="-122"/>
                          <a:cs typeface="Proxima Nova" pitchFamily="34" charset="-120"/>
                        </a:rPr>
                        <a: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Opportunity</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Convention room nights pace </a:t>
                      </a:r>
                      <a:pPr algn="l" indent="0" marL="0">
                        <a:buNone/>
                      </a:pPr>
                      <a:r>
                        <a:rPr lang="en-US" sz="750" b="1" dirty="0">
                          <a:solidFill>
                            <a:srgbClr val="125C60"/>
                          </a:solidFill>
                          <a:latin typeface="Proxima Nova" pitchFamily="34" charset="0"/>
                          <a:ea typeface="Proxima Nova" pitchFamily="34" charset="-122"/>
                          <a:cs typeface="Proxima Nova" pitchFamily="34" charset="-120"/>
                        </a:rPr>
                        <a:t>+17%</a:t>
                      </a:r>
                      <a:pPr algn="l" indent="0" marL="0">
                        <a:buNone/>
                      </a:pPr>
                      <a:r>
                        <a:rPr lang="en-US" sz="750" dirty="0">
                          <a:solidFill>
                            <a:srgbClr val="231F20"/>
                          </a:solidFill>
                          <a:latin typeface="Proxima Nova" pitchFamily="34" charset="0"/>
                          <a:ea typeface="Proxima Nova" pitchFamily="34" charset="-122"/>
                          <a:cs typeface="Proxima Nova" pitchFamily="34" charset="-120"/>
                        </a:rPr>
                        <a:t> for 2027, the year OC Vibe's first venues open.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Quick win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Offer convention groups OC Vibe evening events in 2027 sales packages.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Early hurdle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The 2026 World Cup makes Q2–Q3 2027 a tough comparison.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Set 2027 targets against 2025 as well as 2026.</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Pitfall</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Higher gas prices and airfares, a possible federal shutdown and slower job growth could soften travel.</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Lean on drive markets within 90 miles and flexible, refundable packages.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Explanation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Booking pace compares convention room nights on the books with the same point a year earlier; LARC combines CoStar hotel data, Moody's economics and Visit Anaheim pacing.</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8"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Marketing reach: Azira media attribution via Symphony (ad exposures Jan. 1–Aug. 31, 2026) | Market outlook: LARC Market Intelligence Reports (Jan.–Sept.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110</a:t>
            </a:fld>
            <a:endParaRPr lang="en-US"/>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Reports and data library</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60 files used to build this report · open or download each one in the app (Reports and data library)</a:t>
            </a:r>
            <a:endParaRPr lang="en-US" sz="1200" dirty="0"/>
          </a:p>
        </p:txBody>
      </p:sp>
      <p:graphicFrame>
        <p:nvGraphicFramePr>
          <p:cNvPr id="112"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1737360"/>
                <a:gridCol w="3931920"/>
                <a:gridCol w="2194560"/>
                <a:gridCol w="1600200"/>
                <a:gridCol w="1097280"/>
                <a:gridCol w="533095"/>
              </a:tblGrid>
              <a:tr h="329184">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Topic</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File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Publisher</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Covers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Published</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Type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Economic impact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Economic Impact of Visitors to Anaheim,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Tourism Economics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Calendar 2025 vs. 2024</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Apr.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Economic impact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Economic Impact of Visitors to Anaheim, 2025: supplemental charts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Tourism Economics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Calendar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Apr.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Economic impact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Economic Impact of Visitors to Garden Grove,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Tourism Economics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Calendar 2025 vs. 2024</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Apr.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Economic impact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Economic Impact of Visitors to Garden Grove, 2025: supplemental charts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Tourism Economics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Calendar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Apr.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Economic impact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Economic Impact of Visitors to Orange County,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Tourism Economics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Calendar 2025 vs. 2024</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May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Economic impact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Economic Impact of Visitors to Orange County, 2025: supplemental charts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Tourism Economics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Calendar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May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Economic impact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Economic impact one-pagers, 2025: Orange County, Anaheim and Garden Grove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Tourism Economics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Calendar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Apr.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Orange County tourism statistics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Annual Profile of Visitors to Anaheim and Orange County, 2019</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CIC Research</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Calendar 2019; visitor volume 2009-2019</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Apr. 2020</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Orange County tourism statistics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The Economic Impact of Travel in California, 2025p</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Dean Runyan Associates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2015-2025p</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Apr.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Orange County tourism statistics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California Travel Impacts by Assembly District, 2025p</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Dean Runyan Associates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2019-2025p</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Apr.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Orange County tourism statistics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California Travel Forecast data, Sept.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Tourism Economics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2019-2030 (forecast from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Sept.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XLSX</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Orange County tourism statistics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State and Regional Lodging Forecast, Sept.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Tourism Economics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2013-2029 (forecast from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Sept.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XLSX</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Orange County tourism statistics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Monthly Travel Indicators, Aug.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Visit California</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Aug.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Oct. 8,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Business Intelligence, Reports and data library (Oct. 14, 2026). Files as received from each publisher.</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111</a:t>
            </a:fld>
            <a:endParaRPr lang="en-US"/>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Reports and data library (continued)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60 files used to build this report · open or download each one in the app (Reports and data library)</a:t>
            </a:r>
            <a:endParaRPr lang="en-US" sz="1200" dirty="0"/>
          </a:p>
        </p:txBody>
      </p:sp>
      <p:graphicFrame>
        <p:nvGraphicFramePr>
          <p:cNvPr id="113"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1737360"/>
                <a:gridCol w="3931920"/>
                <a:gridCol w="2194560"/>
                <a:gridCol w="1600200"/>
                <a:gridCol w="1097280"/>
                <a:gridCol w="533095"/>
              </a:tblGrid>
              <a:tr h="329184">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Topic</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File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Publisher</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Covers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Published</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Type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Orange County tourism statistics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California Resident Sentiment on Travel and Tourism, 2022-2025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Visit California (Omnitrak)</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2022-2025 survey waves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Mar. 24,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XLSX</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Orange County tourism statistics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Azira length of stay trend, Anaheim and Garden Grove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Symphony | Tourism Economics (Azira)</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Jan. 1, 2023-Aug. 31,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Pulled Oct.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XLSX</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Orange County tourism statistics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Azira distance share trend, Anaheim and Garden Grove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Symphony | Tourism Economics (Azira)</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Jan. 1, 2023-Aug. 31,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Pulled Oct.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XLSX</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Orange County tourism statistics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Azira origin share by metro area (MSA), Anaheim and Garden Grove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Symphony | Tourism Economics (Azira)</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Jan. 1, 2023-Aug. 31,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Pulled Oct.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XLSX</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Orange County tourism statistics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Azira origin share by TV market (DMA), Anaheim and Garden Grove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Symphony | Tourism Economics (Azira)</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Jan. 1, 2023-Aug. 31,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Pulled Oct.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XLSX</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Orange County tourism statistics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Azira international average length of stay, Anaheim and Garden Grove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Symphony | Tourism Economics (Azira)</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Jan. 1, 2023-Aug. 31,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Pulled Oct.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XLSX</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Quarterly results and forecasts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Anaheim and Garden Grove Travel Forecast, Sept. 2026 (Q2 2026 results)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Tourism Economics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2019–2028; Q2 2026 actual</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Sept.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Quarterly results and forecasts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Anaheim and Garden Grove Travel Forecast, June 2026 (Q1 2026 results)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Tourism Economics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2019–2028; Q1 2026 actual</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June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One more night study</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One more night study (Extra Night Calculation)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Visit Anaheim Business Intelligence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2025 inputs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2025; recalculated Oct. 12,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PPTX</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One more night study</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One more night workbook (TID Request data)</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Visit Anaheim Business Intelligence (Symphony, STR, Simpleview inputs)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2020–2025; hotel nights July 2024–2025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Exported Jan. 20,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XLSX</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Who visits and District 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District 5 visitor profile (POI Analysis)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Symphony | Tourism Economics (Azira)</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Jan. 1–May 31,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Exported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Who visits and District 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Domestic visitors to Anaheim and Garden Grove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Symphony | Tourism Economics (Azira)</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Aug.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Exported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Who visits and District 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Visitor card spending by visitor type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Visa Destination Insights via Symphony | Tourism Economics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Aug. 2026 vs. Aug.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Exported Oct. 12,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Business Intelligence, Reports and data library (Oct. 14, 2026). Files as received from each publisher.</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112</a:t>
            </a:fld>
            <a:endParaRPr lang="en-US"/>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Reports and data library (continued)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60 files used to build this report · open or download each one in the app (Reports and data library)</a:t>
            </a:r>
            <a:endParaRPr lang="en-US" sz="1200" dirty="0"/>
          </a:p>
        </p:txBody>
      </p:sp>
      <p:graphicFrame>
        <p:nvGraphicFramePr>
          <p:cNvPr id="114"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1737360"/>
                <a:gridCol w="3931920"/>
                <a:gridCol w="2194560"/>
                <a:gridCol w="1600200"/>
                <a:gridCol w="1097280"/>
                <a:gridCol w="533095"/>
              </a:tblGrid>
              <a:tr h="329184">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Topic</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File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Publisher</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Covers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Published</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Type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Who visits and District 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International card activity</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Visa Destination Insights via Symphony | Tourism Economics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Aug. 2026 vs. Aug.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Exported Oct. 12,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Who visits and District 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Datafy tables export, Anaheim, calendar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Datafy</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Jan. 1–Dec. 31, 2025 (trends 2023–2025)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Exported Feb. 17,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XLSX</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Marketing attribution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Media attribution summary</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Symphony | Tourism Economics (Azira attribution feed)</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Exposures Jan. 1–Aug. 31,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Exported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Hotels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Orange County hospitality market report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CoStar Group</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12 months and YTD through Aug.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Pulled Oct. 12,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Hotels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Disneyland hospitality submarket report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CoStar Group</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12 months and YTD through Aug.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Pulled Oct. 12,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Hotels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Orange County hospitality capital markets report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CoStar Group</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Through Aug.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Pulled Oct. 12,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Hotels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CoStar submarket export, monthly</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CoStar Group</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Monthly Jan.–Aug.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Processed Aug. 31,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XLSX</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Hotels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STR daily hotel data, Visit Anaheim hotel sets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STR (CoStar Group)</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Jan. 1–Oct. 3, 2026, daily</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Provided Oct. 12,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XLSX</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Hotels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Hotel forecasts combined, 1Q 2026 edition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Lodging Analytics Research &amp; Consulting (LARC)</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Forecast to 2030</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1Q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XLSX</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Hotels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Hotel forecasts combined, 2Q 2026 edition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Lodging Analytics Research &amp; Consulting (LARC)</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Forecast to 2030</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2Q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XLSX</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Hotels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Hotel forecasts combined, 3Q 2026 edition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Lodging Analytics Research &amp; Consulting (LARC)</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Forecast to 2030</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3Q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XLSX</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Market outlook</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Anaheim Market Intelligence Report, Jan.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Lodging Analytics Research &amp; Consulting (LARC)</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Data to Jan. 2026 edition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Jan.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Market outlook</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Anaheim Market Intelligence Report, Apr.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Lodging Analytics Research &amp; Consulting (LARC)</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Data to Apr. 2026 edition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Apr.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Business Intelligence, Reports and data library (Oct. 14, 2026). Files as received from each publisher.</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113</a:t>
            </a:fld>
            <a:endParaRPr lang="en-US"/>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Reports and data library (continued)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60 files used to build this report · open or download each one in the app (Reports and data library)</a:t>
            </a:r>
            <a:endParaRPr lang="en-US" sz="1200" dirty="0"/>
          </a:p>
        </p:txBody>
      </p:sp>
      <p:graphicFrame>
        <p:nvGraphicFramePr>
          <p:cNvPr id="115"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1737360"/>
                <a:gridCol w="3931920"/>
                <a:gridCol w="2194560"/>
                <a:gridCol w="1600200"/>
                <a:gridCol w="1097280"/>
                <a:gridCol w="533095"/>
              </a:tblGrid>
              <a:tr h="329184">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Topic</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File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Publisher</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Covers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Published</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Type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Market outlook</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Anaheim Market Intelligence Report, June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Lodging Analytics Research &amp; Consulting (LARC)</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Data to June 2026 edition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June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Market outlook</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Anaheim Market Intelligence Report, July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Lodging Analytics Research &amp; Consulting (LARC)</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Data to July 2026 edition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July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Market outlook</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Anaheim Market Intelligence Report, Sept.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Lodging Analytics Research &amp; Consulting (LARC)</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Data to Sept. 2026 edition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Sept.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Getting here and transportation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2026 Traffic Flow Map</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Orange County Transportation Authority (OCTA)</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Counts 2021–2024</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Aug.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Getting here and transportation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OCTA bus schedules (GTFS feed)</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Orange County Transportation Authority (OCTA)</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Service Aug. 9–Nov. 7,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Provided Oct. 12,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ZIP</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Getting here and transportation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Amtrak service in Anaheim, CA (ANA)</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Rail Passengers Association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2018–2024</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Oct. 27,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Getting here and transportation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Metrolink fact sheet, FY2025-26 Q2</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Metrolink (SCRRA)</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Oct.–Dec.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FY2025-26 Q2</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Getting here and transportation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County Transportation Profile: Orange County, CA</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U.S. Bureau of Transportation Statistics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American Community Survey (year not stated)</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Provided Oct. 12,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Getting here and transportation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County Transportation Profile data: demographics and the economy</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U.S. Bureau of Transportation Statistics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As in the profile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Provided Oct. 12,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XLSX</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Getting here and transportation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Transportation Economic Trends: table guide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U.S. Bureau of Transportation Statistics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All TET tables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Accessed Oct. 12,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XLSX</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Getting here and transportation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California's transit systems, Orange County: operating statistics by operator</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California's transit systems (state data snapshots)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2003–2017</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Downloaded Oct. 12,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CSV</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Getting here and transportation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California's transit systems, Orange County: financial data by operator</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California's transit systems (state data snapshots)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2003–2017</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Downloaded Oct. 12,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CSV</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Getting here and transportation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California's transit systems, Orange County: financial data by operator (second view)</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California's transit systems (state data snapshots)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2003–2017</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Downloaded Oct. 12,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CSV</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Business Intelligence, Reports and data library (Oct. 14, 2026). Files as received from each publisher.</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114</a:t>
            </a:fld>
            <a:endParaRPr lang="en-US"/>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Reports and data library (continued)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60 files used to build this report · open or download each one in the app (Reports and data library)</a:t>
            </a:r>
            <a:endParaRPr lang="en-US" sz="1200" dirty="0"/>
          </a:p>
        </p:txBody>
      </p:sp>
      <p:graphicFrame>
        <p:nvGraphicFramePr>
          <p:cNvPr id="11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1737360"/>
                <a:gridCol w="3931920"/>
                <a:gridCol w="2194560"/>
                <a:gridCol w="1600200"/>
                <a:gridCol w="1097280"/>
                <a:gridCol w="533095"/>
              </a:tblGrid>
              <a:tr h="329184">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Topic</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File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Publisher</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Covers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Published</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Type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Getting here and transportation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California's transit systems, Orange County: financial data by type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California's transit systems (state data snapshots)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2003–2017</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Downloaded Oct. 12,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CSV</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Getting here and transportation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California's transit systems, Orange County: total passengers by mode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California's transit systems (state data snapshots)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2003–2017</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Downloaded Oct. 12,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CSV</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Getting here and transportation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California's transit systems, Orange County: operating statistics by operator (second view)</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California's transit systems (state data snapshots)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2003–2017</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Downloaded Oct. 12,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CSV</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Getting here and transportation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California's transit systems, Orange County: operating statistics by operator (third view)</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California's transit systems (state data snapshots)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2003–2017</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Downloaded Oct. 12,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CSV</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Destination program</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Program of Experiences, 2027</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Visit Anaheim</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2027</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This report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OC Vibe Insights, full report (PDF)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Visit Anaheim Business Intelligence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Data through Sept.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Updated quarterly</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This report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OC Vibe Insights, full deck (PowerPoint)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Visit Anaheim Business Intelligence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Data through Sept.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Updated quarterly</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PPTX</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This report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Questions answered: Anaheim, Orange County and U.S. (PowerPoint)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Visit Anaheim Business Intelligence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Data through Sept.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Oct. 14,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PPTX</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Business Intelligence, Reports and data library (Oct. 14, 2026). Files as received from each publisher.</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115</a:t>
            </a:fld>
            <a:endParaRPr lang="en-US"/>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Public sources used (links)</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Published by others and linked rather than hosted</a:t>
            </a:r>
            <a:endParaRPr lang="en-US" sz="1200" dirty="0"/>
          </a:p>
        </p:txBody>
      </p:sp>
      <p:graphicFrame>
        <p:nvGraphicFramePr>
          <p:cNvPr id="117"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3840480"/>
                <a:gridCol w="4023360"/>
                <a:gridCol w="3230575"/>
              </a:tblGrid>
              <a:tr h="548640">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Source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What it is used for</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Link</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54864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Visit California: The Economic Impact of Travel in California, 2025p (Dean Runyan Associates, Apr. 6,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California and Orange County travel spending, jobs and taxes; statewide spending on local transportation, gas and visitor air. Accessed Oct. 14,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https://www.visitvisalia.com//caeconomicimpactreport_2025-low-res.pdf</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54864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U.S. Travel Association and Tourism Economics: Travel Forecast, Spring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U.S. travel spending ($1.360T in 2025) and trips (2.46B), real 2025 dollars. Accessed Oct. 14,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https://www.ustravel.org/sites/default/files/2026-05/US_Travel-Forecast_Spring26.pdf</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54864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U.S. Travel Association: Economic Impact of the U.S. Travel Industry (2025 data)</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U.S. jobs supported (15M+), economic output ($3.0T) and state and local taxes ($92B). Accessed Oct. 14,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https://www.ustravel.org/sites/default/files/media_root/economic-impact/pdf/DCH26_EconImp_National_FIN.pdf</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54864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Visit California 2025 report summary (Rural County Representatives of California, May 15,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Secondary summary of the statewide 2025 results.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https://www.rcrcnet.org/general/visit-california-releases-2025-economic-impact-report-a-story-of-resilience/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54864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U.S. Bureau of Transportation Statistics: Transportation Economic Trends data</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Gas prices, airfares and car costs, 2019–2025 (Tables 3.1, 3.4, 6.6). Accessed Oct. 12,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https://data.bts.gov/resource/tcq5-4pgu.json</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54864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U.S. Bureau of Economic Analysis: Travel and Tourism Satellite Account, 2018–2023</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National tourism output ($1.52T direct, 2023) and 6.5M direct tourism jobs. Accessed Oct. 14,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https://apps.bea.gov/scb/issues/2025/02-february/0225-travel-tourism-satellite-account.htm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Accessed dates as listed.</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116</a:t>
            </a:fld>
            <a:endParaRPr lang="en-US"/>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How Visit Anaheim data can help OC Vibe succeed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Recommendations from Visit Anaheim BI · for discussion</a:t>
            </a:r>
            <a:endParaRPr lang="en-US" sz="1200" dirty="0"/>
          </a:p>
        </p:txBody>
      </p:sp>
      <p:graphicFrame>
        <p:nvGraphicFramePr>
          <p:cNvPr id="118"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2651760"/>
                <a:gridCol w="2011680"/>
                <a:gridCol w="1645920"/>
                <a:gridCol w="2743200"/>
                <a:gridCol w="2039112"/>
              </a:tblGrid>
              <a:tr h="530352">
                <a:tc>
                  <a:txBody>
                    <a:bodyPr/>
                    <a:lstStyle/>
                    <a:p>
                      <a:pPr algn="l" indent="0" marL="0">
                        <a:buNone/>
                      </a:pPr>
                      <a:r>
                        <a:rPr lang="en-US" sz="900" b="1" dirty="0">
                          <a:solidFill>
                            <a:srgbClr val="FFFFFF"/>
                          </a:solidFill>
                          <a:latin typeface="Proxima Nova" pitchFamily="34" charset="0"/>
                          <a:ea typeface="Proxima Nova" pitchFamily="34" charset="-122"/>
                          <a:cs typeface="Proxima Nova" pitchFamily="34" charset="-120"/>
                        </a:rPr>
                        <a:t>What to do</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00" b="1" dirty="0">
                          <a:solidFill>
                            <a:srgbClr val="FFFFFF"/>
                          </a:solidFill>
                          <a:latin typeface="Proxima Nova" pitchFamily="34" charset="0"/>
                          <a:ea typeface="Proxima Nova" pitchFamily="34" charset="-122"/>
                          <a:cs typeface="Proxima Nova" pitchFamily="34" charset="-120"/>
                        </a:rPr>
                        <a:t>Who</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00" b="1" dirty="0">
                          <a:solidFill>
                            <a:srgbClr val="FFFFFF"/>
                          </a:solidFill>
                          <a:latin typeface="Proxima Nova" pitchFamily="34" charset="0"/>
                          <a:ea typeface="Proxima Nova" pitchFamily="34" charset="-122"/>
                          <a:cs typeface="Proxima Nova" pitchFamily="34" charset="-120"/>
                        </a:rPr>
                        <a:t>When</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00" b="1" dirty="0">
                          <a:solidFill>
                            <a:srgbClr val="FFFFFF"/>
                          </a:solidFill>
                          <a:latin typeface="Proxima Nova" pitchFamily="34" charset="0"/>
                          <a:ea typeface="Proxima Nova" pitchFamily="34" charset="-122"/>
                          <a:cs typeface="Proxima Nova" pitchFamily="34" charset="-120"/>
                        </a:rPr>
                        <a:t>Why</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00" b="1" dirty="0">
                          <a:solidFill>
                            <a:srgbClr val="FFFFFF"/>
                          </a:solidFill>
                          <a:latin typeface="Proxima Nova" pitchFamily="34" charset="0"/>
                          <a:ea typeface="Proxima Nova" pitchFamily="34" charset="-122"/>
                          <a:cs typeface="Proxima Nova" pitchFamily="34" charset="-120"/>
                        </a:rPr>
                        <a:t>How we'll measure it</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530352">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Share ticket-buyer ZIP codes and hotel package results with Visit Anaheim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OC Vibe ticketing and hotels; Visit Anaheim BI</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From the first 2027 shows; monthly</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No OC Vibe visitor data exists yet; ZIP codes and hotel results measure OC Vibe's visitors directly instead of estimating them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Share of attendees from 50+ miles; extra nights booked</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530352">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Program evening events with hotel packages</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OC Vibe venues; Anaheim hotels</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2027 (partner hotels); 2028 (OC Vibe hotels)</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Each </a:t>
                      </a:r>
                      <a:pPr algn="l" indent="0" marL="0">
                        <a:buNone/>
                      </a:pPr>
                      <a:r>
                        <a:rPr lang="en-US" sz="900" b="1" dirty="0">
                          <a:solidFill>
                            <a:srgbClr val="125C60"/>
                          </a:solidFill>
                          <a:latin typeface="Proxima Nova" pitchFamily="34" charset="0"/>
                          <a:ea typeface="Proxima Nova" pitchFamily="34" charset="-122"/>
                          <a:cs typeface="Proxima Nova" pitchFamily="34" charset="-120"/>
                        </a:rPr>
                        <a:t>1%</a:t>
                      </a:r>
                      <a:pPr algn="l" indent="0" marL="0">
                        <a:buNone/>
                      </a:pPr>
                      <a:r>
                        <a:rPr lang="en-US" sz="900" dirty="0">
                          <a:solidFill>
                            <a:srgbClr val="231F20"/>
                          </a:solidFill>
                          <a:latin typeface="Proxima Nova" pitchFamily="34" charset="0"/>
                          <a:ea typeface="Proxima Nova" pitchFamily="34" charset="-122"/>
                          <a:cs typeface="Proxima Nova" pitchFamily="34" charset="-120"/>
                        </a:rPr>
                        <a:t> of visitors who add a day is worth </a:t>
                      </a:r>
                      <a:pPr algn="l" indent="0" marL="0">
                        <a:buNone/>
                      </a:pPr>
                      <a:r>
                        <a:rPr lang="en-US" sz="900" b="1" dirty="0">
                          <a:solidFill>
                            <a:srgbClr val="125C60"/>
                          </a:solidFill>
                          <a:latin typeface="Proxima Nova" pitchFamily="34" charset="0"/>
                          <a:ea typeface="Proxima Nova" pitchFamily="34" charset="-122"/>
                          <a:cs typeface="Proxima Nova" pitchFamily="34" charset="-120"/>
                        </a:rPr>
                        <a:t>$31.5M</a:t>
                      </a:r>
                      <a:pPr algn="l" indent="0" marL="0">
                        <a:buNone/>
                      </a:pPr>
                      <a:r>
                        <a:rPr lang="en-US" sz="900" dirty="0">
                          <a:solidFill>
                            <a:srgbClr val="231F20"/>
                          </a:solidFill>
                          <a:latin typeface="Proxima Nova" pitchFamily="34" charset="0"/>
                          <a:ea typeface="Proxima Nova" pitchFamily="34" charset="-122"/>
                          <a:cs typeface="Proxima Nova" pitchFamily="34" charset="-120"/>
                        </a:rPr>
                        <a:t> a year</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Overnight share; average stay vs. </a:t>
                      </a:r>
                      <a:pPr algn="l" indent="0" marL="0">
                        <a:buNone/>
                      </a:pPr>
                      <a:r>
                        <a:rPr lang="en-US" sz="900" b="1" dirty="0">
                          <a:solidFill>
                            <a:srgbClr val="125C60"/>
                          </a:solidFill>
                          <a:latin typeface="Proxima Nova" pitchFamily="34" charset="0"/>
                          <a:ea typeface="Proxima Nova" pitchFamily="34" charset="-122"/>
                          <a:cs typeface="Proxima Nova" pitchFamily="34" charset="-120"/>
                        </a:rPr>
                        <a:t>2.17 days</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530352">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Fill Sunday and Monday nights</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OC Vibe programming; Visit Anaheim sales</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From 2027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Sun–Mon hotel occupancy is </a:t>
                      </a:r>
                      <a:pPr algn="l" indent="0" marL="0">
                        <a:buNone/>
                      </a:pPr>
                      <a:r>
                        <a:rPr lang="en-US" sz="900" b="1" dirty="0">
                          <a:solidFill>
                            <a:srgbClr val="125C60"/>
                          </a:solidFill>
                          <a:latin typeface="Proxima Nova" pitchFamily="34" charset="0"/>
                          <a:ea typeface="Proxima Nova" pitchFamily="34" charset="-122"/>
                          <a:cs typeface="Proxima Nova" pitchFamily="34" charset="-120"/>
                        </a:rPr>
                        <a:t>15.7 points</a:t>
                      </a:r>
                      <a:pPr algn="l" indent="0" marL="0">
                        <a:buNone/>
                      </a:pPr>
                      <a:r>
                        <a:rPr lang="en-US" sz="900" dirty="0">
                          <a:solidFill>
                            <a:srgbClr val="231F20"/>
                          </a:solidFill>
                          <a:latin typeface="Proxima Nova" pitchFamily="34" charset="0"/>
                          <a:ea typeface="Proxima Nova" pitchFamily="34" charset="-122"/>
                          <a:cs typeface="Proxima Nova" pitchFamily="34" charset="-120"/>
                        </a:rPr>
                        <a:t> below Fri–Sat; each point is worth about </a:t>
                      </a:r>
                      <a:pPr algn="l" indent="0" marL="0">
                        <a:buNone/>
                      </a:pPr>
                      <a:r>
                        <a:rPr lang="en-US" sz="900" b="1" dirty="0">
                          <a:solidFill>
                            <a:srgbClr val="125C60"/>
                          </a:solidFill>
                          <a:latin typeface="Proxima Nova" pitchFamily="34" charset="0"/>
                          <a:ea typeface="Proxima Nova" pitchFamily="34" charset="-122"/>
                          <a:cs typeface="Proxima Nova" pitchFamily="34" charset="-120"/>
                        </a:rPr>
                        <a:t>$5.1M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Sun–Mon occupancy (STR)</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530352">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Feature OC Vibe in Visit Anaheim campaigns for luxury and fly-in markets</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Visit Anaheim marketing; OC Vibe</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Six to eight weeks before each event</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Luxury placements return </a:t>
                      </a:r>
                      <a:pPr algn="l" indent="0" marL="0">
                        <a:buNone/>
                      </a:pPr>
                      <a:r>
                        <a:rPr lang="en-US" sz="900" b="1" dirty="0">
                          <a:solidFill>
                            <a:srgbClr val="125C60"/>
                          </a:solidFill>
                          <a:latin typeface="Proxima Nova" pitchFamily="34" charset="0"/>
                          <a:ea typeface="Proxima Nova" pitchFamily="34" charset="-122"/>
                          <a:cs typeface="Proxima Nova" pitchFamily="34" charset="-120"/>
                        </a:rPr>
                        <a:t>34.4</a:t>
                      </a:r>
                      <a:pPr algn="l" indent="0" marL="0">
                        <a:buNone/>
                      </a:pPr>
                      <a:r>
                        <a:rPr lang="en-US" sz="900" dirty="0">
                          <a:solidFill>
                            <a:srgbClr val="231F20"/>
                          </a:solidFill>
                          <a:latin typeface="Proxima Nova" pitchFamily="34" charset="0"/>
                          <a:ea typeface="Proxima Nova" pitchFamily="34" charset="-122"/>
                          <a:cs typeface="Proxima Nova" pitchFamily="34" charset="-120"/>
                        </a:rPr>
                        <a:t> visits per </a:t>
                      </a:r>
                      <a:pPr algn="l" indent="0" marL="0">
                        <a:buNone/>
                      </a:pPr>
                      <a:r>
                        <a:rPr lang="en-US" sz="900" b="1" dirty="0">
                          <a:solidFill>
                            <a:srgbClr val="125C60"/>
                          </a:solidFill>
                          <a:latin typeface="Proxima Nova" pitchFamily="34" charset="0"/>
                          <a:ea typeface="Proxima Nova" pitchFamily="34" charset="-122"/>
                          <a:cs typeface="Proxima Nova" pitchFamily="34" charset="-120"/>
                        </a:rPr>
                        <a:t>1,000</a:t>
                      </a:r>
                      <a:pPr algn="l" indent="0" marL="0">
                        <a:buNone/>
                      </a:pPr>
                      <a:r>
                        <a:rPr lang="en-US" sz="900" dirty="0">
                          <a:solidFill>
                            <a:srgbClr val="231F20"/>
                          </a:solidFill>
                          <a:latin typeface="Proxima Nova" pitchFamily="34" charset="0"/>
                          <a:ea typeface="Proxima Nova" pitchFamily="34" charset="-122"/>
                          <a:cs typeface="Proxima Nova" pitchFamily="34" charset="-120"/>
                        </a:rPr>
                        <a:t> impressions</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Visits per </a:t>
                      </a:r>
                      <a:pPr algn="l" indent="0" marL="0">
                        <a:buNone/>
                      </a:pPr>
                      <a:r>
                        <a:rPr lang="en-US" sz="900" b="1" dirty="0">
                          <a:solidFill>
                            <a:srgbClr val="125C60"/>
                          </a:solidFill>
                          <a:latin typeface="Proxima Nova" pitchFamily="34" charset="0"/>
                          <a:ea typeface="Proxima Nova" pitchFamily="34" charset="-122"/>
                          <a:cs typeface="Proxima Nova" pitchFamily="34" charset="-120"/>
                        </a:rPr>
                        <a:t>1,000</a:t>
                      </a:r>
                      <a:pPr algn="l" indent="0" marL="0">
                        <a:buNone/>
                      </a:pPr>
                      <a:r>
                        <a:rPr lang="en-US" sz="900" dirty="0">
                          <a:solidFill>
                            <a:srgbClr val="231F20"/>
                          </a:solidFill>
                          <a:latin typeface="Proxima Nova" pitchFamily="34" charset="0"/>
                          <a:ea typeface="Proxima Nova" pitchFamily="34" charset="-122"/>
                          <a:cs typeface="Proxima Nova" pitchFamily="34" charset="-120"/>
                        </a:rPr>
                        <a:t> impressions (Azira)</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530352">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Add late-night transit and a single access page</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OCTA; City of Anaheim; OC Vibe</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Before the 2027 openings</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Only 11 buses leave ARTIC after 10 p.m.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Event-night transit riders; parking fill rate</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530352">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Use the tight hotel pipeline to support OC Vibe's hotels and dining</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OC Vibe development team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2026–2028</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Only </a:t>
                      </a:r>
                      <a:pPr algn="l" indent="0" marL="0">
                        <a:buNone/>
                      </a:pPr>
                      <a:r>
                        <a:rPr lang="en-US" sz="900" b="1" dirty="0">
                          <a:solidFill>
                            <a:srgbClr val="125C60"/>
                          </a:solidFill>
                          <a:latin typeface="Proxima Nova" pitchFamily="34" charset="0"/>
                          <a:ea typeface="Proxima Nova" pitchFamily="34" charset="-122"/>
                          <a:cs typeface="Proxima Nova" pitchFamily="34" charset="-120"/>
                        </a:rPr>
                        <a:t>668 rooms</a:t>
                      </a:r>
                      <a:pPr algn="l" indent="0" marL="0">
                        <a:buNone/>
                      </a:pPr>
                      <a:r>
                        <a:rPr lang="en-US" sz="900" dirty="0">
                          <a:solidFill>
                            <a:srgbClr val="231F20"/>
                          </a:solidFill>
                          <a:latin typeface="Proxima Nova" pitchFamily="34" charset="0"/>
                          <a:ea typeface="Proxima Nova" pitchFamily="34" charset="-122"/>
                          <a:cs typeface="Proxima Nova" pitchFamily="34" charset="-120"/>
                        </a:rPr>
                        <a:t> are under construction countywide; hotel F&amp;B revenue is growing</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OC Vibe hotel occupancy and rate vs. market</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530352">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Set traffic and visitation baselines before opening</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City of Anaheim; Visit Anaheim BI</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Before 2027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Current Katella counts date from 2021</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New counts on Katella Ave and SR-57; Datafy share </a:t>
                      </a:r>
                      <a:pPr algn="l" indent="0" marL="0">
                        <a:buNone/>
                      </a:pPr>
                      <a:r>
                        <a:rPr lang="en-US" sz="900" b="1" dirty="0">
                          <a:solidFill>
                            <a:srgbClr val="125C60"/>
                          </a:solidFill>
                          <a:latin typeface="Proxima Nova" pitchFamily="34" charset="0"/>
                          <a:ea typeface="Proxima Nova" pitchFamily="34" charset="-122"/>
                          <a:cs typeface="Proxima Nova" pitchFamily="34" charset="-120"/>
                        </a:rPr>
                        <a:t>5.2%</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548640" y="5577840"/>
            <a:ext cx="11094415" cy="365760"/>
          </a:xfrm>
          <a:prstGeom prst="rect">
            <a:avLst/>
          </a:prstGeom>
          <a:noFill/>
          <a:ln/>
        </p:spPr>
        <p:txBody>
          <a:bodyPr wrap="square" lIns="0" tIns="0" rIns="0" bIns="0" rtlCol="0" anchor="ctr"/>
          <a:lstStyle/>
          <a:p>
            <a:pPr indent="0" marL="0">
              <a:buNone/>
            </a:pPr>
            <a:r>
              <a:rPr lang="en-US" sz="1150" b="1" dirty="0">
                <a:solidFill>
                  <a:srgbClr val="125C60"/>
                </a:solidFill>
                <a:latin typeface="Proxima Nova" pitchFamily="34" charset="0"/>
                <a:ea typeface="Proxima Nova" pitchFamily="34" charset="-122"/>
                <a:cs typeface="Proxima Nova" pitchFamily="34" charset="-120"/>
              </a:rPr>
              <a:t>Visit Anaheim can refresh these measures quarterly and add OC Vibe-specific tracking (visitation, spending, length of stay) as venues open.</a:t>
            </a:r>
            <a:endParaRPr lang="en-US" sz="1150" dirty="0"/>
          </a:p>
        </p:txBody>
      </p:sp>
      <p:sp>
        <p:nvSpPr>
          <p:cNvPr id="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Business Intelligence</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117</a:t>
            </a:fld>
            <a:endParaRPr lang="en-US"/>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Sources and notes</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Every source with period covered, date published or pulled, and how BI checked it</a:t>
            </a:r>
            <a:endParaRPr lang="en-US" sz="1200" dirty="0"/>
          </a:p>
        </p:txBody>
      </p:sp>
      <p:graphicFrame>
        <p:nvGraphicFramePr>
          <p:cNvPr id="119"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828800"/>
                <a:gridCol w="3017520"/>
                <a:gridCol w="1920240"/>
                <a:gridCol w="1920240"/>
                <a:gridCol w="2404872"/>
              </a:tblGrid>
              <a:tr h="475488">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Source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Document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Period covered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Published or pulled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How it was checked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Tourism Economics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Anaheim and Garden Grove Travel Forecast, client preliminary (June and Sept. 2026 editions)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2019–2025 actuals; Q1–Q2 2026; forecast to 2028</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Sept. 2026 (data through Aug. 31,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Original PDF reviewed; preliminary edition</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Tourism Economics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Economic Impact of Visitors 2025: Anaheim, Garden Grove, Orange County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Calendar 2025 vs. 2024</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Apr.–May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Original reports reviewed; marked client preliminary by Tourism Economics; full reports in the Reports and data library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Visit Anaheim BI</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Extra Night Calculation deck; TID Request workbook (Simpleview export)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2025 inputs; TID events 2022–2034</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Workbook exported Jan. 20, 2025; recalculated Oct. 12,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Recalculated; deck total $9.9B vs. $9.98B noted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Symphony | Tourism Economics (Azira)</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POI Analysis (District 5); Domestic Visitors by Geography; Media Attribution</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Jan. 1–May 31, 2026; Aug. 2026; Jan. 1–Aug. 31,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Exported 2026 (project files)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Original PDFs reviewed; some charts only partly readable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Datafy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Anaheim visitor report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Calendar 2024</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Provided Oct. 12,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Original PDF reviewed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Lodging Analytics Research &amp; Consulting (LARC)</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Anaheim Market Intelligence Reports; Forecasts Combined 1Q–3Q-26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Hotel data to Q2 2026; forecasts to 2030</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Jan., Apr., June, July, Sept.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Original PDFs and workbooks reviewed; full files in the Reports and data library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CoStar Group</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Orange County Hospitality Market, Disneyland Submarket and Capital Markets reports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Trailing 12 months and YTD through Aug.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Pulled Oct. 12,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Original PDFs reviewed; text-vs-table differences noted; full reports in the Reports and data library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OCTA</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2026 Traffic Flow Map (Caltrans and city counts)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Counts 2021–2024</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Published Aug.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Original map reviewed; roads located with GTFS stop coordinates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Business Intelligence source register, Oct. 12, 2026 (continued on next slide).</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118</a:t>
            </a:fld>
            <a:endParaRPr lang="en-US"/>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Sources and notes (continued)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Source register, continued</a:t>
            </a:r>
            <a:endParaRPr lang="en-US" sz="1200" dirty="0"/>
          </a:p>
        </p:txBody>
      </p:sp>
      <p:graphicFrame>
        <p:nvGraphicFramePr>
          <p:cNvPr id="12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828800"/>
                <a:gridCol w="3017520"/>
                <a:gridCol w="1920240"/>
                <a:gridCol w="1920240"/>
                <a:gridCol w="2404872"/>
              </a:tblGrid>
              <a:tr h="475488">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Source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Document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Period covered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Published or pulled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How it was checked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OCTA</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Bus schedules (GTFS feed)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Service Aug. 9–Nov. 7,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Provided Oct. 12,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Analyzed by BI from raw files; recounted independently Oct. 12, 2026 (277 trips: 227 departing, 50 ending)</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U.S. Bureau of Transportation Statistics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County Transportation Profile: Orange County, CA</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American Community Survey (year not stated in file)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Provided Oct. 12,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File reviewed; confirm data year on bts.gov</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U.S. Bureau of Transportation Statistics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Transportation Economic Trends, Tables 3.1, 3.4, 6.6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2019–2025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Accessed Oct. 12, 2026 (data.bts.gov)</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Pulled from BTS open data</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City of Anaheim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OCVibe project page and fact sheet; Transient Occupancy Tax page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Program through about 2030–2032; TOT 15%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2026 versions; accessed Oct. 12,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Official city pages reviewed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OCVIBE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ocvibe.com; OCVIBE fact sheet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Program as published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Fact sheet Apr. 2024; website accessed Oct. 12,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Developer-published; not independently verified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Visit Anaheim (visitanaheim.org)</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OCVIBE meetings page; articles (June 24, 2020, DTA estimates; June 3,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2025 visitor results; 2020 estimates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As dated; accessed Oct. 12,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Reviewed; site lists 5,700 seats and 865,000 sq ft office, which differ from the City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Visit California</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Economic Impact of Travel in California, 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Calendar 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Released Apr. 2026 (summary by RCRC, May 15,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Secondary summary; confirm with Visit California's primary report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Mindtrip (Visit Anaheim trip planner)</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Traveler chat messages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Oct. 1, 2025–Oct. 11,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Pulled Oct. 12,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Live search of chat messages; small counts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Business Intelligence source register, Oct. 12, 2026 (continued on next slide).</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119</a:t>
            </a:fld>
            <a:endParaRPr lang="en-US"/>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Sources and notes (continued)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Source register, continued</a:t>
            </a:r>
            <a:endParaRPr lang="en-US" sz="1200" dirty="0"/>
          </a:p>
        </p:txBody>
      </p:sp>
      <p:graphicFrame>
        <p:nvGraphicFramePr>
          <p:cNvPr id="121"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828800"/>
                <a:gridCol w="3017520"/>
                <a:gridCol w="1920240"/>
                <a:gridCol w="1920240"/>
                <a:gridCol w="2404872"/>
              </a:tblGrid>
              <a:tr h="475488">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Source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Document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Period covered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Published or pulled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How it was checked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Orange County Business Journal</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Honda Center set for $1.1B overhaul</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1993–2025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Apr. 29, 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Third-party reporting</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STR</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Daily hotel data, Visit Anaheim hotel sets (Anaheim+, Anaheim-Garden Grove+, Garden Grove+)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Jan. 1–Oct. 3, 2026 (daily; by segment)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Exported and provided Oct. 12,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Totals recomputed from daily supply, demand and revenue; partial October excluded from monthly view</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CoStar Group</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Submarket analytic export (Anaheim, Disneyland, Newport Beach/Dana Point, Santa Ana/Costa Mesa, Northwest/Fullerton)</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Monthly Jan.–Aug.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Last processed Aug. 31, 2026; provided Oct. 12,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12-month figures match the CoStar PDF reports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Visa Destination Insights (via Symphony)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Visitor Type; International Card Activity (Visit Anaheim view)</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Aug. 2026 vs. Aug. 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Exported Oct. 12,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Original PDFs reviewed; two identical copies received; confirm the geography set in the Visit Anaheim view</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Rail Passengers Association</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Amtrak service in Anaheim, CA (ANA) station fact sheet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2018–2024</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Oct. 27, 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Original PDF reviewed; 2023 figure unusually low</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Metrolink (SCRRA)</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Fact Sheet FY2025-26 Q2</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Oct.–Dec. 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FY2025-26 Q2 edition</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Original PDF reviewed; line totals, not ARTIC station boardings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Orange County Business Journal</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First Phase of $4B OCVibe Takes Shape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Phase 1 status as of June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June 1,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Matched against City of Anaheim and OCVIBE release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Orange County Business Journal</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OCVibe Aims to be 365-Day-a-Year Destination; The Weave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Plans as of 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June 30, 2025; Sept. 29, 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Timeline cross-checked with June 2026 article; older dates flagged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Business Intelligence source register, Oct. 12, 2026 (continued on next slide).</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120</a:t>
            </a:fld>
            <a:endParaRPr lang="en-US"/>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Sources and notes (continued)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Source register, continued</a:t>
            </a:r>
            <a:endParaRPr lang="en-US" sz="1200" dirty="0"/>
          </a:p>
        </p:txBody>
      </p:sp>
      <p:graphicFrame>
        <p:nvGraphicFramePr>
          <p:cNvPr id="122"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828800"/>
                <a:gridCol w="3017520"/>
                <a:gridCol w="1920240"/>
                <a:gridCol w="1920240"/>
                <a:gridCol w="2404872"/>
              </a:tblGrid>
              <a:tr h="475488">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Source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Document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Period covered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Published or pulled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How it was checked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OCVIBE (PR Newswire)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Concert hall design release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As of Mar.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Mar. 12,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Compared with City of Anaheim (5,613) and OCVIBE fact sheet 2024 (5,700); difference noted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BizBash</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Honda Center D23 evening showcases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Aug. 2026 event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Sept. 16,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Attendance as reported; not independently verified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OCVIBE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ocvibe.com special events page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Current offering</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Accessed Oct. 12,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Public page; no figures used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California's transit systems (data snapshots)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Transit Operating Statistics (total passengers by operator and by mode; revenue vehicle inventory) – Orange County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2003–2017</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Downloaded Oct. 12,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Operator and mode passenger totals match each other; rows sum to totals; zero-passenger years flagged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California's transit systems (data snapshots)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Transit Operating Statistics (total employees); Transit Financial Data by operator (revenues, expenses) and by type – Orange County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2003–2017</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Downloaded Oct. 12,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Operator rows sum to totals; operator totals match county revenues and expenses; revenues less expenses recomputed; Laguna Beach 2006 outlier flagged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U.S. Travel Association and Tourism Economics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Travel Forecast, Spring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2024–2026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Spring 2026; accessed Oct. 14,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Values read from the published forecast tables; real 2025 dollars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U.S. Travel Association</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Economic Impact of the U.S. Travel Industry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Calendar 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2026; accessed Oct. 14,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Published fact sheet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Visit California (Dean Runyan Associates)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The Economic Impact of Travel in California, 2025p (primary report)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Calendar 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Apr. 6, 2026; accessed Oct. 14,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Primary report reviewed; preliminary (2025p)</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Business Intelligence source register, Oct. 12, 2026 (continued on next slide).</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121</a:t>
            </a:fld>
            <a:endParaRPr lang="en-US"/>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Sources and notes (continued)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Source register, continued</a:t>
            </a:r>
            <a:endParaRPr lang="en-US" sz="1200" dirty="0"/>
          </a:p>
        </p:txBody>
      </p:sp>
      <p:graphicFrame>
        <p:nvGraphicFramePr>
          <p:cNvPr id="123"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828800"/>
                <a:gridCol w="3017520"/>
                <a:gridCol w="1920240"/>
                <a:gridCol w="1920240"/>
                <a:gridCol w="2404872"/>
              </a:tblGrid>
              <a:tr h="475488">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Source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Document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Period covered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Published or pulled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How it was checked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CIC Research for Visit Anaheim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Annual Profile of Visitors to Anaheim and Orange County, 2019</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Calendar 2019 (volume 2009-2019)</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Apr. 2020; found Oct. 19,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Original PDF reviewed; latest edition found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Dean Runyan Associates for Visit California</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The Economic Impact of Travel in California, 2025p; Travel Impacts by Assembly District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2015-2025p</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Apr. 2026; reviewed Oct. 19,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Original PDFs reviewed; preliminary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CoStar</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Orange County market monthly and segmentation tables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Jan. 1987-Sept.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Pulled Oct. 2026; reviewed Oct. 19,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Licensed export; summary figures only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Symphony | Tourism Economics (Azira)</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Domestic and International Visitors views (Anaheim and Garden Grove)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Jan. 1, 2023-Aug. 31,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Pulled Oct. 2026; confirmed Oct. 19,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Geography and period confirmed with BI; 2026 method shift flagged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Visit California</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Monthly Travel Indicators (Aug. 2026); Resident Sentiment 2025; Travel and Lodging Forecasts (Sept.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2013-2030</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Mar.-Oct. 2026; reviewed Oct. 19,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Original files reviewed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Business Intelligence source register, Oct. 12,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122</a:t>
            </a:fld>
            <a:endParaRPr lang="en-US"/>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About the data</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Limits and differences between sources to keep in mind</a:t>
            </a:r>
            <a:endParaRPr lang="en-US" sz="1200" dirty="0"/>
          </a:p>
        </p:txBody>
      </p:sp>
      <p:sp>
        <p:nvSpPr>
          <p:cNvPr id="4" name="Text 2"/>
          <p:cNvSpPr txBox="1"/>
          <p:nvPr/>
        </p:nvSpPr>
        <p:spPr>
          <a:xfrm>
            <a:off x="548640" y="1463040"/>
            <a:ext cx="11094415" cy="4480560"/>
          </a:xfrm>
          <a:prstGeom prst="rect">
            <a:avLst/>
          </a:prstGeom>
          <a:noFill/>
          <a:ln/>
        </p:spPr>
        <p:txBody>
          <a:bodyPr wrap="square" lIns="0" tIns="0" rIns="0" bIns="0" rtlCol="0" anchor="t"/>
          <a:lstStyle/>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Tourism Economics figures cover the City of Anaheim. They are not allocated to OC Vibe, and this report contains no estimate of OC Vibe's impact; OC Vibe's results will be measured once its venues open.</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Years: 2025 figures are measured results that Tourism Economics published in 2026; 2026 figures are Tourism Economics' forecast (Sept. 2026) and are labeled as such.</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Spending per visitor is calculated from rounded Tourism Economics totals and is approximate.</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One-more-night values are scenarios that hold spending per day constant; they are not forecasts.</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Traffic counts near OC Vibe on the 2026 map date from 2021–2024; freeway volumes are Caltrans 2024 counts.</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Symphony, Datafy and Tourism Economics use different methods, device panels and periods; compare them as context, not like-for-like.</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LARC's Anaheim market tables (CoStar) and Visit Anaheim hotel set tables use different bases.</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CoStar figures are trailing 12 months or year to date through Aug. 2026. CoStar's own text and tables differ in a few places: the Disneyland submarket 12-month rate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$250</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in text,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$255</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in tables; tables used), Orange County 12-month sales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$218.1M</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headline,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$234.2M</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in tables; tables used), and the name of the 352-room hotel sold in May 2026 (two names given; address shown instead).</a:t>
            </a:r>
            <a:endParaRPr lang="en-US" sz="115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123</a:t>
            </a:fld>
            <a:endParaRPr lang="en-US"/>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About the data (continued)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Limits and differences between sources to keep in mind</a:t>
            </a:r>
            <a:endParaRPr lang="en-US" sz="1200" dirty="0"/>
          </a:p>
        </p:txBody>
      </p:sp>
      <p:sp>
        <p:nvSpPr>
          <p:cNvPr id="4" name="Text 2"/>
          <p:cNvSpPr txBox="1"/>
          <p:nvPr/>
        </p:nvSpPr>
        <p:spPr>
          <a:xfrm>
            <a:off x="548640" y="1463040"/>
            <a:ext cx="11094415" cy="4480560"/>
          </a:xfrm>
          <a:prstGeom prst="rect">
            <a:avLst/>
          </a:prstGeom>
          <a:noFill/>
          <a:ln/>
        </p:spPr>
        <p:txBody>
          <a:bodyPr wrap="square" lIns="0" tIns="0" rIns="0" bIns="0" rtlCol="0" anchor="t"/>
          <a:lstStyle/>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CoStar hotel revenue mix comes from a sample of reporting hotels and may not represent every property.</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OC Vibe's cost and timeline differ between CoStar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$4 billion</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buildout by 2028) and LARC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$5 billion</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final phase by 2033); OC Vibe's own figures should be used.</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Not yet received: Tourism Economics transportation impact data.</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Mindtrip counts are small (53 of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3,149</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messages) and include six quiz entries; treat them as signals, not measures.</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Published OC Vibe program figures differ by source: concert hall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5,613 seats</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(City, 2026) vs.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5,700</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(OCVIBE 2024; visitanaheim.org); office up to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563,875</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sq ft (City) vs.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865,000</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sq ft (visitanaheim.org). The model uses the City's figures. OCVIBE's newest figure is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5,000 seats</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(concert hall release, Mar. 12, 2026).</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California's 2025 statewide figures come from a secondary summary of Visit California's report; confirm against the primary report before external use.</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Visa figures come from Visit Anaheim's Visa Destination Insights view in Symphony; confirm the geography it covers before comparing it with other sources. The two Visitor Type files received are identical.</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Amtrak's 2023 count at Anaheim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70,700</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is unusually low compared with 2022 and 2024; check it before using it in a trend.</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STR and CoStar measure different hotel sets (Visit Anaheim sets vs. CoStar submarkets) and should not be compared directly.</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California transit systems snapshots: the latest year is 2017, so they show trend, not current staffing or budgets. Dollars are nominal (not adjusted for inflation). The two operator files are expenses and revenues: their totals match the county Expenses and Revenues rows exactly. Laguna Beach shows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1,647</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employees in 2006 (14–125 in other years), which points to a reporting error; the 2006 all-operator staff total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4,091</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is affected. The OCTA rows are consistent.</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California transit passenger and vehicle snapshots: Laguna Beach reports 0 passengers in 2013 and the mode file reports 0 "Other" passengers in 2007 and 2010, which look like missing reports. Demand-response passengers in 2010 differ by file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2.33M</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by mode vs.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1.48M</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for OCTA specialized service), though the county totals match. OCTA specialized service lists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848 vehicles</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in 2016 (486–587 around it), likely a reporting outlier. Two uploads were duplicates (Snapshot 3 and Snapshot 4) and were counted once.</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Average spend compares per-visitor values (Tourism Economics) with per-trip values (U.S. Travel Association, in 2025 dollars); compare direction, not exact levels.</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Visitor transportation shares differ by source: Visit California counts visitor air fares and statewide ground travel; Tourism Economics' city figures count spending inside the city (Anaheim has no commercial airport).</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Visit California's Orange County total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$17.1B</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direct travel spending, 2025p) uses a different method from Tourism Economics'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$17.99B</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visitor spending); use one source at a time.</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Orange County visitor counts come from two methods (CIC Research 2009-2019; Tourism Economics 2021-2025) and are shown as separate series; 2020 and 2026 year to date are not published for the county.</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Azira files cover Anaheim and Garden Grove, not Orange County, and carry no ZIP codes; 2026 length of stay and distance shares reflect a likely method change.</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The latest Orange County visitor profile (trip purpose, party size, children) is CIC Research's 2019 study.</a:t>
            </a:r>
            <a:endParaRPr lang="en-US" sz="115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124</a:t>
            </a:fld>
            <a:endParaRPr lang="en-US"/>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When each source updates</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Updated quarterly · Data last updated Oct. 19, 2026 · Next scheduled update Jan. 15, 2027</a:t>
            </a:r>
            <a:endParaRPr lang="en-US" sz="1200" dirty="0"/>
          </a:p>
        </p:txBody>
      </p:sp>
      <p:graphicFrame>
        <p:nvGraphicFramePr>
          <p:cNvPr id="12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3108960"/>
                <a:gridCol w="2377440"/>
                <a:gridCol w="2514600"/>
                <a:gridCol w="3090672"/>
              </a:tblGrid>
              <a:tr h="438912">
                <a:tc>
                  <a:txBody>
                    <a:bodyPr/>
                    <a:lstStyle/>
                    <a:p>
                      <a:pPr algn="l" indent="0" marL="0">
                        <a:buNone/>
                      </a:pPr>
                      <a:r>
                        <a:rPr lang="en-US" sz="900" b="1" dirty="0">
                          <a:solidFill>
                            <a:srgbClr val="FFFFFF"/>
                          </a:solidFill>
                          <a:latin typeface="Proxima Nova" pitchFamily="34" charset="0"/>
                          <a:ea typeface="Proxima Nova" pitchFamily="34" charset="-122"/>
                          <a:cs typeface="Proxima Nova" pitchFamily="34" charset="-120"/>
                        </a:rPr>
                        <a:t>Source</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00" b="1" dirty="0">
                          <a:solidFill>
                            <a:srgbClr val="FFFFFF"/>
                          </a:solidFill>
                          <a:latin typeface="Proxima Nova" pitchFamily="34" charset="0"/>
                          <a:ea typeface="Proxima Nova" pitchFamily="34" charset="-122"/>
                          <a:cs typeface="Proxima Nova" pitchFamily="34" charset="-120"/>
                        </a:rPr>
                        <a:t>How often it publishes</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00" b="1" dirty="0">
                          <a:solidFill>
                            <a:srgbClr val="FFFFFF"/>
                          </a:solidFill>
                          <a:latin typeface="Proxima Nova" pitchFamily="34" charset="0"/>
                          <a:ea typeface="Proxima Nova" pitchFamily="34" charset="-122"/>
                          <a:cs typeface="Proxima Nova" pitchFamily="34" charset="-120"/>
                        </a:rPr>
                        <a:t>In this edition</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00" b="1" dirty="0">
                          <a:solidFill>
                            <a:srgbClr val="FFFFFF"/>
                          </a:solidFill>
                          <a:latin typeface="Proxima Nova" pitchFamily="34" charset="0"/>
                          <a:ea typeface="Proxima Nova" pitchFamily="34" charset="-122"/>
                          <a:cs typeface="Proxima Nova" pitchFamily="34" charset="-120"/>
                        </a:rPr>
                        <a:t>At each quarterly update</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38912">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Tourism Economics, Anaheim Travel Forecast</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Quarterly</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Sept. 2026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Replaced with the newest forecast</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38912">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Tourism Economics, Economic Impact of Visitors</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Annual (spring)</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Calendar 2025 (pub. 2026)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Replaced when the new year is published</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38912">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LARC Market Intelligence Reports; quarterly forecasts</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Monthly; quarterly</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Jan. to Sept. 2026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Latest month and forecast added</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38912">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STR daily data (Visit Anaheim hotel sets)</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Weekly or monthly</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Jan. 1 to Oct. 3, 2026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New export pulled through the latest date</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38912">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CoStar reports and export</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Weekly or monthly</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Through Aug. 2026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New reports and export pulled</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38912">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Azira via Symphony</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Monthly</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Jan. to Aug. 2026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New period pulled</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38912">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Visa Destination Insights via Symphony</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Weekly or monthly</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Aug. 2026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Latest month pulled</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38912">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OCTA, Amtrak, Metrolink</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When a new schedule or fact sheet is published</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Aug. to Nov. 2026; 2018 to 2024; FY26 Q2</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Updated only if a new one is out</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38912">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Datafy, U.S. BTS, California transit snapshots, City and OC Vibe public sources</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As released</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See the source register</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Kept at their dated values until a new release is received</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BI, quarterly refresh runbook (Oct. 13, 2026; cadence confirmed Oct. 14, 2026); Visit Anaheim BI source register (Oct. 12,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125</a:t>
            </a:fld>
            <a:endParaRPr lang="en-US"/>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Planned data sources (not in this edition)</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Planned for a more complete view of OC Vibe visitors · not in this edition</a:t>
            </a:r>
            <a:endParaRPr lang="en-US" sz="1200" dirty="0"/>
          </a:p>
        </p:txBody>
      </p:sp>
      <p:graphicFrame>
        <p:nvGraphicFramePr>
          <p:cNvPr id="127"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94415" cy="914400"/>
        </p:xfrm>
        <a:graphic>
          <a:graphicData uri="http://schemas.openxmlformats.org/drawingml/2006/table">
            <a:tbl>
              <a:tblPr/>
              <a:tblGrid>
                <a:gridCol w="2468880"/>
                <a:gridCol w="2651760"/>
                <a:gridCol w="3502152"/>
                <a:gridCol w="2468880"/>
              </a:tblGrid>
              <a:tr h="777240">
                <a:tc>
                  <a:txBody>
                    <a:bodyPr/>
                    <a:lstStyle/>
                    <a:p>
                      <a:pPr algn="l" indent="0" marL="0">
                        <a:buNone/>
                      </a:pPr>
                      <a:r>
                        <a:rPr lang="en-US" sz="1050" b="1" dirty="0">
                          <a:solidFill>
                            <a:srgbClr val="FFFFFF"/>
                          </a:solidFill>
                          <a:latin typeface="Proxima Nova" pitchFamily="34" charset="0"/>
                          <a:ea typeface="Proxima Nova" pitchFamily="34" charset="-122"/>
                          <a:cs typeface="Proxima Nova" pitchFamily="34" charset="-120"/>
                        </a:rPr>
                        <a:t>Source</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1050" b="1" dirty="0">
                          <a:solidFill>
                            <a:srgbClr val="FFFFFF"/>
                          </a:solidFill>
                          <a:latin typeface="Proxima Nova" pitchFamily="34" charset="0"/>
                          <a:ea typeface="Proxima Nova" pitchFamily="34" charset="-122"/>
                          <a:cs typeface="Proxima Nova" pitchFamily="34" charset="-120"/>
                        </a:rPr>
                        <a:t>What it would add</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1050" b="1" dirty="0">
                          <a:solidFill>
                            <a:srgbClr val="FFFFFF"/>
                          </a:solidFill>
                          <a:latin typeface="Proxima Nova" pitchFamily="34" charset="0"/>
                          <a:ea typeface="Proxima Nova" pitchFamily="34" charset="-122"/>
                          <a:cs typeface="Proxima Nova" pitchFamily="34" charset="-120"/>
                        </a:rPr>
                        <a:t>How it would tie in</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1050" b="1" dirty="0">
                          <a:solidFill>
                            <a:srgbClr val="FFFFFF"/>
                          </a:solidFill>
                          <a:latin typeface="Proxima Nova" pitchFamily="34" charset="0"/>
                          <a:ea typeface="Proxima Nova" pitchFamily="34" charset="-122"/>
                          <a:cs typeface="Proxima Nova" pitchFamily="34" charset="-120"/>
                        </a:rPr>
                        <a:t>Status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77724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Ticketmaster ticketing data, Honda Center (from OC Vibe)</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Tickets sold by event and ticket-buyer home ZIP code</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Shows how far event audiences travel; matched to STR nights and Visa spending on event dates; feeds Who visits and Hotel market</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To request from OC Vibe through a data-sharing agreement; summaries only</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77724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Placer.ai foot-traffic data</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Visits, visitor home areas, dwell time and repeat visits at OC Vibe venues and the OC Vibe area</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Compared with Azira for District 5; tracks the OC Vibe area as venues open; feeds Who visits and Getting here</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To source; license holder to be confirmed; summaries only</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5" name="Text 2"/>
          <p:cNvSpPr txBox="1"/>
          <p:nvPr/>
        </p:nvSpPr>
        <p:spPr>
          <a:xfrm>
            <a:off x="548640" y="4114800"/>
            <a:ext cx="11094415" cy="822960"/>
          </a:xfrm>
          <a:prstGeom prst="rect">
            <a:avLst/>
          </a:prstGeom>
          <a:noFill/>
          <a:ln/>
        </p:spPr>
        <p:txBody>
          <a:bodyPr wrap="square" lIns="0" tIns="0" rIns="0" bIns="0" rtlCol="0" anchor="t"/>
          <a:lstStyle/>
          <a:p>
            <a:pPr indent="0" marL="0">
              <a:buNone/>
            </a:pPr>
            <a:r>
              <a:rPr lang="en-US" sz="1200" dirty="0">
                <a:solidFill>
                  <a:srgbClr val="231F20"/>
                </a:solidFill>
                <a:latin typeface="Proxima Nova" pitchFamily="34" charset="0"/>
                <a:ea typeface="Proxima Nova" pitchFamily="34" charset="-122"/>
                <a:cs typeface="Proxima Nova" pitchFamily="34" charset="-120"/>
              </a:rPr>
              <a:t>No figures from these sources appear until the data is received, checked and cleared for sharing. Each is added at the next quarterly update after it arrives. Ticketing and foot-traffic data are licensed or partner data: the report would show summaries only.</a:t>
            </a:r>
            <a:endParaRPr lang="en-US" sz="1200" dirty="0"/>
          </a:p>
        </p:txBody>
      </p:sp>
      <p:sp>
        <p:nvSpPr>
          <p:cNvPr id="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BI, data plan (Oct. 14,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126</a:t>
            </a:fld>
            <a:endParaRPr lang="en-US"/>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Formulas, with the 2025 inputs worked through</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Each formula with its 2025 inputs · Visit Anaheim BI, Oct. 13, 2026</a:t>
            </a:r>
            <a:endParaRPr lang="en-US" sz="1200" dirty="0"/>
          </a:p>
        </p:txBody>
      </p:sp>
      <p:graphicFrame>
        <p:nvGraphicFramePr>
          <p:cNvPr id="128"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2377440"/>
                <a:gridCol w="4206240"/>
                <a:gridCol w="4507992"/>
              </a:tblGrid>
              <a:tr h="411480">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Measure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Formula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Worked example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1148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Spending per visitor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Visitor spending ÷ visits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$6,832M ÷ 26.5M = $258 (2025)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1148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Weighted length of stay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(domestic share × 1.9) + (international share × 5.9)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(24.7 ÷ 26.5 × 1.9) + (1.8 ÷ 26.5 × 5.9) = 2.17 days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1148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Spending per visitor day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Spending per visitor ÷ weighted stay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$258 ÷ 2.17 = $118.71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1148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One more night (lodging)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Lodging spending ÷ weighted stay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$1,724M ÷ 2.17 = $794M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1148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Value of 1% adding a day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Visitors × 1% × spending per visitor day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26.5M × 1% × $118.71 = $31.5M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1148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Value of one Sun–Mon occupancy point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Rooms × 1% × 104 nights × Sun–Mon ADR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21,318 × 1% × 104 × $230 = $5.1M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1148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RevPAR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Occupancy × ADR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78.4% × $255 = $200 (Disneyland submarket)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1148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Rooms available a night (average)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Annual available room nights / days in the year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21,400,998 / 365 = 58,633 (Orange County, 2019)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41148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Seasonality average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(Month in 2023 + 2024 + 2025) / 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(80.7 + 80.0 + 81.2) / 3 = 80.6% (July)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1148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Year-to-date change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This year's months / same months last year - 1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13.06M / 12.67M - 1 = +3.1% (Anaheim, Jan.-June)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BI calculations from source data (Oct. 13,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127</a:t>
            </a:fld>
            <a:endParaRPr lang="en-US"/>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Glossary</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Terms used in this report</a:t>
            </a:r>
            <a:endParaRPr lang="en-US" sz="1200" dirty="0"/>
          </a:p>
        </p:txBody>
      </p:sp>
      <p:graphicFrame>
        <p:nvGraphicFramePr>
          <p:cNvPr id="129"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2743200"/>
                <a:gridCol w="8348472"/>
              </a:tblGrid>
              <a:tr h="283464">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Term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Meaning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ADR (average daily rate)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Room revenue divided by rooms sold; the average nightly rate.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ADT (average daily traffic)</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Average number of vehicles passing a point on a weekday, both directions.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Analysis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The feature part of each section: charts, tables, what the data means for OC Vibe, and compare and contrast. Built only on the facts reported above it.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AP style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Associated Press rules for dates, numbers, titles and punctuation (for example, Oct. 13, 2026; 9 p.m.; 7.8%).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Attribution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Naming the source and date of every fact. No unsourced statements and no first person in news reports.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Cap rate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 hotel's net operating income divided by its value; a measure of investment return.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Dateline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The place and date that open a news report: ANAHEIM, Calif. (Oct. 13,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Day visitor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 visitor who travels 50+ miles but does not stay overnight.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Direct, indirect and induced impact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Visitor spending itself (direct), supplier purchases it triggers (indirect), and spending of wages it supports (induced).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DMA (designated market area)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 TV market defined by Nielsen; used for media planning and origin reporting.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Group vs. transient demand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Rooms sold in blocks (conventions, tours) vs. rooms sold individually.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GTFS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General Transit Feed Specification: the public format for bus and rail schedules.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Inverted pyramid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Most important facts first, then supporting details in descending order of importance.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Jobs supported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Full- and part-time jobs, including proprietors, sustained by visitor spending.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Lede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The opening sentence or paragraph that gives the core of the story; here, the key insight after the dateline.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BI; Tourism Economics, STR, CoStar and Azira definitions</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128</a:t>
            </a:fld>
            <a:endParaRPr lang="en-US"/>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Glossary (continued)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Terms used in this report</a:t>
            </a:r>
            <a:endParaRPr lang="en-US" sz="1200" dirty="0"/>
          </a:p>
        </p:txBody>
      </p:sp>
      <p:graphicFrame>
        <p:nvGraphicFramePr>
          <p:cNvPr id="130"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2743200"/>
                <a:gridCol w="8348472"/>
              </a:tblGrid>
              <a:tr h="283464">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Term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Meaning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Length of stay (LOS)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Days per visit; Anaheim's weighted average is 2.17 days (domestic 1.9, international 5.9).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MSA (metropolitan statistical area)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 federal metro-area definition; Los Angeles-Long Beach-Anaheim includes Los Angeles and Orange counties.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Multiplier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Total economic impact per $1 of visitor spending (Anaheim 1.53).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News report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An objective, factual account of the five Ws (who, what, when, where, why) plus how, written in an inverted pyramid. Each section opens with one.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Nut graph</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The paragraph that explains the context and why the story matters ("Why it matters").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Occupancy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Rooms sold divided by rooms available.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Overnight visitor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 visitor who stays at least one night in paid or unpaid lodging.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Quarterly update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The scheduled refresh of this report on the 15th of January, April, July and October, after Tourism Economics' quarterly forecast. Only figures with a new published value change. Next scheduled update: Jan. 15, 2027.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RevPAR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Revenue per available room: room revenue divided by rooms available (occupancy × ADR).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Submarket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 geographic area CoStar uses to group hotels (for example, Disneyland or Anaheim).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TID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Anaheim Tourism Improvement District: a hotel assessment that funds incentives and marketing.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TOT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Transient occupancy tax: Anaheim's 15% tax on hotel room charges.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Transient, group and contract demand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Hotel rooms sold to individual travelers, to groups of 10+ rooms, and under long-term contracts (for example, airline crews).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Travel party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The people traveling together on one trip, counted per group.</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VFR (visiting friends or relatives)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 trip whose main purpose is to see friends or family; often combined with pleasure in surveys.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BI; Tourism Economics, STR, CoStar and Azira definitions</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129</a:t>
            </a:fld>
            <a:endParaRPr lang="en-US"/>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Glossary (continued)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Terms used in this report</a:t>
            </a:r>
            <a:endParaRPr lang="en-US" sz="1200" dirty="0"/>
          </a:p>
        </p:txBody>
      </p:sp>
      <p:graphicFrame>
        <p:nvGraphicFramePr>
          <p:cNvPr id="131"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2743200"/>
                <a:gridCol w="8348472"/>
              </a:tblGrid>
              <a:tr h="283464">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Term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Meaning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Visitor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Someone who travels 50+ miles or stays overnight (Tourism Economics definition).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Visitor day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One visitor on one day; visitors × length of stay.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Year to date (YTD)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From Jan. 1 to the latest month with data.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BI; Tourism Economics, STR, CoStar and Azira definitions</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130</a:t>
            </a:fld>
            <a:endParaRPr lang="en-US"/>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Methods</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How each type of number was produced</a:t>
            </a:r>
            <a:endParaRPr lang="en-US" sz="1200" dirty="0"/>
          </a:p>
        </p:txBody>
      </p:sp>
      <p:graphicFrame>
        <p:nvGraphicFramePr>
          <p:cNvPr id="132"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2194560"/>
                <a:gridCol w="6035040"/>
                <a:gridCol w="2862072"/>
              </a:tblGrid>
              <a:tr h="457200">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Analysis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Method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Source and date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5720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One more night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Lodging spending divided by weighted length of stay; scenarios hold spending per day constant.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 Anaheim BI; Tourism Economics 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Economic impact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Input-output model (direct, indirect, induced) from visitor surveys, spending data and industry accounts.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 pub. Apr.–May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Visitor location data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Mobile device panels matched to places; visitors defined by distance and dwell time.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Azira via Symphony (2026); Datafy (2024)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Card spending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Reported Visa card transactions, classified by cardholder origin and merchant category.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Visa via Symphony (Aug.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Hotel performance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Census and sample of hotel-reported rooms, rates and revenue.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STR (2026); CoStar (through Aug.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Bus service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Raw GTFS schedules for a typical weekday (Wed. Oct. 14, 2026); trips stopping at ARTIC docks 1–7.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OCTA (Aug. 9–Nov. 7,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Traffic</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Weekday average daily traffic from Caltrans and city counts on the OCTA map.</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OCTA (pub. Aug.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Media attribution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Exposed devices matched to later visits at least three days after exposure.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Azira via Symphony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BI (Oct. 12,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131</a:t>
            </a:fld>
            <a:endParaRPr lang="en-US"/>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Methods (continued)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How each type of number was produced</a:t>
            </a:r>
            <a:endParaRPr lang="en-US" sz="1200" dirty="0"/>
          </a:p>
        </p:txBody>
      </p:sp>
      <p:graphicFrame>
        <p:nvGraphicFramePr>
          <p:cNvPr id="133"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2194560"/>
                <a:gridCol w="6035040"/>
                <a:gridCol w="2862072"/>
              </a:tblGrid>
              <a:tr h="457200">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Analysis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Method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Source and date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5720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Newsroom structure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Each section is written as a broadsheet news report (dateline, lede, nut graph and six detail cards) followed by analysis. No editorial or opinion content.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 Anaheim BI, Oct. 13, 2026; AP Stylebook conventions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Quarterly update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Quarterly because Tourism Economics, the core of the report, delivers quarterly; weekly and monthly sources (STR, CoStar, Visa, Azira) are pulled at the same time so all figures share one as-of date. Each quarter, BI finds the newest file from each source, replaces only figures with a new published or measured value (with the new period and publication date), checks every number against its source, and republishes the dashboard, deck and data tables. Sources with nothing new keep their dated figures.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 Anaheim BI, quarterly refresh runbook (Oct. 13, 2026; cadence confirmed Oct. 14,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Orange County visitor profile (2019)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CIC Research: 2,686 intercept interviews at 36 Orange County locations plus an internet panel of 2,087 households; 4,040 visitor groups.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CIC Research, Annual Profile of Visitors to Anaheim and Orange County, 2019 (for Visit Anaheim, Apr. 2020)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Orange County visitor volume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 model (2021-2025) and CIC estimates (2009-2019) are separate series; not combined.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 Economic Impact of Visitors to Orange County, 2025 (pub. May 2026); CIC Research, Annual Profile of Visitors to Anaheim and Orange County, 2019 (for Visit Anaheim, Apr. 2020)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Seasonality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CoStar monthly hotel occupancy and ADR used as the monthly measure; 2023-2025 average by month.</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CoStar, Orange County hotel market (monthly data through Sept. 2026; market report Oct. 12,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BI (Oct. 12,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132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Proxima Nov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Proxima Nova"/>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B0FC4979223D3F4F8ACA1256696572B0" ma:contentTypeVersion="9" ma:contentTypeDescription="Create a new document." ma:contentTypeScope="" ma:versionID="5bec7ac07237f680a7bd44260216b081">
  <xsd:schema xmlns:xsd="http://www.w3.org/2001/XMLSchema" xmlns:xs="http://www.w3.org/2001/XMLSchema" xmlns:p="http://schemas.microsoft.com/office/2006/metadata/properties" xmlns:ns2="d19ff334-c877-4aa1-91a5-0eec512030d6" targetNamespace="http://schemas.microsoft.com/office/2006/metadata/properties" ma:root="true" ma:fieldsID="9709f6edfecda1367f5e9212db946075" ns2:_="">
    <xsd:import namespace="d19ff334-c877-4aa1-91a5-0eec512030d6"/>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DateTaken" minOccurs="0"/>
                <xsd:element ref="ns2:lcf76f155ced4ddcb4097134ff3c332f" minOccurs="0"/>
                <xsd:element ref="ns2:MediaServiceOCR" minOccurs="0"/>
                <xsd:element ref="ns2:MediaServiceGenerationTime" minOccurs="0"/>
                <xsd:element ref="ns2: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d19ff334-c877-4aa1-91a5-0eec512030d6"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DateTaken" ma:index="11" nillable="true" ma:displayName="MediaServiceDateTaken" ma:hidden="true" ma:indexed="true" ma:internalName="MediaServiceDateTaken" ma:readOnly="true">
      <xsd:simpleType>
        <xsd:restriction base="dms:Text"/>
      </xsd:simpleType>
    </xsd:element>
    <xsd:element name="lcf76f155ced4ddcb4097134ff3c332f" ma:index="13" nillable="true" ma:taxonomy="true" ma:internalName="lcf76f155ced4ddcb4097134ff3c332f" ma:taxonomyFieldName="MediaServiceImageTags" ma:displayName="Image Tags" ma:readOnly="false" ma:fieldId="{5cf76f15-5ced-4ddc-b409-7134ff3c332f}" ma:taxonomyMulti="true" ma:sspId="895bdb12-9539-4e14-a8be-417d3eac86a2" ma:termSetId="09814cd3-568e-fe90-9814-8d621ff8fb84" ma:anchorId="fba54fb3-c3e1-fe81-a776-ca4b69148c4d" ma:open="true" ma:isKeyword="false">
      <xsd:complexType>
        <xsd:sequence>
          <xsd:element ref="pc:Terms" minOccurs="0" maxOccurs="1"/>
        </xsd:sequence>
      </xsd:complexType>
    </xsd:element>
    <xsd:element name="MediaServiceOCR" ma:index="14" nillable="true" ma:displayName="Extracted Text" ma:internalName="MediaServiceOCR" ma:readOnly="true">
      <xsd:simpleType>
        <xsd:restriction base="dms:Note">
          <xsd:maxLength value="255"/>
        </xsd:restriction>
      </xsd:simple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d19ff334-c877-4aa1-91a5-0eec512030d6">
      <Terms xmlns="http://schemas.microsoft.com/office/infopath/2007/PartnerControls"/>
    </lcf76f155ced4ddcb4097134ff3c332f>
  </documentManagement>
</p:properties>
</file>

<file path=customXml/itemProps1.xml><?xml version="1.0" encoding="utf-8"?>
<ds:datastoreItem xmlns:ds="http://schemas.openxmlformats.org/officeDocument/2006/customXml" ds:itemID="{8650DA8E-5058-4869-BD84-651415481C73}"/>
</file>

<file path=customXml/itemProps2.xml><?xml version="1.0" encoding="utf-8"?>
<ds:datastoreItem xmlns:ds="http://schemas.openxmlformats.org/officeDocument/2006/customXml" ds:itemID="{7133D9D7-0FF9-4B97-843C-3415C2FDD194}"/>
</file>

<file path=customXml/itemProps3.xml><?xml version="1.0" encoding="utf-8"?>
<ds:datastoreItem xmlns:ds="http://schemas.openxmlformats.org/officeDocument/2006/customXml" ds:itemID="{3E29440F-76B6-4D0F-8270-908C8B527B15}"/>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132</Slides>
  <Notes>132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132</vt:i4>
      </vt:variant>
    </vt:vector>
  </HeadingPairs>
  <TitlesOfParts>
    <vt:vector size="13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vector>
  </TitlesOfParts>
  <Company>Visit Anaheim</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OC Vibe Insights</dc:title>
  <dc:subject>PptxGenJS Presentation</dc:subject>
  <dc:creator>Visit Anaheim Business Intelligence</dc:creator>
  <cp:lastModifiedBy>Visit Anaheim Business Intelligence</cp:lastModifiedBy>
  <cp:revision>1</cp:revision>
  <dcterms:created xsi:type="dcterms:W3CDTF">2026-10-19T19:36:21Z</dcterms:created>
  <dcterms:modified xsi:type="dcterms:W3CDTF">2026-10-19T19:36:21Z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ediaServiceImageTags">
    <vt:lpwstr/>
  </property>
  <property fmtid="{D5CDD505-2E9C-101B-9397-08002B2CF9AE}" pid="3" name="ContentTypeId">
    <vt:lpwstr>0x010100B0FC4979223D3F4F8ACA1256696572B0</vt:lpwstr>
  </property>
</Properties>
</file>