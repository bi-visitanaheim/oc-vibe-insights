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4.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5.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6.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7.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8.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9.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0.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1.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22.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23.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2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415c725-9934-4ea1-a167-0e73792cb72a}">
          <p14:sldIdLst>
            <p14:sldId id="256"/>
            <p14:sldId id="257"/>
            <p14:sldId id="258"/>
          </p14:sldIdLst>
        </p14:section>
        <p14:section name="The four core questions" id="{84b79e56-bd17-22d6-b4b7-0a6cbe4bb106}">
          <p14:sldIdLst>
            <p14:sldId id="259"/>
            <p14:sldId id="260"/>
            <p14:sldId id="261"/>
            <p14:sldId id="262"/>
            <p14:sldId id="263"/>
            <p14:sldId id="264"/>
            <p14:sldId id="265"/>
            <p14:sldId id="266"/>
          </p14:sldIdLst>
        </p14:section>
        <p14:section name="More questions answered" id="{b4a1d98f-914e-dec5-d569-7ee3b74b9b95}">
          <p14:sldIdLst>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 name="Sources and files" id="{3983cc28-842e-e482-38a0-1e6462aba068}">
          <p14:sldIdLst>
            <p14:sldId id="289"/>
            <p14:sldId id="290"/>
            <p14:sldId id="291"/>
            <p14:sldId id="292"/>
            <p14:sldId id="293"/>
            <p14:sldId id="294"/>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Spending per visitor or trip, 2025</c:v>
                </c:pt>
              </c:strCache>
            </c:strRef>
          </c:tx>
          <c:spPr>
            <a:solidFill>
              <a:srgbClr val="B4D9E3"/>
            </a:solidFill>
            <a:effectLst/>
          </c:spPr>
          <c:invertIfNegative val="0"/>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Garden Grove</c:v>
                  </c:pt>
                  <c:pt idx="1">
                    <c:v>Anaheim</c:v>
                  </c:pt>
                  <c:pt idx="2">
                    <c:v>Orange County</c:v>
                  </c:pt>
                  <c:pt idx="3">
                    <c:v>U.S. (per trip)</c:v>
                  </c:pt>
                </c:lvl>
              </c:multiLvlStrCache>
            </c:multiLvlStrRef>
          </c:cat>
          <c:val>
            <c:numRef>
              <c:f>Sheet1!$B$2:$B$5</c:f>
              <c:numCache>
                <c:formatCode>General</c:formatCode>
                <c:ptCount val="4"/>
                <c:pt idx="0">
                  <c:v>237</c:v>
                </c:pt>
                <c:pt idx="1">
                  <c:v>258</c:v>
                </c:pt>
                <c:pt idx="2">
                  <c:v>350</c:v>
                </c:pt>
                <c:pt idx="3">
                  <c:v>553</c:v>
                </c:pt>
              </c:numCache>
            </c:numRef>
          </c:val>
        </c:ser>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One more night or day in Anaheim, three ways ($M)</c:v>
                </c:pt>
              </c:strCache>
            </c:strRef>
          </c:tx>
          <c:spPr>
            <a:solidFill>
              <a:srgbClr val="43A3A3"/>
            </a:solidFill>
            <a:effectLst/>
          </c:spPr>
          <c:invertIfNegative val="0"/>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Lodging only</c:v>
                  </c:pt>
                  <c:pt idx="1">
                    <c:v>Overnight visitors, all spending</c:v>
                  </c:pt>
                  <c:pt idx="2">
                    <c:v>Every visitor, all spending</c:v>
                  </c:pt>
                </c:lvl>
              </c:multiLvlStrCache>
            </c:multiLvlStrRef>
          </c:cat>
          <c:val>
            <c:numRef>
              <c:f>Sheet1!$B$2:$B$4</c:f>
              <c:numCache>
                <c:formatCode>General</c:formatCode>
                <c:ptCount val="3"/>
                <c:pt idx="0">
                  <c:v>794</c:v>
                </c:pt>
                <c:pt idx="1">
                  <c:v>1021</c:v>
                </c:pt>
                <c:pt idx="2">
                  <c:v>3146</c:v>
                </c:pt>
              </c:numCache>
            </c:numRef>
          </c:val>
        </c:ser>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Visitor transportation spending, share of all visitor spending, 2025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Anaheim</c:v>
                  </c:pt>
                  <c:pt idx="1">
                    <c:v>Orange County</c:v>
                  </c:pt>
                  <c:pt idx="2">
                    <c:v>Garden Grove</c:v>
                  </c:pt>
                  <c:pt idx="3">
                    <c:v>California</c:v>
                  </c:pt>
                </c:lvl>
              </c:multiLvlStrCache>
            </c:multiLvlStrRef>
          </c:cat>
          <c:val>
            <c:numRef>
              <c:f>Sheet1!$B$2:$B$5</c:f>
              <c:numCache>
                <c:formatCode>General</c:formatCode>
                <c:ptCount val="4"/>
                <c:pt idx="0">
                  <c:v>3.3</c:v>
                </c:pt>
                <c:pt idx="1">
                  <c:v>3.9</c:v>
                </c:pt>
                <c:pt idx="2">
                  <c:v>6.1</c:v>
                </c:pt>
                <c:pt idx="3">
                  <c:v>17.9</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origin metros for District 5 visitors (% of unique visitors)</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Los Angeles–Long Beach–Anaheim</c:v>
                  </c:pt>
                  <c:pt idx="1">
                    <c:v>Riverside–San Bernardino–Ontario</c:v>
                  </c:pt>
                  <c:pt idx="2">
                    <c:v>Washington–Arlington–Alexandria</c:v>
                  </c:pt>
                  <c:pt idx="3">
                    <c:v>San Diego–Chula Vista–Carlsbad</c:v>
                  </c:pt>
                  <c:pt idx="4">
                    <c:v>New York–Newark–Jersey City</c:v>
                  </c:pt>
                  <c:pt idx="5">
                    <c:v>Phoenix–Mesa–Chandler</c:v>
                  </c:pt>
                </c:lvl>
              </c:multiLvlStrCache>
            </c:multiLvlStrRef>
          </c:cat>
          <c:val>
            <c:numRef>
              <c:f>Sheet1!$B$2:$B$7</c:f>
              <c:numCache>
                <c:formatCode>General</c:formatCode>
                <c:ptCount val="6"/>
                <c:pt idx="0">
                  <c:v>23.6</c:v>
                </c:pt>
                <c:pt idx="1">
                  <c:v>22.6</c:v>
                </c:pt>
                <c:pt idx="2">
                  <c:v>3.6</c:v>
                </c:pt>
                <c:pt idx="3">
                  <c:v>3.2</c:v>
                </c:pt>
                <c:pt idx="4">
                  <c:v>2</c:v>
                </c:pt>
                <c:pt idx="5">
                  <c:v>1.5</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Orange County visitors, millions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43A3A3"/>
              </a:solidFill>
              <a:effectLst/>
            </c:spPr>
          </c:dPt>
          <c:cat>
            <c:multiLvlStrRef>
              <c:f>Sheet1!$A$2:$A$5</c:f>
              <c:multiLvlStrCache>
                <c:ptCount val="4"/>
                <c:lvl>
                  <c:pt idx="0">
                    <c:v>2019 (CIC)</c:v>
                  </c:pt>
                  <c:pt idx="1">
                    <c:v>2023 (TE)</c:v>
                  </c:pt>
                  <c:pt idx="2">
                    <c:v>2024 (TE)</c:v>
                  </c:pt>
                  <c:pt idx="3">
                    <c:v>2025 (TE)</c:v>
                  </c:pt>
                </c:lvl>
              </c:multiLvlStrCache>
            </c:multiLvlStrRef>
          </c:cat>
          <c:val>
            <c:numRef>
              <c:f>Sheet1!$B$2:$B$5</c:f>
              <c:numCache>
                <c:formatCode>General</c:formatCode>
                <c:ptCount val="4"/>
                <c:pt idx="0">
                  <c:v>50.21</c:v>
                </c:pt>
                <c:pt idx="1">
                  <c:v>49.6</c:v>
                </c:pt>
                <c:pt idx="2">
                  <c:v>50.7</c:v>
                </c:pt>
                <c:pt idx="3">
                  <c:v>51.3</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domestic trips by home metro area, Anaheim and Garden Grove</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Los Angeles-Long Beach-Anaheim</c:v>
                  </c:pt>
                  <c:pt idx="1">
                    <c:v>Riverside-San Bernardino-Ontario</c:v>
                  </c:pt>
                  <c:pt idx="2">
                    <c:v>San Diego-Chula Vista-Carlsbad</c:v>
                  </c:pt>
                  <c:pt idx="3">
                    <c:v>Phoenix</c:v>
                  </c:pt>
                  <c:pt idx="4">
                    <c:v>Las Vegas</c:v>
                  </c:pt>
                </c:lvl>
              </c:multiLvlStrCache>
            </c:multiLvlStrRef>
          </c:cat>
          <c:val>
            <c:numRef>
              <c:f>Sheet1!$B$2:$B$6</c:f>
              <c:numCache>
                <c:formatCode>General</c:formatCode>
                <c:ptCount val="5"/>
                <c:pt idx="0">
                  <c:v>44.7</c:v>
                </c:pt>
                <c:pt idx="1">
                  <c:v>26.1</c:v>
                </c:pt>
                <c:pt idx="2">
                  <c:v>4.1</c:v>
                </c:pt>
                <c:pt idx="3">
                  <c:v>2.3</c:v>
                </c:pt>
                <c:pt idx="4">
                  <c:v>1.9</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Orange County hotel occupancy by month, 2023-2025 average</c:v>
                </c:pt>
              </c:strCache>
            </c:strRef>
          </c:tx>
          <c:spPr>
            <a:solidFill>
              <a:srgbClr val="B4D9E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43A3A3"/>
              </a:solidFill>
              <a:effectLst/>
            </c:spPr>
          </c:dPt>
          <c:dPt>
            <c:idx val="7"/>
            <c:invertIfNegative val="0"/>
            <c:bubble3D val="0"/>
            <c:spPr>
              <a:solidFill>
                <a:srgbClr val="B4D9E3"/>
              </a:solidFill>
              <a:effectLst/>
            </c:spPr>
          </c:dPt>
          <c:dPt>
            <c:idx val="8"/>
            <c:invertIfNegative val="0"/>
            <c:bubble3D val="0"/>
            <c:spPr>
              <a:solidFill>
                <a:srgbClr val="B4D9E3"/>
              </a:solidFill>
              <a:effectLst/>
            </c:spPr>
          </c:dPt>
          <c:dPt>
            <c:idx val="9"/>
            <c:invertIfNegative val="0"/>
            <c:bubble3D val="0"/>
            <c:spPr>
              <a:solidFill>
                <a:srgbClr val="B4D9E3"/>
              </a:solidFill>
              <a:effectLst/>
            </c:spPr>
          </c:dPt>
          <c:dPt>
            <c:idx val="10"/>
            <c:invertIfNegative val="0"/>
            <c:bubble3D val="0"/>
            <c:spPr>
              <a:solidFill>
                <a:srgbClr val="B4D9E3"/>
              </a:solidFill>
              <a:effectLst/>
            </c:spPr>
          </c:dPt>
          <c:dPt>
            <c:idx val="11"/>
            <c:invertIfNegative val="0"/>
            <c:bubble3D val="0"/>
            <c:spPr>
              <a:solidFill>
                <a:srgbClr val="B4D9E3"/>
              </a:solidFill>
              <a:effectLst/>
            </c:spPr>
          </c:dPt>
          <c:cat>
            <c:multiLvlStrRef>
              <c:f>Sheet1!$A$2:$A$13</c:f>
              <c:multiLvlStrCache>
                <c:ptCount val="12"/>
                <c:lvl>
                  <c:pt idx="0">
                    <c:v>Jan.</c:v>
                  </c:pt>
                  <c:pt idx="1">
                    <c:v>Feb.</c:v>
                  </c:pt>
                  <c:pt idx="2">
                    <c:v>Mar.</c:v>
                  </c:pt>
                  <c:pt idx="3">
                    <c:v>Apr.</c:v>
                  </c:pt>
                  <c:pt idx="4">
                    <c:v>May</c:v>
                  </c:pt>
                  <c:pt idx="5">
                    <c:v>June</c:v>
                  </c:pt>
                  <c:pt idx="6">
                    <c:v>July</c:v>
                  </c:pt>
                  <c:pt idx="7">
                    <c:v>Aug.</c:v>
                  </c:pt>
                  <c:pt idx="8">
                    <c:v>Sept.</c:v>
                  </c:pt>
                  <c:pt idx="9">
                    <c:v>Oct.</c:v>
                  </c:pt>
                  <c:pt idx="10">
                    <c:v>Nov.</c:v>
                  </c:pt>
                  <c:pt idx="11">
                    <c:v>Dec.</c:v>
                  </c:pt>
                </c:lvl>
              </c:multiLvlStrCache>
            </c:multiLvlStrRef>
          </c:cat>
          <c:val>
            <c:numRef>
              <c:f>Sheet1!$B$2:$B$13</c:f>
              <c:numCache>
                <c:formatCode>General</c:formatCode>
                <c:ptCount val="12"/>
                <c:pt idx="0">
                  <c:v>61.2</c:v>
                </c:pt>
                <c:pt idx="1">
                  <c:v>69</c:v>
                </c:pt>
                <c:pt idx="2">
                  <c:v>73.9</c:v>
                </c:pt>
                <c:pt idx="3">
                  <c:v>71.5</c:v>
                </c:pt>
                <c:pt idx="4">
                  <c:v>70.1</c:v>
                </c:pt>
                <c:pt idx="5">
                  <c:v>76.4</c:v>
                </c:pt>
                <c:pt idx="6">
                  <c:v>80.6</c:v>
                </c:pt>
                <c:pt idx="7">
                  <c:v>73.1</c:v>
                </c:pt>
                <c:pt idx="8">
                  <c:v>73.6</c:v>
                </c:pt>
                <c:pt idx="9">
                  <c:v>75.1</c:v>
                </c:pt>
                <c:pt idx="10">
                  <c:v>69.2</c:v>
                </c:pt>
                <c:pt idx="11">
                  <c:v>68.9</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Main purpose of trip, Orange County visitors, 2019</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Pleasure or VFR</c:v>
                  </c:pt>
                  <c:pt idx="1">
                    <c:v>Business or convention</c:v>
                  </c:pt>
                  <c:pt idx="2">
                    <c:v>Special events</c:v>
                  </c:pt>
                  <c:pt idx="3">
                    <c:v>Other</c:v>
                  </c:pt>
                </c:lvl>
              </c:multiLvlStrCache>
            </c:multiLvlStrRef>
          </c:cat>
          <c:val>
            <c:numRef>
              <c:f>Sheet1!$B$2:$B$5</c:f>
              <c:numCache>
                <c:formatCode>General</c:formatCode>
                <c:ptCount val="4"/>
                <c:pt idx="0">
                  <c:v>81.2</c:v>
                </c:pt>
                <c:pt idx="1">
                  <c:v>9.6</c:v>
                </c:pt>
                <c:pt idx="2">
                  <c:v>7.6</c:v>
                </c:pt>
                <c:pt idx="3">
                  <c:v>1.6</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Orange County hotel occupancy</c:v>
                </c:pt>
              </c:strCache>
            </c:strRef>
          </c:tx>
          <c:spPr>
            <a:solidFill>
              <a:srgbClr val="B4D9E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43A3A3"/>
              </a:solidFill>
              <a:effectLst/>
            </c:spPr>
          </c:dPt>
          <c:cat>
            <c:multiLvlStrRef>
              <c:f>Sheet1!$A$2:$A$9</c:f>
              <c:multiLvlStrCache>
                <c:ptCount val="8"/>
                <c:lvl>
                  <c:pt idx="0">
                    <c:v>2019</c:v>
                  </c:pt>
                  <c:pt idx="1">
                    <c:v>2020</c:v>
                  </c:pt>
                  <c:pt idx="2">
                    <c:v>2021</c:v>
                  </c:pt>
                  <c:pt idx="3">
                    <c:v>2022</c:v>
                  </c:pt>
                  <c:pt idx="4">
                    <c:v>2023</c:v>
                  </c:pt>
                  <c:pt idx="5">
                    <c:v>2024</c:v>
                  </c:pt>
                  <c:pt idx="6">
                    <c:v>2025</c:v>
                  </c:pt>
                  <c:pt idx="7">
                    <c:v>2026 YTD</c:v>
                  </c:pt>
                </c:lvl>
              </c:multiLvlStrCache>
            </c:multiLvlStrRef>
          </c:cat>
          <c:val>
            <c:numRef>
              <c:f>Sheet1!$B$2:$B$9</c:f>
              <c:numCache>
                <c:formatCode>General</c:formatCode>
                <c:ptCount val="8"/>
                <c:pt idx="0">
                  <c:v>77.4</c:v>
                </c:pt>
                <c:pt idx="1">
                  <c:v>44</c:v>
                </c:pt>
                <c:pt idx="2">
                  <c:v>57.1</c:v>
                </c:pt>
                <c:pt idx="3">
                  <c:v>70.2</c:v>
                </c:pt>
                <c:pt idx="4">
                  <c:v>71.6</c:v>
                </c:pt>
                <c:pt idx="5">
                  <c:v>71.7</c:v>
                </c:pt>
                <c:pt idx="6">
                  <c:v>72.3</c:v>
                </c:pt>
                <c:pt idx="7">
                  <c:v>75.2</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Growth in visitor or travel spending, 2025 vs. 2024</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Anaheim</c:v>
                  </c:pt>
                  <c:pt idx="1">
                    <c:v>Orange County</c:v>
                  </c:pt>
                  <c:pt idx="2">
                    <c:v>California</c:v>
                  </c:pt>
                  <c:pt idx="3">
                    <c:v>U.S. (after inflation)</c:v>
                  </c:pt>
                </c:lvl>
              </c:multiLvlStrCache>
            </c:multiLvlStrRef>
          </c:cat>
          <c:val>
            <c:numRef>
              <c:f>Sheet1!$B$2:$B$5</c:f>
              <c:numCache>
                <c:formatCode>General</c:formatCode>
                <c:ptCount val="4"/>
                <c:pt idx="0">
                  <c:v>3.1</c:v>
                </c:pt>
                <c:pt idx="1">
                  <c:v>3.4</c:v>
                </c:pt>
                <c:pt idx="2">
                  <c:v>1.7</c:v>
                </c:pt>
                <c:pt idx="3">
                  <c:v>1.4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Anaheim visitor spending by quarter ($B)</c:v>
                </c:pt>
              </c:strCache>
            </c:strRef>
          </c:tx>
          <c:spPr>
            <a:solidFill>
              <a:srgbClr val="B4D9E3"/>
            </a:solidFill>
            <a:effectLst/>
          </c:spPr>
          <c:invertIfNegative val="0"/>
          <c:dLbls>
            <c:numFmt formatCode="&quot;$&quot;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cat>
            <c:multiLvlStrRef>
              <c:f>Sheet1!$A$2:$A$7</c:f>
              <c:multiLvlStrCache>
                <c:ptCount val="6"/>
                <c:lvl>
                  <c:pt idx="0">
                    <c:v>Q1 2025</c:v>
                  </c:pt>
                  <c:pt idx="1">
                    <c:v>Q2 2025</c:v>
                  </c:pt>
                  <c:pt idx="2">
                    <c:v>Q3 2025</c:v>
                  </c:pt>
                  <c:pt idx="3">
                    <c:v>Q4 2025</c:v>
                  </c:pt>
                  <c:pt idx="4">
                    <c:v>Q1 2026</c:v>
                  </c:pt>
                  <c:pt idx="5">
                    <c:v>Q2 2026</c:v>
                  </c:pt>
                </c:lvl>
              </c:multiLvlStrCache>
            </c:multiLvlStrRef>
          </c:cat>
          <c:val>
            <c:numRef>
              <c:f>Sheet1!$B$2:$B$7</c:f>
              <c:numCache>
                <c:formatCode>General</c:formatCode>
                <c:ptCount val="6"/>
                <c:pt idx="0">
                  <c:v>1.61</c:v>
                </c:pt>
                <c:pt idx="1">
                  <c:v>1.63</c:v>
                </c:pt>
                <c:pt idx="2">
                  <c:v>1.71</c:v>
                </c:pt>
                <c:pt idx="3">
                  <c:v>1.87</c:v>
                </c:pt>
                <c:pt idx="4">
                  <c:v>1.72</c:v>
                </c:pt>
                <c:pt idx="5">
                  <c:v>1.76</c:v>
                </c:pt>
              </c:numCache>
            </c:numRef>
          </c:val>
        </c:ser>
        <c:dLbls>
          <c:numFmt formatCode="&quot;$&quot;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Recreation</c:v>
                </c:pt>
              </c:strCache>
            </c:strRef>
          </c:tx>
          <c:spPr>
            <a:solidFill>
              <a:srgbClr val="125C60"/>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Sheet1!$B$2:$B$4</c:f>
              <c:numCache>
                <c:formatCode>General</c:formatCode>
                <c:ptCount val="3"/>
                <c:pt idx="0">
                  <c:v>34</c:v>
                </c:pt>
                <c:pt idx="1">
                  <c:v>22</c:v>
                </c:pt>
                <c:pt idx="2">
                  <c:v>13.1</c:v>
                </c:pt>
              </c:numCache>
            </c:numRef>
          </c:val>
        </c:ser>
        <c:ser>
          <c:idx val="1"/>
          <c:order val="1"/>
          <c:tx>
            <c:strRef>
              <c:f>Sheet1!$C$1</c:f>
              <c:strCache>
                <c:ptCount val="1"/>
                <c:pt idx="0">
                  <c:v>Lodging</c:v>
                </c:pt>
              </c:strCache>
            </c:strRef>
          </c:tx>
          <c:spPr>
            <a:solidFill>
              <a:srgbClr val="43A3A3"/>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Sheet1!$C$2:$C$4</c:f>
              <c:numCache>
                <c:formatCode>General</c:formatCode>
                <c:ptCount val="3"/>
                <c:pt idx="0">
                  <c:v>25.2</c:v>
                </c:pt>
                <c:pt idx="1">
                  <c:v>25.9</c:v>
                </c:pt>
                <c:pt idx="2">
                  <c:v>25</c:v>
                </c:pt>
              </c:numCache>
            </c:numRef>
          </c:val>
        </c:ser>
        <c:ser>
          <c:idx val="2"/>
          <c:order val="2"/>
          <c:tx>
            <c:strRef>
              <c:f>Sheet1!$D$1</c:f>
              <c:strCache>
                <c:ptCount val="1"/>
                <c:pt idx="0">
                  <c:v>Retail</c:v>
                </c:pt>
              </c:strCache>
            </c:strRef>
          </c:tx>
          <c:spPr>
            <a:solidFill>
              <a:srgbClr val="77C7C9"/>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Sheet1!$D$2:$D$4</c:f>
              <c:numCache>
                <c:formatCode>General</c:formatCode>
                <c:ptCount val="3"/>
                <c:pt idx="0">
                  <c:v>21.9</c:v>
                </c:pt>
                <c:pt idx="1">
                  <c:v>20.5</c:v>
                </c:pt>
                <c:pt idx="2">
                  <c:v>12.4</c:v>
                </c:pt>
              </c:numCache>
            </c:numRef>
          </c:val>
        </c:ser>
        <c:ser>
          <c:idx val="3"/>
          <c:order val="3"/>
          <c:tx>
            <c:strRef>
              <c:f>Sheet1!$E$1</c:f>
              <c:strCache>
                <c:ptCount val="1"/>
                <c:pt idx="0">
                  <c:v>Food and beverage</c:v>
                </c:pt>
              </c:strCache>
            </c:strRef>
          </c:tx>
          <c:spPr>
            <a:solidFill>
              <a:srgbClr val="B4D9E3"/>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Sheet1!$E$2:$E$4</c:f>
              <c:numCache>
                <c:formatCode>General</c:formatCode>
                <c:ptCount val="3"/>
                <c:pt idx="0">
                  <c:v>15.6</c:v>
                </c:pt>
                <c:pt idx="1">
                  <c:v>27.6</c:v>
                </c:pt>
                <c:pt idx="2">
                  <c:v>31.5</c:v>
                </c:pt>
              </c:numCache>
            </c:numRef>
          </c:val>
        </c:ser>
        <c:ser>
          <c:idx val="4"/>
          <c:order val="4"/>
          <c:tx>
            <c:strRef>
              <c:f>Sheet1!$F$1</c:f>
              <c:strCache>
                <c:ptCount val="1"/>
                <c:pt idx="0">
                  <c:v>Transportation</c:v>
                </c:pt>
              </c:strCache>
            </c:strRef>
          </c:tx>
          <c:spPr>
            <a:solidFill>
              <a:srgbClr val="E8E6DC"/>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Sheet1!$F$2:$F$4</c:f>
              <c:numCache>
                <c:formatCode>General</c:formatCode>
                <c:ptCount val="3"/>
                <c:pt idx="0">
                  <c:v>3.3</c:v>
                </c:pt>
                <c:pt idx="1">
                  <c:v>3.9</c:v>
                </c:pt>
                <c:pt idx="2">
                  <c:v>17.9</c:v>
                </c:pt>
              </c:numCache>
            </c:numRef>
          </c:val>
        </c:ser>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max val="1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50">
              <a:latin typeface="Proxima Nova"/>
              <a:cs typeface="Proxima Nova"/>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all jobs supported by visitors,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Garden Grove</c:v>
                  </c:pt>
                  <c:pt idx="2">
                    <c:v>Orange County</c:v>
                  </c:pt>
                </c:lvl>
              </c:multiLvlStrCache>
            </c:multiLvlStrRef>
          </c:cat>
          <c:val>
            <c:numRef>
              <c:f>Sheet1!$B$2:$B$4</c:f>
              <c:numCache>
                <c:formatCode>General</c:formatCode>
                <c:ptCount val="3"/>
                <c:pt idx="0">
                  <c:v>32.8</c:v>
                </c:pt>
                <c:pt idx="1">
                  <c:v>11.8</c:v>
                </c:pt>
                <c:pt idx="2">
                  <c:v>7.4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Food and beverage share of visitor-supported jobs,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Orange County</c:v>
                  </c:pt>
                  <c:pt idx="2">
                    <c:v>Garden Grove</c:v>
                  </c:pt>
                </c:lvl>
              </c:multiLvlStrCache>
            </c:multiLvlStrRef>
          </c:cat>
          <c:val>
            <c:numRef>
              <c:f>Sheet1!$B$2:$B$4</c:f>
              <c:numCache>
                <c:formatCode>General</c:formatCode>
                <c:ptCount val="3"/>
                <c:pt idx="0">
                  <c:v>16.8</c:v>
                </c:pt>
                <c:pt idx="1">
                  <c:v>29.1</c:v>
                </c:pt>
                <c:pt idx="2">
                  <c:v>40.6</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 economic impact of visitors, 2025 ($B)</c:v>
                </c:pt>
              </c:strCache>
            </c:strRef>
          </c:tx>
          <c:spPr>
            <a:solidFill>
              <a:srgbClr val="B4D9E3"/>
            </a:solidFill>
            <a:effectLst/>
          </c:spPr>
          <c:invertIfNegative val="0"/>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cat>
            <c:multiLvlStrRef>
              <c:f>Sheet1!$A$2:$A$4</c:f>
              <c:multiLvlStrCache>
                <c:ptCount val="3"/>
                <c:lvl>
                  <c:pt idx="0">
                    <c:v>Garden Grove</c:v>
                  </c:pt>
                  <c:pt idx="1">
                    <c:v>Anaheim</c:v>
                  </c:pt>
                  <c:pt idx="2">
                    <c:v>Orange County</c:v>
                  </c:pt>
                </c:lvl>
              </c:multiLvlStrCache>
            </c:multiLvlStrRef>
          </c:cat>
          <c:val>
            <c:numRef>
              <c:f>Sheet1!$B$2:$B$4</c:f>
              <c:numCache>
                <c:formatCode>General</c:formatCode>
                <c:ptCount val="3"/>
                <c:pt idx="0">
                  <c:v>1.09</c:v>
                </c:pt>
                <c:pt idx="1">
                  <c:v>10.42</c:v>
                </c:pt>
                <c:pt idx="2">
                  <c:v>30.67</c:v>
                </c:pt>
              </c:numCache>
            </c:numRef>
          </c:val>
        </c:ser>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State and local taxes from visitors, 2025 ($M)</c:v>
                </c:pt>
              </c:strCache>
            </c:strRef>
          </c:tx>
          <c:spPr>
            <a:solidFill>
              <a:srgbClr val="B4D9E3"/>
            </a:solidFill>
            <a:effectLst/>
          </c:spPr>
          <c:invertIfNegative val="0"/>
          <c:dLbls>
            <c:numFmt formatCode="&quot;$&quot;#,##0.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cat>
            <c:multiLvlStrRef>
              <c:f>Sheet1!$A$2:$A$4</c:f>
              <c:multiLvlStrCache>
                <c:ptCount val="3"/>
                <c:lvl>
                  <c:pt idx="0">
                    <c:v>Garden Grove</c:v>
                  </c:pt>
                  <c:pt idx="1">
                    <c:v>Anaheim</c:v>
                  </c:pt>
                  <c:pt idx="2">
                    <c:v>Orange County</c:v>
                  </c:pt>
                </c:lvl>
              </c:multiLvlStrCache>
            </c:multiLvlStrRef>
          </c:cat>
          <c:val>
            <c:numRef>
              <c:f>Sheet1!$B$2:$B$4</c:f>
              <c:numCache>
                <c:formatCode>General</c:formatCode>
                <c:ptCount val="3"/>
                <c:pt idx="0">
                  <c:v>83.6</c:v>
                </c:pt>
                <c:pt idx="1">
                  <c:v>970</c:v>
                </c:pt>
                <c:pt idx="2">
                  <c:v>3094</c:v>
                </c:pt>
              </c:numCache>
            </c:numRef>
          </c:val>
        </c:ser>
        <c:dLbls>
          <c:numFmt formatCode="&quot;$&quot;#,##0.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Anaheim+ hotel occupancy by night, 2026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Sunday</c:v>
                  </c:pt>
                  <c:pt idx="1">
                    <c:v>Monday</c:v>
                  </c:pt>
                  <c:pt idx="2">
                    <c:v>Tuesday</c:v>
                  </c:pt>
                  <c:pt idx="3">
                    <c:v>Wednesday</c:v>
                  </c:pt>
                  <c:pt idx="4">
                    <c:v>Thursday</c:v>
                  </c:pt>
                  <c:pt idx="5">
                    <c:v>Friday</c:v>
                  </c:pt>
                  <c:pt idx="6">
                    <c:v>Saturday</c:v>
                  </c:pt>
                </c:lvl>
              </c:multiLvlStrCache>
            </c:multiLvlStrRef>
          </c:cat>
          <c:val>
            <c:numRef>
              <c:f>Sheet1!$B$2:$B$8</c:f>
              <c:numCache>
                <c:formatCode>General</c:formatCode>
                <c:ptCount val="7"/>
                <c:pt idx="0">
                  <c:v>70.6</c:v>
                </c:pt>
                <c:pt idx="1">
                  <c:v>70.5</c:v>
                </c:pt>
                <c:pt idx="2">
                  <c:v>74.3</c:v>
                </c:pt>
                <c:pt idx="3">
                  <c:v>76.8</c:v>
                </c:pt>
                <c:pt idx="4">
                  <c:v>80.2</c:v>
                </c:pt>
                <c:pt idx="5">
                  <c:v>85.7</c:v>
                </c:pt>
                <c:pt idx="6">
                  <c:v>86.8</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How Orange County workers commute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Drove alone</c:v>
                  </c:pt>
                  <c:pt idx="1">
                    <c:v>Worked from home</c:v>
                  </c:pt>
                  <c:pt idx="2">
                    <c:v>Carpooled</c:v>
                  </c:pt>
                  <c:pt idx="3">
                    <c:v>Walked</c:v>
                  </c:pt>
                  <c:pt idx="4">
                    <c:v>Public transportation</c:v>
                  </c:pt>
                </c:lvl>
              </c:multiLvlStrCache>
            </c:multiLvlStrRef>
          </c:cat>
          <c:val>
            <c:numRef>
              <c:f>Sheet1!$B$2:$B$6</c:f>
              <c:numCache>
                <c:formatCode>General</c:formatCode>
                <c:ptCount val="5"/>
                <c:pt idx="0">
                  <c:v>67.5</c:v>
                </c:pt>
                <c:pt idx="1">
                  <c:v>18.5</c:v>
                </c:pt>
                <c:pt idx="2">
                  <c:v>8.9</c:v>
                </c:pt>
                <c:pt idx="3">
                  <c:v>1.7</c:v>
                </c:pt>
                <c:pt idx="4">
                  <c:v>1.2</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Average domestic airfare, U.S. ($)</c:v>
                </c:pt>
              </c:strCache>
            </c:strRef>
          </c:tx>
          <c:spPr>
            <a:solidFill>
              <a:srgbClr val="B4D9E3"/>
            </a:solidFill>
            <a:effectLst/>
          </c:spPr>
          <c:invertIfNegative val="0"/>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43A3A3"/>
              </a:solidFill>
              <a:effectLst/>
            </c:spPr>
          </c:dPt>
          <c:cat>
            <c:multiLvlStrRef>
              <c:f>Sheet1!$A$2:$A$8</c:f>
              <c:multiLvlStrCache>
                <c:ptCount val="7"/>
                <c:lvl>
                  <c:pt idx="0">
                    <c:v>2019</c:v>
                  </c:pt>
                  <c:pt idx="1">
                    <c:v>2020</c:v>
                  </c:pt>
                  <c:pt idx="2">
                    <c:v>2021</c:v>
                  </c:pt>
                  <c:pt idx="3">
                    <c:v>2022</c:v>
                  </c:pt>
                  <c:pt idx="4">
                    <c:v>2023</c:v>
                  </c:pt>
                  <c:pt idx="5">
                    <c:v>2024</c:v>
                  </c:pt>
                  <c:pt idx="6">
                    <c:v>2025</c:v>
                  </c:pt>
                </c:lvl>
              </c:multiLvlStrCache>
            </c:multiLvlStrRef>
          </c:cat>
          <c:val>
            <c:numRef>
              <c:f>Sheet1!$B$2:$B$8</c:f>
              <c:numCache>
                <c:formatCode>General</c:formatCode>
                <c:ptCount val="7"/>
                <c:pt idx="0">
                  <c:v>352</c:v>
                </c:pt>
                <c:pt idx="1">
                  <c:v>292</c:v>
                </c:pt>
                <c:pt idx="2">
                  <c:v>307</c:v>
                </c:pt>
                <c:pt idx="3">
                  <c:v>378</c:v>
                </c:pt>
                <c:pt idx="4">
                  <c:v>382</c:v>
                </c:pt>
                <c:pt idx="5">
                  <c:v>384</c:v>
                </c:pt>
                <c:pt idx="6">
                  <c:v>387</c:v>
                </c:pt>
              </c:numCache>
            </c:numRef>
          </c:val>
        </c:ser>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Anaheim visitor days that include each cluster, 2024 (%)</c:v>
                </c:pt>
              </c:strCache>
            </c:strRef>
          </c:tx>
          <c:spPr>
            <a:solidFill>
              <a:srgbClr val="B4D9E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dPt>
            <c:idx val="6"/>
            <c:invertIfNegative val="0"/>
            <c:bubble3D val="0"/>
            <c:spPr>
              <a:solidFill>
                <a:srgbClr val="B4D9E3"/>
              </a:solidFill>
              <a:effectLst/>
            </c:spPr>
          </c:dPt>
          <c:cat>
            <c:multiLvlStrRef>
              <c:f>Sheet1!$A$2:$A$8</c:f>
              <c:multiLvlStrCache>
                <c:ptCount val="7"/>
                <c:lvl>
                  <c:pt idx="0">
                    <c:v>Attractions and activities</c:v>
                  </c:pt>
                  <c:pt idx="1">
                    <c:v>Disneyland</c:v>
                  </c:pt>
                  <c:pt idx="2">
                    <c:v>Accommodations</c:v>
                  </c:pt>
                  <c:pt idx="3">
                    <c:v>Shopping</c:v>
                  </c:pt>
                  <c:pt idx="4">
                    <c:v>Dining</c:v>
                  </c:pt>
                  <c:pt idx="5">
                    <c:v>OC Vibe</c:v>
                  </c:pt>
                  <c:pt idx="6">
                    <c:v>Meeting services</c:v>
                  </c:pt>
                </c:lvl>
              </c:multiLvlStrCache>
            </c:multiLvlStrRef>
          </c:cat>
          <c:val>
            <c:numRef>
              <c:f>Sheet1!$B$2:$B$8</c:f>
              <c:numCache>
                <c:formatCode>General</c:formatCode>
                <c:ptCount val="7"/>
                <c:pt idx="0">
                  <c:v>75.8</c:v>
                </c:pt>
                <c:pt idx="1">
                  <c:v>74.4</c:v>
                </c:pt>
                <c:pt idx="2">
                  <c:v>65.8</c:v>
                </c:pt>
                <c:pt idx="3">
                  <c:v>51.1</c:v>
                </c:pt>
                <c:pt idx="4">
                  <c:v>28.7</c:v>
                </c:pt>
                <c:pt idx="5">
                  <c:v>5.2</c:v>
                </c:pt>
                <c:pt idx="6">
                  <c:v>3.4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states for District 5 visitors (% of unique domestic visitors)</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California</c:v>
                  </c:pt>
                  <c:pt idx="1">
                    <c:v>Texas</c:v>
                  </c:pt>
                  <c:pt idx="2">
                    <c:v>Virginia</c:v>
                  </c:pt>
                  <c:pt idx="3">
                    <c:v>Florida</c:v>
                  </c:pt>
                  <c:pt idx="4">
                    <c:v>Arizona</c:v>
                  </c:pt>
                  <c:pt idx="5">
                    <c:v>New York</c:v>
                  </c:pt>
                </c:lvl>
              </c:multiLvlStrCache>
            </c:multiLvlStrRef>
          </c:cat>
          <c:val>
            <c:numRef>
              <c:f>Sheet1!$B$2:$B$7</c:f>
              <c:numCache>
                <c:formatCode>General</c:formatCode>
                <c:ptCount val="6"/>
                <c:pt idx="0">
                  <c:v>56</c:v>
                </c:pt>
                <c:pt idx="1">
                  <c:v>4.5</c:v>
                </c:pt>
                <c:pt idx="2">
                  <c:v>4.2</c:v>
                </c:pt>
                <c:pt idx="3">
                  <c:v>3.7</c:v>
                </c:pt>
                <c:pt idx="4">
                  <c:v>2.4</c:v>
                </c:pt>
                <c:pt idx="5">
                  <c:v>2.2</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Visits per 1,000 impressions by vendor</c:v>
                </c:pt>
              </c:strCache>
            </c:strRef>
          </c:tx>
          <c:spPr>
            <a:solidFill>
              <a:srgbClr val="B4D9E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43A3A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Basis DSP (Adgenuity)</c:v>
                  </c:pt>
                  <c:pt idx="1">
                    <c:v>Epsilon</c:v>
                  </c:pt>
                  <c:pt idx="2">
                    <c:v>TripAdvisor</c:v>
                  </c:pt>
                  <c:pt idx="3">
                    <c:v>Travelzoo</c:v>
                  </c:pt>
                  <c:pt idx="4">
                    <c:v>Expedia</c:v>
                  </c:pt>
                  <c:pt idx="5">
                    <c:v>Priceline</c:v>
                  </c:pt>
                  <c:pt idx="6">
                    <c:v>Klaviyo</c:v>
                  </c:pt>
                </c:lvl>
              </c:multiLvlStrCache>
            </c:multiLvlStrRef>
          </c:cat>
          <c:val>
            <c:numRef>
              <c:f>Sheet1!$B$2:$B$8</c:f>
              <c:numCache>
                <c:formatCode>General</c:formatCode>
                <c:ptCount val="7"/>
                <c:pt idx="0">
                  <c:v>13.8</c:v>
                </c:pt>
                <c:pt idx="1">
                  <c:v>13.9</c:v>
                </c:pt>
                <c:pt idx="2">
                  <c:v>13.4</c:v>
                </c:pt>
                <c:pt idx="3">
                  <c:v>9.3</c:v>
                </c:pt>
                <c:pt idx="4">
                  <c:v>24.7</c:v>
                </c:pt>
                <c:pt idx="5">
                  <c:v>5.7</c:v>
                </c:pt>
                <c:pt idx="6">
                  <c:v>19.8</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Hotel occupancy by Orange County submarket, 12 months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Disneyland</c:v>
                  </c:pt>
                  <c:pt idx="1">
                    <c:v>Newport Beach/Dana Point</c:v>
                  </c:pt>
                  <c:pt idx="2">
                    <c:v>Santa Ana/Costa Mesa</c:v>
                  </c:pt>
                  <c:pt idx="3">
                    <c:v>Anaheim (outside Disneyland submarket)</c:v>
                  </c:pt>
                  <c:pt idx="4">
                    <c:v>Orange County Northwest/Fullerton</c:v>
                  </c:pt>
                </c:lvl>
              </c:multiLvlStrCache>
            </c:multiLvlStrRef>
          </c:cat>
          <c:val>
            <c:numRef>
              <c:f>Sheet1!$B$2:$B$6</c:f>
              <c:numCache>
                <c:formatCode>General</c:formatCode>
                <c:ptCount val="5"/>
                <c:pt idx="0">
                  <c:v>78.4</c:v>
                </c:pt>
                <c:pt idx="1">
                  <c:v>70.8</c:v>
                </c:pt>
                <c:pt idx="2">
                  <c:v>72.7</c:v>
                </c:pt>
                <c:pt idx="3">
                  <c:v>71.6</c:v>
                </c:pt>
                <c:pt idx="4">
                  <c:v>70.4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Anaheim visitor spending, actual and forecast ($B)</c:v>
                </c:pt>
              </c:strCache>
            </c:strRef>
          </c:tx>
          <c:spPr>
            <a:solidFill>
              <a:srgbClr val="B4D9E3"/>
            </a:solidFill>
            <a:effectLst/>
          </c:spPr>
          <c:invertIfNegative val="0"/>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43A3A3"/>
              </a:solidFill>
              <a:effectLst/>
            </c:spPr>
          </c:dPt>
          <c:cat>
            <c:multiLvlStrRef>
              <c:f>Sheet1!$A$2:$A$8</c:f>
              <c:multiLvlStrCache>
                <c:ptCount val="7"/>
                <c:lvl>
                  <c:pt idx="0">
                    <c:v>2022</c:v>
                  </c:pt>
                  <c:pt idx="1">
                    <c:v>2023</c:v>
                  </c:pt>
                  <c:pt idx="2">
                    <c:v>2024</c:v>
                  </c:pt>
                  <c:pt idx="3">
                    <c:v>2025</c:v>
                  </c:pt>
                  <c:pt idx="4">
                    <c:v>2026F</c:v>
                  </c:pt>
                  <c:pt idx="5">
                    <c:v>2027F</c:v>
                  </c:pt>
                  <c:pt idx="6">
                    <c:v>2028F</c:v>
                  </c:pt>
                </c:lvl>
              </c:multiLvlStrCache>
            </c:multiLvlStrRef>
          </c:cat>
          <c:val>
            <c:numRef>
              <c:f>Sheet1!$B$2:$B$8</c:f>
              <c:numCache>
                <c:formatCode>General</c:formatCode>
                <c:ptCount val="7"/>
                <c:pt idx="0">
                  <c:v>6</c:v>
                </c:pt>
                <c:pt idx="1">
                  <c:v>6.5</c:v>
                </c:pt>
                <c:pt idx="2">
                  <c:v>6.6</c:v>
                </c:pt>
                <c:pt idx="3">
                  <c:v>6.8</c:v>
                </c:pt>
                <c:pt idx="4">
                  <c:v>7.2</c:v>
                </c:pt>
                <c:pt idx="5">
                  <c:v>7.4</c:v>
                </c:pt>
                <c:pt idx="6">
                  <c:v>7.7</c:v>
                </c:pt>
              </c:numCache>
            </c:numRef>
          </c:val>
        </c:ser>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Anaheim visitor spent about $258 in 2025. Countywide, the average was $350 per visitor, and across the U.S. travel spending came to about $553 per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Spending per visitor (Tourism Economics) or per trip (U.S. Travel Association). Calculation shown for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every Anaheim visitor stayed one more night, lodging spending would rise about $794M. Counting all spending, one more day for overnight visitors is worth about $1.02B, and one more day for every visitor about $3.15B (the study's upper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 inputs. Weighted average stay blends domestic and international stays.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spent $224M on transportation in Anaheim in 2025 (3.3% of spending), supporting 2,080 jobs in transportation and gas stations. Countywide: $707M and 6,141 jobs. Statewide, visitors spent $25.2B on local transportation, gas and air (17.9% of visitor spending).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 transportation spending and the jobs, business sales and labor income it supports in transportation and gas stations (direct + indirect + induced).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85.8% of District 5 visitors stay overnight and 43.8% are first-time visitors (Jan.–May 2026). Their median household income is $85.7K, above the $79.9K for all Anaheim and Garden Grove visitors and the $85.4K U.S. household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domestic unique visitors, Jan.–May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requests in two rounds. OC Vibe's Oct. 9, 2026 follow-up asked for the Q2 2026 Tourism Economics report, the Anaheim, Garden Grove and Orange County economic impact reports with food and beverage job shares, the One more night study, and a review of OC Vibe's white paper. Entertainment + Culture Advisors (ECA), for OCVIBE, asked five Orange County tourism questions on Oct. 19, 2026. Eight are answered in this app with their sources; the white paper review starts when a draft is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OC Vibe shares a draft, Visit Anaheim BI will check each visitor, spending, hotel, job and tax figure against the published source, note the source and date for each, flag any figure that mixes methods (for example, Tourism Economics and CIC Research visitor counts), and suggest current figures where a newer edition exists. No draft has been received as of Oct. 19,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Orange County drew 51.3M visitors in 2025: 29.2M day and 22.1M overnight; 47.9M domestic and 3.5M international (Tourism Economics). CIC Research counted 50.21M in 2019 with a different method. No 2026 year-to-date count is published for the county; Anaheim drew 13.1M in Jan.-June 2026,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than half (55.4%) of Orange County visitors in 2019 lived in Southern California: Los Angeles metro 26%, Riverside/San Bernardino 19% and San Diego 6%; 9.1% were international (CIC). Location data for Anaheim and Garden Grove (Jan. 2023-Aug. 2026) shows 44.7% of domestic trips from the Los Angeles-Long Beach-Anaheim metro area, which includes Orange County.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July. Orange County hotels averaged 80.6% occupancy in July across 2023-2025 vs. 61.2% in January, the low month (CoStar). In 2026, July reached 82.6%. Monthly visitor counts are not published for the county, so hotel occupancy is the monthly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2019, 81.2% of Orange County visitors came for pleasure or to see friends and relatives, 9.6% for business or conventions and 7.6% for special events. The average travel party was 2.8 people, 37.0% had children with them, and overnight visitors stayed 4.2 nights (CIC). It is the latest county visitor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Orange County had 60,224 hotel rooms in Sept. 2026. Hotels filled 75.2% of rooms at $221.67 a night in Jan.-Aug. 2026, up from 72.3% and $209.68 in 2025 and 77.4% and $165.36 in 2019 (CoStar).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Anaheim visitor spending rose 3.1% in 2025 and 7.8% in Q2 2026. Orange County grew 3.4%, California 1.7% and the U.S. 1.4% after inflation.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Anaheim welcomed 6.74M visitors in Q2 2026 (+2.8%), who spent $1.76B (+7.8%). Overnight visits rose 4.5% and day visits 2.1%; hotel rates were nearly 9% higher. Garden Grove: 831,000 visitors (+3.4%), $200.4M (+7.1%).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Anaheim, recreation takes the largest share (34.0%), then lodging (25.2%), retail (21.9%), food and beverage (15.6%) and transportation (3.3%). Countywide, food and beverage leads (27.6%). Statewide, food service and lodging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supported 67,817 Anaheim jobs in 2025, about one in three. Countywide the total was 178,164 (one in 14), statewide 1.17 million direct travel jobs, and nationally more than 15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16.8% in Anaheim (11,366 of 67,817), 40.6% in Garden Grove and 29.1% countywide. Statewide, accommodation and food service together hold 55.3% of direct travel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$10.4B in Anaheim in 2025 (visitor spending $6.83B plus $3.6B in supplier and worker spending), $1.1B in Garden Grove and $30.7B countywide. Nationally, travel generated $3.0 trillion in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generated $0.97B in state and local taxes in Anaheim in 2025, $3.09B countywide, $13.6B statewide and $92B nationally.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$31.5M in Anaheim visitor spending: 26.5M visitors × 1% × $118.71 per visitor-day. On the hotel side, each point of Sunday–Monday occupancy is about 22,200 room nights and $5.1M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Mostly by car: 74.0% of domestic trips to Anaheim and Garden Grove start within 50 miles, and SR-57 beside OC Vibe carries about 275,000 vehicles a weekday. ARTIC adds 277 weekday bus trips, Amtrak (191,153 passengers in 2024) and Metrolink.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Gasoline averaged $4.09 a gallon on the West Coast in 2025 vs. $3.10 nationally. The average U.S. domestic airfare was $387 (+9.9% since 2019), and driving cost $0.82 a mile in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of Anaheim visitor days in 2024 included the OC Vibe area, before the new venues open (Datafy). Disneyland was in 74.4% and meeting services in 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Southern California dominates: Los Angeles and Riverside metros are 46.2% of District 5 visitors. By card spending, the leading fly-in metros are Seattle, Phoenix, Las Vegas, Orlando and New York; internationally, Mexico, Canada and Japan.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From January through August 2026, paid media produced 31.0M measurable impressions and 368,416 observed visits (11.9 per 1,000 impressions), arriving about 39 days after seeing an 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Resort-area hotels filled 78.4% of rooms at $255 a night over the past 12 months (CoStar Disneyland submarket); countywide 74.0% at $218. Anaheim hotel revenue per room rose 11.4% in Q2 2026, about twice the U.S. (+5.7%).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forecasts Anaheim visitors rising to 27.6M and spending to $7.7B by 2028. LARC forecasts Anaheim hotel revenue per room of $162.18 in 2026 (+7.0%). Nationally, trips are forecast to grow 2.0% in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A Title">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8686800" cy="1371600"/>
          </a:xfrm>
          <a:prstGeom prst="rect">
            <a:avLst/>
          </a:prstGeom>
          <a:noFill/>
          <a:ln/>
        </p:spPr>
        <p:txBody>
          <a:bodyPr wrap="square" rtlCol="0"/>
          <a:lstStyle>
            <a:lvl1pPr algn="l" indent="0" marL="0">
              <a:buNone/>
              <a:defRPr lang="en-US" sz="4400" b="1" i="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3794760"/>
            <a:ext cx="8686800" cy="1097280"/>
          </a:xfrm>
          <a:prstGeom prst="rect">
            <a:avLst/>
          </a:prstGeom>
          <a:noFill/>
          <a:ln/>
        </p:spPr>
        <p:txBody>
          <a:bodyPr wrap="square" rtlCol="0"/>
          <a:lstStyle>
            <a:lvl1pPr algn="l" indent="0" marL="0">
              <a:buNone/>
              <a:defRPr lang="en-US" sz="1800" dirty="0">
                <a:solidFill>
                  <a:srgbClr val="FFFFFF"/>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A Section">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10058400" cy="1097280"/>
          </a:xfrm>
          <a:prstGeom prst="rect">
            <a:avLst/>
          </a:prstGeom>
          <a:noFill/>
          <a:ln/>
        </p:spPr>
        <p:txBody>
          <a:bodyPr wrap="square" rtlCol="0"/>
          <a:lstStyle>
            <a:lvl1pPr indent="0" marL="0">
              <a:buNone/>
              <a:defRPr lang="en-US" sz="3600" b="1" i="1" dirty="0">
                <a:solidFill>
                  <a:srgbClr val="FFFFFF"/>
                </a:solidFill>
              </a:defRPr>
            </a:lvl1pPr>
          </a:lstStyle>
          <a:p>
            <a:pPr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A 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80015" y="274320"/>
            <a:ext cx="1463040" cy="534010"/>
          </a:xfrm>
          <a:prstGeom prst="rect">
            <a:avLst/>
          </a:prstGeom>
        </p:spPr>
      </p:pic>
      <p:sp>
        <p:nvSpPr>
          <p:cNvPr id="3" name="Shape 0"/>
          <p:cNvSpPr/>
          <p:nvPr/>
        </p:nvSpPr>
        <p:spPr>
          <a:xfrm>
            <a:off x="548640" y="6400800"/>
            <a:ext cx="11094415" cy="0"/>
          </a:xfrm>
          <a:prstGeom prst="line">
            <a:avLst/>
          </a:prstGeom>
          <a:noFill/>
          <a:ln w="12700">
            <a:solidFill>
              <a:srgbClr val="43A3A3"/>
            </a:solidFill>
            <a:prstDash val="solid"/>
          </a:ln>
        </p:spPr>
      </p:sp>
      <p:sp>
        <p:nvSpPr>
          <p:cNvPr id="4" name="Text 1"/>
          <p:cNvSpPr/>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231F20"/>
                </a:solidFill>
              </a:rPr>
              <a:t>Visit Anaheim | visitanaheim.org</a:t>
            </a:r>
            <a:endParaRPr lang="en-US" sz="900" dirty="0"/>
          </a:p>
        </p:txBody>
      </p:sp>
      <p:sp>
        <p:nvSpPr>
          <p:cNvPr id="5" name="Text 2"/>
          <p:cNvSpPr/>
          <p:nvPr>
            <p:ph idx="103" type="title" hasCustomPrompt="1"/>
          </p:nvPr>
        </p:nvSpPr>
        <p:spPr>
          <a:xfrm>
            <a:off x="548640" y="274320"/>
            <a:ext cx="9265615" cy="777240"/>
          </a:xfrm>
          <a:prstGeom prst="rect">
            <a:avLst/>
          </a:prstGeom>
          <a:noFill/>
          <a:ln/>
        </p:spPr>
        <p:txBody>
          <a:bodyPr wrap="square" rtlCol="0"/>
          <a:lstStyle>
            <a:lvl1pPr algn="l" indent="0" marL="0">
              <a:buNone/>
              <a:defRPr lang="en-US" sz="2200" b="1" dirty="0">
                <a:solidFill>
                  <a:srgbClr val="125C60"/>
                </a:solidFill>
              </a:defRPr>
            </a:lvl1pPr>
          </a:lstStyle>
          <a:p>
            <a:pPr algn="l" indent="0" marL="0">
              <a:buNone/>
            </a:pPr>
            <a:endParaRPr lang="en-US" sz="2200" dirty="0"/>
          </a:p>
        </p:txBody>
      </p:sp>
      <p:sp>
        <p:nvSpPr>
          <p:cNvPr id="6" name="Text 2"/>
          <p:cNvSpPr/>
          <p:nvPr>
            <p:ph idx="104" type="body" hasCustomPrompt="1"/>
          </p:nvPr>
        </p:nvSpPr>
        <p:spPr>
          <a:xfrm>
            <a:off x="548640" y="1097280"/>
            <a:ext cx="9265615" cy="274320"/>
          </a:xfrm>
          <a:prstGeom prst="rect">
            <a:avLst/>
          </a:prstGeom>
          <a:noFill/>
          <a:ln/>
        </p:spPr>
        <p:txBody>
          <a:bodyPr wrap="square" rtlCol="0"/>
          <a:lstStyle>
            <a:lvl1pPr algn="l" indent="0" marL="0">
              <a:buNone/>
              <a:defRPr lang="en-US" sz="1200" dirty="0">
                <a:solidFill>
                  <a:srgbClr val="231F20"/>
                </a:solidFill>
              </a:defRPr>
            </a:lvl1pPr>
          </a:lstStyle>
          <a:p>
            <a:pPr algn="l" indent="0" marL="0">
              <a:buNone/>
            </a:pP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plate"/>
          <p:cNvSpPr/>
          <p:nvPr/>
        </p:nvSpPr>
        <p:spPr>
          <a:xfrm>
            <a:off x="548640" y="640080"/>
            <a:ext cx="2743200" cy="1275588"/>
          </a:xfrm>
          <a:prstGeom prst="roundRect">
            <a:avLst>
              <a:gd name="adj" fmla="val 7168"/>
            </a:avLst>
          </a:prstGeom>
          <a:solidFill>
            <a:srgbClr val="F9F9F2"/>
          </a:solidFill>
          <a:ln w="12700">
            <a:solidFill>
              <a:srgbClr val="F9F9F2"/>
            </a:solidFill>
            <a:prstDash val="solid"/>
          </a:ln>
        </p:spPr>
      </p:sp>
      <p:pic>
        <p:nvPicPr>
          <p:cNvPr id="3" name="Image 0" descr="Visit Anaheim">    </p:cNvPr>
          <p:cNvPicPr>
            <a:picLocks noChangeAspect="1"/>
          </p:cNvPicPr>
          <p:nvPr/>
        </p:nvPicPr>
        <p:blipFill>
          <a:blip r:embed="rId1"/>
          <a:stretch>
            <a:fillRect/>
          </a:stretch>
        </p:blipFill>
        <p:spPr>
          <a:xfrm>
            <a:off x="685800" y="777240"/>
            <a:ext cx="2468880" cy="901141"/>
          </a:xfrm>
          <a:prstGeom prst="rect">
            <a:avLst/>
          </a:prstGeom>
        </p:spPr>
      </p:pic>
      <p:sp>
        <p:nvSpPr>
          <p:cNvPr id="4" name="Text 0"/>
          <p:cNvSpPr/>
          <p:nvPr>
            <p:ph idx="100" type="title" hasCustomPrompt="1"/>
          </p:nvPr>
        </p:nvSpPr>
        <p:spPr>
          <a:xfrm>
            <a:off x="548640" y="2331720"/>
            <a:ext cx="8686800" cy="1371600"/>
          </a:xfrm>
          <a:prstGeom prst="rect">
            <a:avLst/>
          </a:prstGeom>
          <a:noFill/>
          <a:ln/>
        </p:spPr>
        <p:txBody>
          <a:bodyPr wrap="square" lIns="0" tIns="0" rIns="0" bIns="0" rtlCol="0" anchor="t"/>
          <a:lstStyle/>
          <a:p>
            <a:pPr algn="l" indent="0" marL="0">
              <a:buNone/>
            </a:pPr>
            <a:r>
              <a:rPr lang="en-US" sz="4400" b="1" i="1" dirty="0">
                <a:solidFill>
                  <a:srgbClr val="FFFFFF"/>
                </a:solidFill>
              </a:rPr>
              <a:t>Questions answered: Anaheim, Orange County and U.S.</a:t>
            </a:r>
            <a:endParaRPr lang="en-US" sz="4400" dirty="0"/>
          </a:p>
        </p:txBody>
      </p:sp>
      <p:sp>
        <p:nvSpPr>
          <p:cNvPr id="5" name="Text 0"/>
          <p:cNvSpPr/>
          <p:nvPr>
            <p:ph idx="101" type="body" hasCustomPrompt="1"/>
          </p:nvPr>
        </p:nvSpPr>
        <p:spPr>
          <a:xfrm>
            <a:off x="548640" y="3794760"/>
            <a:ext cx="8686800" cy="1097280"/>
          </a:xfrm>
          <a:prstGeom prst="rect">
            <a:avLst/>
          </a:prstGeom>
          <a:noFill/>
          <a:ln/>
        </p:spPr>
        <p:txBody>
          <a:bodyPr wrap="square" lIns="0" tIns="0" rIns="0" bIns="0" rtlCol="0" anchor="t"/>
          <a:lstStyle/>
          <a:p>
            <a:pPr algn="l" indent="0" marL="0">
              <a:buNone/>
            </a:pPr>
            <a:r>
              <a:rPr lang="en-US" sz="1800" dirty="0">
                <a:solidFill>
                  <a:srgbClr val="FFFFFF"/>
                </a:solidFill>
              </a:rPr>
              <a:t>Average spend, one more night, transportation impact and District 5, each with a short answer, a visual, the method and the reports behind it. Data through September 2026.</a:t>
            </a:r>
            <a:endParaRPr lang="en-US" sz="1800" dirty="0"/>
          </a:p>
        </p:txBody>
      </p:sp>
      <p:sp>
        <p:nvSpPr>
          <p:cNvPr id="6" name="Text 3"/>
          <p:cNvSpPr txBox="1"/>
          <p:nvPr/>
        </p:nvSpPr>
        <p:spPr>
          <a:xfrm>
            <a:off x="548640" y="6035040"/>
            <a:ext cx="10058400" cy="365760"/>
          </a:xfrm>
          <a:prstGeom prst="rect">
            <a:avLst/>
          </a:prstGeom>
          <a:noFill/>
          <a:ln/>
        </p:spPr>
        <p:txBody>
          <a:bodyPr wrap="square" lIns="0" tIns="0" rIns="0" bIns="0" rtlCol="0" anchor="ctr"/>
          <a:lstStyle/>
          <a:p>
            <a:pPr indent="0" marL="0">
              <a:buNone/>
            </a:pPr>
            <a:r>
              <a:rPr lang="en-US" sz="1200" dirty="0">
                <a:solidFill>
                  <a:srgbClr val="FFFFFF"/>
                </a:solidFill>
                <a:latin typeface="Proxima Nova" pitchFamily="34" charset="0"/>
                <a:ea typeface="Proxima Nova" pitchFamily="34" charset="-122"/>
                <a:cs typeface="Proxima Nova" pitchFamily="34" charset="-120"/>
              </a:rPr>
              <a:t>Prepared by Visit Anaheim Business Intelligence · October 2026 · Companion to the OC Vibe Insights app and report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Questions answered: the four core questions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Anaheim, Orange County and U.S. · each answer has a summary, a visual, the method and the files to read more</a:t>
            </a:r>
            <a:endParaRPr lang="en-US" sz="1200" dirty="0"/>
          </a:p>
        </p:txBody>
      </p:sp>
      <p:sp>
        <p:nvSpPr>
          <p:cNvPr id="4" name="kpi-card-0"/>
          <p:cNvSpPr/>
          <p:nvPr/>
        </p:nvSpPr>
        <p:spPr>
          <a:xfrm>
            <a:off x="548640" y="1463040"/>
            <a:ext cx="2650160" cy="2194560"/>
          </a:xfrm>
          <a:prstGeom prst="roundRect">
            <a:avLst>
              <a:gd name="adj" fmla="val 3333"/>
            </a:avLst>
          </a:prstGeom>
          <a:solidFill>
            <a:srgbClr val="FFFFFF"/>
          </a:solidFill>
          <a:ln w="12700">
            <a:solidFill>
              <a:srgbClr val="B4D9E3"/>
            </a:solidFill>
            <a:prstDash val="solid"/>
          </a:ln>
        </p:spPr>
      </p:sp>
      <p:sp>
        <p:nvSpPr>
          <p:cNvPr id="5"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SPENDING</a:t>
            </a:r>
            <a:endParaRPr lang="en-US" sz="900" dirty="0"/>
          </a:p>
        </p:txBody>
      </p:sp>
      <p:sp>
        <p:nvSpPr>
          <p:cNvPr id="6"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per Anaheim visitor, 2025</a:t>
            </a:r>
            <a:endParaRPr lang="en-US" sz="1050" dirty="0"/>
          </a:p>
        </p:txBody>
      </p:sp>
      <p:sp>
        <p:nvSpPr>
          <p:cNvPr id="7"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$258</a:t>
            </a:r>
            <a:endParaRPr lang="en-US" sz="2600" dirty="0"/>
          </a:p>
        </p:txBody>
      </p:sp>
      <p:sp>
        <p:nvSpPr>
          <p:cNvPr id="8" name="Text 6"/>
          <p:cNvSpPr txBox="1"/>
          <p:nvPr/>
        </p:nvSpPr>
        <p:spPr>
          <a:xfrm>
            <a:off x="713232"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does the average visitor spend?</a:t>
            </a:r>
            <a:endParaRPr lang="en-US" sz="1000" dirty="0"/>
          </a:p>
        </p:txBody>
      </p:sp>
      <p:sp>
        <p:nvSpPr>
          <p:cNvPr id="9" name="kpi-card-1"/>
          <p:cNvSpPr/>
          <p:nvPr/>
        </p:nvSpPr>
        <p:spPr>
          <a:xfrm>
            <a:off x="3363392" y="1463040"/>
            <a:ext cx="2650160" cy="2194560"/>
          </a:xfrm>
          <a:prstGeom prst="roundRect">
            <a:avLst>
              <a:gd name="adj" fmla="val 3333"/>
            </a:avLst>
          </a:prstGeom>
          <a:solidFill>
            <a:srgbClr val="FFFFFF"/>
          </a:solidFill>
          <a:ln w="12700">
            <a:solidFill>
              <a:srgbClr val="B4D9E3"/>
            </a:solidFill>
            <a:prstDash val="solid"/>
          </a:ln>
        </p:spPr>
      </p:sp>
      <p:sp>
        <p:nvSpPr>
          <p:cNvPr id="10"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ONE MORE NIGHT</a:t>
            </a:r>
            <a:endParaRPr lang="en-US" sz="900" dirty="0"/>
          </a:p>
        </p:txBody>
      </p:sp>
      <p:sp>
        <p:nvSpPr>
          <p:cNvPr id="11"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 more night of Anaheim lodging spending</a:t>
            </a:r>
            <a:endParaRPr lang="en-US" sz="1050" dirty="0"/>
          </a:p>
        </p:txBody>
      </p:sp>
      <p:sp>
        <p:nvSpPr>
          <p:cNvPr id="12"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$794M</a:t>
            </a:r>
            <a:endParaRPr lang="en-US" sz="2600" dirty="0"/>
          </a:p>
        </p:txBody>
      </p:sp>
      <p:sp>
        <p:nvSpPr>
          <p:cNvPr id="13" name="Text 11"/>
          <p:cNvSpPr txBox="1"/>
          <p:nvPr/>
        </p:nvSpPr>
        <p:spPr>
          <a:xfrm>
            <a:off x="3527984"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one more night per visitor worth?</a:t>
            </a:r>
            <a:endParaRPr lang="en-US" sz="1000" dirty="0"/>
          </a:p>
        </p:txBody>
      </p:sp>
      <p:sp>
        <p:nvSpPr>
          <p:cNvPr id="14" name="kpi-card-2"/>
          <p:cNvSpPr/>
          <p:nvPr/>
        </p:nvSpPr>
        <p:spPr>
          <a:xfrm>
            <a:off x="6178144" y="1463040"/>
            <a:ext cx="2650160" cy="2194560"/>
          </a:xfrm>
          <a:prstGeom prst="roundRect">
            <a:avLst>
              <a:gd name="adj" fmla="val 3333"/>
            </a:avLst>
          </a:prstGeom>
          <a:solidFill>
            <a:srgbClr val="FFFFFF"/>
          </a:solidFill>
          <a:ln w="12700">
            <a:solidFill>
              <a:srgbClr val="B4D9E3"/>
            </a:solidFill>
            <a:prstDash val="solid"/>
          </a:ln>
        </p:spPr>
      </p:sp>
      <p:sp>
        <p:nvSpPr>
          <p:cNvPr id="15"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TRANSPORTATION</a:t>
            </a:r>
            <a:endParaRPr lang="en-US" sz="900" dirty="0"/>
          </a:p>
        </p:txBody>
      </p:sp>
      <p:sp>
        <p:nvSpPr>
          <p:cNvPr id="16"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transportation and gas station jobs supported by visitors, 2025</a:t>
            </a:r>
            <a:endParaRPr lang="en-US" sz="1050" dirty="0"/>
          </a:p>
        </p:txBody>
      </p:sp>
      <p:sp>
        <p:nvSpPr>
          <p:cNvPr id="17"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2,080</a:t>
            </a:r>
            <a:endParaRPr lang="en-US" sz="2600" dirty="0"/>
          </a:p>
        </p:txBody>
      </p:sp>
      <p:sp>
        <p:nvSpPr>
          <p:cNvPr id="18" name="Text 16"/>
          <p:cNvSpPr txBox="1"/>
          <p:nvPr/>
        </p:nvSpPr>
        <p:spPr>
          <a:xfrm>
            <a:off x="6342736"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1000" dirty="0"/>
          </a:p>
        </p:txBody>
      </p:sp>
      <p:sp>
        <p:nvSpPr>
          <p:cNvPr id="19" name="kpi-card-3"/>
          <p:cNvSpPr/>
          <p:nvPr/>
        </p:nvSpPr>
        <p:spPr>
          <a:xfrm>
            <a:off x="8992895" y="1463040"/>
            <a:ext cx="2650160" cy="2194560"/>
          </a:xfrm>
          <a:prstGeom prst="roundRect">
            <a:avLst>
              <a:gd name="adj" fmla="val 3333"/>
            </a:avLst>
          </a:prstGeom>
          <a:solidFill>
            <a:srgbClr val="FFFFFF"/>
          </a:solidFill>
          <a:ln w="12700">
            <a:solidFill>
              <a:srgbClr val="B4D9E3"/>
            </a:solidFill>
            <a:prstDash val="solid"/>
          </a:ln>
        </p:spPr>
      </p:sp>
      <p:sp>
        <p:nvSpPr>
          <p:cNvPr id="20"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 AND WHO VISITS</a:t>
            </a:r>
            <a:endParaRPr lang="en-US" sz="900" dirty="0"/>
          </a:p>
        </p:txBody>
      </p:sp>
      <p:sp>
        <p:nvSpPr>
          <p:cNvPr id="21"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of District 5 visitors stay overnight</a:t>
            </a:r>
            <a:endParaRPr lang="en-US" sz="1050" dirty="0"/>
          </a:p>
        </p:txBody>
      </p:sp>
      <p:sp>
        <p:nvSpPr>
          <p:cNvPr id="22"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85.8%</a:t>
            </a:r>
            <a:endParaRPr lang="en-US" sz="2600" dirty="0"/>
          </a:p>
        </p:txBody>
      </p:sp>
      <p:sp>
        <p:nvSpPr>
          <p:cNvPr id="23" name="Text 21"/>
          <p:cNvSpPr txBox="1"/>
          <p:nvPr/>
        </p:nvSpPr>
        <p:spPr>
          <a:xfrm>
            <a:off x="9157487"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11094415" cy="914400"/>
        </p:xfrm>
        <a:graphic>
          <a:graphicData uri="http://schemas.openxmlformats.org/drawingml/2006/table">
            <a:tbl>
              <a:tblPr/>
              <a:tblGrid>
                <a:gridCol w="3108960"/>
                <a:gridCol w="7985455"/>
              </a:tblGrid>
              <a:tr h="457200">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Question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Short answer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does the average visitor spend?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Anaheim visitor spent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$258</a:t>
                      </a:r>
                      <a:pPr algn="l" indent="0" marL="0">
                        <a:buNone/>
                      </a:pPr>
                      <a:r>
                        <a:rPr lang="en-US" sz="900" dirty="0">
                          <a:solidFill>
                            <a:srgbClr val="231F20"/>
                          </a:solidFill>
                          <a:latin typeface="Proxima Nova" pitchFamily="34" charset="0"/>
                          <a:ea typeface="Proxima Nova" pitchFamily="34" charset="-122"/>
                          <a:cs typeface="Proxima Nova" pitchFamily="34" charset="-120"/>
                        </a:rPr>
                        <a:t> in 2025. Countywide, the average was </a:t>
                      </a:r>
                      <a:pPr algn="l" indent="0" marL="0">
                        <a:buNone/>
                      </a:pPr>
                      <a:r>
                        <a:rPr lang="en-US" sz="900" b="1" dirty="0">
                          <a:solidFill>
                            <a:srgbClr val="125C60"/>
                          </a:solidFill>
                          <a:latin typeface="Proxima Nova" pitchFamily="34" charset="0"/>
                          <a:ea typeface="Proxima Nova" pitchFamily="34" charset="-122"/>
                          <a:cs typeface="Proxima Nova" pitchFamily="34" charset="-120"/>
                        </a:rPr>
                        <a:t>$350</a:t>
                      </a:r>
                      <a:pPr algn="l" indent="0" marL="0">
                        <a:buNone/>
                      </a:pPr>
                      <a:r>
                        <a:rPr lang="en-US" sz="9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$553</a:t>
                      </a:r>
                      <a:pPr algn="l" indent="0" marL="0">
                        <a:buNone/>
                      </a:pPr>
                      <a:r>
                        <a:rPr lang="en-US" sz="900" dirty="0">
                          <a:solidFill>
                            <a:srgbClr val="231F20"/>
                          </a:solidFill>
                          <a:latin typeface="Proxima Nova" pitchFamily="34" charset="0"/>
                          <a:ea typeface="Proxima Nova" pitchFamily="34" charset="-122"/>
                          <a:cs typeface="Proxima Nova" pitchFamily="34" charset="-120"/>
                        </a:rPr>
                        <a:t> per trip.</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one more night per visitor worth?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$794M</a:t>
                      </a:r>
                      <a:pPr algn="l" indent="0" marL="0">
                        <a:buNone/>
                      </a:pPr>
                      <a:r>
                        <a:rPr lang="en-US" sz="9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$1.02B</a:t>
                      </a:r>
                      <a:pPr algn="l" indent="0" marL="0">
                        <a:buNone/>
                      </a:pPr>
                      <a:r>
                        <a:rPr lang="en-US" sz="900" dirty="0">
                          <a:solidFill>
                            <a:srgbClr val="231F20"/>
                          </a:solidFill>
                          <a:latin typeface="Proxima Nova" pitchFamily="34" charset="0"/>
                          <a:ea typeface="Proxima Nova" pitchFamily="34" charset="-122"/>
                          <a:cs typeface="Proxima Nova" pitchFamily="34" charset="-120"/>
                        </a:rPr>
                        <a:t>, and one more day for every visitor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$3.15B</a:t>
                      </a:r>
                      <a:pPr algn="l" indent="0" marL="0">
                        <a:buNone/>
                      </a:pPr>
                      <a:r>
                        <a:rPr lang="en-US" sz="900" dirty="0">
                          <a:solidFill>
                            <a:srgbClr val="231F20"/>
                          </a:solidFill>
                          <a:latin typeface="Proxima Nova" pitchFamily="34" charset="0"/>
                          <a:ea typeface="Proxima Nova" pitchFamily="34" charset="-122"/>
                          <a:cs typeface="Proxima Nova" pitchFamily="34" charset="-120"/>
                        </a:rPr>
                        <a:t> (the study's upper bound).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$224M</a:t>
                      </a:r>
                      <a:pPr algn="l" indent="0" marL="0">
                        <a:buNone/>
                      </a:pPr>
                      <a:r>
                        <a:rPr lang="en-US" sz="900" dirty="0">
                          <a:solidFill>
                            <a:srgbClr val="231F20"/>
                          </a:solidFill>
                          <a:latin typeface="Proxima Nova" pitchFamily="34" charset="0"/>
                          <a:ea typeface="Proxima Nova" pitchFamily="34" charset="-122"/>
                          <a:cs typeface="Proxima Nova" pitchFamily="34" charset="-120"/>
                        </a:rPr>
                        <a:t> on transportation in Anaheim in 2025 (</a:t>
                      </a:r>
                      <a:pPr algn="l" indent="0" marL="0">
                        <a:buNone/>
                      </a:pPr>
                      <a:r>
                        <a:rPr lang="en-US" sz="900" b="1" dirty="0">
                          <a:solidFill>
                            <a:srgbClr val="125C60"/>
                          </a:solidFill>
                          <a:latin typeface="Proxima Nova" pitchFamily="34" charset="0"/>
                          <a:ea typeface="Proxima Nova" pitchFamily="34" charset="-122"/>
                          <a:cs typeface="Proxima Nova" pitchFamily="34" charset="-120"/>
                        </a:rPr>
                        <a:t>3.3%</a:t>
                      </a:r>
                      <a:pPr algn="l" indent="0" marL="0">
                        <a:buNone/>
                      </a:pPr>
                      <a:r>
                        <a:rPr lang="en-US" sz="900" dirty="0">
                          <a:solidFill>
                            <a:srgbClr val="231F20"/>
                          </a:solidFill>
                          <a:latin typeface="Proxima Nova" pitchFamily="34" charset="0"/>
                          <a:ea typeface="Proxima Nova" pitchFamily="34" charset="-122"/>
                          <a:cs typeface="Proxima Nova" pitchFamily="34" charset="-120"/>
                        </a:rPr>
                        <a:t> of spending), supporting </a:t>
                      </a:r>
                      <a:pPr algn="l" indent="0" marL="0">
                        <a:buNone/>
                      </a:pPr>
                      <a:r>
                        <a:rPr lang="en-US" sz="900" b="1" dirty="0">
                          <a:solidFill>
                            <a:srgbClr val="125C60"/>
                          </a:solidFill>
                          <a:latin typeface="Proxima Nova" pitchFamily="34" charset="0"/>
                          <a:ea typeface="Proxima Nova" pitchFamily="34" charset="-122"/>
                          <a:cs typeface="Proxima Nova" pitchFamily="34" charset="-120"/>
                        </a:rPr>
                        <a:t>2,080 jobs</a:t>
                      </a:r>
                      <a:pPr algn="l" indent="0" marL="0">
                        <a:buNone/>
                      </a:pPr>
                      <a:r>
                        <a:rPr lang="en-US" sz="900" dirty="0">
                          <a:solidFill>
                            <a:srgbClr val="231F20"/>
                          </a:solidFill>
                          <a:latin typeface="Proxima Nova" pitchFamily="34" charset="0"/>
                          <a:ea typeface="Proxima Nova" pitchFamily="34" charset="-122"/>
                          <a:cs typeface="Proxima Nova" pitchFamily="34" charset="-120"/>
                        </a:rPr>
                        <a:t> in transportation and gas stations. Countywide: </a:t>
                      </a:r>
                      <a:pPr algn="l" indent="0" marL="0">
                        <a:buNone/>
                      </a:pPr>
                      <a:r>
                        <a:rPr lang="en-US" sz="900" b="1" dirty="0">
                          <a:solidFill>
                            <a:srgbClr val="125C60"/>
                          </a:solidFill>
                          <a:latin typeface="Proxima Nova" pitchFamily="34" charset="0"/>
                          <a:ea typeface="Proxima Nova" pitchFamily="34" charset="-122"/>
                          <a:cs typeface="Proxima Nova" pitchFamily="34" charset="-120"/>
                        </a:rPr>
                        <a:t>$707M</a:t>
                      </a:r>
                      <a:pPr algn="l" indent="0" marL="0">
                        <a:buNone/>
                      </a:pPr>
                      <a:r>
                        <a:rPr lang="en-US" sz="900" dirty="0">
                          <a:solidFill>
                            <a:srgbClr val="231F20"/>
                          </a:solidFill>
                          <a:latin typeface="Proxima Nova" pitchFamily="34" charset="0"/>
                          <a:ea typeface="Proxima Nova" pitchFamily="34" charset="-122"/>
                          <a:cs typeface="Proxima Nova" pitchFamily="34" charset="-120"/>
                        </a:rPr>
                        <a: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6,141 jobs</a:t>
                      </a:r>
                      <a:pPr algn="l" indent="0" marL="0">
                        <a:buNone/>
                      </a:pPr>
                      <a:r>
                        <a:rPr lang="en-US" sz="900" dirty="0">
                          <a:solidFill>
                            <a:srgbClr val="231F20"/>
                          </a:solidFill>
                          <a:latin typeface="Proxima Nova" pitchFamily="34" charset="0"/>
                          <a:ea typeface="Proxima Nova" pitchFamily="34" charset="-122"/>
                          <a:cs typeface="Proxima Nova" pitchFamily="34" charset="-120"/>
                        </a:rPr>
                        <a:t>. Statewide, 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$25.2B</a:t>
                      </a:r>
                      <a:pPr algn="l" indent="0" marL="0">
                        <a:buNone/>
                      </a:pPr>
                      <a:r>
                        <a:rPr lang="en-US" sz="900" dirty="0">
                          <a:solidFill>
                            <a:srgbClr val="231F20"/>
                          </a:solidFill>
                          <a:latin typeface="Proxima Nova" pitchFamily="34" charset="0"/>
                          <a:ea typeface="Proxima Nova" pitchFamily="34" charset="-122"/>
                          <a:cs typeface="Proxima Nova" pitchFamily="34" charset="-120"/>
                        </a:rPr>
                        <a:t> on local transportation, gas and air (</a:t>
                      </a:r>
                      <a:pPr algn="l" indent="0" marL="0">
                        <a:buNone/>
                      </a:pPr>
                      <a:r>
                        <a:rPr lang="en-US" sz="900" b="1" dirty="0">
                          <a:solidFill>
                            <a:srgbClr val="125C60"/>
                          </a:solidFill>
                          <a:latin typeface="Proxima Nova" pitchFamily="34" charset="0"/>
                          <a:ea typeface="Proxima Nova" pitchFamily="34" charset="-122"/>
                          <a:cs typeface="Proxima Nova" pitchFamily="34" charset="-120"/>
                        </a:rPr>
                        <a:t>17.9%</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 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b="1" dirty="0">
                          <a:solidFill>
                            <a:srgbClr val="125C60"/>
                          </a:solidFill>
                          <a:latin typeface="Proxima Nova" pitchFamily="34" charset="0"/>
                          <a:ea typeface="Proxima Nova" pitchFamily="34" charset="-122"/>
                          <a:cs typeface="Proxima Nova" pitchFamily="34" charset="-120"/>
                        </a:rPr>
                        <a:t>85.8%</a:t>
                      </a:r>
                      <a:pPr algn="l" indent="0" marL="0">
                        <a:buNone/>
                      </a:pPr>
                      <a:r>
                        <a:rPr lang="en-US" sz="900" dirty="0">
                          <a:solidFill>
                            <a:srgbClr val="231F20"/>
                          </a:solidFill>
                          <a:latin typeface="Proxima Nova" pitchFamily="34" charset="0"/>
                          <a:ea typeface="Proxima Nova" pitchFamily="34" charset="-122"/>
                          <a:cs typeface="Proxima Nova" pitchFamily="34" charset="-120"/>
                        </a:rPr>
                        <a:t> of District 5 visitors stay overnight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43.8%</a:t>
                      </a:r>
                      <a:pPr algn="l" indent="0" marL="0">
                        <a:buNone/>
                      </a:pPr>
                      <a:r>
                        <a:rPr lang="en-US" sz="9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$85.7K</a:t>
                      </a:r>
                      <a:pPr algn="l" indent="0" marL="0">
                        <a:buNone/>
                      </a:pPr>
                      <a:r>
                        <a:rPr lang="en-US" sz="900" dirty="0">
                          <a:solidFill>
                            <a:srgbClr val="231F20"/>
                          </a:solidFill>
                          <a:latin typeface="Proxima Nova" pitchFamily="34" charset="0"/>
                          <a:ea typeface="Proxima Nova" pitchFamily="34" charset="-122"/>
                          <a:cs typeface="Proxima Nova" pitchFamily="34" charset="-120"/>
                        </a:rPr>
                        <a:t>, above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$79.9K</a:t>
                      </a:r>
                      <a:pPr algn="l" indent="0" marL="0">
                        <a:buNone/>
                      </a:pPr>
                      <a:r>
                        <a:rPr lang="en-US" sz="900" dirty="0">
                          <a:solidFill>
                            <a:srgbClr val="231F20"/>
                          </a:solidFill>
                          <a:latin typeface="Proxima Nova" pitchFamily="34" charset="0"/>
                          <a:ea typeface="Proxima Nova" pitchFamily="34" charset="-122"/>
                          <a:cs typeface="Proxima Nova" pitchFamily="34" charset="-120"/>
                        </a:rPr>
                        <a:t> for all Anaheim and Garden Grove visitors and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$85.4K</a:t>
                      </a:r>
                      <a:pPr algn="l" indent="0" marL="0">
                        <a:buNone/>
                      </a:pPr>
                      <a:r>
                        <a:rPr lang="en-US" sz="900" dirty="0">
                          <a:solidFill>
                            <a:srgbClr val="231F20"/>
                          </a:solidFill>
                          <a:latin typeface="Proxima Nova" pitchFamily="34" charset="0"/>
                          <a:ea typeface="Proxima Nova" pitchFamily="34" charset="-122"/>
                          <a:cs typeface="Proxima Nova" pitchFamily="34" charset="-120"/>
                        </a:rPr>
                        <a:t> U.S. household median.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 sources on each question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Every question answered in this report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Find the slide or open the app: Questions answered</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1680"/>
                <a:gridCol w="4572000"/>
                <a:gridCol w="4510735"/>
              </a:tblGrid>
              <a:tr h="210312">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Question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Headline answer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OC Vibe requests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has OC Vibe asked for, and where is each answered?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 of 9 requests answered in this app (white paper review pending a draft)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OC Vibe requests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will Visit Anaheim review OC Vibe's white paper?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Pending white paper review starts when a draft is shared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visitors come to Orange County, and how many stay overnight?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51.3M Orange County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Orange County visitors come from?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55.4% of Orange County visitors from Southern California,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When is Orange County busiest?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80.6% July hotel occupancy, 2023-2025 average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Why do people visit Orange County, and who travels with them?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37.0% of Orange County visitors traveled with children,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hotel rooms does Orange County have, and how full are they?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75.2% Orange County hotel occupancy,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the average visitor spend?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$258 per Anaheim visitor,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Is visitor spending growing?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 Anaheim visitor spending, Q2 2026 vs. Q2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did the latest quarterly Tourism Economics report (Q2 2026) show?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$1.76B Anaheim visitor spending, Q2 2026 (+7.8%)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visitor dollars go?</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34.0% of Anaheim visitor spending goes to recreation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jobs does the visitor economy support?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67,817 Anaheim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share of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29.1% of Orange County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total economic impact of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$10.4B Anaheim total economic impact,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tax revenue do visitors generate?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$970M Anaheim state and local taxes from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one more night per visitor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$794M one more night of Anaheim lodging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each 1% of visitors staying a day longer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$31.5M per 1% of Anaheim visitors adding a day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2,080 Anaheim transportation and gas station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do people get to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275,000 vehicles a weekday on SR-57 beside OC Vibe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it cost to travel here?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$4.09 West Coast gasoline per gallon,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85.8% of District 5 visitors stay overnight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Anaheim visitor activity already includes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5.2% of Anaheim visitor days included the OC Vibe area,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Which markets bring visitors and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46.2% of District 5 visitors come from the Los Angeles and Riverside metros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Does Visit Anaheim's marketing bring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368,416 observed visits after ad exposure,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are hotels performing?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78.4% Disneyland submarket hotel occupancy, 12 months to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outlook to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$7.7B Anaheim visitor spending forecast,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can I get the full reports and data behind this app?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57 source files to view or download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often is this updated, and what is coming next?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Quarterly next updates Jan. 15, Apr. 15, July 15 and Oct. 15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does the average visitor spend?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200" b="1" dirty="0">
                <a:solidFill>
                  <a:srgbClr val="125C60"/>
                </a:solidFill>
                <a:latin typeface="Proxima Nova" pitchFamily="34" charset="0"/>
                <a:ea typeface="Proxima Nova" pitchFamily="34" charset="-122"/>
                <a:cs typeface="Proxima Nova" pitchFamily="34" charset="-120"/>
              </a:rPr>
              <a:t>$258</a:t>
            </a:r>
            <a:pPr indent="0" marL="0">
              <a:buNone/>
            </a:pPr>
            <a:r>
              <a:rPr lang="en-US" sz="1200" dirty="0">
                <a:solidFill>
                  <a:srgbClr val="231F20"/>
                </a:solidFill>
                <a:latin typeface="Proxima Nova" pitchFamily="34" charset="0"/>
                <a:ea typeface="Proxima Nova" pitchFamily="34" charset="-122"/>
                <a:cs typeface="Proxima Nova" pitchFamily="34" charset="-120"/>
              </a:rPr>
              <a:t> in 2025. Countywide, the average was </a:t>
            </a:r>
            <a:pPr indent="0" marL="0">
              <a:buNone/>
            </a:pPr>
            <a:r>
              <a:rPr lang="en-US" sz="1200" b="1" dirty="0">
                <a:solidFill>
                  <a:srgbClr val="125C60"/>
                </a:solidFill>
                <a:latin typeface="Proxima Nova" pitchFamily="34" charset="0"/>
                <a:ea typeface="Proxima Nova" pitchFamily="34" charset="-122"/>
                <a:cs typeface="Proxima Nova" pitchFamily="34" charset="-120"/>
              </a:rPr>
              <a:t>$350</a:t>
            </a:r>
            <a:pPr indent="0" marL="0">
              <a:buNone/>
            </a:pPr>
            <a:r>
              <a:rPr lang="en-US" sz="12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indent="0" marL="0">
              <a:buNone/>
            </a:pPr>
            <a:r>
              <a:rPr lang="en-US" sz="1200" b="1" dirty="0">
                <a:solidFill>
                  <a:srgbClr val="125C60"/>
                </a:solidFill>
                <a:latin typeface="Proxima Nova" pitchFamily="34" charset="0"/>
                <a:ea typeface="Proxima Nova" pitchFamily="34" charset="-122"/>
                <a:cs typeface="Proxima Nova" pitchFamily="34" charset="-120"/>
              </a:rPr>
              <a:t>$553</a:t>
            </a:r>
            <a:pPr indent="0" marL="0">
              <a:buNone/>
            </a:pPr>
            <a:r>
              <a:rPr lang="en-US" sz="1200" dirty="0">
                <a:solidFill>
                  <a:srgbClr val="231F20"/>
                </a:solidFill>
                <a:latin typeface="Proxima Nova" pitchFamily="34" charset="0"/>
                <a:ea typeface="Proxima Nova" pitchFamily="34" charset="-122"/>
                <a:cs typeface="Proxima Nova" pitchFamily="34" charset="-120"/>
              </a:rPr>
              <a:t> per trip.</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$6.832B ÷ 26.5M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$237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$769.3M ÷ 3.24M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$350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by Tourism Economics; day visitors $58, overnight $737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$553 per trip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$1.360T ÷ 2.46B trips (2025, real 2025 dollars); domestic $494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or trip,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Files in the app library: Economic Impact of Visitors to Anaheim, 2025; Economic Impact of Visitors to Garden Grove, 2025; Economic Impact of Visitors to Orange County, 2025;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Average spend: Anaheim, Orange County, California and U.S.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does the average visitor spend?</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440"/>
                <a:gridCol w="2011680"/>
                <a:gridCol w="5120640"/>
                <a:gridCol w="158465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 per visitor or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it is calculated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$769.3M ÷ 3.24M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Published by Tourism Economics (day $58, overnight $737)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$1.360T ÷ 2.46B trips (real 2025 dollars)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domestic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$1.185T ÷ 2.40B domestic trips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one more night per visitor worth?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One more night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200" b="1" dirty="0">
                <a:solidFill>
                  <a:srgbClr val="125C60"/>
                </a:solidFill>
                <a:latin typeface="Proxima Nova" pitchFamily="34" charset="0"/>
                <a:ea typeface="Proxima Nova" pitchFamily="34" charset="-122"/>
                <a:cs typeface="Proxima Nova" pitchFamily="34" charset="-120"/>
              </a:rPr>
              <a:t>$794M</a:t>
            </a:r>
            <a:pPr indent="0" marL="0">
              <a:buNone/>
            </a:pPr>
            <a:r>
              <a:rPr lang="en-US" sz="12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indent="0" marL="0">
              <a:buNone/>
            </a:pPr>
            <a:r>
              <a:rPr lang="en-US" sz="1200" b="1" dirty="0">
                <a:solidFill>
                  <a:srgbClr val="125C60"/>
                </a:solidFill>
                <a:latin typeface="Proxima Nova" pitchFamily="34" charset="0"/>
                <a:ea typeface="Proxima Nova" pitchFamily="34" charset="-122"/>
                <a:cs typeface="Proxima Nova" pitchFamily="34" charset="-120"/>
              </a:rPr>
              <a:t>$1.02B</a:t>
            </a:r>
            <a:pPr indent="0" marL="0">
              <a:buNone/>
            </a:pPr>
            <a:r>
              <a:rPr lang="en-US" sz="1200" dirty="0">
                <a:solidFill>
                  <a:srgbClr val="231F20"/>
                </a:solidFill>
                <a:latin typeface="Proxima Nova" pitchFamily="34" charset="0"/>
                <a:ea typeface="Proxima Nova" pitchFamily="34" charset="-122"/>
                <a:cs typeface="Proxima Nova" pitchFamily="34" charset="-120"/>
              </a:rPr>
              <a:t>, and one more day for every visitor about </a:t>
            </a:r>
            <a:pPr indent="0" marL="0">
              <a:buNone/>
            </a:pPr>
            <a:r>
              <a:rPr lang="en-US" sz="1200" b="1" dirty="0">
                <a:solidFill>
                  <a:srgbClr val="125C60"/>
                </a:solidFill>
                <a:latin typeface="Proxima Nova" pitchFamily="34" charset="0"/>
                <a:ea typeface="Proxima Nova" pitchFamily="34" charset="-122"/>
                <a:cs typeface="Proxima Nova" pitchFamily="34" charset="-120"/>
              </a:rPr>
              <a:t>$3.15B</a:t>
            </a:r>
            <a:pPr indent="0" marL="0">
              <a:buNone/>
            </a:pPr>
            <a:r>
              <a:rPr lang="en-US" sz="1200" dirty="0">
                <a:solidFill>
                  <a:srgbClr val="231F20"/>
                </a:solidFill>
                <a:latin typeface="Proxima Nova" pitchFamily="34" charset="0"/>
                <a:ea typeface="Proxima Nova" pitchFamily="34" charset="-122"/>
                <a:cs typeface="Proxima Nova" pitchFamily="34" charset="-120"/>
              </a:rPr>
              <a:t> (the study's upper bound).</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lodging (headline)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$794M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$1.724B lodging spending ÷ 2.17-day weighted average stay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overnight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8.6M overnight visitors × $118.71 per visitor-day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every visitor (upper bound)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$3.15B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$6.832B ÷ 2.17 days; total with the extra day $9.98B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$737 vs. $58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Spending per overnight visitor vs. per day visitor (2025), 12.7 times as much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 or day in Anaheim, three ways ($M)</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Extra Night study; Tourism Economics, Economic Impact of Visitors 2025 (pub. Apr.–May 2026); Visit Anaheim BI calculation; Visit Anaheim Extra Night study; Tourism Economics, Economic Impact of Visitors 2025 (pub. Apr.–May 2026). Files in the app library: One more night study (Extra Night Calculation); One more night workbook (TID Request data);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one-more-night estimate is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one more night per visitor worth?</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91840"/>
                <a:gridCol w="2194560"/>
                <a:gridCol w="560801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Calculation deck and TID Request workbook (2025 Tourism Economics and Azira inputs; recalculated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economic impact of visitor transportation?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$224M</a:t>
            </a:r>
            <a:pPr indent="0" marL="0">
              <a:buNone/>
            </a:pPr>
            <a:r>
              <a:rPr lang="en-US" sz="1200" dirty="0">
                <a:solidFill>
                  <a:srgbClr val="231F20"/>
                </a:solidFill>
                <a:latin typeface="Proxima Nova" pitchFamily="34" charset="0"/>
                <a:ea typeface="Proxima Nova" pitchFamily="34" charset="-122"/>
                <a:cs typeface="Proxima Nova" pitchFamily="34" charset="-120"/>
              </a:rPr>
              <a:t> on transportation in Anaheim in 2025 (</a:t>
            </a:r>
            <a:pPr indent="0" marL="0">
              <a:buNone/>
            </a:pPr>
            <a:r>
              <a:rPr lang="en-US" sz="1200" b="1" dirty="0">
                <a:solidFill>
                  <a:srgbClr val="125C60"/>
                </a:solidFill>
                <a:latin typeface="Proxima Nova" pitchFamily="34" charset="0"/>
                <a:ea typeface="Proxima Nova" pitchFamily="34" charset="-122"/>
                <a:cs typeface="Proxima Nova" pitchFamily="34" charset="-120"/>
              </a:rPr>
              <a:t>3.3%</a:t>
            </a:r>
            <a:pPr indent="0" marL="0">
              <a:buNone/>
            </a:pPr>
            <a:r>
              <a:rPr lang="en-US" sz="1200" dirty="0">
                <a:solidFill>
                  <a:srgbClr val="231F20"/>
                </a:solidFill>
                <a:latin typeface="Proxima Nova" pitchFamily="34" charset="0"/>
                <a:ea typeface="Proxima Nova" pitchFamily="34" charset="-122"/>
                <a:cs typeface="Proxima Nova" pitchFamily="34" charset="-120"/>
              </a:rPr>
              <a:t> of spending), supporting </a:t>
            </a:r>
            <a:pPr indent="0" marL="0">
              <a:buNone/>
            </a:pPr>
            <a:r>
              <a:rPr lang="en-US" sz="1200" b="1" dirty="0">
                <a:solidFill>
                  <a:srgbClr val="125C60"/>
                </a:solidFill>
                <a:latin typeface="Proxima Nova" pitchFamily="34" charset="0"/>
                <a:ea typeface="Proxima Nova" pitchFamily="34" charset="-122"/>
                <a:cs typeface="Proxima Nova" pitchFamily="34" charset="-120"/>
              </a:rPr>
              <a:t>2,080 jobs</a:t>
            </a:r>
            <a:pPr indent="0" marL="0">
              <a:buNone/>
            </a:pPr>
            <a:r>
              <a:rPr lang="en-US" sz="1200" dirty="0">
                <a:solidFill>
                  <a:srgbClr val="231F20"/>
                </a:solidFill>
                <a:latin typeface="Proxima Nova" pitchFamily="34" charset="0"/>
                <a:ea typeface="Proxima Nova" pitchFamily="34" charset="-122"/>
                <a:cs typeface="Proxima Nova" pitchFamily="34" charset="-120"/>
              </a:rPr>
              <a:t> in transportation and gas stations.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$707M</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6,141 jobs</a:t>
            </a:r>
            <a:pPr indent="0" marL="0">
              <a:buNone/>
            </a:pPr>
            <a:r>
              <a:rPr lang="en-US" sz="1200" dirty="0">
                <a:solidFill>
                  <a:srgbClr val="231F20"/>
                </a:solidFill>
                <a:latin typeface="Proxima Nova" pitchFamily="34" charset="0"/>
                <a:ea typeface="Proxima Nova" pitchFamily="34" charset="-122"/>
                <a:cs typeface="Proxima Nova" pitchFamily="34" charset="-120"/>
              </a:rPr>
              <a:t>. Statewide, 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$25.2B</a:t>
            </a:r>
            <a:pPr indent="0" marL="0">
              <a:buNone/>
            </a:pPr>
            <a:r>
              <a:rPr lang="en-US" sz="1200" dirty="0">
                <a:solidFill>
                  <a:srgbClr val="231F20"/>
                </a:solidFill>
                <a:latin typeface="Proxima Nova" pitchFamily="34" charset="0"/>
                <a:ea typeface="Proxima Nova" pitchFamily="34" charset="-122"/>
                <a:cs typeface="Proxima Nova" pitchFamily="34" charset="-120"/>
              </a:rPr>
              <a:t> on local transportation, gas and air (</a:t>
            </a:r>
            <a:pPr indent="0" marL="0">
              <a:buNone/>
            </a:pPr>
            <a:r>
              <a:rPr lang="en-US" sz="1200" b="1" dirty="0">
                <a:solidFill>
                  <a:srgbClr val="125C60"/>
                </a:solidFill>
                <a:latin typeface="Proxima Nova" pitchFamily="34" charset="0"/>
                <a:ea typeface="Proxima Nova" pitchFamily="34" charset="-122"/>
                <a:cs typeface="Proxima Nova" pitchFamily="34" charset="-120"/>
              </a:rPr>
              <a:t>17.9%</a:t>
            </a:r>
            <a:pPr indent="0" marL="0">
              <a:buNone/>
            </a:pPr>
            <a:r>
              <a:rPr lang="en-US" sz="1200" dirty="0">
                <a:solidFill>
                  <a:srgbClr val="231F20"/>
                </a:solidFill>
                <a:latin typeface="Proxima Nova" pitchFamily="34" charset="0"/>
                <a:ea typeface="Proxima Nova" pitchFamily="34" charset="-122"/>
                <a:cs typeface="Proxima Nova" pitchFamily="34" charset="-120"/>
              </a:rPr>
              <a:t> of visitor spending).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$224M · 2,080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3.3% of spending; business sales $298M (other transport $159M + gas stations $139M); labor income $45M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$46.9M · 326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6.1% of spending; business sales $51.8M; labor income $7.0M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$707M · 6,141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3.9% of spending; business sales $973M (other transport $496M + gas $349M + air $128M); labor income $143M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$25.2B · 73,100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Local transportation and gas $18.7B + visitor air $6.5B; direct jobs: ground 46,900 + air 26,200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costs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$3.10 vs. $4.09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Gasoline per gallon, U.S. vs. West Coast (2025); average domestic airfare $387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transportation spending, share of all visitor spending, 2025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Bureau of Transportation Statistics, Transportation Economic Trends. Files in the app library: Economic Impact of Visitors to Anaheim, 2025; Economic Impact of Visitors to Garden Grove, 2025; Economic Impact of Visitors to Orange County, 2025; Transportation Economic Trends: table guide.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Economic impact of visitor transportation,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the economic impact of visitor transportation?</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1849069"/>
                <a:gridCol w="1849069"/>
                <a:gridCol w="1849069"/>
                <a:gridCol w="1849069"/>
                <a:gridCol w="1849069"/>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Visitor transportation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 of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Business sales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Labor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$298M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$45M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California (direct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(industry tables: other transport, gas stations, air transport); Visit California, The Economic Impact of Travel in California, 2025p (Dean Runyan Associates, Apr. 6, 2026)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Who visits District 5, where OC Vibe is being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85.8%</a:t>
            </a:r>
            <a:pPr indent="0" marL="0">
              <a:buNone/>
            </a:pPr>
            <a:r>
              <a:rPr lang="en-US" sz="12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200" b="1" dirty="0">
                <a:solidFill>
                  <a:srgbClr val="125C60"/>
                </a:solidFill>
                <a:latin typeface="Proxima Nova" pitchFamily="34" charset="0"/>
                <a:ea typeface="Proxima Nova" pitchFamily="34" charset="-122"/>
                <a:cs typeface="Proxima Nova" pitchFamily="34" charset="-120"/>
              </a:rPr>
              <a:t>43.8%</a:t>
            </a:r>
            <a:pPr indent="0" marL="0">
              <a:buNone/>
            </a:pPr>
            <a:r>
              <a:rPr lang="en-US" sz="12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indent="0" marL="0">
              <a:buNone/>
            </a:pPr>
            <a:r>
              <a:rPr lang="en-US" sz="1200" b="1" dirty="0">
                <a:solidFill>
                  <a:srgbClr val="125C60"/>
                </a:solidFill>
                <a:latin typeface="Proxima Nova" pitchFamily="34" charset="0"/>
                <a:ea typeface="Proxima Nova" pitchFamily="34" charset="-122"/>
                <a:cs typeface="Proxima Nova" pitchFamily="34" charset="-120"/>
              </a:rPr>
              <a:t>$85.7K</a:t>
            </a:r>
            <a:pPr indent="0" marL="0">
              <a:buNone/>
            </a:pPr>
            <a:r>
              <a:rPr lang="en-US" sz="1200" dirty="0">
                <a:solidFill>
                  <a:srgbClr val="231F20"/>
                </a:solidFill>
                <a:latin typeface="Proxima Nova" pitchFamily="34" charset="0"/>
                <a:ea typeface="Proxima Nova" pitchFamily="34" charset="-122"/>
                <a:cs typeface="Proxima Nova" pitchFamily="34" charset="-120"/>
              </a:rPr>
              <a:t>, above the </a:t>
            </a:r>
            <a:pPr indent="0" marL="0">
              <a:buNone/>
            </a:pPr>
            <a:r>
              <a:rPr lang="en-US" sz="1200" b="1" dirty="0">
                <a:solidFill>
                  <a:srgbClr val="125C60"/>
                </a:solidFill>
                <a:latin typeface="Proxima Nova" pitchFamily="34" charset="0"/>
                <a:ea typeface="Proxima Nova" pitchFamily="34" charset="-122"/>
                <a:cs typeface="Proxima Nova" pitchFamily="34" charset="-120"/>
              </a:rPr>
              <a:t>$79.9K</a:t>
            </a:r>
            <a:pPr indent="0" marL="0">
              <a:buNone/>
            </a:pPr>
            <a:r>
              <a:rPr lang="en-US" sz="1200" dirty="0">
                <a:solidFill>
                  <a:srgbClr val="231F20"/>
                </a:solidFill>
                <a:latin typeface="Proxima Nova" pitchFamily="34" charset="0"/>
                <a:ea typeface="Proxima Nova" pitchFamily="34" charset="-122"/>
                <a:cs typeface="Proxima Nova" pitchFamily="34" charset="-120"/>
              </a:rPr>
              <a:t> for all Anaheim and Garden Grove visitors and the </a:t>
            </a:r>
            <a:pPr indent="0" marL="0">
              <a:buNone/>
            </a:pPr>
            <a:r>
              <a:rPr lang="en-US" sz="1200" b="1" dirty="0">
                <a:solidFill>
                  <a:srgbClr val="125C60"/>
                </a:solidFill>
                <a:latin typeface="Proxima Nova" pitchFamily="34" charset="0"/>
                <a:ea typeface="Proxima Nova" pitchFamily="34" charset="-122"/>
                <a:cs typeface="Proxima Nova" pitchFamily="34" charset="-120"/>
              </a:rPr>
              <a:t>$85.4K</a:t>
            </a:r>
            <a:pPr indent="0" marL="0">
              <a:buNone/>
            </a:pPr>
            <a:r>
              <a:rPr lang="en-US" sz="1200" dirty="0">
                <a:solidFill>
                  <a:srgbClr val="231F20"/>
                </a:solidFill>
                <a:latin typeface="Proxima Nova" pitchFamily="34" charset="0"/>
                <a:ea typeface="Proxima Nova" pitchFamily="34" charset="-122"/>
                <a:cs typeface="Proxima Nova" pitchFamily="34" charset="-120"/>
              </a:rPr>
              <a:t> U.S. household median.</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District 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85.8%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43.8% new · median income $85.7K · 56.0% from California · sample 1,003,735 devices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81.7%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82.5% repeat · 1.3-day stay · median income $79.9K · 93.3% of trips from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$121.9K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 of residents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$85.4K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Top origin metros for District 5 visitors (% of unique visitors)</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(Jan. 1–May 31, 2026); Azira via Symphony (Aug. 2026); Oxford Economics via CoStar (Oct. 12, 2026). Files in the app library: District 5 visitor profile (POI Analysis); Domestic visitors to Anaheim and Garden Grove; Orange County hospitality market report.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District 5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Who visits District 5, where OC Vibe is being built?</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547208"/>
                <a:gridCol w="5547208"/>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(Jan. 1–May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has OC Vibe asked for, and where is each answered?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OC Vibe requests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Nine requests in two rounds. OC Vibe's Oct. 9, 2026 follow-up asked for the Q2 2026 Tourism Economics report, the Anaheim, Garden Grove and Orange County economic impact reports with food and beverage job shares, the One more night study, and a review of OC Vibe's white paper. Entertainment + Culture Advisors (ECA), for OCVIBE, asked five Orange County tourism questions on Oct. 19, 2026. Eight are answered in this app with their sources; the white paper review starts when a draft is shared.</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Q2 2026 Tourism Economics report (Oct. 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Answered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welcomed 6.74M visitors in Q2 2026 (+2.8%), who spent $1.76B (+7.8%). Overnight visits rose 4.5% and day visits 2.1%; hotel rates were nearly 9% higher. Garden Grove: 831,000 visitors (+3.4%), $200.4M (+7.1%).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Garden Grove and Orange County reports with food and beverage job share (Oct. 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Answered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16.8% in Anaheim (11,366 of 67,817), 40.6% in Garden Grove and 29.1% countywide. Statewide, accommodation and food service together hold 55.3% of direct travel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One more night study (Oct. 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Answered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$794M. Counting all spending, one more day for overnight visitors is worth about $1.02B, and one more day for every visitor about $3.15B (the study's upper bound).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Review of OC Vibe's white paper (Oct. 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Pending a draft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 Anaheim BI will check the white paper's visitor, spending, hotel and job figures against the sources in this app and return comments with the source and date for each figure. Every figure the paper may cite is already here with its 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Five Orange County tourism questions (ECA, Oct. 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Answered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Arrivals 2009-2026, origins, seasonality, visitor profile and hotel inventory, occupancy and ADR, each with source, period and the gaps that remain.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note-How it is calculated"/>
          <p:cNvSpPr/>
          <p:nvPr/>
        </p:nvSpPr>
        <p:spPr>
          <a:xfrm>
            <a:off x="7406640" y="1371600"/>
            <a:ext cx="4236415" cy="2011680"/>
          </a:xfrm>
          <a:prstGeom prst="rect">
            <a:avLst/>
          </a:prstGeom>
          <a:solidFill>
            <a:srgbClr val="F9F9F2"/>
          </a:solidFill>
          <a:ln w="9525">
            <a:solidFill>
              <a:srgbClr val="B4D9E3"/>
            </a:solidFill>
            <a:prstDash val="solid"/>
          </a:ln>
        </p:spPr>
      </p:sp>
      <p:sp>
        <p:nvSpPr>
          <p:cNvPr id="8" name="Text 4"/>
          <p:cNvSpPr txBox="1"/>
          <p:nvPr/>
        </p:nvSpPr>
        <p:spPr>
          <a:xfrm>
            <a:off x="7516368" y="144475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9" name="Text 5"/>
          <p:cNvSpPr txBox="1"/>
          <p:nvPr/>
        </p:nvSpPr>
        <p:spPr>
          <a:xfrm>
            <a:off x="7516368" y="1664208"/>
            <a:ext cx="4016959" cy="164592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request is listed with the date it was made, its status, the short answer and where to find the full answer and the source file.</a:t>
            </a:r>
            <a:endParaRPr lang="en-US" sz="900" dirty="0"/>
          </a:p>
        </p:txBody>
      </p:sp>
      <p:sp>
        <p:nvSpPr>
          <p:cNvPr id="10" name="note-Keep in mind"/>
          <p:cNvSpPr/>
          <p:nvPr/>
        </p:nvSpPr>
        <p:spPr>
          <a:xfrm>
            <a:off x="7406640" y="3520440"/>
            <a:ext cx="4236415" cy="1828800"/>
          </a:xfrm>
          <a:prstGeom prst="rect">
            <a:avLst/>
          </a:prstGeom>
          <a:solidFill>
            <a:srgbClr val="F9F9F2"/>
          </a:solidFill>
          <a:ln w="9525">
            <a:solidFill>
              <a:srgbClr val="B4D9E3"/>
            </a:solidFill>
            <a:prstDash val="solid"/>
          </a:ln>
        </p:spPr>
      </p:sp>
      <p:sp>
        <p:nvSpPr>
          <p:cNvPr id="11" name="Text 7"/>
          <p:cNvSpPr txBox="1"/>
          <p:nvPr/>
        </p:nvSpPr>
        <p:spPr>
          <a:xfrm>
            <a:off x="7516368" y="359359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2" name="Text 8"/>
          <p:cNvSpPr txBox="1"/>
          <p:nvPr/>
        </p:nvSpPr>
        <p:spPr>
          <a:xfrm>
            <a:off x="7516368" y="3813048"/>
            <a:ext cx="4016959" cy="14630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 white paper has not been shared with Visit Anaheim as of Oct. 19, 2026. County visitor counts for 2020 and 2026 year to date and a ZIP-level origin split are not published (see the Orange County tourism section for the solutions).</a:t>
            </a:r>
            <a:endParaRPr lang="en-US" sz="9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(Sept. 2026); library: te-travel-forecast-2026-09-q2-results.pdf; Tourism Economics, Economic Impact of Visitors 2025 (pub. Apr.-May 2026); all six reports and supplemental charts in the library; Visit Anaheim BI, Extra Night study and workbook (library); Tourism Economics 2025; Visit Anaheim BI (Oct. 19, 2026); See the Orange County tourism section and its five questions below. Files in the app library: Anaheim and Garden Grove Travel Forecast, Sept. 2026 (Q2 2026 results); Economic Impact of Visitors to Anaheim, 2025; Economic Impact of Visitors to Garden Grove, 2025; Economic Impact of Visitors to Orange County, 2025; One more night study (Extra Night Calculation); Annual Profile of Visitors to Anaheim and Orange County, 2019.</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will Visit Anaheim review OC Vibe's white paper?</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OC Vibe requests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When OC Vibe shares a draft, Visit Anaheim BI will check each visitor, spending, hotel, job and tax figure against the published source, note the source and date for each, flag any figure that mixes methods (for example, Tourism Economics and CIC Research visitor counts), and suggest current figures where a newer edition exists. No draft has been received as of Oct. 19, 2026.</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What BI checks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Every figure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Value, source, period and method; same-basis comparisons only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Figures ready to cite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In this app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Garden Grove and Orange County visitors, spending, jobs, taxes, hotels and seasonality, each with source and date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Turnaround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To be agreed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Set with OC Vibe when the draft arrives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note-How it is calculated"/>
          <p:cNvSpPr/>
          <p:nvPr/>
        </p:nvSpPr>
        <p:spPr>
          <a:xfrm>
            <a:off x="7406640" y="1371600"/>
            <a:ext cx="4236415" cy="2011680"/>
          </a:xfrm>
          <a:prstGeom prst="rect">
            <a:avLst/>
          </a:prstGeom>
          <a:solidFill>
            <a:srgbClr val="F9F9F2"/>
          </a:solidFill>
          <a:ln w="9525">
            <a:solidFill>
              <a:srgbClr val="B4D9E3"/>
            </a:solidFill>
            <a:prstDash val="solid"/>
          </a:ln>
        </p:spPr>
      </p:sp>
      <p:sp>
        <p:nvSpPr>
          <p:cNvPr id="8" name="Text 4"/>
          <p:cNvSpPr txBox="1"/>
          <p:nvPr/>
        </p:nvSpPr>
        <p:spPr>
          <a:xfrm>
            <a:off x="7516368" y="144475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9" name="Text 5"/>
          <p:cNvSpPr txBox="1"/>
          <p:nvPr/>
        </p:nvSpPr>
        <p:spPr>
          <a:xfrm>
            <a:off x="7516368" y="1664208"/>
            <a:ext cx="4016959" cy="164592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Figure-by-figure check against the original reports in the library.</a:t>
            </a:r>
            <a:endParaRPr lang="en-US" sz="900" dirty="0"/>
          </a:p>
        </p:txBody>
      </p:sp>
      <p:sp>
        <p:nvSpPr>
          <p:cNvPr id="10" name="note-Keep in mind"/>
          <p:cNvSpPr/>
          <p:nvPr/>
        </p:nvSpPr>
        <p:spPr>
          <a:xfrm>
            <a:off x="7406640" y="3520440"/>
            <a:ext cx="4236415" cy="1828800"/>
          </a:xfrm>
          <a:prstGeom prst="rect">
            <a:avLst/>
          </a:prstGeom>
          <a:solidFill>
            <a:srgbClr val="F9F9F2"/>
          </a:solidFill>
          <a:ln w="9525">
            <a:solidFill>
              <a:srgbClr val="B4D9E3"/>
            </a:solidFill>
            <a:prstDash val="solid"/>
          </a:ln>
        </p:spPr>
      </p:sp>
      <p:sp>
        <p:nvSpPr>
          <p:cNvPr id="11" name="Text 7"/>
          <p:cNvSpPr txBox="1"/>
          <p:nvPr/>
        </p:nvSpPr>
        <p:spPr>
          <a:xfrm>
            <a:off x="7516368" y="359359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2" name="Text 8"/>
          <p:cNvSpPr txBox="1"/>
          <p:nvPr/>
        </p:nvSpPr>
        <p:spPr>
          <a:xfrm>
            <a:off x="7516368" y="3813048"/>
            <a:ext cx="4016959" cy="14630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Review covers data accuracy and sourcing, not OC Vibe's positions or recommendations.</a:t>
            </a:r>
            <a:endParaRPr lang="en-US" sz="9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19, 2026); Reports and data library; Visit Anaheim BI. Files in the app library: Economic Impact of Visitors to Anaheim, 2025; Economic Impact of Visitors to Orange County, 2025; Anaheim and Garden Grove Travel Forecast, Sept. 2026 (Q2 2026 results); Annual Profile of Visitors to Anaheim and Orange County, 2019.</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many visitors come to Orange County, and how many stay overnight?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Orange County tourism statistics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Orange County drew </a:t>
            </a:r>
            <a:pPr indent="0" marL="0">
              <a:buNone/>
            </a:pPr>
            <a:r>
              <a:rPr lang="en-US" sz="1200" b="1" dirty="0">
                <a:solidFill>
                  <a:srgbClr val="125C60"/>
                </a:solidFill>
                <a:latin typeface="Proxima Nova" pitchFamily="34" charset="0"/>
                <a:ea typeface="Proxima Nova" pitchFamily="34" charset="-122"/>
                <a:cs typeface="Proxima Nova" pitchFamily="34" charset="-120"/>
              </a:rPr>
              <a:t>51.3M</a:t>
            </a:r>
            <a:pPr indent="0" marL="0">
              <a:buNone/>
            </a:pPr>
            <a:r>
              <a:rPr lang="en-US" sz="1200" dirty="0">
                <a:solidFill>
                  <a:srgbClr val="231F20"/>
                </a:solidFill>
                <a:latin typeface="Proxima Nova" pitchFamily="34" charset="0"/>
                <a:ea typeface="Proxima Nova" pitchFamily="34" charset="-122"/>
                <a:cs typeface="Proxima Nova" pitchFamily="34" charset="-120"/>
              </a:rPr>
              <a:t> visitors in 2025: </a:t>
            </a:r>
            <a:pPr indent="0" marL="0">
              <a:buNone/>
            </a:pPr>
            <a:r>
              <a:rPr lang="en-US" sz="1200" b="1" dirty="0">
                <a:solidFill>
                  <a:srgbClr val="125C60"/>
                </a:solidFill>
                <a:latin typeface="Proxima Nova" pitchFamily="34" charset="0"/>
                <a:ea typeface="Proxima Nova" pitchFamily="34" charset="-122"/>
                <a:cs typeface="Proxima Nova" pitchFamily="34" charset="-120"/>
              </a:rPr>
              <a:t>29.2M</a:t>
            </a:r>
            <a:pPr indent="0" marL="0">
              <a:buNone/>
            </a:pPr>
            <a:r>
              <a:rPr lang="en-US" sz="1200" dirty="0">
                <a:solidFill>
                  <a:srgbClr val="231F20"/>
                </a:solidFill>
                <a:latin typeface="Proxima Nova" pitchFamily="34" charset="0"/>
                <a:ea typeface="Proxima Nova" pitchFamily="34" charset="-122"/>
                <a:cs typeface="Proxima Nova" pitchFamily="34" charset="-120"/>
              </a:rPr>
              <a:t> day and </a:t>
            </a:r>
            <a:pPr indent="0" marL="0">
              <a:buNone/>
            </a:pPr>
            <a:r>
              <a:rPr lang="en-US" sz="1200" b="1" dirty="0">
                <a:solidFill>
                  <a:srgbClr val="125C60"/>
                </a:solidFill>
                <a:latin typeface="Proxima Nova" pitchFamily="34" charset="0"/>
                <a:ea typeface="Proxima Nova" pitchFamily="34" charset="-122"/>
                <a:cs typeface="Proxima Nova" pitchFamily="34" charset="-120"/>
              </a:rPr>
              <a:t>22.1M</a:t>
            </a:r>
            <a:pPr indent="0" marL="0">
              <a:buNone/>
            </a:pPr>
            <a:r>
              <a:rPr lang="en-US" sz="1200" dirty="0">
                <a:solidFill>
                  <a:srgbClr val="231F20"/>
                </a:solidFill>
                <a:latin typeface="Proxima Nova" pitchFamily="34" charset="0"/>
                <a:ea typeface="Proxima Nova" pitchFamily="34" charset="-122"/>
                <a:cs typeface="Proxima Nova" pitchFamily="34" charset="-120"/>
              </a:rPr>
              <a:t> overnight; </a:t>
            </a:r>
            <a:pPr indent="0" marL="0">
              <a:buNone/>
            </a:pPr>
            <a:r>
              <a:rPr lang="en-US" sz="1200" b="1" dirty="0">
                <a:solidFill>
                  <a:srgbClr val="125C60"/>
                </a:solidFill>
                <a:latin typeface="Proxima Nova" pitchFamily="34" charset="0"/>
                <a:ea typeface="Proxima Nova" pitchFamily="34" charset="-122"/>
                <a:cs typeface="Proxima Nova" pitchFamily="34" charset="-120"/>
              </a:rPr>
              <a:t>47.9M</a:t>
            </a:r>
            <a:pPr indent="0" marL="0">
              <a:buNone/>
            </a:pPr>
            <a:r>
              <a:rPr lang="en-US" sz="1200" dirty="0">
                <a:solidFill>
                  <a:srgbClr val="231F20"/>
                </a:solidFill>
                <a:latin typeface="Proxima Nova" pitchFamily="34" charset="0"/>
                <a:ea typeface="Proxima Nova" pitchFamily="34" charset="-122"/>
                <a:cs typeface="Proxima Nova" pitchFamily="34" charset="-120"/>
              </a:rPr>
              <a:t> domestic and </a:t>
            </a:r>
            <a:pPr indent="0" marL="0">
              <a:buNone/>
            </a:pPr>
            <a:r>
              <a:rPr lang="en-US" sz="1200" b="1" dirty="0">
                <a:solidFill>
                  <a:srgbClr val="125C60"/>
                </a:solidFill>
                <a:latin typeface="Proxima Nova" pitchFamily="34" charset="0"/>
                <a:ea typeface="Proxima Nova" pitchFamily="34" charset="-122"/>
                <a:cs typeface="Proxima Nova" pitchFamily="34" charset="-120"/>
              </a:rPr>
              <a:t>3.5M</a:t>
            </a:r>
            <a:pPr indent="0" marL="0">
              <a:buNone/>
            </a:pPr>
            <a:r>
              <a:rPr lang="en-US" sz="1200" dirty="0">
                <a:solidFill>
                  <a:srgbClr val="231F20"/>
                </a:solidFill>
                <a:latin typeface="Proxima Nova" pitchFamily="34" charset="0"/>
                <a:ea typeface="Proxima Nova" pitchFamily="34" charset="-122"/>
                <a:cs typeface="Proxima Nova" pitchFamily="34" charset="-120"/>
              </a:rPr>
              <a:t> international (Tourism Economics). CIC Research counted </a:t>
            </a:r>
            <a:pPr indent="0" marL="0">
              <a:buNone/>
            </a:pPr>
            <a:r>
              <a:rPr lang="en-US" sz="1200" b="1" dirty="0">
                <a:solidFill>
                  <a:srgbClr val="125C60"/>
                </a:solidFill>
                <a:latin typeface="Proxima Nova" pitchFamily="34" charset="0"/>
                <a:ea typeface="Proxima Nova" pitchFamily="34" charset="-122"/>
                <a:cs typeface="Proxima Nova" pitchFamily="34" charset="-120"/>
              </a:rPr>
              <a:t>50.21M</a:t>
            </a:r>
            <a:pPr indent="0" marL="0">
              <a:buNone/>
            </a:pPr>
            <a:r>
              <a:rPr lang="en-US" sz="1200" dirty="0">
                <a:solidFill>
                  <a:srgbClr val="231F20"/>
                </a:solidFill>
                <a:latin typeface="Proxima Nova" pitchFamily="34" charset="0"/>
                <a:ea typeface="Proxima Nova" pitchFamily="34" charset="-122"/>
                <a:cs typeface="Proxima Nova" pitchFamily="34" charset="-120"/>
              </a:rPr>
              <a:t> in 2019 with a different method. No 2026 year-to-date count is published for the county; Anaheim drew </a:t>
            </a:r>
            <a:pPr indent="0" marL="0">
              <a:buNone/>
            </a:pPr>
            <a:r>
              <a:rPr lang="en-US" sz="1200" b="1" dirty="0">
                <a:solidFill>
                  <a:srgbClr val="125C60"/>
                </a:solidFill>
                <a:latin typeface="Proxima Nova" pitchFamily="34" charset="0"/>
                <a:ea typeface="Proxima Nova" pitchFamily="34" charset="-122"/>
                <a:cs typeface="Proxima Nova" pitchFamily="34" charset="-120"/>
              </a:rPr>
              <a:t>13.1M</a:t>
            </a:r>
            <a:pPr indent="0" marL="0">
              <a:buNone/>
            </a:pPr>
            <a:r>
              <a:rPr lang="en-US" sz="1200" dirty="0">
                <a:solidFill>
                  <a:srgbClr val="231F20"/>
                </a:solidFill>
                <a:latin typeface="Proxima Nova" pitchFamily="34" charset="0"/>
                <a:ea typeface="Proxima Nova" pitchFamily="34" charset="-122"/>
                <a:cs typeface="Proxima Nova" pitchFamily="34" charset="-120"/>
              </a:rPr>
              <a:t> in Jan.-June 2026, </a:t>
            </a:r>
            <a:pPr indent="0" marL="0">
              <a:buNone/>
            </a:pPr>
            <a:r>
              <a:rPr lang="en-US" sz="1200" b="1" dirty="0">
                <a:solidFill>
                  <a:srgbClr val="125C60"/>
                </a:solidFill>
                <a:latin typeface="Proxima Nova" pitchFamily="34" charset="0"/>
                <a:ea typeface="Proxima Nova" pitchFamily="34" charset="-122"/>
                <a:cs typeface="Proxima Nova" pitchFamily="34" charset="-120"/>
              </a:rPr>
              <a:t>+3.1%</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51.3M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Day 29.2M + overnight 22.1M; domestic 47.9M (93.3%), international 3.5M (6.7%)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50.21M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Day 28.73M + overnight 21.48M; international 9.1% (4.6M)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2020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Not published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spending fell to $5.92B, 46.7% of 2019 (Dean Runyan Associates for 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Jan.-June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13.06M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Q1 6.32M + Q2 6.74M vs. 12.67M in Jan.-June 2025 (+3.1%)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271.4M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255.0M domestic, 16.4M international (2019: 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Orange County visitors, millions</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counts visitors who stay overnight or travel more than 50 miles. CIC Research estimated 2019 volume from visitor intercept surveys, a household panel and hotel data. Day + overnight = total.</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CIC (2009-2019) and Tourism Economics (2021-2025) use different methods; compare each series within itself. Tourism Economics has not published Orange County visitors for 2019-2020 or a 2026 year-to-date count; both are on the request list for Tourism Economics.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Dean Runyan Associates for Visit California, The Economic Impact of Travel in California, 2025p (Apr. 2026), Orange County detail; Tourism Economics, Anaheim and Garden Grove Travel Forecast (Sept. 2026); Tourism Economics for Visit California, California Travel Forecast data (Sept. 2026). Files in the app library: Economic Impact of Visitors to Orange County, 2025; Annual Profile of Visitors to Anaheim and Orange County, 2019; The Economic Impact of Travel in California, 2025p;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do Orange County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Orange County tourism statistics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More than half (</a:t>
            </a:r>
            <a:pPr indent="0" marL="0">
              <a:buNone/>
            </a:pPr>
            <a:r>
              <a:rPr lang="en-US" sz="1200" b="1" dirty="0">
                <a:solidFill>
                  <a:srgbClr val="125C60"/>
                </a:solidFill>
                <a:latin typeface="Proxima Nova" pitchFamily="34" charset="0"/>
                <a:ea typeface="Proxima Nova" pitchFamily="34" charset="-122"/>
                <a:cs typeface="Proxima Nova" pitchFamily="34" charset="-120"/>
              </a:rPr>
              <a:t>55.4%</a:t>
            </a:r>
            <a:pPr indent="0" marL="0">
              <a:buNone/>
            </a:pPr>
            <a:r>
              <a:rPr lang="en-US" sz="1200" dirty="0">
                <a:solidFill>
                  <a:srgbClr val="231F20"/>
                </a:solidFill>
                <a:latin typeface="Proxima Nova" pitchFamily="34" charset="0"/>
                <a:ea typeface="Proxima Nova" pitchFamily="34" charset="-122"/>
                <a:cs typeface="Proxima Nova" pitchFamily="34" charset="-120"/>
              </a:rPr>
              <a:t>) of Orange County visitors in 2019 lived in Southern California: Los Angeles metro </a:t>
            </a:r>
            <a:pPr indent="0" marL="0">
              <a:buNone/>
            </a:pPr>
            <a:r>
              <a:rPr lang="en-US" sz="1200" b="1" dirty="0">
                <a:solidFill>
                  <a:srgbClr val="125C60"/>
                </a:solidFill>
                <a:latin typeface="Proxima Nova" pitchFamily="34" charset="0"/>
                <a:ea typeface="Proxima Nova" pitchFamily="34" charset="-122"/>
                <a:cs typeface="Proxima Nova" pitchFamily="34" charset="-120"/>
              </a:rPr>
              <a:t>26%</a:t>
            </a:r>
            <a:pPr indent="0" marL="0">
              <a:buNone/>
            </a:pPr>
            <a:r>
              <a:rPr lang="en-US" sz="1200" dirty="0">
                <a:solidFill>
                  <a:srgbClr val="231F20"/>
                </a:solidFill>
                <a:latin typeface="Proxima Nova" pitchFamily="34" charset="0"/>
                <a:ea typeface="Proxima Nova" pitchFamily="34" charset="-122"/>
                <a:cs typeface="Proxima Nova" pitchFamily="34" charset="-120"/>
              </a:rPr>
              <a:t>, Riverside/San Bernardino </a:t>
            </a:r>
            <a:pPr indent="0" marL="0">
              <a:buNone/>
            </a:pPr>
            <a:r>
              <a:rPr lang="en-US" sz="1200" b="1" dirty="0">
                <a:solidFill>
                  <a:srgbClr val="125C60"/>
                </a:solidFill>
                <a:latin typeface="Proxima Nova" pitchFamily="34" charset="0"/>
                <a:ea typeface="Proxima Nova" pitchFamily="34" charset="-122"/>
                <a:cs typeface="Proxima Nova" pitchFamily="34" charset="-120"/>
              </a:rPr>
              <a:t>19%</a:t>
            </a:r>
            <a:pPr indent="0" marL="0">
              <a:buNone/>
            </a:pPr>
            <a:r>
              <a:rPr lang="en-US" sz="1200" dirty="0">
                <a:solidFill>
                  <a:srgbClr val="231F20"/>
                </a:solidFill>
                <a:latin typeface="Proxima Nova" pitchFamily="34" charset="0"/>
                <a:ea typeface="Proxima Nova" pitchFamily="34" charset="-122"/>
                <a:cs typeface="Proxima Nova" pitchFamily="34" charset="-120"/>
              </a:rPr>
              <a:t> and San Diego </a:t>
            </a:r>
            <a:pPr indent="0" marL="0">
              <a:buNone/>
            </a:pPr>
            <a:r>
              <a:rPr lang="en-US" sz="1200" b="1" dirty="0">
                <a:solidFill>
                  <a:srgbClr val="125C60"/>
                </a:solidFill>
                <a:latin typeface="Proxima Nova" pitchFamily="34" charset="0"/>
                <a:ea typeface="Proxima Nova" pitchFamily="34" charset="-122"/>
                <a:cs typeface="Proxima Nova" pitchFamily="34" charset="-120"/>
              </a:rPr>
              <a:t>6%</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9.1%</a:t>
            </a:r>
            <a:pPr indent="0" marL="0">
              <a:buNone/>
            </a:pPr>
            <a:r>
              <a:rPr lang="en-US" sz="1200" dirty="0">
                <a:solidFill>
                  <a:srgbClr val="231F20"/>
                </a:solidFill>
                <a:latin typeface="Proxima Nova" pitchFamily="34" charset="0"/>
                <a:ea typeface="Proxima Nova" pitchFamily="34" charset="-122"/>
                <a:cs typeface="Proxima Nova" pitchFamily="34" charset="-120"/>
              </a:rPr>
              <a:t> were international (CIC). Location data for Anaheim and Garden Grove (Jan. 2023-Aug. 2026) shows </a:t>
            </a:r>
            <a:pPr indent="0" marL="0">
              <a:buNone/>
            </a:pPr>
            <a:r>
              <a:rPr lang="en-US" sz="1200" b="1" dirty="0">
                <a:solidFill>
                  <a:srgbClr val="125C60"/>
                </a:solidFill>
                <a:latin typeface="Proxima Nova" pitchFamily="34" charset="0"/>
                <a:ea typeface="Proxima Nova" pitchFamily="34" charset="-122"/>
                <a:cs typeface="Proxima Nova" pitchFamily="34" charset="-120"/>
              </a:rPr>
              <a:t>44.7%</a:t>
            </a:r>
            <a:pPr indent="0" marL="0">
              <a:buNone/>
            </a:pPr>
            <a:r>
              <a:rPr lang="en-US" sz="1200" dirty="0">
                <a:solidFill>
                  <a:srgbClr val="231F20"/>
                </a:solidFill>
                <a:latin typeface="Proxima Nova" pitchFamily="34" charset="0"/>
                <a:ea typeface="Proxima Nova" pitchFamily="34" charset="-122"/>
                <a:cs typeface="Proxima Nova" pitchFamily="34" charset="-120"/>
              </a:rPr>
              <a:t> of domestic trips from the Los Angeles-Long Beach-Anaheim metro area, which includes Orange County.</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55.4% Southern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Los Angeles 26%, Riverside/San Bernardino 19%, San Diego 6%; international 9.1% (Mexico 848K, Canada 786K)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44.7% Los Angeles-Long Beach-Anaheim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Riverside-San Bernardino-Ontario 26.1%, San Diego 4.1%, Phoenix 2.3% (share of domestic trips)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 international,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Mexico 766K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Canada 254K, U.K. 123K, Australia 104K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domestic trips by home metro area, Anaheim and Garden Grove</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CIC: visitor survey, share of all visitors. Azira: mobile location data, share of domestic trips to Anaheim and Garden Grove by home metro area.</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 Los Angeles-Long Beach-Anaheim metro area includes all of Orange County. Azira does not provide ZIP codes, so it cannot be split into Anaheim and outside Anaheim.</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Symphony | Tourism Economics (Azira), Anaheim and Garden Grove, Jan. 1, 2023-Aug. 31, 2026 (pulled Oct. 19, 2026); Tourism Economics, Travel Forecast (Sept. 2026). Files in the app library: Annual Profile of Visitors to Anaheim and Orange County, 2019; Azira origin share by metro area (MSA), Anaheim and Garden Grove; Azira origin share by TV market (DMA), Anaheim and Garden Grove;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is Orange County busiest?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Orange County tourism statistics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July. Orange County hotels averaged </a:t>
            </a:r>
            <a:pPr indent="0" marL="0">
              <a:buNone/>
            </a:pPr>
            <a:r>
              <a:rPr lang="en-US" sz="1200" b="1" dirty="0">
                <a:solidFill>
                  <a:srgbClr val="125C60"/>
                </a:solidFill>
                <a:latin typeface="Proxima Nova" pitchFamily="34" charset="0"/>
                <a:ea typeface="Proxima Nova" pitchFamily="34" charset="-122"/>
                <a:cs typeface="Proxima Nova" pitchFamily="34" charset="-120"/>
              </a:rPr>
              <a:t>80.6%</a:t>
            </a:r>
            <a:pPr indent="0" marL="0">
              <a:buNone/>
            </a:pPr>
            <a:r>
              <a:rPr lang="en-US" sz="1200" dirty="0">
                <a:solidFill>
                  <a:srgbClr val="231F20"/>
                </a:solidFill>
                <a:latin typeface="Proxima Nova" pitchFamily="34" charset="0"/>
                <a:ea typeface="Proxima Nova" pitchFamily="34" charset="-122"/>
                <a:cs typeface="Proxima Nova" pitchFamily="34" charset="-120"/>
              </a:rPr>
              <a:t> occupancy in July across 2023-2025 vs. </a:t>
            </a:r>
            <a:pPr indent="0" marL="0">
              <a:buNone/>
            </a:pPr>
            <a:r>
              <a:rPr lang="en-US" sz="1200" b="1" dirty="0">
                <a:solidFill>
                  <a:srgbClr val="125C60"/>
                </a:solidFill>
                <a:latin typeface="Proxima Nova" pitchFamily="34" charset="0"/>
                <a:ea typeface="Proxima Nova" pitchFamily="34" charset="-122"/>
                <a:cs typeface="Proxima Nova" pitchFamily="34" charset="-120"/>
              </a:rPr>
              <a:t>61.2%</a:t>
            </a:r>
            <a:pPr indent="0" marL="0">
              <a:buNone/>
            </a:pPr>
            <a:r>
              <a:rPr lang="en-US" sz="1200" dirty="0">
                <a:solidFill>
                  <a:srgbClr val="231F20"/>
                </a:solidFill>
                <a:latin typeface="Proxima Nova" pitchFamily="34" charset="0"/>
                <a:ea typeface="Proxima Nova" pitchFamily="34" charset="-122"/>
                <a:cs typeface="Proxima Nova" pitchFamily="34" charset="-120"/>
              </a:rPr>
              <a:t> in January, the low month (CoStar). In 2026, July reached </a:t>
            </a:r>
            <a:pPr indent="0" marL="0">
              <a:buNone/>
            </a:pPr>
            <a:r>
              <a:rPr lang="en-US" sz="1200" b="1" dirty="0">
                <a:solidFill>
                  <a:srgbClr val="125C60"/>
                </a:solidFill>
                <a:latin typeface="Proxima Nova" pitchFamily="34" charset="0"/>
                <a:ea typeface="Proxima Nova" pitchFamily="34" charset="-122"/>
                <a:cs typeface="Proxima Nova" pitchFamily="34" charset="-120"/>
              </a:rPr>
              <a:t>82.6%</a:t>
            </a:r>
            <a:pPr indent="0" marL="0">
              <a:buNone/>
            </a:pPr>
            <a:r>
              <a:rPr lang="en-US" sz="1200" dirty="0">
                <a:solidFill>
                  <a:srgbClr val="231F20"/>
                </a:solidFill>
                <a:latin typeface="Proxima Nova" pitchFamily="34" charset="0"/>
                <a:ea typeface="Proxima Nova" pitchFamily="34" charset="-122"/>
                <a:cs typeface="Proxima Nova" pitchFamily="34" charset="-120"/>
              </a:rPr>
              <a:t>. Monthly visitor counts are not published for the county, so hotel occupancy is the monthly measure.</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hotels, July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80.6%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Average of 2023 80.7%, 2024 80.0%, 2025 81.2%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hotels, January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61.2%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Average of 2023 58.4%, 2024 61.7%, 2025 63.6%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hotels, June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76.4%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Second-highest month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Orange County hotel occupancy by month, 2023-2025 average</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Average of the three most recent full years: (2023 + 2024 + 2025) / 3 for each month.</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Hotel occupancy measures overnight guests only; day visitors (</a:t>
            </a:r>
            <a:pPr indent="0" marL="0">
              <a:buNone/>
            </a:pPr>
            <a:r>
              <a:rPr lang="en-US" sz="900" b="1" dirty="0">
                <a:solidFill>
                  <a:srgbClr val="125C60"/>
                </a:solidFill>
                <a:latin typeface="Proxima Nova" pitchFamily="34" charset="0"/>
                <a:ea typeface="Proxima Nova" pitchFamily="34" charset="-122"/>
                <a:cs typeface="Proxima Nova" pitchFamily="34" charset="-120"/>
              </a:rPr>
              <a:t>57%</a:t>
            </a:r>
            <a:pPr indent="0" marL="0">
              <a:buNone/>
            </a:pPr>
            <a:r>
              <a:rPr lang="en-US" sz="900" dirty="0">
                <a:solidFill>
                  <a:srgbClr val="231F20"/>
                </a:solidFill>
                <a:latin typeface="Proxima Nova" pitchFamily="34" charset="0"/>
                <a:ea typeface="Proxima Nova" pitchFamily="34" charset="-122"/>
                <a:cs typeface="Proxima Nova" pitchFamily="34" charset="-120"/>
              </a:rPr>
              <a:t> of county visitors in 2025) are not in it.</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 Files in the app library: Orange County hospitality market report; State and Regional Lodging Forecast,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Why do people visit Orange County, and who travels with them?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Orange County tourism statistics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In 2019, </a:t>
            </a:r>
            <a:pPr indent="0" marL="0">
              <a:buNone/>
            </a:pPr>
            <a:r>
              <a:rPr lang="en-US" sz="1200" b="1" dirty="0">
                <a:solidFill>
                  <a:srgbClr val="125C60"/>
                </a:solidFill>
                <a:latin typeface="Proxima Nova" pitchFamily="34" charset="0"/>
                <a:ea typeface="Proxima Nova" pitchFamily="34" charset="-122"/>
                <a:cs typeface="Proxima Nova" pitchFamily="34" charset="-120"/>
              </a:rPr>
              <a:t>81.2%</a:t>
            </a:r>
            <a:pPr indent="0" marL="0">
              <a:buNone/>
            </a:pPr>
            <a:r>
              <a:rPr lang="en-US" sz="1200" dirty="0">
                <a:solidFill>
                  <a:srgbClr val="231F20"/>
                </a:solidFill>
                <a:latin typeface="Proxima Nova" pitchFamily="34" charset="0"/>
                <a:ea typeface="Proxima Nova" pitchFamily="34" charset="-122"/>
                <a:cs typeface="Proxima Nova" pitchFamily="34" charset="-120"/>
              </a:rPr>
              <a:t> of Orange County visitors came for pleasure or to see friends and relatives, </a:t>
            </a:r>
            <a:pPr indent="0" marL="0">
              <a:buNone/>
            </a:pPr>
            <a:r>
              <a:rPr lang="en-US" sz="1200" b="1" dirty="0">
                <a:solidFill>
                  <a:srgbClr val="125C60"/>
                </a:solidFill>
                <a:latin typeface="Proxima Nova" pitchFamily="34" charset="0"/>
                <a:ea typeface="Proxima Nova" pitchFamily="34" charset="-122"/>
                <a:cs typeface="Proxima Nova" pitchFamily="34" charset="-120"/>
              </a:rPr>
              <a:t>9.6%</a:t>
            </a:r>
            <a:pPr indent="0" marL="0">
              <a:buNone/>
            </a:pPr>
            <a:r>
              <a:rPr lang="en-US" sz="1200" dirty="0">
                <a:solidFill>
                  <a:srgbClr val="231F20"/>
                </a:solidFill>
                <a:latin typeface="Proxima Nova" pitchFamily="34" charset="0"/>
                <a:ea typeface="Proxima Nova" pitchFamily="34" charset="-122"/>
                <a:cs typeface="Proxima Nova" pitchFamily="34" charset="-120"/>
              </a:rPr>
              <a:t> for business or conventions and </a:t>
            </a:r>
            <a:pPr indent="0" marL="0">
              <a:buNone/>
            </a:pPr>
            <a:r>
              <a:rPr lang="en-US" sz="1200" b="1" dirty="0">
                <a:solidFill>
                  <a:srgbClr val="125C60"/>
                </a:solidFill>
                <a:latin typeface="Proxima Nova" pitchFamily="34" charset="0"/>
                <a:ea typeface="Proxima Nova" pitchFamily="34" charset="-122"/>
                <a:cs typeface="Proxima Nova" pitchFamily="34" charset="-120"/>
              </a:rPr>
              <a:t>7.6%</a:t>
            </a:r>
            <a:pPr indent="0" marL="0">
              <a:buNone/>
            </a:pPr>
            <a:r>
              <a:rPr lang="en-US" sz="1200" dirty="0">
                <a:solidFill>
                  <a:srgbClr val="231F20"/>
                </a:solidFill>
                <a:latin typeface="Proxima Nova" pitchFamily="34" charset="0"/>
                <a:ea typeface="Proxima Nova" pitchFamily="34" charset="-122"/>
                <a:cs typeface="Proxima Nova" pitchFamily="34" charset="-120"/>
              </a:rPr>
              <a:t> for special events. The average travel party was </a:t>
            </a:r>
            <a:pPr indent="0" marL="0">
              <a:buNone/>
            </a:pPr>
            <a:r>
              <a:rPr lang="en-US" sz="1200" b="1" dirty="0">
                <a:solidFill>
                  <a:srgbClr val="125C60"/>
                </a:solidFill>
                <a:latin typeface="Proxima Nova" pitchFamily="34" charset="0"/>
                <a:ea typeface="Proxima Nova" pitchFamily="34" charset="-122"/>
                <a:cs typeface="Proxima Nova" pitchFamily="34" charset="-120"/>
              </a:rPr>
              <a:t>2.8</a:t>
            </a:r>
            <a:pPr indent="0" marL="0">
              <a:buNone/>
            </a:pPr>
            <a:r>
              <a:rPr lang="en-US" sz="1200" dirty="0">
                <a:solidFill>
                  <a:srgbClr val="231F20"/>
                </a:solidFill>
                <a:latin typeface="Proxima Nova" pitchFamily="34" charset="0"/>
                <a:ea typeface="Proxima Nova" pitchFamily="34" charset="-122"/>
                <a:cs typeface="Proxima Nova" pitchFamily="34" charset="-120"/>
              </a:rPr>
              <a:t> people, </a:t>
            </a:r>
            <a:pPr indent="0" marL="0">
              <a:buNone/>
            </a:pPr>
            <a:r>
              <a:rPr lang="en-US" sz="1200" b="1" dirty="0">
                <a:solidFill>
                  <a:srgbClr val="125C60"/>
                </a:solidFill>
                <a:latin typeface="Proxima Nova" pitchFamily="34" charset="0"/>
                <a:ea typeface="Proxima Nova" pitchFamily="34" charset="-122"/>
                <a:cs typeface="Proxima Nova" pitchFamily="34" charset="-120"/>
              </a:rPr>
              <a:t>37.0%</a:t>
            </a:r>
            <a:pPr indent="0" marL="0">
              <a:buNone/>
            </a:pPr>
            <a:r>
              <a:rPr lang="en-US" sz="1200" dirty="0">
                <a:solidFill>
                  <a:srgbClr val="231F20"/>
                </a:solidFill>
                <a:latin typeface="Proxima Nova" pitchFamily="34" charset="0"/>
                <a:ea typeface="Proxima Nova" pitchFamily="34" charset="-122"/>
                <a:cs typeface="Proxima Nova" pitchFamily="34" charset="-120"/>
              </a:rPr>
              <a:t> had children with them, and overnight visitors stayed </a:t>
            </a:r>
            <a:pPr indent="0" marL="0">
              <a:buNone/>
            </a:pPr>
            <a:r>
              <a:rPr lang="en-US" sz="1200" b="1" dirty="0">
                <a:solidFill>
                  <a:srgbClr val="125C60"/>
                </a:solidFill>
                <a:latin typeface="Proxima Nova" pitchFamily="34" charset="0"/>
                <a:ea typeface="Proxima Nova" pitchFamily="34" charset="-122"/>
                <a:cs typeface="Proxima Nova" pitchFamily="34" charset="-120"/>
              </a:rPr>
              <a:t>4.2 nights</a:t>
            </a:r>
            <a:pPr indent="0" marL="0">
              <a:buNone/>
            </a:pPr>
            <a:r>
              <a:rPr lang="en-US" sz="1200" dirty="0">
                <a:solidFill>
                  <a:srgbClr val="231F20"/>
                </a:solidFill>
                <a:latin typeface="Proxima Nova" pitchFamily="34" charset="0"/>
                <a:ea typeface="Proxima Nova" pitchFamily="34" charset="-122"/>
                <a:cs typeface="Proxima Nova" pitchFamily="34" charset="-120"/>
              </a:rPr>
              <a:t> (CIC). It is the latest county visitor profile.</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all visitors,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Party of 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37.0% with children; 81.2% pleasure or VFR; 1.8 nights average (day visitors count as 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hotel guests,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Party of 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28.7% with children; 29.0% business or convention; 3.8 nights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all visitors,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Party of 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42.0% with children; 78.3% pleasure or VFR; 9.7% special events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1.28-1.46 days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Average length of stay by month, Jan.-Aug. 2026; international 4.99 days (2023-2026)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Main purpose of trip, Orange County visitors, 2019</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CIC Research surveyed </a:t>
            </a:r>
            <a:pPr indent="0" marL="0">
              <a:buNone/>
            </a:pPr>
            <a:r>
              <a:rPr lang="en-US" sz="900" b="1" dirty="0">
                <a:solidFill>
                  <a:srgbClr val="125C60"/>
                </a:solidFill>
                <a:latin typeface="Proxima Nova" pitchFamily="34" charset="0"/>
                <a:ea typeface="Proxima Nova" pitchFamily="34" charset="-122"/>
                <a:cs typeface="Proxima Nova" pitchFamily="34" charset="-120"/>
              </a:rPr>
              <a:t>4,040</a:t>
            </a:r>
            <a:pPr indent="0" marL="0">
              <a:buNone/>
            </a:pPr>
            <a:r>
              <a:rPr lang="en-US" sz="900" dirty="0">
                <a:solidFill>
                  <a:srgbClr val="231F20"/>
                </a:solidFill>
                <a:latin typeface="Proxima Nova" pitchFamily="34" charset="0"/>
                <a:ea typeface="Proxima Nova" pitchFamily="34" charset="-122"/>
                <a:cs typeface="Proxima Nova" pitchFamily="34" charset="-120"/>
              </a:rPr>
              <a:t> visitor groups in 2019 (</a:t>
            </a:r>
            <a:pPr indent="0" marL="0">
              <a:buNone/>
            </a:pPr>
            <a:r>
              <a:rPr lang="en-US" sz="900" b="1" dirty="0">
                <a:solidFill>
                  <a:srgbClr val="125C60"/>
                </a:solidFill>
                <a:latin typeface="Proxima Nova" pitchFamily="34" charset="0"/>
                <a:ea typeface="Proxima Nova" pitchFamily="34" charset="-122"/>
                <a:cs typeface="Proxima Nova" pitchFamily="34" charset="-120"/>
              </a:rPr>
              <a:t>2,686</a:t>
            </a:r>
            <a:pPr indent="0" marL="0">
              <a:buNone/>
            </a:pPr>
            <a:r>
              <a:rPr lang="en-US" sz="900" dirty="0">
                <a:solidFill>
                  <a:srgbClr val="231F20"/>
                </a:solidFill>
                <a:latin typeface="Proxima Nova" pitchFamily="34" charset="0"/>
                <a:ea typeface="Proxima Nova" pitchFamily="34" charset="-122"/>
                <a:cs typeface="Proxima Nova" pitchFamily="34" charset="-120"/>
              </a:rPr>
              <a:t> intercepts at 36 Orange County locations plus a panel of </a:t>
            </a:r>
            <a:pPr indent="0" marL="0">
              <a:buNone/>
            </a:pPr>
            <a:r>
              <a:rPr lang="en-US" sz="900" b="1" dirty="0">
                <a:solidFill>
                  <a:srgbClr val="125C60"/>
                </a:solidFill>
                <a:latin typeface="Proxima Nova" pitchFamily="34" charset="0"/>
                <a:ea typeface="Proxima Nova" pitchFamily="34" charset="-122"/>
                <a:cs typeface="Proxima Nova" pitchFamily="34" charset="-120"/>
              </a:rPr>
              <a:t>2,087</a:t>
            </a:r>
            <a:pPr indent="0" marL="0">
              <a:buNone/>
            </a:pPr>
            <a:r>
              <a:rPr lang="en-US" sz="900" dirty="0">
                <a:solidFill>
                  <a:srgbClr val="231F20"/>
                </a:solidFill>
                <a:latin typeface="Proxima Nova" pitchFamily="34" charset="0"/>
                <a:ea typeface="Proxima Nova" pitchFamily="34" charset="-122"/>
                <a:cs typeface="Proxima Nova" pitchFamily="34" charset="-120"/>
              </a:rPr>
              <a:t> households).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 2019 profile predates the pandemic; no newer Orange County visitor survey was found (SharePoint and Visit California sources searched Oct. 19, 2026). A new survey would update purpose, party size and children.</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Symphony | Tourism Economics (Azira), Anaheim and Garden Grove, Jan. 1, 2023-Aug. 31, 2026 (pulled Oct. 19, 2026). Files in the app library: Annual Profile of Visitors to Anaheim and Orange County, 2019; Azira length of stay trend, Anaheim and Garden Grove; Azira international average length of stay, Anaheim and Garden Grove; Monthly Travel Indicators,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many hotel rooms does Orange County have, and how full are they?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Orange County tourism statistics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Orange County had </a:t>
            </a:r>
            <a:pPr indent="0" marL="0">
              <a:buNone/>
            </a:pPr>
            <a:r>
              <a:rPr lang="en-US" sz="1200" b="1" dirty="0">
                <a:solidFill>
                  <a:srgbClr val="125C60"/>
                </a:solidFill>
                <a:latin typeface="Proxima Nova" pitchFamily="34" charset="0"/>
                <a:ea typeface="Proxima Nova" pitchFamily="34" charset="-122"/>
                <a:cs typeface="Proxima Nova" pitchFamily="34" charset="-120"/>
              </a:rPr>
              <a:t>60,224</a:t>
            </a:r>
            <a:pPr indent="0" marL="0">
              <a:buNone/>
            </a:pPr>
            <a:r>
              <a:rPr lang="en-US" sz="1200" dirty="0">
                <a:solidFill>
                  <a:srgbClr val="231F20"/>
                </a:solidFill>
                <a:latin typeface="Proxima Nova" pitchFamily="34" charset="0"/>
                <a:ea typeface="Proxima Nova" pitchFamily="34" charset="-122"/>
                <a:cs typeface="Proxima Nova" pitchFamily="34" charset="-120"/>
              </a:rPr>
              <a:t> hotel rooms in Sept. 2026. Hotels filled </a:t>
            </a:r>
            <a:pPr indent="0" marL="0">
              <a:buNone/>
            </a:pPr>
            <a:r>
              <a:rPr lang="en-US" sz="1200" b="1" dirty="0">
                <a:solidFill>
                  <a:srgbClr val="125C60"/>
                </a:solidFill>
                <a:latin typeface="Proxima Nova" pitchFamily="34" charset="0"/>
                <a:ea typeface="Proxima Nova" pitchFamily="34" charset="-122"/>
                <a:cs typeface="Proxima Nova" pitchFamily="34" charset="-120"/>
              </a:rPr>
              <a:t>75.2%</a:t>
            </a:r>
            <a:pPr indent="0" marL="0">
              <a:buNone/>
            </a:pPr>
            <a:r>
              <a:rPr lang="en-US" sz="1200" dirty="0">
                <a:solidFill>
                  <a:srgbClr val="231F20"/>
                </a:solidFill>
                <a:latin typeface="Proxima Nova" pitchFamily="34" charset="0"/>
                <a:ea typeface="Proxima Nova" pitchFamily="34" charset="-122"/>
                <a:cs typeface="Proxima Nova" pitchFamily="34" charset="-120"/>
              </a:rPr>
              <a:t> of rooms at </a:t>
            </a:r>
            <a:pPr indent="0" marL="0">
              <a:buNone/>
            </a:pPr>
            <a:r>
              <a:rPr lang="en-US" sz="1200" b="1" dirty="0">
                <a:solidFill>
                  <a:srgbClr val="125C60"/>
                </a:solidFill>
                <a:latin typeface="Proxima Nova" pitchFamily="34" charset="0"/>
                <a:ea typeface="Proxima Nova" pitchFamily="34" charset="-122"/>
                <a:cs typeface="Proxima Nova" pitchFamily="34" charset="-120"/>
              </a:rPr>
              <a:t>$221.67</a:t>
            </a:r>
            <a:pPr indent="0" marL="0">
              <a:buNone/>
            </a:pPr>
            <a:r>
              <a:rPr lang="en-US" sz="1200" dirty="0">
                <a:solidFill>
                  <a:srgbClr val="231F20"/>
                </a:solidFill>
                <a:latin typeface="Proxima Nova" pitchFamily="34" charset="0"/>
                <a:ea typeface="Proxima Nova" pitchFamily="34" charset="-122"/>
                <a:cs typeface="Proxima Nova" pitchFamily="34" charset="-120"/>
              </a:rPr>
              <a:t> a night in Jan.-Aug. 2026, up from </a:t>
            </a:r>
            <a:pPr indent="0" marL="0">
              <a:buNone/>
            </a:pPr>
            <a:r>
              <a:rPr lang="en-US" sz="1200" b="1" dirty="0">
                <a:solidFill>
                  <a:srgbClr val="125C60"/>
                </a:solidFill>
                <a:latin typeface="Proxima Nova" pitchFamily="34" charset="0"/>
                <a:ea typeface="Proxima Nova" pitchFamily="34" charset="-122"/>
                <a:cs typeface="Proxima Nova" pitchFamily="34" charset="-120"/>
              </a:rPr>
              <a:t>72.3%</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$209.68</a:t>
            </a:r>
            <a:pPr indent="0" marL="0">
              <a:buNone/>
            </a:pPr>
            <a:r>
              <a:rPr lang="en-US" sz="1200" dirty="0">
                <a:solidFill>
                  <a:srgbClr val="231F20"/>
                </a:solidFill>
                <a:latin typeface="Proxima Nova" pitchFamily="34" charset="0"/>
                <a:ea typeface="Proxima Nova" pitchFamily="34" charset="-122"/>
                <a:cs typeface="Proxima Nova" pitchFamily="34" charset="-120"/>
              </a:rPr>
              <a:t> in 2025 and </a:t>
            </a:r>
            <a:pPr indent="0" marL="0">
              <a:buNone/>
            </a:pPr>
            <a:r>
              <a:rPr lang="en-US" sz="1200" b="1" dirty="0">
                <a:solidFill>
                  <a:srgbClr val="125C60"/>
                </a:solidFill>
                <a:latin typeface="Proxima Nova" pitchFamily="34" charset="0"/>
                <a:ea typeface="Proxima Nova" pitchFamily="34" charset="-122"/>
                <a:cs typeface="Proxima Nova" pitchFamily="34" charset="-120"/>
              </a:rPr>
              <a:t>77.4%</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$165.36</a:t>
            </a:r>
            <a:pPr indent="0" marL="0">
              <a:buNone/>
            </a:pPr>
            <a:r>
              <a:rPr lang="en-US" sz="1200" dirty="0">
                <a:solidFill>
                  <a:srgbClr val="231F20"/>
                </a:solidFill>
                <a:latin typeface="Proxima Nova" pitchFamily="34" charset="0"/>
                <a:ea typeface="Proxima Nova" pitchFamily="34" charset="-122"/>
                <a:cs typeface="Proxima Nova" pitchFamily="34" charset="-120"/>
              </a:rPr>
              <a:t> in 2019 (CoStar).</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2026 YTD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75.2% · $221.67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Revenue per available room $166.70 (75.2% x $221.67)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72.3% · $209.68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60,547 rooms available a night on average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77.4% · $165.36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58,633 rooms available a night on average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2026 forecast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75.9% · $221.61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Tourism Economics lodging forecast for Visit California (CoStar basis)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Orange County hotel occupancy</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Rooms available a night = annual available room nights / days in the year. Revenue per available room = occupancy x ADR.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CoStar data is licensed; summary figures are shared, raw exports are not.</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 Tourism Economics for Visit California, State and Regional Lodging Forecast (Sept. 2026; CoStar data). Files in the app library: Orange County hospitality market report; Disneyland hospitality submarket report; State and Regional Lodging Forecast,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Is visitor spending growing?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Yes. Anaheim visitor spending rose </a:t>
            </a:r>
            <a:pPr indent="0" marL="0">
              <a:buNone/>
            </a:pPr>
            <a:r>
              <a:rPr lang="en-US" sz="1200" b="1" dirty="0">
                <a:solidFill>
                  <a:srgbClr val="125C60"/>
                </a:solidFill>
                <a:latin typeface="Proxima Nova" pitchFamily="34" charset="0"/>
                <a:ea typeface="Proxima Nova" pitchFamily="34" charset="-122"/>
                <a:cs typeface="Proxima Nova" pitchFamily="34" charset="-120"/>
              </a:rPr>
              <a:t>3.1%</a:t>
            </a:r>
            <a:pPr indent="0" marL="0">
              <a:buNone/>
            </a:pPr>
            <a:r>
              <a:rPr lang="en-US" sz="1200" dirty="0">
                <a:solidFill>
                  <a:srgbClr val="231F20"/>
                </a:solidFill>
                <a:latin typeface="Proxima Nova" pitchFamily="34" charset="0"/>
                <a:ea typeface="Proxima Nova" pitchFamily="34" charset="-122"/>
                <a:cs typeface="Proxima Nova" pitchFamily="34" charset="-120"/>
              </a:rPr>
              <a:t> in 2025 and </a:t>
            </a:r>
            <a:pPr indent="0" marL="0">
              <a:buNone/>
            </a:pPr>
            <a:r>
              <a:rPr lang="en-US" sz="1200" b="1" dirty="0">
                <a:solidFill>
                  <a:srgbClr val="125C60"/>
                </a:solidFill>
                <a:latin typeface="Proxima Nova" pitchFamily="34" charset="0"/>
                <a:ea typeface="Proxima Nova" pitchFamily="34" charset="-122"/>
                <a:cs typeface="Proxima Nova" pitchFamily="34" charset="-120"/>
              </a:rPr>
              <a:t>7.8%</a:t>
            </a:r>
            <a:pPr indent="0" marL="0">
              <a:buNone/>
            </a:pPr>
            <a:r>
              <a:rPr lang="en-US" sz="1200" dirty="0">
                <a:solidFill>
                  <a:srgbClr val="231F20"/>
                </a:solidFill>
                <a:latin typeface="Proxima Nova" pitchFamily="34" charset="0"/>
                <a:ea typeface="Proxima Nova" pitchFamily="34" charset="-122"/>
                <a:cs typeface="Proxima Nova" pitchFamily="34" charset="-120"/>
              </a:rPr>
              <a:t> in Q2 2026. Orange County grew </a:t>
            </a:r>
            <a:pPr indent="0" marL="0">
              <a:buNone/>
            </a:pPr>
            <a:r>
              <a:rPr lang="en-US" sz="1200" b="1" dirty="0">
                <a:solidFill>
                  <a:srgbClr val="125C60"/>
                </a:solidFill>
                <a:latin typeface="Proxima Nova" pitchFamily="34" charset="0"/>
                <a:ea typeface="Proxima Nova" pitchFamily="34" charset="-122"/>
                <a:cs typeface="Proxima Nova" pitchFamily="34" charset="-120"/>
              </a:rPr>
              <a:t>3.4%</a:t>
            </a:r>
            <a:pPr indent="0" marL="0">
              <a:buNone/>
            </a:pPr>
            <a:r>
              <a:rPr lang="en-US" sz="1200" dirty="0">
                <a:solidFill>
                  <a:srgbClr val="231F20"/>
                </a:solidFill>
                <a:latin typeface="Proxima Nova" pitchFamily="34" charset="0"/>
                <a:ea typeface="Proxima Nova" pitchFamily="34" charset="-122"/>
                <a:cs typeface="Proxima Nova" pitchFamily="34" charset="-120"/>
              </a:rPr>
              <a:t>, California </a:t>
            </a:r>
            <a:pPr indent="0" marL="0">
              <a:buNone/>
            </a:pPr>
            <a:r>
              <a:rPr lang="en-US" sz="1200" b="1" dirty="0">
                <a:solidFill>
                  <a:srgbClr val="125C60"/>
                </a:solidFill>
                <a:latin typeface="Proxima Nova" pitchFamily="34" charset="0"/>
                <a:ea typeface="Proxima Nova" pitchFamily="34" charset="-122"/>
                <a:cs typeface="Proxima Nova" pitchFamily="34" charset="-120"/>
              </a:rPr>
              <a:t>1.7%</a:t>
            </a:r>
            <a:pPr indent="0" marL="0">
              <a:buNone/>
            </a:pPr>
            <a:r>
              <a:rPr lang="en-US" sz="1200" dirty="0">
                <a:solidFill>
                  <a:srgbClr val="231F20"/>
                </a:solidFill>
                <a:latin typeface="Proxima Nova" pitchFamily="34" charset="0"/>
                <a:ea typeface="Proxima Nova" pitchFamily="34" charset="-122"/>
                <a:cs typeface="Proxima Nova" pitchFamily="34" charset="-120"/>
              </a:rPr>
              <a:t> and the U.S. </a:t>
            </a:r>
            <a:pPr indent="0" marL="0">
              <a:buNone/>
            </a:pPr>
            <a:r>
              <a:rPr lang="en-US" sz="1200" b="1" dirty="0">
                <a:solidFill>
                  <a:srgbClr val="125C60"/>
                </a:solidFill>
                <a:latin typeface="Proxima Nova" pitchFamily="34" charset="0"/>
                <a:ea typeface="Proxima Nova" pitchFamily="34" charset="-122"/>
                <a:cs typeface="Proxima Nova" pitchFamily="34" charset="-120"/>
              </a:rPr>
              <a:t>1.4%</a:t>
            </a:r>
            <a:pPr indent="0" marL="0">
              <a:buNone/>
            </a:pPr>
            <a:r>
              <a:rPr lang="en-US" sz="1200" dirty="0">
                <a:solidFill>
                  <a:srgbClr val="231F20"/>
                </a:solidFill>
                <a:latin typeface="Proxima Nova" pitchFamily="34" charset="0"/>
                <a:ea typeface="Proxima Nova" pitchFamily="34" charset="-122"/>
                <a:cs typeface="Proxima Nova" pitchFamily="34" charset="-120"/>
              </a:rPr>
              <a:t> after inflation.</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$6.626B to $6.832B (2024 to 2025); Q2 2026 +7.8%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$17.40B to $17.99B (2024 to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$156.2B to $158.9B direct travel spending (2024 to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$1.341T to $1.360T (2024 to 2025, real 2025 dollars)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Growth in visitor or travel spending, 2025 vs. 2024</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Growth = this year ÷ last year − 1. Anaheim, Orange County and California are in current dollars; the U.S. series is adjusted for inflation, so it reads lower.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forecasts Anaheim visitor spending of </a:t>
            </a:r>
            <a:pPr indent="0" marL="0">
              <a:buNone/>
            </a:pPr>
            <a:r>
              <a:rPr lang="en-US" sz="900" b="1" dirty="0">
                <a:solidFill>
                  <a:srgbClr val="125C60"/>
                </a:solidFill>
                <a:latin typeface="Proxima Nova" pitchFamily="34" charset="0"/>
                <a:ea typeface="Proxima Nova" pitchFamily="34" charset="-122"/>
                <a:cs typeface="Proxima Nova" pitchFamily="34" charset="-120"/>
              </a:rPr>
              <a:t>$7.2B</a:t>
            </a:r>
            <a:pPr indent="0" marL="0">
              <a:buNone/>
            </a:pPr>
            <a:r>
              <a:rPr lang="en-US" sz="900" dirty="0">
                <a:solidFill>
                  <a:srgbClr val="231F20"/>
                </a:solidFill>
                <a:latin typeface="Proxima Nova" pitchFamily="34" charset="0"/>
                <a:ea typeface="Proxima Nova" pitchFamily="34" charset="-122"/>
                <a:cs typeface="Proxima Nova" pitchFamily="34" charset="-120"/>
              </a:rPr>
              <a:t> in 2026 (</a:t>
            </a:r>
            <a:pPr indent="0" marL="0">
              <a:buNone/>
            </a:pPr>
            <a:r>
              <a:rPr lang="en-US" sz="900" b="1" dirty="0">
                <a:solidFill>
                  <a:srgbClr val="125C60"/>
                </a:solidFill>
                <a:latin typeface="Proxima Nova" pitchFamily="34" charset="0"/>
                <a:ea typeface="Proxima Nova" pitchFamily="34" charset="-122"/>
                <a:cs typeface="Proxima Nova" pitchFamily="34" charset="-120"/>
              </a:rPr>
              <a:t>+5.6%</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Tourism Economics, Anaheim and Garden Grove Travel Forecast (Sept. 2026); Tourism Economics, Economic Impact of Visitors 2025 (pub. Apr.–May 2026); Visit California, The Economic Impact of Travel in California, 2025p (Dean Runyan Associates, Apr. 6, 2026); U.S. Travel Association and Tourism Economics, Travel Forecast, Spring 2026 (real 2025 dollars). Files in the app library: Economic Impact of Visitors to Anaheim, 2025; Economic Impact of Visitors to Orange County, 2025;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did the latest quarterly Tourism Economics report (Q2 2026) show?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Anaheim welcomed </a:t>
            </a:r>
            <a:pPr indent="0" marL="0">
              <a:buNone/>
            </a:pPr>
            <a:r>
              <a:rPr lang="en-US" sz="1200" b="1" dirty="0">
                <a:solidFill>
                  <a:srgbClr val="125C60"/>
                </a:solidFill>
                <a:latin typeface="Proxima Nova" pitchFamily="34" charset="0"/>
                <a:ea typeface="Proxima Nova" pitchFamily="34" charset="-122"/>
                <a:cs typeface="Proxima Nova" pitchFamily="34" charset="-120"/>
              </a:rPr>
              <a:t>6.74M</a:t>
            </a:r>
            <a:pPr indent="0" marL="0">
              <a:buNone/>
            </a:pPr>
            <a:r>
              <a:rPr lang="en-US" sz="1200" dirty="0">
                <a:solidFill>
                  <a:srgbClr val="231F20"/>
                </a:solidFill>
                <a:latin typeface="Proxima Nova" pitchFamily="34" charset="0"/>
                <a:ea typeface="Proxima Nova" pitchFamily="34" charset="-122"/>
                <a:cs typeface="Proxima Nova" pitchFamily="34" charset="-120"/>
              </a:rPr>
              <a:t> visitors in Q2 2026 (</a:t>
            </a:r>
            <a:pPr indent="0" marL="0">
              <a:buNone/>
            </a:pPr>
            <a:r>
              <a:rPr lang="en-US" sz="1200" b="1" dirty="0">
                <a:solidFill>
                  <a:srgbClr val="125C60"/>
                </a:solidFill>
                <a:latin typeface="Proxima Nova" pitchFamily="34" charset="0"/>
                <a:ea typeface="Proxima Nova" pitchFamily="34" charset="-122"/>
                <a:cs typeface="Proxima Nova" pitchFamily="34" charset="-120"/>
              </a:rPr>
              <a:t>+2.8%</a:t>
            </a:r>
            <a:pPr indent="0" marL="0">
              <a:buNone/>
            </a:pPr>
            <a:r>
              <a:rPr lang="en-US" sz="1200" dirty="0">
                <a:solidFill>
                  <a:srgbClr val="231F20"/>
                </a:solidFill>
                <a:latin typeface="Proxima Nova" pitchFamily="34" charset="0"/>
                <a:ea typeface="Proxima Nova" pitchFamily="34" charset="-122"/>
                <a:cs typeface="Proxima Nova" pitchFamily="34" charset="-120"/>
              </a:rPr>
              <a:t>), who spent </a:t>
            </a:r>
            <a:pPr indent="0" marL="0">
              <a:buNone/>
            </a:pPr>
            <a:r>
              <a:rPr lang="en-US" sz="1200" b="1" dirty="0">
                <a:solidFill>
                  <a:srgbClr val="125C60"/>
                </a:solidFill>
                <a:latin typeface="Proxima Nova" pitchFamily="34" charset="0"/>
                <a:ea typeface="Proxima Nova" pitchFamily="34" charset="-122"/>
                <a:cs typeface="Proxima Nova" pitchFamily="34" charset="-120"/>
              </a:rPr>
              <a:t>$1.76B</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+7.8%</a:t>
            </a:r>
            <a:pPr indent="0" marL="0">
              <a:buNone/>
            </a:pPr>
            <a:r>
              <a:rPr lang="en-US" sz="1200" dirty="0">
                <a:solidFill>
                  <a:srgbClr val="231F20"/>
                </a:solidFill>
                <a:latin typeface="Proxima Nova" pitchFamily="34" charset="0"/>
                <a:ea typeface="Proxima Nova" pitchFamily="34" charset="-122"/>
                <a:cs typeface="Proxima Nova" pitchFamily="34" charset="-120"/>
              </a:rPr>
              <a:t>). Overnight visits rose </a:t>
            </a:r>
            <a:pPr indent="0" marL="0">
              <a:buNone/>
            </a:pPr>
            <a:r>
              <a:rPr lang="en-US" sz="1200" b="1" dirty="0">
                <a:solidFill>
                  <a:srgbClr val="125C60"/>
                </a:solidFill>
                <a:latin typeface="Proxima Nova" pitchFamily="34" charset="0"/>
                <a:ea typeface="Proxima Nova" pitchFamily="34" charset="-122"/>
                <a:cs typeface="Proxima Nova" pitchFamily="34" charset="-120"/>
              </a:rPr>
              <a:t>4.5%</a:t>
            </a:r>
            <a:pPr indent="0" marL="0">
              <a:buNone/>
            </a:pPr>
            <a:r>
              <a:rPr lang="en-US" sz="1200" dirty="0">
                <a:solidFill>
                  <a:srgbClr val="231F20"/>
                </a:solidFill>
                <a:latin typeface="Proxima Nova" pitchFamily="34" charset="0"/>
                <a:ea typeface="Proxima Nova" pitchFamily="34" charset="-122"/>
                <a:cs typeface="Proxima Nova" pitchFamily="34" charset="-120"/>
              </a:rPr>
              <a:t> and day visits </a:t>
            </a:r>
            <a:pPr indent="0" marL="0">
              <a:buNone/>
            </a:pPr>
            <a:r>
              <a:rPr lang="en-US" sz="1200" b="1" dirty="0">
                <a:solidFill>
                  <a:srgbClr val="125C60"/>
                </a:solidFill>
                <a:latin typeface="Proxima Nova" pitchFamily="34" charset="0"/>
                <a:ea typeface="Proxima Nova" pitchFamily="34" charset="-122"/>
                <a:cs typeface="Proxima Nova" pitchFamily="34" charset="-120"/>
              </a:rPr>
              <a:t>2.1%</a:t>
            </a:r>
            <a:pPr indent="0" marL="0">
              <a:buNone/>
            </a:pPr>
            <a:r>
              <a:rPr lang="en-US" sz="1200" dirty="0">
                <a:solidFill>
                  <a:srgbClr val="231F20"/>
                </a:solidFill>
                <a:latin typeface="Proxima Nova" pitchFamily="34" charset="0"/>
                <a:ea typeface="Proxima Nova" pitchFamily="34" charset="-122"/>
                <a:cs typeface="Proxima Nova" pitchFamily="34" charset="-120"/>
              </a:rPr>
              <a:t>; hotel rates were nearly </a:t>
            </a:r>
            <a:pPr indent="0" marL="0">
              <a:buNone/>
            </a:pPr>
            <a:r>
              <a:rPr lang="en-US" sz="1200" b="1" dirty="0">
                <a:solidFill>
                  <a:srgbClr val="125C60"/>
                </a:solidFill>
                <a:latin typeface="Proxima Nova" pitchFamily="34" charset="0"/>
                <a:ea typeface="Proxima Nova" pitchFamily="34" charset="-122"/>
                <a:cs typeface="Proxima Nova" pitchFamily="34" charset="-120"/>
              </a:rPr>
              <a:t>9%</a:t>
            </a:r>
            <a:pPr indent="0" marL="0">
              <a:buNone/>
            </a:pPr>
            <a:r>
              <a:rPr lang="en-US" sz="1200" dirty="0">
                <a:solidFill>
                  <a:srgbClr val="231F20"/>
                </a:solidFill>
                <a:latin typeface="Proxima Nova" pitchFamily="34" charset="0"/>
                <a:ea typeface="Proxima Nova" pitchFamily="34" charset="-122"/>
                <a:cs typeface="Proxima Nova" pitchFamily="34" charset="-120"/>
              </a:rPr>
              <a:t> higher. Garden Grove: </a:t>
            </a:r>
            <a:pPr indent="0" marL="0">
              <a:buNone/>
            </a:pPr>
            <a:r>
              <a:rPr lang="en-US" sz="1200" b="1" dirty="0">
                <a:solidFill>
                  <a:srgbClr val="125C60"/>
                </a:solidFill>
                <a:latin typeface="Proxima Nova" pitchFamily="34" charset="0"/>
                <a:ea typeface="Proxima Nova" pitchFamily="34" charset="-122"/>
                <a:cs typeface="Proxima Nova" pitchFamily="34" charset="-120"/>
              </a:rPr>
              <a:t>831,000 visitors</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+3.4%</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$200.4M</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+7.1%</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Q2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6.74M visitors · $1.76B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+2.8% visitors · +7.8% spending; first half 13.1M visitors, $3.5B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 Q2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831,000 visitors · $200.4M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+3.4% visitors · +7.1%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 international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2.16M visitors in 2026 (forecast)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 spending $2.79B (+1.8%); Mexico +6.9%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outlook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Steady, with risks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Tourism Economics expects a prolonged Federal Reserve pause; risks include an equity correction and layoffs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visitor spending by quarter ($B)</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Quarterly visits and spending are Tourism Economics measurements in its Travel Forecast. Change is vs. the same quarter a year earlier.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 quarterly results are in the Travel Forecast (Sept. 2026). The annual Economic Impact reports cover calendar 2025; both are in the library.</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(Sept. 2026). Files in the app library: Anaheim and Garden Grove Travel Forecast, Sept. 2026 (Q2 2026 results); Anaheim and Garden Grove Travel Forecast, June 2026 (Q1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do visitor dollars go?</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In Anaheim, recreation takes the largest share (</a:t>
            </a:r>
            <a:pPr indent="0" marL="0">
              <a:buNone/>
            </a:pPr>
            <a:r>
              <a:rPr lang="en-US" sz="1200" b="1" dirty="0">
                <a:solidFill>
                  <a:srgbClr val="125C60"/>
                </a:solidFill>
                <a:latin typeface="Proxima Nova" pitchFamily="34" charset="0"/>
                <a:ea typeface="Proxima Nova" pitchFamily="34" charset="-122"/>
                <a:cs typeface="Proxima Nova" pitchFamily="34" charset="-120"/>
              </a:rPr>
              <a:t>34.0%</a:t>
            </a:r>
            <a:pPr indent="0" marL="0">
              <a:buNone/>
            </a:pPr>
            <a:r>
              <a:rPr lang="en-US" sz="1200" dirty="0">
                <a:solidFill>
                  <a:srgbClr val="231F20"/>
                </a:solidFill>
                <a:latin typeface="Proxima Nova" pitchFamily="34" charset="0"/>
                <a:ea typeface="Proxima Nova" pitchFamily="34" charset="-122"/>
                <a:cs typeface="Proxima Nova" pitchFamily="34" charset="-120"/>
              </a:rPr>
              <a:t>), then lodging (</a:t>
            </a:r>
            <a:pPr indent="0" marL="0">
              <a:buNone/>
            </a:pPr>
            <a:r>
              <a:rPr lang="en-US" sz="1200" b="1" dirty="0">
                <a:solidFill>
                  <a:srgbClr val="125C60"/>
                </a:solidFill>
                <a:latin typeface="Proxima Nova" pitchFamily="34" charset="0"/>
                <a:ea typeface="Proxima Nova" pitchFamily="34" charset="-122"/>
                <a:cs typeface="Proxima Nova" pitchFamily="34" charset="-120"/>
              </a:rPr>
              <a:t>25.2%</a:t>
            </a:r>
            <a:pPr indent="0" marL="0">
              <a:buNone/>
            </a:pPr>
            <a:r>
              <a:rPr lang="en-US" sz="1200" dirty="0">
                <a:solidFill>
                  <a:srgbClr val="231F20"/>
                </a:solidFill>
                <a:latin typeface="Proxima Nova" pitchFamily="34" charset="0"/>
                <a:ea typeface="Proxima Nova" pitchFamily="34" charset="-122"/>
                <a:cs typeface="Proxima Nova" pitchFamily="34" charset="-120"/>
              </a:rPr>
              <a:t>), retail (</a:t>
            </a:r>
            <a:pPr indent="0" marL="0">
              <a:buNone/>
            </a:pPr>
            <a:r>
              <a:rPr lang="en-US" sz="1200" b="1" dirty="0">
                <a:solidFill>
                  <a:srgbClr val="125C60"/>
                </a:solidFill>
                <a:latin typeface="Proxima Nova" pitchFamily="34" charset="0"/>
                <a:ea typeface="Proxima Nova" pitchFamily="34" charset="-122"/>
                <a:cs typeface="Proxima Nova" pitchFamily="34" charset="-120"/>
              </a:rPr>
              <a:t>21.9%</a:t>
            </a:r>
            <a:pPr indent="0" marL="0">
              <a:buNone/>
            </a:pPr>
            <a:r>
              <a:rPr lang="en-US" sz="1200" dirty="0">
                <a:solidFill>
                  <a:srgbClr val="231F20"/>
                </a:solidFill>
                <a:latin typeface="Proxima Nova" pitchFamily="34" charset="0"/>
                <a:ea typeface="Proxima Nova" pitchFamily="34" charset="-122"/>
                <a:cs typeface="Proxima Nova" pitchFamily="34" charset="-120"/>
              </a:rPr>
              <a:t>), food and beverage (</a:t>
            </a:r>
            <a:pPr indent="0" marL="0">
              <a:buNone/>
            </a:pPr>
            <a:r>
              <a:rPr lang="en-US" sz="1200" b="1" dirty="0">
                <a:solidFill>
                  <a:srgbClr val="125C60"/>
                </a:solidFill>
                <a:latin typeface="Proxima Nova" pitchFamily="34" charset="0"/>
                <a:ea typeface="Proxima Nova" pitchFamily="34" charset="-122"/>
                <a:cs typeface="Proxima Nova" pitchFamily="34" charset="-120"/>
              </a:rPr>
              <a:t>15.6%</a:t>
            </a:r>
            <a:pPr indent="0" marL="0">
              <a:buNone/>
            </a:pPr>
            <a:r>
              <a:rPr lang="en-US" sz="1200" dirty="0">
                <a:solidFill>
                  <a:srgbClr val="231F20"/>
                </a:solidFill>
                <a:latin typeface="Proxima Nova" pitchFamily="34" charset="0"/>
                <a:ea typeface="Proxima Nova" pitchFamily="34" charset="-122"/>
                <a:cs typeface="Proxima Nova" pitchFamily="34" charset="-120"/>
              </a:rPr>
              <a:t>) and transportation (</a:t>
            </a:r>
            <a:pPr indent="0" marL="0">
              <a:buNone/>
            </a:pPr>
            <a:r>
              <a:rPr lang="en-US" sz="1200" b="1" dirty="0">
                <a:solidFill>
                  <a:srgbClr val="125C60"/>
                </a:solidFill>
                <a:latin typeface="Proxima Nova" pitchFamily="34" charset="0"/>
                <a:ea typeface="Proxima Nova" pitchFamily="34" charset="-122"/>
                <a:cs typeface="Proxima Nova" pitchFamily="34" charset="-120"/>
              </a:rPr>
              <a:t>3.3%</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food and beverage leads (</a:t>
            </a:r>
            <a:pPr indent="0" marL="0">
              <a:buNone/>
            </a:pPr>
            <a:r>
              <a:rPr lang="en-US" sz="1200" b="1" dirty="0">
                <a:solidFill>
                  <a:srgbClr val="125C60"/>
                </a:solidFill>
                <a:latin typeface="Proxima Nova" pitchFamily="34" charset="0"/>
                <a:ea typeface="Proxima Nova" pitchFamily="34" charset="-122"/>
                <a:cs typeface="Proxima Nova" pitchFamily="34" charset="-120"/>
              </a:rPr>
              <a:t>27.6%</a:t>
            </a:r>
            <a:pPr indent="0" marL="0">
              <a:buNone/>
            </a:pPr>
            <a:r>
              <a:rPr lang="en-US" sz="1200" dirty="0">
                <a:solidFill>
                  <a:srgbClr val="231F20"/>
                </a:solidFill>
                <a:latin typeface="Proxima Nova" pitchFamily="34" charset="0"/>
                <a:ea typeface="Proxima Nova" pitchFamily="34" charset="-122"/>
                <a:cs typeface="Proxima Nova" pitchFamily="34" charset="-120"/>
              </a:rPr>
              <a:t>). Statewide, food service and lodging lead.</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Recreation 34.0%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Lodging 25.2% · retail 21.9% · F&amp;B 15.6% · transportation 3.3% ($6.83B,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F&amp;B 27.6%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Lodging 25.9% · recreation 22.0% · retail 20.5% · transportation 3.9% ($17.99B,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Food service 27.3%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Accommodations 25.0% · local transportation and gas 13.3% · arts and recreation 13.1% · retail 12.4% · visitor air 4.6% · food stores 4.2% ($140.8B,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Share of visitor spending by category, 2025</a:t>
            </a:r>
            <a:endParaRPr lang="en-US" sz="1200" dirty="0"/>
          </a:p>
        </p:txBody>
      </p:sp>
      <p:graphicFrame>
        <p:nvGraphicFramePr>
          <p:cNvPr id="8" name="chart" descr=""/>
          <p:cNvGraphicFramePr/>
          <p:nvPr/>
        </p:nvGraphicFramePr>
        <p:xfrm>
          <a:off x="7406640" y="1673352"/>
          <a:ext cx="4236415" cy="2167128"/>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 = category spending ÷ total visitor spending. California food and beverage combines food service (</a:t>
            </a:r>
            <a:pPr indent="0" marL="0">
              <a:buNone/>
            </a:pPr>
            <a:r>
              <a:rPr lang="en-US" sz="900" b="1" dirty="0">
                <a:solidFill>
                  <a:srgbClr val="125C60"/>
                </a:solidFill>
                <a:latin typeface="Proxima Nova" pitchFamily="34" charset="0"/>
                <a:ea typeface="Proxima Nova" pitchFamily="34" charset="-122"/>
                <a:cs typeface="Proxima Nova" pitchFamily="34" charset="-120"/>
              </a:rPr>
              <a:t>$38.5B</a:t>
            </a:r>
            <a:pPr indent="0" marL="0">
              <a:buNone/>
            </a:pPr>
            <a:r>
              <a:rPr lang="en-US" sz="900" dirty="0">
                <a:solidFill>
                  <a:srgbClr val="231F20"/>
                </a:solidFill>
                <a:latin typeface="Proxima Nova" pitchFamily="34" charset="0"/>
                <a:ea typeface="Proxima Nova" pitchFamily="34" charset="-122"/>
                <a:cs typeface="Proxima Nova" pitchFamily="34" charset="-120"/>
              </a:rPr>
              <a:t>) and food stores (</a:t>
            </a:r>
            <a:pPr indent="0" marL="0">
              <a:buNone/>
            </a:pPr>
            <a:r>
              <a:rPr lang="en-US" sz="900" b="1" dirty="0">
                <a:solidFill>
                  <a:srgbClr val="125C60"/>
                </a:solidFill>
                <a:latin typeface="Proxima Nova" pitchFamily="34" charset="0"/>
                <a:ea typeface="Proxima Nova" pitchFamily="34" charset="-122"/>
                <a:cs typeface="Proxima Nova" pitchFamily="34" charset="-120"/>
              </a:rPr>
              <a:t>$5.9B</a:t>
            </a:r>
            <a:pPr indent="0" marL="0">
              <a:buNone/>
            </a:pPr>
            <a:r>
              <a:rPr lang="en-US" sz="900" dirty="0">
                <a:solidFill>
                  <a:srgbClr val="231F20"/>
                </a:solidFill>
                <a:latin typeface="Proxima Nova" pitchFamily="34" charset="0"/>
                <a:ea typeface="Proxima Nova" pitchFamily="34" charset="-122"/>
                <a:cs typeface="Proxima Nova" pitchFamily="34" charset="-120"/>
              </a:rPr>
              <a:t>); transportation combines local transportation and gas (</a:t>
            </a:r>
            <a:pPr indent="0" marL="0">
              <a:buNone/>
            </a:pPr>
            <a:r>
              <a:rPr lang="en-US" sz="900" b="1" dirty="0">
                <a:solidFill>
                  <a:srgbClr val="125C60"/>
                </a:solidFill>
                <a:latin typeface="Proxima Nova" pitchFamily="34" charset="0"/>
                <a:ea typeface="Proxima Nova" pitchFamily="34" charset="-122"/>
                <a:cs typeface="Proxima Nova" pitchFamily="34" charset="-120"/>
              </a:rPr>
              <a:t>$18.7B</a:t>
            </a:r>
            <a:pPr indent="0" marL="0">
              <a:buNone/>
            </a:pPr>
            <a:r>
              <a:rPr lang="en-US" sz="900" dirty="0">
                <a:solidFill>
                  <a:srgbClr val="231F20"/>
                </a:solidFill>
                <a:latin typeface="Proxima Nova" pitchFamily="34" charset="0"/>
                <a:ea typeface="Proxima Nova" pitchFamily="34" charset="-122"/>
                <a:cs typeface="Proxima Nova" pitchFamily="34" charset="-120"/>
              </a:rPr>
              <a:t>) and visitor air (</a:t>
            </a:r>
            <a:pPr indent="0" marL="0">
              <a:buNone/>
            </a:pPr>
            <a:r>
              <a:rPr lang="en-US" sz="900" b="1" dirty="0">
                <a:solidFill>
                  <a:srgbClr val="125C60"/>
                </a:solidFill>
                <a:latin typeface="Proxima Nova" pitchFamily="34" charset="0"/>
                <a:ea typeface="Proxima Nova" pitchFamily="34" charset="-122"/>
                <a:cs typeface="Proxima Nova" pitchFamily="34" charset="-120"/>
              </a:rPr>
              <a:t>$6.5B</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Category definitions differ by source: Tourism Economics' city and county figures count spending inside the area and include little air travel; Visit California includes visitor air fares.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Files in the app library: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many jobs does the visitor economy support?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200" b="1" dirty="0">
                <a:solidFill>
                  <a:srgbClr val="125C60"/>
                </a:solidFill>
                <a:latin typeface="Proxima Nova" pitchFamily="34" charset="0"/>
                <a:ea typeface="Proxima Nova" pitchFamily="34" charset="-122"/>
                <a:cs typeface="Proxima Nova" pitchFamily="34" charset="-120"/>
              </a:rPr>
              <a:t>67,817</a:t>
            </a:r>
            <a:pPr indent="0" marL="0">
              <a:buNone/>
            </a:pPr>
            <a:r>
              <a:rPr lang="en-US" sz="1200" dirty="0">
                <a:solidFill>
                  <a:srgbClr val="231F20"/>
                </a:solidFill>
                <a:latin typeface="Proxima Nova" pitchFamily="34" charset="0"/>
                <a:ea typeface="Proxima Nova" pitchFamily="34" charset="-122"/>
                <a:cs typeface="Proxima Nova" pitchFamily="34" charset="-120"/>
              </a:rPr>
              <a:t> Anaheim jobs in 2025, about one in three. Countywide the total was </a:t>
            </a:r>
            <a:pPr indent="0" marL="0">
              <a:buNone/>
            </a:pPr>
            <a:r>
              <a:rPr lang="en-US" sz="1200" b="1" dirty="0">
                <a:solidFill>
                  <a:srgbClr val="125C60"/>
                </a:solidFill>
                <a:latin typeface="Proxima Nova" pitchFamily="34" charset="0"/>
                <a:ea typeface="Proxima Nova" pitchFamily="34" charset="-122"/>
                <a:cs typeface="Proxima Nova" pitchFamily="34" charset="-120"/>
              </a:rPr>
              <a:t>178,164</a:t>
            </a:r>
            <a:pPr indent="0" marL="0">
              <a:buNone/>
            </a:pPr>
            <a:r>
              <a:rPr lang="en-US" sz="1200" dirty="0">
                <a:solidFill>
                  <a:srgbClr val="231F20"/>
                </a:solidFill>
                <a:latin typeface="Proxima Nova" pitchFamily="34" charset="0"/>
                <a:ea typeface="Proxima Nova" pitchFamily="34" charset="-122"/>
                <a:cs typeface="Proxima Nova" pitchFamily="34" charset="-120"/>
              </a:rPr>
              <a:t> (one in 14), statewide </a:t>
            </a:r>
            <a:pPr indent="0" marL="0">
              <a:buNone/>
            </a:pPr>
            <a:r>
              <a:rPr lang="en-US" sz="1200" b="1" dirty="0">
                <a:solidFill>
                  <a:srgbClr val="125C60"/>
                </a:solidFill>
                <a:latin typeface="Proxima Nova" pitchFamily="34" charset="0"/>
                <a:ea typeface="Proxima Nova" pitchFamily="34" charset="-122"/>
                <a:cs typeface="Proxima Nova" pitchFamily="34" charset="-120"/>
              </a:rPr>
              <a:t>1.17 million</a:t>
            </a:r>
            <a:pPr indent="0" marL="0">
              <a:buNone/>
            </a:pPr>
            <a:r>
              <a:rPr lang="en-US" sz="1200" dirty="0">
                <a:solidFill>
                  <a:srgbClr val="231F20"/>
                </a:solidFill>
                <a:latin typeface="Proxima Nova" pitchFamily="34" charset="0"/>
                <a:ea typeface="Proxima Nova" pitchFamily="34" charset="-122"/>
                <a:cs typeface="Proxima Nova" pitchFamily="34" charset="-120"/>
              </a:rPr>
              <a:t> direct travel jobs, and nationally more than </a:t>
            </a:r>
            <a:pPr indent="0" marL="0">
              <a:buNone/>
            </a:pPr>
            <a:r>
              <a:rPr lang="en-US" sz="1200" b="1" dirty="0">
                <a:solidFill>
                  <a:srgbClr val="125C60"/>
                </a:solidFill>
                <a:latin typeface="Proxima Nova" pitchFamily="34" charset="0"/>
                <a:ea typeface="Proxima Nova" pitchFamily="34" charset="-122"/>
                <a:cs typeface="Proxima Nova" pitchFamily="34" charset="-120"/>
              </a:rPr>
              <a:t>15 million</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67,817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32.8% of all jobs; 47,925 direct + 19,892 indirect and induced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6,694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11.8% of all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178,164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7.4% of all jobs; 125,511 direct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1,167,470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Direct travel-generated jobs only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Jobs supported by travel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all jobs supported by visitors,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totals add direct jobs (in businesses visitors buy from) to indirect (suppliers) and induced (workers' spending) jobs. Visit California's </a:t>
            </a:r>
            <a:pPr indent="0" marL="0">
              <a:buNone/>
            </a:pPr>
            <a:r>
              <a:rPr lang="en-US" sz="900" b="1" dirty="0">
                <a:solidFill>
                  <a:srgbClr val="125C60"/>
                </a:solidFill>
                <a:latin typeface="Proxima Nova" pitchFamily="34" charset="0"/>
                <a:ea typeface="Proxima Nova" pitchFamily="34" charset="-122"/>
                <a:cs typeface="Proxima Nova" pitchFamily="34" charset="-120"/>
              </a:rPr>
              <a:t>1.17 million</a:t>
            </a:r>
            <a:pPr indent="0" marL="0">
              <a:buNone/>
            </a:pPr>
            <a:r>
              <a:rPr lang="en-US" sz="900" dirty="0">
                <a:solidFill>
                  <a:srgbClr val="231F20"/>
                </a:solidFill>
                <a:latin typeface="Proxima Nova" pitchFamily="34" charset="0"/>
                <a:ea typeface="Proxima Nova" pitchFamily="34" charset="-122"/>
                <a:cs typeface="Proxima Nova" pitchFamily="34" charset="-120"/>
              </a:rPr>
              <a:t> counts direct jobs only.</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Jobs are full- and part-time, including proprietors, so they are not full-time equivalents.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Travel Association, Economic Impact of the U.S. Travel Industry (2025 data; pub. 2026). Files in the app library: Economic Impact of Visitors to Anaheim, 2025; Economic Impact of Visitors to Garden Grove, 2025; Economic Impact of Visitors to Orange County, 2025; Economic impact one-pagers, 2025: Orange County, Anaheim and Garden Grove.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share of visitor-supported jobs are in food and beverage?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16.8%</a:t>
            </a:r>
            <a:pPr indent="0" marL="0">
              <a:buNone/>
            </a:pPr>
            <a:r>
              <a:rPr lang="en-US" sz="1200" dirty="0">
                <a:solidFill>
                  <a:srgbClr val="231F20"/>
                </a:solidFill>
                <a:latin typeface="Proxima Nova" pitchFamily="34" charset="0"/>
                <a:ea typeface="Proxima Nova" pitchFamily="34" charset="-122"/>
                <a:cs typeface="Proxima Nova" pitchFamily="34" charset="-120"/>
              </a:rPr>
              <a:t> in Anaheim (</a:t>
            </a:r>
            <a:pPr indent="0" marL="0">
              <a:buNone/>
            </a:pPr>
            <a:r>
              <a:rPr lang="en-US" sz="1200" b="1" dirty="0">
                <a:solidFill>
                  <a:srgbClr val="125C60"/>
                </a:solidFill>
                <a:latin typeface="Proxima Nova" pitchFamily="34" charset="0"/>
                <a:ea typeface="Proxima Nova" pitchFamily="34" charset="-122"/>
                <a:cs typeface="Proxima Nova" pitchFamily="34" charset="-120"/>
              </a:rPr>
              <a:t>11,366</a:t>
            </a:r>
            <a:pPr indent="0" marL="0">
              <a:buNone/>
            </a:pPr>
            <a:r>
              <a:rPr lang="en-US" sz="1200" dirty="0">
                <a:solidFill>
                  <a:srgbClr val="231F20"/>
                </a:solidFill>
                <a:latin typeface="Proxima Nova" pitchFamily="34" charset="0"/>
                <a:ea typeface="Proxima Nova" pitchFamily="34" charset="-122"/>
                <a:cs typeface="Proxima Nova" pitchFamily="34" charset="-120"/>
              </a:rPr>
              <a:t> of </a:t>
            </a:r>
            <a:pPr indent="0" marL="0">
              <a:buNone/>
            </a:pPr>
            <a:r>
              <a:rPr lang="en-US" sz="1200" b="1" dirty="0">
                <a:solidFill>
                  <a:srgbClr val="125C60"/>
                </a:solidFill>
                <a:latin typeface="Proxima Nova" pitchFamily="34" charset="0"/>
                <a:ea typeface="Proxima Nova" pitchFamily="34" charset="-122"/>
                <a:cs typeface="Proxima Nova" pitchFamily="34" charset="-120"/>
              </a:rPr>
              <a:t>67,817</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40.6%</a:t>
            </a:r>
            <a:pPr indent="0" marL="0">
              <a:buNone/>
            </a:pPr>
            <a:r>
              <a:rPr lang="en-US" sz="1200" dirty="0">
                <a:solidFill>
                  <a:srgbClr val="231F20"/>
                </a:solidFill>
                <a:latin typeface="Proxima Nova" pitchFamily="34" charset="0"/>
                <a:ea typeface="Proxima Nova" pitchFamily="34" charset="-122"/>
                <a:cs typeface="Proxima Nova" pitchFamily="34" charset="-120"/>
              </a:rPr>
              <a:t> in Garden Grove and </a:t>
            </a:r>
            <a:pPr indent="0" marL="0">
              <a:buNone/>
            </a:pPr>
            <a:r>
              <a:rPr lang="en-US" sz="1200" b="1" dirty="0">
                <a:solidFill>
                  <a:srgbClr val="125C60"/>
                </a:solidFill>
                <a:latin typeface="Proxima Nova" pitchFamily="34" charset="0"/>
                <a:ea typeface="Proxima Nova" pitchFamily="34" charset="-122"/>
                <a:cs typeface="Proxima Nova" pitchFamily="34" charset="-120"/>
              </a:rPr>
              <a:t>29.1%</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Statewide, accommodation and food service together hold </a:t>
            </a:r>
            <a:pPr indent="0" marL="0">
              <a:buNone/>
            </a:pPr>
            <a:r>
              <a:rPr lang="en-US" sz="1200" b="1" dirty="0">
                <a:solidFill>
                  <a:srgbClr val="125C60"/>
                </a:solidFill>
                <a:latin typeface="Proxima Nova" pitchFamily="34" charset="0"/>
                <a:ea typeface="Proxima Nova" pitchFamily="34" charset="-122"/>
                <a:cs typeface="Proxima Nova" pitchFamily="34" charset="-120"/>
              </a:rPr>
              <a:t>55.3%</a:t>
            </a:r>
            <a:pPr indent="0" marL="0">
              <a:buNone/>
            </a:pPr>
            <a:r>
              <a:rPr lang="en-US" sz="1200" dirty="0">
                <a:solidFill>
                  <a:srgbClr val="231F20"/>
                </a:solidFill>
                <a:latin typeface="Proxima Nova" pitchFamily="34" charset="0"/>
                <a:ea typeface="Proxima Nova" pitchFamily="34" charset="-122"/>
                <a:cs typeface="Proxima Nova" pitchFamily="34" charset="-120"/>
              </a:rPr>
              <a:t> of direct travel jobs.</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16.8%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11,366 ÷ 67,817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40.6%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2,721 ÷ 6,694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29.1%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51,892 ÷ 178,164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55.3%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Accommodation and food service, 645,300 ÷ 1,167,500 direct jobs (combined category)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Food and beverage share of visitor-supported jobs,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 = food and beverage jobs (direct, indirect and induced) ÷ all visitor-supported jobs, from each Tourism Economics regional report.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In Anaheim, recreation and entertainment holds the most visitor-supported jobs (</a:t>
            </a:r>
            <a:pPr indent="0" marL="0">
              <a:buNone/>
            </a:pPr>
            <a:r>
              <a:rPr lang="en-US" sz="900" b="1" dirty="0">
                <a:solidFill>
                  <a:srgbClr val="125C60"/>
                </a:solidFill>
                <a:latin typeface="Proxima Nova" pitchFamily="34" charset="0"/>
                <a:ea typeface="Proxima Nova" pitchFamily="34" charset="-122"/>
                <a:cs typeface="Proxima Nova" pitchFamily="34" charset="-120"/>
              </a:rPr>
              <a:t>28,970</a:t>
            </a:r>
            <a:pPr indent="0" marL="0">
              <a:buNone/>
            </a:pPr>
            <a:r>
              <a:rPr lang="en-US" sz="900" dirty="0">
                <a:solidFill>
                  <a:srgbClr val="231F20"/>
                </a:solidFill>
                <a:latin typeface="Proxima Nova" pitchFamily="34" charset="0"/>
                <a:ea typeface="Proxima Nova" pitchFamily="34" charset="-122"/>
                <a:cs typeface="Proxima Nova" pitchFamily="34" charset="-120"/>
              </a:rPr>
              <a:t>). California's figure combines lodging with food service.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Files in the app library: Economic Impact of Visitors to Anaheim, 2025; Economic Impact of Visitors to Garden Grove,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total economic impact of visitors?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$10.4B</a:t>
            </a:r>
            <a:pPr indent="0" marL="0">
              <a:buNone/>
            </a:pPr>
            <a:r>
              <a:rPr lang="en-US" sz="1200" dirty="0">
                <a:solidFill>
                  <a:srgbClr val="231F20"/>
                </a:solidFill>
                <a:latin typeface="Proxima Nova" pitchFamily="34" charset="0"/>
                <a:ea typeface="Proxima Nova" pitchFamily="34" charset="-122"/>
                <a:cs typeface="Proxima Nova" pitchFamily="34" charset="-120"/>
              </a:rPr>
              <a:t> in Anaheim in 2025 (visitor spending </a:t>
            </a:r>
            <a:pPr indent="0" marL="0">
              <a:buNone/>
            </a:pPr>
            <a:r>
              <a:rPr lang="en-US" sz="1200" b="1" dirty="0">
                <a:solidFill>
                  <a:srgbClr val="125C60"/>
                </a:solidFill>
                <a:latin typeface="Proxima Nova" pitchFamily="34" charset="0"/>
                <a:ea typeface="Proxima Nova" pitchFamily="34" charset="-122"/>
                <a:cs typeface="Proxima Nova" pitchFamily="34" charset="-120"/>
              </a:rPr>
              <a:t>$6.83B</a:t>
            </a:r>
            <a:pPr indent="0" marL="0">
              <a:buNone/>
            </a:pPr>
            <a:r>
              <a:rPr lang="en-US" sz="1200" dirty="0">
                <a:solidFill>
                  <a:srgbClr val="231F20"/>
                </a:solidFill>
                <a:latin typeface="Proxima Nova" pitchFamily="34" charset="0"/>
                <a:ea typeface="Proxima Nova" pitchFamily="34" charset="-122"/>
                <a:cs typeface="Proxima Nova" pitchFamily="34" charset="-120"/>
              </a:rPr>
              <a:t> plus </a:t>
            </a:r>
            <a:pPr indent="0" marL="0">
              <a:buNone/>
            </a:pPr>
            <a:r>
              <a:rPr lang="en-US" sz="1200" b="1" dirty="0">
                <a:solidFill>
                  <a:srgbClr val="125C60"/>
                </a:solidFill>
                <a:latin typeface="Proxima Nova" pitchFamily="34" charset="0"/>
                <a:ea typeface="Proxima Nova" pitchFamily="34" charset="-122"/>
                <a:cs typeface="Proxima Nova" pitchFamily="34" charset="-120"/>
              </a:rPr>
              <a:t>$3.6B</a:t>
            </a:r>
            <a:pPr indent="0" marL="0">
              <a:buNone/>
            </a:pPr>
            <a:r>
              <a:rPr lang="en-US" sz="1200" dirty="0">
                <a:solidFill>
                  <a:srgbClr val="231F20"/>
                </a:solidFill>
                <a:latin typeface="Proxima Nova" pitchFamily="34" charset="0"/>
                <a:ea typeface="Proxima Nova" pitchFamily="34" charset="-122"/>
                <a:cs typeface="Proxima Nova" pitchFamily="34" charset="-120"/>
              </a:rPr>
              <a:t> in supplier and worker spending), </a:t>
            </a:r>
            <a:pPr indent="0" marL="0">
              <a:buNone/>
            </a:pPr>
            <a:r>
              <a:rPr lang="en-US" sz="1200" b="1" dirty="0">
                <a:solidFill>
                  <a:srgbClr val="125C60"/>
                </a:solidFill>
                <a:latin typeface="Proxima Nova" pitchFamily="34" charset="0"/>
                <a:ea typeface="Proxima Nova" pitchFamily="34" charset="-122"/>
                <a:cs typeface="Proxima Nova" pitchFamily="34" charset="-120"/>
              </a:rPr>
              <a:t>$1.1B</a:t>
            </a:r>
            <a:pPr indent="0" marL="0">
              <a:buNone/>
            </a:pPr>
            <a:r>
              <a:rPr lang="en-US" sz="1200" dirty="0">
                <a:solidFill>
                  <a:srgbClr val="231F20"/>
                </a:solidFill>
                <a:latin typeface="Proxima Nova" pitchFamily="34" charset="0"/>
                <a:ea typeface="Proxima Nova" pitchFamily="34" charset="-122"/>
                <a:cs typeface="Proxima Nova" pitchFamily="34" charset="-120"/>
              </a:rPr>
              <a:t> in Garden Grove and </a:t>
            </a:r>
            <a:pPr indent="0" marL="0">
              <a:buNone/>
            </a:pPr>
            <a:r>
              <a:rPr lang="en-US" sz="1200" b="1" dirty="0">
                <a:solidFill>
                  <a:srgbClr val="125C60"/>
                </a:solidFill>
                <a:latin typeface="Proxima Nova" pitchFamily="34" charset="0"/>
                <a:ea typeface="Proxima Nova" pitchFamily="34" charset="-122"/>
                <a:cs typeface="Proxima Nova" pitchFamily="34" charset="-120"/>
              </a:rPr>
              <a:t>$30.7B</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Nationally, travel generated </a:t>
            </a:r>
            <a:pPr indent="0" marL="0">
              <a:buNone/>
            </a:pPr>
            <a:r>
              <a:rPr lang="en-US" sz="1200" b="1" dirty="0">
                <a:solidFill>
                  <a:srgbClr val="125C60"/>
                </a:solidFill>
                <a:latin typeface="Proxima Nova" pitchFamily="34" charset="0"/>
                <a:ea typeface="Proxima Nova" pitchFamily="34" charset="-122"/>
                <a:cs typeface="Proxima Nova" pitchFamily="34" charset="-120"/>
              </a:rPr>
              <a:t>$3.0</a:t>
            </a:r>
            <a:pPr indent="0" marL="0">
              <a:buNone/>
            </a:pPr>
            <a:r>
              <a:rPr lang="en-US" sz="1200" dirty="0">
                <a:solidFill>
                  <a:srgbClr val="231F20"/>
                </a:solidFill>
                <a:latin typeface="Proxima Nova" pitchFamily="34" charset="0"/>
                <a:ea typeface="Proxima Nova" pitchFamily="34" charset="-122"/>
                <a:cs typeface="Proxima Nova" pitchFamily="34" charset="-120"/>
              </a:rPr>
              <a:t> trillion in output.</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$10.42B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$6.832B direct + $1.460B indirect + $2.130B induced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$1.09B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$769.3M + $127.7M + $191.1M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$30.67B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$17.993B + $6.253B + $6.426B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$3.0T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output supported by travel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Total economic impact of visitors, 2025 ($B)</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Total impact = direct visitor spending + indirect (supply chain) + induced (spending of income earned), from Tourism Economics' input-output model.</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region is modeled on its own, so city totals are not additive with the county total.</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Economic Impact of the U.S. Travel Industry (2025 data; pub. 2026). Files in the app library: Economic Impact of Visitors to Anaheim, 2025; Economic Impact of Visitors to Garden Grove, 2025; Economic Impact of Visitors to Orange County, 2025; Economic impact one-pagers, 2025: Orange County, Anaheim and Garden Grove.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much tax revenue do visitors generate?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generated </a:t>
            </a:r>
            <a:pPr indent="0" marL="0">
              <a:buNone/>
            </a:pPr>
            <a:r>
              <a:rPr lang="en-US" sz="1200" b="1" dirty="0">
                <a:solidFill>
                  <a:srgbClr val="125C60"/>
                </a:solidFill>
                <a:latin typeface="Proxima Nova" pitchFamily="34" charset="0"/>
                <a:ea typeface="Proxima Nova" pitchFamily="34" charset="-122"/>
                <a:cs typeface="Proxima Nova" pitchFamily="34" charset="-120"/>
              </a:rPr>
              <a:t>$0.97B</a:t>
            </a:r>
            <a:pPr indent="0" marL="0">
              <a:buNone/>
            </a:pPr>
            <a:r>
              <a:rPr lang="en-US" sz="1200" dirty="0">
                <a:solidFill>
                  <a:srgbClr val="231F20"/>
                </a:solidFill>
                <a:latin typeface="Proxima Nova" pitchFamily="34" charset="0"/>
                <a:ea typeface="Proxima Nova" pitchFamily="34" charset="-122"/>
                <a:cs typeface="Proxima Nova" pitchFamily="34" charset="-120"/>
              </a:rPr>
              <a:t> in state and local taxes in Anaheim in 2025, </a:t>
            </a:r>
            <a:pPr indent="0" marL="0">
              <a:buNone/>
            </a:pPr>
            <a:r>
              <a:rPr lang="en-US" sz="1200" b="1" dirty="0">
                <a:solidFill>
                  <a:srgbClr val="125C60"/>
                </a:solidFill>
                <a:latin typeface="Proxima Nova" pitchFamily="34" charset="0"/>
                <a:ea typeface="Proxima Nova" pitchFamily="34" charset="-122"/>
                <a:cs typeface="Proxima Nova" pitchFamily="34" charset="-120"/>
              </a:rPr>
              <a:t>$3.09B</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$13.6B</a:t>
            </a:r>
            <a:pPr indent="0" marL="0">
              <a:buNone/>
            </a:pPr>
            <a:r>
              <a:rPr lang="en-US" sz="1200" dirty="0">
                <a:solidFill>
                  <a:srgbClr val="231F20"/>
                </a:solidFill>
                <a:latin typeface="Proxima Nova" pitchFamily="34" charset="0"/>
                <a:ea typeface="Proxima Nova" pitchFamily="34" charset="-122"/>
                <a:cs typeface="Proxima Nova" pitchFamily="34" charset="-120"/>
              </a:rPr>
              <a:t> statewide and </a:t>
            </a:r>
            <a:pPr indent="0" marL="0">
              <a:buNone/>
            </a:pPr>
            <a:r>
              <a:rPr lang="en-US" sz="1200" b="1" dirty="0">
                <a:solidFill>
                  <a:srgbClr val="125C60"/>
                </a:solidFill>
                <a:latin typeface="Proxima Nova" pitchFamily="34" charset="0"/>
                <a:ea typeface="Proxima Nova" pitchFamily="34" charset="-122"/>
                <a:cs typeface="Proxima Nova" pitchFamily="34" charset="-120"/>
              </a:rPr>
              <a:t>$92B</a:t>
            </a:r>
            <a:pPr indent="0" marL="0">
              <a:buNone/>
            </a:pPr>
            <a:r>
              <a:rPr lang="en-US" sz="1200" dirty="0">
                <a:solidFill>
                  <a:srgbClr val="231F20"/>
                </a:solidFill>
                <a:latin typeface="Proxima Nova" pitchFamily="34" charset="0"/>
                <a:ea typeface="Proxima Nova" pitchFamily="34" charset="-122"/>
                <a:cs typeface="Proxima Nova" pitchFamily="34" charset="-120"/>
              </a:rPr>
              <a:t> nationally.</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$970M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Includes $351M sales, $218M property and $234M lodging taxes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$83.6M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Includes $30.1M lodging taxes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$3.09B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Includes $557M lodging taxes; $2,857 per household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$13.6B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Local $7.2B + state $6.5B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$92B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State and local taxes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State and local taxes from visitors, 2025 ($M)</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estimates taxes generated by visitor spending and the activity it supports; components are listed in each one-pager.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Statewide local and state taxes add to </a:t>
            </a:r>
            <a:pPr indent="0" marL="0">
              <a:buNone/>
            </a:pPr>
            <a:r>
              <a:rPr lang="en-US" sz="900" b="1" dirty="0">
                <a:solidFill>
                  <a:srgbClr val="125C60"/>
                </a:solidFill>
                <a:latin typeface="Proxima Nova" pitchFamily="34" charset="0"/>
                <a:ea typeface="Proxima Nova" pitchFamily="34" charset="-122"/>
                <a:cs typeface="Proxima Nova" pitchFamily="34" charset="-120"/>
              </a:rPr>
              <a:t>$13.7B</a:t>
            </a:r>
            <a:pPr indent="0" marL="0">
              <a:buNone/>
            </a:pPr>
            <a:r>
              <a:rPr lang="en-US" sz="900" dirty="0">
                <a:solidFill>
                  <a:srgbClr val="231F20"/>
                </a:solidFill>
                <a:latin typeface="Proxima Nova" pitchFamily="34" charset="0"/>
                <a:ea typeface="Proxima Nova" pitchFamily="34" charset="-122"/>
                <a:cs typeface="Proxima Nova" pitchFamily="34" charset="-120"/>
              </a:rPr>
              <a:t> because of rounding; the report states </a:t>
            </a:r>
            <a:pPr indent="0" marL="0">
              <a:buNone/>
            </a:pPr>
            <a:r>
              <a:rPr lang="en-US" sz="900" b="1" dirty="0">
                <a:solidFill>
                  <a:srgbClr val="125C60"/>
                </a:solidFill>
                <a:latin typeface="Proxima Nova" pitchFamily="34" charset="0"/>
                <a:ea typeface="Proxima Nova" pitchFamily="34" charset="-122"/>
                <a:cs typeface="Proxima Nova" pitchFamily="34" charset="-120"/>
              </a:rPr>
              <a:t>$13.6B</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Travel Association, Economic Impact of the U.S. Travel Industry (2025 data; pub. 2026). Files in the app library: Economic impact one-pagers, 2025: Orange County, Anaheim and Garden Grove;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each 1% of visitors staying a day longer worth?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One more night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About </a:t>
            </a:r>
            <a:pPr indent="0" marL="0">
              <a:buNone/>
            </a:pPr>
            <a:r>
              <a:rPr lang="en-US" sz="1200" b="1" dirty="0">
                <a:solidFill>
                  <a:srgbClr val="125C60"/>
                </a:solidFill>
                <a:latin typeface="Proxima Nova" pitchFamily="34" charset="0"/>
                <a:ea typeface="Proxima Nova" pitchFamily="34" charset="-122"/>
                <a:cs typeface="Proxima Nova" pitchFamily="34" charset="-120"/>
              </a:rPr>
              <a:t>$31.5M</a:t>
            </a:r>
            <a:pPr indent="0" marL="0">
              <a:buNone/>
            </a:pPr>
            <a:r>
              <a:rPr lang="en-US" sz="1200" dirty="0">
                <a:solidFill>
                  <a:srgbClr val="231F20"/>
                </a:solidFill>
                <a:latin typeface="Proxima Nova" pitchFamily="34" charset="0"/>
                <a:ea typeface="Proxima Nova" pitchFamily="34" charset="-122"/>
                <a:cs typeface="Proxima Nova" pitchFamily="34" charset="-120"/>
              </a:rPr>
              <a:t> in Anaheim visitor spending: </a:t>
            </a:r>
            <a:pPr indent="0" marL="0">
              <a:buNone/>
            </a:pPr>
            <a:r>
              <a:rPr lang="en-US" sz="1200" b="1" dirty="0">
                <a:solidFill>
                  <a:srgbClr val="125C60"/>
                </a:solidFill>
                <a:latin typeface="Proxima Nova" pitchFamily="34" charset="0"/>
                <a:ea typeface="Proxima Nova" pitchFamily="34" charset="-122"/>
                <a:cs typeface="Proxima Nova" pitchFamily="34" charset="-120"/>
              </a:rPr>
              <a:t>26.5M</a:t>
            </a:r>
            <a:pPr indent="0" marL="0">
              <a:buNone/>
            </a:pPr>
            <a:r>
              <a:rPr lang="en-US" sz="1200" dirty="0">
                <a:solidFill>
                  <a:srgbClr val="231F20"/>
                </a:solidFill>
                <a:latin typeface="Proxima Nova" pitchFamily="34" charset="0"/>
                <a:ea typeface="Proxima Nova" pitchFamily="34" charset="-122"/>
                <a:cs typeface="Proxima Nova" pitchFamily="34" charset="-120"/>
              </a:rPr>
              <a:t> visitors × </a:t>
            </a:r>
            <a:pPr indent="0" marL="0">
              <a:buNone/>
            </a:pPr>
            <a:r>
              <a:rPr lang="en-US" sz="1200" b="1" dirty="0">
                <a:solidFill>
                  <a:srgbClr val="125C60"/>
                </a:solidFill>
                <a:latin typeface="Proxima Nova" pitchFamily="34" charset="0"/>
                <a:ea typeface="Proxima Nova" pitchFamily="34" charset="-122"/>
                <a:cs typeface="Proxima Nova" pitchFamily="34" charset="-120"/>
              </a:rPr>
              <a:t>1%</a:t>
            </a:r>
            <a:pPr indent="0" marL="0">
              <a:buNone/>
            </a:pPr>
            <a:r>
              <a:rPr lang="en-US" sz="1200" dirty="0">
                <a:solidFill>
                  <a:srgbClr val="231F20"/>
                </a:solidFill>
                <a:latin typeface="Proxima Nova" pitchFamily="34" charset="0"/>
                <a:ea typeface="Proxima Nova" pitchFamily="34" charset="-122"/>
                <a:cs typeface="Proxima Nova" pitchFamily="34" charset="-120"/>
              </a:rPr>
              <a:t> × </a:t>
            </a:r>
            <a:pPr indent="0" marL="0">
              <a:buNone/>
            </a:pPr>
            <a:r>
              <a:rPr lang="en-US" sz="1200" b="1" dirty="0">
                <a:solidFill>
                  <a:srgbClr val="125C60"/>
                </a:solidFill>
                <a:latin typeface="Proxima Nova" pitchFamily="34" charset="0"/>
                <a:ea typeface="Proxima Nova" pitchFamily="34" charset="-122"/>
                <a:cs typeface="Proxima Nova" pitchFamily="34" charset="-120"/>
              </a:rPr>
              <a:t>$118.71</a:t>
            </a:r>
            <a:pPr indent="0" marL="0">
              <a:buNone/>
            </a:pPr>
            <a:r>
              <a:rPr lang="en-US" sz="1200" dirty="0">
                <a:solidFill>
                  <a:srgbClr val="231F20"/>
                </a:solidFill>
                <a:latin typeface="Proxima Nova" pitchFamily="34" charset="0"/>
                <a:ea typeface="Proxima Nova" pitchFamily="34" charset="-122"/>
                <a:cs typeface="Proxima Nova" pitchFamily="34" charset="-120"/>
              </a:rPr>
              <a:t> per visitor-day. On the hotel side, each point of Sunday–Monday occupancy is about </a:t>
            </a:r>
            <a:pPr indent="0" marL="0">
              <a:buNone/>
            </a:pPr>
            <a:r>
              <a:rPr lang="en-US" sz="1200" b="1" dirty="0">
                <a:solidFill>
                  <a:srgbClr val="125C60"/>
                </a:solidFill>
                <a:latin typeface="Proxima Nova" pitchFamily="34" charset="0"/>
                <a:ea typeface="Proxima Nova" pitchFamily="34" charset="-122"/>
                <a:cs typeface="Proxima Nova" pitchFamily="34" charset="-120"/>
              </a:rPr>
              <a:t>22,200 room nights</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$5.1M</a:t>
            </a:r>
            <a:pPr indent="0" marL="0">
              <a:buNone/>
            </a:pPr>
            <a:r>
              <a:rPr lang="en-US" sz="1200" dirty="0">
                <a:solidFill>
                  <a:srgbClr val="231F20"/>
                </a:solidFill>
                <a:latin typeface="Proxima Nova" pitchFamily="34" charset="0"/>
                <a:ea typeface="Proxima Nova" pitchFamily="34" charset="-122"/>
                <a:cs typeface="Proxima Nova" pitchFamily="34" charset="-120"/>
              </a:rPr>
              <a:t> a year.</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visitor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$31.5M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26.5M × 1% × $118.71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hotels, Sunday–Monday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22,200 room nights · $5.1M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21,318 rooms × 1% × 104 nights × $230 average rate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hotels, the gap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15.7 points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Sunday–Monday 70.6% vs. Friday–Saturday 86.2% occupancy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hotel occupancy by night, 2026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Value per </a:t>
            </a:r>
            <a:pPr indent="0" marL="0">
              <a:buNone/>
            </a:pPr>
            <a:r>
              <a:rPr lang="en-US" sz="900" b="1" dirty="0">
                <a:solidFill>
                  <a:srgbClr val="125C60"/>
                </a:solidFill>
                <a:latin typeface="Proxima Nova" pitchFamily="34" charset="0"/>
                <a:ea typeface="Proxima Nova" pitchFamily="34" charset="-122"/>
                <a:cs typeface="Proxima Nova" pitchFamily="34" charset="-120"/>
              </a:rPr>
              <a:t>1%</a:t>
            </a:r>
            <a:pPr indent="0" marL="0">
              <a:buNone/>
            </a:pPr>
            <a:r>
              <a:rPr lang="en-US" sz="900" dirty="0">
                <a:solidFill>
                  <a:srgbClr val="231F20"/>
                </a:solidFill>
                <a:latin typeface="Proxima Nova" pitchFamily="34" charset="0"/>
                <a:ea typeface="Proxima Nova" pitchFamily="34" charset="-122"/>
                <a:cs typeface="Proxima Nova" pitchFamily="34" charset="-120"/>
              </a:rPr>
              <a:t> = visitors × </a:t>
            </a:r>
            <a:pPr indent="0" marL="0">
              <a:buNone/>
            </a:pPr>
            <a:r>
              <a:rPr lang="en-US" sz="900" b="1" dirty="0">
                <a:solidFill>
                  <a:srgbClr val="125C60"/>
                </a:solidFill>
                <a:latin typeface="Proxima Nova" pitchFamily="34" charset="0"/>
                <a:ea typeface="Proxima Nova" pitchFamily="34" charset="-122"/>
                <a:cs typeface="Proxima Nova" pitchFamily="34" charset="-120"/>
              </a:rPr>
              <a:t>1%</a:t>
            </a:r>
            <a:pPr indent="0" marL="0">
              <a:buNone/>
            </a:pPr>
            <a:r>
              <a:rPr lang="en-US" sz="900" dirty="0">
                <a:solidFill>
                  <a:srgbClr val="231F20"/>
                </a:solidFill>
                <a:latin typeface="Proxima Nova" pitchFamily="34" charset="0"/>
                <a:ea typeface="Proxima Nova" pitchFamily="34" charset="-122"/>
                <a:cs typeface="Proxima Nova" pitchFamily="34" charset="-120"/>
              </a:rPr>
              <a:t> × spending per visitor-day. Value per occupancy point = rooms × </a:t>
            </a:r>
            <a:pPr indent="0" marL="0">
              <a:buNone/>
            </a:pPr>
            <a:r>
              <a:rPr lang="en-US" sz="900" b="1" dirty="0">
                <a:solidFill>
                  <a:srgbClr val="125C60"/>
                </a:solidFill>
                <a:latin typeface="Proxima Nova" pitchFamily="34" charset="0"/>
                <a:ea typeface="Proxima Nova" pitchFamily="34" charset="-122"/>
                <a:cs typeface="Proxima Nova" pitchFamily="34" charset="-120"/>
              </a:rPr>
              <a:t>1%</a:t>
            </a:r>
            <a:pPr indent="0" marL="0">
              <a:buNone/>
            </a:pPr>
            <a:r>
              <a:rPr lang="en-US" sz="900" dirty="0">
                <a:solidFill>
                  <a:srgbClr val="231F20"/>
                </a:solidFill>
                <a:latin typeface="Proxima Nova" pitchFamily="34" charset="0"/>
                <a:ea typeface="Proxima Nova" pitchFamily="34" charset="-122"/>
                <a:cs typeface="Proxima Nova" pitchFamily="34" charset="-120"/>
              </a:rPr>
              <a:t> × Sunday and Monday nights in a year (104) × average Sunday–Monday rate.</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Arithmetic on 2025 and 2026 source data; it is not a forecast of what OC Vibe will add.</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 Tourism Economics, Economic Impact of Visitors 2025 (pub. Apr.–May 2026); STR daily data (Jan. 1–Oct. 3, 2026). Files in the app library: One more night study (Extra Night Calculation); STR daily hotel data, Visit Anaheim hotel sets; Economic Impact of Visitors to Anaheim,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do people get to the OC Vibe area?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Mostly by car: </a:t>
            </a:r>
            <a:pPr indent="0" marL="0">
              <a:buNone/>
            </a:pPr>
            <a:r>
              <a:rPr lang="en-US" sz="1200" b="1" dirty="0">
                <a:solidFill>
                  <a:srgbClr val="125C60"/>
                </a:solidFill>
                <a:latin typeface="Proxima Nova" pitchFamily="34" charset="0"/>
                <a:ea typeface="Proxima Nova" pitchFamily="34" charset="-122"/>
                <a:cs typeface="Proxima Nova" pitchFamily="34" charset="-120"/>
              </a:rPr>
              <a:t>74.0%</a:t>
            </a:r>
            <a:pPr indent="0" marL="0">
              <a:buNone/>
            </a:pPr>
            <a:r>
              <a:rPr lang="en-US" sz="1200" dirty="0">
                <a:solidFill>
                  <a:srgbClr val="231F20"/>
                </a:solidFill>
                <a:latin typeface="Proxima Nova" pitchFamily="34" charset="0"/>
                <a:ea typeface="Proxima Nova" pitchFamily="34" charset="-122"/>
                <a:cs typeface="Proxima Nova" pitchFamily="34" charset="-120"/>
              </a:rPr>
              <a:t> of domestic trips to Anaheim and Garden Grove start within 50 miles, and SR-57 beside OC Vibe carries about </a:t>
            </a:r>
            <a:pPr indent="0" marL="0">
              <a:buNone/>
            </a:pPr>
            <a:r>
              <a:rPr lang="en-US" sz="12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200" dirty="0">
                <a:solidFill>
                  <a:srgbClr val="231F20"/>
                </a:solidFill>
                <a:latin typeface="Proxima Nova" pitchFamily="34" charset="0"/>
                <a:ea typeface="Proxima Nova" pitchFamily="34" charset="-122"/>
                <a:cs typeface="Proxima Nova" pitchFamily="34" charset="-120"/>
              </a:rPr>
              <a:t> a weekday. ARTIC adds 277 weekday bus trips, Amtrak (</a:t>
            </a:r>
            <a:pPr indent="0" marL="0">
              <a:buNone/>
            </a:pPr>
            <a:r>
              <a:rPr lang="en-US" sz="1200" b="1" dirty="0">
                <a:solidFill>
                  <a:srgbClr val="125C60"/>
                </a:solidFill>
                <a:latin typeface="Proxima Nova" pitchFamily="34" charset="0"/>
                <a:ea typeface="Proxima Nova" pitchFamily="34" charset="-122"/>
                <a:cs typeface="Proxima Nova" pitchFamily="34" charset="-120"/>
              </a:rPr>
              <a:t>191,153</a:t>
            </a:r>
            <a:pPr indent="0" marL="0">
              <a:buNone/>
            </a:pPr>
            <a:r>
              <a:rPr lang="en-US" sz="1200" dirty="0">
                <a:solidFill>
                  <a:srgbClr val="231F20"/>
                </a:solidFill>
                <a:latin typeface="Proxima Nova" pitchFamily="34" charset="0"/>
                <a:ea typeface="Proxima Nova" pitchFamily="34" charset="-122"/>
                <a:cs typeface="Proxima Nova" pitchFamily="34" charset="-120"/>
              </a:rPr>
              <a:t> passengers in 2024) and Metrolink.</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275,000 vehicles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SR-57, Ball Rd to Katella Ave (Caltrans 2024 count)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ARTIC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277 weekday bus trips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Routes 50, 53 and 553; Saturday 182, Sunday 181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Rail at ARTIC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191,153 Amtrak passengers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2024; Metrolink Orange County Line 5,116 weekday riders (FY26 Q2)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residents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67.5% drive alone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1,057,284 of 1,565,842 workers; public transportation 1.2%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How Orange County workers commute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Bus trips are counted from OCTA's schedule files (every trip stopping at ARTIC on a weekday). Commute shares = workers by mode ÷ all workers 16 and over.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Metrolink figures are line totals, not ARTIC boardings. Traffic counts for arterials date from 2021 to 2024.</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2026 Traffic Flow Map (Aug. 2026); OCTA schedules (Aug. 9–Nov. 7, 2026); Rail Passengers Association; Metrolink; U.S. BTS County Transportation Profile. Files in the app library: 2026 Traffic Flow Map; OCTA bus schedules (GTFS feed); Amtrak service in Anaheim, CA (ANA); Metrolink fact sheet, FY2025-26 Q2; County Transportation Profile: Orange County, CA; Domestic visitors to Anaheim and Garden Grove.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does it cost to travel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Gasoline averaged </a:t>
            </a:r>
            <a:pPr indent="0" marL="0">
              <a:buNone/>
            </a:pPr>
            <a:r>
              <a:rPr lang="en-US" sz="1200" b="1" dirty="0">
                <a:solidFill>
                  <a:srgbClr val="125C60"/>
                </a:solidFill>
                <a:latin typeface="Proxima Nova" pitchFamily="34" charset="0"/>
                <a:ea typeface="Proxima Nova" pitchFamily="34" charset="-122"/>
                <a:cs typeface="Proxima Nova" pitchFamily="34" charset="-120"/>
              </a:rPr>
              <a:t>$4.09</a:t>
            </a:r>
            <a:pPr indent="0" marL="0">
              <a:buNone/>
            </a:pPr>
            <a:r>
              <a:rPr lang="en-US" sz="1200" dirty="0">
                <a:solidFill>
                  <a:srgbClr val="231F20"/>
                </a:solidFill>
                <a:latin typeface="Proxima Nova" pitchFamily="34" charset="0"/>
                <a:ea typeface="Proxima Nova" pitchFamily="34" charset="-122"/>
                <a:cs typeface="Proxima Nova" pitchFamily="34" charset="-120"/>
              </a:rPr>
              <a:t> a gallon on the West Coast in 2025 vs. </a:t>
            </a:r>
            <a:pPr indent="0" marL="0">
              <a:buNone/>
            </a:pPr>
            <a:r>
              <a:rPr lang="en-US" sz="1200" b="1" dirty="0">
                <a:solidFill>
                  <a:srgbClr val="125C60"/>
                </a:solidFill>
                <a:latin typeface="Proxima Nova" pitchFamily="34" charset="0"/>
                <a:ea typeface="Proxima Nova" pitchFamily="34" charset="-122"/>
                <a:cs typeface="Proxima Nova" pitchFamily="34" charset="-120"/>
              </a:rPr>
              <a:t>$3.10</a:t>
            </a:r>
            <a:pPr indent="0" marL="0">
              <a:buNone/>
            </a:pPr>
            <a:r>
              <a:rPr lang="en-US" sz="1200" dirty="0">
                <a:solidFill>
                  <a:srgbClr val="231F20"/>
                </a:solidFill>
                <a:latin typeface="Proxima Nova" pitchFamily="34" charset="0"/>
                <a:ea typeface="Proxima Nova" pitchFamily="34" charset="-122"/>
                <a:cs typeface="Proxima Nova" pitchFamily="34" charset="-120"/>
              </a:rPr>
              <a:t> nationally. The average U.S. domestic airfare was </a:t>
            </a:r>
            <a:pPr indent="0" marL="0">
              <a:buNone/>
            </a:pPr>
            <a:r>
              <a:rPr lang="en-US" sz="1200" b="1" dirty="0">
                <a:solidFill>
                  <a:srgbClr val="125C60"/>
                </a:solidFill>
                <a:latin typeface="Proxima Nova" pitchFamily="34" charset="0"/>
                <a:ea typeface="Proxima Nova" pitchFamily="34" charset="-122"/>
                <a:cs typeface="Proxima Nova" pitchFamily="34" charset="-120"/>
              </a:rPr>
              <a:t>$387</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+9.9%</a:t>
            </a:r>
            <a:pPr indent="0" marL="0">
              <a:buNone/>
            </a:pPr>
            <a:r>
              <a:rPr lang="en-US" sz="1200" dirty="0">
                <a:solidFill>
                  <a:srgbClr val="231F20"/>
                </a:solidFill>
                <a:latin typeface="Proxima Nova" pitchFamily="34" charset="0"/>
                <a:ea typeface="Proxima Nova" pitchFamily="34" charset="-122"/>
                <a:cs typeface="Proxima Nova" pitchFamily="34" charset="-120"/>
              </a:rPr>
              <a:t> since 2019), and driving cost </a:t>
            </a:r>
            <a:pPr indent="0" marL="0">
              <a:buNone/>
            </a:pPr>
            <a:r>
              <a:rPr lang="en-US" sz="1200" b="1" dirty="0">
                <a:solidFill>
                  <a:srgbClr val="125C60"/>
                </a:solidFill>
                <a:latin typeface="Proxima Nova" pitchFamily="34" charset="0"/>
                <a:ea typeface="Proxima Nova" pitchFamily="34" charset="-122"/>
                <a:cs typeface="Proxima Nova" pitchFamily="34" charset="-120"/>
              </a:rPr>
              <a:t>$0.82</a:t>
            </a:r>
            <a:pPr indent="0" marL="0">
              <a:buNone/>
            </a:pPr>
            <a:r>
              <a:rPr lang="en-US" sz="1200" dirty="0">
                <a:solidFill>
                  <a:srgbClr val="231F20"/>
                </a:solidFill>
                <a:latin typeface="Proxima Nova" pitchFamily="34" charset="0"/>
                <a:ea typeface="Proxima Nova" pitchFamily="34" charset="-122"/>
                <a:cs typeface="Proxima Nova" pitchFamily="34" charset="-120"/>
              </a:rPr>
              <a:t> a mile in 2024.</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West Coast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$4.09 a gallon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32% above the U.S. average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$3.10 a gallon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Regular gasoline, 2025 average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airfare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$387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Domestic average, 2025; $352 in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driving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$0.82 a mile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Average total cost, 2024; $0.62 in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Average domestic airfare, U.S.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Values as published by BTS in current dollars.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National averages; Orange County fares and prices can differ.</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U.S. BTS, Transportation Economic Trends, Table 3.1; U.S. BTS, Table 3.1; U.S. BTS, Table 3.4; U.S. BTS, Table 6.6. Files in the app library: Transportation Economic Trends: table guide.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much Anaheim visitor activity already includes the OC Vibe area?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5.2%</a:t>
            </a:r>
            <a:pPr indent="0" marL="0">
              <a:buNone/>
            </a:pPr>
            <a:r>
              <a:rPr lang="en-US" sz="1200" dirty="0">
                <a:solidFill>
                  <a:srgbClr val="231F20"/>
                </a:solidFill>
                <a:latin typeface="Proxima Nova" pitchFamily="34" charset="0"/>
                <a:ea typeface="Proxima Nova" pitchFamily="34" charset="-122"/>
                <a:cs typeface="Proxima Nova" pitchFamily="34" charset="-120"/>
              </a:rPr>
              <a:t> of Anaheim visitor days in 2024 included the OC Vibe area, before the new venues open (Datafy). Disneyland was in </a:t>
            </a:r>
            <a:pPr indent="0" marL="0">
              <a:buNone/>
            </a:pPr>
            <a:r>
              <a:rPr lang="en-US" sz="1200" b="1" dirty="0">
                <a:solidFill>
                  <a:srgbClr val="125C60"/>
                </a:solidFill>
                <a:latin typeface="Proxima Nova" pitchFamily="34" charset="0"/>
                <a:ea typeface="Proxima Nova" pitchFamily="34" charset="-122"/>
                <a:cs typeface="Proxima Nova" pitchFamily="34" charset="-120"/>
              </a:rPr>
              <a:t>74.4%</a:t>
            </a:r>
            <a:pPr indent="0" marL="0">
              <a:buNone/>
            </a:pPr>
            <a:r>
              <a:rPr lang="en-US" sz="1200" dirty="0">
                <a:solidFill>
                  <a:srgbClr val="231F20"/>
                </a:solidFill>
                <a:latin typeface="Proxima Nova" pitchFamily="34" charset="0"/>
                <a:ea typeface="Proxima Nova" pitchFamily="34" charset="-122"/>
                <a:cs typeface="Proxima Nova" pitchFamily="34" charset="-120"/>
              </a:rPr>
              <a:t> and meeting services in </a:t>
            </a:r>
            <a:pPr indent="0" marL="0">
              <a:buNone/>
            </a:pPr>
            <a:r>
              <a:rPr lang="en-US" sz="1200" b="1" dirty="0">
                <a:solidFill>
                  <a:srgbClr val="125C60"/>
                </a:solidFill>
                <a:latin typeface="Proxima Nova" pitchFamily="34" charset="0"/>
                <a:ea typeface="Proxima Nova" pitchFamily="34" charset="-122"/>
                <a:cs typeface="Proxima Nova" pitchFamily="34" charset="-120"/>
              </a:rPr>
              <a:t>3.4%</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5.2%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Share of Anaheim visitor days (visitors 50+ miles; employees excluded)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74.4%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Share of Anaheim visitor days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79.2%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Repeat 49.6% · 6+ day stays 27.6%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Anaheim visitor days that include each cluster, 2024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Datafy assigns each visitor day to the clusters a device visited; a day can include several clusters, so shares add to more than </a:t>
            </a:r>
            <a:pPr indent="0" marL="0">
              <a:buNone/>
            </a:pPr>
            <a:r>
              <a:rPr lang="en-US" sz="900" b="1" dirty="0">
                <a:solidFill>
                  <a:srgbClr val="125C60"/>
                </a:solidFill>
                <a:latin typeface="Proxima Nova" pitchFamily="34" charset="0"/>
                <a:ea typeface="Proxima Nova" pitchFamily="34" charset="-122"/>
                <a:cs typeface="Proxima Nova" pitchFamily="34" charset="-120"/>
              </a:rPr>
              <a:t>100%</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Datafy's calendar 2025 export (in the library) uses a different basis and is not yet used here; it will be reconciled at the next quarterly update.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(calendar 2024). Files in the app library: Datafy tables export, Anaheim, calendar 2025; District 5 visitor profile (POI Analysis).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Which markets bring visitors and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Southern California dominates: Los Angeles and Riverside metros are </a:t>
            </a:r>
            <a:pPr indent="0" marL="0">
              <a:buNone/>
            </a:pPr>
            <a:r>
              <a:rPr lang="en-US" sz="1200" b="1" dirty="0">
                <a:solidFill>
                  <a:srgbClr val="125C60"/>
                </a:solidFill>
                <a:latin typeface="Proxima Nova" pitchFamily="34" charset="0"/>
                <a:ea typeface="Proxima Nova" pitchFamily="34" charset="-122"/>
                <a:cs typeface="Proxima Nova" pitchFamily="34" charset="-120"/>
              </a:rPr>
              <a:t>46.2%</a:t>
            </a:r>
            <a:pPr indent="0" marL="0">
              <a:buNone/>
            </a:pPr>
            <a:r>
              <a:rPr lang="en-US" sz="1200" dirty="0">
                <a:solidFill>
                  <a:srgbClr val="231F20"/>
                </a:solidFill>
                <a:latin typeface="Proxima Nova" pitchFamily="34" charset="0"/>
                <a:ea typeface="Proxima Nova" pitchFamily="34" charset="-122"/>
                <a:cs typeface="Proxima Nova" pitchFamily="34" charset="-120"/>
              </a:rPr>
              <a:t> of District 5 visitors. By card spending, the leading fly-in metros are Seattle, Phoenix, Las Vegas, Orlando and New York; internationally, Mexico, Canada and Japan.</a:t>
            </a:r>
            <a:endParaRPr lang="en-US" sz="1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District 5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 56.0%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Texas 4.5% · Virginia 4.2% · Florida 3.7% · Arizona 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Visitor card spending (U.S.)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$464.6M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Los Angeles metro 66.1%; Seattle $5.4M, Phoenix $4.9M, Las Vegas $4.5M, Orlando $3.4M, New York $3.3M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International card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Mexico $5.2M, Canada $3.2M, Japan $2.4M, United Kingdom $1.4M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International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2.16M (2026 forecast)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and Garden Grove; Mexico 819,078 (+6.9%)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Top states for District 5 visitors (% of unique domestic visitors)</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Origins are home locations of devices (Azira) or cardholder home metros (Visa). </a:t>
            </a:r>
            <a:pPr indent="0" marL="0">
              <a:buNone/>
            </a:pPr>
            <a:r>
              <a:rPr lang="en-US" sz="900" b="1" dirty="0">
                <a:solidFill>
                  <a:srgbClr val="125C60"/>
                </a:solidFill>
                <a:latin typeface="Proxima Nova" pitchFamily="34" charset="0"/>
                <a:ea typeface="Proxima Nova" pitchFamily="34" charset="-122"/>
                <a:cs typeface="Proxima Nova" pitchFamily="34" charset="-120"/>
              </a:rPr>
              <a:t>46.2%</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23.6%</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22.6%</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Visa covers Visa cards only, and its geography set needs confirmation; use it for ranking markets, not totals.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(Jan. 1–May 31, 2026); Visa Destination Insights via Symphony; Tourism Economics, Anaheim and Garden Grove Travel Forecast (Sept. 2026). Files in the app library: District 5 visitor profile (POI Analysis); Visitor card spending by visitor type; International card activity;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Does Visit Anaheim's marketing bring visitors?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Yes. From January through August 2026, paid media produced </a:t>
            </a:r>
            <a:pPr indent="0" marL="0">
              <a:buNone/>
            </a:pPr>
            <a:r>
              <a:rPr lang="en-US" sz="1200" b="1" dirty="0">
                <a:solidFill>
                  <a:srgbClr val="125C60"/>
                </a:solidFill>
                <a:latin typeface="Proxima Nova" pitchFamily="34" charset="0"/>
                <a:ea typeface="Proxima Nova" pitchFamily="34" charset="-122"/>
                <a:cs typeface="Proxima Nova" pitchFamily="34" charset="-120"/>
              </a:rPr>
              <a:t>31.0M</a:t>
            </a:r>
            <a:pPr indent="0" marL="0">
              <a:buNone/>
            </a:pPr>
            <a:r>
              <a:rPr lang="en-US" sz="120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200" b="1" dirty="0">
                <a:solidFill>
                  <a:srgbClr val="125C60"/>
                </a:solidFill>
                <a:latin typeface="Proxima Nova" pitchFamily="34" charset="0"/>
                <a:ea typeface="Proxima Nova" pitchFamily="34" charset="-122"/>
                <a:cs typeface="Proxima Nova" pitchFamily="34" charset="-120"/>
              </a:rPr>
              <a:t>368,416</a:t>
            </a:r>
            <a:pPr indent="0" marL="0">
              <a:buNone/>
            </a:pPr>
            <a:r>
              <a:rPr lang="en-US" sz="1200" dirty="0">
                <a:solidFill>
                  <a:srgbClr val="231F20"/>
                </a:solidFill>
                <a:latin typeface="Proxima Nova" pitchFamily="34" charset="0"/>
                <a:ea typeface="Proxima Nova" pitchFamily="34" charset="-122"/>
                <a:cs typeface="Proxima Nova" pitchFamily="34" charset="-120"/>
              </a:rPr>
              <a:t> observed visits (</a:t>
            </a:r>
            <a:pPr indent="0" marL="0">
              <a:buNone/>
            </a:pPr>
            <a:r>
              <a:rPr lang="en-US" sz="1200" b="1" dirty="0">
                <a:solidFill>
                  <a:srgbClr val="125C60"/>
                </a:solidFill>
                <a:latin typeface="Proxima Nova" pitchFamily="34" charset="0"/>
                <a:ea typeface="Proxima Nova" pitchFamily="34" charset="-122"/>
                <a:cs typeface="Proxima Nova" pitchFamily="34" charset="-120"/>
              </a:rPr>
              <a:t>11.9</a:t>
            </a:r>
            <a:pPr indent="0" marL="0">
              <a:buNone/>
            </a:pPr>
            <a:r>
              <a:rPr lang="en-US" sz="1200" dirty="0">
                <a:solidFill>
                  <a:srgbClr val="231F20"/>
                </a:solidFill>
                <a:latin typeface="Proxima Nova" pitchFamily="34" charset="0"/>
                <a:ea typeface="Proxima Nova" pitchFamily="34" charset="-122"/>
                <a:cs typeface="Proxima Nova" pitchFamily="34" charset="-120"/>
              </a:rPr>
              <a:t> per </a:t>
            </a:r>
            <a:pPr indent="0" marL="0">
              <a:buNone/>
            </a:pPr>
            <a:r>
              <a:rPr lang="en-US" sz="1200" b="1" dirty="0">
                <a:solidFill>
                  <a:srgbClr val="125C60"/>
                </a:solidFill>
                <a:latin typeface="Proxima Nova" pitchFamily="34" charset="0"/>
                <a:ea typeface="Proxima Nova" pitchFamily="34" charset="-122"/>
                <a:cs typeface="Proxima Nova" pitchFamily="34" charset="-120"/>
              </a:rPr>
              <a:t>1,000</a:t>
            </a:r>
            <a:pPr indent="0" marL="0">
              <a:buNone/>
            </a:pPr>
            <a:r>
              <a:rPr lang="en-US" sz="1200" dirty="0">
                <a:solidFill>
                  <a:srgbClr val="231F20"/>
                </a:solidFill>
                <a:latin typeface="Proxima Nova" pitchFamily="34" charset="0"/>
                <a:ea typeface="Proxima Nova" pitchFamily="34" charset="-122"/>
                <a:cs typeface="Proxima Nova" pitchFamily="34" charset="-120"/>
              </a:rPr>
              <a:t> impressions), arriving about </a:t>
            </a:r>
            <a:pPr indent="0" marL="0">
              <a:buNone/>
            </a:pPr>
            <a:r>
              <a:rPr lang="en-US" sz="1200" b="1" dirty="0">
                <a:solidFill>
                  <a:srgbClr val="125C60"/>
                </a:solidFill>
                <a:latin typeface="Proxima Nova" pitchFamily="34" charset="0"/>
                <a:ea typeface="Proxima Nova" pitchFamily="34" charset="-122"/>
                <a:cs typeface="Proxima Nova" pitchFamily="34" charset="-120"/>
              </a:rPr>
              <a:t>39 days</a:t>
            </a:r>
            <a:pPr indent="0" marL="0">
              <a:buNone/>
            </a:pPr>
            <a:r>
              <a:rPr lang="en-US" sz="1200" dirty="0">
                <a:solidFill>
                  <a:srgbClr val="231F20"/>
                </a:solidFill>
                <a:latin typeface="Proxima Nova" pitchFamily="34" charset="0"/>
                <a:ea typeface="Proxima Nova" pitchFamily="34" charset="-122"/>
                <a:cs typeface="Proxima Nova" pitchFamily="34" charset="-120"/>
              </a:rPr>
              <a:t> after seeing an ad.</a:t>
            </a:r>
            <a:endParaRPr lang="en-US" sz="1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All campaigns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368,416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31,011,072 impressions · visit rate 1.19%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Best campaign rate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34.4 per 1,000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Luxury campaign, Basis DSP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Top vendor by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183,900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Basis DSP (13.3M impressions)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Visits per 1,000 impressions by vendor</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Visits per </a:t>
            </a:r>
            <a:pPr indent="0" marL="0">
              <a:buNone/>
            </a:pPr>
            <a:r>
              <a:rPr lang="en-US" sz="900" b="1" dirty="0">
                <a:solidFill>
                  <a:srgbClr val="125C60"/>
                </a:solidFill>
                <a:latin typeface="Proxima Nova" pitchFamily="34" charset="0"/>
                <a:ea typeface="Proxima Nova" pitchFamily="34" charset="-122"/>
                <a:cs typeface="Proxima Nova" pitchFamily="34" charset="-120"/>
              </a:rPr>
              <a:t>1,000</a:t>
            </a:r>
            <a:pPr indent="0" marL="0">
              <a:buNone/>
            </a:pPr>
            <a:r>
              <a:rPr lang="en-US" sz="900" dirty="0">
                <a:solidFill>
                  <a:srgbClr val="231F20"/>
                </a:solidFill>
                <a:latin typeface="Proxima Nova" pitchFamily="34" charset="0"/>
                <a:ea typeface="Proxima Nova" pitchFamily="34" charset="-122"/>
                <a:cs typeface="Proxima Nova" pitchFamily="34" charset="-120"/>
              </a:rPr>
              <a:t> impressions = observed visits ÷ measurable impressions × </a:t>
            </a:r>
            <a:pPr indent="0" marL="0">
              <a:buNone/>
            </a:pPr>
            <a:r>
              <a:rPr lang="en-US" sz="900" b="1" dirty="0">
                <a:solidFill>
                  <a:srgbClr val="125C60"/>
                </a:solidFill>
                <a:latin typeface="Proxima Nova" pitchFamily="34" charset="0"/>
                <a:ea typeface="Proxima Nova" pitchFamily="34" charset="-122"/>
                <a:cs typeface="Proxima Nova" pitchFamily="34" charset="-120"/>
              </a:rPr>
              <a:t>1,000</a:t>
            </a:r>
            <a:pPr indent="0" marL="0">
              <a:buNone/>
            </a:pPr>
            <a:r>
              <a:rPr lang="en-US" sz="900" dirty="0">
                <a:solidFill>
                  <a:srgbClr val="231F20"/>
                </a:solidFill>
                <a:latin typeface="Proxima Nova" pitchFamily="34" charset="0"/>
                <a:ea typeface="Proxima Nova" pitchFamily="34" charset="-122"/>
                <a:cs typeface="Proxima Nova" pitchFamily="34" charset="-120"/>
              </a:rPr>
              <a:t>. Only the first visit after exposure counts, with at least </a:t>
            </a:r>
            <a:pPr indent="0" marL="0">
              <a:buNone/>
            </a:pPr>
            <a:r>
              <a:rPr lang="en-US" sz="900" b="1" dirty="0">
                <a:solidFill>
                  <a:srgbClr val="125C60"/>
                </a:solidFill>
                <a:latin typeface="Proxima Nova" pitchFamily="34" charset="0"/>
                <a:ea typeface="Proxima Nova" pitchFamily="34" charset="-122"/>
                <a:cs typeface="Proxima Nova" pitchFamily="34" charset="-120"/>
              </a:rPr>
              <a:t>3 days</a:t>
            </a:r>
            <a:pPr indent="0" marL="0">
              <a:buNone/>
            </a:pPr>
            <a:r>
              <a:rPr lang="en-US" sz="900" dirty="0">
                <a:solidFill>
                  <a:srgbClr val="231F20"/>
                </a:solidFill>
                <a:latin typeface="Proxima Nova" pitchFamily="34" charset="0"/>
                <a:ea typeface="Proxima Nova" pitchFamily="34" charset="-122"/>
                <a:cs typeface="Proxima Nova" pitchFamily="34" charset="-120"/>
              </a:rPr>
              <a:t> from exposure to visit.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Observed visits are a sample-based measure, not total visitors caused by ads.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attribution via Symphony (Jan. 1–Aug. 31, 2026); Azira attribution via Symphony. Files in the app library: Media attribution summary.</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are hotels performing?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Hotels and outlook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Resort-area hotels filled </a:t>
            </a:r>
            <a:pPr indent="0" marL="0">
              <a:buNone/>
            </a:pPr>
            <a:r>
              <a:rPr lang="en-US" sz="1200" b="1" dirty="0">
                <a:solidFill>
                  <a:srgbClr val="125C60"/>
                </a:solidFill>
                <a:latin typeface="Proxima Nova" pitchFamily="34" charset="0"/>
                <a:ea typeface="Proxima Nova" pitchFamily="34" charset="-122"/>
                <a:cs typeface="Proxima Nova" pitchFamily="34" charset="-120"/>
              </a:rPr>
              <a:t>78.4%</a:t>
            </a:r>
            <a:pPr indent="0" marL="0">
              <a:buNone/>
            </a:pPr>
            <a:r>
              <a:rPr lang="en-US" sz="1200" dirty="0">
                <a:solidFill>
                  <a:srgbClr val="231F20"/>
                </a:solidFill>
                <a:latin typeface="Proxima Nova" pitchFamily="34" charset="0"/>
                <a:ea typeface="Proxima Nova" pitchFamily="34" charset="-122"/>
                <a:cs typeface="Proxima Nova" pitchFamily="34" charset="-120"/>
              </a:rPr>
              <a:t> of rooms at </a:t>
            </a:r>
            <a:pPr indent="0" marL="0">
              <a:buNone/>
            </a:pPr>
            <a:r>
              <a:rPr lang="en-US" sz="1200" b="1" dirty="0">
                <a:solidFill>
                  <a:srgbClr val="125C60"/>
                </a:solidFill>
                <a:latin typeface="Proxima Nova" pitchFamily="34" charset="0"/>
                <a:ea typeface="Proxima Nova" pitchFamily="34" charset="-122"/>
                <a:cs typeface="Proxima Nova" pitchFamily="34" charset="-120"/>
              </a:rPr>
              <a:t>$255</a:t>
            </a:r>
            <a:pPr indent="0" marL="0">
              <a:buNone/>
            </a:pPr>
            <a:r>
              <a:rPr lang="en-US" sz="1200" dirty="0">
                <a:solidFill>
                  <a:srgbClr val="231F20"/>
                </a:solidFill>
                <a:latin typeface="Proxima Nova" pitchFamily="34" charset="0"/>
                <a:ea typeface="Proxima Nova" pitchFamily="34" charset="-122"/>
                <a:cs typeface="Proxima Nova" pitchFamily="34" charset="-120"/>
              </a:rPr>
              <a:t> a night over the past 12 months (CoStar Disneyland submarket);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74.0%</a:t>
            </a:r>
            <a:pPr indent="0" marL="0">
              <a:buNone/>
            </a:pPr>
            <a:r>
              <a:rPr lang="en-US" sz="1200" dirty="0">
                <a:solidFill>
                  <a:srgbClr val="231F20"/>
                </a:solidFill>
                <a:latin typeface="Proxima Nova" pitchFamily="34" charset="0"/>
                <a:ea typeface="Proxima Nova" pitchFamily="34" charset="-122"/>
                <a:cs typeface="Proxima Nova" pitchFamily="34" charset="-120"/>
              </a:rPr>
              <a:t> at </a:t>
            </a:r>
            <a:pPr indent="0" marL="0">
              <a:buNone/>
            </a:pPr>
            <a:r>
              <a:rPr lang="en-US" sz="1200" b="1" dirty="0">
                <a:solidFill>
                  <a:srgbClr val="125C60"/>
                </a:solidFill>
                <a:latin typeface="Proxima Nova" pitchFamily="34" charset="0"/>
                <a:ea typeface="Proxima Nova" pitchFamily="34" charset="-122"/>
                <a:cs typeface="Proxima Nova" pitchFamily="34" charset="-120"/>
              </a:rPr>
              <a:t>$218</a:t>
            </a:r>
            <a:pPr indent="0" marL="0">
              <a:buNone/>
            </a:pPr>
            <a:r>
              <a:rPr lang="en-US" sz="1200" dirty="0">
                <a:solidFill>
                  <a:srgbClr val="231F20"/>
                </a:solidFill>
                <a:latin typeface="Proxima Nova" pitchFamily="34" charset="0"/>
                <a:ea typeface="Proxima Nova" pitchFamily="34" charset="-122"/>
                <a:cs typeface="Proxima Nova" pitchFamily="34" charset="-120"/>
              </a:rPr>
              <a:t>. Anaheim hotel revenue per room rose </a:t>
            </a:r>
            <a:pPr indent="0" marL="0">
              <a:buNone/>
            </a:pPr>
            <a:r>
              <a:rPr lang="en-US" sz="1200" b="1" dirty="0">
                <a:solidFill>
                  <a:srgbClr val="125C60"/>
                </a:solidFill>
                <a:latin typeface="Proxima Nova" pitchFamily="34" charset="0"/>
                <a:ea typeface="Proxima Nova" pitchFamily="34" charset="-122"/>
                <a:cs typeface="Proxima Nova" pitchFamily="34" charset="-120"/>
              </a:rPr>
              <a:t>11.4%</a:t>
            </a:r>
            <a:pPr indent="0" marL="0">
              <a:buNone/>
            </a:pPr>
            <a:r>
              <a:rPr lang="en-US" sz="1200" dirty="0">
                <a:solidFill>
                  <a:srgbClr val="231F20"/>
                </a:solidFill>
                <a:latin typeface="Proxima Nova" pitchFamily="34" charset="0"/>
                <a:ea typeface="Proxima Nova" pitchFamily="34" charset="-122"/>
                <a:cs typeface="Proxima Nova" pitchFamily="34" charset="-120"/>
              </a:rPr>
              <a:t> in Q2 2026, about twice the U.S. (</a:t>
            </a:r>
            <a:pPr indent="0" marL="0">
              <a:buNone/>
            </a:pPr>
            <a:r>
              <a:rPr lang="en-US" sz="1200" b="1" dirty="0">
                <a:solidFill>
                  <a:srgbClr val="125C60"/>
                </a:solidFill>
                <a:latin typeface="Proxima Nova" pitchFamily="34" charset="0"/>
                <a:ea typeface="Proxima Nova" pitchFamily="34" charset="-122"/>
                <a:cs typeface="Proxima Nova" pitchFamily="34" charset="-120"/>
              </a:rPr>
              <a:t>+5.7%</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 submarket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78.4% · $255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RevPAR $199.78 (+7.9%); 21,213 rooms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74.0% · $218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RevPAR $162 (+6.9%); 60,223 rooms; 668 under construction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market vs. 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+11.4% vs. +5.7%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Revenue per available room, Q2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Hotel occupancy by Orange County submarket, 12 months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Occupancy = rooms sold ÷ rooms available; ADR = room revenue ÷ rooms sold; RevPAR = room revenue ÷ rooms available.</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CoStar, STR and LARC use different hotel sets; compare trends, not levels.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(through Aug. 2026); LARC Market Intelligence Report (Sept. 2026). Files in the app library: Orange County hospitality market report; Disneyland hospitality submarket report; Anaheim Market Intelligence Report, Sept. 2026; STR daily hotel data, Visit Anaheim hotel sets.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outlook to 2028?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Hotels and outlook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Tourism Economics forecasts Anaheim visitors rising to </a:t>
            </a:r>
            <a:pPr indent="0" marL="0">
              <a:buNone/>
            </a:pPr>
            <a:r>
              <a:rPr lang="en-US" sz="1200" b="1" dirty="0">
                <a:solidFill>
                  <a:srgbClr val="125C60"/>
                </a:solidFill>
                <a:latin typeface="Proxima Nova" pitchFamily="34" charset="0"/>
                <a:ea typeface="Proxima Nova" pitchFamily="34" charset="-122"/>
                <a:cs typeface="Proxima Nova" pitchFamily="34" charset="-120"/>
              </a:rPr>
              <a:t>27.6M</a:t>
            </a:r>
            <a:pPr indent="0" marL="0">
              <a:buNone/>
            </a:pPr>
            <a:r>
              <a:rPr lang="en-US" sz="1200" dirty="0">
                <a:solidFill>
                  <a:srgbClr val="231F20"/>
                </a:solidFill>
                <a:latin typeface="Proxima Nova" pitchFamily="34" charset="0"/>
                <a:ea typeface="Proxima Nova" pitchFamily="34" charset="-122"/>
                <a:cs typeface="Proxima Nova" pitchFamily="34" charset="-120"/>
              </a:rPr>
              <a:t> and spending to </a:t>
            </a:r>
            <a:pPr indent="0" marL="0">
              <a:buNone/>
            </a:pPr>
            <a:r>
              <a:rPr lang="en-US" sz="1200" b="1" dirty="0">
                <a:solidFill>
                  <a:srgbClr val="125C60"/>
                </a:solidFill>
                <a:latin typeface="Proxima Nova" pitchFamily="34" charset="0"/>
                <a:ea typeface="Proxima Nova" pitchFamily="34" charset="-122"/>
                <a:cs typeface="Proxima Nova" pitchFamily="34" charset="-120"/>
              </a:rPr>
              <a:t>$7.7B</a:t>
            </a:r>
            <a:pPr indent="0" marL="0">
              <a:buNone/>
            </a:pPr>
            <a:r>
              <a:rPr lang="en-US" sz="1200" dirty="0">
                <a:solidFill>
                  <a:srgbClr val="231F20"/>
                </a:solidFill>
                <a:latin typeface="Proxima Nova" pitchFamily="34" charset="0"/>
                <a:ea typeface="Proxima Nova" pitchFamily="34" charset="-122"/>
                <a:cs typeface="Proxima Nova" pitchFamily="34" charset="-120"/>
              </a:rPr>
              <a:t> by 2028. LARC forecasts Anaheim hotel revenue per room of </a:t>
            </a:r>
            <a:pPr indent="0" marL="0">
              <a:buNone/>
            </a:pPr>
            <a:r>
              <a:rPr lang="en-US" sz="1200" b="1" dirty="0">
                <a:solidFill>
                  <a:srgbClr val="125C60"/>
                </a:solidFill>
                <a:latin typeface="Proxima Nova" pitchFamily="34" charset="0"/>
                <a:ea typeface="Proxima Nova" pitchFamily="34" charset="-122"/>
                <a:cs typeface="Proxima Nova" pitchFamily="34" charset="-120"/>
              </a:rPr>
              <a:t>$162.18</a:t>
            </a:r>
            <a:pPr indent="0" marL="0">
              <a:buNone/>
            </a:pPr>
            <a:r>
              <a:rPr lang="en-US" sz="1200" dirty="0">
                <a:solidFill>
                  <a:srgbClr val="231F20"/>
                </a:solidFill>
                <a:latin typeface="Proxima Nova" pitchFamily="34" charset="0"/>
                <a:ea typeface="Proxima Nova" pitchFamily="34" charset="-122"/>
                <a:cs typeface="Proxima Nova" pitchFamily="34" charset="-120"/>
              </a:rPr>
              <a:t> in 2026 (</a:t>
            </a:r>
            <a:pPr indent="0" marL="0">
              <a:buNone/>
            </a:pPr>
            <a:r>
              <a:rPr lang="en-US" sz="1200" b="1" dirty="0">
                <a:solidFill>
                  <a:srgbClr val="125C60"/>
                </a:solidFill>
                <a:latin typeface="Proxima Nova" pitchFamily="34" charset="0"/>
                <a:ea typeface="Proxima Nova" pitchFamily="34" charset="-122"/>
                <a:cs typeface="Proxima Nova" pitchFamily="34" charset="-120"/>
              </a:rPr>
              <a:t>+7.0%</a:t>
            </a:r>
            <a:pPr indent="0" marL="0">
              <a:buNone/>
            </a:pPr>
            <a:r>
              <a:rPr lang="en-US" sz="1200" dirty="0">
                <a:solidFill>
                  <a:srgbClr val="231F20"/>
                </a:solidFill>
                <a:latin typeface="Proxima Nova" pitchFamily="34" charset="0"/>
                <a:ea typeface="Proxima Nova" pitchFamily="34" charset="-122"/>
                <a:cs typeface="Proxima Nova" pitchFamily="34" charset="-120"/>
              </a:rPr>
              <a:t>). Nationally, trips are forecast to grow </a:t>
            </a:r>
            <a:pPr indent="0" marL="0">
              <a:buNone/>
            </a:pPr>
            <a:r>
              <a:rPr lang="en-US" sz="1200" b="1" dirty="0">
                <a:solidFill>
                  <a:srgbClr val="125C60"/>
                </a:solidFill>
                <a:latin typeface="Proxima Nova" pitchFamily="34" charset="0"/>
                <a:ea typeface="Proxima Nova" pitchFamily="34" charset="-122"/>
                <a:cs typeface="Proxima Nova" pitchFamily="34" charset="-120"/>
              </a:rPr>
              <a:t>2.0%</a:t>
            </a:r>
            <a:pPr indent="0" marL="0">
              <a:buNone/>
            </a:pPr>
            <a:r>
              <a:rPr lang="en-US" sz="1200" dirty="0">
                <a:solidFill>
                  <a:srgbClr val="231F20"/>
                </a:solidFill>
                <a:latin typeface="Proxima Nova" pitchFamily="34" charset="0"/>
                <a:ea typeface="Proxima Nova" pitchFamily="34" charset="-122"/>
                <a:cs typeface="Proxima Nova" pitchFamily="34" charset="-120"/>
              </a:rPr>
              <a:t> in 2026.</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27.0M (2026) · 27.6M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Spending $7.2B (2026) · $7.7B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hotels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$162.18 RevPAR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Occupancy 73.9%, ADR $219.53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2.51B trips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Spending $1.374T (real 2025 dollars); international arrivals 70.6M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visitor spending, actual and forecast ($B)</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Forecasts as published by Tourism Economics (Sept. 2026), LARC (Sept. 2026) and the U.S. Travel Association (Spring 2026).</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Forecasts change with each edition; the June edition had </a:t>
            </a:r>
            <a:pPr indent="0" marL="0">
              <a:buNone/>
            </a:pPr>
            <a:r>
              <a:rPr lang="en-US" sz="900" b="1" dirty="0">
                <a:solidFill>
                  <a:srgbClr val="125C60"/>
                </a:solidFill>
                <a:latin typeface="Proxima Nova" pitchFamily="34" charset="0"/>
                <a:ea typeface="Proxima Nova" pitchFamily="34" charset="-122"/>
                <a:cs typeface="Proxima Nova" pitchFamily="34" charset="-120"/>
              </a:rPr>
              <a:t>27.1M</a:t>
            </a:r>
            <a:pPr indent="0" marL="0">
              <a:buNone/>
            </a:pPr>
            <a:r>
              <a:rPr lang="en-US" sz="900" dirty="0">
                <a:solidFill>
                  <a:srgbClr val="231F20"/>
                </a:solidFill>
                <a:latin typeface="Proxima Nova" pitchFamily="34" charset="0"/>
                <a:ea typeface="Proxima Nova" pitchFamily="34" charset="-122"/>
                <a:cs typeface="Proxima Nova" pitchFamily="34" charset="-120"/>
              </a:rPr>
              <a:t> visitors for 2026.</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(Sept. 2026); LARC (Sept. 2026); U.S. Travel Association and Tourism Economics, Travel Forecast, Spring 2026 (real 2025 dollars). Files in the app library: Anaheim and Garden Grove Travel Forecast, Sept. 2026 (Q2 2026 results); Anaheim and Garden Grove Travel Forecast, June 2026 (Q1 2026 results); Anaheim Market Intelligence Report, Sept. 2026; Hotel forecasts combined, 3Q 2026 edition.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389120"/>
          </a:xfrm>
          <a:prstGeom prst="rect">
            <a:avLst/>
          </a:prstGeom>
          <a:noFill/>
          <a:ln/>
        </p:spPr>
        <p:txBody>
          <a:bodyPr wrap="square" lIns="0" tIns="0" rIns="0" bIns="0" rtlCol="0" anchor="t"/>
          <a:lstStyle/>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Orange County visitor counts come from two methods (CIC Research 2009-2019; Tourism Economics 2021-2025) and are shown as separate series; 2020 and 2026 year to date are not published for the county.</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Azira files cover Anaheim and Garden Grove, not Orange County, and carry no ZIP codes; 2026 length of stay and distance shares reflect a likely method change.</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The latest Orange County visitor profile (trip purpose, party size, children) is CIC Research's 2019 study.</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Tourism Economics counts a visitor as anyone who stays overnight or travels more than 50 miles; each region is modeled on its own, so city and county totals do not add.</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Location data (Azira, Datafy) and card data (Visa) describe visitor mix and rank markets; they are not visitor counts. Compare within each source.</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One-more-night values are scenarios that hold spending per day constant; they are not forecasts.</a:t>
            </a:r>
            <a:endParaRPr lang="en-US" sz="12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one-pagers, 2025: Orange County,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Annual Profile of Visitors to Anaheim and Orange County,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CIC Research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2019; visitor volume 2009-2019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The Economic Impact of Travel in California, 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Dean Runyan Associates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2015-2025p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Travel Impacts by Assembly District, 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Dean Runyan Associates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Travel Forecast data,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2019-2030 (forecast from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State and Regional Lodging Forecast,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2013-2029 (forecast from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Monthly Travel Indicators,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California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8,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Resident Sentiment on Travel and Tourism, 2022-2025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California (Omnitrak)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2022-2025 survey waves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Mar. 24,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length of stay trend,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distance share trend,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origin share by metro area (MSA),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origin share by TV market (DMA),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international average length of stay,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Sept. 2026 (Q2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Q2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June 2026 (Q1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Q1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study (Extra Night Calculation)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recalculated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workbook (TID Request data)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 (Symphony, STR, Simpleview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2020–2025; hotel nights July 2024–2025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Jan. 20,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District 5 visitor profile (POI Analysis)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1–May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Domestic visitors to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Visitor card spending by visitor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International card activity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 tables export, Anaheim, 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1–Dec. 31, 2025 (trends 2023–2025)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Feb. 17,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Marketing attribution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Media attribution summary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 attribution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Exposures Jan. 1–Aug.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Disneyland hospitality submarket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capital markets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submarket export, monthly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Monthly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Processed 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daily hotel data, Visit Anaheim hotel sets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1–Oct. 3, 2026, daily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1Q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2Q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3Q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Jan.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Apr.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June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July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Sept.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 Traffic Flow Map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Counts 2021–2024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OCTA bus schedules (GTFS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Service Aug. 9–Nov. 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ZIP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Amtrak service in Anaheim, CA (ANA)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Rail Passengers Association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2018–2024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27,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fact sheet, 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(SCRRA)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Oct.–Dec.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American Community Survey (year not stated)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data: demographics and the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As in the profile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Transportation Economic Trends: table guide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All TET tables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Accessed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total passengers by mode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(third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Destination program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Program of Experiences, 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report (PDF)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deck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Questions answered: Anaheim, Orange County and U.S.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14,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Public sources used (links)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Published by others and linked rather than hosted</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840480"/>
                <a:gridCol w="4023360"/>
                <a:gridCol w="3230575"/>
              </a:tblGrid>
              <a:tr h="54864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What it is used for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The Economic Impact of Travel in California, 2025p (Dean Runyan Associates, Apr. 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California and Orange County travel spending, jobs and taxes; statewide spending on local transportation, gas and visitor air.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https://www.visitvisalia.com//caeconomicimpactreport_2025-low-res.pdf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and Tourism Economics: Travel Forecast, Spring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travel spending ($1.360T in 2025) and trips (2.46B), real 2025 dollars.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https://www.ustravel.org/sites/default/files/2026-05/US_Travel-Forecast_Spring26.pdf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Economic Impact of the U.S. Travel Industry (2025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jobs supported (15M+), economic output ($3.0T) and state and local taxes ($92B).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https://www.ustravel.org/sites/default/files/media_root/economic-impact/pdf/DCH26_EconImp_National_FIN.pdf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2025 report summary (Rural County Representatives of California,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of the statewide 2025 results.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https://www.rcrcnet.org/general/visit-california-releases-2025-economic-impact-report-a-story-of-resilience/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 Transportation Economic Trends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 prices, airfares and car costs, 2019–2025 (Tables 3.1, 3.4, 6.6).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https://data.bts.gov/resource/tcq5-4pgu.json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Economic Analysis: Travel and Tourism Satellite Account, 2018–2023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National tourism output ($1.52T direct, 2023) and 6.5M direct tourism jobs.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https://apps.bea.gov/scb/issues/2025/02-february/0225-travel-tourism-satellite-account.htm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Accessed dates as listed.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oxima Nov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oxima Nov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Visit Anaheim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 Vibe Insights: Questions answered</dc:title>
  <dc:subject>PptxGenJS Presentation</dc:subject>
  <dc:creator>Visit Anaheim Business Intelligence</dc:creator>
  <cp:lastModifiedBy>Visit Anaheim Business Intelligence</cp:lastModifiedBy>
  <cp:revision>1</cp:revision>
  <dcterms:created xsi:type="dcterms:W3CDTF">2026-10-19T20:40:52Z</dcterms:created>
  <dcterms:modified xsi:type="dcterms:W3CDTF">2026-10-19T20:40:52Z</dcterms:modified>
</cp:coreProperties>
</file>