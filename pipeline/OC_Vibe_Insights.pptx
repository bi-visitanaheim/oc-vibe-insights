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7.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8.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9.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0.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11.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12.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notesMasterIdLst>
    <p:notesMasterId r:id="rId8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bc1f04b-d05f-aa59-4603-a003ba3f7089}">
          <p14:sldIdLst>
            <p14:sldId id="256"/>
            <p14:sldId id="257"/>
            <p14:sldId id="258"/>
            <p14:sldId id="259"/>
            <p14:sldId id="260"/>
          </p14:sldIdLst>
        </p14:section>
        <p14:section name="Anaheim and OC Vibe today" id="{4f9f1963-a60b-7080-f8f2-15d086f2f5fb}">
          <p14:sldIdLst>
            <p14:sldId id="261"/>
            <p14:sldId id="262"/>
            <p14:sldId id="263"/>
            <p14:sldId id="264"/>
            <p14:sldId id="265"/>
            <p14:sldId id="266"/>
            <p14:sldId id="267"/>
            <p14:sldId id="268"/>
            <p14:sldId id="269"/>
            <p14:sldId id="270"/>
          </p14:sldIdLst>
        </p14:section>
        <p14:section name="Who visits" id="{b6d42bad-8309-bedd-c2f1-e64e3c0841fb}">
          <p14:sldIdLst>
            <p14:sldId id="271"/>
            <p14:sldId id="272"/>
            <p14:sldId id="273"/>
            <p14:sldId id="274"/>
            <p14:sldId id="275"/>
            <p14:sldId id="276"/>
          </p14:sldIdLst>
        </p14:section>
        <p14:section name="Visitor spending" id="{c928f0dd-1fce-6748-1112-1bf6ac990332}">
          <p14:sldIdLst>
            <p14:sldId id="277"/>
            <p14:sldId id="278"/>
            <p14:sldId id="279"/>
            <p14:sldId id="280"/>
            <p14:sldId id="281"/>
            <p14:sldId id="282"/>
          </p14:sldIdLst>
        </p14:section>
        <p14:section name="Jobs and economy" id="{cd4344d7-75e2-bcde-2869-f39d823029c5}">
          <p14:sldIdLst>
            <p14:sldId id="283"/>
            <p14:sldId id="284"/>
            <p14:sldId id="285"/>
            <p14:sldId id="286"/>
          </p14:sldIdLst>
        </p14:section>
        <p14:section name="Hotel market" id="{8ae44a11-37bc-9c27-1701-241cdd0c12d8}">
          <p14:sldIdLst>
            <p14:sldId id="287"/>
            <p14:sldId id="288"/>
            <p14:sldId id="289"/>
            <p14:sldId id="290"/>
            <p14:sldId id="291"/>
            <p14:sldId id="292"/>
            <p14:sldId id="293"/>
            <p14:sldId id="294"/>
          </p14:sldIdLst>
        </p14:section>
        <p14:section name="One more night" id="{203f3f18-3914-9c72-ba2e-f4fa704d6d3a}">
          <p14:sldIdLst>
            <p14:sldId id="295"/>
            <p14:sldId id="296"/>
            <p14:sldId id="297"/>
            <p14:sldId id="298"/>
            <p14:sldId id="299"/>
            <p14:sldId id="300"/>
          </p14:sldIdLst>
        </p14:section>
        <p14:section name="Getting here" id="{2ccadd85-880c-5083-ff09-e8abebfcc6cd}">
          <p14:sldIdLst>
            <p14:sldId id="301"/>
            <p14:sldId id="302"/>
            <p14:sldId id="303"/>
            <p14:sldId id="304"/>
            <p14:sldId id="305"/>
            <p14:sldId id="306"/>
            <p14:sldId id="307"/>
            <p14:sldId id="308"/>
            <p14:sldId id="309"/>
            <p14:sldId id="310"/>
            <p14:sldId id="311"/>
          </p14:sldIdLst>
        </p14:section>
        <p14:section name="Marketing reach" id="{da9af82c-55ef-7dbf-f38a-7087de332c77}">
          <p14:sldIdLst>
            <p14:sldId id="312"/>
            <p14:sldId id="313"/>
            <p14:sldId id="314"/>
            <p14:sldId id="315"/>
            <p14:sldId id="316"/>
          </p14:sldIdLst>
        </p14:section>
        <p14:section name="Market outlook" id="{285fe235-b339-ae6f-bce2-dac147dba380}">
          <p14:sldIdLst>
            <p14:sldId id="317"/>
            <p14:sldId id="318"/>
            <p14:sldId id="319"/>
            <p14:sldId id="320"/>
            <p14:sldId id="321"/>
            <p14:sldId id="322"/>
            <p14:sldId id="323"/>
          </p14:sldIdLst>
        </p14:section>
        <p14:section name="Compare and contrast" id="{74db93ae-fb7d-6610-7976-2be02c62f670}">
          <p14:sldIdLst>
            <p14:sldId id="324"/>
            <p14:sldId id="325"/>
            <p14:sldId id="326"/>
            <p14:sldId id="327"/>
            <p14:sldId id="328"/>
          </p14:sldIdLst>
        </p14:section>
        <p14:section name="Next steps" id="{eb1c2ad3-f5c9-7da8-e21a-9ddf266a8eff}">
          <p14:sldIdLst>
            <p14:sldId id="329"/>
            <p14:sldId id="330"/>
            <p14:sldId id="331"/>
            <p14:sldId id="332"/>
            <p14:sldId id="333"/>
            <p14:sldId id="334"/>
            <p14:sldId id="335"/>
          </p14:sldIdLst>
        </p14:section>
        <p14:section name="Appendix" id="{aeb2258f-2cd9-6623-af43-215a61ab1c07}">
          <p14:sldIdLst>
            <p14:sldId id="336"/>
            <p14:sldId id="337"/>
            <p14:sldId id="338"/>
            <p14:sldId id="339"/>
            <p14:sldId id="34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notesMaster" Target="notesMasters/notesMaster1.xml"/><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The baseline counts visitors; the next question is who they are. Origin, overnight share and first-time share show which audiences the OC Vibe area already reaches.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82296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The baseline counts visitors; the next question is who they are. Origin, overnight share and first-time share show which audiences the OC Vibe area already reaches.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Appendix: The appendix defines every term, method and formula used above, so each figure can be traced, repeated and defended.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International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$464.6M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$446.6M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Change vs. Aug. 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Cards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143.8K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card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Average transaction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61"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99"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01"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03"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0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visit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29"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3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Who visits: Azira via Symphony (District 5, Jan. 1–May 31, 2026; domestic visitors, Aug. 2026); Azira via Symphony (District 5, Jan. 1–May 31, 2026; domestic visitors, Aug.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4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Visitor spending: Tourism Economics, Travel Forecast (pub. Sept. 2026; data to Aug. 31, 2026); Visa Destination Insights via Symphony (Aug. 2026 vs. Aug. 2025) | Jobs and economy: Tourism Economics, Economic Impact 2025 (pub. Apr.–May 2026); Tourism Economics, Economic Impact 2025 (pub. Apr.–May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4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Hotel market: CoStar reports and export (data through Aug. 2026; pulled Oct. 12, 2026); STR daily data, Visit Anaheim hotel sets (Jan. 1–Oct. 3, 2026) | One more night: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45"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Getting here: Amtrak ANA fact sheet (2024 data; pub. Oct. 27, 2025); Metrolink FY26 Q2 (Oct.–Dec. 2025); OCTA Traffic Flow Map (pub. Aug. 2026) and bus schedules (Aug. 9–Nov. 7, 2026); Mindtrip trip planner messages (Oct. 1, 2025–Oct. 11, 2026) | Marketing reach: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Draft – Not for Distribution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redistribution needs LARC consent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licensed to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0233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theme/theme1.xml><?xml version="1.0" encoding="utf-8"?>
<a:theme xmlns:a="http://schemas.openxmlformats.org/drawingml/2006/main" name="Visit Anaheim Escapism">
  <a:themeElements>
    <a:clrScheme name="Visit Anaheim Escapism">
      <a:dk1>
        <a:srgbClr val="231F20"/>
      </a:dk1>
      <a:lt1>
        <a:srgbClr val="FFFFFF"/>
      </a:lt1>
      <a:dk2>
        <a:srgbClr val="125C60"/>
      </a:dk2>
      <a:lt2>
        <a:srgbClr val="F9F9F2"/>
      </a:lt2>
      <a:accent1>
        <a:srgbClr val="43A3A3"/>
      </a:accent1>
      <a:accent2>
        <a:srgbClr val="77C7C9"/>
      </a:accent2>
      <a:accent3>
        <a:srgbClr val="B4D9E3"/>
      </a:accent3>
      <a:accent4>
        <a:srgbClr val="125C60"/>
      </a:accent4>
      <a:accent5>
        <a:srgbClr val="A10009"/>
      </a:accent5>
      <a:accent6>
        <a:srgbClr val="FF000C"/>
      </a:accent6>
      <a:hlink>
        <a:srgbClr val="125C60"/>
      </a:hlink>
      <a:folHlink>
        <a:srgbClr val="125C60"/>
      </a:folHlink>
    </a:clrScheme>
    <a:fontScheme name="Visit Anaheim Escapism">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85</Slides>
  <Notes>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85</vt:i4>
      </vt:variant>
    </vt:vector>
  </HeadingPairs>
  <TitlesOfParts>
    <vt:vector size="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2026-10-13T22:44:58Z</dcterms:created>
  <dcterms:modified xsi:type="dcterms:W3CDTF">2026-10-13T22:44:58Z</dcterms:modified>
</cp:coreProperties>
</file>