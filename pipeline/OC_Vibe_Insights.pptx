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charts/chart6.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7.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8.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9.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charts/chart10.xml" ContentType="application/vnd.openxmlformats-officedocument.drawingml.chart+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11.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charts/chart12.xml" ContentType="application/vnd.openxmlformats-officedocument.drawingml.chart+xml"/>
  <Override PartName="/ppt/slideMasters/slideMaster80.xml" ContentType="application/vnd.openxmlformats-officedocument.presentationml.slideMaster+xml"/>
  <Override PartName="/ppt/slides/slide80.xml" ContentType="application/vnd.openxmlformats-officedocument.presentationml.slide+xml"/>
  <Override PartName="/ppt/charts/chart13.xml" ContentType="application/vnd.openxmlformats-officedocument.drawingml.chart+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charts/chart14.xml" ContentType="application/vnd.openxmlformats-officedocument.drawingml.chart+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charts/chart15.xml" ContentType="application/vnd.openxmlformats-officedocument.drawingml.chart+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charts/chart16.xml" ContentType="application/vnd.openxmlformats-officedocument.drawingml.chart+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Lst>
  <p:notesMasterIdLst>
    <p:notesMasterId r:id="rId1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a9978e3-0896-d331-0f22-cd48c31ddecc}">
          <p14:sldIdLst>
            <p14:sldId id="256"/>
            <p14:sldId id="257"/>
            <p14:sldId id="258"/>
            <p14:sldId id="259"/>
            <p14:sldId id="260"/>
            <p14:sldId id="261"/>
            <p14:sldId id="262"/>
          </p14:sldIdLst>
        </p14:section>
        <p14:section name="Questions answered" id="{fef4e720-1342-8b2b-209e-ba40a5dcc799}">
          <p14:sldIdLst>
            <p14:sldId id="263"/>
            <p14:sldId id="264"/>
            <p14:sldId id="265"/>
            <p14:sldId id="266"/>
            <p14:sldId id="267"/>
            <p14:sldId id="268"/>
            <p14:sldId id="269"/>
            <p14:sldId id="270"/>
            <p14:sldId id="271"/>
            <p14:sldId id="272"/>
          </p14:sldIdLst>
        </p14:section>
        <p14:section name="Anaheim and OC Vibe today" id="{6daf60ae-3412-726b-3a99-87a55214ec0c}">
          <p14:sldIdLst>
            <p14:sldId id="273"/>
            <p14:sldId id="274"/>
            <p14:sldId id="275"/>
            <p14:sldId id="276"/>
            <p14:sldId id="277"/>
            <p14:sldId id="278"/>
            <p14:sldId id="279"/>
            <p14:sldId id="280"/>
            <p14:sldId id="281"/>
            <p14:sldId id="282"/>
            <p14:sldId id="283"/>
          </p14:sldIdLst>
        </p14:section>
        <p14:section name="Orange County tourism" id="{c37dc331-88f2-e4c0-f93a-cc17e7c4e2bb}">
          <p14:sldIdLst>
            <p14:sldId id="284"/>
            <p14:sldId id="285"/>
            <p14:sldId id="286"/>
            <p14:sldId id="287"/>
            <p14:sldId id="288"/>
            <p14:sldId id="289"/>
            <p14:sldId id="290"/>
            <p14:sldId id="291"/>
            <p14:sldId id="292"/>
            <p14:sldId id="293"/>
            <p14:sldId id="294"/>
            <p14:sldId id="295"/>
            <p14:sldId id="296"/>
            <p14:sldId id="297"/>
            <p14:sldId id="298"/>
            <p14:sldId id="299"/>
          </p14:sldIdLst>
        </p14:section>
        <p14:section name="Who visits" id="{d164a597-e09d-6589-bec0-8c2540ab2b63}">
          <p14:sldIdLst>
            <p14:sldId id="300"/>
            <p14:sldId id="301"/>
            <p14:sldId id="302"/>
            <p14:sldId id="303"/>
            <p14:sldId id="304"/>
            <p14:sldId id="305"/>
            <p14:sldId id="306"/>
            <p14:sldId id="307"/>
          </p14:sldIdLst>
        </p14:section>
        <p14:section name="Visitor spending" id="{cca73a64-bdd9-3a16-da7e-f42619d163a8}">
          <p14:sldIdLst>
            <p14:sldId id="308"/>
            <p14:sldId id="309"/>
            <p14:sldId id="310"/>
            <p14:sldId id="311"/>
            <p14:sldId id="312"/>
            <p14:sldId id="313"/>
            <p14:sldId id="314"/>
            <p14:sldId id="315"/>
            <p14:sldId id="316"/>
          </p14:sldIdLst>
        </p14:section>
        <p14:section name="Jobs and economy" id="{cff0fa7e-a813-a1fe-69ef-03f3c72a1734}">
          <p14:sldIdLst>
            <p14:sldId id="317"/>
            <p14:sldId id="318"/>
            <p14:sldId id="319"/>
            <p14:sldId id="320"/>
            <p14:sldId id="321"/>
          </p14:sldIdLst>
        </p14:section>
        <p14:section name="Hotel market" id="{941b530b-8256-7bbd-53d0-297b1d6c3fca}">
          <p14:sldIdLst>
            <p14:sldId id="322"/>
            <p14:sldId id="323"/>
            <p14:sldId id="324"/>
            <p14:sldId id="325"/>
            <p14:sldId id="326"/>
            <p14:sldId id="327"/>
            <p14:sldId id="328"/>
            <p14:sldId id="329"/>
            <p14:sldId id="330"/>
          </p14:sldIdLst>
        </p14:section>
        <p14:section name="One more night" id="{56aba600-5d9f-acf5-a3ef-e51b1dc180c9}">
          <p14:sldIdLst>
            <p14:sldId id="331"/>
            <p14:sldId id="332"/>
            <p14:sldId id="333"/>
            <p14:sldId id="334"/>
            <p14:sldId id="335"/>
            <p14:sldId id="336"/>
            <p14:sldId id="337"/>
          </p14:sldIdLst>
        </p14:section>
        <p14:section name="Getting here" id="{1972ca68-882b-cd3a-17f8-a9dd58e11f16}">
          <p14:sldIdLst>
            <p14:sldId id="338"/>
            <p14:sldId id="339"/>
            <p14:sldId id="340"/>
            <p14:sldId id="341"/>
            <p14:sldId id="342"/>
            <p14:sldId id="343"/>
            <p14:sldId id="344"/>
            <p14:sldId id="345"/>
            <p14:sldId id="346"/>
            <p14:sldId id="347"/>
            <p14:sldId id="348"/>
            <p14:sldId id="349"/>
          </p14:sldIdLst>
        </p14:section>
        <p14:section name="Marketing reach" id="{8db30790-d427-6b78-21f5-1f14506b624b}">
          <p14:sldIdLst>
            <p14:sldId id="350"/>
            <p14:sldId id="351"/>
            <p14:sldId id="352"/>
            <p14:sldId id="353"/>
            <p14:sldId id="354"/>
            <p14:sldId id="355"/>
          </p14:sldIdLst>
        </p14:section>
        <p14:section name="Market outlook" id="{58006e50-3483-0e6c-3329-69cdbff958a9}">
          <p14:sldIdLst>
            <p14:sldId id="356"/>
            <p14:sldId id="357"/>
            <p14:sldId id="358"/>
            <p14:sldId id="359"/>
            <p14:sldId id="360"/>
            <p14:sldId id="361"/>
            <p14:sldId id="362"/>
            <p14:sldId id="363"/>
          </p14:sldIdLst>
        </p14:section>
        <p14:section name="Compare and contrast" id="{7d580c6f-e21e-2e7f-ae15-ce41066a2da0}">
          <p14:sldIdLst>
            <p14:sldId id="364"/>
            <p14:sldId id="365"/>
            <p14:sldId id="366"/>
            <p14:sldId id="367"/>
            <p14:sldId id="368"/>
          </p14:sldIdLst>
        </p14:section>
        <p14:section name="Reports and data library" id="{aa851dd2-dc08-ae4a-2d35-47e4f0b7244b}">
          <p14:sldIdLst>
            <p14:sldId id="369"/>
            <p14:sldId id="370"/>
            <p14:sldId id="371"/>
            <p14:sldId id="372"/>
            <p14:sldId id="373"/>
            <p14:sldId id="374"/>
          </p14:sldIdLst>
        </p14:section>
        <p14:section name="Next steps" id="{ef020061-21bb-8142-c2b6-4a0ca11119f3}">
          <p14:sldIdLst>
            <p14:sldId id="375"/>
            <p14:sldId id="376"/>
            <p14:sldId id="377"/>
            <p14:sldId id="378"/>
            <p14:sldId id="379"/>
            <p14:sldId id="380"/>
            <p14:sldId id="381"/>
            <p14:sldId id="382"/>
            <p14:sldId id="383"/>
            <p14:sldId id="384"/>
          </p14:sldIdLst>
        </p14:section>
        <p14:section name="Appendix" id="{f8d52b00-615f-f112-62c8-60bd7aa008bc}">
          <p14:sldIdLst>
            <p14:sldId id="385"/>
            <p14:sldId id="386"/>
            <p14:sldId id="387"/>
            <p14:sldId id="388"/>
            <p14:sldId id="389"/>
            <p14:sldId id="3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notesMaster" Target="notesMasters/notesMaster1.xml"/><Relationship Id="rId138" Type="http://schemas.openxmlformats.org/officeDocument/2006/relationships/presProps" Target="presProps.xml"/><Relationship Id="rId139" Type="http://schemas.openxmlformats.org/officeDocument/2006/relationships/viewProps" Target="viewProps.xml"/><Relationship Id="rId140" Type="http://schemas.openxmlformats.org/officeDocument/2006/relationships/theme" Target="theme/theme1.xml"/><Relationship Id="rId1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Anaheim sits inside a larger county market. The next section sizes Orange County: arrivals, origins, seasonality, visitor profile and hotels.
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Orange County tourism: With the county market sized, the next question is who visits the OC Vibe area itself.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eg"/><Relationship Id="rId2" Type="http://schemas.openxmlformats.org/officeDocument/2006/relationships/slideLayout" Target="../slideLayouts/slideLayout4.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Jan. 15, 2027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Orange County market: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in 2025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93.3%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domestic);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55.4%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from Southern California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traveling with children (2019);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hotel rooms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$221.67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ADR in Jan.-Aug. 2026, with July the peak month. (Source: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TOURISM</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51.3M</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visitors, 2025 (Tourism Economics)</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draws </a:t>
            </a:r>
            <a:pPr indent="0" marL="0">
              <a:buNone/>
            </a:pPr>
            <a:r>
              <a:rPr lang="en-US" sz="1000" b="1" dirty="0">
                <a:solidFill>
                  <a:srgbClr val="125C60"/>
                </a:solidFill>
                <a:latin typeface="Proxima Nova" pitchFamily="34" charset="0"/>
                <a:ea typeface="Proxima Nova" pitchFamily="34" charset="-122"/>
                <a:cs typeface="Proxima Nova" pitchFamily="34" charset="-120"/>
              </a:rPr>
              <a:t>51.3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a year;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75%</a:t>
            </a:r>
            <a:pPr indent="0" marL="0">
              <a:buNone/>
            </a:pPr>
            <a:r>
              <a:rPr lang="en-US" sz="1000" dirty="0">
                <a:solidFill>
                  <a:srgbClr val="231F20"/>
                </a:solidFill>
                <a:latin typeface="Proxima Nova" pitchFamily="34" charset="0"/>
                <a:ea typeface="Proxima Nova" pitchFamily="34" charset="-122"/>
                <a:cs typeface="Proxima Nova" pitchFamily="34" charset="-120"/>
              </a:rPr>
              <a:t> of rooms in 2026</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8" name="Shape 56"/>
          <p:cNvSpPr/>
          <p:nvPr/>
        </p:nvSpPr>
        <p:spPr>
          <a:xfrm>
            <a:off x="548640" y="5897880"/>
            <a:ext cx="3588410" cy="1417320"/>
          </a:xfrm>
          <a:prstGeom prst="rect">
            <a:avLst/>
          </a:prstGeom>
          <a:solidFill>
            <a:srgbClr val="FFFFFF"/>
          </a:solidFill>
          <a:ln w="12700">
            <a:solidFill>
              <a:srgbClr val="B4D9E3"/>
            </a:solidFill>
            <a:prstDash val="solid"/>
          </a:ln>
        </p:spPr>
      </p:sp>
      <p:sp>
        <p:nvSpPr>
          <p:cNvPr id="59" name="Shape 57"/>
          <p:cNvSpPr/>
          <p:nvPr/>
        </p:nvSpPr>
        <p:spPr>
          <a:xfrm>
            <a:off x="548640" y="5897880"/>
            <a:ext cx="3588410" cy="54864"/>
          </a:xfrm>
          <a:prstGeom prst="rect">
            <a:avLst/>
          </a:prstGeom>
          <a:solidFill>
            <a:srgbClr val="43A3A3"/>
          </a:solidFill>
          <a:ln w="12700">
            <a:solidFill>
              <a:srgbClr val="43A3A3"/>
            </a:solidFill>
            <a:prstDash val="solid"/>
          </a:ln>
        </p:spPr>
      </p:sp>
      <p:sp>
        <p:nvSpPr>
          <p:cNvPr id="60" name="Text 58"/>
          <p:cNvSpPr txBox="1"/>
          <p:nvPr/>
        </p:nvSpPr>
        <p:spPr>
          <a:xfrm>
            <a:off x="658368" y="598932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61" name="Text 59"/>
          <p:cNvSpPr txBox="1"/>
          <p:nvPr/>
        </p:nvSpPr>
        <p:spPr>
          <a:xfrm>
            <a:off x="658368" y="619048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62" name="Text 60"/>
          <p:cNvSpPr txBox="1"/>
          <p:nvPr/>
        </p:nvSpPr>
        <p:spPr>
          <a:xfrm>
            <a:off x="2423160" y="620877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63" name="Text 61"/>
          <p:cNvSpPr txBox="1"/>
          <p:nvPr/>
        </p:nvSpPr>
        <p:spPr>
          <a:xfrm>
            <a:off x="658368" y="668426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6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tourism: Anaheim sits inside a larger county market. The next section sizes Orange County: arrivals, origins, seasonality, visitor profile and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tourism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many visitors come to Orange County, from where and when, who are they, and what hotel capacity serves them?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With the county market sized, the next question is who visits the OC Vibe area itself.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Reports and data library: Every report and data file behind these sections can be opened or downloaded in the library; the Appendix and Sources follow.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19, 2026; next scheduled update Jan. 15, 2027.</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draws 51.3 million visitors a year; hotels fill 75% of rooms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Orange County tourism · CIC Research 2009-2019; Tourism Economics 2021-2025; CoStar through Sept. 2026; Azira Jan. 2023-Aug.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19, 2026): </a:t>
            </a:r>
            <a:pPr indent="0" marL="0">
              <a:buNone/>
            </a:pPr>
            <a:r>
              <a:rPr lang="en-US" sz="135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350" b="1" dirty="0">
                <a:solidFill>
                  <a:srgbClr val="125C60"/>
                </a:solidFill>
                <a:latin typeface="Proxima Nova" pitchFamily="34" charset="0"/>
                <a:ea typeface="Proxima Nova" pitchFamily="34" charset="-122"/>
                <a:cs typeface="Proxima Nova" pitchFamily="34" charset="-120"/>
              </a:rPr>
              <a:t>51.3M</a:t>
            </a:r>
            <a:pPr indent="0" marL="0">
              <a:buNone/>
            </a:pPr>
            <a:r>
              <a:rPr lang="en-US" sz="13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29.2M</a:t>
            </a:r>
            <a:pPr indent="0" marL="0">
              <a:buNone/>
            </a:pPr>
            <a:r>
              <a:rPr lang="en-US" sz="135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350" b="1" dirty="0">
                <a:solidFill>
                  <a:srgbClr val="125C60"/>
                </a:solidFill>
                <a:latin typeface="Proxima Nova" pitchFamily="34" charset="0"/>
                <a:ea typeface="Proxima Nova" pitchFamily="34" charset="-122"/>
                <a:cs typeface="Proxima Nova" pitchFamily="34" charset="-120"/>
              </a:rPr>
              <a:t>22.1M</a:t>
            </a:r>
            <a:pPr indent="0" marL="0">
              <a:buNone/>
            </a:pPr>
            <a:r>
              <a:rPr lang="en-US" sz="135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93.3%</a:t>
            </a:r>
            <a:pPr indent="0" marL="0">
              <a:buNone/>
            </a:pPr>
            <a:r>
              <a:rPr lang="en-US" sz="135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350" b="1" dirty="0">
                <a:solidFill>
                  <a:srgbClr val="125C60"/>
                </a:solidFill>
                <a:latin typeface="Proxima Nova" pitchFamily="34" charset="0"/>
                <a:ea typeface="Proxima Nova" pitchFamily="34" charset="-122"/>
                <a:cs typeface="Proxima Nova" pitchFamily="34" charset="-120"/>
              </a:rPr>
              <a:t>81.2%</a:t>
            </a:r>
            <a:pPr indent="0" marL="0">
              <a:buNone/>
            </a:pPr>
            <a:r>
              <a:rPr lang="en-US" sz="135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350" b="1" dirty="0">
                <a:solidFill>
                  <a:srgbClr val="125C60"/>
                </a:solidFill>
                <a:latin typeface="Proxima Nova" pitchFamily="34" charset="0"/>
                <a:ea typeface="Proxima Nova" pitchFamily="34" charset="-122"/>
                <a:cs typeface="Proxima Nova" pitchFamily="34" charset="-120"/>
              </a:rPr>
              <a:t>2.8</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37.0%</a:t>
            </a:r>
            <a:pPr indent="0" marL="0">
              <a:buNone/>
            </a:pPr>
            <a:r>
              <a:rPr lang="en-US" sz="135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75.2%</a:t>
            </a:r>
            <a:pPr indent="0" marL="0">
              <a:buNone/>
            </a:pPr>
            <a:r>
              <a:rPr lang="en-US" sz="1350" dirty="0">
                <a:solidFill>
                  <a:srgbClr val="231F20"/>
                </a:solidFill>
                <a:latin typeface="Proxima Nova" pitchFamily="34" charset="0"/>
                <a:ea typeface="Proxima Nova" pitchFamily="34" charset="-122"/>
                <a:cs typeface="Proxima Nova" pitchFamily="34" charset="-120"/>
              </a:rPr>
              <a:t> of </a:t>
            </a:r>
            <a:pPr indent="0" marL="0">
              <a:buNone/>
            </a:pPr>
            <a:r>
              <a:rPr lang="en-US" sz="135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350" dirty="0">
                <a:solidFill>
                  <a:srgbClr val="231F20"/>
                </a:solidFill>
                <a:latin typeface="Proxima Nova" pitchFamily="34" charset="0"/>
                <a:ea typeface="Proxima Nova" pitchFamily="34" charset="-122"/>
                <a:cs typeface="Proxima Nova" pitchFamily="34" charset="-120"/>
              </a:rPr>
              <a:t> at </a:t>
            </a:r>
            <a:pPr indent="0" marL="0">
              <a:buNone/>
            </a:pPr>
            <a:r>
              <a:rPr lang="en-US" sz="1350" b="1" dirty="0">
                <a:solidFill>
                  <a:srgbClr val="125C60"/>
                </a:solidFill>
                <a:latin typeface="Proxima Nova" pitchFamily="34" charset="0"/>
                <a:ea typeface="Proxima Nova" pitchFamily="34" charset="-122"/>
                <a:cs typeface="Proxima Nova" pitchFamily="34" charset="-120"/>
              </a:rPr>
              <a:t>$221.67</a:t>
            </a:r>
            <a:pPr indent="0" marL="0">
              <a:buNone/>
            </a:pPr>
            <a:r>
              <a:rPr lang="en-US" sz="135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Entertainment + Culture Advisors asked five questions for OCVIBE's market study. The answers come from five sources with different methods: Tourism Economics for current visitor volume (</a:t>
            </a:r>
            <a:pPr indent="0" marL="0">
              <a:buNone/>
            </a:pPr>
            <a:r>
              <a:rPr lang="en-US" sz="1250" b="1" dirty="0">
                <a:solidFill>
                  <a:srgbClr val="125C60"/>
                </a:solidFill>
                <a:latin typeface="Proxima Nova" pitchFamily="34" charset="0"/>
                <a:ea typeface="Proxima Nova" pitchFamily="34" charset="-122"/>
                <a:cs typeface="Proxima Nova" pitchFamily="34" charset="-120"/>
              </a:rPr>
              <a:t>51.3M</a:t>
            </a:r>
            <a:pPr indent="0" marL="0">
              <a:buNone/>
            </a:pPr>
            <a:r>
              <a:rPr lang="en-US" sz="1250" dirty="0">
                <a:solidFill>
                  <a:srgbClr val="231F20"/>
                </a:solidFill>
                <a:latin typeface="Proxima Nova" pitchFamily="34" charset="0"/>
                <a:ea typeface="Proxima Nova" pitchFamily="34" charset="-122"/>
                <a:cs typeface="Proxima Nova" pitchFamily="34" charset="-120"/>
              </a:rPr>
              <a:t> in 2025), CIC Research for the 2019 baseline and visitor profile, Azira for origins, and CoStar for hotel rooms and seasonality. Gaps are named with their solutions.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2019 BASELINE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50.21M</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 (different method)</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HOTELS, JAN.-AUG. 2026</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Occupancy</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Orange County (staying overnight or traveling 50+ miles), the county's hotels, and ECA and OCVIBE as the requesters.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from Southern California</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51.3M</a:t>
            </a:r>
            <a:pPr indent="0" marL="0">
              <a:buNone/>
            </a:pPr>
            <a:r>
              <a:rPr lang="en-US" sz="9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950" b="1" dirty="0">
                <a:solidFill>
                  <a:srgbClr val="125C60"/>
                </a:solidFill>
                <a:latin typeface="Proxima Nova" pitchFamily="34" charset="0"/>
                <a:ea typeface="Proxima Nova" pitchFamily="34" charset="-122"/>
                <a:cs typeface="Proxima Nova" pitchFamily="34" charset="-120"/>
              </a:rPr>
              <a:t>29.2M</a:t>
            </a:r>
            <a:pPr indent="0" marL="0">
              <a:buNone/>
            </a:pPr>
            <a:r>
              <a:rPr lang="en-US" sz="950" dirty="0">
                <a:solidFill>
                  <a:srgbClr val="231F20"/>
                </a:solidFill>
                <a:latin typeface="Proxima Nova" pitchFamily="34" charset="0"/>
                <a:ea typeface="Proxima Nova" pitchFamily="34" charset="-122"/>
                <a:cs typeface="Proxima Nova" pitchFamily="34" charset="-120"/>
              </a:rPr>
              <a:t> day, </a:t>
            </a:r>
            <a:pPr indent="0" marL="0">
              <a:buNone/>
            </a:pPr>
            <a:r>
              <a:rPr lang="en-US" sz="950" b="1" dirty="0">
                <a:solidFill>
                  <a:srgbClr val="125C60"/>
                </a:solidFill>
                <a:latin typeface="Proxima Nova" pitchFamily="34" charset="0"/>
                <a:ea typeface="Proxima Nova" pitchFamily="34" charset="-122"/>
                <a:cs typeface="Proxima Nova" pitchFamily="34" charset="-120"/>
              </a:rPr>
              <a:t>22.1M</a:t>
            </a:r>
            <a:pPr indent="0" marL="0">
              <a:buNone/>
            </a:pPr>
            <a:r>
              <a:rPr lang="en-US" sz="950" dirty="0">
                <a:solidFill>
                  <a:srgbClr val="231F20"/>
                </a:solidFill>
                <a:latin typeface="Proxima Nova" pitchFamily="34" charset="0"/>
                <a:ea typeface="Proxima Nova" pitchFamily="34" charset="-122"/>
                <a:cs typeface="Proxima Nova" pitchFamily="34" charset="-120"/>
              </a:rPr>
              <a:t>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93.3%</a:t>
            </a:r>
            <a:pPr indent="0" marL="0">
              <a:buNone/>
            </a:pPr>
            <a:r>
              <a:rPr lang="en-US" sz="950" dirty="0">
                <a:solidFill>
                  <a:srgbClr val="231F20"/>
                </a:solidFill>
                <a:latin typeface="Proxima Nova" pitchFamily="34" charset="0"/>
                <a:ea typeface="Proxima Nova" pitchFamily="34" charset="-122"/>
                <a:cs typeface="Proxima Nova" pitchFamily="34" charset="-120"/>
              </a:rPr>
              <a:t> domestic); </a:t>
            </a:r>
            <a:pPr indent="0" marL="0">
              <a:buNone/>
            </a:pPr>
            <a:r>
              <a:rPr lang="en-US" sz="950" b="1" dirty="0">
                <a:solidFill>
                  <a:srgbClr val="125C60"/>
                </a:solidFill>
                <a:latin typeface="Proxima Nova" pitchFamily="34" charset="0"/>
                <a:ea typeface="Proxima Nova" pitchFamily="34" charset="-122"/>
                <a:cs typeface="Proxima Nova" pitchFamily="34" charset="-120"/>
              </a:rPr>
              <a:t>55.4%</a:t>
            </a:r>
            <a:pPr indent="0" marL="0">
              <a:buNone/>
            </a:pPr>
            <a:r>
              <a:rPr lang="en-US" sz="950" dirty="0">
                <a:solidFill>
                  <a:srgbClr val="231F20"/>
                </a:solidFill>
                <a:latin typeface="Proxima Nova" pitchFamily="34" charset="0"/>
                <a:ea typeface="Proxima Nova" pitchFamily="34" charset="-122"/>
                <a:cs typeface="Proxima Nova" pitchFamily="34" charset="-120"/>
              </a:rPr>
              <a:t> from Southern California (2019); July peak; </a:t>
            </a:r>
            <a:pPr indent="0" marL="0">
              <a:buNone/>
            </a:pPr>
            <a:r>
              <a:rPr lang="en-US" sz="950" b="1" dirty="0">
                <a:solidFill>
                  <a:srgbClr val="125C60"/>
                </a:solidFill>
                <a:latin typeface="Proxima Nova" pitchFamily="34" charset="0"/>
                <a:ea typeface="Proxima Nova" pitchFamily="34" charset="-122"/>
                <a:cs typeface="Proxima Nova" pitchFamily="34" charset="-120"/>
              </a:rPr>
              <a:t>81.2%</a:t>
            </a:r>
            <a:pPr indent="0" marL="0">
              <a:buNone/>
            </a:pPr>
            <a:r>
              <a:rPr lang="en-US" sz="950" dirty="0">
                <a:solidFill>
                  <a:srgbClr val="231F20"/>
                </a:solidFill>
                <a:latin typeface="Proxima Nova" pitchFamily="34" charset="0"/>
                <a:ea typeface="Proxima Nova" pitchFamily="34" charset="-122"/>
                <a:cs typeface="Proxima Nova" pitchFamily="34" charset="-120"/>
              </a:rPr>
              <a:t> leisure, party of </a:t>
            </a:r>
            <a:pPr indent="0" marL="0">
              <a:buNone/>
            </a:pPr>
            <a:r>
              <a:rPr lang="en-US" sz="950" b="1" dirty="0">
                <a:solidFill>
                  <a:srgbClr val="125C60"/>
                </a:solidFill>
                <a:latin typeface="Proxima Nova" pitchFamily="34" charset="0"/>
                <a:ea typeface="Proxima Nova" pitchFamily="34" charset="-122"/>
                <a:cs typeface="Proxima Nova" pitchFamily="34" charset="-120"/>
              </a:rPr>
              <a:t>2.8</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37.0%</a:t>
            </a:r>
            <a:pPr indent="0" marL="0">
              <a:buNone/>
            </a:pPr>
            <a:r>
              <a:rPr lang="en-US" sz="950" dirty="0">
                <a:solidFill>
                  <a:srgbClr val="231F20"/>
                </a:solidFill>
                <a:latin typeface="Proxima Nova" pitchFamily="34" charset="0"/>
                <a:ea typeface="Proxima Nova" pitchFamily="34" charset="-122"/>
                <a:cs typeface="Proxima Nova" pitchFamily="34" charset="-120"/>
              </a:rPr>
              <a:t> with children (2019); </a:t>
            </a:r>
            <a:pPr indent="0" marL="0">
              <a:buNone/>
            </a:pPr>
            <a:r>
              <a:rPr lang="en-US" sz="950" b="1" dirty="0">
                <a:solidFill>
                  <a:srgbClr val="125C60"/>
                </a:solidFill>
                <a:latin typeface="Proxima Nova" pitchFamily="34" charset="0"/>
                <a:ea typeface="Proxima Nova" pitchFamily="34" charset="-122"/>
                <a:cs typeface="Proxima Nova" pitchFamily="34" charset="-120"/>
              </a:rPr>
              <a:t>60,224</a:t>
            </a:r>
            <a:pPr indent="0" marL="0">
              <a:buNone/>
            </a:pPr>
            <a:r>
              <a:rPr lang="en-US" sz="950" dirty="0">
                <a:solidFill>
                  <a:srgbClr val="231F20"/>
                </a:solidFill>
                <a:latin typeface="Proxima Nova" pitchFamily="34" charset="0"/>
                <a:ea typeface="Proxima Nova" pitchFamily="34" charset="-122"/>
                <a:cs typeface="Proxima Nova" pitchFamily="34" charset="-120"/>
              </a:rPr>
              <a:t> hotel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75.2%</a:t>
            </a:r>
            <a:pPr indent="0" marL="0">
              <a:buNone/>
            </a:pPr>
            <a:r>
              <a:rPr lang="en-US" sz="950" dirty="0">
                <a:solidFill>
                  <a:srgbClr val="231F20"/>
                </a:solidFill>
                <a:latin typeface="Proxima Nova" pitchFamily="34" charset="0"/>
                <a:ea typeface="Proxima Nova" pitchFamily="34" charset="-122"/>
                <a:cs typeface="Proxima Nova" pitchFamily="34" charset="-120"/>
              </a:rPr>
              <a:t> occupancy and </a:t>
            </a:r>
            <a:pPr indent="0" marL="0">
              <a:buNone/>
            </a:pPr>
            <a:r>
              <a:rPr lang="en-US" sz="950" b="1" dirty="0">
                <a:solidFill>
                  <a:srgbClr val="125C60"/>
                </a:solidFill>
                <a:latin typeface="Proxima Nova" pitchFamily="34" charset="0"/>
                <a:ea typeface="Proxima Nova" pitchFamily="34" charset="-122"/>
                <a:cs typeface="Proxima Nova" pitchFamily="34" charset="-120"/>
              </a:rPr>
              <a:t>$221.67</a:t>
            </a:r>
            <a:pPr indent="0" marL="0">
              <a:buNone/>
            </a:pPr>
            <a:r>
              <a:rPr lang="en-US" sz="950" dirty="0">
                <a:solidFill>
                  <a:srgbClr val="231F20"/>
                </a:solidFill>
                <a:latin typeface="Proxima Nova" pitchFamily="34" charset="0"/>
                <a:ea typeface="Proxima Nova" pitchFamily="34" charset="-122"/>
                <a:cs typeface="Proxima Nova" pitchFamily="34" charset="-120"/>
              </a:rPr>
              <a:t> ADR (2026 YTD).</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80.6%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July hotel occupancy, 2023-2025 average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2009-2019 (CIC) and 2021-2025 (Tourism Economics); hotels Jan. 2019-Sept. 2026 (CoStar); Azira Jan. 1, 2023-Aug. 31, 2026. Assembled Oct. 19,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37.0%</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traveled with children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Orange County; Anaheim where the county figure is not published; Anaheim and Garden Grove for Azira location data.</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60,224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hotel rooms, Sept. 2026</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ECA's market study for OCVIBE needs a county baseline for audience size, origin, timing, visitor mix and lodging capacity.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occupancy, Jan.-Aug. 2026</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Published figures from each source, kept as separate series; BI arithmetic shown for averages, revenue per available room and changes.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Four in ten Orange County visitors stay overnight</a:t>
            </a:r>
            <a:endParaRPr lang="en-US" sz="1500" dirty="0"/>
          </a:p>
        </p:txBody>
      </p:sp>
      <p:sp>
        <p:nvSpPr>
          <p:cNvPr id="5" name="Text 3"/>
          <p:cNvSpPr txBox="1"/>
          <p:nvPr/>
        </p:nvSpPr>
        <p:spPr>
          <a:xfrm>
            <a:off x="548640"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Overnight and day visitors, calendar 2025</a:t>
            </a:r>
            <a:endParaRPr lang="en-US" sz="950" dirty="0"/>
          </a:p>
        </p:txBody>
      </p:sp>
      <p:sp>
        <p:nvSpPr>
          <p:cNvPr id="6" name="Shape 4"/>
          <p:cNvSpPr/>
          <p:nvPr/>
        </p:nvSpPr>
        <p:spPr>
          <a:xfrm>
            <a:off x="548640" y="2167128"/>
            <a:ext cx="3454298" cy="731520"/>
          </a:xfrm>
          <a:prstGeom prst="rect">
            <a:avLst/>
          </a:prstGeom>
          <a:solidFill>
            <a:srgbClr val="B4D9E3"/>
          </a:solidFill>
          <a:ln w="12700">
            <a:solidFill>
              <a:srgbClr val="B4D9E3"/>
            </a:solidFill>
            <a:prstDash val="solid"/>
          </a:ln>
        </p:spPr>
      </p:sp>
      <p:sp>
        <p:nvSpPr>
          <p:cNvPr id="7" name="Shape 5"/>
          <p:cNvSpPr/>
          <p:nvPr/>
        </p:nvSpPr>
        <p:spPr>
          <a:xfrm>
            <a:off x="548640" y="2167128"/>
            <a:ext cx="1488803"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1727149"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22.1M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(43.1%)</a:t>
            </a:r>
            <a:endParaRPr lang="en-US" sz="1800" dirty="0"/>
          </a:p>
        </p:txBody>
      </p:sp>
      <p:sp>
        <p:nvSpPr>
          <p:cNvPr id="9" name="Text 7"/>
          <p:cNvSpPr txBox="1"/>
          <p:nvPr/>
        </p:nvSpPr>
        <p:spPr>
          <a:xfrm>
            <a:off x="2275789" y="3035808"/>
            <a:ext cx="1727149"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51.3M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(29.2M day visitors)</a:t>
            </a:r>
            <a:endParaRPr lang="en-US" sz="1800" dirty="0"/>
          </a:p>
        </p:txBody>
      </p:sp>
      <p:sp>
        <p:nvSpPr>
          <p:cNvPr id="10" name="Text 8"/>
          <p:cNvSpPr txBox="1"/>
          <p:nvPr/>
        </p:nvSpPr>
        <p:spPr>
          <a:xfrm>
            <a:off x="548640" y="3538728"/>
            <a:ext cx="345429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22.1M / 51.3M = 43.1%; day visitors 29.2M / 51.3M = 56.9%</a:t>
            </a:r>
            <a:endParaRPr lang="en-US" sz="950" dirty="0"/>
          </a:p>
        </p:txBody>
      </p:sp>
      <p:sp>
        <p:nvSpPr>
          <p:cNvPr id="11" name="Text 9"/>
          <p:cNvSpPr txBox="1"/>
          <p:nvPr/>
        </p:nvSpPr>
        <p:spPr>
          <a:xfrm>
            <a:off x="4368698"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Orange County visitors</a:t>
            </a:r>
            <a:endParaRPr lang="en-US" sz="1500" dirty="0"/>
          </a:p>
        </p:txBody>
      </p:sp>
      <p:sp>
        <p:nvSpPr>
          <p:cNvPr id="12" name="Text 10"/>
          <p:cNvSpPr txBox="1"/>
          <p:nvPr/>
        </p:nvSpPr>
        <p:spPr>
          <a:xfrm>
            <a:off x="4368698"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CIC Research, calendar 2019 (latest county profile)</a:t>
            </a:r>
            <a:endParaRPr lang="en-US" sz="950" dirty="0"/>
          </a:p>
        </p:txBody>
      </p:sp>
      <p:sp>
        <p:nvSpPr>
          <p:cNvPr id="13" name="Shape 11"/>
          <p:cNvSpPr/>
          <p:nvPr/>
        </p:nvSpPr>
        <p:spPr>
          <a:xfrm>
            <a:off x="4368698" y="2075688"/>
            <a:ext cx="60279" cy="60279"/>
          </a:xfrm>
          <a:prstGeom prst="rect">
            <a:avLst/>
          </a:prstGeom>
          <a:solidFill>
            <a:srgbClr val="43A3A3"/>
          </a:solidFill>
          <a:ln w="12700">
            <a:solidFill>
              <a:srgbClr val="43A3A3"/>
            </a:solidFill>
            <a:prstDash val="solid"/>
          </a:ln>
        </p:spPr>
      </p:sp>
      <p:sp>
        <p:nvSpPr>
          <p:cNvPr id="14" name="Shape 12"/>
          <p:cNvSpPr/>
          <p:nvPr/>
        </p:nvSpPr>
        <p:spPr>
          <a:xfrm>
            <a:off x="4437417" y="2075688"/>
            <a:ext cx="60279" cy="60279"/>
          </a:xfrm>
          <a:prstGeom prst="rect">
            <a:avLst/>
          </a:prstGeom>
          <a:solidFill>
            <a:srgbClr val="43A3A3"/>
          </a:solidFill>
          <a:ln w="12700">
            <a:solidFill>
              <a:srgbClr val="43A3A3"/>
            </a:solidFill>
            <a:prstDash val="solid"/>
          </a:ln>
        </p:spPr>
      </p:sp>
      <p:sp>
        <p:nvSpPr>
          <p:cNvPr id="15" name="Shape 13"/>
          <p:cNvSpPr/>
          <p:nvPr/>
        </p:nvSpPr>
        <p:spPr>
          <a:xfrm>
            <a:off x="4506135" y="2075688"/>
            <a:ext cx="60279" cy="60279"/>
          </a:xfrm>
          <a:prstGeom prst="rect">
            <a:avLst/>
          </a:prstGeom>
          <a:solidFill>
            <a:srgbClr val="43A3A3"/>
          </a:solidFill>
          <a:ln w="12700">
            <a:solidFill>
              <a:srgbClr val="43A3A3"/>
            </a:solidFill>
            <a:prstDash val="solid"/>
          </a:ln>
        </p:spPr>
      </p:sp>
      <p:sp>
        <p:nvSpPr>
          <p:cNvPr id="16" name="Shape 14"/>
          <p:cNvSpPr/>
          <p:nvPr/>
        </p:nvSpPr>
        <p:spPr>
          <a:xfrm>
            <a:off x="4574854" y="2075688"/>
            <a:ext cx="60279" cy="60279"/>
          </a:xfrm>
          <a:prstGeom prst="rect">
            <a:avLst/>
          </a:prstGeom>
          <a:solidFill>
            <a:srgbClr val="43A3A3"/>
          </a:solidFill>
          <a:ln w="12700">
            <a:solidFill>
              <a:srgbClr val="43A3A3"/>
            </a:solidFill>
            <a:prstDash val="solid"/>
          </a:ln>
        </p:spPr>
      </p:sp>
      <p:sp>
        <p:nvSpPr>
          <p:cNvPr id="17" name="Shape 15"/>
          <p:cNvSpPr/>
          <p:nvPr/>
        </p:nvSpPr>
        <p:spPr>
          <a:xfrm>
            <a:off x="4643572" y="2075688"/>
            <a:ext cx="60279" cy="60279"/>
          </a:xfrm>
          <a:prstGeom prst="rect">
            <a:avLst/>
          </a:prstGeom>
          <a:solidFill>
            <a:srgbClr val="43A3A3"/>
          </a:solidFill>
          <a:ln w="12700">
            <a:solidFill>
              <a:srgbClr val="43A3A3"/>
            </a:solidFill>
            <a:prstDash val="solid"/>
          </a:ln>
        </p:spPr>
      </p:sp>
      <p:sp>
        <p:nvSpPr>
          <p:cNvPr id="18" name="Shape 16"/>
          <p:cNvSpPr/>
          <p:nvPr/>
        </p:nvSpPr>
        <p:spPr>
          <a:xfrm>
            <a:off x="4712290" y="2075688"/>
            <a:ext cx="60279" cy="60279"/>
          </a:xfrm>
          <a:prstGeom prst="rect">
            <a:avLst/>
          </a:prstGeom>
          <a:solidFill>
            <a:srgbClr val="43A3A3"/>
          </a:solidFill>
          <a:ln w="12700">
            <a:solidFill>
              <a:srgbClr val="43A3A3"/>
            </a:solidFill>
            <a:prstDash val="solid"/>
          </a:ln>
        </p:spPr>
      </p:sp>
      <p:sp>
        <p:nvSpPr>
          <p:cNvPr id="19" name="Shape 17"/>
          <p:cNvSpPr/>
          <p:nvPr/>
        </p:nvSpPr>
        <p:spPr>
          <a:xfrm>
            <a:off x="4781009" y="2075688"/>
            <a:ext cx="60279" cy="60279"/>
          </a:xfrm>
          <a:prstGeom prst="rect">
            <a:avLst/>
          </a:prstGeom>
          <a:solidFill>
            <a:srgbClr val="43A3A3"/>
          </a:solidFill>
          <a:ln w="12700">
            <a:solidFill>
              <a:srgbClr val="43A3A3"/>
            </a:solidFill>
            <a:prstDash val="solid"/>
          </a:ln>
        </p:spPr>
      </p:sp>
      <p:sp>
        <p:nvSpPr>
          <p:cNvPr id="20" name="Shape 18"/>
          <p:cNvSpPr/>
          <p:nvPr/>
        </p:nvSpPr>
        <p:spPr>
          <a:xfrm>
            <a:off x="4849727" y="2075688"/>
            <a:ext cx="60279" cy="60279"/>
          </a:xfrm>
          <a:prstGeom prst="rect">
            <a:avLst/>
          </a:prstGeom>
          <a:solidFill>
            <a:srgbClr val="43A3A3"/>
          </a:solidFill>
          <a:ln w="12700">
            <a:solidFill>
              <a:srgbClr val="43A3A3"/>
            </a:solidFill>
            <a:prstDash val="solid"/>
          </a:ln>
        </p:spPr>
      </p:sp>
      <p:sp>
        <p:nvSpPr>
          <p:cNvPr id="21" name="Shape 19"/>
          <p:cNvSpPr/>
          <p:nvPr/>
        </p:nvSpPr>
        <p:spPr>
          <a:xfrm>
            <a:off x="4918445" y="2075688"/>
            <a:ext cx="60279" cy="60279"/>
          </a:xfrm>
          <a:prstGeom prst="rect">
            <a:avLst/>
          </a:prstGeom>
          <a:solidFill>
            <a:srgbClr val="43A3A3"/>
          </a:solidFill>
          <a:ln w="12700">
            <a:solidFill>
              <a:srgbClr val="43A3A3"/>
            </a:solidFill>
            <a:prstDash val="solid"/>
          </a:ln>
        </p:spPr>
      </p:sp>
      <p:sp>
        <p:nvSpPr>
          <p:cNvPr id="22" name="Shape 20"/>
          <p:cNvSpPr/>
          <p:nvPr/>
        </p:nvSpPr>
        <p:spPr>
          <a:xfrm>
            <a:off x="4987164" y="2075688"/>
            <a:ext cx="60279" cy="60279"/>
          </a:xfrm>
          <a:prstGeom prst="rect">
            <a:avLst/>
          </a:prstGeom>
          <a:solidFill>
            <a:srgbClr val="43A3A3"/>
          </a:solidFill>
          <a:ln w="12700">
            <a:solidFill>
              <a:srgbClr val="43A3A3"/>
            </a:solidFill>
            <a:prstDash val="solid"/>
          </a:ln>
        </p:spPr>
      </p:sp>
      <p:sp>
        <p:nvSpPr>
          <p:cNvPr id="23" name="Shape 21"/>
          <p:cNvSpPr/>
          <p:nvPr/>
        </p:nvSpPr>
        <p:spPr>
          <a:xfrm>
            <a:off x="4368698" y="2144406"/>
            <a:ext cx="60279" cy="60279"/>
          </a:xfrm>
          <a:prstGeom prst="rect">
            <a:avLst/>
          </a:prstGeom>
          <a:solidFill>
            <a:srgbClr val="43A3A3"/>
          </a:solidFill>
          <a:ln w="12700">
            <a:solidFill>
              <a:srgbClr val="43A3A3"/>
            </a:solidFill>
            <a:prstDash val="solid"/>
          </a:ln>
        </p:spPr>
      </p:sp>
      <p:sp>
        <p:nvSpPr>
          <p:cNvPr id="24" name="Shape 22"/>
          <p:cNvSpPr/>
          <p:nvPr/>
        </p:nvSpPr>
        <p:spPr>
          <a:xfrm>
            <a:off x="4437417" y="2144406"/>
            <a:ext cx="60279" cy="60279"/>
          </a:xfrm>
          <a:prstGeom prst="rect">
            <a:avLst/>
          </a:prstGeom>
          <a:solidFill>
            <a:srgbClr val="43A3A3"/>
          </a:solidFill>
          <a:ln w="12700">
            <a:solidFill>
              <a:srgbClr val="43A3A3"/>
            </a:solidFill>
            <a:prstDash val="solid"/>
          </a:ln>
        </p:spPr>
      </p:sp>
      <p:sp>
        <p:nvSpPr>
          <p:cNvPr id="25" name="Shape 23"/>
          <p:cNvSpPr/>
          <p:nvPr/>
        </p:nvSpPr>
        <p:spPr>
          <a:xfrm>
            <a:off x="4506135" y="2144406"/>
            <a:ext cx="60279" cy="60279"/>
          </a:xfrm>
          <a:prstGeom prst="rect">
            <a:avLst/>
          </a:prstGeom>
          <a:solidFill>
            <a:srgbClr val="43A3A3"/>
          </a:solidFill>
          <a:ln w="12700">
            <a:solidFill>
              <a:srgbClr val="43A3A3"/>
            </a:solidFill>
            <a:prstDash val="solid"/>
          </a:ln>
        </p:spPr>
      </p:sp>
      <p:sp>
        <p:nvSpPr>
          <p:cNvPr id="26" name="Shape 24"/>
          <p:cNvSpPr/>
          <p:nvPr/>
        </p:nvSpPr>
        <p:spPr>
          <a:xfrm>
            <a:off x="4574854" y="2144406"/>
            <a:ext cx="60279" cy="60279"/>
          </a:xfrm>
          <a:prstGeom prst="rect">
            <a:avLst/>
          </a:prstGeom>
          <a:solidFill>
            <a:srgbClr val="43A3A3"/>
          </a:solidFill>
          <a:ln w="12700">
            <a:solidFill>
              <a:srgbClr val="43A3A3"/>
            </a:solidFill>
            <a:prstDash val="solid"/>
          </a:ln>
        </p:spPr>
      </p:sp>
      <p:sp>
        <p:nvSpPr>
          <p:cNvPr id="27" name="Shape 25"/>
          <p:cNvSpPr/>
          <p:nvPr/>
        </p:nvSpPr>
        <p:spPr>
          <a:xfrm>
            <a:off x="4643572" y="2144406"/>
            <a:ext cx="60279" cy="60279"/>
          </a:xfrm>
          <a:prstGeom prst="rect">
            <a:avLst/>
          </a:prstGeom>
          <a:solidFill>
            <a:srgbClr val="43A3A3"/>
          </a:solidFill>
          <a:ln w="12700">
            <a:solidFill>
              <a:srgbClr val="43A3A3"/>
            </a:solidFill>
            <a:prstDash val="solid"/>
          </a:ln>
        </p:spPr>
      </p:sp>
      <p:sp>
        <p:nvSpPr>
          <p:cNvPr id="28" name="Shape 26"/>
          <p:cNvSpPr/>
          <p:nvPr/>
        </p:nvSpPr>
        <p:spPr>
          <a:xfrm>
            <a:off x="4712290" y="2144406"/>
            <a:ext cx="60279" cy="60279"/>
          </a:xfrm>
          <a:prstGeom prst="rect">
            <a:avLst/>
          </a:prstGeom>
          <a:solidFill>
            <a:srgbClr val="43A3A3"/>
          </a:solidFill>
          <a:ln w="12700">
            <a:solidFill>
              <a:srgbClr val="43A3A3"/>
            </a:solidFill>
            <a:prstDash val="solid"/>
          </a:ln>
        </p:spPr>
      </p:sp>
      <p:sp>
        <p:nvSpPr>
          <p:cNvPr id="29" name="Shape 27"/>
          <p:cNvSpPr/>
          <p:nvPr/>
        </p:nvSpPr>
        <p:spPr>
          <a:xfrm>
            <a:off x="4781009" y="2144406"/>
            <a:ext cx="60279" cy="60279"/>
          </a:xfrm>
          <a:prstGeom prst="rect">
            <a:avLst/>
          </a:prstGeom>
          <a:solidFill>
            <a:srgbClr val="43A3A3"/>
          </a:solidFill>
          <a:ln w="12700">
            <a:solidFill>
              <a:srgbClr val="43A3A3"/>
            </a:solidFill>
            <a:prstDash val="solid"/>
          </a:ln>
        </p:spPr>
      </p:sp>
      <p:sp>
        <p:nvSpPr>
          <p:cNvPr id="30" name="Shape 28"/>
          <p:cNvSpPr/>
          <p:nvPr/>
        </p:nvSpPr>
        <p:spPr>
          <a:xfrm>
            <a:off x="4849727" y="2144406"/>
            <a:ext cx="60279" cy="60279"/>
          </a:xfrm>
          <a:prstGeom prst="rect">
            <a:avLst/>
          </a:prstGeom>
          <a:solidFill>
            <a:srgbClr val="43A3A3"/>
          </a:solidFill>
          <a:ln w="12700">
            <a:solidFill>
              <a:srgbClr val="43A3A3"/>
            </a:solidFill>
            <a:prstDash val="solid"/>
          </a:ln>
        </p:spPr>
      </p:sp>
      <p:sp>
        <p:nvSpPr>
          <p:cNvPr id="31" name="Shape 29"/>
          <p:cNvSpPr/>
          <p:nvPr/>
        </p:nvSpPr>
        <p:spPr>
          <a:xfrm>
            <a:off x="4918445" y="2144406"/>
            <a:ext cx="60279" cy="60279"/>
          </a:xfrm>
          <a:prstGeom prst="rect">
            <a:avLst/>
          </a:prstGeom>
          <a:solidFill>
            <a:srgbClr val="43A3A3"/>
          </a:solidFill>
          <a:ln w="12700">
            <a:solidFill>
              <a:srgbClr val="43A3A3"/>
            </a:solidFill>
            <a:prstDash val="solid"/>
          </a:ln>
        </p:spPr>
      </p:sp>
      <p:sp>
        <p:nvSpPr>
          <p:cNvPr id="32" name="Shape 30"/>
          <p:cNvSpPr/>
          <p:nvPr/>
        </p:nvSpPr>
        <p:spPr>
          <a:xfrm>
            <a:off x="4987164" y="2144406"/>
            <a:ext cx="60279" cy="60279"/>
          </a:xfrm>
          <a:prstGeom prst="rect">
            <a:avLst/>
          </a:prstGeom>
          <a:solidFill>
            <a:srgbClr val="43A3A3"/>
          </a:solidFill>
          <a:ln w="12700">
            <a:solidFill>
              <a:srgbClr val="43A3A3"/>
            </a:solidFill>
            <a:prstDash val="solid"/>
          </a:ln>
        </p:spPr>
      </p:sp>
      <p:sp>
        <p:nvSpPr>
          <p:cNvPr id="33" name="Shape 31"/>
          <p:cNvSpPr/>
          <p:nvPr/>
        </p:nvSpPr>
        <p:spPr>
          <a:xfrm>
            <a:off x="4368698" y="2213125"/>
            <a:ext cx="60279" cy="60279"/>
          </a:xfrm>
          <a:prstGeom prst="rect">
            <a:avLst/>
          </a:prstGeom>
          <a:solidFill>
            <a:srgbClr val="43A3A3"/>
          </a:solidFill>
          <a:ln w="12700">
            <a:solidFill>
              <a:srgbClr val="43A3A3"/>
            </a:solidFill>
            <a:prstDash val="solid"/>
          </a:ln>
        </p:spPr>
      </p:sp>
      <p:sp>
        <p:nvSpPr>
          <p:cNvPr id="34" name="Shape 32"/>
          <p:cNvSpPr/>
          <p:nvPr/>
        </p:nvSpPr>
        <p:spPr>
          <a:xfrm>
            <a:off x="4437417" y="2213125"/>
            <a:ext cx="60279" cy="60279"/>
          </a:xfrm>
          <a:prstGeom prst="rect">
            <a:avLst/>
          </a:prstGeom>
          <a:solidFill>
            <a:srgbClr val="43A3A3"/>
          </a:solidFill>
          <a:ln w="12700">
            <a:solidFill>
              <a:srgbClr val="43A3A3"/>
            </a:solidFill>
            <a:prstDash val="solid"/>
          </a:ln>
        </p:spPr>
      </p:sp>
      <p:sp>
        <p:nvSpPr>
          <p:cNvPr id="35" name="Shape 33"/>
          <p:cNvSpPr/>
          <p:nvPr/>
        </p:nvSpPr>
        <p:spPr>
          <a:xfrm>
            <a:off x="4506135" y="2213125"/>
            <a:ext cx="60279" cy="60279"/>
          </a:xfrm>
          <a:prstGeom prst="rect">
            <a:avLst/>
          </a:prstGeom>
          <a:solidFill>
            <a:srgbClr val="43A3A3"/>
          </a:solidFill>
          <a:ln w="12700">
            <a:solidFill>
              <a:srgbClr val="43A3A3"/>
            </a:solidFill>
            <a:prstDash val="solid"/>
          </a:ln>
        </p:spPr>
      </p:sp>
      <p:sp>
        <p:nvSpPr>
          <p:cNvPr id="36" name="Shape 34"/>
          <p:cNvSpPr/>
          <p:nvPr/>
        </p:nvSpPr>
        <p:spPr>
          <a:xfrm>
            <a:off x="4574854" y="2213125"/>
            <a:ext cx="60279" cy="60279"/>
          </a:xfrm>
          <a:prstGeom prst="rect">
            <a:avLst/>
          </a:prstGeom>
          <a:solidFill>
            <a:srgbClr val="43A3A3"/>
          </a:solidFill>
          <a:ln w="12700">
            <a:solidFill>
              <a:srgbClr val="43A3A3"/>
            </a:solidFill>
            <a:prstDash val="solid"/>
          </a:ln>
        </p:spPr>
      </p:sp>
      <p:sp>
        <p:nvSpPr>
          <p:cNvPr id="37" name="Shape 35"/>
          <p:cNvSpPr/>
          <p:nvPr/>
        </p:nvSpPr>
        <p:spPr>
          <a:xfrm>
            <a:off x="4643572" y="2213125"/>
            <a:ext cx="60279" cy="60279"/>
          </a:xfrm>
          <a:prstGeom prst="rect">
            <a:avLst/>
          </a:prstGeom>
          <a:solidFill>
            <a:srgbClr val="43A3A3"/>
          </a:solidFill>
          <a:ln w="12700">
            <a:solidFill>
              <a:srgbClr val="43A3A3"/>
            </a:solidFill>
            <a:prstDash val="solid"/>
          </a:ln>
        </p:spPr>
      </p:sp>
      <p:sp>
        <p:nvSpPr>
          <p:cNvPr id="38" name="Shape 36"/>
          <p:cNvSpPr/>
          <p:nvPr/>
        </p:nvSpPr>
        <p:spPr>
          <a:xfrm>
            <a:off x="4712290" y="2213125"/>
            <a:ext cx="60279" cy="60279"/>
          </a:xfrm>
          <a:prstGeom prst="rect">
            <a:avLst/>
          </a:prstGeom>
          <a:solidFill>
            <a:srgbClr val="43A3A3"/>
          </a:solidFill>
          <a:ln w="12700">
            <a:solidFill>
              <a:srgbClr val="43A3A3"/>
            </a:solidFill>
            <a:prstDash val="solid"/>
          </a:ln>
        </p:spPr>
      </p:sp>
      <p:sp>
        <p:nvSpPr>
          <p:cNvPr id="39" name="Shape 37"/>
          <p:cNvSpPr/>
          <p:nvPr/>
        </p:nvSpPr>
        <p:spPr>
          <a:xfrm>
            <a:off x="4781009" y="2213125"/>
            <a:ext cx="60279" cy="60279"/>
          </a:xfrm>
          <a:prstGeom prst="rect">
            <a:avLst/>
          </a:prstGeom>
          <a:solidFill>
            <a:srgbClr val="43A3A3"/>
          </a:solidFill>
          <a:ln w="12700">
            <a:solidFill>
              <a:srgbClr val="43A3A3"/>
            </a:solidFill>
            <a:prstDash val="solid"/>
          </a:ln>
        </p:spPr>
      </p:sp>
      <p:sp>
        <p:nvSpPr>
          <p:cNvPr id="40" name="Shape 38"/>
          <p:cNvSpPr/>
          <p:nvPr/>
        </p:nvSpPr>
        <p:spPr>
          <a:xfrm>
            <a:off x="4849727" y="2213125"/>
            <a:ext cx="60279" cy="60279"/>
          </a:xfrm>
          <a:prstGeom prst="rect">
            <a:avLst/>
          </a:prstGeom>
          <a:solidFill>
            <a:srgbClr val="43A3A3"/>
          </a:solidFill>
          <a:ln w="12700">
            <a:solidFill>
              <a:srgbClr val="43A3A3"/>
            </a:solidFill>
            <a:prstDash val="solid"/>
          </a:ln>
        </p:spPr>
      </p:sp>
      <p:sp>
        <p:nvSpPr>
          <p:cNvPr id="41" name="Shape 39"/>
          <p:cNvSpPr/>
          <p:nvPr/>
        </p:nvSpPr>
        <p:spPr>
          <a:xfrm>
            <a:off x="4918445" y="2213125"/>
            <a:ext cx="60279" cy="60279"/>
          </a:xfrm>
          <a:prstGeom prst="rect">
            <a:avLst/>
          </a:prstGeom>
          <a:solidFill>
            <a:srgbClr val="43A3A3"/>
          </a:solidFill>
          <a:ln w="12700">
            <a:solidFill>
              <a:srgbClr val="43A3A3"/>
            </a:solidFill>
            <a:prstDash val="solid"/>
          </a:ln>
        </p:spPr>
      </p:sp>
      <p:sp>
        <p:nvSpPr>
          <p:cNvPr id="42" name="Shape 40"/>
          <p:cNvSpPr/>
          <p:nvPr/>
        </p:nvSpPr>
        <p:spPr>
          <a:xfrm>
            <a:off x="4987164" y="2213125"/>
            <a:ext cx="60279" cy="60279"/>
          </a:xfrm>
          <a:prstGeom prst="rect">
            <a:avLst/>
          </a:prstGeom>
          <a:solidFill>
            <a:srgbClr val="43A3A3"/>
          </a:solidFill>
          <a:ln w="12700">
            <a:solidFill>
              <a:srgbClr val="43A3A3"/>
            </a:solidFill>
            <a:prstDash val="solid"/>
          </a:ln>
        </p:spPr>
      </p:sp>
      <p:sp>
        <p:nvSpPr>
          <p:cNvPr id="43" name="Shape 41"/>
          <p:cNvSpPr/>
          <p:nvPr/>
        </p:nvSpPr>
        <p:spPr>
          <a:xfrm>
            <a:off x="4368698" y="2281843"/>
            <a:ext cx="60279" cy="60279"/>
          </a:xfrm>
          <a:prstGeom prst="rect">
            <a:avLst/>
          </a:prstGeom>
          <a:solidFill>
            <a:srgbClr val="43A3A3"/>
          </a:solidFill>
          <a:ln w="12700">
            <a:solidFill>
              <a:srgbClr val="43A3A3"/>
            </a:solidFill>
            <a:prstDash val="solid"/>
          </a:ln>
        </p:spPr>
      </p:sp>
      <p:sp>
        <p:nvSpPr>
          <p:cNvPr id="44" name="Shape 42"/>
          <p:cNvSpPr/>
          <p:nvPr/>
        </p:nvSpPr>
        <p:spPr>
          <a:xfrm>
            <a:off x="4437417" y="2281843"/>
            <a:ext cx="60279" cy="60279"/>
          </a:xfrm>
          <a:prstGeom prst="rect">
            <a:avLst/>
          </a:prstGeom>
          <a:solidFill>
            <a:srgbClr val="43A3A3"/>
          </a:solidFill>
          <a:ln w="12700">
            <a:solidFill>
              <a:srgbClr val="43A3A3"/>
            </a:solidFill>
            <a:prstDash val="solid"/>
          </a:ln>
        </p:spPr>
      </p:sp>
      <p:sp>
        <p:nvSpPr>
          <p:cNvPr id="45" name="Shape 43"/>
          <p:cNvSpPr/>
          <p:nvPr/>
        </p:nvSpPr>
        <p:spPr>
          <a:xfrm>
            <a:off x="4506135" y="2281843"/>
            <a:ext cx="60279" cy="60279"/>
          </a:xfrm>
          <a:prstGeom prst="rect">
            <a:avLst/>
          </a:prstGeom>
          <a:solidFill>
            <a:srgbClr val="43A3A3"/>
          </a:solidFill>
          <a:ln w="12700">
            <a:solidFill>
              <a:srgbClr val="43A3A3"/>
            </a:solidFill>
            <a:prstDash val="solid"/>
          </a:ln>
        </p:spPr>
      </p:sp>
      <p:sp>
        <p:nvSpPr>
          <p:cNvPr id="46" name="Shape 44"/>
          <p:cNvSpPr/>
          <p:nvPr/>
        </p:nvSpPr>
        <p:spPr>
          <a:xfrm>
            <a:off x="4574854" y="2281843"/>
            <a:ext cx="60279" cy="60279"/>
          </a:xfrm>
          <a:prstGeom prst="rect">
            <a:avLst/>
          </a:prstGeom>
          <a:solidFill>
            <a:srgbClr val="43A3A3"/>
          </a:solidFill>
          <a:ln w="12700">
            <a:solidFill>
              <a:srgbClr val="43A3A3"/>
            </a:solidFill>
            <a:prstDash val="solid"/>
          </a:ln>
        </p:spPr>
      </p:sp>
      <p:sp>
        <p:nvSpPr>
          <p:cNvPr id="47" name="Shape 45"/>
          <p:cNvSpPr/>
          <p:nvPr/>
        </p:nvSpPr>
        <p:spPr>
          <a:xfrm>
            <a:off x="4643572" y="2281843"/>
            <a:ext cx="60279" cy="60279"/>
          </a:xfrm>
          <a:prstGeom prst="rect">
            <a:avLst/>
          </a:prstGeom>
          <a:solidFill>
            <a:srgbClr val="43A3A3"/>
          </a:solidFill>
          <a:ln w="12700">
            <a:solidFill>
              <a:srgbClr val="43A3A3"/>
            </a:solidFill>
            <a:prstDash val="solid"/>
          </a:ln>
        </p:spPr>
      </p:sp>
      <p:sp>
        <p:nvSpPr>
          <p:cNvPr id="48" name="Shape 46"/>
          <p:cNvSpPr/>
          <p:nvPr/>
        </p:nvSpPr>
        <p:spPr>
          <a:xfrm>
            <a:off x="4712290" y="2281843"/>
            <a:ext cx="60279" cy="60279"/>
          </a:xfrm>
          <a:prstGeom prst="rect">
            <a:avLst/>
          </a:prstGeom>
          <a:solidFill>
            <a:srgbClr val="43A3A3"/>
          </a:solidFill>
          <a:ln w="12700">
            <a:solidFill>
              <a:srgbClr val="43A3A3"/>
            </a:solidFill>
            <a:prstDash val="solid"/>
          </a:ln>
        </p:spPr>
      </p:sp>
      <p:sp>
        <p:nvSpPr>
          <p:cNvPr id="49" name="Shape 47"/>
          <p:cNvSpPr/>
          <p:nvPr/>
        </p:nvSpPr>
        <p:spPr>
          <a:xfrm>
            <a:off x="4781009" y="2281843"/>
            <a:ext cx="60279" cy="60279"/>
          </a:xfrm>
          <a:prstGeom prst="rect">
            <a:avLst/>
          </a:prstGeom>
          <a:solidFill>
            <a:srgbClr val="43A3A3"/>
          </a:solidFill>
          <a:ln w="12700">
            <a:solidFill>
              <a:srgbClr val="43A3A3"/>
            </a:solidFill>
            <a:prstDash val="solid"/>
          </a:ln>
        </p:spPr>
      </p:sp>
      <p:sp>
        <p:nvSpPr>
          <p:cNvPr id="50" name="Shape 48"/>
          <p:cNvSpPr/>
          <p:nvPr/>
        </p:nvSpPr>
        <p:spPr>
          <a:xfrm>
            <a:off x="4849727" y="2281843"/>
            <a:ext cx="60279" cy="60279"/>
          </a:xfrm>
          <a:prstGeom prst="rect">
            <a:avLst/>
          </a:prstGeom>
          <a:solidFill>
            <a:srgbClr val="43A3A3"/>
          </a:solidFill>
          <a:ln w="12700">
            <a:solidFill>
              <a:srgbClr val="43A3A3"/>
            </a:solidFill>
            <a:prstDash val="solid"/>
          </a:ln>
        </p:spPr>
      </p:sp>
      <p:sp>
        <p:nvSpPr>
          <p:cNvPr id="51" name="Shape 49"/>
          <p:cNvSpPr/>
          <p:nvPr/>
        </p:nvSpPr>
        <p:spPr>
          <a:xfrm>
            <a:off x="4918445" y="2281843"/>
            <a:ext cx="60279" cy="60279"/>
          </a:xfrm>
          <a:prstGeom prst="rect">
            <a:avLst/>
          </a:prstGeom>
          <a:solidFill>
            <a:srgbClr val="43A3A3"/>
          </a:solidFill>
          <a:ln w="12700">
            <a:solidFill>
              <a:srgbClr val="43A3A3"/>
            </a:solidFill>
            <a:prstDash val="solid"/>
          </a:ln>
        </p:spPr>
      </p:sp>
      <p:sp>
        <p:nvSpPr>
          <p:cNvPr id="52" name="Shape 50"/>
          <p:cNvSpPr/>
          <p:nvPr/>
        </p:nvSpPr>
        <p:spPr>
          <a:xfrm>
            <a:off x="4987164" y="2281843"/>
            <a:ext cx="60279" cy="60279"/>
          </a:xfrm>
          <a:prstGeom prst="rect">
            <a:avLst/>
          </a:prstGeom>
          <a:solidFill>
            <a:srgbClr val="43A3A3"/>
          </a:solidFill>
          <a:ln w="12700">
            <a:solidFill>
              <a:srgbClr val="43A3A3"/>
            </a:solidFill>
            <a:prstDash val="solid"/>
          </a:ln>
        </p:spPr>
      </p:sp>
      <p:sp>
        <p:nvSpPr>
          <p:cNvPr id="53" name="Shape 51"/>
          <p:cNvSpPr/>
          <p:nvPr/>
        </p:nvSpPr>
        <p:spPr>
          <a:xfrm>
            <a:off x="4368698" y="2350562"/>
            <a:ext cx="60279" cy="60279"/>
          </a:xfrm>
          <a:prstGeom prst="rect">
            <a:avLst/>
          </a:prstGeom>
          <a:solidFill>
            <a:srgbClr val="43A3A3"/>
          </a:solidFill>
          <a:ln w="12700">
            <a:solidFill>
              <a:srgbClr val="43A3A3"/>
            </a:solidFill>
            <a:prstDash val="solid"/>
          </a:ln>
        </p:spPr>
      </p:sp>
      <p:sp>
        <p:nvSpPr>
          <p:cNvPr id="54" name="Shape 52"/>
          <p:cNvSpPr/>
          <p:nvPr/>
        </p:nvSpPr>
        <p:spPr>
          <a:xfrm>
            <a:off x="4437417" y="2350562"/>
            <a:ext cx="60279" cy="60279"/>
          </a:xfrm>
          <a:prstGeom prst="rect">
            <a:avLst/>
          </a:prstGeom>
          <a:solidFill>
            <a:srgbClr val="43A3A3"/>
          </a:solidFill>
          <a:ln w="12700">
            <a:solidFill>
              <a:srgbClr val="43A3A3"/>
            </a:solidFill>
            <a:prstDash val="solid"/>
          </a:ln>
        </p:spPr>
      </p:sp>
      <p:sp>
        <p:nvSpPr>
          <p:cNvPr id="55" name="Shape 53"/>
          <p:cNvSpPr/>
          <p:nvPr/>
        </p:nvSpPr>
        <p:spPr>
          <a:xfrm>
            <a:off x="4506135" y="2350562"/>
            <a:ext cx="60279" cy="60279"/>
          </a:xfrm>
          <a:prstGeom prst="rect">
            <a:avLst/>
          </a:prstGeom>
          <a:solidFill>
            <a:srgbClr val="43A3A3"/>
          </a:solidFill>
          <a:ln w="12700">
            <a:solidFill>
              <a:srgbClr val="43A3A3"/>
            </a:solidFill>
            <a:prstDash val="solid"/>
          </a:ln>
        </p:spPr>
      </p:sp>
      <p:sp>
        <p:nvSpPr>
          <p:cNvPr id="56" name="Shape 54"/>
          <p:cNvSpPr/>
          <p:nvPr/>
        </p:nvSpPr>
        <p:spPr>
          <a:xfrm>
            <a:off x="4574854" y="2350562"/>
            <a:ext cx="60279" cy="60279"/>
          </a:xfrm>
          <a:prstGeom prst="rect">
            <a:avLst/>
          </a:prstGeom>
          <a:solidFill>
            <a:srgbClr val="43A3A3"/>
          </a:solidFill>
          <a:ln w="12700">
            <a:solidFill>
              <a:srgbClr val="43A3A3"/>
            </a:solidFill>
            <a:prstDash val="solid"/>
          </a:ln>
        </p:spPr>
      </p:sp>
      <p:sp>
        <p:nvSpPr>
          <p:cNvPr id="57" name="Shape 55"/>
          <p:cNvSpPr/>
          <p:nvPr/>
        </p:nvSpPr>
        <p:spPr>
          <a:xfrm>
            <a:off x="4643572" y="2350562"/>
            <a:ext cx="60279" cy="60279"/>
          </a:xfrm>
          <a:prstGeom prst="rect">
            <a:avLst/>
          </a:prstGeom>
          <a:solidFill>
            <a:srgbClr val="43A3A3"/>
          </a:solidFill>
          <a:ln w="12700">
            <a:solidFill>
              <a:srgbClr val="43A3A3"/>
            </a:solidFill>
            <a:prstDash val="solid"/>
          </a:ln>
        </p:spPr>
      </p:sp>
      <p:sp>
        <p:nvSpPr>
          <p:cNvPr id="58" name="Shape 56"/>
          <p:cNvSpPr/>
          <p:nvPr/>
        </p:nvSpPr>
        <p:spPr>
          <a:xfrm>
            <a:off x="4712290" y="2350562"/>
            <a:ext cx="60279" cy="60279"/>
          </a:xfrm>
          <a:prstGeom prst="rect">
            <a:avLst/>
          </a:prstGeom>
          <a:solidFill>
            <a:srgbClr val="43A3A3"/>
          </a:solidFill>
          <a:ln w="12700">
            <a:solidFill>
              <a:srgbClr val="43A3A3"/>
            </a:solidFill>
            <a:prstDash val="solid"/>
          </a:ln>
        </p:spPr>
      </p:sp>
      <p:sp>
        <p:nvSpPr>
          <p:cNvPr id="59" name="Shape 57"/>
          <p:cNvSpPr/>
          <p:nvPr/>
        </p:nvSpPr>
        <p:spPr>
          <a:xfrm>
            <a:off x="4781009" y="2350562"/>
            <a:ext cx="60279" cy="60279"/>
          </a:xfrm>
          <a:prstGeom prst="rect">
            <a:avLst/>
          </a:prstGeom>
          <a:solidFill>
            <a:srgbClr val="43A3A3"/>
          </a:solidFill>
          <a:ln w="12700">
            <a:solidFill>
              <a:srgbClr val="43A3A3"/>
            </a:solidFill>
            <a:prstDash val="solid"/>
          </a:ln>
        </p:spPr>
      </p:sp>
      <p:sp>
        <p:nvSpPr>
          <p:cNvPr id="60" name="Shape 58"/>
          <p:cNvSpPr/>
          <p:nvPr/>
        </p:nvSpPr>
        <p:spPr>
          <a:xfrm>
            <a:off x="4849727" y="2350562"/>
            <a:ext cx="60279" cy="60279"/>
          </a:xfrm>
          <a:prstGeom prst="rect">
            <a:avLst/>
          </a:prstGeom>
          <a:solidFill>
            <a:srgbClr val="43A3A3"/>
          </a:solidFill>
          <a:ln w="12700">
            <a:solidFill>
              <a:srgbClr val="43A3A3"/>
            </a:solidFill>
            <a:prstDash val="solid"/>
          </a:ln>
        </p:spPr>
      </p:sp>
      <p:sp>
        <p:nvSpPr>
          <p:cNvPr id="61" name="Shape 59"/>
          <p:cNvSpPr/>
          <p:nvPr/>
        </p:nvSpPr>
        <p:spPr>
          <a:xfrm>
            <a:off x="4918445" y="2350562"/>
            <a:ext cx="60279" cy="60279"/>
          </a:xfrm>
          <a:prstGeom prst="rect">
            <a:avLst/>
          </a:prstGeom>
          <a:solidFill>
            <a:srgbClr val="43A3A3"/>
          </a:solidFill>
          <a:ln w="12700">
            <a:solidFill>
              <a:srgbClr val="43A3A3"/>
            </a:solidFill>
            <a:prstDash val="solid"/>
          </a:ln>
        </p:spPr>
      </p:sp>
      <p:sp>
        <p:nvSpPr>
          <p:cNvPr id="62" name="Shape 60"/>
          <p:cNvSpPr/>
          <p:nvPr/>
        </p:nvSpPr>
        <p:spPr>
          <a:xfrm>
            <a:off x="4987164" y="2350562"/>
            <a:ext cx="60279" cy="60279"/>
          </a:xfrm>
          <a:prstGeom prst="rect">
            <a:avLst/>
          </a:prstGeom>
          <a:solidFill>
            <a:srgbClr val="43A3A3"/>
          </a:solidFill>
          <a:ln w="12700">
            <a:solidFill>
              <a:srgbClr val="43A3A3"/>
            </a:solidFill>
            <a:prstDash val="solid"/>
          </a:ln>
        </p:spPr>
      </p:sp>
      <p:sp>
        <p:nvSpPr>
          <p:cNvPr id="63" name="Shape 61"/>
          <p:cNvSpPr/>
          <p:nvPr/>
        </p:nvSpPr>
        <p:spPr>
          <a:xfrm>
            <a:off x="4368698" y="2419280"/>
            <a:ext cx="60279" cy="60279"/>
          </a:xfrm>
          <a:prstGeom prst="rect">
            <a:avLst/>
          </a:prstGeom>
          <a:solidFill>
            <a:srgbClr val="43A3A3"/>
          </a:solidFill>
          <a:ln w="12700">
            <a:solidFill>
              <a:srgbClr val="43A3A3"/>
            </a:solidFill>
            <a:prstDash val="solid"/>
          </a:ln>
        </p:spPr>
      </p:sp>
      <p:sp>
        <p:nvSpPr>
          <p:cNvPr id="64" name="Shape 62"/>
          <p:cNvSpPr/>
          <p:nvPr/>
        </p:nvSpPr>
        <p:spPr>
          <a:xfrm>
            <a:off x="4437417" y="2419280"/>
            <a:ext cx="60279" cy="60279"/>
          </a:xfrm>
          <a:prstGeom prst="rect">
            <a:avLst/>
          </a:prstGeom>
          <a:solidFill>
            <a:srgbClr val="43A3A3"/>
          </a:solidFill>
          <a:ln w="12700">
            <a:solidFill>
              <a:srgbClr val="43A3A3"/>
            </a:solidFill>
            <a:prstDash val="solid"/>
          </a:ln>
        </p:spPr>
      </p:sp>
      <p:sp>
        <p:nvSpPr>
          <p:cNvPr id="65" name="Shape 63"/>
          <p:cNvSpPr/>
          <p:nvPr/>
        </p:nvSpPr>
        <p:spPr>
          <a:xfrm>
            <a:off x="4506135" y="2419280"/>
            <a:ext cx="60279" cy="60279"/>
          </a:xfrm>
          <a:prstGeom prst="rect">
            <a:avLst/>
          </a:prstGeom>
          <a:solidFill>
            <a:srgbClr val="43A3A3"/>
          </a:solidFill>
          <a:ln w="12700">
            <a:solidFill>
              <a:srgbClr val="43A3A3"/>
            </a:solidFill>
            <a:prstDash val="solid"/>
          </a:ln>
        </p:spPr>
      </p:sp>
      <p:sp>
        <p:nvSpPr>
          <p:cNvPr id="66" name="Shape 64"/>
          <p:cNvSpPr/>
          <p:nvPr/>
        </p:nvSpPr>
        <p:spPr>
          <a:xfrm>
            <a:off x="4574854" y="2419280"/>
            <a:ext cx="60279" cy="60279"/>
          </a:xfrm>
          <a:prstGeom prst="rect">
            <a:avLst/>
          </a:prstGeom>
          <a:solidFill>
            <a:srgbClr val="43A3A3"/>
          </a:solidFill>
          <a:ln w="12700">
            <a:solidFill>
              <a:srgbClr val="43A3A3"/>
            </a:solidFill>
            <a:prstDash val="solid"/>
          </a:ln>
        </p:spPr>
      </p:sp>
      <p:sp>
        <p:nvSpPr>
          <p:cNvPr id="67" name="Shape 65"/>
          <p:cNvSpPr/>
          <p:nvPr/>
        </p:nvSpPr>
        <p:spPr>
          <a:xfrm>
            <a:off x="4643572" y="2419280"/>
            <a:ext cx="60279" cy="60279"/>
          </a:xfrm>
          <a:prstGeom prst="rect">
            <a:avLst/>
          </a:prstGeom>
          <a:solidFill>
            <a:srgbClr val="43A3A3"/>
          </a:solidFill>
          <a:ln w="12700">
            <a:solidFill>
              <a:srgbClr val="43A3A3"/>
            </a:solidFill>
            <a:prstDash val="solid"/>
          </a:ln>
        </p:spPr>
      </p:sp>
      <p:sp>
        <p:nvSpPr>
          <p:cNvPr id="68" name="Shape 66"/>
          <p:cNvSpPr/>
          <p:nvPr/>
        </p:nvSpPr>
        <p:spPr>
          <a:xfrm>
            <a:off x="4712290" y="2419280"/>
            <a:ext cx="60279" cy="60279"/>
          </a:xfrm>
          <a:prstGeom prst="rect">
            <a:avLst/>
          </a:prstGeom>
          <a:solidFill>
            <a:srgbClr val="43A3A3"/>
          </a:solidFill>
          <a:ln w="12700">
            <a:solidFill>
              <a:srgbClr val="43A3A3"/>
            </a:solidFill>
            <a:prstDash val="solid"/>
          </a:ln>
        </p:spPr>
      </p:sp>
      <p:sp>
        <p:nvSpPr>
          <p:cNvPr id="69" name="Shape 67"/>
          <p:cNvSpPr/>
          <p:nvPr/>
        </p:nvSpPr>
        <p:spPr>
          <a:xfrm>
            <a:off x="4781009" y="2419280"/>
            <a:ext cx="60279" cy="60279"/>
          </a:xfrm>
          <a:prstGeom prst="rect">
            <a:avLst/>
          </a:prstGeom>
          <a:solidFill>
            <a:srgbClr val="43A3A3"/>
          </a:solidFill>
          <a:ln w="12700">
            <a:solidFill>
              <a:srgbClr val="43A3A3"/>
            </a:solidFill>
            <a:prstDash val="solid"/>
          </a:ln>
        </p:spPr>
      </p:sp>
      <p:sp>
        <p:nvSpPr>
          <p:cNvPr id="70" name="Shape 68"/>
          <p:cNvSpPr/>
          <p:nvPr/>
        </p:nvSpPr>
        <p:spPr>
          <a:xfrm>
            <a:off x="4849727" y="2419280"/>
            <a:ext cx="60279" cy="60279"/>
          </a:xfrm>
          <a:prstGeom prst="rect">
            <a:avLst/>
          </a:prstGeom>
          <a:solidFill>
            <a:srgbClr val="43A3A3"/>
          </a:solidFill>
          <a:ln w="12700">
            <a:solidFill>
              <a:srgbClr val="43A3A3"/>
            </a:solidFill>
            <a:prstDash val="solid"/>
          </a:ln>
        </p:spPr>
      </p:sp>
      <p:sp>
        <p:nvSpPr>
          <p:cNvPr id="71" name="Shape 69"/>
          <p:cNvSpPr/>
          <p:nvPr/>
        </p:nvSpPr>
        <p:spPr>
          <a:xfrm>
            <a:off x="4918445" y="2419280"/>
            <a:ext cx="60279" cy="60279"/>
          </a:xfrm>
          <a:prstGeom prst="rect">
            <a:avLst/>
          </a:prstGeom>
          <a:solidFill>
            <a:srgbClr val="43A3A3"/>
          </a:solidFill>
          <a:ln w="12700">
            <a:solidFill>
              <a:srgbClr val="43A3A3"/>
            </a:solidFill>
            <a:prstDash val="solid"/>
          </a:ln>
        </p:spPr>
      </p:sp>
      <p:sp>
        <p:nvSpPr>
          <p:cNvPr id="72" name="Shape 70"/>
          <p:cNvSpPr/>
          <p:nvPr/>
        </p:nvSpPr>
        <p:spPr>
          <a:xfrm>
            <a:off x="4987164" y="2419280"/>
            <a:ext cx="60279" cy="60279"/>
          </a:xfrm>
          <a:prstGeom prst="rect">
            <a:avLst/>
          </a:prstGeom>
          <a:solidFill>
            <a:srgbClr val="43A3A3"/>
          </a:solidFill>
          <a:ln w="12700">
            <a:solidFill>
              <a:srgbClr val="43A3A3"/>
            </a:solidFill>
            <a:prstDash val="solid"/>
          </a:ln>
        </p:spPr>
      </p:sp>
      <p:sp>
        <p:nvSpPr>
          <p:cNvPr id="73" name="Shape 71"/>
          <p:cNvSpPr/>
          <p:nvPr/>
        </p:nvSpPr>
        <p:spPr>
          <a:xfrm>
            <a:off x="4368698" y="2487998"/>
            <a:ext cx="60279" cy="60279"/>
          </a:xfrm>
          <a:prstGeom prst="rect">
            <a:avLst/>
          </a:prstGeom>
          <a:solidFill>
            <a:srgbClr val="43A3A3"/>
          </a:solidFill>
          <a:ln w="12700">
            <a:solidFill>
              <a:srgbClr val="43A3A3"/>
            </a:solidFill>
            <a:prstDash val="solid"/>
          </a:ln>
        </p:spPr>
      </p:sp>
      <p:sp>
        <p:nvSpPr>
          <p:cNvPr id="74" name="Shape 72"/>
          <p:cNvSpPr/>
          <p:nvPr/>
        </p:nvSpPr>
        <p:spPr>
          <a:xfrm>
            <a:off x="4437417" y="2487998"/>
            <a:ext cx="60279" cy="60279"/>
          </a:xfrm>
          <a:prstGeom prst="rect">
            <a:avLst/>
          </a:prstGeom>
          <a:solidFill>
            <a:srgbClr val="43A3A3"/>
          </a:solidFill>
          <a:ln w="12700">
            <a:solidFill>
              <a:srgbClr val="43A3A3"/>
            </a:solidFill>
            <a:prstDash val="solid"/>
          </a:ln>
        </p:spPr>
      </p:sp>
      <p:sp>
        <p:nvSpPr>
          <p:cNvPr id="75" name="Shape 73"/>
          <p:cNvSpPr/>
          <p:nvPr/>
        </p:nvSpPr>
        <p:spPr>
          <a:xfrm>
            <a:off x="4506135" y="2487998"/>
            <a:ext cx="60279" cy="60279"/>
          </a:xfrm>
          <a:prstGeom prst="rect">
            <a:avLst/>
          </a:prstGeom>
          <a:solidFill>
            <a:srgbClr val="43A3A3"/>
          </a:solidFill>
          <a:ln w="12700">
            <a:solidFill>
              <a:srgbClr val="43A3A3"/>
            </a:solidFill>
            <a:prstDash val="solid"/>
          </a:ln>
        </p:spPr>
      </p:sp>
      <p:sp>
        <p:nvSpPr>
          <p:cNvPr id="76" name="Shape 74"/>
          <p:cNvSpPr/>
          <p:nvPr/>
        </p:nvSpPr>
        <p:spPr>
          <a:xfrm>
            <a:off x="4574854" y="2487998"/>
            <a:ext cx="60279" cy="60279"/>
          </a:xfrm>
          <a:prstGeom prst="rect">
            <a:avLst/>
          </a:prstGeom>
          <a:solidFill>
            <a:srgbClr val="43A3A3"/>
          </a:solidFill>
          <a:ln w="12700">
            <a:solidFill>
              <a:srgbClr val="43A3A3"/>
            </a:solidFill>
            <a:prstDash val="solid"/>
          </a:ln>
        </p:spPr>
      </p:sp>
      <p:sp>
        <p:nvSpPr>
          <p:cNvPr id="77" name="Shape 75"/>
          <p:cNvSpPr/>
          <p:nvPr/>
        </p:nvSpPr>
        <p:spPr>
          <a:xfrm>
            <a:off x="4643572" y="2487998"/>
            <a:ext cx="60279" cy="60279"/>
          </a:xfrm>
          <a:prstGeom prst="rect">
            <a:avLst/>
          </a:prstGeom>
          <a:solidFill>
            <a:srgbClr val="43A3A3"/>
          </a:solidFill>
          <a:ln w="12700">
            <a:solidFill>
              <a:srgbClr val="43A3A3"/>
            </a:solidFill>
            <a:prstDash val="solid"/>
          </a:ln>
        </p:spPr>
      </p:sp>
      <p:sp>
        <p:nvSpPr>
          <p:cNvPr id="78" name="Shape 76"/>
          <p:cNvSpPr/>
          <p:nvPr/>
        </p:nvSpPr>
        <p:spPr>
          <a:xfrm>
            <a:off x="4712290" y="2487998"/>
            <a:ext cx="60279" cy="60279"/>
          </a:xfrm>
          <a:prstGeom prst="rect">
            <a:avLst/>
          </a:prstGeom>
          <a:solidFill>
            <a:srgbClr val="43A3A3"/>
          </a:solidFill>
          <a:ln w="12700">
            <a:solidFill>
              <a:srgbClr val="43A3A3"/>
            </a:solidFill>
            <a:prstDash val="solid"/>
          </a:ln>
        </p:spPr>
      </p:sp>
      <p:sp>
        <p:nvSpPr>
          <p:cNvPr id="79" name="Shape 77"/>
          <p:cNvSpPr/>
          <p:nvPr/>
        </p:nvSpPr>
        <p:spPr>
          <a:xfrm>
            <a:off x="4781009" y="2487998"/>
            <a:ext cx="60279" cy="60279"/>
          </a:xfrm>
          <a:prstGeom prst="rect">
            <a:avLst/>
          </a:prstGeom>
          <a:solidFill>
            <a:srgbClr val="43A3A3"/>
          </a:solidFill>
          <a:ln w="12700">
            <a:solidFill>
              <a:srgbClr val="43A3A3"/>
            </a:solidFill>
            <a:prstDash val="solid"/>
          </a:ln>
        </p:spPr>
      </p:sp>
      <p:sp>
        <p:nvSpPr>
          <p:cNvPr id="80" name="Shape 78"/>
          <p:cNvSpPr/>
          <p:nvPr/>
        </p:nvSpPr>
        <p:spPr>
          <a:xfrm>
            <a:off x="4849727" y="2487998"/>
            <a:ext cx="60279" cy="60279"/>
          </a:xfrm>
          <a:prstGeom prst="rect">
            <a:avLst/>
          </a:prstGeom>
          <a:solidFill>
            <a:srgbClr val="43A3A3"/>
          </a:solidFill>
          <a:ln w="12700">
            <a:solidFill>
              <a:srgbClr val="43A3A3"/>
            </a:solidFill>
            <a:prstDash val="solid"/>
          </a:ln>
        </p:spPr>
      </p:sp>
      <p:sp>
        <p:nvSpPr>
          <p:cNvPr id="81" name="Shape 79"/>
          <p:cNvSpPr/>
          <p:nvPr/>
        </p:nvSpPr>
        <p:spPr>
          <a:xfrm>
            <a:off x="4918445" y="2487998"/>
            <a:ext cx="60279" cy="60279"/>
          </a:xfrm>
          <a:prstGeom prst="rect">
            <a:avLst/>
          </a:prstGeom>
          <a:solidFill>
            <a:srgbClr val="43A3A3"/>
          </a:solidFill>
          <a:ln w="12700">
            <a:solidFill>
              <a:srgbClr val="43A3A3"/>
            </a:solidFill>
            <a:prstDash val="solid"/>
          </a:ln>
        </p:spPr>
      </p:sp>
      <p:sp>
        <p:nvSpPr>
          <p:cNvPr id="82" name="Shape 80"/>
          <p:cNvSpPr/>
          <p:nvPr/>
        </p:nvSpPr>
        <p:spPr>
          <a:xfrm>
            <a:off x="4987164" y="2487998"/>
            <a:ext cx="60279" cy="60279"/>
          </a:xfrm>
          <a:prstGeom prst="rect">
            <a:avLst/>
          </a:prstGeom>
          <a:solidFill>
            <a:srgbClr val="43A3A3"/>
          </a:solidFill>
          <a:ln w="12700">
            <a:solidFill>
              <a:srgbClr val="43A3A3"/>
            </a:solidFill>
            <a:prstDash val="solid"/>
          </a:ln>
        </p:spPr>
      </p:sp>
      <p:sp>
        <p:nvSpPr>
          <p:cNvPr id="83" name="Shape 81"/>
          <p:cNvSpPr/>
          <p:nvPr/>
        </p:nvSpPr>
        <p:spPr>
          <a:xfrm>
            <a:off x="4368698" y="2556717"/>
            <a:ext cx="60279" cy="60279"/>
          </a:xfrm>
          <a:prstGeom prst="rect">
            <a:avLst/>
          </a:prstGeom>
          <a:solidFill>
            <a:srgbClr val="43A3A3"/>
          </a:solidFill>
          <a:ln w="12700">
            <a:solidFill>
              <a:srgbClr val="43A3A3"/>
            </a:solidFill>
            <a:prstDash val="solid"/>
          </a:ln>
        </p:spPr>
      </p:sp>
      <p:sp>
        <p:nvSpPr>
          <p:cNvPr id="84" name="Shape 82"/>
          <p:cNvSpPr/>
          <p:nvPr/>
        </p:nvSpPr>
        <p:spPr>
          <a:xfrm>
            <a:off x="4437417" y="2556717"/>
            <a:ext cx="60279" cy="60279"/>
          </a:xfrm>
          <a:prstGeom prst="rect">
            <a:avLst/>
          </a:prstGeom>
          <a:solidFill>
            <a:srgbClr val="43A3A3"/>
          </a:solidFill>
          <a:ln w="12700">
            <a:solidFill>
              <a:srgbClr val="43A3A3"/>
            </a:solidFill>
            <a:prstDash val="solid"/>
          </a:ln>
        </p:spPr>
      </p:sp>
      <p:sp>
        <p:nvSpPr>
          <p:cNvPr id="85" name="Shape 83"/>
          <p:cNvSpPr/>
          <p:nvPr/>
        </p:nvSpPr>
        <p:spPr>
          <a:xfrm>
            <a:off x="4506135" y="2556717"/>
            <a:ext cx="60279" cy="60279"/>
          </a:xfrm>
          <a:prstGeom prst="rect">
            <a:avLst/>
          </a:prstGeom>
          <a:solidFill>
            <a:srgbClr val="43A3A3"/>
          </a:solidFill>
          <a:ln w="12700">
            <a:solidFill>
              <a:srgbClr val="43A3A3"/>
            </a:solidFill>
            <a:prstDash val="solid"/>
          </a:ln>
        </p:spPr>
      </p:sp>
      <p:sp>
        <p:nvSpPr>
          <p:cNvPr id="86" name="Shape 84"/>
          <p:cNvSpPr/>
          <p:nvPr/>
        </p:nvSpPr>
        <p:spPr>
          <a:xfrm>
            <a:off x="4574854" y="2556717"/>
            <a:ext cx="60279" cy="60279"/>
          </a:xfrm>
          <a:prstGeom prst="rect">
            <a:avLst/>
          </a:prstGeom>
          <a:solidFill>
            <a:srgbClr val="43A3A3"/>
          </a:solidFill>
          <a:ln w="12700">
            <a:solidFill>
              <a:srgbClr val="43A3A3"/>
            </a:solidFill>
            <a:prstDash val="solid"/>
          </a:ln>
        </p:spPr>
      </p:sp>
      <p:sp>
        <p:nvSpPr>
          <p:cNvPr id="87" name="Shape 85"/>
          <p:cNvSpPr/>
          <p:nvPr/>
        </p:nvSpPr>
        <p:spPr>
          <a:xfrm>
            <a:off x="4643572" y="2556717"/>
            <a:ext cx="60279" cy="60279"/>
          </a:xfrm>
          <a:prstGeom prst="rect">
            <a:avLst/>
          </a:prstGeom>
          <a:solidFill>
            <a:srgbClr val="43A3A3"/>
          </a:solidFill>
          <a:ln w="12700">
            <a:solidFill>
              <a:srgbClr val="43A3A3"/>
            </a:solidFill>
            <a:prstDash val="solid"/>
          </a:ln>
        </p:spPr>
      </p:sp>
      <p:sp>
        <p:nvSpPr>
          <p:cNvPr id="88" name="Shape 86"/>
          <p:cNvSpPr/>
          <p:nvPr/>
        </p:nvSpPr>
        <p:spPr>
          <a:xfrm>
            <a:off x="4712290" y="2556717"/>
            <a:ext cx="60279" cy="60279"/>
          </a:xfrm>
          <a:prstGeom prst="rect">
            <a:avLst/>
          </a:prstGeom>
          <a:solidFill>
            <a:srgbClr val="43A3A3"/>
          </a:solidFill>
          <a:ln w="12700">
            <a:solidFill>
              <a:srgbClr val="43A3A3"/>
            </a:solidFill>
            <a:prstDash val="solid"/>
          </a:ln>
        </p:spPr>
      </p:sp>
      <p:sp>
        <p:nvSpPr>
          <p:cNvPr id="89" name="Shape 87"/>
          <p:cNvSpPr/>
          <p:nvPr/>
        </p:nvSpPr>
        <p:spPr>
          <a:xfrm>
            <a:off x="4781009" y="2556717"/>
            <a:ext cx="60279" cy="60279"/>
          </a:xfrm>
          <a:prstGeom prst="rect">
            <a:avLst/>
          </a:prstGeom>
          <a:solidFill>
            <a:srgbClr val="43A3A3"/>
          </a:solidFill>
          <a:ln w="12700">
            <a:solidFill>
              <a:srgbClr val="43A3A3"/>
            </a:solidFill>
            <a:prstDash val="solid"/>
          </a:ln>
        </p:spPr>
      </p:sp>
      <p:sp>
        <p:nvSpPr>
          <p:cNvPr id="90" name="Shape 88"/>
          <p:cNvSpPr/>
          <p:nvPr/>
        </p:nvSpPr>
        <p:spPr>
          <a:xfrm>
            <a:off x="4849727" y="2556717"/>
            <a:ext cx="60279" cy="60279"/>
          </a:xfrm>
          <a:prstGeom prst="rect">
            <a:avLst/>
          </a:prstGeom>
          <a:solidFill>
            <a:srgbClr val="43A3A3"/>
          </a:solidFill>
          <a:ln w="12700">
            <a:solidFill>
              <a:srgbClr val="43A3A3"/>
            </a:solidFill>
            <a:prstDash val="solid"/>
          </a:ln>
        </p:spPr>
      </p:sp>
      <p:sp>
        <p:nvSpPr>
          <p:cNvPr id="91" name="Shape 89"/>
          <p:cNvSpPr/>
          <p:nvPr/>
        </p:nvSpPr>
        <p:spPr>
          <a:xfrm>
            <a:off x="4918445" y="2556717"/>
            <a:ext cx="60279" cy="60279"/>
          </a:xfrm>
          <a:prstGeom prst="rect">
            <a:avLst/>
          </a:prstGeom>
          <a:solidFill>
            <a:srgbClr val="43A3A3"/>
          </a:solidFill>
          <a:ln w="12700">
            <a:solidFill>
              <a:srgbClr val="43A3A3"/>
            </a:solidFill>
            <a:prstDash val="solid"/>
          </a:ln>
        </p:spPr>
      </p:sp>
      <p:sp>
        <p:nvSpPr>
          <p:cNvPr id="92" name="Shape 90"/>
          <p:cNvSpPr/>
          <p:nvPr/>
        </p:nvSpPr>
        <p:spPr>
          <a:xfrm>
            <a:off x="4987164" y="2556717"/>
            <a:ext cx="60279" cy="60279"/>
          </a:xfrm>
          <a:prstGeom prst="rect">
            <a:avLst/>
          </a:prstGeom>
          <a:solidFill>
            <a:srgbClr val="43A3A3"/>
          </a:solidFill>
          <a:ln w="12700">
            <a:solidFill>
              <a:srgbClr val="43A3A3"/>
            </a:solidFill>
            <a:prstDash val="solid"/>
          </a:ln>
        </p:spPr>
      </p:sp>
      <p:sp>
        <p:nvSpPr>
          <p:cNvPr id="93" name="Shape 91"/>
          <p:cNvSpPr/>
          <p:nvPr/>
        </p:nvSpPr>
        <p:spPr>
          <a:xfrm>
            <a:off x="4368698" y="2625435"/>
            <a:ext cx="60279" cy="60279"/>
          </a:xfrm>
          <a:prstGeom prst="rect">
            <a:avLst/>
          </a:prstGeom>
          <a:solidFill>
            <a:srgbClr val="43A3A3"/>
          </a:solidFill>
          <a:ln w="12700">
            <a:solidFill>
              <a:srgbClr val="43A3A3"/>
            </a:solidFill>
            <a:prstDash val="solid"/>
          </a:ln>
        </p:spPr>
      </p:sp>
      <p:sp>
        <p:nvSpPr>
          <p:cNvPr id="94" name="Shape 92"/>
          <p:cNvSpPr/>
          <p:nvPr/>
        </p:nvSpPr>
        <p:spPr>
          <a:xfrm>
            <a:off x="4437417" y="2625435"/>
            <a:ext cx="60279" cy="60279"/>
          </a:xfrm>
          <a:prstGeom prst="rect">
            <a:avLst/>
          </a:prstGeom>
          <a:solidFill>
            <a:srgbClr val="E3E2DA"/>
          </a:solidFill>
          <a:ln w="12700">
            <a:solidFill>
              <a:srgbClr val="E3E2DA"/>
            </a:solidFill>
            <a:prstDash val="solid"/>
          </a:ln>
        </p:spPr>
      </p:sp>
      <p:sp>
        <p:nvSpPr>
          <p:cNvPr id="95" name="Shape 93"/>
          <p:cNvSpPr/>
          <p:nvPr/>
        </p:nvSpPr>
        <p:spPr>
          <a:xfrm>
            <a:off x="4506135" y="2625435"/>
            <a:ext cx="60279" cy="60279"/>
          </a:xfrm>
          <a:prstGeom prst="rect">
            <a:avLst/>
          </a:prstGeom>
          <a:solidFill>
            <a:srgbClr val="E3E2DA"/>
          </a:solidFill>
          <a:ln w="12700">
            <a:solidFill>
              <a:srgbClr val="E3E2DA"/>
            </a:solidFill>
            <a:prstDash val="solid"/>
          </a:ln>
        </p:spPr>
      </p:sp>
      <p:sp>
        <p:nvSpPr>
          <p:cNvPr id="96" name="Shape 94"/>
          <p:cNvSpPr/>
          <p:nvPr/>
        </p:nvSpPr>
        <p:spPr>
          <a:xfrm>
            <a:off x="4574854" y="2625435"/>
            <a:ext cx="60279" cy="60279"/>
          </a:xfrm>
          <a:prstGeom prst="rect">
            <a:avLst/>
          </a:prstGeom>
          <a:solidFill>
            <a:srgbClr val="E3E2DA"/>
          </a:solidFill>
          <a:ln w="12700">
            <a:solidFill>
              <a:srgbClr val="E3E2DA"/>
            </a:solidFill>
            <a:prstDash val="solid"/>
          </a:ln>
        </p:spPr>
      </p:sp>
      <p:sp>
        <p:nvSpPr>
          <p:cNvPr id="97" name="Shape 95"/>
          <p:cNvSpPr/>
          <p:nvPr/>
        </p:nvSpPr>
        <p:spPr>
          <a:xfrm>
            <a:off x="4643572" y="2625435"/>
            <a:ext cx="60279" cy="60279"/>
          </a:xfrm>
          <a:prstGeom prst="rect">
            <a:avLst/>
          </a:prstGeom>
          <a:solidFill>
            <a:srgbClr val="E3E2DA"/>
          </a:solidFill>
          <a:ln w="12700">
            <a:solidFill>
              <a:srgbClr val="E3E2DA"/>
            </a:solidFill>
            <a:prstDash val="solid"/>
          </a:ln>
        </p:spPr>
      </p:sp>
      <p:sp>
        <p:nvSpPr>
          <p:cNvPr id="98" name="Shape 96"/>
          <p:cNvSpPr/>
          <p:nvPr/>
        </p:nvSpPr>
        <p:spPr>
          <a:xfrm>
            <a:off x="4712290" y="2625435"/>
            <a:ext cx="60279" cy="60279"/>
          </a:xfrm>
          <a:prstGeom prst="rect">
            <a:avLst/>
          </a:prstGeom>
          <a:solidFill>
            <a:srgbClr val="E3E2DA"/>
          </a:solidFill>
          <a:ln w="12700">
            <a:solidFill>
              <a:srgbClr val="E3E2DA"/>
            </a:solidFill>
            <a:prstDash val="solid"/>
          </a:ln>
        </p:spPr>
      </p:sp>
      <p:sp>
        <p:nvSpPr>
          <p:cNvPr id="99" name="Shape 97"/>
          <p:cNvSpPr/>
          <p:nvPr/>
        </p:nvSpPr>
        <p:spPr>
          <a:xfrm>
            <a:off x="4781009" y="2625435"/>
            <a:ext cx="60279" cy="60279"/>
          </a:xfrm>
          <a:prstGeom prst="rect">
            <a:avLst/>
          </a:prstGeom>
          <a:solidFill>
            <a:srgbClr val="E3E2DA"/>
          </a:solidFill>
          <a:ln w="12700">
            <a:solidFill>
              <a:srgbClr val="E3E2DA"/>
            </a:solidFill>
            <a:prstDash val="solid"/>
          </a:ln>
        </p:spPr>
      </p:sp>
      <p:sp>
        <p:nvSpPr>
          <p:cNvPr id="100" name="Shape 98"/>
          <p:cNvSpPr/>
          <p:nvPr/>
        </p:nvSpPr>
        <p:spPr>
          <a:xfrm>
            <a:off x="4849727" y="2625435"/>
            <a:ext cx="60279" cy="60279"/>
          </a:xfrm>
          <a:prstGeom prst="rect">
            <a:avLst/>
          </a:prstGeom>
          <a:solidFill>
            <a:srgbClr val="E3E2DA"/>
          </a:solidFill>
          <a:ln w="12700">
            <a:solidFill>
              <a:srgbClr val="E3E2DA"/>
            </a:solidFill>
            <a:prstDash val="solid"/>
          </a:ln>
        </p:spPr>
      </p:sp>
      <p:sp>
        <p:nvSpPr>
          <p:cNvPr id="101" name="Shape 99"/>
          <p:cNvSpPr/>
          <p:nvPr/>
        </p:nvSpPr>
        <p:spPr>
          <a:xfrm>
            <a:off x="4918445" y="2625435"/>
            <a:ext cx="60279" cy="60279"/>
          </a:xfrm>
          <a:prstGeom prst="rect">
            <a:avLst/>
          </a:prstGeom>
          <a:solidFill>
            <a:srgbClr val="E3E2DA"/>
          </a:solidFill>
          <a:ln w="12700">
            <a:solidFill>
              <a:srgbClr val="E3E2DA"/>
            </a:solidFill>
            <a:prstDash val="solid"/>
          </a:ln>
        </p:spPr>
      </p:sp>
      <p:sp>
        <p:nvSpPr>
          <p:cNvPr id="102" name="Shape 100"/>
          <p:cNvSpPr/>
          <p:nvPr/>
        </p:nvSpPr>
        <p:spPr>
          <a:xfrm>
            <a:off x="4987164" y="2625435"/>
            <a:ext cx="60279" cy="60279"/>
          </a:xfrm>
          <a:prstGeom prst="rect">
            <a:avLst/>
          </a:prstGeom>
          <a:solidFill>
            <a:srgbClr val="E3E2DA"/>
          </a:solidFill>
          <a:ln w="12700">
            <a:solidFill>
              <a:srgbClr val="E3E2DA"/>
            </a:solidFill>
            <a:prstDash val="solid"/>
          </a:ln>
        </p:spPr>
      </p:sp>
      <p:sp>
        <p:nvSpPr>
          <p:cNvPr id="103" name="Shape 101"/>
          <p:cNvSpPr/>
          <p:nvPr/>
        </p:nvSpPr>
        <p:spPr>
          <a:xfrm>
            <a:off x="4368698" y="2694153"/>
            <a:ext cx="60279" cy="60279"/>
          </a:xfrm>
          <a:prstGeom prst="rect">
            <a:avLst/>
          </a:prstGeom>
          <a:solidFill>
            <a:srgbClr val="E3E2DA"/>
          </a:solidFill>
          <a:ln w="12700">
            <a:solidFill>
              <a:srgbClr val="E3E2DA"/>
            </a:solidFill>
            <a:prstDash val="solid"/>
          </a:ln>
        </p:spPr>
      </p:sp>
      <p:sp>
        <p:nvSpPr>
          <p:cNvPr id="104" name="Shape 102"/>
          <p:cNvSpPr/>
          <p:nvPr/>
        </p:nvSpPr>
        <p:spPr>
          <a:xfrm>
            <a:off x="4437417" y="2694153"/>
            <a:ext cx="60279" cy="60279"/>
          </a:xfrm>
          <a:prstGeom prst="rect">
            <a:avLst/>
          </a:prstGeom>
          <a:solidFill>
            <a:srgbClr val="E3E2DA"/>
          </a:solidFill>
          <a:ln w="12700">
            <a:solidFill>
              <a:srgbClr val="E3E2DA"/>
            </a:solidFill>
            <a:prstDash val="solid"/>
          </a:ln>
        </p:spPr>
      </p:sp>
      <p:sp>
        <p:nvSpPr>
          <p:cNvPr id="105" name="Shape 103"/>
          <p:cNvSpPr/>
          <p:nvPr/>
        </p:nvSpPr>
        <p:spPr>
          <a:xfrm>
            <a:off x="4506135" y="2694153"/>
            <a:ext cx="60279" cy="60279"/>
          </a:xfrm>
          <a:prstGeom prst="rect">
            <a:avLst/>
          </a:prstGeom>
          <a:solidFill>
            <a:srgbClr val="E3E2DA"/>
          </a:solidFill>
          <a:ln w="12700">
            <a:solidFill>
              <a:srgbClr val="E3E2DA"/>
            </a:solidFill>
            <a:prstDash val="solid"/>
          </a:ln>
        </p:spPr>
      </p:sp>
      <p:sp>
        <p:nvSpPr>
          <p:cNvPr id="106" name="Shape 104"/>
          <p:cNvSpPr/>
          <p:nvPr/>
        </p:nvSpPr>
        <p:spPr>
          <a:xfrm>
            <a:off x="4574854" y="2694153"/>
            <a:ext cx="60279" cy="60279"/>
          </a:xfrm>
          <a:prstGeom prst="rect">
            <a:avLst/>
          </a:prstGeom>
          <a:solidFill>
            <a:srgbClr val="E3E2DA"/>
          </a:solidFill>
          <a:ln w="12700">
            <a:solidFill>
              <a:srgbClr val="E3E2DA"/>
            </a:solidFill>
            <a:prstDash val="solid"/>
          </a:ln>
        </p:spPr>
      </p:sp>
      <p:sp>
        <p:nvSpPr>
          <p:cNvPr id="107" name="Shape 105"/>
          <p:cNvSpPr/>
          <p:nvPr/>
        </p:nvSpPr>
        <p:spPr>
          <a:xfrm>
            <a:off x="4643572" y="2694153"/>
            <a:ext cx="60279" cy="60279"/>
          </a:xfrm>
          <a:prstGeom prst="rect">
            <a:avLst/>
          </a:prstGeom>
          <a:solidFill>
            <a:srgbClr val="E3E2DA"/>
          </a:solidFill>
          <a:ln w="12700">
            <a:solidFill>
              <a:srgbClr val="E3E2DA"/>
            </a:solidFill>
            <a:prstDash val="solid"/>
          </a:ln>
        </p:spPr>
      </p:sp>
      <p:sp>
        <p:nvSpPr>
          <p:cNvPr id="108" name="Shape 106"/>
          <p:cNvSpPr/>
          <p:nvPr/>
        </p:nvSpPr>
        <p:spPr>
          <a:xfrm>
            <a:off x="4712290" y="2694153"/>
            <a:ext cx="60279" cy="60279"/>
          </a:xfrm>
          <a:prstGeom prst="rect">
            <a:avLst/>
          </a:prstGeom>
          <a:solidFill>
            <a:srgbClr val="E3E2DA"/>
          </a:solidFill>
          <a:ln w="12700">
            <a:solidFill>
              <a:srgbClr val="E3E2DA"/>
            </a:solidFill>
            <a:prstDash val="solid"/>
          </a:ln>
        </p:spPr>
      </p:sp>
      <p:sp>
        <p:nvSpPr>
          <p:cNvPr id="109" name="Shape 107"/>
          <p:cNvSpPr/>
          <p:nvPr/>
        </p:nvSpPr>
        <p:spPr>
          <a:xfrm>
            <a:off x="4781009" y="2694153"/>
            <a:ext cx="60279" cy="60279"/>
          </a:xfrm>
          <a:prstGeom prst="rect">
            <a:avLst/>
          </a:prstGeom>
          <a:solidFill>
            <a:srgbClr val="E3E2DA"/>
          </a:solidFill>
          <a:ln w="12700">
            <a:solidFill>
              <a:srgbClr val="E3E2DA"/>
            </a:solidFill>
            <a:prstDash val="solid"/>
          </a:ln>
        </p:spPr>
      </p:sp>
      <p:sp>
        <p:nvSpPr>
          <p:cNvPr id="110" name="Shape 108"/>
          <p:cNvSpPr/>
          <p:nvPr/>
        </p:nvSpPr>
        <p:spPr>
          <a:xfrm>
            <a:off x="4849727" y="2694153"/>
            <a:ext cx="60279" cy="60279"/>
          </a:xfrm>
          <a:prstGeom prst="rect">
            <a:avLst/>
          </a:prstGeom>
          <a:solidFill>
            <a:srgbClr val="E3E2DA"/>
          </a:solidFill>
          <a:ln w="12700">
            <a:solidFill>
              <a:srgbClr val="E3E2DA"/>
            </a:solidFill>
            <a:prstDash val="solid"/>
          </a:ln>
        </p:spPr>
      </p:sp>
      <p:sp>
        <p:nvSpPr>
          <p:cNvPr id="111" name="Shape 109"/>
          <p:cNvSpPr/>
          <p:nvPr/>
        </p:nvSpPr>
        <p:spPr>
          <a:xfrm>
            <a:off x="4918445" y="2694153"/>
            <a:ext cx="60279" cy="60279"/>
          </a:xfrm>
          <a:prstGeom prst="rect">
            <a:avLst/>
          </a:prstGeom>
          <a:solidFill>
            <a:srgbClr val="E3E2DA"/>
          </a:solidFill>
          <a:ln w="12700">
            <a:solidFill>
              <a:srgbClr val="E3E2DA"/>
            </a:solidFill>
            <a:prstDash val="solid"/>
          </a:ln>
        </p:spPr>
      </p:sp>
      <p:sp>
        <p:nvSpPr>
          <p:cNvPr id="112" name="Shape 110"/>
          <p:cNvSpPr/>
          <p:nvPr/>
        </p:nvSpPr>
        <p:spPr>
          <a:xfrm>
            <a:off x="4987164" y="2694153"/>
            <a:ext cx="60279" cy="60279"/>
          </a:xfrm>
          <a:prstGeom prst="rect">
            <a:avLst/>
          </a:prstGeom>
          <a:solidFill>
            <a:srgbClr val="E3E2DA"/>
          </a:solidFill>
          <a:ln w="12700">
            <a:solidFill>
              <a:srgbClr val="E3E2DA"/>
            </a:solidFill>
            <a:prstDash val="solid"/>
          </a:ln>
        </p:spPr>
      </p:sp>
      <p:sp>
        <p:nvSpPr>
          <p:cNvPr id="113" name="Text 111"/>
          <p:cNvSpPr txBox="1"/>
          <p:nvPr/>
        </p:nvSpPr>
        <p:spPr>
          <a:xfrm>
            <a:off x="4368698"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81.2%</a:t>
            </a:r>
            <a:endParaRPr lang="en-US" sz="2000" dirty="0"/>
          </a:p>
        </p:txBody>
      </p:sp>
      <p:sp>
        <p:nvSpPr>
          <p:cNvPr id="114" name="Text 112"/>
          <p:cNvSpPr txBox="1"/>
          <p:nvPr/>
        </p:nvSpPr>
        <p:spPr>
          <a:xfrm>
            <a:off x="4368698"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came for leisure or to see friends and relatives (81 of every 100)</a:t>
            </a:r>
            <a:endParaRPr lang="en-US" sz="1000" dirty="0"/>
          </a:p>
        </p:txBody>
      </p:sp>
      <p:sp>
        <p:nvSpPr>
          <p:cNvPr id="115" name="Shape 113"/>
          <p:cNvSpPr/>
          <p:nvPr/>
        </p:nvSpPr>
        <p:spPr>
          <a:xfrm>
            <a:off x="5520131" y="2075688"/>
            <a:ext cx="60279" cy="60279"/>
          </a:xfrm>
          <a:prstGeom prst="rect">
            <a:avLst/>
          </a:prstGeom>
          <a:solidFill>
            <a:srgbClr val="43A3A3"/>
          </a:solidFill>
          <a:ln w="12700">
            <a:solidFill>
              <a:srgbClr val="43A3A3"/>
            </a:solidFill>
            <a:prstDash val="solid"/>
          </a:ln>
        </p:spPr>
      </p:sp>
      <p:sp>
        <p:nvSpPr>
          <p:cNvPr id="116" name="Shape 114"/>
          <p:cNvSpPr/>
          <p:nvPr/>
        </p:nvSpPr>
        <p:spPr>
          <a:xfrm>
            <a:off x="5588850" y="2075688"/>
            <a:ext cx="60279" cy="60279"/>
          </a:xfrm>
          <a:prstGeom prst="rect">
            <a:avLst/>
          </a:prstGeom>
          <a:solidFill>
            <a:srgbClr val="43A3A3"/>
          </a:solidFill>
          <a:ln w="12700">
            <a:solidFill>
              <a:srgbClr val="43A3A3"/>
            </a:solidFill>
            <a:prstDash val="solid"/>
          </a:ln>
        </p:spPr>
      </p:sp>
      <p:sp>
        <p:nvSpPr>
          <p:cNvPr id="117" name="Shape 115"/>
          <p:cNvSpPr/>
          <p:nvPr/>
        </p:nvSpPr>
        <p:spPr>
          <a:xfrm>
            <a:off x="5657568" y="2075688"/>
            <a:ext cx="60279" cy="60279"/>
          </a:xfrm>
          <a:prstGeom prst="rect">
            <a:avLst/>
          </a:prstGeom>
          <a:solidFill>
            <a:srgbClr val="43A3A3"/>
          </a:solidFill>
          <a:ln w="12700">
            <a:solidFill>
              <a:srgbClr val="43A3A3"/>
            </a:solidFill>
            <a:prstDash val="solid"/>
          </a:ln>
        </p:spPr>
      </p:sp>
      <p:sp>
        <p:nvSpPr>
          <p:cNvPr id="118" name="Shape 116"/>
          <p:cNvSpPr/>
          <p:nvPr/>
        </p:nvSpPr>
        <p:spPr>
          <a:xfrm>
            <a:off x="5726286" y="2075688"/>
            <a:ext cx="60279" cy="60279"/>
          </a:xfrm>
          <a:prstGeom prst="rect">
            <a:avLst/>
          </a:prstGeom>
          <a:solidFill>
            <a:srgbClr val="43A3A3"/>
          </a:solidFill>
          <a:ln w="12700">
            <a:solidFill>
              <a:srgbClr val="43A3A3"/>
            </a:solidFill>
            <a:prstDash val="solid"/>
          </a:ln>
        </p:spPr>
      </p:sp>
      <p:sp>
        <p:nvSpPr>
          <p:cNvPr id="119" name="Shape 117"/>
          <p:cNvSpPr/>
          <p:nvPr/>
        </p:nvSpPr>
        <p:spPr>
          <a:xfrm>
            <a:off x="5795005" y="2075688"/>
            <a:ext cx="60279" cy="60279"/>
          </a:xfrm>
          <a:prstGeom prst="rect">
            <a:avLst/>
          </a:prstGeom>
          <a:solidFill>
            <a:srgbClr val="43A3A3"/>
          </a:solidFill>
          <a:ln w="12700">
            <a:solidFill>
              <a:srgbClr val="43A3A3"/>
            </a:solidFill>
            <a:prstDash val="solid"/>
          </a:ln>
        </p:spPr>
      </p:sp>
      <p:sp>
        <p:nvSpPr>
          <p:cNvPr id="120" name="Shape 118"/>
          <p:cNvSpPr/>
          <p:nvPr/>
        </p:nvSpPr>
        <p:spPr>
          <a:xfrm>
            <a:off x="5863723" y="2075688"/>
            <a:ext cx="60279" cy="60279"/>
          </a:xfrm>
          <a:prstGeom prst="rect">
            <a:avLst/>
          </a:prstGeom>
          <a:solidFill>
            <a:srgbClr val="43A3A3"/>
          </a:solidFill>
          <a:ln w="12700">
            <a:solidFill>
              <a:srgbClr val="43A3A3"/>
            </a:solidFill>
            <a:prstDash val="solid"/>
          </a:ln>
        </p:spPr>
      </p:sp>
      <p:sp>
        <p:nvSpPr>
          <p:cNvPr id="121" name="Shape 119"/>
          <p:cNvSpPr/>
          <p:nvPr/>
        </p:nvSpPr>
        <p:spPr>
          <a:xfrm>
            <a:off x="5932441" y="2075688"/>
            <a:ext cx="60279" cy="60279"/>
          </a:xfrm>
          <a:prstGeom prst="rect">
            <a:avLst/>
          </a:prstGeom>
          <a:solidFill>
            <a:srgbClr val="43A3A3"/>
          </a:solidFill>
          <a:ln w="12700">
            <a:solidFill>
              <a:srgbClr val="43A3A3"/>
            </a:solidFill>
            <a:prstDash val="solid"/>
          </a:ln>
        </p:spPr>
      </p:sp>
      <p:sp>
        <p:nvSpPr>
          <p:cNvPr id="122" name="Shape 120"/>
          <p:cNvSpPr/>
          <p:nvPr/>
        </p:nvSpPr>
        <p:spPr>
          <a:xfrm>
            <a:off x="6001160" y="2075688"/>
            <a:ext cx="60279" cy="60279"/>
          </a:xfrm>
          <a:prstGeom prst="rect">
            <a:avLst/>
          </a:prstGeom>
          <a:solidFill>
            <a:srgbClr val="43A3A3"/>
          </a:solidFill>
          <a:ln w="12700">
            <a:solidFill>
              <a:srgbClr val="43A3A3"/>
            </a:solidFill>
            <a:prstDash val="solid"/>
          </a:ln>
        </p:spPr>
      </p:sp>
      <p:sp>
        <p:nvSpPr>
          <p:cNvPr id="123" name="Shape 121"/>
          <p:cNvSpPr/>
          <p:nvPr/>
        </p:nvSpPr>
        <p:spPr>
          <a:xfrm>
            <a:off x="6069878" y="2075688"/>
            <a:ext cx="60279" cy="60279"/>
          </a:xfrm>
          <a:prstGeom prst="rect">
            <a:avLst/>
          </a:prstGeom>
          <a:solidFill>
            <a:srgbClr val="43A3A3"/>
          </a:solidFill>
          <a:ln w="12700">
            <a:solidFill>
              <a:srgbClr val="43A3A3"/>
            </a:solidFill>
            <a:prstDash val="solid"/>
          </a:ln>
        </p:spPr>
      </p:sp>
      <p:sp>
        <p:nvSpPr>
          <p:cNvPr id="124" name="Shape 122"/>
          <p:cNvSpPr/>
          <p:nvPr/>
        </p:nvSpPr>
        <p:spPr>
          <a:xfrm>
            <a:off x="6138597" y="2075688"/>
            <a:ext cx="60279" cy="60279"/>
          </a:xfrm>
          <a:prstGeom prst="rect">
            <a:avLst/>
          </a:prstGeom>
          <a:solidFill>
            <a:srgbClr val="43A3A3"/>
          </a:solidFill>
          <a:ln w="12700">
            <a:solidFill>
              <a:srgbClr val="43A3A3"/>
            </a:solidFill>
            <a:prstDash val="solid"/>
          </a:ln>
        </p:spPr>
      </p:sp>
      <p:sp>
        <p:nvSpPr>
          <p:cNvPr id="125" name="Shape 123"/>
          <p:cNvSpPr/>
          <p:nvPr/>
        </p:nvSpPr>
        <p:spPr>
          <a:xfrm>
            <a:off x="5520131" y="2144406"/>
            <a:ext cx="60279" cy="60279"/>
          </a:xfrm>
          <a:prstGeom prst="rect">
            <a:avLst/>
          </a:prstGeom>
          <a:solidFill>
            <a:srgbClr val="43A3A3"/>
          </a:solidFill>
          <a:ln w="12700">
            <a:solidFill>
              <a:srgbClr val="43A3A3"/>
            </a:solidFill>
            <a:prstDash val="solid"/>
          </a:ln>
        </p:spPr>
      </p:sp>
      <p:sp>
        <p:nvSpPr>
          <p:cNvPr id="126" name="Shape 124"/>
          <p:cNvSpPr/>
          <p:nvPr/>
        </p:nvSpPr>
        <p:spPr>
          <a:xfrm>
            <a:off x="5588850" y="2144406"/>
            <a:ext cx="60279" cy="60279"/>
          </a:xfrm>
          <a:prstGeom prst="rect">
            <a:avLst/>
          </a:prstGeom>
          <a:solidFill>
            <a:srgbClr val="43A3A3"/>
          </a:solidFill>
          <a:ln w="12700">
            <a:solidFill>
              <a:srgbClr val="43A3A3"/>
            </a:solidFill>
            <a:prstDash val="solid"/>
          </a:ln>
        </p:spPr>
      </p:sp>
      <p:sp>
        <p:nvSpPr>
          <p:cNvPr id="127" name="Shape 125"/>
          <p:cNvSpPr/>
          <p:nvPr/>
        </p:nvSpPr>
        <p:spPr>
          <a:xfrm>
            <a:off x="5657568" y="2144406"/>
            <a:ext cx="60279" cy="60279"/>
          </a:xfrm>
          <a:prstGeom prst="rect">
            <a:avLst/>
          </a:prstGeom>
          <a:solidFill>
            <a:srgbClr val="43A3A3"/>
          </a:solidFill>
          <a:ln w="12700">
            <a:solidFill>
              <a:srgbClr val="43A3A3"/>
            </a:solidFill>
            <a:prstDash val="solid"/>
          </a:ln>
        </p:spPr>
      </p:sp>
      <p:sp>
        <p:nvSpPr>
          <p:cNvPr id="128" name="Shape 126"/>
          <p:cNvSpPr/>
          <p:nvPr/>
        </p:nvSpPr>
        <p:spPr>
          <a:xfrm>
            <a:off x="5726286" y="2144406"/>
            <a:ext cx="60279" cy="60279"/>
          </a:xfrm>
          <a:prstGeom prst="rect">
            <a:avLst/>
          </a:prstGeom>
          <a:solidFill>
            <a:srgbClr val="43A3A3"/>
          </a:solidFill>
          <a:ln w="12700">
            <a:solidFill>
              <a:srgbClr val="43A3A3"/>
            </a:solidFill>
            <a:prstDash val="solid"/>
          </a:ln>
        </p:spPr>
      </p:sp>
      <p:sp>
        <p:nvSpPr>
          <p:cNvPr id="129" name="Shape 127"/>
          <p:cNvSpPr/>
          <p:nvPr/>
        </p:nvSpPr>
        <p:spPr>
          <a:xfrm>
            <a:off x="5795005" y="2144406"/>
            <a:ext cx="60279" cy="60279"/>
          </a:xfrm>
          <a:prstGeom prst="rect">
            <a:avLst/>
          </a:prstGeom>
          <a:solidFill>
            <a:srgbClr val="43A3A3"/>
          </a:solidFill>
          <a:ln w="12700">
            <a:solidFill>
              <a:srgbClr val="43A3A3"/>
            </a:solidFill>
            <a:prstDash val="solid"/>
          </a:ln>
        </p:spPr>
      </p:sp>
      <p:sp>
        <p:nvSpPr>
          <p:cNvPr id="130" name="Shape 128"/>
          <p:cNvSpPr/>
          <p:nvPr/>
        </p:nvSpPr>
        <p:spPr>
          <a:xfrm>
            <a:off x="5863723" y="2144406"/>
            <a:ext cx="60279" cy="60279"/>
          </a:xfrm>
          <a:prstGeom prst="rect">
            <a:avLst/>
          </a:prstGeom>
          <a:solidFill>
            <a:srgbClr val="43A3A3"/>
          </a:solidFill>
          <a:ln w="12700">
            <a:solidFill>
              <a:srgbClr val="43A3A3"/>
            </a:solidFill>
            <a:prstDash val="solid"/>
          </a:ln>
        </p:spPr>
      </p:sp>
      <p:sp>
        <p:nvSpPr>
          <p:cNvPr id="131" name="Shape 129"/>
          <p:cNvSpPr/>
          <p:nvPr/>
        </p:nvSpPr>
        <p:spPr>
          <a:xfrm>
            <a:off x="5932441" y="2144406"/>
            <a:ext cx="60279" cy="60279"/>
          </a:xfrm>
          <a:prstGeom prst="rect">
            <a:avLst/>
          </a:prstGeom>
          <a:solidFill>
            <a:srgbClr val="43A3A3"/>
          </a:solidFill>
          <a:ln w="12700">
            <a:solidFill>
              <a:srgbClr val="43A3A3"/>
            </a:solidFill>
            <a:prstDash val="solid"/>
          </a:ln>
        </p:spPr>
      </p:sp>
      <p:sp>
        <p:nvSpPr>
          <p:cNvPr id="132" name="Shape 130"/>
          <p:cNvSpPr/>
          <p:nvPr/>
        </p:nvSpPr>
        <p:spPr>
          <a:xfrm>
            <a:off x="6001160" y="2144406"/>
            <a:ext cx="60279" cy="60279"/>
          </a:xfrm>
          <a:prstGeom prst="rect">
            <a:avLst/>
          </a:prstGeom>
          <a:solidFill>
            <a:srgbClr val="43A3A3"/>
          </a:solidFill>
          <a:ln w="12700">
            <a:solidFill>
              <a:srgbClr val="43A3A3"/>
            </a:solidFill>
            <a:prstDash val="solid"/>
          </a:ln>
        </p:spPr>
      </p:sp>
      <p:sp>
        <p:nvSpPr>
          <p:cNvPr id="133" name="Shape 131"/>
          <p:cNvSpPr/>
          <p:nvPr/>
        </p:nvSpPr>
        <p:spPr>
          <a:xfrm>
            <a:off x="6069878" y="2144406"/>
            <a:ext cx="60279" cy="60279"/>
          </a:xfrm>
          <a:prstGeom prst="rect">
            <a:avLst/>
          </a:prstGeom>
          <a:solidFill>
            <a:srgbClr val="43A3A3"/>
          </a:solidFill>
          <a:ln w="12700">
            <a:solidFill>
              <a:srgbClr val="43A3A3"/>
            </a:solidFill>
            <a:prstDash val="solid"/>
          </a:ln>
        </p:spPr>
      </p:sp>
      <p:sp>
        <p:nvSpPr>
          <p:cNvPr id="134" name="Shape 132"/>
          <p:cNvSpPr/>
          <p:nvPr/>
        </p:nvSpPr>
        <p:spPr>
          <a:xfrm>
            <a:off x="6138597" y="2144406"/>
            <a:ext cx="60279" cy="60279"/>
          </a:xfrm>
          <a:prstGeom prst="rect">
            <a:avLst/>
          </a:prstGeom>
          <a:solidFill>
            <a:srgbClr val="43A3A3"/>
          </a:solidFill>
          <a:ln w="12700">
            <a:solidFill>
              <a:srgbClr val="43A3A3"/>
            </a:solidFill>
            <a:prstDash val="solid"/>
          </a:ln>
        </p:spPr>
      </p:sp>
      <p:sp>
        <p:nvSpPr>
          <p:cNvPr id="135" name="Shape 133"/>
          <p:cNvSpPr/>
          <p:nvPr/>
        </p:nvSpPr>
        <p:spPr>
          <a:xfrm>
            <a:off x="5520131" y="2213125"/>
            <a:ext cx="60279" cy="60279"/>
          </a:xfrm>
          <a:prstGeom prst="rect">
            <a:avLst/>
          </a:prstGeom>
          <a:solidFill>
            <a:srgbClr val="43A3A3"/>
          </a:solidFill>
          <a:ln w="12700">
            <a:solidFill>
              <a:srgbClr val="43A3A3"/>
            </a:solidFill>
            <a:prstDash val="solid"/>
          </a:ln>
        </p:spPr>
      </p:sp>
      <p:sp>
        <p:nvSpPr>
          <p:cNvPr id="136" name="Shape 134"/>
          <p:cNvSpPr/>
          <p:nvPr/>
        </p:nvSpPr>
        <p:spPr>
          <a:xfrm>
            <a:off x="5588850" y="2213125"/>
            <a:ext cx="60279" cy="60279"/>
          </a:xfrm>
          <a:prstGeom prst="rect">
            <a:avLst/>
          </a:prstGeom>
          <a:solidFill>
            <a:srgbClr val="43A3A3"/>
          </a:solidFill>
          <a:ln w="12700">
            <a:solidFill>
              <a:srgbClr val="43A3A3"/>
            </a:solidFill>
            <a:prstDash val="solid"/>
          </a:ln>
        </p:spPr>
      </p:sp>
      <p:sp>
        <p:nvSpPr>
          <p:cNvPr id="137" name="Shape 135"/>
          <p:cNvSpPr/>
          <p:nvPr/>
        </p:nvSpPr>
        <p:spPr>
          <a:xfrm>
            <a:off x="5657568" y="2213125"/>
            <a:ext cx="60279" cy="60279"/>
          </a:xfrm>
          <a:prstGeom prst="rect">
            <a:avLst/>
          </a:prstGeom>
          <a:solidFill>
            <a:srgbClr val="43A3A3"/>
          </a:solidFill>
          <a:ln w="12700">
            <a:solidFill>
              <a:srgbClr val="43A3A3"/>
            </a:solidFill>
            <a:prstDash val="solid"/>
          </a:ln>
        </p:spPr>
      </p:sp>
      <p:sp>
        <p:nvSpPr>
          <p:cNvPr id="138" name="Shape 136"/>
          <p:cNvSpPr/>
          <p:nvPr/>
        </p:nvSpPr>
        <p:spPr>
          <a:xfrm>
            <a:off x="5726286" y="2213125"/>
            <a:ext cx="60279" cy="60279"/>
          </a:xfrm>
          <a:prstGeom prst="rect">
            <a:avLst/>
          </a:prstGeom>
          <a:solidFill>
            <a:srgbClr val="43A3A3"/>
          </a:solidFill>
          <a:ln w="12700">
            <a:solidFill>
              <a:srgbClr val="43A3A3"/>
            </a:solidFill>
            <a:prstDash val="solid"/>
          </a:ln>
        </p:spPr>
      </p:sp>
      <p:sp>
        <p:nvSpPr>
          <p:cNvPr id="139" name="Shape 137"/>
          <p:cNvSpPr/>
          <p:nvPr/>
        </p:nvSpPr>
        <p:spPr>
          <a:xfrm>
            <a:off x="5795005" y="2213125"/>
            <a:ext cx="60279" cy="60279"/>
          </a:xfrm>
          <a:prstGeom prst="rect">
            <a:avLst/>
          </a:prstGeom>
          <a:solidFill>
            <a:srgbClr val="43A3A3"/>
          </a:solidFill>
          <a:ln w="12700">
            <a:solidFill>
              <a:srgbClr val="43A3A3"/>
            </a:solidFill>
            <a:prstDash val="solid"/>
          </a:ln>
        </p:spPr>
      </p:sp>
      <p:sp>
        <p:nvSpPr>
          <p:cNvPr id="140" name="Shape 138"/>
          <p:cNvSpPr/>
          <p:nvPr/>
        </p:nvSpPr>
        <p:spPr>
          <a:xfrm>
            <a:off x="5863723" y="2213125"/>
            <a:ext cx="60279" cy="60279"/>
          </a:xfrm>
          <a:prstGeom prst="rect">
            <a:avLst/>
          </a:prstGeom>
          <a:solidFill>
            <a:srgbClr val="43A3A3"/>
          </a:solidFill>
          <a:ln w="12700">
            <a:solidFill>
              <a:srgbClr val="43A3A3"/>
            </a:solidFill>
            <a:prstDash val="solid"/>
          </a:ln>
        </p:spPr>
      </p:sp>
      <p:sp>
        <p:nvSpPr>
          <p:cNvPr id="141" name="Shape 139"/>
          <p:cNvSpPr/>
          <p:nvPr/>
        </p:nvSpPr>
        <p:spPr>
          <a:xfrm>
            <a:off x="5932441" y="2213125"/>
            <a:ext cx="60279" cy="60279"/>
          </a:xfrm>
          <a:prstGeom prst="rect">
            <a:avLst/>
          </a:prstGeom>
          <a:solidFill>
            <a:srgbClr val="43A3A3"/>
          </a:solidFill>
          <a:ln w="12700">
            <a:solidFill>
              <a:srgbClr val="43A3A3"/>
            </a:solidFill>
            <a:prstDash val="solid"/>
          </a:ln>
        </p:spPr>
      </p:sp>
      <p:sp>
        <p:nvSpPr>
          <p:cNvPr id="142" name="Shape 140"/>
          <p:cNvSpPr/>
          <p:nvPr/>
        </p:nvSpPr>
        <p:spPr>
          <a:xfrm>
            <a:off x="6001160" y="2213125"/>
            <a:ext cx="60279" cy="60279"/>
          </a:xfrm>
          <a:prstGeom prst="rect">
            <a:avLst/>
          </a:prstGeom>
          <a:solidFill>
            <a:srgbClr val="43A3A3"/>
          </a:solidFill>
          <a:ln w="12700">
            <a:solidFill>
              <a:srgbClr val="43A3A3"/>
            </a:solidFill>
            <a:prstDash val="solid"/>
          </a:ln>
        </p:spPr>
      </p:sp>
      <p:sp>
        <p:nvSpPr>
          <p:cNvPr id="143" name="Shape 141"/>
          <p:cNvSpPr/>
          <p:nvPr/>
        </p:nvSpPr>
        <p:spPr>
          <a:xfrm>
            <a:off x="6069878" y="2213125"/>
            <a:ext cx="60279" cy="60279"/>
          </a:xfrm>
          <a:prstGeom prst="rect">
            <a:avLst/>
          </a:prstGeom>
          <a:solidFill>
            <a:srgbClr val="43A3A3"/>
          </a:solidFill>
          <a:ln w="12700">
            <a:solidFill>
              <a:srgbClr val="43A3A3"/>
            </a:solidFill>
            <a:prstDash val="solid"/>
          </a:ln>
        </p:spPr>
      </p:sp>
      <p:sp>
        <p:nvSpPr>
          <p:cNvPr id="144" name="Shape 142"/>
          <p:cNvSpPr/>
          <p:nvPr/>
        </p:nvSpPr>
        <p:spPr>
          <a:xfrm>
            <a:off x="6138597" y="2213125"/>
            <a:ext cx="60279" cy="60279"/>
          </a:xfrm>
          <a:prstGeom prst="rect">
            <a:avLst/>
          </a:prstGeom>
          <a:solidFill>
            <a:srgbClr val="43A3A3"/>
          </a:solidFill>
          <a:ln w="12700">
            <a:solidFill>
              <a:srgbClr val="43A3A3"/>
            </a:solidFill>
            <a:prstDash val="solid"/>
          </a:ln>
        </p:spPr>
      </p:sp>
      <p:sp>
        <p:nvSpPr>
          <p:cNvPr id="145" name="Shape 143"/>
          <p:cNvSpPr/>
          <p:nvPr/>
        </p:nvSpPr>
        <p:spPr>
          <a:xfrm>
            <a:off x="5520131" y="2281843"/>
            <a:ext cx="60279" cy="60279"/>
          </a:xfrm>
          <a:prstGeom prst="rect">
            <a:avLst/>
          </a:prstGeom>
          <a:solidFill>
            <a:srgbClr val="43A3A3"/>
          </a:solidFill>
          <a:ln w="12700">
            <a:solidFill>
              <a:srgbClr val="43A3A3"/>
            </a:solidFill>
            <a:prstDash val="solid"/>
          </a:ln>
        </p:spPr>
      </p:sp>
      <p:sp>
        <p:nvSpPr>
          <p:cNvPr id="146" name="Shape 144"/>
          <p:cNvSpPr/>
          <p:nvPr/>
        </p:nvSpPr>
        <p:spPr>
          <a:xfrm>
            <a:off x="5588850" y="2281843"/>
            <a:ext cx="60279" cy="60279"/>
          </a:xfrm>
          <a:prstGeom prst="rect">
            <a:avLst/>
          </a:prstGeom>
          <a:solidFill>
            <a:srgbClr val="43A3A3"/>
          </a:solidFill>
          <a:ln w="12700">
            <a:solidFill>
              <a:srgbClr val="43A3A3"/>
            </a:solidFill>
            <a:prstDash val="solid"/>
          </a:ln>
        </p:spPr>
      </p:sp>
      <p:sp>
        <p:nvSpPr>
          <p:cNvPr id="147" name="Shape 145"/>
          <p:cNvSpPr/>
          <p:nvPr/>
        </p:nvSpPr>
        <p:spPr>
          <a:xfrm>
            <a:off x="5657568" y="2281843"/>
            <a:ext cx="60279" cy="60279"/>
          </a:xfrm>
          <a:prstGeom prst="rect">
            <a:avLst/>
          </a:prstGeom>
          <a:solidFill>
            <a:srgbClr val="43A3A3"/>
          </a:solidFill>
          <a:ln w="12700">
            <a:solidFill>
              <a:srgbClr val="43A3A3"/>
            </a:solidFill>
            <a:prstDash val="solid"/>
          </a:ln>
        </p:spPr>
      </p:sp>
      <p:sp>
        <p:nvSpPr>
          <p:cNvPr id="148" name="Shape 146"/>
          <p:cNvSpPr/>
          <p:nvPr/>
        </p:nvSpPr>
        <p:spPr>
          <a:xfrm>
            <a:off x="5726286" y="2281843"/>
            <a:ext cx="60279" cy="60279"/>
          </a:xfrm>
          <a:prstGeom prst="rect">
            <a:avLst/>
          </a:prstGeom>
          <a:solidFill>
            <a:srgbClr val="43A3A3"/>
          </a:solidFill>
          <a:ln w="12700">
            <a:solidFill>
              <a:srgbClr val="43A3A3"/>
            </a:solidFill>
            <a:prstDash val="solid"/>
          </a:ln>
        </p:spPr>
      </p:sp>
      <p:sp>
        <p:nvSpPr>
          <p:cNvPr id="149" name="Shape 147"/>
          <p:cNvSpPr/>
          <p:nvPr/>
        </p:nvSpPr>
        <p:spPr>
          <a:xfrm>
            <a:off x="5795005" y="2281843"/>
            <a:ext cx="60279" cy="60279"/>
          </a:xfrm>
          <a:prstGeom prst="rect">
            <a:avLst/>
          </a:prstGeom>
          <a:solidFill>
            <a:srgbClr val="43A3A3"/>
          </a:solidFill>
          <a:ln w="12700">
            <a:solidFill>
              <a:srgbClr val="43A3A3"/>
            </a:solidFill>
            <a:prstDash val="solid"/>
          </a:ln>
        </p:spPr>
      </p:sp>
      <p:sp>
        <p:nvSpPr>
          <p:cNvPr id="150" name="Shape 148"/>
          <p:cNvSpPr/>
          <p:nvPr/>
        </p:nvSpPr>
        <p:spPr>
          <a:xfrm>
            <a:off x="5863723" y="2281843"/>
            <a:ext cx="60279" cy="60279"/>
          </a:xfrm>
          <a:prstGeom prst="rect">
            <a:avLst/>
          </a:prstGeom>
          <a:solidFill>
            <a:srgbClr val="43A3A3"/>
          </a:solidFill>
          <a:ln w="12700">
            <a:solidFill>
              <a:srgbClr val="43A3A3"/>
            </a:solidFill>
            <a:prstDash val="solid"/>
          </a:ln>
        </p:spPr>
      </p:sp>
      <p:sp>
        <p:nvSpPr>
          <p:cNvPr id="151" name="Shape 149"/>
          <p:cNvSpPr/>
          <p:nvPr/>
        </p:nvSpPr>
        <p:spPr>
          <a:xfrm>
            <a:off x="5932441" y="2281843"/>
            <a:ext cx="60279" cy="60279"/>
          </a:xfrm>
          <a:prstGeom prst="rect">
            <a:avLst/>
          </a:prstGeom>
          <a:solidFill>
            <a:srgbClr val="43A3A3"/>
          </a:solidFill>
          <a:ln w="12700">
            <a:solidFill>
              <a:srgbClr val="43A3A3"/>
            </a:solidFill>
            <a:prstDash val="solid"/>
          </a:ln>
        </p:spPr>
      </p:sp>
      <p:sp>
        <p:nvSpPr>
          <p:cNvPr id="152" name="Shape 150"/>
          <p:cNvSpPr/>
          <p:nvPr/>
        </p:nvSpPr>
        <p:spPr>
          <a:xfrm>
            <a:off x="6001160" y="2281843"/>
            <a:ext cx="60279" cy="60279"/>
          </a:xfrm>
          <a:prstGeom prst="rect">
            <a:avLst/>
          </a:prstGeom>
          <a:solidFill>
            <a:srgbClr val="43A3A3"/>
          </a:solidFill>
          <a:ln w="12700">
            <a:solidFill>
              <a:srgbClr val="43A3A3"/>
            </a:solidFill>
            <a:prstDash val="solid"/>
          </a:ln>
        </p:spPr>
      </p:sp>
      <p:sp>
        <p:nvSpPr>
          <p:cNvPr id="153" name="Shape 151"/>
          <p:cNvSpPr/>
          <p:nvPr/>
        </p:nvSpPr>
        <p:spPr>
          <a:xfrm>
            <a:off x="6069878" y="2281843"/>
            <a:ext cx="60279" cy="60279"/>
          </a:xfrm>
          <a:prstGeom prst="rect">
            <a:avLst/>
          </a:prstGeom>
          <a:solidFill>
            <a:srgbClr val="43A3A3"/>
          </a:solidFill>
          <a:ln w="12700">
            <a:solidFill>
              <a:srgbClr val="43A3A3"/>
            </a:solidFill>
            <a:prstDash val="solid"/>
          </a:ln>
        </p:spPr>
      </p:sp>
      <p:sp>
        <p:nvSpPr>
          <p:cNvPr id="154" name="Shape 152"/>
          <p:cNvSpPr/>
          <p:nvPr/>
        </p:nvSpPr>
        <p:spPr>
          <a:xfrm>
            <a:off x="6138597" y="2281843"/>
            <a:ext cx="60279" cy="60279"/>
          </a:xfrm>
          <a:prstGeom prst="rect">
            <a:avLst/>
          </a:prstGeom>
          <a:solidFill>
            <a:srgbClr val="43A3A3"/>
          </a:solidFill>
          <a:ln w="12700">
            <a:solidFill>
              <a:srgbClr val="43A3A3"/>
            </a:solidFill>
            <a:prstDash val="solid"/>
          </a:ln>
        </p:spPr>
      </p:sp>
      <p:sp>
        <p:nvSpPr>
          <p:cNvPr id="155" name="Shape 153"/>
          <p:cNvSpPr/>
          <p:nvPr/>
        </p:nvSpPr>
        <p:spPr>
          <a:xfrm>
            <a:off x="5520131" y="2350562"/>
            <a:ext cx="60279" cy="60279"/>
          </a:xfrm>
          <a:prstGeom prst="rect">
            <a:avLst/>
          </a:prstGeom>
          <a:solidFill>
            <a:srgbClr val="43A3A3"/>
          </a:solidFill>
          <a:ln w="12700">
            <a:solidFill>
              <a:srgbClr val="43A3A3"/>
            </a:solidFill>
            <a:prstDash val="solid"/>
          </a:ln>
        </p:spPr>
      </p:sp>
      <p:sp>
        <p:nvSpPr>
          <p:cNvPr id="156" name="Shape 154"/>
          <p:cNvSpPr/>
          <p:nvPr/>
        </p:nvSpPr>
        <p:spPr>
          <a:xfrm>
            <a:off x="5588850" y="2350562"/>
            <a:ext cx="60279" cy="60279"/>
          </a:xfrm>
          <a:prstGeom prst="rect">
            <a:avLst/>
          </a:prstGeom>
          <a:solidFill>
            <a:srgbClr val="43A3A3"/>
          </a:solidFill>
          <a:ln w="12700">
            <a:solidFill>
              <a:srgbClr val="43A3A3"/>
            </a:solidFill>
            <a:prstDash val="solid"/>
          </a:ln>
        </p:spPr>
      </p:sp>
      <p:sp>
        <p:nvSpPr>
          <p:cNvPr id="157" name="Shape 155"/>
          <p:cNvSpPr/>
          <p:nvPr/>
        </p:nvSpPr>
        <p:spPr>
          <a:xfrm>
            <a:off x="5657568" y="2350562"/>
            <a:ext cx="60279" cy="60279"/>
          </a:xfrm>
          <a:prstGeom prst="rect">
            <a:avLst/>
          </a:prstGeom>
          <a:solidFill>
            <a:srgbClr val="43A3A3"/>
          </a:solidFill>
          <a:ln w="12700">
            <a:solidFill>
              <a:srgbClr val="43A3A3"/>
            </a:solidFill>
            <a:prstDash val="solid"/>
          </a:ln>
        </p:spPr>
      </p:sp>
      <p:sp>
        <p:nvSpPr>
          <p:cNvPr id="158" name="Shape 156"/>
          <p:cNvSpPr/>
          <p:nvPr/>
        </p:nvSpPr>
        <p:spPr>
          <a:xfrm>
            <a:off x="5726286" y="2350562"/>
            <a:ext cx="60279" cy="60279"/>
          </a:xfrm>
          <a:prstGeom prst="rect">
            <a:avLst/>
          </a:prstGeom>
          <a:solidFill>
            <a:srgbClr val="43A3A3"/>
          </a:solidFill>
          <a:ln w="12700">
            <a:solidFill>
              <a:srgbClr val="43A3A3"/>
            </a:solidFill>
            <a:prstDash val="solid"/>
          </a:ln>
        </p:spPr>
      </p:sp>
      <p:sp>
        <p:nvSpPr>
          <p:cNvPr id="159" name="Shape 157"/>
          <p:cNvSpPr/>
          <p:nvPr/>
        </p:nvSpPr>
        <p:spPr>
          <a:xfrm>
            <a:off x="5795005" y="2350562"/>
            <a:ext cx="60279" cy="60279"/>
          </a:xfrm>
          <a:prstGeom prst="rect">
            <a:avLst/>
          </a:prstGeom>
          <a:solidFill>
            <a:srgbClr val="43A3A3"/>
          </a:solidFill>
          <a:ln w="12700">
            <a:solidFill>
              <a:srgbClr val="43A3A3"/>
            </a:solidFill>
            <a:prstDash val="solid"/>
          </a:ln>
        </p:spPr>
      </p:sp>
      <p:sp>
        <p:nvSpPr>
          <p:cNvPr id="160" name="Shape 158"/>
          <p:cNvSpPr/>
          <p:nvPr/>
        </p:nvSpPr>
        <p:spPr>
          <a:xfrm>
            <a:off x="5863723" y="2350562"/>
            <a:ext cx="60279" cy="60279"/>
          </a:xfrm>
          <a:prstGeom prst="rect">
            <a:avLst/>
          </a:prstGeom>
          <a:solidFill>
            <a:srgbClr val="43A3A3"/>
          </a:solidFill>
          <a:ln w="12700">
            <a:solidFill>
              <a:srgbClr val="43A3A3"/>
            </a:solidFill>
            <a:prstDash val="solid"/>
          </a:ln>
        </p:spPr>
      </p:sp>
      <p:sp>
        <p:nvSpPr>
          <p:cNvPr id="161" name="Shape 159"/>
          <p:cNvSpPr/>
          <p:nvPr/>
        </p:nvSpPr>
        <p:spPr>
          <a:xfrm>
            <a:off x="5932441" y="2350562"/>
            <a:ext cx="60279" cy="60279"/>
          </a:xfrm>
          <a:prstGeom prst="rect">
            <a:avLst/>
          </a:prstGeom>
          <a:solidFill>
            <a:srgbClr val="43A3A3"/>
          </a:solidFill>
          <a:ln w="12700">
            <a:solidFill>
              <a:srgbClr val="43A3A3"/>
            </a:solidFill>
            <a:prstDash val="solid"/>
          </a:ln>
        </p:spPr>
      </p:sp>
      <p:sp>
        <p:nvSpPr>
          <p:cNvPr id="162" name="Shape 160"/>
          <p:cNvSpPr/>
          <p:nvPr/>
        </p:nvSpPr>
        <p:spPr>
          <a:xfrm>
            <a:off x="6001160" y="2350562"/>
            <a:ext cx="60279" cy="60279"/>
          </a:xfrm>
          <a:prstGeom prst="rect">
            <a:avLst/>
          </a:prstGeom>
          <a:solidFill>
            <a:srgbClr val="43A3A3"/>
          </a:solidFill>
          <a:ln w="12700">
            <a:solidFill>
              <a:srgbClr val="43A3A3"/>
            </a:solidFill>
            <a:prstDash val="solid"/>
          </a:ln>
        </p:spPr>
      </p:sp>
      <p:sp>
        <p:nvSpPr>
          <p:cNvPr id="163" name="Shape 161"/>
          <p:cNvSpPr/>
          <p:nvPr/>
        </p:nvSpPr>
        <p:spPr>
          <a:xfrm>
            <a:off x="6069878" y="2350562"/>
            <a:ext cx="60279" cy="60279"/>
          </a:xfrm>
          <a:prstGeom prst="rect">
            <a:avLst/>
          </a:prstGeom>
          <a:solidFill>
            <a:srgbClr val="43A3A3"/>
          </a:solidFill>
          <a:ln w="12700">
            <a:solidFill>
              <a:srgbClr val="43A3A3"/>
            </a:solidFill>
            <a:prstDash val="solid"/>
          </a:ln>
        </p:spPr>
      </p:sp>
      <p:sp>
        <p:nvSpPr>
          <p:cNvPr id="164" name="Shape 162"/>
          <p:cNvSpPr/>
          <p:nvPr/>
        </p:nvSpPr>
        <p:spPr>
          <a:xfrm>
            <a:off x="6138597" y="2350562"/>
            <a:ext cx="60279" cy="60279"/>
          </a:xfrm>
          <a:prstGeom prst="rect">
            <a:avLst/>
          </a:prstGeom>
          <a:solidFill>
            <a:srgbClr val="43A3A3"/>
          </a:solidFill>
          <a:ln w="12700">
            <a:solidFill>
              <a:srgbClr val="43A3A3"/>
            </a:solidFill>
            <a:prstDash val="solid"/>
          </a:ln>
        </p:spPr>
      </p:sp>
      <p:sp>
        <p:nvSpPr>
          <p:cNvPr id="165" name="Shape 163"/>
          <p:cNvSpPr/>
          <p:nvPr/>
        </p:nvSpPr>
        <p:spPr>
          <a:xfrm>
            <a:off x="5520131" y="2419280"/>
            <a:ext cx="60279" cy="60279"/>
          </a:xfrm>
          <a:prstGeom prst="rect">
            <a:avLst/>
          </a:prstGeom>
          <a:solidFill>
            <a:srgbClr val="43A3A3"/>
          </a:solidFill>
          <a:ln w="12700">
            <a:solidFill>
              <a:srgbClr val="43A3A3"/>
            </a:solidFill>
            <a:prstDash val="solid"/>
          </a:ln>
        </p:spPr>
      </p:sp>
      <p:sp>
        <p:nvSpPr>
          <p:cNvPr id="166" name="Shape 164"/>
          <p:cNvSpPr/>
          <p:nvPr/>
        </p:nvSpPr>
        <p:spPr>
          <a:xfrm>
            <a:off x="5588850" y="2419280"/>
            <a:ext cx="60279" cy="60279"/>
          </a:xfrm>
          <a:prstGeom prst="rect">
            <a:avLst/>
          </a:prstGeom>
          <a:solidFill>
            <a:srgbClr val="43A3A3"/>
          </a:solidFill>
          <a:ln w="12700">
            <a:solidFill>
              <a:srgbClr val="43A3A3"/>
            </a:solidFill>
            <a:prstDash val="solid"/>
          </a:ln>
        </p:spPr>
      </p:sp>
      <p:sp>
        <p:nvSpPr>
          <p:cNvPr id="167" name="Shape 165"/>
          <p:cNvSpPr/>
          <p:nvPr/>
        </p:nvSpPr>
        <p:spPr>
          <a:xfrm>
            <a:off x="5657568" y="2419280"/>
            <a:ext cx="60279" cy="60279"/>
          </a:xfrm>
          <a:prstGeom prst="rect">
            <a:avLst/>
          </a:prstGeom>
          <a:solidFill>
            <a:srgbClr val="43A3A3"/>
          </a:solidFill>
          <a:ln w="12700">
            <a:solidFill>
              <a:srgbClr val="43A3A3"/>
            </a:solidFill>
            <a:prstDash val="solid"/>
          </a:ln>
        </p:spPr>
      </p:sp>
      <p:sp>
        <p:nvSpPr>
          <p:cNvPr id="168" name="Shape 166"/>
          <p:cNvSpPr/>
          <p:nvPr/>
        </p:nvSpPr>
        <p:spPr>
          <a:xfrm>
            <a:off x="5726286" y="2419280"/>
            <a:ext cx="60279" cy="60279"/>
          </a:xfrm>
          <a:prstGeom prst="rect">
            <a:avLst/>
          </a:prstGeom>
          <a:solidFill>
            <a:srgbClr val="43A3A3"/>
          </a:solidFill>
          <a:ln w="12700">
            <a:solidFill>
              <a:srgbClr val="43A3A3"/>
            </a:solidFill>
            <a:prstDash val="solid"/>
          </a:ln>
        </p:spPr>
      </p:sp>
      <p:sp>
        <p:nvSpPr>
          <p:cNvPr id="169" name="Shape 167"/>
          <p:cNvSpPr/>
          <p:nvPr/>
        </p:nvSpPr>
        <p:spPr>
          <a:xfrm>
            <a:off x="5795005" y="2419280"/>
            <a:ext cx="60279" cy="60279"/>
          </a:xfrm>
          <a:prstGeom prst="rect">
            <a:avLst/>
          </a:prstGeom>
          <a:solidFill>
            <a:srgbClr val="43A3A3"/>
          </a:solidFill>
          <a:ln w="12700">
            <a:solidFill>
              <a:srgbClr val="43A3A3"/>
            </a:solidFill>
            <a:prstDash val="solid"/>
          </a:ln>
        </p:spPr>
      </p:sp>
      <p:sp>
        <p:nvSpPr>
          <p:cNvPr id="170" name="Shape 168"/>
          <p:cNvSpPr/>
          <p:nvPr/>
        </p:nvSpPr>
        <p:spPr>
          <a:xfrm>
            <a:off x="5863723" y="2419280"/>
            <a:ext cx="60279" cy="60279"/>
          </a:xfrm>
          <a:prstGeom prst="rect">
            <a:avLst/>
          </a:prstGeom>
          <a:solidFill>
            <a:srgbClr val="E3E2DA"/>
          </a:solidFill>
          <a:ln w="12700">
            <a:solidFill>
              <a:srgbClr val="E3E2DA"/>
            </a:solidFill>
            <a:prstDash val="solid"/>
          </a:ln>
        </p:spPr>
      </p:sp>
      <p:sp>
        <p:nvSpPr>
          <p:cNvPr id="171" name="Shape 169"/>
          <p:cNvSpPr/>
          <p:nvPr/>
        </p:nvSpPr>
        <p:spPr>
          <a:xfrm>
            <a:off x="5932441" y="2419280"/>
            <a:ext cx="60279" cy="60279"/>
          </a:xfrm>
          <a:prstGeom prst="rect">
            <a:avLst/>
          </a:prstGeom>
          <a:solidFill>
            <a:srgbClr val="E3E2DA"/>
          </a:solidFill>
          <a:ln w="12700">
            <a:solidFill>
              <a:srgbClr val="E3E2DA"/>
            </a:solidFill>
            <a:prstDash val="solid"/>
          </a:ln>
        </p:spPr>
      </p:sp>
      <p:sp>
        <p:nvSpPr>
          <p:cNvPr id="172" name="Shape 170"/>
          <p:cNvSpPr/>
          <p:nvPr/>
        </p:nvSpPr>
        <p:spPr>
          <a:xfrm>
            <a:off x="6001160" y="2419280"/>
            <a:ext cx="60279" cy="60279"/>
          </a:xfrm>
          <a:prstGeom prst="rect">
            <a:avLst/>
          </a:prstGeom>
          <a:solidFill>
            <a:srgbClr val="E3E2DA"/>
          </a:solidFill>
          <a:ln w="12700">
            <a:solidFill>
              <a:srgbClr val="E3E2DA"/>
            </a:solidFill>
            <a:prstDash val="solid"/>
          </a:ln>
        </p:spPr>
      </p:sp>
      <p:sp>
        <p:nvSpPr>
          <p:cNvPr id="173" name="Shape 171"/>
          <p:cNvSpPr/>
          <p:nvPr/>
        </p:nvSpPr>
        <p:spPr>
          <a:xfrm>
            <a:off x="6069878" y="2419280"/>
            <a:ext cx="60279" cy="60279"/>
          </a:xfrm>
          <a:prstGeom prst="rect">
            <a:avLst/>
          </a:prstGeom>
          <a:solidFill>
            <a:srgbClr val="E3E2DA"/>
          </a:solidFill>
          <a:ln w="12700">
            <a:solidFill>
              <a:srgbClr val="E3E2DA"/>
            </a:solidFill>
            <a:prstDash val="solid"/>
          </a:ln>
        </p:spPr>
      </p:sp>
      <p:sp>
        <p:nvSpPr>
          <p:cNvPr id="174" name="Shape 172"/>
          <p:cNvSpPr/>
          <p:nvPr/>
        </p:nvSpPr>
        <p:spPr>
          <a:xfrm>
            <a:off x="6138597" y="2419280"/>
            <a:ext cx="60279" cy="60279"/>
          </a:xfrm>
          <a:prstGeom prst="rect">
            <a:avLst/>
          </a:prstGeom>
          <a:solidFill>
            <a:srgbClr val="E3E2DA"/>
          </a:solidFill>
          <a:ln w="12700">
            <a:solidFill>
              <a:srgbClr val="E3E2DA"/>
            </a:solidFill>
            <a:prstDash val="solid"/>
          </a:ln>
        </p:spPr>
      </p:sp>
      <p:sp>
        <p:nvSpPr>
          <p:cNvPr id="175" name="Shape 173"/>
          <p:cNvSpPr/>
          <p:nvPr/>
        </p:nvSpPr>
        <p:spPr>
          <a:xfrm>
            <a:off x="5520131" y="2487998"/>
            <a:ext cx="60279" cy="60279"/>
          </a:xfrm>
          <a:prstGeom prst="rect">
            <a:avLst/>
          </a:prstGeom>
          <a:solidFill>
            <a:srgbClr val="E3E2DA"/>
          </a:solidFill>
          <a:ln w="12700">
            <a:solidFill>
              <a:srgbClr val="E3E2DA"/>
            </a:solidFill>
            <a:prstDash val="solid"/>
          </a:ln>
        </p:spPr>
      </p:sp>
      <p:sp>
        <p:nvSpPr>
          <p:cNvPr id="176" name="Shape 174"/>
          <p:cNvSpPr/>
          <p:nvPr/>
        </p:nvSpPr>
        <p:spPr>
          <a:xfrm>
            <a:off x="5588850" y="2487998"/>
            <a:ext cx="60279" cy="60279"/>
          </a:xfrm>
          <a:prstGeom prst="rect">
            <a:avLst/>
          </a:prstGeom>
          <a:solidFill>
            <a:srgbClr val="E3E2DA"/>
          </a:solidFill>
          <a:ln w="12700">
            <a:solidFill>
              <a:srgbClr val="E3E2DA"/>
            </a:solidFill>
            <a:prstDash val="solid"/>
          </a:ln>
        </p:spPr>
      </p:sp>
      <p:sp>
        <p:nvSpPr>
          <p:cNvPr id="177" name="Shape 175"/>
          <p:cNvSpPr/>
          <p:nvPr/>
        </p:nvSpPr>
        <p:spPr>
          <a:xfrm>
            <a:off x="5657568" y="2487998"/>
            <a:ext cx="60279" cy="60279"/>
          </a:xfrm>
          <a:prstGeom prst="rect">
            <a:avLst/>
          </a:prstGeom>
          <a:solidFill>
            <a:srgbClr val="E3E2DA"/>
          </a:solidFill>
          <a:ln w="12700">
            <a:solidFill>
              <a:srgbClr val="E3E2DA"/>
            </a:solidFill>
            <a:prstDash val="solid"/>
          </a:ln>
        </p:spPr>
      </p:sp>
      <p:sp>
        <p:nvSpPr>
          <p:cNvPr id="178" name="Shape 176"/>
          <p:cNvSpPr/>
          <p:nvPr/>
        </p:nvSpPr>
        <p:spPr>
          <a:xfrm>
            <a:off x="5726286" y="2487998"/>
            <a:ext cx="60279" cy="60279"/>
          </a:xfrm>
          <a:prstGeom prst="rect">
            <a:avLst/>
          </a:prstGeom>
          <a:solidFill>
            <a:srgbClr val="E3E2DA"/>
          </a:solidFill>
          <a:ln w="12700">
            <a:solidFill>
              <a:srgbClr val="E3E2DA"/>
            </a:solidFill>
            <a:prstDash val="solid"/>
          </a:ln>
        </p:spPr>
      </p:sp>
      <p:sp>
        <p:nvSpPr>
          <p:cNvPr id="179" name="Shape 177"/>
          <p:cNvSpPr/>
          <p:nvPr/>
        </p:nvSpPr>
        <p:spPr>
          <a:xfrm>
            <a:off x="5795005" y="2487998"/>
            <a:ext cx="60279" cy="60279"/>
          </a:xfrm>
          <a:prstGeom prst="rect">
            <a:avLst/>
          </a:prstGeom>
          <a:solidFill>
            <a:srgbClr val="E3E2DA"/>
          </a:solidFill>
          <a:ln w="12700">
            <a:solidFill>
              <a:srgbClr val="E3E2DA"/>
            </a:solidFill>
            <a:prstDash val="solid"/>
          </a:ln>
        </p:spPr>
      </p:sp>
      <p:sp>
        <p:nvSpPr>
          <p:cNvPr id="180" name="Shape 178"/>
          <p:cNvSpPr/>
          <p:nvPr/>
        </p:nvSpPr>
        <p:spPr>
          <a:xfrm>
            <a:off x="5863723" y="2487998"/>
            <a:ext cx="60279" cy="60279"/>
          </a:xfrm>
          <a:prstGeom prst="rect">
            <a:avLst/>
          </a:prstGeom>
          <a:solidFill>
            <a:srgbClr val="E3E2DA"/>
          </a:solidFill>
          <a:ln w="12700">
            <a:solidFill>
              <a:srgbClr val="E3E2DA"/>
            </a:solidFill>
            <a:prstDash val="solid"/>
          </a:ln>
        </p:spPr>
      </p:sp>
      <p:sp>
        <p:nvSpPr>
          <p:cNvPr id="181" name="Shape 179"/>
          <p:cNvSpPr/>
          <p:nvPr/>
        </p:nvSpPr>
        <p:spPr>
          <a:xfrm>
            <a:off x="5932441" y="2487998"/>
            <a:ext cx="60279" cy="60279"/>
          </a:xfrm>
          <a:prstGeom prst="rect">
            <a:avLst/>
          </a:prstGeom>
          <a:solidFill>
            <a:srgbClr val="E3E2DA"/>
          </a:solidFill>
          <a:ln w="12700">
            <a:solidFill>
              <a:srgbClr val="E3E2DA"/>
            </a:solidFill>
            <a:prstDash val="solid"/>
          </a:ln>
        </p:spPr>
      </p:sp>
      <p:sp>
        <p:nvSpPr>
          <p:cNvPr id="182" name="Shape 180"/>
          <p:cNvSpPr/>
          <p:nvPr/>
        </p:nvSpPr>
        <p:spPr>
          <a:xfrm>
            <a:off x="6001160" y="2487998"/>
            <a:ext cx="60279" cy="60279"/>
          </a:xfrm>
          <a:prstGeom prst="rect">
            <a:avLst/>
          </a:prstGeom>
          <a:solidFill>
            <a:srgbClr val="E3E2DA"/>
          </a:solidFill>
          <a:ln w="12700">
            <a:solidFill>
              <a:srgbClr val="E3E2DA"/>
            </a:solidFill>
            <a:prstDash val="solid"/>
          </a:ln>
        </p:spPr>
      </p:sp>
      <p:sp>
        <p:nvSpPr>
          <p:cNvPr id="183" name="Shape 181"/>
          <p:cNvSpPr/>
          <p:nvPr/>
        </p:nvSpPr>
        <p:spPr>
          <a:xfrm>
            <a:off x="6069878" y="2487998"/>
            <a:ext cx="60279" cy="60279"/>
          </a:xfrm>
          <a:prstGeom prst="rect">
            <a:avLst/>
          </a:prstGeom>
          <a:solidFill>
            <a:srgbClr val="E3E2DA"/>
          </a:solidFill>
          <a:ln w="12700">
            <a:solidFill>
              <a:srgbClr val="E3E2DA"/>
            </a:solidFill>
            <a:prstDash val="solid"/>
          </a:ln>
        </p:spPr>
      </p:sp>
      <p:sp>
        <p:nvSpPr>
          <p:cNvPr id="184" name="Shape 182"/>
          <p:cNvSpPr/>
          <p:nvPr/>
        </p:nvSpPr>
        <p:spPr>
          <a:xfrm>
            <a:off x="6138597" y="2487998"/>
            <a:ext cx="60279" cy="60279"/>
          </a:xfrm>
          <a:prstGeom prst="rect">
            <a:avLst/>
          </a:prstGeom>
          <a:solidFill>
            <a:srgbClr val="E3E2DA"/>
          </a:solidFill>
          <a:ln w="12700">
            <a:solidFill>
              <a:srgbClr val="E3E2DA"/>
            </a:solidFill>
            <a:prstDash val="solid"/>
          </a:ln>
        </p:spPr>
      </p:sp>
      <p:sp>
        <p:nvSpPr>
          <p:cNvPr id="185" name="Shape 183"/>
          <p:cNvSpPr/>
          <p:nvPr/>
        </p:nvSpPr>
        <p:spPr>
          <a:xfrm>
            <a:off x="5520131" y="2556717"/>
            <a:ext cx="60279" cy="60279"/>
          </a:xfrm>
          <a:prstGeom prst="rect">
            <a:avLst/>
          </a:prstGeom>
          <a:solidFill>
            <a:srgbClr val="E3E2DA"/>
          </a:solidFill>
          <a:ln w="12700">
            <a:solidFill>
              <a:srgbClr val="E3E2DA"/>
            </a:solidFill>
            <a:prstDash val="solid"/>
          </a:ln>
        </p:spPr>
      </p:sp>
      <p:sp>
        <p:nvSpPr>
          <p:cNvPr id="186" name="Shape 184"/>
          <p:cNvSpPr/>
          <p:nvPr/>
        </p:nvSpPr>
        <p:spPr>
          <a:xfrm>
            <a:off x="5588850" y="2556717"/>
            <a:ext cx="60279" cy="60279"/>
          </a:xfrm>
          <a:prstGeom prst="rect">
            <a:avLst/>
          </a:prstGeom>
          <a:solidFill>
            <a:srgbClr val="E3E2DA"/>
          </a:solidFill>
          <a:ln w="12700">
            <a:solidFill>
              <a:srgbClr val="E3E2DA"/>
            </a:solidFill>
            <a:prstDash val="solid"/>
          </a:ln>
        </p:spPr>
      </p:sp>
      <p:sp>
        <p:nvSpPr>
          <p:cNvPr id="187" name="Shape 185"/>
          <p:cNvSpPr/>
          <p:nvPr/>
        </p:nvSpPr>
        <p:spPr>
          <a:xfrm>
            <a:off x="5657568" y="2556717"/>
            <a:ext cx="60279" cy="60279"/>
          </a:xfrm>
          <a:prstGeom prst="rect">
            <a:avLst/>
          </a:prstGeom>
          <a:solidFill>
            <a:srgbClr val="E3E2DA"/>
          </a:solidFill>
          <a:ln w="12700">
            <a:solidFill>
              <a:srgbClr val="E3E2DA"/>
            </a:solidFill>
            <a:prstDash val="solid"/>
          </a:ln>
        </p:spPr>
      </p:sp>
      <p:sp>
        <p:nvSpPr>
          <p:cNvPr id="188" name="Shape 186"/>
          <p:cNvSpPr/>
          <p:nvPr/>
        </p:nvSpPr>
        <p:spPr>
          <a:xfrm>
            <a:off x="5726286" y="2556717"/>
            <a:ext cx="60279" cy="60279"/>
          </a:xfrm>
          <a:prstGeom prst="rect">
            <a:avLst/>
          </a:prstGeom>
          <a:solidFill>
            <a:srgbClr val="E3E2DA"/>
          </a:solidFill>
          <a:ln w="12700">
            <a:solidFill>
              <a:srgbClr val="E3E2DA"/>
            </a:solidFill>
            <a:prstDash val="solid"/>
          </a:ln>
        </p:spPr>
      </p:sp>
      <p:sp>
        <p:nvSpPr>
          <p:cNvPr id="189" name="Shape 187"/>
          <p:cNvSpPr/>
          <p:nvPr/>
        </p:nvSpPr>
        <p:spPr>
          <a:xfrm>
            <a:off x="5795005" y="2556717"/>
            <a:ext cx="60279" cy="60279"/>
          </a:xfrm>
          <a:prstGeom prst="rect">
            <a:avLst/>
          </a:prstGeom>
          <a:solidFill>
            <a:srgbClr val="E3E2DA"/>
          </a:solidFill>
          <a:ln w="12700">
            <a:solidFill>
              <a:srgbClr val="E3E2DA"/>
            </a:solidFill>
            <a:prstDash val="solid"/>
          </a:ln>
        </p:spPr>
      </p:sp>
      <p:sp>
        <p:nvSpPr>
          <p:cNvPr id="190" name="Shape 188"/>
          <p:cNvSpPr/>
          <p:nvPr/>
        </p:nvSpPr>
        <p:spPr>
          <a:xfrm>
            <a:off x="5863723" y="2556717"/>
            <a:ext cx="60279" cy="60279"/>
          </a:xfrm>
          <a:prstGeom prst="rect">
            <a:avLst/>
          </a:prstGeom>
          <a:solidFill>
            <a:srgbClr val="E3E2DA"/>
          </a:solidFill>
          <a:ln w="12700">
            <a:solidFill>
              <a:srgbClr val="E3E2DA"/>
            </a:solidFill>
            <a:prstDash val="solid"/>
          </a:ln>
        </p:spPr>
      </p:sp>
      <p:sp>
        <p:nvSpPr>
          <p:cNvPr id="191" name="Shape 189"/>
          <p:cNvSpPr/>
          <p:nvPr/>
        </p:nvSpPr>
        <p:spPr>
          <a:xfrm>
            <a:off x="5932441" y="2556717"/>
            <a:ext cx="60279" cy="60279"/>
          </a:xfrm>
          <a:prstGeom prst="rect">
            <a:avLst/>
          </a:prstGeom>
          <a:solidFill>
            <a:srgbClr val="E3E2DA"/>
          </a:solidFill>
          <a:ln w="12700">
            <a:solidFill>
              <a:srgbClr val="E3E2DA"/>
            </a:solidFill>
            <a:prstDash val="solid"/>
          </a:ln>
        </p:spPr>
      </p:sp>
      <p:sp>
        <p:nvSpPr>
          <p:cNvPr id="192" name="Shape 190"/>
          <p:cNvSpPr/>
          <p:nvPr/>
        </p:nvSpPr>
        <p:spPr>
          <a:xfrm>
            <a:off x="6001160" y="2556717"/>
            <a:ext cx="60279" cy="60279"/>
          </a:xfrm>
          <a:prstGeom prst="rect">
            <a:avLst/>
          </a:prstGeom>
          <a:solidFill>
            <a:srgbClr val="E3E2DA"/>
          </a:solidFill>
          <a:ln w="12700">
            <a:solidFill>
              <a:srgbClr val="E3E2DA"/>
            </a:solidFill>
            <a:prstDash val="solid"/>
          </a:ln>
        </p:spPr>
      </p:sp>
      <p:sp>
        <p:nvSpPr>
          <p:cNvPr id="193" name="Shape 191"/>
          <p:cNvSpPr/>
          <p:nvPr/>
        </p:nvSpPr>
        <p:spPr>
          <a:xfrm>
            <a:off x="6069878" y="2556717"/>
            <a:ext cx="60279" cy="60279"/>
          </a:xfrm>
          <a:prstGeom prst="rect">
            <a:avLst/>
          </a:prstGeom>
          <a:solidFill>
            <a:srgbClr val="E3E2DA"/>
          </a:solidFill>
          <a:ln w="12700">
            <a:solidFill>
              <a:srgbClr val="E3E2DA"/>
            </a:solidFill>
            <a:prstDash val="solid"/>
          </a:ln>
        </p:spPr>
      </p:sp>
      <p:sp>
        <p:nvSpPr>
          <p:cNvPr id="194" name="Shape 192"/>
          <p:cNvSpPr/>
          <p:nvPr/>
        </p:nvSpPr>
        <p:spPr>
          <a:xfrm>
            <a:off x="6138597" y="2556717"/>
            <a:ext cx="60279" cy="60279"/>
          </a:xfrm>
          <a:prstGeom prst="rect">
            <a:avLst/>
          </a:prstGeom>
          <a:solidFill>
            <a:srgbClr val="E3E2DA"/>
          </a:solidFill>
          <a:ln w="12700">
            <a:solidFill>
              <a:srgbClr val="E3E2DA"/>
            </a:solidFill>
            <a:prstDash val="solid"/>
          </a:ln>
        </p:spPr>
      </p:sp>
      <p:sp>
        <p:nvSpPr>
          <p:cNvPr id="195" name="Shape 193"/>
          <p:cNvSpPr/>
          <p:nvPr/>
        </p:nvSpPr>
        <p:spPr>
          <a:xfrm>
            <a:off x="5520131" y="2625435"/>
            <a:ext cx="60279" cy="60279"/>
          </a:xfrm>
          <a:prstGeom prst="rect">
            <a:avLst/>
          </a:prstGeom>
          <a:solidFill>
            <a:srgbClr val="E3E2DA"/>
          </a:solidFill>
          <a:ln w="12700">
            <a:solidFill>
              <a:srgbClr val="E3E2DA"/>
            </a:solidFill>
            <a:prstDash val="solid"/>
          </a:ln>
        </p:spPr>
      </p:sp>
      <p:sp>
        <p:nvSpPr>
          <p:cNvPr id="196" name="Shape 194"/>
          <p:cNvSpPr/>
          <p:nvPr/>
        </p:nvSpPr>
        <p:spPr>
          <a:xfrm>
            <a:off x="5588850" y="2625435"/>
            <a:ext cx="60279" cy="60279"/>
          </a:xfrm>
          <a:prstGeom prst="rect">
            <a:avLst/>
          </a:prstGeom>
          <a:solidFill>
            <a:srgbClr val="E3E2DA"/>
          </a:solidFill>
          <a:ln w="12700">
            <a:solidFill>
              <a:srgbClr val="E3E2DA"/>
            </a:solidFill>
            <a:prstDash val="solid"/>
          </a:ln>
        </p:spPr>
      </p:sp>
      <p:sp>
        <p:nvSpPr>
          <p:cNvPr id="197" name="Shape 195"/>
          <p:cNvSpPr/>
          <p:nvPr/>
        </p:nvSpPr>
        <p:spPr>
          <a:xfrm>
            <a:off x="5657568" y="2625435"/>
            <a:ext cx="60279" cy="60279"/>
          </a:xfrm>
          <a:prstGeom prst="rect">
            <a:avLst/>
          </a:prstGeom>
          <a:solidFill>
            <a:srgbClr val="E3E2DA"/>
          </a:solidFill>
          <a:ln w="12700">
            <a:solidFill>
              <a:srgbClr val="E3E2DA"/>
            </a:solidFill>
            <a:prstDash val="solid"/>
          </a:ln>
        </p:spPr>
      </p:sp>
      <p:sp>
        <p:nvSpPr>
          <p:cNvPr id="198" name="Shape 196"/>
          <p:cNvSpPr/>
          <p:nvPr/>
        </p:nvSpPr>
        <p:spPr>
          <a:xfrm>
            <a:off x="5726286" y="2625435"/>
            <a:ext cx="60279" cy="60279"/>
          </a:xfrm>
          <a:prstGeom prst="rect">
            <a:avLst/>
          </a:prstGeom>
          <a:solidFill>
            <a:srgbClr val="E3E2DA"/>
          </a:solidFill>
          <a:ln w="12700">
            <a:solidFill>
              <a:srgbClr val="E3E2DA"/>
            </a:solidFill>
            <a:prstDash val="solid"/>
          </a:ln>
        </p:spPr>
      </p:sp>
      <p:sp>
        <p:nvSpPr>
          <p:cNvPr id="199" name="Shape 197"/>
          <p:cNvSpPr/>
          <p:nvPr/>
        </p:nvSpPr>
        <p:spPr>
          <a:xfrm>
            <a:off x="5795005" y="2625435"/>
            <a:ext cx="60279" cy="60279"/>
          </a:xfrm>
          <a:prstGeom prst="rect">
            <a:avLst/>
          </a:prstGeom>
          <a:solidFill>
            <a:srgbClr val="E3E2DA"/>
          </a:solidFill>
          <a:ln w="12700">
            <a:solidFill>
              <a:srgbClr val="E3E2DA"/>
            </a:solidFill>
            <a:prstDash val="solid"/>
          </a:ln>
        </p:spPr>
      </p:sp>
      <p:sp>
        <p:nvSpPr>
          <p:cNvPr id="200" name="Shape 198"/>
          <p:cNvSpPr/>
          <p:nvPr/>
        </p:nvSpPr>
        <p:spPr>
          <a:xfrm>
            <a:off x="5863723" y="2625435"/>
            <a:ext cx="60279" cy="60279"/>
          </a:xfrm>
          <a:prstGeom prst="rect">
            <a:avLst/>
          </a:prstGeom>
          <a:solidFill>
            <a:srgbClr val="E3E2DA"/>
          </a:solidFill>
          <a:ln w="12700">
            <a:solidFill>
              <a:srgbClr val="E3E2DA"/>
            </a:solidFill>
            <a:prstDash val="solid"/>
          </a:ln>
        </p:spPr>
      </p:sp>
      <p:sp>
        <p:nvSpPr>
          <p:cNvPr id="201" name="Shape 199"/>
          <p:cNvSpPr/>
          <p:nvPr/>
        </p:nvSpPr>
        <p:spPr>
          <a:xfrm>
            <a:off x="5932441" y="2625435"/>
            <a:ext cx="60279" cy="60279"/>
          </a:xfrm>
          <a:prstGeom prst="rect">
            <a:avLst/>
          </a:prstGeom>
          <a:solidFill>
            <a:srgbClr val="E3E2DA"/>
          </a:solidFill>
          <a:ln w="12700">
            <a:solidFill>
              <a:srgbClr val="E3E2DA"/>
            </a:solidFill>
            <a:prstDash val="solid"/>
          </a:ln>
        </p:spPr>
      </p:sp>
      <p:sp>
        <p:nvSpPr>
          <p:cNvPr id="202" name="Shape 200"/>
          <p:cNvSpPr/>
          <p:nvPr/>
        </p:nvSpPr>
        <p:spPr>
          <a:xfrm>
            <a:off x="6001160" y="2625435"/>
            <a:ext cx="60279" cy="60279"/>
          </a:xfrm>
          <a:prstGeom prst="rect">
            <a:avLst/>
          </a:prstGeom>
          <a:solidFill>
            <a:srgbClr val="E3E2DA"/>
          </a:solidFill>
          <a:ln w="12700">
            <a:solidFill>
              <a:srgbClr val="E3E2DA"/>
            </a:solidFill>
            <a:prstDash val="solid"/>
          </a:ln>
        </p:spPr>
      </p:sp>
      <p:sp>
        <p:nvSpPr>
          <p:cNvPr id="203" name="Shape 201"/>
          <p:cNvSpPr/>
          <p:nvPr/>
        </p:nvSpPr>
        <p:spPr>
          <a:xfrm>
            <a:off x="6069878" y="2625435"/>
            <a:ext cx="60279" cy="60279"/>
          </a:xfrm>
          <a:prstGeom prst="rect">
            <a:avLst/>
          </a:prstGeom>
          <a:solidFill>
            <a:srgbClr val="E3E2DA"/>
          </a:solidFill>
          <a:ln w="12700">
            <a:solidFill>
              <a:srgbClr val="E3E2DA"/>
            </a:solidFill>
            <a:prstDash val="solid"/>
          </a:ln>
        </p:spPr>
      </p:sp>
      <p:sp>
        <p:nvSpPr>
          <p:cNvPr id="204" name="Shape 202"/>
          <p:cNvSpPr/>
          <p:nvPr/>
        </p:nvSpPr>
        <p:spPr>
          <a:xfrm>
            <a:off x="6138597" y="2625435"/>
            <a:ext cx="60279" cy="60279"/>
          </a:xfrm>
          <a:prstGeom prst="rect">
            <a:avLst/>
          </a:prstGeom>
          <a:solidFill>
            <a:srgbClr val="E3E2DA"/>
          </a:solidFill>
          <a:ln w="12700">
            <a:solidFill>
              <a:srgbClr val="E3E2DA"/>
            </a:solidFill>
            <a:prstDash val="solid"/>
          </a:ln>
        </p:spPr>
      </p:sp>
      <p:sp>
        <p:nvSpPr>
          <p:cNvPr id="205" name="Shape 203"/>
          <p:cNvSpPr/>
          <p:nvPr/>
        </p:nvSpPr>
        <p:spPr>
          <a:xfrm>
            <a:off x="5520131" y="2694153"/>
            <a:ext cx="60279" cy="60279"/>
          </a:xfrm>
          <a:prstGeom prst="rect">
            <a:avLst/>
          </a:prstGeom>
          <a:solidFill>
            <a:srgbClr val="E3E2DA"/>
          </a:solidFill>
          <a:ln w="12700">
            <a:solidFill>
              <a:srgbClr val="E3E2DA"/>
            </a:solidFill>
            <a:prstDash val="solid"/>
          </a:ln>
        </p:spPr>
      </p:sp>
      <p:sp>
        <p:nvSpPr>
          <p:cNvPr id="206" name="Shape 204"/>
          <p:cNvSpPr/>
          <p:nvPr/>
        </p:nvSpPr>
        <p:spPr>
          <a:xfrm>
            <a:off x="5588850" y="2694153"/>
            <a:ext cx="60279" cy="60279"/>
          </a:xfrm>
          <a:prstGeom prst="rect">
            <a:avLst/>
          </a:prstGeom>
          <a:solidFill>
            <a:srgbClr val="E3E2DA"/>
          </a:solidFill>
          <a:ln w="12700">
            <a:solidFill>
              <a:srgbClr val="E3E2DA"/>
            </a:solidFill>
            <a:prstDash val="solid"/>
          </a:ln>
        </p:spPr>
      </p:sp>
      <p:sp>
        <p:nvSpPr>
          <p:cNvPr id="207" name="Shape 205"/>
          <p:cNvSpPr/>
          <p:nvPr/>
        </p:nvSpPr>
        <p:spPr>
          <a:xfrm>
            <a:off x="5657568" y="2694153"/>
            <a:ext cx="60279" cy="60279"/>
          </a:xfrm>
          <a:prstGeom prst="rect">
            <a:avLst/>
          </a:prstGeom>
          <a:solidFill>
            <a:srgbClr val="E3E2DA"/>
          </a:solidFill>
          <a:ln w="12700">
            <a:solidFill>
              <a:srgbClr val="E3E2DA"/>
            </a:solidFill>
            <a:prstDash val="solid"/>
          </a:ln>
        </p:spPr>
      </p:sp>
      <p:sp>
        <p:nvSpPr>
          <p:cNvPr id="208" name="Shape 206"/>
          <p:cNvSpPr/>
          <p:nvPr/>
        </p:nvSpPr>
        <p:spPr>
          <a:xfrm>
            <a:off x="5726286" y="2694153"/>
            <a:ext cx="60279" cy="60279"/>
          </a:xfrm>
          <a:prstGeom prst="rect">
            <a:avLst/>
          </a:prstGeom>
          <a:solidFill>
            <a:srgbClr val="E3E2DA"/>
          </a:solidFill>
          <a:ln w="12700">
            <a:solidFill>
              <a:srgbClr val="E3E2DA"/>
            </a:solidFill>
            <a:prstDash val="solid"/>
          </a:ln>
        </p:spPr>
      </p:sp>
      <p:sp>
        <p:nvSpPr>
          <p:cNvPr id="209" name="Shape 207"/>
          <p:cNvSpPr/>
          <p:nvPr/>
        </p:nvSpPr>
        <p:spPr>
          <a:xfrm>
            <a:off x="5795005" y="2694153"/>
            <a:ext cx="60279" cy="60279"/>
          </a:xfrm>
          <a:prstGeom prst="rect">
            <a:avLst/>
          </a:prstGeom>
          <a:solidFill>
            <a:srgbClr val="E3E2DA"/>
          </a:solidFill>
          <a:ln w="12700">
            <a:solidFill>
              <a:srgbClr val="E3E2DA"/>
            </a:solidFill>
            <a:prstDash val="solid"/>
          </a:ln>
        </p:spPr>
      </p:sp>
      <p:sp>
        <p:nvSpPr>
          <p:cNvPr id="210" name="Shape 208"/>
          <p:cNvSpPr/>
          <p:nvPr/>
        </p:nvSpPr>
        <p:spPr>
          <a:xfrm>
            <a:off x="5863723" y="2694153"/>
            <a:ext cx="60279" cy="60279"/>
          </a:xfrm>
          <a:prstGeom prst="rect">
            <a:avLst/>
          </a:prstGeom>
          <a:solidFill>
            <a:srgbClr val="E3E2DA"/>
          </a:solidFill>
          <a:ln w="12700">
            <a:solidFill>
              <a:srgbClr val="E3E2DA"/>
            </a:solidFill>
            <a:prstDash val="solid"/>
          </a:ln>
        </p:spPr>
      </p:sp>
      <p:sp>
        <p:nvSpPr>
          <p:cNvPr id="211" name="Shape 209"/>
          <p:cNvSpPr/>
          <p:nvPr/>
        </p:nvSpPr>
        <p:spPr>
          <a:xfrm>
            <a:off x="5932441" y="2694153"/>
            <a:ext cx="60279" cy="60279"/>
          </a:xfrm>
          <a:prstGeom prst="rect">
            <a:avLst/>
          </a:prstGeom>
          <a:solidFill>
            <a:srgbClr val="E3E2DA"/>
          </a:solidFill>
          <a:ln w="12700">
            <a:solidFill>
              <a:srgbClr val="E3E2DA"/>
            </a:solidFill>
            <a:prstDash val="solid"/>
          </a:ln>
        </p:spPr>
      </p:sp>
      <p:sp>
        <p:nvSpPr>
          <p:cNvPr id="212" name="Shape 210"/>
          <p:cNvSpPr/>
          <p:nvPr/>
        </p:nvSpPr>
        <p:spPr>
          <a:xfrm>
            <a:off x="6001160" y="2694153"/>
            <a:ext cx="60279" cy="60279"/>
          </a:xfrm>
          <a:prstGeom prst="rect">
            <a:avLst/>
          </a:prstGeom>
          <a:solidFill>
            <a:srgbClr val="E3E2DA"/>
          </a:solidFill>
          <a:ln w="12700">
            <a:solidFill>
              <a:srgbClr val="E3E2DA"/>
            </a:solidFill>
            <a:prstDash val="solid"/>
          </a:ln>
        </p:spPr>
      </p:sp>
      <p:sp>
        <p:nvSpPr>
          <p:cNvPr id="213" name="Shape 211"/>
          <p:cNvSpPr/>
          <p:nvPr/>
        </p:nvSpPr>
        <p:spPr>
          <a:xfrm>
            <a:off x="6069878" y="2694153"/>
            <a:ext cx="60279" cy="60279"/>
          </a:xfrm>
          <a:prstGeom prst="rect">
            <a:avLst/>
          </a:prstGeom>
          <a:solidFill>
            <a:srgbClr val="E3E2DA"/>
          </a:solidFill>
          <a:ln w="12700">
            <a:solidFill>
              <a:srgbClr val="E3E2DA"/>
            </a:solidFill>
            <a:prstDash val="solid"/>
          </a:ln>
        </p:spPr>
      </p:sp>
      <p:sp>
        <p:nvSpPr>
          <p:cNvPr id="214" name="Shape 212"/>
          <p:cNvSpPr/>
          <p:nvPr/>
        </p:nvSpPr>
        <p:spPr>
          <a:xfrm>
            <a:off x="6138597" y="2694153"/>
            <a:ext cx="60279" cy="60279"/>
          </a:xfrm>
          <a:prstGeom prst="rect">
            <a:avLst/>
          </a:prstGeom>
          <a:solidFill>
            <a:srgbClr val="E3E2DA"/>
          </a:solidFill>
          <a:ln w="12700">
            <a:solidFill>
              <a:srgbClr val="E3E2DA"/>
            </a:solidFill>
            <a:prstDash val="solid"/>
          </a:ln>
        </p:spPr>
      </p:sp>
      <p:sp>
        <p:nvSpPr>
          <p:cNvPr id="215" name="Text 213"/>
          <p:cNvSpPr txBox="1"/>
          <p:nvPr/>
        </p:nvSpPr>
        <p:spPr>
          <a:xfrm>
            <a:off x="5520131"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55.4%</a:t>
            </a:r>
            <a:endParaRPr lang="en-US" sz="2000" dirty="0"/>
          </a:p>
        </p:txBody>
      </p:sp>
      <p:sp>
        <p:nvSpPr>
          <p:cNvPr id="216" name="Text 214"/>
          <p:cNvSpPr txBox="1"/>
          <p:nvPr/>
        </p:nvSpPr>
        <p:spPr>
          <a:xfrm>
            <a:off x="5520131"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live in Southern California (55 of every 100)</a:t>
            </a:r>
            <a:endParaRPr lang="en-US" sz="1000" dirty="0"/>
          </a:p>
        </p:txBody>
      </p:sp>
      <p:sp>
        <p:nvSpPr>
          <p:cNvPr id="217" name="Shape 215"/>
          <p:cNvSpPr/>
          <p:nvPr/>
        </p:nvSpPr>
        <p:spPr>
          <a:xfrm>
            <a:off x="6671564" y="2075688"/>
            <a:ext cx="60279" cy="60279"/>
          </a:xfrm>
          <a:prstGeom prst="rect">
            <a:avLst/>
          </a:prstGeom>
          <a:solidFill>
            <a:srgbClr val="43A3A3"/>
          </a:solidFill>
          <a:ln w="12700">
            <a:solidFill>
              <a:srgbClr val="43A3A3"/>
            </a:solidFill>
            <a:prstDash val="solid"/>
          </a:ln>
        </p:spPr>
      </p:sp>
      <p:sp>
        <p:nvSpPr>
          <p:cNvPr id="218" name="Shape 216"/>
          <p:cNvSpPr/>
          <p:nvPr/>
        </p:nvSpPr>
        <p:spPr>
          <a:xfrm>
            <a:off x="6740282" y="2075688"/>
            <a:ext cx="60279" cy="60279"/>
          </a:xfrm>
          <a:prstGeom prst="rect">
            <a:avLst/>
          </a:prstGeom>
          <a:solidFill>
            <a:srgbClr val="43A3A3"/>
          </a:solidFill>
          <a:ln w="12700">
            <a:solidFill>
              <a:srgbClr val="43A3A3"/>
            </a:solidFill>
            <a:prstDash val="solid"/>
          </a:ln>
        </p:spPr>
      </p:sp>
      <p:sp>
        <p:nvSpPr>
          <p:cNvPr id="219" name="Shape 217"/>
          <p:cNvSpPr/>
          <p:nvPr/>
        </p:nvSpPr>
        <p:spPr>
          <a:xfrm>
            <a:off x="6809001" y="2075688"/>
            <a:ext cx="60279" cy="60279"/>
          </a:xfrm>
          <a:prstGeom prst="rect">
            <a:avLst/>
          </a:prstGeom>
          <a:solidFill>
            <a:srgbClr val="43A3A3"/>
          </a:solidFill>
          <a:ln w="12700">
            <a:solidFill>
              <a:srgbClr val="43A3A3"/>
            </a:solidFill>
            <a:prstDash val="solid"/>
          </a:ln>
        </p:spPr>
      </p:sp>
      <p:sp>
        <p:nvSpPr>
          <p:cNvPr id="220" name="Shape 218"/>
          <p:cNvSpPr/>
          <p:nvPr/>
        </p:nvSpPr>
        <p:spPr>
          <a:xfrm>
            <a:off x="6877719" y="2075688"/>
            <a:ext cx="60279" cy="60279"/>
          </a:xfrm>
          <a:prstGeom prst="rect">
            <a:avLst/>
          </a:prstGeom>
          <a:solidFill>
            <a:srgbClr val="43A3A3"/>
          </a:solidFill>
          <a:ln w="12700">
            <a:solidFill>
              <a:srgbClr val="43A3A3"/>
            </a:solidFill>
            <a:prstDash val="solid"/>
          </a:ln>
        </p:spPr>
      </p:sp>
      <p:sp>
        <p:nvSpPr>
          <p:cNvPr id="221" name="Shape 219"/>
          <p:cNvSpPr/>
          <p:nvPr/>
        </p:nvSpPr>
        <p:spPr>
          <a:xfrm>
            <a:off x="6946438" y="2075688"/>
            <a:ext cx="60279" cy="60279"/>
          </a:xfrm>
          <a:prstGeom prst="rect">
            <a:avLst/>
          </a:prstGeom>
          <a:solidFill>
            <a:srgbClr val="43A3A3"/>
          </a:solidFill>
          <a:ln w="12700">
            <a:solidFill>
              <a:srgbClr val="43A3A3"/>
            </a:solidFill>
            <a:prstDash val="solid"/>
          </a:ln>
        </p:spPr>
      </p:sp>
      <p:sp>
        <p:nvSpPr>
          <p:cNvPr id="222" name="Shape 220"/>
          <p:cNvSpPr/>
          <p:nvPr/>
        </p:nvSpPr>
        <p:spPr>
          <a:xfrm>
            <a:off x="7015156" y="2075688"/>
            <a:ext cx="60279" cy="60279"/>
          </a:xfrm>
          <a:prstGeom prst="rect">
            <a:avLst/>
          </a:prstGeom>
          <a:solidFill>
            <a:srgbClr val="43A3A3"/>
          </a:solidFill>
          <a:ln w="12700">
            <a:solidFill>
              <a:srgbClr val="43A3A3"/>
            </a:solidFill>
            <a:prstDash val="solid"/>
          </a:ln>
        </p:spPr>
      </p:sp>
      <p:sp>
        <p:nvSpPr>
          <p:cNvPr id="223" name="Shape 221"/>
          <p:cNvSpPr/>
          <p:nvPr/>
        </p:nvSpPr>
        <p:spPr>
          <a:xfrm>
            <a:off x="7083874" y="2075688"/>
            <a:ext cx="60279" cy="60279"/>
          </a:xfrm>
          <a:prstGeom prst="rect">
            <a:avLst/>
          </a:prstGeom>
          <a:solidFill>
            <a:srgbClr val="43A3A3"/>
          </a:solidFill>
          <a:ln w="12700">
            <a:solidFill>
              <a:srgbClr val="43A3A3"/>
            </a:solidFill>
            <a:prstDash val="solid"/>
          </a:ln>
        </p:spPr>
      </p:sp>
      <p:sp>
        <p:nvSpPr>
          <p:cNvPr id="224" name="Shape 222"/>
          <p:cNvSpPr/>
          <p:nvPr/>
        </p:nvSpPr>
        <p:spPr>
          <a:xfrm>
            <a:off x="7152593" y="2075688"/>
            <a:ext cx="60279" cy="60279"/>
          </a:xfrm>
          <a:prstGeom prst="rect">
            <a:avLst/>
          </a:prstGeom>
          <a:solidFill>
            <a:srgbClr val="43A3A3"/>
          </a:solidFill>
          <a:ln w="12700">
            <a:solidFill>
              <a:srgbClr val="43A3A3"/>
            </a:solidFill>
            <a:prstDash val="solid"/>
          </a:ln>
        </p:spPr>
      </p:sp>
      <p:sp>
        <p:nvSpPr>
          <p:cNvPr id="225" name="Shape 223"/>
          <p:cNvSpPr/>
          <p:nvPr/>
        </p:nvSpPr>
        <p:spPr>
          <a:xfrm>
            <a:off x="7221311" y="2075688"/>
            <a:ext cx="60279" cy="60279"/>
          </a:xfrm>
          <a:prstGeom prst="rect">
            <a:avLst/>
          </a:prstGeom>
          <a:solidFill>
            <a:srgbClr val="43A3A3"/>
          </a:solidFill>
          <a:ln w="12700">
            <a:solidFill>
              <a:srgbClr val="43A3A3"/>
            </a:solidFill>
            <a:prstDash val="solid"/>
          </a:ln>
        </p:spPr>
      </p:sp>
      <p:sp>
        <p:nvSpPr>
          <p:cNvPr id="226" name="Shape 224"/>
          <p:cNvSpPr/>
          <p:nvPr/>
        </p:nvSpPr>
        <p:spPr>
          <a:xfrm>
            <a:off x="7290029" y="2075688"/>
            <a:ext cx="60279" cy="60279"/>
          </a:xfrm>
          <a:prstGeom prst="rect">
            <a:avLst/>
          </a:prstGeom>
          <a:solidFill>
            <a:srgbClr val="43A3A3"/>
          </a:solidFill>
          <a:ln w="12700">
            <a:solidFill>
              <a:srgbClr val="43A3A3"/>
            </a:solidFill>
            <a:prstDash val="solid"/>
          </a:ln>
        </p:spPr>
      </p:sp>
      <p:sp>
        <p:nvSpPr>
          <p:cNvPr id="227" name="Shape 225"/>
          <p:cNvSpPr/>
          <p:nvPr/>
        </p:nvSpPr>
        <p:spPr>
          <a:xfrm>
            <a:off x="6671564" y="2144406"/>
            <a:ext cx="60279" cy="60279"/>
          </a:xfrm>
          <a:prstGeom prst="rect">
            <a:avLst/>
          </a:prstGeom>
          <a:solidFill>
            <a:srgbClr val="43A3A3"/>
          </a:solidFill>
          <a:ln w="12700">
            <a:solidFill>
              <a:srgbClr val="43A3A3"/>
            </a:solidFill>
            <a:prstDash val="solid"/>
          </a:ln>
        </p:spPr>
      </p:sp>
      <p:sp>
        <p:nvSpPr>
          <p:cNvPr id="228" name="Shape 226"/>
          <p:cNvSpPr/>
          <p:nvPr/>
        </p:nvSpPr>
        <p:spPr>
          <a:xfrm>
            <a:off x="6740282" y="2144406"/>
            <a:ext cx="60279" cy="60279"/>
          </a:xfrm>
          <a:prstGeom prst="rect">
            <a:avLst/>
          </a:prstGeom>
          <a:solidFill>
            <a:srgbClr val="43A3A3"/>
          </a:solidFill>
          <a:ln w="12700">
            <a:solidFill>
              <a:srgbClr val="43A3A3"/>
            </a:solidFill>
            <a:prstDash val="solid"/>
          </a:ln>
        </p:spPr>
      </p:sp>
      <p:sp>
        <p:nvSpPr>
          <p:cNvPr id="229" name="Shape 227"/>
          <p:cNvSpPr/>
          <p:nvPr/>
        </p:nvSpPr>
        <p:spPr>
          <a:xfrm>
            <a:off x="6809001" y="2144406"/>
            <a:ext cx="60279" cy="60279"/>
          </a:xfrm>
          <a:prstGeom prst="rect">
            <a:avLst/>
          </a:prstGeom>
          <a:solidFill>
            <a:srgbClr val="43A3A3"/>
          </a:solidFill>
          <a:ln w="12700">
            <a:solidFill>
              <a:srgbClr val="43A3A3"/>
            </a:solidFill>
            <a:prstDash val="solid"/>
          </a:ln>
        </p:spPr>
      </p:sp>
      <p:sp>
        <p:nvSpPr>
          <p:cNvPr id="230" name="Shape 228"/>
          <p:cNvSpPr/>
          <p:nvPr/>
        </p:nvSpPr>
        <p:spPr>
          <a:xfrm>
            <a:off x="6877719" y="2144406"/>
            <a:ext cx="60279" cy="60279"/>
          </a:xfrm>
          <a:prstGeom prst="rect">
            <a:avLst/>
          </a:prstGeom>
          <a:solidFill>
            <a:srgbClr val="43A3A3"/>
          </a:solidFill>
          <a:ln w="12700">
            <a:solidFill>
              <a:srgbClr val="43A3A3"/>
            </a:solidFill>
            <a:prstDash val="solid"/>
          </a:ln>
        </p:spPr>
      </p:sp>
      <p:sp>
        <p:nvSpPr>
          <p:cNvPr id="231" name="Shape 229"/>
          <p:cNvSpPr/>
          <p:nvPr/>
        </p:nvSpPr>
        <p:spPr>
          <a:xfrm>
            <a:off x="6946438" y="2144406"/>
            <a:ext cx="60279" cy="60279"/>
          </a:xfrm>
          <a:prstGeom prst="rect">
            <a:avLst/>
          </a:prstGeom>
          <a:solidFill>
            <a:srgbClr val="43A3A3"/>
          </a:solidFill>
          <a:ln w="12700">
            <a:solidFill>
              <a:srgbClr val="43A3A3"/>
            </a:solidFill>
            <a:prstDash val="solid"/>
          </a:ln>
        </p:spPr>
      </p:sp>
      <p:sp>
        <p:nvSpPr>
          <p:cNvPr id="232" name="Shape 230"/>
          <p:cNvSpPr/>
          <p:nvPr/>
        </p:nvSpPr>
        <p:spPr>
          <a:xfrm>
            <a:off x="7015156" y="2144406"/>
            <a:ext cx="60279" cy="60279"/>
          </a:xfrm>
          <a:prstGeom prst="rect">
            <a:avLst/>
          </a:prstGeom>
          <a:solidFill>
            <a:srgbClr val="43A3A3"/>
          </a:solidFill>
          <a:ln w="12700">
            <a:solidFill>
              <a:srgbClr val="43A3A3"/>
            </a:solidFill>
            <a:prstDash val="solid"/>
          </a:ln>
        </p:spPr>
      </p:sp>
      <p:sp>
        <p:nvSpPr>
          <p:cNvPr id="233" name="Shape 231"/>
          <p:cNvSpPr/>
          <p:nvPr/>
        </p:nvSpPr>
        <p:spPr>
          <a:xfrm>
            <a:off x="7083874" y="2144406"/>
            <a:ext cx="60279" cy="60279"/>
          </a:xfrm>
          <a:prstGeom prst="rect">
            <a:avLst/>
          </a:prstGeom>
          <a:solidFill>
            <a:srgbClr val="43A3A3"/>
          </a:solidFill>
          <a:ln w="12700">
            <a:solidFill>
              <a:srgbClr val="43A3A3"/>
            </a:solidFill>
            <a:prstDash val="solid"/>
          </a:ln>
        </p:spPr>
      </p:sp>
      <p:sp>
        <p:nvSpPr>
          <p:cNvPr id="234" name="Shape 232"/>
          <p:cNvSpPr/>
          <p:nvPr/>
        </p:nvSpPr>
        <p:spPr>
          <a:xfrm>
            <a:off x="7152593" y="2144406"/>
            <a:ext cx="60279" cy="60279"/>
          </a:xfrm>
          <a:prstGeom prst="rect">
            <a:avLst/>
          </a:prstGeom>
          <a:solidFill>
            <a:srgbClr val="43A3A3"/>
          </a:solidFill>
          <a:ln w="12700">
            <a:solidFill>
              <a:srgbClr val="43A3A3"/>
            </a:solidFill>
            <a:prstDash val="solid"/>
          </a:ln>
        </p:spPr>
      </p:sp>
      <p:sp>
        <p:nvSpPr>
          <p:cNvPr id="235" name="Shape 233"/>
          <p:cNvSpPr/>
          <p:nvPr/>
        </p:nvSpPr>
        <p:spPr>
          <a:xfrm>
            <a:off x="7221311" y="2144406"/>
            <a:ext cx="60279" cy="60279"/>
          </a:xfrm>
          <a:prstGeom prst="rect">
            <a:avLst/>
          </a:prstGeom>
          <a:solidFill>
            <a:srgbClr val="43A3A3"/>
          </a:solidFill>
          <a:ln w="12700">
            <a:solidFill>
              <a:srgbClr val="43A3A3"/>
            </a:solidFill>
            <a:prstDash val="solid"/>
          </a:ln>
        </p:spPr>
      </p:sp>
      <p:sp>
        <p:nvSpPr>
          <p:cNvPr id="236" name="Shape 234"/>
          <p:cNvSpPr/>
          <p:nvPr/>
        </p:nvSpPr>
        <p:spPr>
          <a:xfrm>
            <a:off x="7290029" y="2144406"/>
            <a:ext cx="60279" cy="60279"/>
          </a:xfrm>
          <a:prstGeom prst="rect">
            <a:avLst/>
          </a:prstGeom>
          <a:solidFill>
            <a:srgbClr val="43A3A3"/>
          </a:solidFill>
          <a:ln w="12700">
            <a:solidFill>
              <a:srgbClr val="43A3A3"/>
            </a:solidFill>
            <a:prstDash val="solid"/>
          </a:ln>
        </p:spPr>
      </p:sp>
      <p:sp>
        <p:nvSpPr>
          <p:cNvPr id="237" name="Shape 235"/>
          <p:cNvSpPr/>
          <p:nvPr/>
        </p:nvSpPr>
        <p:spPr>
          <a:xfrm>
            <a:off x="6671564" y="2213125"/>
            <a:ext cx="60279" cy="60279"/>
          </a:xfrm>
          <a:prstGeom prst="rect">
            <a:avLst/>
          </a:prstGeom>
          <a:solidFill>
            <a:srgbClr val="43A3A3"/>
          </a:solidFill>
          <a:ln w="12700">
            <a:solidFill>
              <a:srgbClr val="43A3A3"/>
            </a:solidFill>
            <a:prstDash val="solid"/>
          </a:ln>
        </p:spPr>
      </p:sp>
      <p:sp>
        <p:nvSpPr>
          <p:cNvPr id="238" name="Shape 236"/>
          <p:cNvSpPr/>
          <p:nvPr/>
        </p:nvSpPr>
        <p:spPr>
          <a:xfrm>
            <a:off x="6740282" y="2213125"/>
            <a:ext cx="60279" cy="60279"/>
          </a:xfrm>
          <a:prstGeom prst="rect">
            <a:avLst/>
          </a:prstGeom>
          <a:solidFill>
            <a:srgbClr val="43A3A3"/>
          </a:solidFill>
          <a:ln w="12700">
            <a:solidFill>
              <a:srgbClr val="43A3A3"/>
            </a:solidFill>
            <a:prstDash val="solid"/>
          </a:ln>
        </p:spPr>
      </p:sp>
      <p:sp>
        <p:nvSpPr>
          <p:cNvPr id="239" name="Shape 237"/>
          <p:cNvSpPr/>
          <p:nvPr/>
        </p:nvSpPr>
        <p:spPr>
          <a:xfrm>
            <a:off x="6809001" y="2213125"/>
            <a:ext cx="60279" cy="60279"/>
          </a:xfrm>
          <a:prstGeom prst="rect">
            <a:avLst/>
          </a:prstGeom>
          <a:solidFill>
            <a:srgbClr val="43A3A3"/>
          </a:solidFill>
          <a:ln w="12700">
            <a:solidFill>
              <a:srgbClr val="43A3A3"/>
            </a:solidFill>
            <a:prstDash val="solid"/>
          </a:ln>
        </p:spPr>
      </p:sp>
      <p:sp>
        <p:nvSpPr>
          <p:cNvPr id="240" name="Shape 238"/>
          <p:cNvSpPr/>
          <p:nvPr/>
        </p:nvSpPr>
        <p:spPr>
          <a:xfrm>
            <a:off x="6877719" y="2213125"/>
            <a:ext cx="60279" cy="60279"/>
          </a:xfrm>
          <a:prstGeom prst="rect">
            <a:avLst/>
          </a:prstGeom>
          <a:solidFill>
            <a:srgbClr val="43A3A3"/>
          </a:solidFill>
          <a:ln w="12700">
            <a:solidFill>
              <a:srgbClr val="43A3A3"/>
            </a:solidFill>
            <a:prstDash val="solid"/>
          </a:ln>
        </p:spPr>
      </p:sp>
      <p:sp>
        <p:nvSpPr>
          <p:cNvPr id="241" name="Shape 239"/>
          <p:cNvSpPr/>
          <p:nvPr/>
        </p:nvSpPr>
        <p:spPr>
          <a:xfrm>
            <a:off x="6946438" y="2213125"/>
            <a:ext cx="60279" cy="60279"/>
          </a:xfrm>
          <a:prstGeom prst="rect">
            <a:avLst/>
          </a:prstGeom>
          <a:solidFill>
            <a:srgbClr val="43A3A3"/>
          </a:solidFill>
          <a:ln w="12700">
            <a:solidFill>
              <a:srgbClr val="43A3A3"/>
            </a:solidFill>
            <a:prstDash val="solid"/>
          </a:ln>
        </p:spPr>
      </p:sp>
      <p:sp>
        <p:nvSpPr>
          <p:cNvPr id="242" name="Shape 240"/>
          <p:cNvSpPr/>
          <p:nvPr/>
        </p:nvSpPr>
        <p:spPr>
          <a:xfrm>
            <a:off x="7015156" y="2213125"/>
            <a:ext cx="60279" cy="60279"/>
          </a:xfrm>
          <a:prstGeom prst="rect">
            <a:avLst/>
          </a:prstGeom>
          <a:solidFill>
            <a:srgbClr val="43A3A3"/>
          </a:solidFill>
          <a:ln w="12700">
            <a:solidFill>
              <a:srgbClr val="43A3A3"/>
            </a:solidFill>
            <a:prstDash val="solid"/>
          </a:ln>
        </p:spPr>
      </p:sp>
      <p:sp>
        <p:nvSpPr>
          <p:cNvPr id="243" name="Shape 241"/>
          <p:cNvSpPr/>
          <p:nvPr/>
        </p:nvSpPr>
        <p:spPr>
          <a:xfrm>
            <a:off x="7083874" y="2213125"/>
            <a:ext cx="60279" cy="60279"/>
          </a:xfrm>
          <a:prstGeom prst="rect">
            <a:avLst/>
          </a:prstGeom>
          <a:solidFill>
            <a:srgbClr val="43A3A3"/>
          </a:solidFill>
          <a:ln w="12700">
            <a:solidFill>
              <a:srgbClr val="43A3A3"/>
            </a:solidFill>
            <a:prstDash val="solid"/>
          </a:ln>
        </p:spPr>
      </p:sp>
      <p:sp>
        <p:nvSpPr>
          <p:cNvPr id="244" name="Shape 242"/>
          <p:cNvSpPr/>
          <p:nvPr/>
        </p:nvSpPr>
        <p:spPr>
          <a:xfrm>
            <a:off x="7152593" y="2213125"/>
            <a:ext cx="60279" cy="60279"/>
          </a:xfrm>
          <a:prstGeom prst="rect">
            <a:avLst/>
          </a:prstGeom>
          <a:solidFill>
            <a:srgbClr val="43A3A3"/>
          </a:solidFill>
          <a:ln w="12700">
            <a:solidFill>
              <a:srgbClr val="43A3A3"/>
            </a:solidFill>
            <a:prstDash val="solid"/>
          </a:ln>
        </p:spPr>
      </p:sp>
      <p:sp>
        <p:nvSpPr>
          <p:cNvPr id="245" name="Shape 243"/>
          <p:cNvSpPr/>
          <p:nvPr/>
        </p:nvSpPr>
        <p:spPr>
          <a:xfrm>
            <a:off x="7221311" y="2213125"/>
            <a:ext cx="60279" cy="60279"/>
          </a:xfrm>
          <a:prstGeom prst="rect">
            <a:avLst/>
          </a:prstGeom>
          <a:solidFill>
            <a:srgbClr val="43A3A3"/>
          </a:solidFill>
          <a:ln w="12700">
            <a:solidFill>
              <a:srgbClr val="43A3A3"/>
            </a:solidFill>
            <a:prstDash val="solid"/>
          </a:ln>
        </p:spPr>
      </p:sp>
      <p:sp>
        <p:nvSpPr>
          <p:cNvPr id="246" name="Shape 244"/>
          <p:cNvSpPr/>
          <p:nvPr/>
        </p:nvSpPr>
        <p:spPr>
          <a:xfrm>
            <a:off x="7290029" y="2213125"/>
            <a:ext cx="60279" cy="60279"/>
          </a:xfrm>
          <a:prstGeom prst="rect">
            <a:avLst/>
          </a:prstGeom>
          <a:solidFill>
            <a:srgbClr val="43A3A3"/>
          </a:solidFill>
          <a:ln w="12700">
            <a:solidFill>
              <a:srgbClr val="43A3A3"/>
            </a:solidFill>
            <a:prstDash val="solid"/>
          </a:ln>
        </p:spPr>
      </p:sp>
      <p:sp>
        <p:nvSpPr>
          <p:cNvPr id="247" name="Shape 245"/>
          <p:cNvSpPr/>
          <p:nvPr/>
        </p:nvSpPr>
        <p:spPr>
          <a:xfrm>
            <a:off x="6671564" y="2281843"/>
            <a:ext cx="60279" cy="60279"/>
          </a:xfrm>
          <a:prstGeom prst="rect">
            <a:avLst/>
          </a:prstGeom>
          <a:solidFill>
            <a:srgbClr val="43A3A3"/>
          </a:solidFill>
          <a:ln w="12700">
            <a:solidFill>
              <a:srgbClr val="43A3A3"/>
            </a:solidFill>
            <a:prstDash val="solid"/>
          </a:ln>
        </p:spPr>
      </p:sp>
      <p:sp>
        <p:nvSpPr>
          <p:cNvPr id="248" name="Shape 246"/>
          <p:cNvSpPr/>
          <p:nvPr/>
        </p:nvSpPr>
        <p:spPr>
          <a:xfrm>
            <a:off x="6740282" y="2281843"/>
            <a:ext cx="60279" cy="60279"/>
          </a:xfrm>
          <a:prstGeom prst="rect">
            <a:avLst/>
          </a:prstGeom>
          <a:solidFill>
            <a:srgbClr val="43A3A3"/>
          </a:solidFill>
          <a:ln w="12700">
            <a:solidFill>
              <a:srgbClr val="43A3A3"/>
            </a:solidFill>
            <a:prstDash val="solid"/>
          </a:ln>
        </p:spPr>
      </p:sp>
      <p:sp>
        <p:nvSpPr>
          <p:cNvPr id="249" name="Shape 247"/>
          <p:cNvSpPr/>
          <p:nvPr/>
        </p:nvSpPr>
        <p:spPr>
          <a:xfrm>
            <a:off x="6809001" y="2281843"/>
            <a:ext cx="60279" cy="60279"/>
          </a:xfrm>
          <a:prstGeom prst="rect">
            <a:avLst/>
          </a:prstGeom>
          <a:solidFill>
            <a:srgbClr val="43A3A3"/>
          </a:solidFill>
          <a:ln w="12700">
            <a:solidFill>
              <a:srgbClr val="43A3A3"/>
            </a:solidFill>
            <a:prstDash val="solid"/>
          </a:ln>
        </p:spPr>
      </p:sp>
      <p:sp>
        <p:nvSpPr>
          <p:cNvPr id="250" name="Shape 248"/>
          <p:cNvSpPr/>
          <p:nvPr/>
        </p:nvSpPr>
        <p:spPr>
          <a:xfrm>
            <a:off x="6877719" y="2281843"/>
            <a:ext cx="60279" cy="60279"/>
          </a:xfrm>
          <a:prstGeom prst="rect">
            <a:avLst/>
          </a:prstGeom>
          <a:solidFill>
            <a:srgbClr val="43A3A3"/>
          </a:solidFill>
          <a:ln w="12700">
            <a:solidFill>
              <a:srgbClr val="43A3A3"/>
            </a:solidFill>
            <a:prstDash val="solid"/>
          </a:ln>
        </p:spPr>
      </p:sp>
      <p:sp>
        <p:nvSpPr>
          <p:cNvPr id="251" name="Shape 249"/>
          <p:cNvSpPr/>
          <p:nvPr/>
        </p:nvSpPr>
        <p:spPr>
          <a:xfrm>
            <a:off x="6946438" y="2281843"/>
            <a:ext cx="60279" cy="60279"/>
          </a:xfrm>
          <a:prstGeom prst="rect">
            <a:avLst/>
          </a:prstGeom>
          <a:solidFill>
            <a:srgbClr val="43A3A3"/>
          </a:solidFill>
          <a:ln w="12700">
            <a:solidFill>
              <a:srgbClr val="43A3A3"/>
            </a:solidFill>
            <a:prstDash val="solid"/>
          </a:ln>
        </p:spPr>
      </p:sp>
      <p:sp>
        <p:nvSpPr>
          <p:cNvPr id="252" name="Shape 250"/>
          <p:cNvSpPr/>
          <p:nvPr/>
        </p:nvSpPr>
        <p:spPr>
          <a:xfrm>
            <a:off x="7015156" y="2281843"/>
            <a:ext cx="60279" cy="60279"/>
          </a:xfrm>
          <a:prstGeom prst="rect">
            <a:avLst/>
          </a:prstGeom>
          <a:solidFill>
            <a:srgbClr val="43A3A3"/>
          </a:solidFill>
          <a:ln w="12700">
            <a:solidFill>
              <a:srgbClr val="43A3A3"/>
            </a:solidFill>
            <a:prstDash val="solid"/>
          </a:ln>
        </p:spPr>
      </p:sp>
      <p:sp>
        <p:nvSpPr>
          <p:cNvPr id="253" name="Shape 251"/>
          <p:cNvSpPr/>
          <p:nvPr/>
        </p:nvSpPr>
        <p:spPr>
          <a:xfrm>
            <a:off x="7083874" y="2281843"/>
            <a:ext cx="60279" cy="60279"/>
          </a:xfrm>
          <a:prstGeom prst="rect">
            <a:avLst/>
          </a:prstGeom>
          <a:solidFill>
            <a:srgbClr val="43A3A3"/>
          </a:solidFill>
          <a:ln w="12700">
            <a:solidFill>
              <a:srgbClr val="43A3A3"/>
            </a:solidFill>
            <a:prstDash val="solid"/>
          </a:ln>
        </p:spPr>
      </p:sp>
      <p:sp>
        <p:nvSpPr>
          <p:cNvPr id="254" name="Shape 252"/>
          <p:cNvSpPr/>
          <p:nvPr/>
        </p:nvSpPr>
        <p:spPr>
          <a:xfrm>
            <a:off x="7152593" y="2281843"/>
            <a:ext cx="60279" cy="60279"/>
          </a:xfrm>
          <a:prstGeom prst="rect">
            <a:avLst/>
          </a:prstGeom>
          <a:solidFill>
            <a:srgbClr val="E3E2DA"/>
          </a:solidFill>
          <a:ln w="12700">
            <a:solidFill>
              <a:srgbClr val="E3E2DA"/>
            </a:solidFill>
            <a:prstDash val="solid"/>
          </a:ln>
        </p:spPr>
      </p:sp>
      <p:sp>
        <p:nvSpPr>
          <p:cNvPr id="255" name="Shape 253"/>
          <p:cNvSpPr/>
          <p:nvPr/>
        </p:nvSpPr>
        <p:spPr>
          <a:xfrm>
            <a:off x="7221311" y="2281843"/>
            <a:ext cx="60279" cy="60279"/>
          </a:xfrm>
          <a:prstGeom prst="rect">
            <a:avLst/>
          </a:prstGeom>
          <a:solidFill>
            <a:srgbClr val="E3E2DA"/>
          </a:solidFill>
          <a:ln w="12700">
            <a:solidFill>
              <a:srgbClr val="E3E2DA"/>
            </a:solidFill>
            <a:prstDash val="solid"/>
          </a:ln>
        </p:spPr>
      </p:sp>
      <p:sp>
        <p:nvSpPr>
          <p:cNvPr id="256" name="Shape 254"/>
          <p:cNvSpPr/>
          <p:nvPr/>
        </p:nvSpPr>
        <p:spPr>
          <a:xfrm>
            <a:off x="7290029" y="2281843"/>
            <a:ext cx="60279" cy="60279"/>
          </a:xfrm>
          <a:prstGeom prst="rect">
            <a:avLst/>
          </a:prstGeom>
          <a:solidFill>
            <a:srgbClr val="E3E2DA"/>
          </a:solidFill>
          <a:ln w="12700">
            <a:solidFill>
              <a:srgbClr val="E3E2DA"/>
            </a:solidFill>
            <a:prstDash val="solid"/>
          </a:ln>
        </p:spPr>
      </p:sp>
      <p:sp>
        <p:nvSpPr>
          <p:cNvPr id="257" name="Shape 255"/>
          <p:cNvSpPr/>
          <p:nvPr/>
        </p:nvSpPr>
        <p:spPr>
          <a:xfrm>
            <a:off x="6671564" y="2350562"/>
            <a:ext cx="60279" cy="60279"/>
          </a:xfrm>
          <a:prstGeom prst="rect">
            <a:avLst/>
          </a:prstGeom>
          <a:solidFill>
            <a:srgbClr val="E3E2DA"/>
          </a:solidFill>
          <a:ln w="12700">
            <a:solidFill>
              <a:srgbClr val="E3E2DA"/>
            </a:solidFill>
            <a:prstDash val="solid"/>
          </a:ln>
        </p:spPr>
      </p:sp>
      <p:sp>
        <p:nvSpPr>
          <p:cNvPr id="258" name="Shape 256"/>
          <p:cNvSpPr/>
          <p:nvPr/>
        </p:nvSpPr>
        <p:spPr>
          <a:xfrm>
            <a:off x="6740282" y="2350562"/>
            <a:ext cx="60279" cy="60279"/>
          </a:xfrm>
          <a:prstGeom prst="rect">
            <a:avLst/>
          </a:prstGeom>
          <a:solidFill>
            <a:srgbClr val="E3E2DA"/>
          </a:solidFill>
          <a:ln w="12700">
            <a:solidFill>
              <a:srgbClr val="E3E2DA"/>
            </a:solidFill>
            <a:prstDash val="solid"/>
          </a:ln>
        </p:spPr>
      </p:sp>
      <p:sp>
        <p:nvSpPr>
          <p:cNvPr id="259" name="Shape 257"/>
          <p:cNvSpPr/>
          <p:nvPr/>
        </p:nvSpPr>
        <p:spPr>
          <a:xfrm>
            <a:off x="6809001" y="2350562"/>
            <a:ext cx="60279" cy="60279"/>
          </a:xfrm>
          <a:prstGeom prst="rect">
            <a:avLst/>
          </a:prstGeom>
          <a:solidFill>
            <a:srgbClr val="E3E2DA"/>
          </a:solidFill>
          <a:ln w="12700">
            <a:solidFill>
              <a:srgbClr val="E3E2DA"/>
            </a:solidFill>
            <a:prstDash val="solid"/>
          </a:ln>
        </p:spPr>
      </p:sp>
      <p:sp>
        <p:nvSpPr>
          <p:cNvPr id="260" name="Shape 258"/>
          <p:cNvSpPr/>
          <p:nvPr/>
        </p:nvSpPr>
        <p:spPr>
          <a:xfrm>
            <a:off x="6877719" y="2350562"/>
            <a:ext cx="60279" cy="60279"/>
          </a:xfrm>
          <a:prstGeom prst="rect">
            <a:avLst/>
          </a:prstGeom>
          <a:solidFill>
            <a:srgbClr val="E3E2DA"/>
          </a:solidFill>
          <a:ln w="12700">
            <a:solidFill>
              <a:srgbClr val="E3E2DA"/>
            </a:solidFill>
            <a:prstDash val="solid"/>
          </a:ln>
        </p:spPr>
      </p:sp>
      <p:sp>
        <p:nvSpPr>
          <p:cNvPr id="261" name="Shape 259"/>
          <p:cNvSpPr/>
          <p:nvPr/>
        </p:nvSpPr>
        <p:spPr>
          <a:xfrm>
            <a:off x="6946438" y="2350562"/>
            <a:ext cx="60279" cy="60279"/>
          </a:xfrm>
          <a:prstGeom prst="rect">
            <a:avLst/>
          </a:prstGeom>
          <a:solidFill>
            <a:srgbClr val="E3E2DA"/>
          </a:solidFill>
          <a:ln w="12700">
            <a:solidFill>
              <a:srgbClr val="E3E2DA"/>
            </a:solidFill>
            <a:prstDash val="solid"/>
          </a:ln>
        </p:spPr>
      </p:sp>
      <p:sp>
        <p:nvSpPr>
          <p:cNvPr id="262" name="Shape 260"/>
          <p:cNvSpPr/>
          <p:nvPr/>
        </p:nvSpPr>
        <p:spPr>
          <a:xfrm>
            <a:off x="7015156" y="2350562"/>
            <a:ext cx="60279" cy="60279"/>
          </a:xfrm>
          <a:prstGeom prst="rect">
            <a:avLst/>
          </a:prstGeom>
          <a:solidFill>
            <a:srgbClr val="E3E2DA"/>
          </a:solidFill>
          <a:ln w="12700">
            <a:solidFill>
              <a:srgbClr val="E3E2DA"/>
            </a:solidFill>
            <a:prstDash val="solid"/>
          </a:ln>
        </p:spPr>
      </p:sp>
      <p:sp>
        <p:nvSpPr>
          <p:cNvPr id="263" name="Shape 261"/>
          <p:cNvSpPr/>
          <p:nvPr/>
        </p:nvSpPr>
        <p:spPr>
          <a:xfrm>
            <a:off x="7083874" y="2350562"/>
            <a:ext cx="60279" cy="60279"/>
          </a:xfrm>
          <a:prstGeom prst="rect">
            <a:avLst/>
          </a:prstGeom>
          <a:solidFill>
            <a:srgbClr val="E3E2DA"/>
          </a:solidFill>
          <a:ln w="12700">
            <a:solidFill>
              <a:srgbClr val="E3E2DA"/>
            </a:solidFill>
            <a:prstDash val="solid"/>
          </a:ln>
        </p:spPr>
      </p:sp>
      <p:sp>
        <p:nvSpPr>
          <p:cNvPr id="264" name="Shape 262"/>
          <p:cNvSpPr/>
          <p:nvPr/>
        </p:nvSpPr>
        <p:spPr>
          <a:xfrm>
            <a:off x="7152593" y="2350562"/>
            <a:ext cx="60279" cy="60279"/>
          </a:xfrm>
          <a:prstGeom prst="rect">
            <a:avLst/>
          </a:prstGeom>
          <a:solidFill>
            <a:srgbClr val="E3E2DA"/>
          </a:solidFill>
          <a:ln w="12700">
            <a:solidFill>
              <a:srgbClr val="E3E2DA"/>
            </a:solidFill>
            <a:prstDash val="solid"/>
          </a:ln>
        </p:spPr>
      </p:sp>
      <p:sp>
        <p:nvSpPr>
          <p:cNvPr id="265" name="Shape 263"/>
          <p:cNvSpPr/>
          <p:nvPr/>
        </p:nvSpPr>
        <p:spPr>
          <a:xfrm>
            <a:off x="7221311" y="2350562"/>
            <a:ext cx="60279" cy="60279"/>
          </a:xfrm>
          <a:prstGeom prst="rect">
            <a:avLst/>
          </a:prstGeom>
          <a:solidFill>
            <a:srgbClr val="E3E2DA"/>
          </a:solidFill>
          <a:ln w="12700">
            <a:solidFill>
              <a:srgbClr val="E3E2DA"/>
            </a:solidFill>
            <a:prstDash val="solid"/>
          </a:ln>
        </p:spPr>
      </p:sp>
      <p:sp>
        <p:nvSpPr>
          <p:cNvPr id="266" name="Shape 264"/>
          <p:cNvSpPr/>
          <p:nvPr/>
        </p:nvSpPr>
        <p:spPr>
          <a:xfrm>
            <a:off x="7290029" y="2350562"/>
            <a:ext cx="60279" cy="60279"/>
          </a:xfrm>
          <a:prstGeom prst="rect">
            <a:avLst/>
          </a:prstGeom>
          <a:solidFill>
            <a:srgbClr val="E3E2DA"/>
          </a:solidFill>
          <a:ln w="12700">
            <a:solidFill>
              <a:srgbClr val="E3E2DA"/>
            </a:solidFill>
            <a:prstDash val="solid"/>
          </a:ln>
        </p:spPr>
      </p:sp>
      <p:sp>
        <p:nvSpPr>
          <p:cNvPr id="267" name="Shape 265"/>
          <p:cNvSpPr/>
          <p:nvPr/>
        </p:nvSpPr>
        <p:spPr>
          <a:xfrm>
            <a:off x="6671564" y="2419280"/>
            <a:ext cx="60279" cy="60279"/>
          </a:xfrm>
          <a:prstGeom prst="rect">
            <a:avLst/>
          </a:prstGeom>
          <a:solidFill>
            <a:srgbClr val="E3E2DA"/>
          </a:solidFill>
          <a:ln w="12700">
            <a:solidFill>
              <a:srgbClr val="E3E2DA"/>
            </a:solidFill>
            <a:prstDash val="solid"/>
          </a:ln>
        </p:spPr>
      </p:sp>
      <p:sp>
        <p:nvSpPr>
          <p:cNvPr id="268" name="Shape 266"/>
          <p:cNvSpPr/>
          <p:nvPr/>
        </p:nvSpPr>
        <p:spPr>
          <a:xfrm>
            <a:off x="6740282" y="2419280"/>
            <a:ext cx="60279" cy="60279"/>
          </a:xfrm>
          <a:prstGeom prst="rect">
            <a:avLst/>
          </a:prstGeom>
          <a:solidFill>
            <a:srgbClr val="E3E2DA"/>
          </a:solidFill>
          <a:ln w="12700">
            <a:solidFill>
              <a:srgbClr val="E3E2DA"/>
            </a:solidFill>
            <a:prstDash val="solid"/>
          </a:ln>
        </p:spPr>
      </p:sp>
      <p:sp>
        <p:nvSpPr>
          <p:cNvPr id="269" name="Shape 267"/>
          <p:cNvSpPr/>
          <p:nvPr/>
        </p:nvSpPr>
        <p:spPr>
          <a:xfrm>
            <a:off x="6809001" y="2419280"/>
            <a:ext cx="60279" cy="60279"/>
          </a:xfrm>
          <a:prstGeom prst="rect">
            <a:avLst/>
          </a:prstGeom>
          <a:solidFill>
            <a:srgbClr val="E3E2DA"/>
          </a:solidFill>
          <a:ln w="12700">
            <a:solidFill>
              <a:srgbClr val="E3E2DA"/>
            </a:solidFill>
            <a:prstDash val="solid"/>
          </a:ln>
        </p:spPr>
      </p:sp>
      <p:sp>
        <p:nvSpPr>
          <p:cNvPr id="270" name="Shape 268"/>
          <p:cNvSpPr/>
          <p:nvPr/>
        </p:nvSpPr>
        <p:spPr>
          <a:xfrm>
            <a:off x="6877719" y="2419280"/>
            <a:ext cx="60279" cy="60279"/>
          </a:xfrm>
          <a:prstGeom prst="rect">
            <a:avLst/>
          </a:prstGeom>
          <a:solidFill>
            <a:srgbClr val="E3E2DA"/>
          </a:solidFill>
          <a:ln w="12700">
            <a:solidFill>
              <a:srgbClr val="E3E2DA"/>
            </a:solidFill>
            <a:prstDash val="solid"/>
          </a:ln>
        </p:spPr>
      </p:sp>
      <p:sp>
        <p:nvSpPr>
          <p:cNvPr id="271" name="Shape 269"/>
          <p:cNvSpPr/>
          <p:nvPr/>
        </p:nvSpPr>
        <p:spPr>
          <a:xfrm>
            <a:off x="6946438" y="2419280"/>
            <a:ext cx="60279" cy="60279"/>
          </a:xfrm>
          <a:prstGeom prst="rect">
            <a:avLst/>
          </a:prstGeom>
          <a:solidFill>
            <a:srgbClr val="E3E2DA"/>
          </a:solidFill>
          <a:ln w="12700">
            <a:solidFill>
              <a:srgbClr val="E3E2DA"/>
            </a:solidFill>
            <a:prstDash val="solid"/>
          </a:ln>
        </p:spPr>
      </p:sp>
      <p:sp>
        <p:nvSpPr>
          <p:cNvPr id="272" name="Shape 270"/>
          <p:cNvSpPr/>
          <p:nvPr/>
        </p:nvSpPr>
        <p:spPr>
          <a:xfrm>
            <a:off x="7015156" y="2419280"/>
            <a:ext cx="60279" cy="60279"/>
          </a:xfrm>
          <a:prstGeom prst="rect">
            <a:avLst/>
          </a:prstGeom>
          <a:solidFill>
            <a:srgbClr val="E3E2DA"/>
          </a:solidFill>
          <a:ln w="12700">
            <a:solidFill>
              <a:srgbClr val="E3E2DA"/>
            </a:solidFill>
            <a:prstDash val="solid"/>
          </a:ln>
        </p:spPr>
      </p:sp>
      <p:sp>
        <p:nvSpPr>
          <p:cNvPr id="273" name="Shape 271"/>
          <p:cNvSpPr/>
          <p:nvPr/>
        </p:nvSpPr>
        <p:spPr>
          <a:xfrm>
            <a:off x="7083874" y="2419280"/>
            <a:ext cx="60279" cy="60279"/>
          </a:xfrm>
          <a:prstGeom prst="rect">
            <a:avLst/>
          </a:prstGeom>
          <a:solidFill>
            <a:srgbClr val="E3E2DA"/>
          </a:solidFill>
          <a:ln w="12700">
            <a:solidFill>
              <a:srgbClr val="E3E2DA"/>
            </a:solidFill>
            <a:prstDash val="solid"/>
          </a:ln>
        </p:spPr>
      </p:sp>
      <p:sp>
        <p:nvSpPr>
          <p:cNvPr id="274" name="Shape 272"/>
          <p:cNvSpPr/>
          <p:nvPr/>
        </p:nvSpPr>
        <p:spPr>
          <a:xfrm>
            <a:off x="7152593" y="2419280"/>
            <a:ext cx="60279" cy="60279"/>
          </a:xfrm>
          <a:prstGeom prst="rect">
            <a:avLst/>
          </a:prstGeom>
          <a:solidFill>
            <a:srgbClr val="E3E2DA"/>
          </a:solidFill>
          <a:ln w="12700">
            <a:solidFill>
              <a:srgbClr val="E3E2DA"/>
            </a:solidFill>
            <a:prstDash val="solid"/>
          </a:ln>
        </p:spPr>
      </p:sp>
      <p:sp>
        <p:nvSpPr>
          <p:cNvPr id="275" name="Shape 273"/>
          <p:cNvSpPr/>
          <p:nvPr/>
        </p:nvSpPr>
        <p:spPr>
          <a:xfrm>
            <a:off x="7221311" y="2419280"/>
            <a:ext cx="60279" cy="60279"/>
          </a:xfrm>
          <a:prstGeom prst="rect">
            <a:avLst/>
          </a:prstGeom>
          <a:solidFill>
            <a:srgbClr val="E3E2DA"/>
          </a:solidFill>
          <a:ln w="12700">
            <a:solidFill>
              <a:srgbClr val="E3E2DA"/>
            </a:solidFill>
            <a:prstDash val="solid"/>
          </a:ln>
        </p:spPr>
      </p:sp>
      <p:sp>
        <p:nvSpPr>
          <p:cNvPr id="276" name="Shape 274"/>
          <p:cNvSpPr/>
          <p:nvPr/>
        </p:nvSpPr>
        <p:spPr>
          <a:xfrm>
            <a:off x="7290029" y="2419280"/>
            <a:ext cx="60279" cy="60279"/>
          </a:xfrm>
          <a:prstGeom prst="rect">
            <a:avLst/>
          </a:prstGeom>
          <a:solidFill>
            <a:srgbClr val="E3E2DA"/>
          </a:solidFill>
          <a:ln w="12700">
            <a:solidFill>
              <a:srgbClr val="E3E2DA"/>
            </a:solidFill>
            <a:prstDash val="solid"/>
          </a:ln>
        </p:spPr>
      </p:sp>
      <p:sp>
        <p:nvSpPr>
          <p:cNvPr id="277" name="Shape 275"/>
          <p:cNvSpPr/>
          <p:nvPr/>
        </p:nvSpPr>
        <p:spPr>
          <a:xfrm>
            <a:off x="6671564" y="2487998"/>
            <a:ext cx="60279" cy="60279"/>
          </a:xfrm>
          <a:prstGeom prst="rect">
            <a:avLst/>
          </a:prstGeom>
          <a:solidFill>
            <a:srgbClr val="E3E2DA"/>
          </a:solidFill>
          <a:ln w="12700">
            <a:solidFill>
              <a:srgbClr val="E3E2DA"/>
            </a:solidFill>
            <a:prstDash val="solid"/>
          </a:ln>
        </p:spPr>
      </p:sp>
      <p:sp>
        <p:nvSpPr>
          <p:cNvPr id="278" name="Shape 276"/>
          <p:cNvSpPr/>
          <p:nvPr/>
        </p:nvSpPr>
        <p:spPr>
          <a:xfrm>
            <a:off x="6740282" y="2487998"/>
            <a:ext cx="60279" cy="60279"/>
          </a:xfrm>
          <a:prstGeom prst="rect">
            <a:avLst/>
          </a:prstGeom>
          <a:solidFill>
            <a:srgbClr val="E3E2DA"/>
          </a:solidFill>
          <a:ln w="12700">
            <a:solidFill>
              <a:srgbClr val="E3E2DA"/>
            </a:solidFill>
            <a:prstDash val="solid"/>
          </a:ln>
        </p:spPr>
      </p:sp>
      <p:sp>
        <p:nvSpPr>
          <p:cNvPr id="279" name="Shape 277"/>
          <p:cNvSpPr/>
          <p:nvPr/>
        </p:nvSpPr>
        <p:spPr>
          <a:xfrm>
            <a:off x="6809001" y="2487998"/>
            <a:ext cx="60279" cy="60279"/>
          </a:xfrm>
          <a:prstGeom prst="rect">
            <a:avLst/>
          </a:prstGeom>
          <a:solidFill>
            <a:srgbClr val="E3E2DA"/>
          </a:solidFill>
          <a:ln w="12700">
            <a:solidFill>
              <a:srgbClr val="E3E2DA"/>
            </a:solidFill>
            <a:prstDash val="solid"/>
          </a:ln>
        </p:spPr>
      </p:sp>
      <p:sp>
        <p:nvSpPr>
          <p:cNvPr id="280" name="Shape 278"/>
          <p:cNvSpPr/>
          <p:nvPr/>
        </p:nvSpPr>
        <p:spPr>
          <a:xfrm>
            <a:off x="6877719" y="2487998"/>
            <a:ext cx="60279" cy="60279"/>
          </a:xfrm>
          <a:prstGeom prst="rect">
            <a:avLst/>
          </a:prstGeom>
          <a:solidFill>
            <a:srgbClr val="E3E2DA"/>
          </a:solidFill>
          <a:ln w="12700">
            <a:solidFill>
              <a:srgbClr val="E3E2DA"/>
            </a:solidFill>
            <a:prstDash val="solid"/>
          </a:ln>
        </p:spPr>
      </p:sp>
      <p:sp>
        <p:nvSpPr>
          <p:cNvPr id="281" name="Shape 279"/>
          <p:cNvSpPr/>
          <p:nvPr/>
        </p:nvSpPr>
        <p:spPr>
          <a:xfrm>
            <a:off x="6946438" y="2487998"/>
            <a:ext cx="60279" cy="60279"/>
          </a:xfrm>
          <a:prstGeom prst="rect">
            <a:avLst/>
          </a:prstGeom>
          <a:solidFill>
            <a:srgbClr val="E3E2DA"/>
          </a:solidFill>
          <a:ln w="12700">
            <a:solidFill>
              <a:srgbClr val="E3E2DA"/>
            </a:solidFill>
            <a:prstDash val="solid"/>
          </a:ln>
        </p:spPr>
      </p:sp>
      <p:sp>
        <p:nvSpPr>
          <p:cNvPr id="282" name="Shape 280"/>
          <p:cNvSpPr/>
          <p:nvPr/>
        </p:nvSpPr>
        <p:spPr>
          <a:xfrm>
            <a:off x="7015156" y="2487998"/>
            <a:ext cx="60279" cy="60279"/>
          </a:xfrm>
          <a:prstGeom prst="rect">
            <a:avLst/>
          </a:prstGeom>
          <a:solidFill>
            <a:srgbClr val="E3E2DA"/>
          </a:solidFill>
          <a:ln w="12700">
            <a:solidFill>
              <a:srgbClr val="E3E2DA"/>
            </a:solidFill>
            <a:prstDash val="solid"/>
          </a:ln>
        </p:spPr>
      </p:sp>
      <p:sp>
        <p:nvSpPr>
          <p:cNvPr id="283" name="Shape 281"/>
          <p:cNvSpPr/>
          <p:nvPr/>
        </p:nvSpPr>
        <p:spPr>
          <a:xfrm>
            <a:off x="7083874" y="2487998"/>
            <a:ext cx="60279" cy="60279"/>
          </a:xfrm>
          <a:prstGeom prst="rect">
            <a:avLst/>
          </a:prstGeom>
          <a:solidFill>
            <a:srgbClr val="E3E2DA"/>
          </a:solidFill>
          <a:ln w="12700">
            <a:solidFill>
              <a:srgbClr val="E3E2DA"/>
            </a:solidFill>
            <a:prstDash val="solid"/>
          </a:ln>
        </p:spPr>
      </p:sp>
      <p:sp>
        <p:nvSpPr>
          <p:cNvPr id="284" name="Shape 282"/>
          <p:cNvSpPr/>
          <p:nvPr/>
        </p:nvSpPr>
        <p:spPr>
          <a:xfrm>
            <a:off x="7152593" y="2487998"/>
            <a:ext cx="60279" cy="60279"/>
          </a:xfrm>
          <a:prstGeom prst="rect">
            <a:avLst/>
          </a:prstGeom>
          <a:solidFill>
            <a:srgbClr val="E3E2DA"/>
          </a:solidFill>
          <a:ln w="12700">
            <a:solidFill>
              <a:srgbClr val="E3E2DA"/>
            </a:solidFill>
            <a:prstDash val="solid"/>
          </a:ln>
        </p:spPr>
      </p:sp>
      <p:sp>
        <p:nvSpPr>
          <p:cNvPr id="285" name="Shape 283"/>
          <p:cNvSpPr/>
          <p:nvPr/>
        </p:nvSpPr>
        <p:spPr>
          <a:xfrm>
            <a:off x="7221311" y="2487998"/>
            <a:ext cx="60279" cy="60279"/>
          </a:xfrm>
          <a:prstGeom prst="rect">
            <a:avLst/>
          </a:prstGeom>
          <a:solidFill>
            <a:srgbClr val="E3E2DA"/>
          </a:solidFill>
          <a:ln w="12700">
            <a:solidFill>
              <a:srgbClr val="E3E2DA"/>
            </a:solidFill>
            <a:prstDash val="solid"/>
          </a:ln>
        </p:spPr>
      </p:sp>
      <p:sp>
        <p:nvSpPr>
          <p:cNvPr id="286" name="Shape 284"/>
          <p:cNvSpPr/>
          <p:nvPr/>
        </p:nvSpPr>
        <p:spPr>
          <a:xfrm>
            <a:off x="7290029" y="2487998"/>
            <a:ext cx="60279" cy="60279"/>
          </a:xfrm>
          <a:prstGeom prst="rect">
            <a:avLst/>
          </a:prstGeom>
          <a:solidFill>
            <a:srgbClr val="E3E2DA"/>
          </a:solidFill>
          <a:ln w="12700">
            <a:solidFill>
              <a:srgbClr val="E3E2DA"/>
            </a:solidFill>
            <a:prstDash val="solid"/>
          </a:ln>
        </p:spPr>
      </p:sp>
      <p:sp>
        <p:nvSpPr>
          <p:cNvPr id="287" name="Shape 285"/>
          <p:cNvSpPr/>
          <p:nvPr/>
        </p:nvSpPr>
        <p:spPr>
          <a:xfrm>
            <a:off x="6671564" y="2556717"/>
            <a:ext cx="60279" cy="60279"/>
          </a:xfrm>
          <a:prstGeom prst="rect">
            <a:avLst/>
          </a:prstGeom>
          <a:solidFill>
            <a:srgbClr val="E3E2DA"/>
          </a:solidFill>
          <a:ln w="12700">
            <a:solidFill>
              <a:srgbClr val="E3E2DA"/>
            </a:solidFill>
            <a:prstDash val="solid"/>
          </a:ln>
        </p:spPr>
      </p:sp>
      <p:sp>
        <p:nvSpPr>
          <p:cNvPr id="288" name="Shape 286"/>
          <p:cNvSpPr/>
          <p:nvPr/>
        </p:nvSpPr>
        <p:spPr>
          <a:xfrm>
            <a:off x="6740282" y="2556717"/>
            <a:ext cx="60279" cy="60279"/>
          </a:xfrm>
          <a:prstGeom prst="rect">
            <a:avLst/>
          </a:prstGeom>
          <a:solidFill>
            <a:srgbClr val="E3E2DA"/>
          </a:solidFill>
          <a:ln w="12700">
            <a:solidFill>
              <a:srgbClr val="E3E2DA"/>
            </a:solidFill>
            <a:prstDash val="solid"/>
          </a:ln>
        </p:spPr>
      </p:sp>
      <p:sp>
        <p:nvSpPr>
          <p:cNvPr id="289" name="Shape 287"/>
          <p:cNvSpPr/>
          <p:nvPr/>
        </p:nvSpPr>
        <p:spPr>
          <a:xfrm>
            <a:off x="6809001" y="2556717"/>
            <a:ext cx="60279" cy="60279"/>
          </a:xfrm>
          <a:prstGeom prst="rect">
            <a:avLst/>
          </a:prstGeom>
          <a:solidFill>
            <a:srgbClr val="E3E2DA"/>
          </a:solidFill>
          <a:ln w="12700">
            <a:solidFill>
              <a:srgbClr val="E3E2DA"/>
            </a:solidFill>
            <a:prstDash val="solid"/>
          </a:ln>
        </p:spPr>
      </p:sp>
      <p:sp>
        <p:nvSpPr>
          <p:cNvPr id="290" name="Shape 288"/>
          <p:cNvSpPr/>
          <p:nvPr/>
        </p:nvSpPr>
        <p:spPr>
          <a:xfrm>
            <a:off x="6877719" y="2556717"/>
            <a:ext cx="60279" cy="60279"/>
          </a:xfrm>
          <a:prstGeom prst="rect">
            <a:avLst/>
          </a:prstGeom>
          <a:solidFill>
            <a:srgbClr val="E3E2DA"/>
          </a:solidFill>
          <a:ln w="12700">
            <a:solidFill>
              <a:srgbClr val="E3E2DA"/>
            </a:solidFill>
            <a:prstDash val="solid"/>
          </a:ln>
        </p:spPr>
      </p:sp>
      <p:sp>
        <p:nvSpPr>
          <p:cNvPr id="291" name="Shape 289"/>
          <p:cNvSpPr/>
          <p:nvPr/>
        </p:nvSpPr>
        <p:spPr>
          <a:xfrm>
            <a:off x="6946438" y="2556717"/>
            <a:ext cx="60279" cy="60279"/>
          </a:xfrm>
          <a:prstGeom prst="rect">
            <a:avLst/>
          </a:prstGeom>
          <a:solidFill>
            <a:srgbClr val="E3E2DA"/>
          </a:solidFill>
          <a:ln w="12700">
            <a:solidFill>
              <a:srgbClr val="E3E2DA"/>
            </a:solidFill>
            <a:prstDash val="solid"/>
          </a:ln>
        </p:spPr>
      </p:sp>
      <p:sp>
        <p:nvSpPr>
          <p:cNvPr id="292" name="Shape 290"/>
          <p:cNvSpPr/>
          <p:nvPr/>
        </p:nvSpPr>
        <p:spPr>
          <a:xfrm>
            <a:off x="7015156" y="2556717"/>
            <a:ext cx="60279" cy="60279"/>
          </a:xfrm>
          <a:prstGeom prst="rect">
            <a:avLst/>
          </a:prstGeom>
          <a:solidFill>
            <a:srgbClr val="E3E2DA"/>
          </a:solidFill>
          <a:ln w="12700">
            <a:solidFill>
              <a:srgbClr val="E3E2DA"/>
            </a:solidFill>
            <a:prstDash val="solid"/>
          </a:ln>
        </p:spPr>
      </p:sp>
      <p:sp>
        <p:nvSpPr>
          <p:cNvPr id="293" name="Shape 291"/>
          <p:cNvSpPr/>
          <p:nvPr/>
        </p:nvSpPr>
        <p:spPr>
          <a:xfrm>
            <a:off x="7083874" y="2556717"/>
            <a:ext cx="60279" cy="60279"/>
          </a:xfrm>
          <a:prstGeom prst="rect">
            <a:avLst/>
          </a:prstGeom>
          <a:solidFill>
            <a:srgbClr val="E3E2DA"/>
          </a:solidFill>
          <a:ln w="12700">
            <a:solidFill>
              <a:srgbClr val="E3E2DA"/>
            </a:solidFill>
            <a:prstDash val="solid"/>
          </a:ln>
        </p:spPr>
      </p:sp>
      <p:sp>
        <p:nvSpPr>
          <p:cNvPr id="294" name="Shape 292"/>
          <p:cNvSpPr/>
          <p:nvPr/>
        </p:nvSpPr>
        <p:spPr>
          <a:xfrm>
            <a:off x="7152593" y="2556717"/>
            <a:ext cx="60279" cy="60279"/>
          </a:xfrm>
          <a:prstGeom prst="rect">
            <a:avLst/>
          </a:prstGeom>
          <a:solidFill>
            <a:srgbClr val="E3E2DA"/>
          </a:solidFill>
          <a:ln w="12700">
            <a:solidFill>
              <a:srgbClr val="E3E2DA"/>
            </a:solidFill>
            <a:prstDash val="solid"/>
          </a:ln>
        </p:spPr>
      </p:sp>
      <p:sp>
        <p:nvSpPr>
          <p:cNvPr id="295" name="Shape 293"/>
          <p:cNvSpPr/>
          <p:nvPr/>
        </p:nvSpPr>
        <p:spPr>
          <a:xfrm>
            <a:off x="7221311" y="2556717"/>
            <a:ext cx="60279" cy="60279"/>
          </a:xfrm>
          <a:prstGeom prst="rect">
            <a:avLst/>
          </a:prstGeom>
          <a:solidFill>
            <a:srgbClr val="E3E2DA"/>
          </a:solidFill>
          <a:ln w="12700">
            <a:solidFill>
              <a:srgbClr val="E3E2DA"/>
            </a:solidFill>
            <a:prstDash val="solid"/>
          </a:ln>
        </p:spPr>
      </p:sp>
      <p:sp>
        <p:nvSpPr>
          <p:cNvPr id="296" name="Shape 294"/>
          <p:cNvSpPr/>
          <p:nvPr/>
        </p:nvSpPr>
        <p:spPr>
          <a:xfrm>
            <a:off x="7290029" y="2556717"/>
            <a:ext cx="60279" cy="60279"/>
          </a:xfrm>
          <a:prstGeom prst="rect">
            <a:avLst/>
          </a:prstGeom>
          <a:solidFill>
            <a:srgbClr val="E3E2DA"/>
          </a:solidFill>
          <a:ln w="12700">
            <a:solidFill>
              <a:srgbClr val="E3E2DA"/>
            </a:solidFill>
            <a:prstDash val="solid"/>
          </a:ln>
        </p:spPr>
      </p:sp>
      <p:sp>
        <p:nvSpPr>
          <p:cNvPr id="297" name="Shape 295"/>
          <p:cNvSpPr/>
          <p:nvPr/>
        </p:nvSpPr>
        <p:spPr>
          <a:xfrm>
            <a:off x="6671564" y="2625435"/>
            <a:ext cx="60279" cy="60279"/>
          </a:xfrm>
          <a:prstGeom prst="rect">
            <a:avLst/>
          </a:prstGeom>
          <a:solidFill>
            <a:srgbClr val="E3E2DA"/>
          </a:solidFill>
          <a:ln w="12700">
            <a:solidFill>
              <a:srgbClr val="E3E2DA"/>
            </a:solidFill>
            <a:prstDash val="solid"/>
          </a:ln>
        </p:spPr>
      </p:sp>
      <p:sp>
        <p:nvSpPr>
          <p:cNvPr id="298" name="Shape 296"/>
          <p:cNvSpPr/>
          <p:nvPr/>
        </p:nvSpPr>
        <p:spPr>
          <a:xfrm>
            <a:off x="6740282" y="2625435"/>
            <a:ext cx="60279" cy="60279"/>
          </a:xfrm>
          <a:prstGeom prst="rect">
            <a:avLst/>
          </a:prstGeom>
          <a:solidFill>
            <a:srgbClr val="E3E2DA"/>
          </a:solidFill>
          <a:ln w="12700">
            <a:solidFill>
              <a:srgbClr val="E3E2DA"/>
            </a:solidFill>
            <a:prstDash val="solid"/>
          </a:ln>
        </p:spPr>
      </p:sp>
      <p:sp>
        <p:nvSpPr>
          <p:cNvPr id="299" name="Shape 297"/>
          <p:cNvSpPr/>
          <p:nvPr/>
        </p:nvSpPr>
        <p:spPr>
          <a:xfrm>
            <a:off x="6809001" y="2625435"/>
            <a:ext cx="60279" cy="60279"/>
          </a:xfrm>
          <a:prstGeom prst="rect">
            <a:avLst/>
          </a:prstGeom>
          <a:solidFill>
            <a:srgbClr val="E3E2DA"/>
          </a:solidFill>
          <a:ln w="12700">
            <a:solidFill>
              <a:srgbClr val="E3E2DA"/>
            </a:solidFill>
            <a:prstDash val="solid"/>
          </a:ln>
        </p:spPr>
      </p:sp>
      <p:sp>
        <p:nvSpPr>
          <p:cNvPr id="300" name="Shape 298"/>
          <p:cNvSpPr/>
          <p:nvPr/>
        </p:nvSpPr>
        <p:spPr>
          <a:xfrm>
            <a:off x="6877719" y="2625435"/>
            <a:ext cx="60279" cy="60279"/>
          </a:xfrm>
          <a:prstGeom prst="rect">
            <a:avLst/>
          </a:prstGeom>
          <a:solidFill>
            <a:srgbClr val="E3E2DA"/>
          </a:solidFill>
          <a:ln w="12700">
            <a:solidFill>
              <a:srgbClr val="E3E2DA"/>
            </a:solidFill>
            <a:prstDash val="solid"/>
          </a:ln>
        </p:spPr>
      </p:sp>
      <p:sp>
        <p:nvSpPr>
          <p:cNvPr id="301" name="Shape 299"/>
          <p:cNvSpPr/>
          <p:nvPr/>
        </p:nvSpPr>
        <p:spPr>
          <a:xfrm>
            <a:off x="6946438" y="2625435"/>
            <a:ext cx="60279" cy="60279"/>
          </a:xfrm>
          <a:prstGeom prst="rect">
            <a:avLst/>
          </a:prstGeom>
          <a:solidFill>
            <a:srgbClr val="E3E2DA"/>
          </a:solidFill>
          <a:ln w="12700">
            <a:solidFill>
              <a:srgbClr val="E3E2DA"/>
            </a:solidFill>
            <a:prstDash val="solid"/>
          </a:ln>
        </p:spPr>
      </p:sp>
      <p:sp>
        <p:nvSpPr>
          <p:cNvPr id="302" name="Shape 300"/>
          <p:cNvSpPr/>
          <p:nvPr/>
        </p:nvSpPr>
        <p:spPr>
          <a:xfrm>
            <a:off x="7015156" y="2625435"/>
            <a:ext cx="60279" cy="60279"/>
          </a:xfrm>
          <a:prstGeom prst="rect">
            <a:avLst/>
          </a:prstGeom>
          <a:solidFill>
            <a:srgbClr val="E3E2DA"/>
          </a:solidFill>
          <a:ln w="12700">
            <a:solidFill>
              <a:srgbClr val="E3E2DA"/>
            </a:solidFill>
            <a:prstDash val="solid"/>
          </a:ln>
        </p:spPr>
      </p:sp>
      <p:sp>
        <p:nvSpPr>
          <p:cNvPr id="303" name="Shape 301"/>
          <p:cNvSpPr/>
          <p:nvPr/>
        </p:nvSpPr>
        <p:spPr>
          <a:xfrm>
            <a:off x="7083874" y="2625435"/>
            <a:ext cx="60279" cy="60279"/>
          </a:xfrm>
          <a:prstGeom prst="rect">
            <a:avLst/>
          </a:prstGeom>
          <a:solidFill>
            <a:srgbClr val="E3E2DA"/>
          </a:solidFill>
          <a:ln w="12700">
            <a:solidFill>
              <a:srgbClr val="E3E2DA"/>
            </a:solidFill>
            <a:prstDash val="solid"/>
          </a:ln>
        </p:spPr>
      </p:sp>
      <p:sp>
        <p:nvSpPr>
          <p:cNvPr id="304" name="Shape 302"/>
          <p:cNvSpPr/>
          <p:nvPr/>
        </p:nvSpPr>
        <p:spPr>
          <a:xfrm>
            <a:off x="7152593" y="2625435"/>
            <a:ext cx="60279" cy="60279"/>
          </a:xfrm>
          <a:prstGeom prst="rect">
            <a:avLst/>
          </a:prstGeom>
          <a:solidFill>
            <a:srgbClr val="E3E2DA"/>
          </a:solidFill>
          <a:ln w="12700">
            <a:solidFill>
              <a:srgbClr val="E3E2DA"/>
            </a:solidFill>
            <a:prstDash val="solid"/>
          </a:ln>
        </p:spPr>
      </p:sp>
      <p:sp>
        <p:nvSpPr>
          <p:cNvPr id="305" name="Shape 303"/>
          <p:cNvSpPr/>
          <p:nvPr/>
        </p:nvSpPr>
        <p:spPr>
          <a:xfrm>
            <a:off x="7221311" y="2625435"/>
            <a:ext cx="60279" cy="60279"/>
          </a:xfrm>
          <a:prstGeom prst="rect">
            <a:avLst/>
          </a:prstGeom>
          <a:solidFill>
            <a:srgbClr val="E3E2DA"/>
          </a:solidFill>
          <a:ln w="12700">
            <a:solidFill>
              <a:srgbClr val="E3E2DA"/>
            </a:solidFill>
            <a:prstDash val="solid"/>
          </a:ln>
        </p:spPr>
      </p:sp>
      <p:sp>
        <p:nvSpPr>
          <p:cNvPr id="306" name="Shape 304"/>
          <p:cNvSpPr/>
          <p:nvPr/>
        </p:nvSpPr>
        <p:spPr>
          <a:xfrm>
            <a:off x="7290029" y="2625435"/>
            <a:ext cx="60279" cy="60279"/>
          </a:xfrm>
          <a:prstGeom prst="rect">
            <a:avLst/>
          </a:prstGeom>
          <a:solidFill>
            <a:srgbClr val="E3E2DA"/>
          </a:solidFill>
          <a:ln w="12700">
            <a:solidFill>
              <a:srgbClr val="E3E2DA"/>
            </a:solidFill>
            <a:prstDash val="solid"/>
          </a:ln>
        </p:spPr>
      </p:sp>
      <p:sp>
        <p:nvSpPr>
          <p:cNvPr id="307" name="Shape 305"/>
          <p:cNvSpPr/>
          <p:nvPr/>
        </p:nvSpPr>
        <p:spPr>
          <a:xfrm>
            <a:off x="6671564" y="2694153"/>
            <a:ext cx="60279" cy="60279"/>
          </a:xfrm>
          <a:prstGeom prst="rect">
            <a:avLst/>
          </a:prstGeom>
          <a:solidFill>
            <a:srgbClr val="E3E2DA"/>
          </a:solidFill>
          <a:ln w="12700">
            <a:solidFill>
              <a:srgbClr val="E3E2DA"/>
            </a:solidFill>
            <a:prstDash val="solid"/>
          </a:ln>
        </p:spPr>
      </p:sp>
      <p:sp>
        <p:nvSpPr>
          <p:cNvPr id="308" name="Shape 306"/>
          <p:cNvSpPr/>
          <p:nvPr/>
        </p:nvSpPr>
        <p:spPr>
          <a:xfrm>
            <a:off x="6740282" y="2694153"/>
            <a:ext cx="60279" cy="60279"/>
          </a:xfrm>
          <a:prstGeom prst="rect">
            <a:avLst/>
          </a:prstGeom>
          <a:solidFill>
            <a:srgbClr val="E3E2DA"/>
          </a:solidFill>
          <a:ln w="12700">
            <a:solidFill>
              <a:srgbClr val="E3E2DA"/>
            </a:solidFill>
            <a:prstDash val="solid"/>
          </a:ln>
        </p:spPr>
      </p:sp>
      <p:sp>
        <p:nvSpPr>
          <p:cNvPr id="309" name="Shape 307"/>
          <p:cNvSpPr/>
          <p:nvPr/>
        </p:nvSpPr>
        <p:spPr>
          <a:xfrm>
            <a:off x="6809001" y="2694153"/>
            <a:ext cx="60279" cy="60279"/>
          </a:xfrm>
          <a:prstGeom prst="rect">
            <a:avLst/>
          </a:prstGeom>
          <a:solidFill>
            <a:srgbClr val="E3E2DA"/>
          </a:solidFill>
          <a:ln w="12700">
            <a:solidFill>
              <a:srgbClr val="E3E2DA"/>
            </a:solidFill>
            <a:prstDash val="solid"/>
          </a:ln>
        </p:spPr>
      </p:sp>
      <p:sp>
        <p:nvSpPr>
          <p:cNvPr id="310" name="Shape 308"/>
          <p:cNvSpPr/>
          <p:nvPr/>
        </p:nvSpPr>
        <p:spPr>
          <a:xfrm>
            <a:off x="6877719" y="2694153"/>
            <a:ext cx="60279" cy="60279"/>
          </a:xfrm>
          <a:prstGeom prst="rect">
            <a:avLst/>
          </a:prstGeom>
          <a:solidFill>
            <a:srgbClr val="E3E2DA"/>
          </a:solidFill>
          <a:ln w="12700">
            <a:solidFill>
              <a:srgbClr val="E3E2DA"/>
            </a:solidFill>
            <a:prstDash val="solid"/>
          </a:ln>
        </p:spPr>
      </p:sp>
      <p:sp>
        <p:nvSpPr>
          <p:cNvPr id="311" name="Shape 309"/>
          <p:cNvSpPr/>
          <p:nvPr/>
        </p:nvSpPr>
        <p:spPr>
          <a:xfrm>
            <a:off x="6946438" y="2694153"/>
            <a:ext cx="60279" cy="60279"/>
          </a:xfrm>
          <a:prstGeom prst="rect">
            <a:avLst/>
          </a:prstGeom>
          <a:solidFill>
            <a:srgbClr val="E3E2DA"/>
          </a:solidFill>
          <a:ln w="12700">
            <a:solidFill>
              <a:srgbClr val="E3E2DA"/>
            </a:solidFill>
            <a:prstDash val="solid"/>
          </a:ln>
        </p:spPr>
      </p:sp>
      <p:sp>
        <p:nvSpPr>
          <p:cNvPr id="312" name="Shape 310"/>
          <p:cNvSpPr/>
          <p:nvPr/>
        </p:nvSpPr>
        <p:spPr>
          <a:xfrm>
            <a:off x="7015156" y="2694153"/>
            <a:ext cx="60279" cy="60279"/>
          </a:xfrm>
          <a:prstGeom prst="rect">
            <a:avLst/>
          </a:prstGeom>
          <a:solidFill>
            <a:srgbClr val="E3E2DA"/>
          </a:solidFill>
          <a:ln w="12700">
            <a:solidFill>
              <a:srgbClr val="E3E2DA"/>
            </a:solidFill>
            <a:prstDash val="solid"/>
          </a:ln>
        </p:spPr>
      </p:sp>
      <p:sp>
        <p:nvSpPr>
          <p:cNvPr id="313" name="Shape 311"/>
          <p:cNvSpPr/>
          <p:nvPr/>
        </p:nvSpPr>
        <p:spPr>
          <a:xfrm>
            <a:off x="7083874" y="2694153"/>
            <a:ext cx="60279" cy="60279"/>
          </a:xfrm>
          <a:prstGeom prst="rect">
            <a:avLst/>
          </a:prstGeom>
          <a:solidFill>
            <a:srgbClr val="E3E2DA"/>
          </a:solidFill>
          <a:ln w="12700">
            <a:solidFill>
              <a:srgbClr val="E3E2DA"/>
            </a:solidFill>
            <a:prstDash val="solid"/>
          </a:ln>
        </p:spPr>
      </p:sp>
      <p:sp>
        <p:nvSpPr>
          <p:cNvPr id="314" name="Shape 312"/>
          <p:cNvSpPr/>
          <p:nvPr/>
        </p:nvSpPr>
        <p:spPr>
          <a:xfrm>
            <a:off x="7152593" y="2694153"/>
            <a:ext cx="60279" cy="60279"/>
          </a:xfrm>
          <a:prstGeom prst="rect">
            <a:avLst/>
          </a:prstGeom>
          <a:solidFill>
            <a:srgbClr val="E3E2DA"/>
          </a:solidFill>
          <a:ln w="12700">
            <a:solidFill>
              <a:srgbClr val="E3E2DA"/>
            </a:solidFill>
            <a:prstDash val="solid"/>
          </a:ln>
        </p:spPr>
      </p:sp>
      <p:sp>
        <p:nvSpPr>
          <p:cNvPr id="315" name="Shape 313"/>
          <p:cNvSpPr/>
          <p:nvPr/>
        </p:nvSpPr>
        <p:spPr>
          <a:xfrm>
            <a:off x="7221311" y="2694153"/>
            <a:ext cx="60279" cy="60279"/>
          </a:xfrm>
          <a:prstGeom prst="rect">
            <a:avLst/>
          </a:prstGeom>
          <a:solidFill>
            <a:srgbClr val="E3E2DA"/>
          </a:solidFill>
          <a:ln w="12700">
            <a:solidFill>
              <a:srgbClr val="E3E2DA"/>
            </a:solidFill>
            <a:prstDash val="solid"/>
          </a:ln>
        </p:spPr>
      </p:sp>
      <p:sp>
        <p:nvSpPr>
          <p:cNvPr id="316" name="Shape 314"/>
          <p:cNvSpPr/>
          <p:nvPr/>
        </p:nvSpPr>
        <p:spPr>
          <a:xfrm>
            <a:off x="7290029" y="2694153"/>
            <a:ext cx="60279" cy="60279"/>
          </a:xfrm>
          <a:prstGeom prst="rect">
            <a:avLst/>
          </a:prstGeom>
          <a:solidFill>
            <a:srgbClr val="E3E2DA"/>
          </a:solidFill>
          <a:ln w="12700">
            <a:solidFill>
              <a:srgbClr val="E3E2DA"/>
            </a:solidFill>
            <a:prstDash val="solid"/>
          </a:ln>
        </p:spPr>
      </p:sp>
      <p:sp>
        <p:nvSpPr>
          <p:cNvPr id="317" name="Text 315"/>
          <p:cNvSpPr txBox="1"/>
          <p:nvPr/>
        </p:nvSpPr>
        <p:spPr>
          <a:xfrm>
            <a:off x="6671564"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37.0%</a:t>
            </a:r>
            <a:endParaRPr lang="en-US" sz="2000" dirty="0"/>
          </a:p>
        </p:txBody>
      </p:sp>
      <p:sp>
        <p:nvSpPr>
          <p:cNvPr id="318" name="Text 316"/>
          <p:cNvSpPr txBox="1"/>
          <p:nvPr/>
        </p:nvSpPr>
        <p:spPr>
          <a:xfrm>
            <a:off x="6671564"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traveled with children (37 of every 100)</a:t>
            </a:r>
            <a:endParaRPr lang="en-US" sz="1000" dirty="0"/>
          </a:p>
        </p:txBody>
      </p:sp>
      <p:sp>
        <p:nvSpPr>
          <p:cNvPr id="319" name="Text 317"/>
          <p:cNvSpPr txBox="1"/>
          <p:nvPr/>
        </p:nvSpPr>
        <p:spPr>
          <a:xfrm>
            <a:off x="8188757"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Orange County hotels fill most in July</a:t>
            </a:r>
            <a:endParaRPr lang="en-US" sz="1500" dirty="0"/>
          </a:p>
        </p:txBody>
      </p:sp>
      <p:sp>
        <p:nvSpPr>
          <p:cNvPr id="320" name="Text 318"/>
          <p:cNvSpPr txBox="1"/>
          <p:nvPr/>
        </p:nvSpPr>
        <p:spPr>
          <a:xfrm>
            <a:off x="8188757"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occupancy by month, 2023-2025 average · July highlighted</a:t>
            </a:r>
            <a:endParaRPr lang="en-US" sz="950" dirty="0"/>
          </a:p>
        </p:txBody>
      </p:sp>
      <p:sp>
        <p:nvSpPr>
          <p:cNvPr id="321" name="Shape 319"/>
          <p:cNvSpPr/>
          <p:nvPr/>
        </p:nvSpPr>
        <p:spPr>
          <a:xfrm>
            <a:off x="8231936" y="2075688"/>
            <a:ext cx="201501" cy="2194560"/>
          </a:xfrm>
          <a:prstGeom prst="rect">
            <a:avLst/>
          </a:prstGeom>
          <a:solidFill>
            <a:srgbClr val="F9F9F2"/>
          </a:solidFill>
          <a:ln w="12700">
            <a:solidFill>
              <a:srgbClr val="B4D9E3"/>
            </a:solidFill>
            <a:prstDash val="solid"/>
          </a:ln>
        </p:spPr>
      </p:sp>
      <p:sp>
        <p:nvSpPr>
          <p:cNvPr id="322" name="Shape 320"/>
          <p:cNvSpPr/>
          <p:nvPr/>
        </p:nvSpPr>
        <p:spPr>
          <a:xfrm>
            <a:off x="8231936" y="2927177"/>
            <a:ext cx="201501" cy="1343071"/>
          </a:xfrm>
          <a:prstGeom prst="rect">
            <a:avLst/>
          </a:prstGeom>
          <a:solidFill>
            <a:srgbClr val="B4D9E3"/>
          </a:solidFill>
          <a:ln w="12700">
            <a:solidFill>
              <a:srgbClr val="B4D9E3"/>
            </a:solidFill>
            <a:prstDash val="solid"/>
          </a:ln>
        </p:spPr>
      </p:sp>
      <p:sp>
        <p:nvSpPr>
          <p:cNvPr id="323" name="Text 321"/>
          <p:cNvSpPr txBox="1"/>
          <p:nvPr/>
        </p:nvSpPr>
        <p:spPr>
          <a:xfrm>
            <a:off x="8188757"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61.2%</a:t>
            </a:r>
            <a:endParaRPr lang="en-US" sz="650" dirty="0"/>
          </a:p>
        </p:txBody>
      </p:sp>
      <p:sp>
        <p:nvSpPr>
          <p:cNvPr id="324" name="Text 322"/>
          <p:cNvSpPr txBox="1"/>
          <p:nvPr/>
        </p:nvSpPr>
        <p:spPr>
          <a:xfrm>
            <a:off x="8188757"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JAN</a:t>
            </a:r>
            <a:endParaRPr lang="en-US" sz="650" dirty="0"/>
          </a:p>
        </p:txBody>
      </p:sp>
      <p:sp>
        <p:nvSpPr>
          <p:cNvPr id="325" name="Shape 323"/>
          <p:cNvSpPr/>
          <p:nvPr/>
        </p:nvSpPr>
        <p:spPr>
          <a:xfrm>
            <a:off x="8519794" y="2075688"/>
            <a:ext cx="201501" cy="2194560"/>
          </a:xfrm>
          <a:prstGeom prst="rect">
            <a:avLst/>
          </a:prstGeom>
          <a:solidFill>
            <a:srgbClr val="F9F9F2"/>
          </a:solidFill>
          <a:ln w="12700">
            <a:solidFill>
              <a:srgbClr val="B4D9E3"/>
            </a:solidFill>
            <a:prstDash val="solid"/>
          </a:ln>
        </p:spPr>
      </p:sp>
      <p:sp>
        <p:nvSpPr>
          <p:cNvPr id="326" name="Shape 324"/>
          <p:cNvSpPr/>
          <p:nvPr/>
        </p:nvSpPr>
        <p:spPr>
          <a:xfrm>
            <a:off x="8519794" y="2756002"/>
            <a:ext cx="201501" cy="1514246"/>
          </a:xfrm>
          <a:prstGeom prst="rect">
            <a:avLst/>
          </a:prstGeom>
          <a:solidFill>
            <a:srgbClr val="B4D9E3"/>
          </a:solidFill>
          <a:ln w="12700">
            <a:solidFill>
              <a:srgbClr val="B4D9E3"/>
            </a:solidFill>
            <a:prstDash val="solid"/>
          </a:ln>
        </p:spPr>
      </p:sp>
      <p:sp>
        <p:nvSpPr>
          <p:cNvPr id="327" name="Text 325"/>
          <p:cNvSpPr txBox="1"/>
          <p:nvPr/>
        </p:nvSpPr>
        <p:spPr>
          <a:xfrm>
            <a:off x="8476615"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69%</a:t>
            </a:r>
            <a:endParaRPr lang="en-US" sz="650" dirty="0"/>
          </a:p>
        </p:txBody>
      </p:sp>
      <p:sp>
        <p:nvSpPr>
          <p:cNvPr id="328" name="Text 326"/>
          <p:cNvSpPr txBox="1"/>
          <p:nvPr/>
        </p:nvSpPr>
        <p:spPr>
          <a:xfrm>
            <a:off x="8476615"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FEB</a:t>
            </a:r>
            <a:endParaRPr lang="en-US" sz="650" dirty="0"/>
          </a:p>
        </p:txBody>
      </p:sp>
      <p:sp>
        <p:nvSpPr>
          <p:cNvPr id="329" name="Shape 327"/>
          <p:cNvSpPr/>
          <p:nvPr/>
        </p:nvSpPr>
        <p:spPr>
          <a:xfrm>
            <a:off x="8807652" y="2075688"/>
            <a:ext cx="201501" cy="2194560"/>
          </a:xfrm>
          <a:prstGeom prst="rect">
            <a:avLst/>
          </a:prstGeom>
          <a:solidFill>
            <a:srgbClr val="F9F9F2"/>
          </a:solidFill>
          <a:ln w="12700">
            <a:solidFill>
              <a:srgbClr val="B4D9E3"/>
            </a:solidFill>
            <a:prstDash val="solid"/>
          </a:ln>
        </p:spPr>
      </p:sp>
      <p:sp>
        <p:nvSpPr>
          <p:cNvPr id="330" name="Shape 328"/>
          <p:cNvSpPr/>
          <p:nvPr/>
        </p:nvSpPr>
        <p:spPr>
          <a:xfrm>
            <a:off x="8807652" y="2648468"/>
            <a:ext cx="201501" cy="1621780"/>
          </a:xfrm>
          <a:prstGeom prst="rect">
            <a:avLst/>
          </a:prstGeom>
          <a:solidFill>
            <a:srgbClr val="B4D9E3"/>
          </a:solidFill>
          <a:ln w="12700">
            <a:solidFill>
              <a:srgbClr val="B4D9E3"/>
            </a:solidFill>
            <a:prstDash val="solid"/>
          </a:ln>
        </p:spPr>
      </p:sp>
      <p:sp>
        <p:nvSpPr>
          <p:cNvPr id="331" name="Text 329"/>
          <p:cNvSpPr txBox="1"/>
          <p:nvPr/>
        </p:nvSpPr>
        <p:spPr>
          <a:xfrm>
            <a:off x="8764473"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73.9%</a:t>
            </a:r>
            <a:endParaRPr lang="en-US" sz="650" dirty="0"/>
          </a:p>
        </p:txBody>
      </p:sp>
      <p:sp>
        <p:nvSpPr>
          <p:cNvPr id="332" name="Text 330"/>
          <p:cNvSpPr txBox="1"/>
          <p:nvPr/>
        </p:nvSpPr>
        <p:spPr>
          <a:xfrm>
            <a:off x="8764473"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MAR</a:t>
            </a:r>
            <a:endParaRPr lang="en-US" sz="650" dirty="0"/>
          </a:p>
        </p:txBody>
      </p:sp>
      <p:sp>
        <p:nvSpPr>
          <p:cNvPr id="333" name="Shape 331"/>
          <p:cNvSpPr/>
          <p:nvPr/>
        </p:nvSpPr>
        <p:spPr>
          <a:xfrm>
            <a:off x="9095510" y="2075688"/>
            <a:ext cx="201501" cy="2194560"/>
          </a:xfrm>
          <a:prstGeom prst="rect">
            <a:avLst/>
          </a:prstGeom>
          <a:solidFill>
            <a:srgbClr val="F9F9F2"/>
          </a:solidFill>
          <a:ln w="12700">
            <a:solidFill>
              <a:srgbClr val="B4D9E3"/>
            </a:solidFill>
            <a:prstDash val="solid"/>
          </a:ln>
        </p:spPr>
      </p:sp>
      <p:sp>
        <p:nvSpPr>
          <p:cNvPr id="334" name="Shape 332"/>
          <p:cNvSpPr/>
          <p:nvPr/>
        </p:nvSpPr>
        <p:spPr>
          <a:xfrm>
            <a:off x="9095510" y="2701138"/>
            <a:ext cx="201501" cy="1569110"/>
          </a:xfrm>
          <a:prstGeom prst="rect">
            <a:avLst/>
          </a:prstGeom>
          <a:solidFill>
            <a:srgbClr val="B4D9E3"/>
          </a:solidFill>
          <a:ln w="12700">
            <a:solidFill>
              <a:srgbClr val="B4D9E3"/>
            </a:solidFill>
            <a:prstDash val="solid"/>
          </a:ln>
        </p:spPr>
      </p:sp>
      <p:sp>
        <p:nvSpPr>
          <p:cNvPr id="335" name="Text 333"/>
          <p:cNvSpPr txBox="1"/>
          <p:nvPr/>
        </p:nvSpPr>
        <p:spPr>
          <a:xfrm>
            <a:off x="9052331"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71.5%</a:t>
            </a:r>
            <a:endParaRPr lang="en-US" sz="650" dirty="0"/>
          </a:p>
        </p:txBody>
      </p:sp>
      <p:sp>
        <p:nvSpPr>
          <p:cNvPr id="336" name="Text 334"/>
          <p:cNvSpPr txBox="1"/>
          <p:nvPr/>
        </p:nvSpPr>
        <p:spPr>
          <a:xfrm>
            <a:off x="9052331"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APR</a:t>
            </a:r>
            <a:endParaRPr lang="en-US" sz="650" dirty="0"/>
          </a:p>
        </p:txBody>
      </p:sp>
      <p:sp>
        <p:nvSpPr>
          <p:cNvPr id="337" name="Shape 335"/>
          <p:cNvSpPr/>
          <p:nvPr/>
        </p:nvSpPr>
        <p:spPr>
          <a:xfrm>
            <a:off x="9383368" y="2075688"/>
            <a:ext cx="201501" cy="2194560"/>
          </a:xfrm>
          <a:prstGeom prst="rect">
            <a:avLst/>
          </a:prstGeom>
          <a:solidFill>
            <a:srgbClr val="F9F9F2"/>
          </a:solidFill>
          <a:ln w="12700">
            <a:solidFill>
              <a:srgbClr val="B4D9E3"/>
            </a:solidFill>
            <a:prstDash val="solid"/>
          </a:ln>
        </p:spPr>
      </p:sp>
      <p:sp>
        <p:nvSpPr>
          <p:cNvPr id="338" name="Shape 336"/>
          <p:cNvSpPr/>
          <p:nvPr/>
        </p:nvSpPr>
        <p:spPr>
          <a:xfrm>
            <a:off x="9383368" y="2731861"/>
            <a:ext cx="201501" cy="1538387"/>
          </a:xfrm>
          <a:prstGeom prst="rect">
            <a:avLst/>
          </a:prstGeom>
          <a:solidFill>
            <a:srgbClr val="B4D9E3"/>
          </a:solidFill>
          <a:ln w="12700">
            <a:solidFill>
              <a:srgbClr val="B4D9E3"/>
            </a:solidFill>
            <a:prstDash val="solid"/>
          </a:ln>
        </p:spPr>
      </p:sp>
      <p:sp>
        <p:nvSpPr>
          <p:cNvPr id="339" name="Text 337"/>
          <p:cNvSpPr txBox="1"/>
          <p:nvPr/>
        </p:nvSpPr>
        <p:spPr>
          <a:xfrm>
            <a:off x="9340190"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70.1%</a:t>
            </a:r>
            <a:endParaRPr lang="en-US" sz="650" dirty="0"/>
          </a:p>
        </p:txBody>
      </p:sp>
      <p:sp>
        <p:nvSpPr>
          <p:cNvPr id="340" name="Text 338"/>
          <p:cNvSpPr txBox="1"/>
          <p:nvPr/>
        </p:nvSpPr>
        <p:spPr>
          <a:xfrm>
            <a:off x="9340190"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MAY</a:t>
            </a:r>
            <a:endParaRPr lang="en-US" sz="650" dirty="0"/>
          </a:p>
        </p:txBody>
      </p:sp>
      <p:sp>
        <p:nvSpPr>
          <p:cNvPr id="341" name="Shape 339"/>
          <p:cNvSpPr/>
          <p:nvPr/>
        </p:nvSpPr>
        <p:spPr>
          <a:xfrm>
            <a:off x="9671227" y="2075688"/>
            <a:ext cx="201501" cy="2194560"/>
          </a:xfrm>
          <a:prstGeom prst="rect">
            <a:avLst/>
          </a:prstGeom>
          <a:solidFill>
            <a:srgbClr val="F9F9F2"/>
          </a:solidFill>
          <a:ln w="12700">
            <a:solidFill>
              <a:srgbClr val="B4D9E3"/>
            </a:solidFill>
            <a:prstDash val="solid"/>
          </a:ln>
        </p:spPr>
      </p:sp>
      <p:sp>
        <p:nvSpPr>
          <p:cNvPr id="342" name="Shape 340"/>
          <p:cNvSpPr/>
          <p:nvPr/>
        </p:nvSpPr>
        <p:spPr>
          <a:xfrm>
            <a:off x="9671227" y="2593604"/>
            <a:ext cx="201501" cy="1676644"/>
          </a:xfrm>
          <a:prstGeom prst="rect">
            <a:avLst/>
          </a:prstGeom>
          <a:solidFill>
            <a:srgbClr val="B4D9E3"/>
          </a:solidFill>
          <a:ln w="12700">
            <a:solidFill>
              <a:srgbClr val="B4D9E3"/>
            </a:solidFill>
            <a:prstDash val="solid"/>
          </a:ln>
        </p:spPr>
      </p:sp>
      <p:sp>
        <p:nvSpPr>
          <p:cNvPr id="343" name="Text 341"/>
          <p:cNvSpPr txBox="1"/>
          <p:nvPr/>
        </p:nvSpPr>
        <p:spPr>
          <a:xfrm>
            <a:off x="9628048"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76.4%</a:t>
            </a:r>
            <a:endParaRPr lang="en-US" sz="650" dirty="0"/>
          </a:p>
        </p:txBody>
      </p:sp>
      <p:sp>
        <p:nvSpPr>
          <p:cNvPr id="344" name="Text 342"/>
          <p:cNvSpPr txBox="1"/>
          <p:nvPr/>
        </p:nvSpPr>
        <p:spPr>
          <a:xfrm>
            <a:off x="9628048"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JUN</a:t>
            </a:r>
            <a:endParaRPr lang="en-US" sz="650" dirty="0"/>
          </a:p>
        </p:txBody>
      </p:sp>
      <p:sp>
        <p:nvSpPr>
          <p:cNvPr id="345" name="Shape 343"/>
          <p:cNvSpPr/>
          <p:nvPr/>
        </p:nvSpPr>
        <p:spPr>
          <a:xfrm>
            <a:off x="9959085" y="2075688"/>
            <a:ext cx="201501" cy="2194560"/>
          </a:xfrm>
          <a:prstGeom prst="rect">
            <a:avLst/>
          </a:prstGeom>
          <a:solidFill>
            <a:srgbClr val="F9F9F2"/>
          </a:solidFill>
          <a:ln w="12700">
            <a:solidFill>
              <a:srgbClr val="B4D9E3"/>
            </a:solidFill>
            <a:prstDash val="solid"/>
          </a:ln>
        </p:spPr>
      </p:sp>
      <p:sp>
        <p:nvSpPr>
          <p:cNvPr id="346" name="Shape 344"/>
          <p:cNvSpPr/>
          <p:nvPr/>
        </p:nvSpPr>
        <p:spPr>
          <a:xfrm>
            <a:off x="9959085" y="2501433"/>
            <a:ext cx="201501" cy="1768815"/>
          </a:xfrm>
          <a:prstGeom prst="rect">
            <a:avLst/>
          </a:prstGeom>
          <a:solidFill>
            <a:srgbClr val="43A3A3"/>
          </a:solidFill>
          <a:ln w="12700">
            <a:solidFill>
              <a:srgbClr val="43A3A3"/>
            </a:solidFill>
            <a:prstDash val="solid"/>
          </a:ln>
        </p:spPr>
      </p:sp>
      <p:sp>
        <p:nvSpPr>
          <p:cNvPr id="347" name="Text 345"/>
          <p:cNvSpPr txBox="1"/>
          <p:nvPr/>
        </p:nvSpPr>
        <p:spPr>
          <a:xfrm>
            <a:off x="9915906"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80.6%</a:t>
            </a:r>
            <a:endParaRPr lang="en-US" sz="650" dirty="0"/>
          </a:p>
        </p:txBody>
      </p:sp>
      <p:sp>
        <p:nvSpPr>
          <p:cNvPr id="348" name="Text 346"/>
          <p:cNvSpPr txBox="1"/>
          <p:nvPr/>
        </p:nvSpPr>
        <p:spPr>
          <a:xfrm>
            <a:off x="9915906"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JUL</a:t>
            </a:r>
            <a:endParaRPr lang="en-US" sz="650" dirty="0"/>
          </a:p>
        </p:txBody>
      </p:sp>
      <p:sp>
        <p:nvSpPr>
          <p:cNvPr id="349" name="Shape 347"/>
          <p:cNvSpPr/>
          <p:nvPr/>
        </p:nvSpPr>
        <p:spPr>
          <a:xfrm>
            <a:off x="10246943" y="2075688"/>
            <a:ext cx="201501" cy="2194560"/>
          </a:xfrm>
          <a:prstGeom prst="rect">
            <a:avLst/>
          </a:prstGeom>
          <a:solidFill>
            <a:srgbClr val="F9F9F2"/>
          </a:solidFill>
          <a:ln w="12700">
            <a:solidFill>
              <a:srgbClr val="B4D9E3"/>
            </a:solidFill>
            <a:prstDash val="solid"/>
          </a:ln>
        </p:spPr>
      </p:sp>
      <p:sp>
        <p:nvSpPr>
          <p:cNvPr id="350" name="Shape 348"/>
          <p:cNvSpPr/>
          <p:nvPr/>
        </p:nvSpPr>
        <p:spPr>
          <a:xfrm>
            <a:off x="10246943" y="2666025"/>
            <a:ext cx="201501" cy="1604223"/>
          </a:xfrm>
          <a:prstGeom prst="rect">
            <a:avLst/>
          </a:prstGeom>
          <a:solidFill>
            <a:srgbClr val="B4D9E3"/>
          </a:solidFill>
          <a:ln w="12700">
            <a:solidFill>
              <a:srgbClr val="B4D9E3"/>
            </a:solidFill>
            <a:prstDash val="solid"/>
          </a:ln>
        </p:spPr>
      </p:sp>
      <p:sp>
        <p:nvSpPr>
          <p:cNvPr id="351" name="Text 349"/>
          <p:cNvSpPr txBox="1"/>
          <p:nvPr/>
        </p:nvSpPr>
        <p:spPr>
          <a:xfrm>
            <a:off x="10203764"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73.1%</a:t>
            </a:r>
            <a:endParaRPr lang="en-US" sz="650" dirty="0"/>
          </a:p>
        </p:txBody>
      </p:sp>
      <p:sp>
        <p:nvSpPr>
          <p:cNvPr id="352" name="Text 350"/>
          <p:cNvSpPr txBox="1"/>
          <p:nvPr/>
        </p:nvSpPr>
        <p:spPr>
          <a:xfrm>
            <a:off x="10203764"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AUG</a:t>
            </a:r>
            <a:endParaRPr lang="en-US" sz="650" dirty="0"/>
          </a:p>
        </p:txBody>
      </p:sp>
      <p:sp>
        <p:nvSpPr>
          <p:cNvPr id="353" name="Shape 351"/>
          <p:cNvSpPr/>
          <p:nvPr/>
        </p:nvSpPr>
        <p:spPr>
          <a:xfrm>
            <a:off x="10534801" y="2075688"/>
            <a:ext cx="201501" cy="2194560"/>
          </a:xfrm>
          <a:prstGeom prst="rect">
            <a:avLst/>
          </a:prstGeom>
          <a:solidFill>
            <a:srgbClr val="F9F9F2"/>
          </a:solidFill>
          <a:ln w="12700">
            <a:solidFill>
              <a:srgbClr val="B4D9E3"/>
            </a:solidFill>
            <a:prstDash val="solid"/>
          </a:ln>
        </p:spPr>
      </p:sp>
      <p:sp>
        <p:nvSpPr>
          <p:cNvPr id="354" name="Shape 352"/>
          <p:cNvSpPr/>
          <p:nvPr/>
        </p:nvSpPr>
        <p:spPr>
          <a:xfrm>
            <a:off x="10534801" y="2655052"/>
            <a:ext cx="201501" cy="1615196"/>
          </a:xfrm>
          <a:prstGeom prst="rect">
            <a:avLst/>
          </a:prstGeom>
          <a:solidFill>
            <a:srgbClr val="B4D9E3"/>
          </a:solidFill>
          <a:ln w="12700">
            <a:solidFill>
              <a:srgbClr val="B4D9E3"/>
            </a:solidFill>
            <a:prstDash val="solid"/>
          </a:ln>
        </p:spPr>
      </p:sp>
      <p:sp>
        <p:nvSpPr>
          <p:cNvPr id="355" name="Text 353"/>
          <p:cNvSpPr txBox="1"/>
          <p:nvPr/>
        </p:nvSpPr>
        <p:spPr>
          <a:xfrm>
            <a:off x="10491622"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73.6%</a:t>
            </a:r>
            <a:endParaRPr lang="en-US" sz="650" dirty="0"/>
          </a:p>
        </p:txBody>
      </p:sp>
      <p:sp>
        <p:nvSpPr>
          <p:cNvPr id="356" name="Text 354"/>
          <p:cNvSpPr txBox="1"/>
          <p:nvPr/>
        </p:nvSpPr>
        <p:spPr>
          <a:xfrm>
            <a:off x="10491622"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SEP</a:t>
            </a:r>
            <a:endParaRPr lang="en-US" sz="650" dirty="0"/>
          </a:p>
        </p:txBody>
      </p:sp>
      <p:sp>
        <p:nvSpPr>
          <p:cNvPr id="357" name="Shape 355"/>
          <p:cNvSpPr/>
          <p:nvPr/>
        </p:nvSpPr>
        <p:spPr>
          <a:xfrm>
            <a:off x="10822659" y="2075688"/>
            <a:ext cx="201501" cy="2194560"/>
          </a:xfrm>
          <a:prstGeom prst="rect">
            <a:avLst/>
          </a:prstGeom>
          <a:solidFill>
            <a:srgbClr val="F9F9F2"/>
          </a:solidFill>
          <a:ln w="12700">
            <a:solidFill>
              <a:srgbClr val="B4D9E3"/>
            </a:solidFill>
            <a:prstDash val="solid"/>
          </a:ln>
        </p:spPr>
      </p:sp>
      <p:sp>
        <p:nvSpPr>
          <p:cNvPr id="358" name="Shape 356"/>
          <p:cNvSpPr/>
          <p:nvPr/>
        </p:nvSpPr>
        <p:spPr>
          <a:xfrm>
            <a:off x="10822659" y="2622133"/>
            <a:ext cx="201501" cy="1648115"/>
          </a:xfrm>
          <a:prstGeom prst="rect">
            <a:avLst/>
          </a:prstGeom>
          <a:solidFill>
            <a:srgbClr val="B4D9E3"/>
          </a:solidFill>
          <a:ln w="12700">
            <a:solidFill>
              <a:srgbClr val="B4D9E3"/>
            </a:solidFill>
            <a:prstDash val="solid"/>
          </a:ln>
        </p:spPr>
      </p:sp>
      <p:sp>
        <p:nvSpPr>
          <p:cNvPr id="359" name="Text 357"/>
          <p:cNvSpPr txBox="1"/>
          <p:nvPr/>
        </p:nvSpPr>
        <p:spPr>
          <a:xfrm>
            <a:off x="10779481"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75.1%</a:t>
            </a:r>
            <a:endParaRPr lang="en-US" sz="650" dirty="0"/>
          </a:p>
        </p:txBody>
      </p:sp>
      <p:sp>
        <p:nvSpPr>
          <p:cNvPr id="360" name="Text 358"/>
          <p:cNvSpPr txBox="1"/>
          <p:nvPr/>
        </p:nvSpPr>
        <p:spPr>
          <a:xfrm>
            <a:off x="10779481"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OCT</a:t>
            </a:r>
            <a:endParaRPr lang="en-US" sz="650" dirty="0"/>
          </a:p>
        </p:txBody>
      </p:sp>
      <p:sp>
        <p:nvSpPr>
          <p:cNvPr id="361" name="Shape 359"/>
          <p:cNvSpPr/>
          <p:nvPr/>
        </p:nvSpPr>
        <p:spPr>
          <a:xfrm>
            <a:off x="11110518" y="2075688"/>
            <a:ext cx="201501" cy="2194560"/>
          </a:xfrm>
          <a:prstGeom prst="rect">
            <a:avLst/>
          </a:prstGeom>
          <a:solidFill>
            <a:srgbClr val="F9F9F2"/>
          </a:solidFill>
          <a:ln w="12700">
            <a:solidFill>
              <a:srgbClr val="B4D9E3"/>
            </a:solidFill>
            <a:prstDash val="solid"/>
          </a:ln>
        </p:spPr>
      </p:sp>
      <p:sp>
        <p:nvSpPr>
          <p:cNvPr id="362" name="Shape 360"/>
          <p:cNvSpPr/>
          <p:nvPr/>
        </p:nvSpPr>
        <p:spPr>
          <a:xfrm>
            <a:off x="11110518" y="2751612"/>
            <a:ext cx="201501" cy="1518636"/>
          </a:xfrm>
          <a:prstGeom prst="rect">
            <a:avLst/>
          </a:prstGeom>
          <a:solidFill>
            <a:srgbClr val="B4D9E3"/>
          </a:solidFill>
          <a:ln w="12700">
            <a:solidFill>
              <a:srgbClr val="B4D9E3"/>
            </a:solidFill>
            <a:prstDash val="solid"/>
          </a:ln>
        </p:spPr>
      </p:sp>
      <p:sp>
        <p:nvSpPr>
          <p:cNvPr id="363" name="Text 361"/>
          <p:cNvSpPr txBox="1"/>
          <p:nvPr/>
        </p:nvSpPr>
        <p:spPr>
          <a:xfrm>
            <a:off x="11067339"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69.2%</a:t>
            </a:r>
            <a:endParaRPr lang="en-US" sz="650" dirty="0"/>
          </a:p>
        </p:txBody>
      </p:sp>
      <p:sp>
        <p:nvSpPr>
          <p:cNvPr id="364" name="Text 362"/>
          <p:cNvSpPr txBox="1"/>
          <p:nvPr/>
        </p:nvSpPr>
        <p:spPr>
          <a:xfrm>
            <a:off x="11067339"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NOV</a:t>
            </a:r>
            <a:endParaRPr lang="en-US" sz="650" dirty="0"/>
          </a:p>
        </p:txBody>
      </p:sp>
      <p:sp>
        <p:nvSpPr>
          <p:cNvPr id="365" name="Shape 363"/>
          <p:cNvSpPr/>
          <p:nvPr/>
        </p:nvSpPr>
        <p:spPr>
          <a:xfrm>
            <a:off x="11398376" y="2075688"/>
            <a:ext cx="201501" cy="2194560"/>
          </a:xfrm>
          <a:prstGeom prst="rect">
            <a:avLst/>
          </a:prstGeom>
          <a:solidFill>
            <a:srgbClr val="F9F9F2"/>
          </a:solidFill>
          <a:ln w="12700">
            <a:solidFill>
              <a:srgbClr val="B4D9E3"/>
            </a:solidFill>
            <a:prstDash val="solid"/>
          </a:ln>
        </p:spPr>
      </p:sp>
      <p:sp>
        <p:nvSpPr>
          <p:cNvPr id="366" name="Shape 364"/>
          <p:cNvSpPr/>
          <p:nvPr/>
        </p:nvSpPr>
        <p:spPr>
          <a:xfrm>
            <a:off x="11398376" y="2758196"/>
            <a:ext cx="201501" cy="1512052"/>
          </a:xfrm>
          <a:prstGeom prst="rect">
            <a:avLst/>
          </a:prstGeom>
          <a:solidFill>
            <a:srgbClr val="B4D9E3"/>
          </a:solidFill>
          <a:ln w="12700">
            <a:solidFill>
              <a:srgbClr val="B4D9E3"/>
            </a:solidFill>
            <a:prstDash val="solid"/>
          </a:ln>
        </p:spPr>
      </p:sp>
      <p:sp>
        <p:nvSpPr>
          <p:cNvPr id="367" name="Text 365"/>
          <p:cNvSpPr txBox="1"/>
          <p:nvPr/>
        </p:nvSpPr>
        <p:spPr>
          <a:xfrm>
            <a:off x="11355197"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68.9%</a:t>
            </a:r>
            <a:endParaRPr lang="en-US" sz="650" dirty="0"/>
          </a:p>
        </p:txBody>
      </p:sp>
      <p:sp>
        <p:nvSpPr>
          <p:cNvPr id="368" name="Text 366"/>
          <p:cNvSpPr txBox="1"/>
          <p:nvPr/>
        </p:nvSpPr>
        <p:spPr>
          <a:xfrm>
            <a:off x="11355197"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DEC</a:t>
            </a:r>
            <a:endParaRPr lang="en-US" sz="650" dirty="0"/>
          </a:p>
        </p:txBody>
      </p:sp>
      <p:sp>
        <p:nvSpPr>
          <p:cNvPr id="36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domestic trips to Anaheim and Garden Grove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domestic trips by home metro area, Jan. 1, 2023-Aug. 31, 2026 · circle area shows share · the Los Angeles metro includes Orange County</a:t>
            </a:r>
            <a:endParaRPr lang="en-US" sz="1200" dirty="0"/>
          </a:p>
        </p:txBody>
      </p:sp>
      <p:pic>
        <p:nvPicPr>
          <p:cNvPr id="4" name="Image 0" descr="Where domestic trips to Anaheim and Garden Grove come from: Los Angeles–Long Beach–Anaheim 44.7%, Riverside–San Bernardino–Ontario 26.1%, San Diego–Chula Vista–Carlsbad 4.1%, Phoenix–Mesa–Chandler 2.3%, Las Vegas–Henderson–Paradise 1.9%, San Francisco–Oakland–Berkeley 1.3%">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44.7%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26.1%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4.1%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1.9%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1.3%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Anaheim and Garden Grove, Jan. 1, 2023-Aug. 31, 2026 (pulled Oct. 19,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visitors to Anaheim and Garden Grove, by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Visitors in calendar 2025, thousands · circle area shows visitors</a:t>
            </a:r>
            <a:endParaRPr lang="en-US" sz="1200" dirty="0"/>
          </a:p>
        </p:txBody>
      </p:sp>
      <p:pic>
        <p:nvPicPr>
          <p:cNvPr id="4" name="Image 0" descr="International visitors to Anaheim and Garden Grove, by home country: Mexico 766K, Canada 254K, United Kingdom 123K, Australia 10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766K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254K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123K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five questions and where each is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Sent by Entertainment + Culture Advisors for OCVIBE, Oct. 19, 2026 · every gap paired with a solution</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60"/>
                <a:gridCol w="2743200"/>
                <a:gridCol w="3474720"/>
                <a:gridCol w="1554480"/>
                <a:gridCol w="2041855"/>
              </a:tblGrid>
              <a:tr h="71323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What was asked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Answer in brief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Main source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Gap and solution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1. Visitor arrivals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came to Orange County each year from 2019 to 2025, and so far in 2026, split by domestic and international and by overnight and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in 2025 (29.2M day, 22.1M overnight; 47.9M domestic, 3.5M international); 50.21M in 2019 (CIC); Anaheim Jan.-June 2026 13.06M (+3.1%).</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 2025; CIC 2019; Tourism Economics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2020 and 2026 YTD not published; request them from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2. Origin markets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visitors come from, and can the Los Angeles-Long Beach-Anaheim area be split into Anaheim and outside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Southern California (2019); 44.7% of Anaheim and Garden Grove domestic trips from the Los Angeles-Long Beach-Anaheim metro (2023-2026).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ZIP codes in Azira, so no Anaheim vs. outside-Anaheim split; a custom pull or survey would provide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3. Seasonality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does visitation change month by month?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occupancy peaks in July (80.6%) and is lowest in January (61.2%),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monthly county visitor counts; hotel occupancy is the monthly measure.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4. Visitor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purpose of the trip, how long do visitors stay, how large is the travel party and how many travel with children?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81.2% leisure, 9.6% business, 7.6% special events; party of 2.8; 37.0% with children; overnight stay 4.2 nights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Latest county profile is 2019; a new survey would update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5. 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what are occupancy and average daily 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60,224 rooms (Sept. 2026); 75.2% occupancy, $221.67 ADR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None.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Visitor arrivals to Orange County, 2009–2026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Millions · CIC Research 2009–2019 and Tourism Economics 2021–2025 are separate methods</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14400"/>
                <a:gridCol w="1188720"/>
                <a:gridCol w="1005840"/>
                <a:gridCol w="1005840"/>
                <a:gridCol w="1371600"/>
                <a:gridCol w="5608015"/>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Total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48.2M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 (4.6M)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$5.92B (46.7% of 2019), Dean Runyan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3.5M (6.7%)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only: 13.06M visitors Jan.-June (+3.1%), 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(Figure 1, Table 3); Tourism Economics, Economic Impact of Visitors to Orange County, 2025 (pub. May 2026); Dean Runyan Associates for Visit California, The Economic Impact of Travel in California, 2025p (Apr. 2026), Orange County detail; Tourism Economics, Anaheim and Garden Grove Travel Forecast (Sept. 2026). 2009–2014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Orange County visitor spending, including 2020</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Dean Runyan Associates for Visit California · $ millions · spending, not visitor counts</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1097280"/>
                <a:gridCol w="1645920"/>
                <a:gridCol w="1463040"/>
                <a:gridCol w="1463040"/>
                <a:gridCol w="1645920"/>
              </a:tblGrid>
              <a:tr h="384048">
                <a:tc>
                  <a:txBody>
                    <a:bodyPr/>
                    <a:lstStyle/>
                    <a:p>
                      <a:pPr algn="l" indent="0" marL="0">
                        <a:buNone/>
                      </a:pPr>
                      <a:r>
                        <a:rPr lang="en-US" sz="1100" b="1" dirty="0">
                          <a:solidFill>
                            <a:srgbClr val="FFFFFF"/>
                          </a:solidFill>
                          <a:latin typeface="Proxima Nova" pitchFamily="34" charset="0"/>
                          <a:ea typeface="Proxima Nova" pitchFamily="34" charset="-122"/>
                          <a:cs typeface="Proxima Nova" pitchFamily="34" charset="-120"/>
                        </a:rPr>
                        <a:t>Year</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Visitor spending</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 share</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Change vs. 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$12,673.3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$1,974.9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+0.0%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$5,919.6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$599.8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-53.3%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$9,572.1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$1,075.6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11.2%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-24.5%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$13,425.7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$1,645.7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+5.9%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$14,174.1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$1,714.4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+11.8%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$14,899.1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$1,802.6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+17.6%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2025p</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$15,394.2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$1,861.7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 +21.5%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Text 2"/>
          <p:cNvSpPr txBox="1"/>
          <p:nvPr/>
        </p:nvSpPr>
        <p:spPr>
          <a:xfrm>
            <a:off x="8138160" y="1417320"/>
            <a:ext cx="3504895" cy="32004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visitor spending in 2020 fell to </a:t>
            </a:r>
            <a:pPr indent="0" marL="0">
              <a:buNone/>
            </a:pPr>
            <a:r>
              <a:rPr lang="en-US" sz="1200" b="1" dirty="0">
                <a:solidFill>
                  <a:srgbClr val="125C60"/>
                </a:solidFill>
                <a:latin typeface="Proxima Nova" pitchFamily="34" charset="0"/>
                <a:ea typeface="Proxima Nova" pitchFamily="34" charset="-122"/>
                <a:cs typeface="Proxima Nova" pitchFamily="34" charset="-120"/>
              </a:rPr>
              <a:t>46.7%</a:t>
            </a:r>
            <a:pPr indent="0" marL="0">
              <a:buNone/>
            </a:pPr>
            <a:r>
              <a:rPr lang="en-US" sz="1200" dirty="0">
                <a:solidFill>
                  <a:srgbClr val="231F20"/>
                </a:solidFill>
                <a:latin typeface="Proxima Nova" pitchFamily="34" charset="0"/>
                <a:ea typeface="Proxima Nova" pitchFamily="34" charset="-122"/>
                <a:cs typeface="Proxima Nova" pitchFamily="34" charset="-120"/>
              </a:rPr>
              <a:t> of its 2019 level and passed 2019 in 2022. In 2025p it was </a:t>
            </a:r>
            <a:pPr indent="0" marL="0">
              <a:buNone/>
            </a:pPr>
            <a:r>
              <a:rPr lang="en-US" sz="1200" b="1" dirty="0">
                <a:solidFill>
                  <a:srgbClr val="125C60"/>
                </a:solidFill>
                <a:latin typeface="Proxima Nova" pitchFamily="34" charset="0"/>
                <a:ea typeface="Proxima Nova" pitchFamily="34" charset="-122"/>
                <a:cs typeface="Proxima Nova" pitchFamily="34" charset="-120"/>
              </a:rPr>
              <a:t>21.5%</a:t>
            </a:r>
            <a:pPr indent="0" marL="0">
              <a:buNone/>
            </a:pPr>
            <a:r>
              <a:rPr lang="en-US" sz="1200" dirty="0">
                <a:solidFill>
                  <a:srgbClr val="231F20"/>
                </a:solidFill>
                <a:latin typeface="Proxima Nova" pitchFamily="34" charset="0"/>
                <a:ea typeface="Proxima Nova" pitchFamily="34" charset="-122"/>
                <a:cs typeface="Proxima Nova" pitchFamily="34" charset="-120"/>
              </a:rPr>
              <a:t> above 2019. Tourism Economics and CIC do not publish 2020 county visitor counts; this series fills the year.</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Dean Runyan Associates for Visit California, The Economic Impact of Travel in California, 2025p (Apr. 2026), Orange County detail, p. 67</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2. Where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2019 (CIC) · Anaheim and Garden Grove 2023–2026 (Azira) · LA metro includes Orange County</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920240"/>
                <a:gridCol w="1188720"/>
                <a:gridCol w="2743200"/>
                <a:gridCol w="914400"/>
              </a:tblGrid>
              <a:tr h="32918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Orange County origin, 2019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Anaheim and Garden Grove origin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Southern California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55.4%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 (includes Orange County)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44.7%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Las Vegas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Slightly under 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Francisco-Oakland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Northern California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Other western states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Rest of the 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Almost 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International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 (4.6M)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7498080" y="1417320"/>
          <a:ext cx="4144975" cy="914400"/>
        </p:xfrm>
        <a:graphic>
          <a:graphicData uri="http://schemas.openxmlformats.org/drawingml/2006/table">
            <a:tbl>
              <a:tblPr/>
              <a:tblGrid>
                <a:gridCol w="1097280"/>
                <a:gridCol w="822960"/>
                <a:gridCol w="1188720"/>
                <a:gridCol w="1036015"/>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International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Home TV market (DMA)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Mexico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55.6%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Canada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Palm Springs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United Kingdom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123K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San Diego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Australia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Phoenix</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New Zealand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Rest of world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865K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7498080" y="4206240"/>
            <a:ext cx="4144975"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No ZIP codes in Azira: the metro area cannot be split into Anaheim and outside Anaheim. Solution: a custom Symphony pull or a new visitor survey.</a:t>
            </a:r>
            <a:endParaRPr lang="en-US" sz="10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Anaheim and Garden Grove Travel Forecast (Sept. 2026); Symphony | Tourism Economics (Azira), Anaheim and Garden Grove, Jan. 1, 2023-Aug. 31, 2026 (pulled Oct. 19, 2026). Orange County 2019 international leaders: Mexico 848K, Canada 786K (CIC Research, Annual Profile of Visitors to Anaheim and Orange County, 2019 (for Visit Anaheim, Apr.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3. Seasonality: Orange County hotel occupancy by month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of rooms sold · no monthly county visitor counts are published, so hotel occupancy is the measure</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Lower table: average daily rate. 2020–2021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Visitor profile: purpose, party size, children and stay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CIC Research, Orange County visitors by type of stay, 2019 · the latest county visitor profile</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79215"/>
                <a:gridCol w="1463040"/>
                <a:gridCol w="1463040"/>
                <a:gridCol w="1463040"/>
                <a:gridCol w="1463040"/>
                <a:gridCol w="1463040"/>
              </a:tblGrid>
              <a:tr h="29260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Hotel guests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Private home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pleasure or visiting friends and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business or convention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special events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travel party size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Children in the travel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nights stayed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age of visitors (years)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Arrived by air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$83,900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$110,100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$89,500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Southern California resident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International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First-time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12.40M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Table 3</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More recent visitor indicators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row names its geography and period · none is a full Orange County profile</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60320"/>
                <a:gridCol w="2377440"/>
                <a:gridCol w="3108960"/>
                <a:gridCol w="3047695"/>
              </a:tblGrid>
              <a:tr h="5029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 and period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visitors with children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62.6%)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domestic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1.28-1.46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by month,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$92.5K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domestic visitors,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demand by segment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Transient 59.5%, group 13.3%, contract 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hotels, 12 months to Aug. 2026 (occupancy points)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segmentation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Trip purpose, domestic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Leisure 214.2M, business 40.8M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 Visit California, California Travel Forecast data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CoStar, Orange County hotel segmentation (12 months to Aug. 2026); Tourism Economics for Visit California, California Travel Forecast data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5. Orange County hotel inventory, occupancy and ADR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2026 is Jan.–Aug. · revenue per available room = occupancy x ADR</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63040"/>
                <a:gridCol w="2103120"/>
                <a:gridCol w="1828800"/>
                <a:gridCol w="1554480"/>
                <a:gridCol w="1645920"/>
                <a:gridCol w="2499055"/>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Rooms available a night (avg.)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Year-end inventory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ADR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Revenue per available room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58,633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59,172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$165.36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50,674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$135.76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56,940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61,354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57.1%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$169.58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$96.83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59,997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60,858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$202.31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$142.02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60,005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60,689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$211.11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60,353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60,932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$207.75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$148.96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$209.68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YTD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$221.67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$166.70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forecast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$221.61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$168.20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2026 forecast: Tourism Economics for Visit California, State and Regional Lodging Forecast (Sept. 2026; CoStar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Compare and contrast: how the visitor sources differ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Why figures differ by source, and which to use</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54480"/>
                <a:gridCol w="1828800"/>
                <a:gridCol w="1737360"/>
                <a:gridCol w="1828800"/>
                <a:gridCol w="2194560"/>
                <a:gridCol w="1950415"/>
              </a:tblGrid>
              <a:tr h="6400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Use it for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profile,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2009-2019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Intercept survey, household panel, hotel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 baseline and visitor profile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2021-2025 (county); 2019-2028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from spending, lodging and survey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Current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Dean Runyan Associates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2015-2025p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for Visit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2019-2025 trend including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Azira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Trips, origins,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Origins and recent behavior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occupancy,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1987-Sept.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census and sample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capacity and 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Tourism Economics, Economic Impact of Visitors to Orange County, 2025 (pub. May 2026); Dean Runyan Associates for Visit California, The Economic Impact of Travel in California, 2025p (Apr. 2026), Orange County detail; Symphony | Tourism Economics (Azira), Anaheim and Garden Grove, Jan. 1, 2023-Aug. 31, 2026 (pulled Oct. 19,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 Orange County 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 29.2M + overnight 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 Change in visitors, 2021-2025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51.3 / 39.0 - 1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3. Visitor spending vs.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$15,394.2M / $12,673.3M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Dean Runyan Associates for Visit California, The Economic Impact of Travel in California, 2025p (Apr. 2026), Orange County 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4. Anaheim visitors, Jan.-June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(6.32 + 6.74) / (6.12 + 6.55)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Anaheim and Garden Grove Travel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5. July occupancy, 2023-2025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 Revenue per available room,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75.2% x $221.67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7. ADR change, 2019 to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$221.67 / $165.36 - 1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Dean Runyan Associates for Visit California, The Economic Impact of Travel in California, 2025p (Apr. 2026), Orange County detail; Tourism Economics, Anaheim and Garden Grove Travel Forecast (Sept.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100" b="1" dirty="0">
                <a:solidFill>
                  <a:srgbClr val="125C60"/>
                </a:solidFill>
                <a:latin typeface="Proxima Nova" pitchFamily="34" charset="0"/>
                <a:ea typeface="Proxima Nova" pitchFamily="34" charset="-122"/>
                <a:cs typeface="Proxima Nova" pitchFamily="34" charset="-120"/>
              </a:rPr>
              <a:t>51.3M</a:t>
            </a:r>
            <a:pPr indent="0" marL="0">
              <a:buNone/>
            </a:pPr>
            <a:r>
              <a:rPr lang="en-US" sz="11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29.2M</a:t>
            </a:r>
            <a:pPr indent="0" marL="0">
              <a:buNone/>
            </a:pPr>
            <a:r>
              <a:rPr lang="en-US" sz="110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100" b="1" dirty="0">
                <a:solidFill>
                  <a:srgbClr val="125C60"/>
                </a:solidFill>
                <a:latin typeface="Proxima Nova" pitchFamily="34" charset="0"/>
                <a:ea typeface="Proxima Nova" pitchFamily="34" charset="-122"/>
                <a:cs typeface="Proxima Nova" pitchFamily="34" charset="-120"/>
              </a:rPr>
              <a:t>22.1M</a:t>
            </a:r>
            <a:pPr indent="0" marL="0">
              <a:buNone/>
            </a:pPr>
            <a:r>
              <a:rPr lang="en-US" sz="110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93.3%</a:t>
            </a:r>
            <a:pPr indent="0" marL="0">
              <a:buNone/>
            </a:pPr>
            <a:r>
              <a:rPr lang="en-US" sz="110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100" b="1" dirty="0">
                <a:solidFill>
                  <a:srgbClr val="125C60"/>
                </a:solidFill>
                <a:latin typeface="Proxima Nova" pitchFamily="34" charset="0"/>
                <a:ea typeface="Proxima Nova" pitchFamily="34" charset="-122"/>
                <a:cs typeface="Proxima Nova" pitchFamily="34" charset="-120"/>
              </a:rPr>
              <a:t>81.2%</a:t>
            </a:r>
            <a:pPr indent="0" marL="0">
              <a:buNone/>
            </a:pPr>
            <a:r>
              <a:rPr lang="en-US" sz="110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100" b="1" dirty="0">
                <a:solidFill>
                  <a:srgbClr val="125C60"/>
                </a:solidFill>
                <a:latin typeface="Proxima Nova" pitchFamily="34" charset="0"/>
                <a:ea typeface="Proxima Nova" pitchFamily="34" charset="-122"/>
                <a:cs typeface="Proxima Nova" pitchFamily="34" charset="-120"/>
              </a:rPr>
              <a:t>2.8</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37.0%</a:t>
            </a:r>
            <a:pPr indent="0" marL="0">
              <a:buNone/>
            </a:pPr>
            <a:r>
              <a:rPr lang="en-US" sz="110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75.2%</a:t>
            </a:r>
            <a:pPr indent="0" marL="0">
              <a:buNone/>
            </a:pPr>
            <a:r>
              <a:rPr lang="en-US" sz="1100" dirty="0">
                <a:solidFill>
                  <a:srgbClr val="231F20"/>
                </a:solidFill>
                <a:latin typeface="Proxima Nova" pitchFamily="34" charset="0"/>
                <a:ea typeface="Proxima Nova" pitchFamily="34" charset="-122"/>
                <a:cs typeface="Proxima Nova" pitchFamily="34" charset="-120"/>
              </a:rPr>
              <a:t> of </a:t>
            </a:r>
            <a:pPr indent="0" marL="0">
              <a:buNone/>
            </a:pPr>
            <a:r>
              <a:rPr lang="en-US" sz="110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100" dirty="0">
                <a:solidFill>
                  <a:srgbClr val="231F20"/>
                </a:solidFill>
                <a:latin typeface="Proxima Nova" pitchFamily="34" charset="0"/>
                <a:ea typeface="Proxima Nova" pitchFamily="34" charset="-122"/>
                <a:cs typeface="Proxima Nova" pitchFamily="34" charset="-120"/>
              </a:rPr>
              <a:t> at </a:t>
            </a:r>
            <a:pPr indent="0" marL="0">
              <a:buNone/>
            </a:pPr>
            <a:r>
              <a:rPr lang="en-US" sz="1100" b="1" dirty="0">
                <a:solidFill>
                  <a:srgbClr val="125C60"/>
                </a:solidFill>
                <a:latin typeface="Proxima Nova" pitchFamily="34" charset="0"/>
                <a:ea typeface="Proxima Nova" pitchFamily="34" charset="-122"/>
                <a:cs typeface="Proxima Nova" pitchFamily="34" charset="-120"/>
              </a:rPr>
              <a:t>$221.67</a:t>
            </a:r>
            <a:pPr indent="0" marL="0">
              <a:buNone/>
            </a:pPr>
            <a:r>
              <a:rPr lang="en-US" sz="110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A sized market: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visitors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overnight visitors a year (2025).</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Family and leisure audiences dominate: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81.2%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leisure,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 children, parties of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2.8</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(2019).</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hotel rooms at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occupancy (2026 YTD); January, December and February have the most room.</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A current Orange County visitor survey (purpose, party size, children, origins by ZIP) to replace the 2019 baseline.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Tourism Economics county estimates for 2019-2020 and 2026 year to date (to be requested from Tourism Economics).</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Geography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per visitor or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 is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$6.832B ÷ 26.5M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Garden Grove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$769.3M ÷ 3.24M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Orange County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$1.360T ÷ 2.46B trips (real 2025 dollars)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domestic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$1.185T ÷ 2.40B domestic trips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3"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54"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19"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143"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214"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45"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75"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77"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79"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83"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travel to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209"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tourism</a:t>
            </a:r>
            <a:endParaRPr lang="en-US" sz="1300" dirty="0"/>
          </a:p>
        </p:txBody>
      </p:sp>
      <p:graphicFrame>
        <p:nvGraphicFramePr>
          <p:cNvPr id="21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Orange County visitors rose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39.0M</a:t>
                      </a:r>
                      <a:pPr algn="l" indent="0" marL="0">
                        <a:buNone/>
                      </a:pPr>
                      <a:r>
                        <a:rPr lang="en-US" sz="750" dirty="0">
                          <a:solidFill>
                            <a:srgbClr val="231F20"/>
                          </a:solidFill>
                          <a:latin typeface="Proxima Nova" pitchFamily="34" charset="0"/>
                          <a:ea typeface="Proxima Nova" pitchFamily="34" charset="-122"/>
                          <a:cs typeface="Proxima Nova" pitchFamily="34" charset="-120"/>
                        </a:rPr>
                        <a:t> (2021)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51.3M</a:t>
                      </a:r>
                      <a:pPr algn="l" indent="0" marL="0">
                        <a:buNone/>
                      </a:pPr>
                      <a:r>
                        <a:rPr lang="en-US" sz="750" dirty="0">
                          <a:solidFill>
                            <a:srgbClr val="231F20"/>
                          </a:solidFill>
                          <a:latin typeface="Proxima Nova" pitchFamily="34" charset="0"/>
                          <a:ea typeface="Proxima Nova" pitchFamily="34" charset="-122"/>
                          <a:cs typeface="Proxima Nova" pitchFamily="34" charset="-120"/>
                        </a:rPr>
                        <a:t> (2025),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a:t>
                      </a:r>
                      <a:pPr algn="l" indent="0" marL="0">
                        <a:buNone/>
                      </a:pPr>
                      <a:r>
                        <a:rPr lang="en-US" sz="750" dirty="0">
                          <a:solidFill>
                            <a:srgbClr val="231F20"/>
                          </a:solidFill>
                          <a:latin typeface="Proxima Nova" pitchFamily="34" charset="0"/>
                          <a:ea typeface="Proxima Nova" pitchFamily="34" charset="-122"/>
                          <a:cs typeface="Proxima Nova" pitchFamily="34" charset="-120"/>
                        </a:rPr>
                        <a:t>; visitor spending in 2025p was </a:t>
                      </a:r>
                      <a:pPr algn="l" indent="0" marL="0">
                        <a:buNone/>
                      </a:pPr>
                      <a:r>
                        <a:rPr lang="en-US" sz="750" b="1" dirty="0">
                          <a:solidFill>
                            <a:srgbClr val="125C60"/>
                          </a:solidFill>
                          <a:latin typeface="Proxima Nova" pitchFamily="34" charset="0"/>
                          <a:ea typeface="Proxima Nova" pitchFamily="34" charset="-122"/>
                          <a:cs typeface="Proxima Nova" pitchFamily="34" charset="-120"/>
                        </a:rPr>
                        <a:t>21.5%</a:t>
                      </a:r>
                      <a:pPr algn="l" indent="0" marL="0">
                        <a:buNone/>
                      </a:pPr>
                      <a:r>
                        <a:rPr lang="en-US" sz="750" dirty="0">
                          <a:solidFill>
                            <a:srgbClr val="231F20"/>
                          </a:solidFill>
                          <a:latin typeface="Proxima Nova" pitchFamily="34" charset="0"/>
                          <a:ea typeface="Proxima Nova" pitchFamily="34" charset="-122"/>
                          <a:cs typeface="Proxima Nova" pitchFamily="34" charset="-120"/>
                        </a:rPr>
                        <a:t> above 2019.</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January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61.2%</a:t>
                      </a:r>
                      <a:pPr algn="l" indent="0" marL="0">
                        <a:buNone/>
                      </a:pPr>
                      <a:r>
                        <a:rPr lang="en-US" sz="750" dirty="0">
                          <a:solidFill>
                            <a:srgbClr val="231F20"/>
                          </a:solidFill>
                          <a:latin typeface="Proxima Nova" pitchFamily="34" charset="0"/>
                          <a:ea typeface="Proxima Nova" pitchFamily="34" charset="-122"/>
                          <a:cs typeface="Proxima Nova" pitchFamily="34" charset="-120"/>
                        </a:rPr>
                        <a:t>), December (</a:t>
                      </a:r>
                      <a:pPr algn="l" indent="0" marL="0">
                        <a:buNone/>
                      </a:pPr>
                      <a:r>
                        <a:rPr lang="en-US" sz="750" b="1" dirty="0">
                          <a:solidFill>
                            <a:srgbClr val="125C60"/>
                          </a:solidFill>
                          <a:latin typeface="Proxima Nova" pitchFamily="34" charset="0"/>
                          <a:ea typeface="Proxima Nova" pitchFamily="34" charset="-122"/>
                          <a:cs typeface="Proxima Nova" pitchFamily="34" charset="-120"/>
                        </a:rPr>
                        <a:t>68.9%</a:t>
                      </a:r>
                      <a:pPr algn="l" indent="0" marL="0">
                        <a:buNone/>
                      </a:pPr>
                      <a:r>
                        <a:rPr lang="en-US" sz="750" dirty="0">
                          <a:solidFill>
                            <a:srgbClr val="231F20"/>
                          </a:solidFill>
                          <a:latin typeface="Proxima Nova" pitchFamily="34" charset="0"/>
                          <a:ea typeface="Proxima Nova" pitchFamily="34" charset="-122"/>
                          <a:cs typeface="Proxima Nova" pitchFamily="34" charset="-120"/>
                        </a:rPr>
                        <a:t>) and February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69.0%</a:t>
                      </a:r>
                      <a:pPr algn="l" indent="0" marL="0">
                        <a:buNone/>
                      </a:pPr>
                      <a:r>
                        <a:rPr lang="en-US" sz="750" dirty="0">
                          <a:solidFill>
                            <a:srgbClr val="231F20"/>
                          </a:solidFill>
                          <a:latin typeface="Proxima Nova" pitchFamily="34" charset="0"/>
                          <a:ea typeface="Proxima Nova" pitchFamily="34" charset="-122"/>
                          <a:cs typeface="Proxima Nova" pitchFamily="34" charset="-120"/>
                        </a:rPr>
                        <a:t>) are the most open hotel months (2023-2025 averages).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OC Vibe events that draw overnight guests in those months and share dates with Visit Anaheim for hotel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2019 CIC profile answers purpose, party size and children for both Orange County and Anaheim.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it now as the labeled 2019 baseline in ECA's study; it is in the Reports and data library.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Orange County visitor count is published for 2020 or 2026 year to date, and the two visitor series use different methods.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Request 2019-2020 and 2026 county estimates from Tourism Economics; until they arrive, show Anaheim's Jan.-June 2026 count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and county hotel data as the current read.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Los Angeles-Long Beach-Anaheim metro area includes Orange County, so 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44.7%</a:t>
                      </a:r>
                      <a:pPr algn="l" indent="0" marL="0">
                        <a:buNone/>
                      </a:pPr>
                      <a:r>
                        <a:rPr lang="en-US" sz="750" dirty="0">
                          <a:solidFill>
                            <a:srgbClr val="231F20"/>
                          </a:solidFill>
                          <a:latin typeface="Proxima Nova" pitchFamily="34" charset="0"/>
                          <a:ea typeface="Proxima Nova" pitchFamily="34" charset="-122"/>
                          <a:cs typeface="Proxima Nova" pitchFamily="34" charset="-120"/>
                        </a:rPr>
                        <a:t> share mixes local and Los Angeles County trips; Azira has no ZIP codes.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metro-level shares with that note; a county or ZIP origin split would require a custom pull from Symphony or a new survey.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length of stay and distance shares shifted in 2026 (trips under 50 miles rose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73.9%-83.4%</a:t>
                      </a:r>
                      <a:pPr algn="l" indent="0" marL="0">
                        <a:buNone/>
                      </a:pPr>
                      <a:r>
                        <a:rPr lang="en-US" sz="750" dirty="0">
                          <a:solidFill>
                            <a:srgbClr val="231F20"/>
                          </a:solidFill>
                          <a:latin typeface="Proxima Nova" pitchFamily="34" charset="0"/>
                          <a:ea typeface="Proxima Nova" pitchFamily="34" charset="-122"/>
                          <a:cs typeface="Proxima Nova" pitchFamily="34" charset="-120"/>
                        </a:rPr>
                        <a:t>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59%-66%</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Treat 2026 Azira trends as a method change until Symphony confirms; compare within 2026 only.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Orange County tourism: Tourism Economics, Economic Impact of Visitors to Orange County, 2025 (pub. May 2026); Dean Runyan Associates for Visit California, The Economic Impact of Travel in California, 2025p (Apr. 2026), Orange County detail;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22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Who visits: Azira via Symphony (District 5, Jan. 1–May 31, 2026; domestic visitors, Aug. 2026); Azira via Symphony (District 5, Jan. 1–May 31, 2026; domestic visitors, Aug. 2026); Visa Destination Insights via Symphony (Aug. 2026 vs. Aug. 2025) | Visitor spending: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22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Jobs and economy: Tourism Economics, Economic Impact 2025 (pub. Apr.–May 2026); Tourism Economics, Economic Impact 2025 (pub. Apr.–May 2026); City of Anaheim OCVibe page (2026); OCVIBE fact sheet (Apr. 2024) | Hotel market: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22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One more night: Visit Anaheim BI, Extra Night study (2025 inputs; recalculated Oct. 12, 2026); Tourism Economics, Economic Impact 2025 (pub. Apr.–May 2026) | Getting here: Amtrak ANA fact sheet (2024 data; pub. Oct. 27, 2025); Metrolink FY26 Q2 (Oct.–Dec. 2025); OCTA Traffic Flow Map (pub. Aug. 2026) and bus schedules (Aug. 9–Nov. 7,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22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Marketing reach: Azira media attribution via Symphony (ad exposures Jan. 1–Aug. 31, 2026) |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client preliminary by Tourism Economics;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full files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Spring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Values read from the published forecast tables;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the U.S. Travel Industry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(Dean Runyan Associates)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6,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Primary report reviewed; preliminary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CIC Research for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2019 (volume 2009-2019)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2020; found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latest edition found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Travel Impacts by Assembly District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2015-2025p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preliminary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market monthly and segmentation tables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1987-Sept.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Licensed export; summary figures only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and International Visitors views (Anaheim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 2023-Aug.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confirmed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Geography and period confirmed with BI; 2026 method shift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Travel Indicators (Aug. 2026); Resident Sentiment 2025; Travel and Lodging Forecasts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2013-2030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files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graphicFrame>
        <p:nvGraphicFramePr>
          <p:cNvPr id="1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1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available a night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Annual available room nights / days in the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21,400,998 / 365 = 58,633 (Orange County,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 in 2023 + 2024 + 2025)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 = 80.6% (July)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Year-to-date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This year's months / same months last year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13.06M / 12.67M - 1 = +3.1% (Anaheim, Jan.-June)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DMA (designated market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TV market defined by Nielsen; used for media planning and origin reporting.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MSA (metropolitan statistical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federal metro-area definition; Los Angeles-Long Beach-Anaheim includes Los Angeles and Orange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Jan. 15,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Transient, group and contract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sold to individual travelers, to groups of 10+ rooms, and under long-term contracts (for example, airline crews).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people traveling together on one trip, counted per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VFR (visiting friends or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trip whose main purpose is to see friends or family; often combined with pleasure in surveys.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 to date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From Jan. 1 to the latest month with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profile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2,686 intercept interviews at 36 Orange County locations plus an internet panel of 2,087 households; 4,040 visitor groups.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model (2021-2025) and CIC estimates (2009-2019) are separate series; not combined.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 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monthly hotel occupancy and ADR used as the monthly measure; 2023-2025 average by month.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135</Slides>
  <Notes>135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135</vt:i4>
      </vt:variant>
    </vt:vector>
  </HeadingPairs>
  <TitlesOfParts>
    <vt:vector size="1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2026-10-19T20:15:44Z</dcterms:created>
  <dcterms:modified xsi:type="dcterms:W3CDTF">2026-10-19T20:15:44Z</dcterms:modified>
</cp:coreProperties>
</file>