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5.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6.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0.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charts/chart11.xml" ContentType="application/vnd.openxmlformats-officedocument.drawingml.chart+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2.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notesMasterIdLst>
    <p:notesMasterId r:id="rId10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df46002-b79b-2f54-ef1a-53ef53f61d5d}">
          <p14:sldIdLst>
            <p14:sldId id="256"/>
            <p14:sldId id="257"/>
            <p14:sldId id="258"/>
            <p14:sldId id="259"/>
            <p14:sldId id="260"/>
            <p14:sldId id="261"/>
          </p14:sldIdLst>
        </p14:section>
        <p14:section name="Anaheim and OC Vibe today" id="{94280447-2244-438e-40b0-f09064b7f3ef}">
          <p14:sldIdLst>
            <p14:sldId id="262"/>
            <p14:sldId id="263"/>
            <p14:sldId id="264"/>
            <p14:sldId id="265"/>
            <p14:sldId id="266"/>
            <p14:sldId id="267"/>
            <p14:sldId id="268"/>
            <p14:sldId id="269"/>
            <p14:sldId id="270"/>
            <p14:sldId id="271"/>
            <p14:sldId id="272"/>
          </p14:sldIdLst>
        </p14:section>
        <p14:section name="Who visits" id="{ace6cf96-acf0-b2d5-fb2d-70262d29e44f}">
          <p14:sldIdLst>
            <p14:sldId id="273"/>
            <p14:sldId id="274"/>
            <p14:sldId id="275"/>
            <p14:sldId id="276"/>
            <p14:sldId id="277"/>
            <p14:sldId id="278"/>
            <p14:sldId id="279"/>
            <p14:sldId id="280"/>
          </p14:sldIdLst>
        </p14:section>
        <p14:section name="Visitor spending" id="{797a3cb0-d8e0-1f70-8704-b9ac7db509cf}">
          <p14:sldIdLst>
            <p14:sldId id="281"/>
            <p14:sldId id="282"/>
            <p14:sldId id="283"/>
            <p14:sldId id="284"/>
            <p14:sldId id="285"/>
            <p14:sldId id="286"/>
            <p14:sldId id="287"/>
            <p14:sldId id="288"/>
            <p14:sldId id="289"/>
          </p14:sldIdLst>
        </p14:section>
        <p14:section name="Jobs and economy" id="{8e300660-3b92-add3-235f-4599ecbe3b70}">
          <p14:sldIdLst>
            <p14:sldId id="290"/>
            <p14:sldId id="291"/>
            <p14:sldId id="292"/>
            <p14:sldId id="293"/>
            <p14:sldId id="294"/>
          </p14:sldIdLst>
        </p14:section>
        <p14:section name="Hotel market" id="{78fa362a-ca04-a074-55bd-be15594d3e53}">
          <p14:sldIdLst>
            <p14:sldId id="295"/>
            <p14:sldId id="296"/>
            <p14:sldId id="297"/>
            <p14:sldId id="298"/>
            <p14:sldId id="299"/>
            <p14:sldId id="300"/>
            <p14:sldId id="301"/>
            <p14:sldId id="302"/>
            <p14:sldId id="303"/>
          </p14:sldIdLst>
        </p14:section>
        <p14:section name="One more night" id="{c217bd9c-f565-d614-443f-30fa637b55c3}">
          <p14:sldIdLst>
            <p14:sldId id="304"/>
            <p14:sldId id="305"/>
            <p14:sldId id="306"/>
            <p14:sldId id="307"/>
            <p14:sldId id="308"/>
            <p14:sldId id="309"/>
            <p14:sldId id="310"/>
          </p14:sldIdLst>
        </p14:section>
        <p14:section name="Getting here" id="{82868bdc-e526-99fa-83a3-46800b6f2215}">
          <p14:sldIdLst>
            <p14:sldId id="311"/>
            <p14:sldId id="312"/>
            <p14:sldId id="313"/>
            <p14:sldId id="314"/>
            <p14:sldId id="315"/>
            <p14:sldId id="316"/>
            <p14:sldId id="317"/>
            <p14:sldId id="318"/>
            <p14:sldId id="319"/>
            <p14:sldId id="320"/>
            <p14:sldId id="321"/>
            <p14:sldId id="322"/>
          </p14:sldIdLst>
        </p14:section>
        <p14:section name="Marketing reach" id="{ea27feb2-d0ff-fb3b-b87b-51ef1e40af6a}">
          <p14:sldIdLst>
            <p14:sldId id="323"/>
            <p14:sldId id="324"/>
            <p14:sldId id="325"/>
            <p14:sldId id="326"/>
            <p14:sldId id="327"/>
            <p14:sldId id="328"/>
          </p14:sldIdLst>
        </p14:section>
        <p14:section name="Market outlook" id="{387ce82d-5766-31ef-5229-c580f1dbf962}">
          <p14:sldIdLst>
            <p14:sldId id="329"/>
            <p14:sldId id="330"/>
            <p14:sldId id="331"/>
            <p14:sldId id="332"/>
            <p14:sldId id="333"/>
            <p14:sldId id="334"/>
            <p14:sldId id="335"/>
            <p14:sldId id="336"/>
          </p14:sldIdLst>
        </p14:section>
        <p14:section name="Compare and contrast" id="{05a15274-d689-ac01-12b6-f413b3558742}">
          <p14:sldIdLst>
            <p14:sldId id="337"/>
            <p14:sldId id="338"/>
            <p14:sldId id="339"/>
            <p14:sldId id="340"/>
            <p14:sldId id="341"/>
          </p14:sldIdLst>
        </p14:section>
        <p14:section name="Next steps" id="{e4159226-0780-c041-60aa-2d0716ad7c39}">
          <p14:sldIdLst>
            <p14:sldId id="342"/>
            <p14:sldId id="343"/>
            <p14:sldId id="344"/>
            <p14:sldId id="345"/>
            <p14:sldId id="346"/>
            <p14:sldId id="347"/>
            <p14:sldId id="348"/>
          </p14:sldIdLst>
        </p14:section>
        <p14:section name="Appendix" id="{6d691a15-ba25-efce-46d5-aabf57a6e046}">
          <p14:sldIdLst>
            <p14:sldId id="349"/>
            <p14:sldId id="350"/>
            <p14:sldId id="351"/>
            <p14:sldId id="352"/>
            <p14:sldId id="35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notesMaster" Target="notesMasters/notesMaster1.xml"/><Relationship Id="rId101" Type="http://schemas.openxmlformats.org/officeDocument/2006/relationships/presProps" Target="presProps.xml"/><Relationship Id="rId102" Type="http://schemas.openxmlformats.org/officeDocument/2006/relationships/viewProps" Target="viewProps.xml"/><Relationship Id="rId103" Type="http://schemas.openxmlformats.org/officeDocument/2006/relationships/theme" Target="theme/theme1.xml"/><Relationship Id="rId10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The baseline counts visitors; the next question is who they are. Origin, overnight share and first-time share show which audiences the OC Vibe area already reaches.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82296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5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The baseline counts visitors; the next question is who they are. Origin, overnight share and first-time share show which audiences the OC Vibe area already reaches.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Appendix: The appendix defines every term, method and formula used above, so each figure can be traced, repeated and defended.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International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$464.6M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$446.6M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Change vs. Aug. 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Cards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143.8K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card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Average transaction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73"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133"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23"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29"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visit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55"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6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Who visits: Azira via Symphony (District 5, Jan. 1–May 31, 2026; domestic visitors, Aug. 2026); Azira via Symphony (District 5, Jan. 1–May 31, 2026; domestic visitors, Aug.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6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Visitor spending: Tourism Economics, Travel Forecast (pub. Sept. 2026; data to Aug. 31, 2026); Visa Destination Insights via Symphony (Aug. 2026 vs. Aug. 2025) | Jobs and economy: Tourism Economics, Economic Impact 2025 (pub. Apr.–May 2026); Tourism Economics, Economic Impact 2025 (pub. Apr.–May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6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Hotel market: CoStar reports and export (data through Aug. 2026; pulled Oct. 12, 2026); STR daily data, Visit Anaheim hotel sets (Jan. 1–Oct. 3, 2026) | One more night: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7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Getting here: Amtrak ANA fact sheet (2024 data; pub. Oct. 27, 2025); Metrolink FY26 Q2 (Oct.–Dec. 2025); OCTA Traffic Flow Map (pub. Aug. 2026) and bus schedules (Aug. 9–Nov. 7, 2026); Mindtrip trip planner messages (Oct. 1, 2025–Oct. 11, 2026) | Marketing reach: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Draft – Not for Distribution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redistribution needs LARC consent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licensed to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0233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0233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theme/theme1.xml><?xml version="1.0" encoding="utf-8"?>
<a:theme xmlns:a="http://schemas.openxmlformats.org/drawingml/2006/main" name="Visit Anaheim Escapism">
  <a:themeElements>
    <a:clrScheme name="Visit Anaheim Escapism">
      <a:dk1>
        <a:srgbClr val="231F20"/>
      </a:dk1>
      <a:lt1>
        <a:srgbClr val="FFFFFF"/>
      </a:lt1>
      <a:dk2>
        <a:srgbClr val="125C60"/>
      </a:dk2>
      <a:lt2>
        <a:srgbClr val="F9F9F2"/>
      </a:lt2>
      <a:accent1>
        <a:srgbClr val="43A3A3"/>
      </a:accent1>
      <a:accent2>
        <a:srgbClr val="77C7C9"/>
      </a:accent2>
      <a:accent3>
        <a:srgbClr val="B4D9E3"/>
      </a:accent3>
      <a:accent4>
        <a:srgbClr val="125C60"/>
      </a:accent4>
      <a:accent5>
        <a:srgbClr val="A10009"/>
      </a:accent5>
      <a:accent6>
        <a:srgbClr val="FF000C"/>
      </a:accent6>
      <a:hlink>
        <a:srgbClr val="125C60"/>
      </a:hlink>
      <a:folHlink>
        <a:srgbClr val="125C60"/>
      </a:folHlink>
    </a:clrScheme>
    <a:fontScheme name="Visit Anaheim Escapism">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98</Slides>
  <Notes>98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98</vt:i4>
      </vt:variant>
    </vt:vector>
  </HeadingPairs>
  <TitlesOfParts>
    <vt:vector size="10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2026-10-13T23:59:13Z</dcterms:created>
  <dcterms:modified xsi:type="dcterms:W3CDTF">2026-10-13T23:59:13Z</dcterms:modified>
</cp:coreProperties>
</file>